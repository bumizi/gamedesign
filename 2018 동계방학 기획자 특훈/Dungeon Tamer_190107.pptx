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47"/>
  </p:notesMasterIdLst>
  <p:sldIdLst>
    <p:sldId id="273" r:id="rId3"/>
    <p:sldId id="260" r:id="rId4"/>
    <p:sldId id="288" r:id="rId5"/>
    <p:sldId id="289" r:id="rId6"/>
    <p:sldId id="266" r:id="rId7"/>
    <p:sldId id="290" r:id="rId8"/>
    <p:sldId id="276" r:id="rId9"/>
    <p:sldId id="339" r:id="rId10"/>
    <p:sldId id="332" r:id="rId11"/>
    <p:sldId id="291" r:id="rId12"/>
    <p:sldId id="333" r:id="rId13"/>
    <p:sldId id="334" r:id="rId14"/>
    <p:sldId id="329" r:id="rId15"/>
    <p:sldId id="330" r:id="rId16"/>
    <p:sldId id="335" r:id="rId17"/>
    <p:sldId id="336" r:id="rId18"/>
    <p:sldId id="338" r:id="rId19"/>
    <p:sldId id="337" r:id="rId20"/>
    <p:sldId id="315" r:id="rId21"/>
    <p:sldId id="325" r:id="rId22"/>
    <p:sldId id="316" r:id="rId23"/>
    <p:sldId id="317" r:id="rId24"/>
    <p:sldId id="318" r:id="rId25"/>
    <p:sldId id="324" r:id="rId26"/>
    <p:sldId id="323" r:id="rId27"/>
    <p:sldId id="327" r:id="rId28"/>
    <p:sldId id="328" r:id="rId29"/>
    <p:sldId id="319" r:id="rId30"/>
    <p:sldId id="320" r:id="rId31"/>
    <p:sldId id="321" r:id="rId32"/>
    <p:sldId id="326" r:id="rId33"/>
    <p:sldId id="322" r:id="rId34"/>
    <p:sldId id="294" r:id="rId35"/>
    <p:sldId id="293" r:id="rId36"/>
    <p:sldId id="295" r:id="rId37"/>
    <p:sldId id="308" r:id="rId38"/>
    <p:sldId id="296" r:id="rId39"/>
    <p:sldId id="309" r:id="rId40"/>
    <p:sldId id="302" r:id="rId41"/>
    <p:sldId id="303" r:id="rId42"/>
    <p:sldId id="306" r:id="rId43"/>
    <p:sldId id="314" r:id="rId44"/>
    <p:sldId id="307" r:id="rId45"/>
    <p:sldId id="275" r:id="rId46"/>
  </p:sldIdLst>
  <p:sldSz cx="12192000" cy="6858000"/>
  <p:notesSz cx="6858000" cy="9144000"/>
  <p:embeddedFontLst>
    <p:embeddedFont>
      <p:font typeface="HY견명조" pitchFamily="18" charset="-127"/>
      <p:regular r:id="rId48"/>
    </p:embeddedFont>
    <p:embeddedFont>
      <p:font typeface="맑은 고딕" pitchFamily="50" charset="-127"/>
      <p:regular r:id="rId49"/>
      <p:bold r:id="rId50"/>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사용자" initials="W사" lastIdx="1" clrIdx="0">
    <p:extLst>
      <p:ext uri="{19B8F6BF-5375-455C-9EA6-DF929625EA0E}">
        <p15:presenceInfo xmlns="" xmlns:p15="http://schemas.microsoft.com/office/powerpoint/2012/main" userId="Windows 사용자" providerId="None"/>
      </p:ext>
    </p:extLst>
  </p:cmAuthor>
  <p:cmAuthor id="2" name="user" initials="u" lastIdx="1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C10F"/>
    <a:srgbClr val="88B6E0"/>
    <a:srgbClr val="8EBA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344D84-9AFB-497E-A393-DC336BA19D2E}" styleName="보통 스타일 3 - 강조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15" autoAdjust="0"/>
    <p:restoredTop sz="94660" autoAdjust="0"/>
  </p:normalViewPr>
  <p:slideViewPr>
    <p:cSldViewPr snapToGrid="0">
      <p:cViewPr varScale="1">
        <p:scale>
          <a:sx n="73" d="100"/>
          <a:sy n="73" d="100"/>
        </p:scale>
        <p:origin x="-816" y="-90"/>
      </p:cViewPr>
      <p:guideLst>
        <p:guide orient="horz" pos="2160"/>
        <p:guide pos="3840"/>
      </p:guideLst>
    </p:cSldViewPr>
  </p:slideViewPr>
  <p:outlineViewPr>
    <p:cViewPr>
      <p:scale>
        <a:sx n="33" d="100"/>
        <a:sy n="33" d="100"/>
      </p:scale>
      <p:origin x="0" y="14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EB80D-BC7F-423F-9B95-3633B0A8F55B}" type="datetimeFigureOut">
              <a:rPr lang="ko-KR" altLang="en-US" smtClean="0"/>
              <a:t>2019-01-07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smtClean="0"/>
              <a:t>마스터 텍스트 스타일 편집</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94FA5D-5FE6-4026-B2CA-93DADBB0FBE6}" type="slidenum">
              <a:rPr lang="ko-KR" altLang="en-US" smtClean="0"/>
              <a:t>‹#›</a:t>
            </a:fld>
            <a:endParaRPr lang="ko-KR" altLang="en-US"/>
          </a:p>
        </p:txBody>
      </p:sp>
    </p:spTree>
    <p:extLst>
      <p:ext uri="{BB962C8B-B14F-4D97-AF65-F5344CB8AC3E}">
        <p14:creationId xmlns:p14="http://schemas.microsoft.com/office/powerpoint/2010/main" val="82634538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1</a:t>
            </a:fld>
            <a:endParaRPr lang="ko-KR" altLang="en-US"/>
          </a:p>
        </p:txBody>
      </p:sp>
    </p:spTree>
    <p:extLst>
      <p:ext uri="{BB962C8B-B14F-4D97-AF65-F5344CB8AC3E}">
        <p14:creationId xmlns:p14="http://schemas.microsoft.com/office/powerpoint/2010/main" val="86721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B894FA5D-5FE6-4026-B2CA-93DADBB0FBE6}" type="slidenum">
              <a:rPr lang="ko-KR" altLang="en-US" smtClean="0"/>
              <a:t>2</a:t>
            </a:fld>
            <a:endParaRPr lang="ko-KR" altLang="en-US"/>
          </a:p>
        </p:txBody>
      </p:sp>
    </p:spTree>
    <p:extLst>
      <p:ext uri="{BB962C8B-B14F-4D97-AF65-F5344CB8AC3E}">
        <p14:creationId xmlns:p14="http://schemas.microsoft.com/office/powerpoint/2010/main" val="4076130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EC3AB0CA-3A26-4F16-8C8D-1B3625A31A00}"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473838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7685CB9-AAEC-4501-983B-23D9B3A40981}"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291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1D2FE8F3-BBC3-4016-B12E-DEE91B8C70D1}"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48590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666A834B-F951-4846-895A-0477317BA5B4}" type="datetime1">
              <a:rPr lang="ko-KR" altLang="en-US" smtClean="0"/>
              <a:t>2019-01-07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526981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5B85590D-5B44-4A15-A6FA-238D48DB53C8}" type="datetime1">
              <a:rPr lang="ko-KR" altLang="en-US" smtClean="0"/>
              <a:t>2019-01-07</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41492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E312041-A6D6-4EAF-81C3-6AF3590D9B2E}" type="datetime1">
              <a:rPr lang="ko-KR" altLang="en-US" smtClean="0"/>
              <a:t>2019-01-07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980559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E6731DD-6728-4529-B4AC-150F5EA6CDA5}" type="datetime1">
              <a:rPr lang="ko-KR" altLang="en-US" smtClean="0"/>
              <a:t>2019-01-07</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95343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412BC3E-02B2-4BA3-88C6-D876B9132BEE}" type="datetime1">
              <a:rPr lang="ko-KR" altLang="en-US" smtClean="0"/>
              <a:t>2019-01-07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12490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A791F1B8-4AB0-450E-BA30-A393CBEEE0B9}" type="datetime1">
              <a:rPr lang="ko-KR" altLang="en-US" smtClean="0"/>
              <a:t>2019-01-07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78615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96B5077E-4D09-4D7F-AED2-3ECFB52B4B2F}"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075455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F804BD64-D2A7-4DBC-9C22-C35FF2171F88}" type="datetime1">
              <a:rPr lang="ko-KR" altLang="en-US" smtClean="0"/>
              <a:t>2019-01-07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335919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p:cNvSpPr>
            <a:spLocks noGrp="1"/>
          </p:cNvSpPr>
          <p:nvPr>
            <p:ph type="dt" sz="half" idx="10"/>
          </p:nvPr>
        </p:nvSpPr>
        <p:spPr/>
        <p:txBody>
          <a:bodyPr/>
          <a:lstStyle/>
          <a:p>
            <a:fld id="{09789B80-0F68-4808-8308-7E8CB701F80B}"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69270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8146DA0-A543-443B-9976-4C13D64EFF49}"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034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p:cNvSpPr>
            <a:spLocks noGrp="1"/>
          </p:cNvSpPr>
          <p:nvPr>
            <p:ph type="dt" sz="half" idx="10"/>
          </p:nvPr>
        </p:nvSpPr>
        <p:spPr/>
        <p:txBody>
          <a:bodyPr/>
          <a:lstStyle/>
          <a:p>
            <a:fld id="{04E0AC1A-42E2-4BCB-8C04-467EB6812828}"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636386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78C9E740-A4F3-48E1-ADE5-C768671A5022}"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502852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FB71890C-30A4-4F38-AE2E-EDCBC5B32417}"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8" name="바닥글 개체 틀 7"/>
          <p:cNvSpPr>
            <a:spLocks noGrp="1"/>
          </p:cNvSpPr>
          <p:nvPr>
            <p:ph type="ftr" sz="quarter" idx="11"/>
          </p:nvPr>
        </p:nvSpPr>
        <p:spPr/>
        <p:txBody>
          <a:bodyPr/>
          <a:lstStyle/>
          <a:p>
            <a:endParaRPr lang="ko-KR" altLang="en-US">
              <a:solidFill>
                <a:prstClr val="black">
                  <a:tint val="75000"/>
                </a:prstClr>
              </a:solidFill>
            </a:endParaRPr>
          </a:p>
        </p:txBody>
      </p:sp>
      <p:sp>
        <p:nvSpPr>
          <p:cNvPr id="9" name="슬라이드 번호 개체 틀 8"/>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424856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562C9AAE-3A71-4E68-B2DF-A4796799849E}"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4" name="바닥글 개체 틀 3"/>
          <p:cNvSpPr>
            <a:spLocks noGrp="1"/>
          </p:cNvSpPr>
          <p:nvPr>
            <p:ph type="ftr" sz="quarter" idx="11"/>
          </p:nvPr>
        </p:nvSpPr>
        <p:spPr/>
        <p:txBody>
          <a:bodyPr/>
          <a:lstStyle/>
          <a:p>
            <a:endParaRPr lang="ko-KR" altLang="en-US">
              <a:solidFill>
                <a:prstClr val="black">
                  <a:tint val="75000"/>
                </a:prstClr>
              </a:solidFill>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8375930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1B4F376A-881F-4F83-8BAA-2452AC86BF07}"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3" name="바닥글 개체 틀 2"/>
          <p:cNvSpPr>
            <a:spLocks noGrp="1"/>
          </p:cNvSpPr>
          <p:nvPr>
            <p:ph type="ftr" sz="quarter" idx="11"/>
          </p:nvPr>
        </p:nvSpPr>
        <p:spPr/>
        <p:txBody>
          <a:bodyPr/>
          <a:lstStyle/>
          <a:p>
            <a:endParaRPr lang="ko-KR" altLang="en-US">
              <a:solidFill>
                <a:prstClr val="black">
                  <a:tint val="75000"/>
                </a:prstClr>
              </a:solidFill>
            </a:endParaRPr>
          </a:p>
        </p:txBody>
      </p:sp>
      <p:sp>
        <p:nvSpPr>
          <p:cNvPr id="4" name="슬라이드 번호 개체 틀 3"/>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4911532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277745D6-926D-49A4-A0BD-75E92CE8DBD3}"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8934710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p:cNvSpPr>
            <a:spLocks noGrp="1"/>
          </p:cNvSpPr>
          <p:nvPr>
            <p:ph type="dt" sz="half" idx="10"/>
          </p:nvPr>
        </p:nvSpPr>
        <p:spPr/>
        <p:txBody>
          <a:bodyPr/>
          <a:lstStyle/>
          <a:p>
            <a:fld id="{8B1A9945-754F-4F4C-BDBA-3A0C250A3228}"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6" name="바닥글 개체 틀 5"/>
          <p:cNvSpPr>
            <a:spLocks noGrp="1"/>
          </p:cNvSpPr>
          <p:nvPr>
            <p:ph type="ftr" sz="quarter" idx="11"/>
          </p:nvPr>
        </p:nvSpPr>
        <p:spPr/>
        <p:txBody>
          <a:bodyPr/>
          <a:lstStyle/>
          <a:p>
            <a:endParaRPr lang="ko-KR" altLang="en-US">
              <a:solidFill>
                <a:prstClr val="black">
                  <a:tint val="75000"/>
                </a:prstClr>
              </a:solidFill>
            </a:endParaRPr>
          </a:p>
        </p:txBody>
      </p:sp>
      <p:sp>
        <p:nvSpPr>
          <p:cNvPr id="7" name="슬라이드 번호 개체 틀 6"/>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25874289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8DF61253-3998-40D1-84D1-14DDCA9B525D}"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2647052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DC893902-BCC8-459F-A9CB-F37808573195}"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11"/>
          </p:nvPr>
        </p:nvSpPr>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p:txBody>
          <a:body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134584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84D16-1F4A-4F5E-B3BB-0CA00F5D809F}" type="datetime1">
              <a:rPr lang="ko-KR" altLang="en-US" smtClean="0"/>
              <a:t>2019-01-07</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t>‹#›</a:t>
            </a:fld>
            <a:endParaRPr lang="ko-KR" altLang="en-US"/>
          </a:p>
        </p:txBody>
      </p:sp>
    </p:spTree>
    <p:extLst>
      <p:ext uri="{BB962C8B-B14F-4D97-AF65-F5344CB8AC3E}">
        <p14:creationId xmlns:p14="http://schemas.microsoft.com/office/powerpoint/2010/main" val="28308090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3CA10-B9BB-4BE8-B178-00EC3ABEC49F}" type="datetime1">
              <a:rPr lang="ko-KR" altLang="en-US" smtClean="0">
                <a:solidFill>
                  <a:prstClr val="black">
                    <a:tint val="75000"/>
                  </a:prstClr>
                </a:solidFill>
              </a:rPr>
              <a:t>2019-01-07</a:t>
            </a:fld>
            <a:endParaRPr lang="ko-KR" altLang="en-US">
              <a:solidFill>
                <a:prstClr val="black">
                  <a:tint val="75000"/>
                </a:prstClr>
              </a:solidFill>
            </a:endParaRPr>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solidFill>
                <a:prstClr val="black">
                  <a:tint val="75000"/>
                </a:prstClr>
              </a:solidFill>
            </a:endParaRPr>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F8FB6C-4300-4EF3-AEA9-23A98D8A74E1}" type="slidenum">
              <a:rPr lang="ko-KR" altLang="en-US" smtClean="0">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3773385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www.kukinews.com/news/article.html?no=467851" TargetMode="External"/><Relationship Id="rId7" Type="http://schemas.openxmlformats.org/officeDocument/2006/relationships/hyperlink" Target="https://minimap.net/game/dungeon-maker/review" TargetMode="External"/><Relationship Id="rId2" Type="http://schemas.openxmlformats.org/officeDocument/2006/relationships/hyperlink" Target="https://www.clien.net/service/board/park/12754454" TargetMode="External"/><Relationship Id="rId1" Type="http://schemas.openxmlformats.org/officeDocument/2006/relationships/slideLayout" Target="../slideLayouts/slideLayout2.xml"/><Relationship Id="rId6" Type="http://schemas.openxmlformats.org/officeDocument/2006/relationships/hyperlink" Target="https://entropymag.org/hobby-horse-anatomy-bawdy-and-body-in-the-binding-of-isaac-ch-3/" TargetMode="External"/><Relationship Id="rId5" Type="http://schemas.openxmlformats.org/officeDocument/2006/relationships/hyperlink" Target="https://steamcommunity.com/sharedfiles/filedetails/?id=396427946" TargetMode="External"/><Relationship Id="rId4" Type="http://schemas.openxmlformats.org/officeDocument/2006/relationships/hyperlink" Target="https://www.vingle.net/posts/2320991"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taskandpurpose.com/xcom2-war-chosen-review/" TargetMode="External"/><Relationship Id="rId3" Type="http://schemas.openxmlformats.org/officeDocument/2006/relationships/hyperlink" Target="http://www.thisisgame.com/webzine/game/nboard/19/?page=13&amp;n=64534" TargetMode="External"/><Relationship Id="rId7" Type="http://schemas.openxmlformats.org/officeDocument/2006/relationships/hyperlink" Target="https://store.steampowered.com/app/785740/This_Is_the_Police_2/" TargetMode="External"/><Relationship Id="rId2" Type="http://schemas.openxmlformats.org/officeDocument/2006/relationships/hyperlink" Target="https://realust.tistory.com/506" TargetMode="External"/><Relationship Id="rId1" Type="http://schemas.openxmlformats.org/officeDocument/2006/relationships/slideLayout" Target="../slideLayouts/slideLayout2.xml"/><Relationship Id="rId6" Type="http://schemas.openxmlformats.org/officeDocument/2006/relationships/hyperlink" Target="http://www.thisisgame.com/mobile/nboard/1/?n=51285" TargetMode="External"/><Relationship Id="rId5" Type="http://schemas.openxmlformats.org/officeDocument/2006/relationships/hyperlink" Target="http://www.thisisgame.com/mobile/nboard/1/?n=55660&amp;mode=print" TargetMode="External"/><Relationship Id="rId4" Type="http://schemas.openxmlformats.org/officeDocument/2006/relationships/hyperlink" Target="http://www.thisisgame.com/pad/tboard/?board=37&amp;n=286482"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7" name="직선 연결선 6"/>
          <p:cNvCxnSpPr/>
          <p:nvPr/>
        </p:nvCxnSpPr>
        <p:spPr>
          <a:xfrm flipH="1">
            <a:off x="0" y="580571"/>
            <a:ext cx="12467772" cy="627742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3066386" y="3090656"/>
            <a:ext cx="6716243" cy="2906180"/>
            <a:chOff x="3066386" y="3090656"/>
            <a:chExt cx="6716243" cy="2906180"/>
          </a:xfrm>
          <a:solidFill>
            <a:schemeClr val="tx1"/>
          </a:solidFill>
        </p:grpSpPr>
        <p:sp>
          <p:nvSpPr>
            <p:cNvPr id="11" name="TextBox 10"/>
            <p:cNvSpPr txBox="1"/>
            <p:nvPr/>
          </p:nvSpPr>
          <p:spPr>
            <a:xfrm>
              <a:off x="3066386" y="3090656"/>
              <a:ext cx="6059229" cy="830997"/>
            </a:xfrm>
            <a:prstGeom prst="rect">
              <a:avLst/>
            </a:prstGeom>
            <a:grpFill/>
          </p:spPr>
          <p:txBody>
            <a:bodyPr wrap="square" rtlCol="0">
              <a:spAutoFit/>
            </a:bodyPr>
            <a:lstStyle/>
            <a:p>
              <a:pPr algn="ctr"/>
              <a:r>
                <a:rPr lang="en-US" altLang="ko-KR" sz="4800" i="1" spc="-150" dirty="0" smtClean="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rPr>
                <a:t>Dungeon Tamer</a:t>
              </a:r>
              <a:endParaRPr lang="ko-KR" altLang="en-US" sz="4800" i="1" spc="-150" dirty="0">
                <a:gradFill>
                  <a:gsLst>
                    <a:gs pos="0">
                      <a:prstClr val="white"/>
                    </a:gs>
                    <a:gs pos="100000">
                      <a:prstClr val="white"/>
                    </a:gs>
                  </a:gsLst>
                  <a:lin ang="5400000" scaled="1"/>
                </a:gradFill>
                <a:effectLst>
                  <a:glow rad="139700">
                    <a:schemeClr val="bg1">
                      <a:alpha val="20000"/>
                    </a:schemeClr>
                  </a:glow>
                </a:effectLst>
                <a:latin typeface="HY견명조" panose="02030600000101010101" pitchFamily="18" charset="-127"/>
                <a:ea typeface="HY견명조" panose="02030600000101010101" pitchFamily="18" charset="-127"/>
              </a:endParaRPr>
            </a:p>
          </p:txBody>
        </p:sp>
        <p:sp>
          <p:nvSpPr>
            <p:cNvPr id="9" name="TextBox 8"/>
            <p:cNvSpPr txBox="1"/>
            <p:nvPr/>
          </p:nvSpPr>
          <p:spPr>
            <a:xfrm>
              <a:off x="3066386" y="5658282"/>
              <a:ext cx="6716243" cy="338554"/>
            </a:xfrm>
            <a:prstGeom prst="rect">
              <a:avLst/>
            </a:prstGeom>
            <a:grpFill/>
          </p:spPr>
          <p:txBody>
            <a:bodyPr wrap="square" rtlCol="0">
              <a:spAutoFit/>
            </a:bodyPr>
            <a:lstStyle/>
            <a:p>
              <a:endParaRPr lang="ko-KR" altLang="en-US" sz="1600" b="1" dirty="0">
                <a:gradFill>
                  <a:gsLst>
                    <a:gs pos="0">
                      <a:schemeClr val="bg1"/>
                    </a:gs>
                    <a:gs pos="100000">
                      <a:schemeClr val="bg1"/>
                    </a:gs>
                  </a:gsLst>
                  <a:lin ang="5400000" scaled="1"/>
                </a:gradFill>
                <a:latin typeface="+mj-ea"/>
                <a:ea typeface="+mj-ea"/>
              </a:endParaRPr>
            </a:p>
          </p:txBody>
        </p:sp>
      </p:grpSp>
      <p:sp>
        <p:nvSpPr>
          <p:cNvPr id="5" name="직사각형 4"/>
          <p:cNvSpPr/>
          <p:nvPr/>
        </p:nvSpPr>
        <p:spPr>
          <a:xfrm>
            <a:off x="5164487" y="4596452"/>
            <a:ext cx="5834440" cy="923330"/>
          </a:xfrm>
          <a:prstGeom prst="rect">
            <a:avLst/>
          </a:prstGeom>
        </p:spPr>
        <p:txBody>
          <a:bodyPr wrap="square">
            <a:spAutoFit/>
          </a:bodyPr>
          <a:lstStyle/>
          <a:p>
            <a:r>
              <a:rPr lang="ko-KR" altLang="ko-KR" dirty="0">
                <a:solidFill>
                  <a:schemeClr val="bg1"/>
                </a:solidFill>
                <a:latin typeface="+mn-ea"/>
              </a:rPr>
              <a:t>던전을 탐험하며 몬스터를 물리치고</a:t>
            </a:r>
            <a:r>
              <a:rPr lang="en-US" altLang="ko-KR" dirty="0">
                <a:solidFill>
                  <a:schemeClr val="bg1"/>
                </a:solidFill>
                <a:latin typeface="+mn-ea"/>
              </a:rPr>
              <a:t>, </a:t>
            </a:r>
            <a:r>
              <a:rPr lang="ko-KR" altLang="ko-KR" dirty="0">
                <a:solidFill>
                  <a:schemeClr val="bg1"/>
                </a:solidFill>
                <a:latin typeface="+mn-ea"/>
              </a:rPr>
              <a:t>처치한 </a:t>
            </a:r>
            <a:r>
              <a:rPr lang="ko-KR" altLang="ko-KR" dirty="0" smtClean="0">
                <a:solidFill>
                  <a:schemeClr val="bg1"/>
                </a:solidFill>
                <a:latin typeface="+mn-ea"/>
              </a:rPr>
              <a:t>몬스터를</a:t>
            </a:r>
            <a:endParaRPr lang="en-US" altLang="ko-KR" dirty="0" smtClean="0">
              <a:solidFill>
                <a:schemeClr val="bg1"/>
              </a:solidFill>
              <a:latin typeface="+mn-ea"/>
            </a:endParaRPr>
          </a:p>
          <a:p>
            <a:r>
              <a:rPr lang="ko-KR" altLang="ko-KR" dirty="0" smtClean="0">
                <a:solidFill>
                  <a:schemeClr val="bg1"/>
                </a:solidFill>
                <a:latin typeface="+mn-ea"/>
              </a:rPr>
              <a:t>자신의 </a:t>
            </a:r>
            <a:r>
              <a:rPr lang="ko-KR" altLang="ko-KR" dirty="0">
                <a:solidFill>
                  <a:schemeClr val="bg1"/>
                </a:solidFill>
                <a:latin typeface="+mn-ea"/>
              </a:rPr>
              <a:t>것으로 만들어 </a:t>
            </a:r>
            <a:r>
              <a:rPr lang="ko-KR" altLang="en-US" dirty="0" smtClean="0">
                <a:solidFill>
                  <a:schemeClr val="bg1"/>
                </a:solidFill>
                <a:latin typeface="+mn-ea"/>
              </a:rPr>
              <a:t>다양한 전략적 조합을 편성</a:t>
            </a:r>
            <a:r>
              <a:rPr lang="ko-KR" altLang="ko-KR" dirty="0" smtClean="0">
                <a:solidFill>
                  <a:schemeClr val="bg1"/>
                </a:solidFill>
                <a:latin typeface="+mn-ea"/>
              </a:rPr>
              <a:t>하여</a:t>
            </a:r>
            <a:endParaRPr lang="en-US" altLang="ko-KR" dirty="0" smtClean="0">
              <a:solidFill>
                <a:schemeClr val="bg1"/>
              </a:solidFill>
              <a:latin typeface="+mn-ea"/>
            </a:endParaRPr>
          </a:p>
          <a:p>
            <a:r>
              <a:rPr lang="ko-KR" altLang="ko-KR" dirty="0" err="1" smtClean="0">
                <a:solidFill>
                  <a:schemeClr val="bg1"/>
                </a:solidFill>
                <a:latin typeface="+mn-ea"/>
              </a:rPr>
              <a:t>던전</a:t>
            </a:r>
            <a:r>
              <a:rPr lang="ko-KR" altLang="ko-KR" dirty="0" smtClean="0">
                <a:solidFill>
                  <a:schemeClr val="bg1"/>
                </a:solidFill>
                <a:latin typeface="+mn-ea"/>
              </a:rPr>
              <a:t> </a:t>
            </a:r>
            <a:r>
              <a:rPr lang="ko-KR" altLang="ko-KR" dirty="0" err="1">
                <a:solidFill>
                  <a:schemeClr val="bg1"/>
                </a:solidFill>
                <a:latin typeface="+mn-ea"/>
              </a:rPr>
              <a:t>최심부까지</a:t>
            </a:r>
            <a:r>
              <a:rPr lang="ko-KR" altLang="ko-KR" dirty="0">
                <a:solidFill>
                  <a:schemeClr val="bg1"/>
                </a:solidFill>
                <a:latin typeface="+mn-ea"/>
              </a:rPr>
              <a:t> 정복하는 </a:t>
            </a:r>
            <a:r>
              <a:rPr lang="ko-KR" altLang="en-US" dirty="0" err="1" smtClean="0">
                <a:solidFill>
                  <a:schemeClr val="bg1"/>
                </a:solidFill>
                <a:latin typeface="+mn-ea"/>
              </a:rPr>
              <a:t>로그라이크</a:t>
            </a:r>
            <a:r>
              <a:rPr lang="ko-KR" altLang="ko-KR" dirty="0" smtClean="0">
                <a:solidFill>
                  <a:schemeClr val="bg1"/>
                </a:solidFill>
                <a:latin typeface="+mn-ea"/>
              </a:rPr>
              <a:t> </a:t>
            </a:r>
            <a:r>
              <a:rPr lang="ko-KR" altLang="en-US" dirty="0" err="1" smtClean="0">
                <a:solidFill>
                  <a:schemeClr val="bg1"/>
                </a:solidFill>
                <a:latin typeface="+mn-ea"/>
              </a:rPr>
              <a:t>턴제</a:t>
            </a:r>
            <a:r>
              <a:rPr lang="ko-KR" altLang="en-US" dirty="0" smtClean="0">
                <a:solidFill>
                  <a:schemeClr val="bg1"/>
                </a:solidFill>
                <a:latin typeface="+mn-ea"/>
              </a:rPr>
              <a:t> </a:t>
            </a:r>
            <a:r>
              <a:rPr lang="en-US" altLang="ko-KR" dirty="0" smtClean="0">
                <a:solidFill>
                  <a:schemeClr val="bg1"/>
                </a:solidFill>
                <a:latin typeface="+mn-ea"/>
              </a:rPr>
              <a:t>RPG </a:t>
            </a:r>
            <a:r>
              <a:rPr lang="ko-KR" altLang="ko-KR" dirty="0">
                <a:solidFill>
                  <a:schemeClr val="bg1"/>
                </a:solidFill>
                <a:latin typeface="+mn-ea"/>
              </a:rPr>
              <a:t>게임</a:t>
            </a: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a:t>
            </a:fld>
            <a:endParaRPr lang="ko-KR" altLang="en-US" sz="1800" dirty="0"/>
          </a:p>
        </p:txBody>
      </p:sp>
    </p:spTree>
    <p:extLst>
      <p:ext uri="{BB962C8B-B14F-4D97-AF65-F5344CB8AC3E}">
        <p14:creationId xmlns:p14="http://schemas.microsoft.com/office/powerpoint/2010/main" val="30321945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127868" y="628787"/>
            <a:ext cx="7599138"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   〮〮〮〮〮〮〮〮〮〮〮〮〮〮〮〮〮〮〮〮〮〮〮〮〮〮〮〮〮〮〮〮〮〮〮〮〮〮〮  </a:t>
            </a:r>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5</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4127868" y="3024604"/>
            <a:ext cx="7599137"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1" name="TextBox 40"/>
          <p:cNvSpPr txBox="1"/>
          <p:nvPr/>
        </p:nvSpPr>
        <p:spPr>
          <a:xfrm>
            <a:off x="5470435" y="3529592"/>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4" name="TextBox 43"/>
          <p:cNvSpPr txBox="1"/>
          <p:nvPr/>
        </p:nvSpPr>
        <p:spPr>
          <a:xfrm>
            <a:off x="5470435" y="409263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2-2.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45" name="TextBox 44"/>
          <p:cNvSpPr txBox="1"/>
          <p:nvPr/>
        </p:nvSpPr>
        <p:spPr>
          <a:xfrm>
            <a:off x="5468973" y="465331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a:t>
            </a:r>
            <a:r>
              <a:rPr lang="ko-KR" altLang="en-US" sz="2200" b="1" dirty="0" smtClean="0">
                <a:gradFill>
                  <a:gsLst>
                    <a:gs pos="0">
                      <a:schemeClr val="tx1"/>
                    </a:gs>
                    <a:gs pos="100000">
                      <a:schemeClr val="tx1"/>
                    </a:gs>
                  </a:gsLst>
                  <a:lin ang="5400000" scaled="1"/>
                </a:gradFill>
                <a:latin typeface="맑은 고딕" panose="020B0503020000020004" pitchFamily="50" charset="-127"/>
              </a:rPr>
              <a:t>캐릭터와 몬스터</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2</a:t>
            </a:fld>
            <a:endParaRPr lang="ko-KR" altLang="en-US" sz="1800" dirty="0"/>
          </a:p>
        </p:txBody>
      </p:sp>
      <p:sp>
        <p:nvSpPr>
          <p:cNvPr id="18" name="TextBox 17"/>
          <p:cNvSpPr txBox="1"/>
          <p:nvPr/>
        </p:nvSpPr>
        <p:spPr>
          <a:xfrm>
            <a:off x="5470434" y="120081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70434" y="176385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TextBox 20"/>
          <p:cNvSpPr txBox="1"/>
          <p:nvPr/>
        </p:nvSpPr>
        <p:spPr>
          <a:xfrm>
            <a:off x="5468972" y="2324538"/>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2" name="TextBox 21"/>
          <p:cNvSpPr txBox="1"/>
          <p:nvPr/>
        </p:nvSpPr>
        <p:spPr>
          <a:xfrm>
            <a:off x="5468971" y="5230874"/>
            <a:ext cx="4862402"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rPr>
              <a:t>2-4. </a:t>
            </a:r>
            <a:r>
              <a:rPr lang="ko-KR" altLang="en-US" sz="2200" b="1" dirty="0" err="1">
                <a:gradFill>
                  <a:gsLst>
                    <a:gs pos="0">
                      <a:schemeClr val="tx1"/>
                    </a:gs>
                    <a:gs pos="100000">
                      <a:schemeClr val="tx1"/>
                    </a:gs>
                  </a:gsLst>
                  <a:lin ang="5400000" scaled="1"/>
                </a:gradFill>
                <a:latin typeface="맑은 고딕" panose="020B0503020000020004" pitchFamily="50" charset="-127"/>
              </a:rPr>
              <a:t>테이밍과</a:t>
            </a:r>
            <a:r>
              <a:rPr lang="ko-KR" altLang="en-US" sz="2200" b="1" dirty="0">
                <a:gradFill>
                  <a:gsLst>
                    <a:gs pos="0">
                      <a:schemeClr val="tx1"/>
                    </a:gs>
                    <a:gs pos="100000">
                      <a:schemeClr val="tx1"/>
                    </a:gs>
                  </a:gsLst>
                  <a:lin ang="5400000" scaled="1"/>
                </a:gradFill>
                <a:latin typeface="맑은 고딕" panose="020B0503020000020004" pitchFamily="50" charset="-127"/>
              </a:rPr>
              <a:t> 육성 시스템</a:t>
            </a:r>
            <a:endParaRPr lang="en-US" altLang="ko-KR" sz="2200" b="1" dirty="0">
              <a:gradFill>
                <a:gsLst>
                  <a:gs pos="0">
                    <a:schemeClr val="tx1"/>
                  </a:gs>
                  <a:gs pos="100000">
                    <a:schemeClr val="tx1"/>
                  </a:gs>
                </a:gsLst>
                <a:lin ang="5400000" scaled="1"/>
              </a:gradFill>
              <a:latin typeface="맑은 고딕" panose="020B0503020000020004" pitchFamily="50" charset="-127"/>
            </a:endParaRPr>
          </a:p>
        </p:txBody>
      </p:sp>
      <p:sp>
        <p:nvSpPr>
          <p:cNvPr id="24" name="TextBox 23"/>
          <p:cNvSpPr txBox="1"/>
          <p:nvPr/>
        </p:nvSpPr>
        <p:spPr>
          <a:xfrm>
            <a:off x="5468971" y="5791134"/>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턴방식</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전략 전투</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3558336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151583" y="4462788"/>
            <a:ext cx="7558195" cy="430887"/>
          </a:xfrm>
          <a:prstGeom prst="rect">
            <a:avLst/>
          </a:prstGeom>
          <a:noFill/>
        </p:spPr>
        <p:txBody>
          <a:bodyPr wrap="square" rtlCol="0">
            <a:spAutoFit/>
          </a:bodyPr>
          <a:lstStyle/>
          <a:p>
            <a:r>
              <a:rPr lang="en-US" altLang="ko-KR"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25p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4" name="TextBox 23"/>
          <p:cNvSpPr txBox="1"/>
          <p:nvPr/>
        </p:nvSpPr>
        <p:spPr>
          <a:xfrm>
            <a:off x="5492688" y="503730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세부 기획 컨텐츠</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5" name="TextBox 24"/>
          <p:cNvSpPr txBox="1"/>
          <p:nvPr/>
        </p:nvSpPr>
        <p:spPr>
          <a:xfrm>
            <a:off x="5492688" y="5634945"/>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4-2.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보완점</a:t>
            </a:r>
            <a:endPar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a:t>
            </a:fld>
            <a:endParaRPr lang="ko-KR" altLang="en-US" sz="1800" dirty="0"/>
          </a:p>
        </p:txBody>
      </p:sp>
      <p:sp>
        <p:nvSpPr>
          <p:cNvPr id="18" name="TextBox 17"/>
          <p:cNvSpPr txBox="1"/>
          <p:nvPr/>
        </p:nvSpPr>
        <p:spPr>
          <a:xfrm>
            <a:off x="4151583" y="626716"/>
            <a:ext cx="7708320"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12p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3" name="TextBox 22"/>
          <p:cNvSpPr txBox="1"/>
          <p:nvPr/>
        </p:nvSpPr>
        <p:spPr>
          <a:xfrm>
            <a:off x="5492687" y="1159766"/>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6" name="TextBox 25"/>
          <p:cNvSpPr txBox="1"/>
          <p:nvPr/>
        </p:nvSpPr>
        <p:spPr>
          <a:xfrm>
            <a:off x="5492687" y="1731793"/>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3-2.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7" name="TextBox 26"/>
          <p:cNvSpPr txBox="1"/>
          <p:nvPr/>
        </p:nvSpPr>
        <p:spPr>
          <a:xfrm>
            <a:off x="5492687" y="2309351"/>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3-3.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9" name="TextBox 28"/>
          <p:cNvSpPr txBox="1"/>
          <p:nvPr/>
        </p:nvSpPr>
        <p:spPr>
          <a:xfrm>
            <a:off x="5492687" y="2883920"/>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3-4. </a:t>
            </a:r>
            <a:r>
              <a:rPr lang="ko-KR" altLang="en-US" sz="2200" b="1"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0" name="TextBox 19"/>
          <p:cNvSpPr txBox="1"/>
          <p:nvPr/>
        </p:nvSpPr>
        <p:spPr>
          <a:xfrm>
            <a:off x="5492687" y="3455947"/>
            <a:ext cx="486240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3-5.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3310411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4" name="직사각형 33"/>
          <p:cNvSpPr/>
          <p:nvPr/>
        </p:nvSpPr>
        <p:spPr>
          <a:xfrm>
            <a:off x="2944830" y="209989"/>
            <a:ext cx="9082006" cy="6431797"/>
          </a:xfrm>
          <a:prstGeom prst="rect">
            <a:avLst/>
          </a:prstGeom>
          <a:solidFill>
            <a:schemeClr val="bg1"/>
          </a:solid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p:cNvSpPr/>
          <p:nvPr/>
        </p:nvSpPr>
        <p:spPr>
          <a:xfrm>
            <a:off x="123871" y="0"/>
            <a:ext cx="323914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p:cNvSpPr txBox="1"/>
          <p:nvPr/>
        </p:nvSpPr>
        <p:spPr>
          <a:xfrm>
            <a:off x="123871" y="626716"/>
            <a:ext cx="3239146" cy="584775"/>
          </a:xfrm>
          <a:prstGeom prst="rect">
            <a:avLst/>
          </a:prstGeom>
          <a:noFill/>
        </p:spPr>
        <p:txBody>
          <a:bodyPr wrap="square" rtlCol="0">
            <a:spAutoFit/>
          </a:bodyPr>
          <a:lstStyle/>
          <a:p>
            <a:pPr algn="ctr"/>
            <a:r>
              <a:rPr lang="ko-KR" altLang="en-US" sz="3200" b="1" dirty="0" smtClean="0">
                <a:gradFill>
                  <a:gsLst>
                    <a:gs pos="0">
                      <a:schemeClr val="bg1"/>
                    </a:gs>
                    <a:gs pos="100000">
                      <a:schemeClr val="bg1"/>
                    </a:gs>
                  </a:gsLst>
                  <a:lin ang="5400000" scaled="1"/>
                </a:gradFill>
                <a:latin typeface="+mj-ea"/>
                <a:ea typeface="+mj-ea"/>
              </a:rPr>
              <a:t>목차</a:t>
            </a:r>
            <a:endParaRPr lang="ko-KR" altLang="en-US" sz="3200" b="1" dirty="0">
              <a:gradFill>
                <a:gsLst>
                  <a:gs pos="0">
                    <a:schemeClr val="bg1"/>
                  </a:gs>
                  <a:gs pos="100000">
                    <a:schemeClr val="bg1"/>
                  </a:gs>
                </a:gsLst>
                <a:lin ang="5400000" scaled="1"/>
              </a:gradFill>
              <a:latin typeface="+mj-ea"/>
              <a:ea typeface="+mj-ea"/>
            </a:endParaRPr>
          </a:p>
        </p:txBody>
      </p:sp>
      <p:cxnSp>
        <p:nvCxnSpPr>
          <p:cNvPr id="7" name="직선 연결선 6"/>
          <p:cNvCxnSpPr/>
          <p:nvPr/>
        </p:nvCxnSpPr>
        <p:spPr>
          <a:xfrm flipH="1">
            <a:off x="123871" y="1244817"/>
            <a:ext cx="1183038" cy="713219"/>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직선 연결선 10"/>
          <p:cNvCxnSpPr/>
          <p:nvPr/>
        </p:nvCxnSpPr>
        <p:spPr>
          <a:xfrm flipH="1">
            <a:off x="2393154" y="9034"/>
            <a:ext cx="975566" cy="58814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직선 연결선 11"/>
          <p:cNvCxnSpPr>
            <a:endCxn id="4" idx="3"/>
          </p:cNvCxnSpPr>
          <p:nvPr/>
        </p:nvCxnSpPr>
        <p:spPr>
          <a:xfrm>
            <a:off x="123871" y="1952786"/>
            <a:ext cx="3239146" cy="1476214"/>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218259" y="626716"/>
            <a:ext cx="7517252"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7.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29p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8" name="TextBox 27"/>
          <p:cNvSpPr txBox="1"/>
          <p:nvPr/>
        </p:nvSpPr>
        <p:spPr>
          <a:xfrm>
            <a:off x="4218258" y="1934167"/>
            <a:ext cx="7694673" cy="430887"/>
          </a:xfrm>
          <a:prstGeom prst="rect">
            <a:avLst/>
          </a:prstGeom>
          <a:noFill/>
        </p:spPr>
        <p:txBody>
          <a:bodyPr wrap="square" rtlCol="0">
            <a:spAutoFit/>
          </a:bodyPr>
          <a:lstStyle/>
          <a:p>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8. </a:t>
            </a:r>
            <a:r>
              <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 </a:t>
            </a:r>
            <a:r>
              <a:rPr lang="ko-KR" altLang="en-US"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  </a:t>
            </a:r>
            <a:r>
              <a:rPr lang="en-US" altLang="ko-KR" sz="2200"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31p</a:t>
            </a:r>
            <a:endParaRPr lang="ko-KR" altLang="en-US" sz="2200"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a:t>
            </a:fld>
            <a:endParaRPr lang="ko-KR" altLang="en-US" sz="1800" dirty="0"/>
          </a:p>
        </p:txBody>
      </p:sp>
    </p:spTree>
    <p:extLst>
      <p:ext uri="{BB962C8B-B14F-4D97-AF65-F5344CB8AC3E}">
        <p14:creationId xmlns:p14="http://schemas.microsoft.com/office/powerpoint/2010/main" val="10812117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5" name="TextBox 4"/>
          <p:cNvSpPr txBox="1"/>
          <p:nvPr/>
        </p:nvSpPr>
        <p:spPr>
          <a:xfrm>
            <a:off x="4699192" y="620053"/>
            <a:ext cx="23086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 컨셉 및 개요</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7" name="TextBox 36"/>
          <p:cNvSpPr txBox="1"/>
          <p:nvPr/>
        </p:nvSpPr>
        <p:spPr>
          <a:xfrm>
            <a:off x="4949374" y="1151764"/>
            <a:ext cx="6924178" cy="1269578"/>
          </a:xfrm>
          <a:prstGeom prst="rect">
            <a:avLst/>
          </a:prstGeom>
          <a:noFill/>
        </p:spPr>
        <p:txBody>
          <a:bodyPr wrap="square" rtlCol="0">
            <a:spAutoFit/>
          </a:bodyPr>
          <a:lstStyle/>
          <a:p>
            <a:pPr>
              <a:lnSpc>
                <a:spcPct val="150000"/>
              </a:lnSpc>
            </a:pP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플레이어가 선택할 캐릭터와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테이밍할</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수 있는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몬스터들을</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중심으로</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각각의 특징과 능력에 따른 다양한 조합과 </a:t>
            </a:r>
            <a:r>
              <a:rPr lang="ko-KR" altLang="en-US" sz="1700"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턴제</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임의 전략적 플레이에서 기인하는 재미를 구체적으로 제시하는 데에 중점을 둔다</a:t>
            </a:r>
            <a:r>
              <a:rPr lang="en-US" altLang="ko-KR"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a:t>
            </a:r>
            <a:r>
              <a:rPr lang="ko-KR" altLang="en-US" sz="1700"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endParaRPr lang="en-US" altLang="ko-KR" sz="1700"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22991" y="2818021"/>
            <a:ext cx="24610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개요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3" name="표 2"/>
          <p:cNvGraphicFramePr>
            <a:graphicFrameLocks noGrp="1"/>
          </p:cNvGraphicFramePr>
          <p:nvPr>
            <p:extLst>
              <p:ext uri="{D42A27DB-BD31-4B8C-83A1-F6EECF244321}">
                <p14:modId xmlns:p14="http://schemas.microsoft.com/office/powerpoint/2010/main" val="2555973262"/>
              </p:ext>
            </p:extLst>
          </p:nvPr>
        </p:nvGraphicFramePr>
        <p:xfrm>
          <a:off x="4949374" y="3443220"/>
          <a:ext cx="6995883" cy="2595880"/>
        </p:xfrm>
        <a:graphic>
          <a:graphicData uri="http://schemas.openxmlformats.org/drawingml/2006/table">
            <a:tbl>
              <a:tblPr firstRow="1" bandRow="1">
                <a:tableStyleId>{073A0DAA-6AF3-43AB-8588-CEC1D06C72B9}</a:tableStyleId>
              </a:tblPr>
              <a:tblGrid>
                <a:gridCol w="1804448">
                  <a:extLst>
                    <a:ext uri="{9D8B030D-6E8A-4147-A177-3AD203B41FA5}">
                      <a16:colId xmlns="" xmlns:a16="http://schemas.microsoft.com/office/drawing/2014/main" val="3475047078"/>
                    </a:ext>
                  </a:extLst>
                </a:gridCol>
                <a:gridCol w="5191435">
                  <a:extLst>
                    <a:ext uri="{9D8B030D-6E8A-4147-A177-3AD203B41FA5}">
                      <a16:colId xmlns="" xmlns:a16="http://schemas.microsoft.com/office/drawing/2014/main" val="1305153539"/>
                    </a:ext>
                  </a:extLst>
                </a:gridCol>
              </a:tblGrid>
              <a:tr h="370840">
                <a:tc gridSpan="2">
                  <a:txBody>
                    <a:bodyPr/>
                    <a:lstStyle/>
                    <a:p>
                      <a:pPr algn="ctr" latinLnBrk="1"/>
                      <a:r>
                        <a:rPr lang="ko-KR" altLang="en-US" dirty="0" smtClean="0"/>
                        <a:t>개요</a:t>
                      </a:r>
                      <a:endParaRPr lang="ko-KR" altLang="en-US" dirty="0"/>
                    </a:p>
                  </a:txBody>
                  <a:tcPr anchor="ctr"/>
                </a:tc>
                <a:tc hMerge="1">
                  <a:txBody>
                    <a:bodyPr/>
                    <a:lstStyle/>
                    <a:p>
                      <a:pPr latinLnBrk="1"/>
                      <a:endParaRPr lang="ko-KR" altLang="en-US" dirty="0"/>
                    </a:p>
                  </a:txBody>
                  <a:tcPr/>
                </a:tc>
                <a:extLst>
                  <a:ext uri="{0D108BD9-81ED-4DB2-BD59-A6C34878D82A}">
                    <a16:rowId xmlns="" xmlns:a16="http://schemas.microsoft.com/office/drawing/2014/main" val="1178596490"/>
                  </a:ext>
                </a:extLst>
              </a:tr>
              <a:tr h="370840">
                <a:tc>
                  <a:txBody>
                    <a:bodyPr/>
                    <a:lstStyle/>
                    <a:p>
                      <a:pPr algn="ctr" latinLnBrk="1"/>
                      <a:r>
                        <a:rPr lang="ko-KR" altLang="en-US" dirty="0" smtClean="0"/>
                        <a:t>제목</a:t>
                      </a:r>
                      <a:endParaRPr lang="ko-KR" altLang="en-US" dirty="0"/>
                    </a:p>
                  </a:txBody>
                  <a:tcPr anchor="ctr"/>
                </a:tc>
                <a:tc>
                  <a:txBody>
                    <a:bodyPr/>
                    <a:lstStyle/>
                    <a:p>
                      <a:pPr algn="ctr" latinLnBrk="1"/>
                      <a:r>
                        <a:rPr lang="en-US" altLang="ko-KR" dirty="0" smtClean="0"/>
                        <a:t>Dungeon</a:t>
                      </a:r>
                      <a:r>
                        <a:rPr lang="en-US" altLang="ko-KR" baseline="0" dirty="0" smtClean="0"/>
                        <a:t> Tamer</a:t>
                      </a:r>
                      <a:endParaRPr lang="ko-KR" altLang="en-US" dirty="0"/>
                    </a:p>
                  </a:txBody>
                  <a:tcPr anchor="ctr"/>
                </a:tc>
                <a:extLst>
                  <a:ext uri="{0D108BD9-81ED-4DB2-BD59-A6C34878D82A}">
                    <a16:rowId xmlns="" xmlns:a16="http://schemas.microsoft.com/office/drawing/2014/main" val="1039901684"/>
                  </a:ext>
                </a:extLst>
              </a:tr>
              <a:tr h="370840">
                <a:tc>
                  <a:txBody>
                    <a:bodyPr/>
                    <a:lstStyle/>
                    <a:p>
                      <a:pPr algn="ctr" latinLnBrk="1"/>
                      <a:r>
                        <a:rPr lang="ko-KR" altLang="en-US" dirty="0" smtClean="0"/>
                        <a:t>장르</a:t>
                      </a:r>
                      <a:endParaRPr lang="ko-KR" altLang="en-US" dirty="0"/>
                    </a:p>
                  </a:txBody>
                  <a:tcPr anchor="ctr"/>
                </a:tc>
                <a:tc>
                  <a:txBody>
                    <a:bodyPr/>
                    <a:lstStyle/>
                    <a:p>
                      <a:pPr algn="ctr" latinLnBrk="1"/>
                      <a:r>
                        <a:rPr lang="en-US" altLang="ko-KR" dirty="0" smtClean="0"/>
                        <a:t>2D TRPG</a:t>
                      </a:r>
                      <a:endParaRPr lang="ko-KR" altLang="en-US" dirty="0"/>
                    </a:p>
                  </a:txBody>
                  <a:tcPr anchor="ctr"/>
                </a:tc>
                <a:extLst>
                  <a:ext uri="{0D108BD9-81ED-4DB2-BD59-A6C34878D82A}">
                    <a16:rowId xmlns="" xmlns:a16="http://schemas.microsoft.com/office/drawing/2014/main" val="1243071007"/>
                  </a:ext>
                </a:extLst>
              </a:tr>
              <a:tr h="370840">
                <a:tc>
                  <a:txBody>
                    <a:bodyPr/>
                    <a:lstStyle/>
                    <a:p>
                      <a:pPr algn="ctr" latinLnBrk="1"/>
                      <a:r>
                        <a:rPr lang="ko-KR" altLang="en-US" dirty="0" smtClean="0"/>
                        <a:t>플랫폼</a:t>
                      </a:r>
                      <a:endParaRPr lang="ko-KR" altLang="en-US" dirty="0"/>
                    </a:p>
                  </a:txBody>
                  <a:tcPr anchor="ctr"/>
                </a:tc>
                <a:tc>
                  <a:txBody>
                    <a:bodyPr/>
                    <a:lstStyle/>
                    <a:p>
                      <a:pPr algn="ctr" latinLnBrk="1"/>
                      <a:r>
                        <a:rPr lang="en-US" altLang="ko-KR" dirty="0" smtClean="0"/>
                        <a:t>PC, PS4,</a:t>
                      </a:r>
                      <a:r>
                        <a:rPr lang="en-US" altLang="ko-KR" baseline="0" dirty="0" smtClean="0"/>
                        <a:t> XB1, NSW</a:t>
                      </a:r>
                      <a:endParaRPr lang="ko-KR" altLang="en-US" dirty="0"/>
                    </a:p>
                  </a:txBody>
                  <a:tcPr anchor="ctr"/>
                </a:tc>
                <a:extLst>
                  <a:ext uri="{0D108BD9-81ED-4DB2-BD59-A6C34878D82A}">
                    <a16:rowId xmlns="" xmlns:a16="http://schemas.microsoft.com/office/drawing/2014/main" val="3415024306"/>
                  </a:ext>
                </a:extLst>
              </a:tr>
              <a:tr h="370840">
                <a:tc>
                  <a:txBody>
                    <a:bodyPr/>
                    <a:lstStyle/>
                    <a:p>
                      <a:pPr algn="ctr" latinLnBrk="1"/>
                      <a:r>
                        <a:rPr lang="ko-KR" altLang="en-US" dirty="0" smtClean="0"/>
                        <a:t>플레이 유형</a:t>
                      </a:r>
                      <a:endParaRPr lang="ko-KR" altLang="en-US" dirty="0"/>
                    </a:p>
                  </a:txBody>
                  <a:tcPr anchor="ctr"/>
                </a:tc>
                <a:tc>
                  <a:txBody>
                    <a:bodyPr/>
                    <a:lstStyle/>
                    <a:p>
                      <a:pPr algn="ctr" latinLnBrk="1"/>
                      <a:r>
                        <a:rPr lang="ko-KR" altLang="en-US" dirty="0" smtClean="0"/>
                        <a:t>싱글 플레이</a:t>
                      </a:r>
                      <a:endParaRPr lang="ko-KR" altLang="en-US" dirty="0"/>
                    </a:p>
                  </a:txBody>
                  <a:tcPr anchor="ctr"/>
                </a:tc>
                <a:extLst>
                  <a:ext uri="{0D108BD9-81ED-4DB2-BD59-A6C34878D82A}">
                    <a16:rowId xmlns="" xmlns:a16="http://schemas.microsoft.com/office/drawing/2014/main" val="3365250972"/>
                  </a:ext>
                </a:extLst>
              </a:tr>
              <a:tr h="741680">
                <a:tc>
                  <a:txBody>
                    <a:bodyPr/>
                    <a:lstStyle/>
                    <a:p>
                      <a:pPr algn="ctr" latinLnBrk="1"/>
                      <a:r>
                        <a:rPr lang="ko-KR" altLang="en-US" dirty="0" smtClean="0"/>
                        <a:t>주 타겟 유저</a:t>
                      </a:r>
                      <a:endParaRPr lang="ko-KR" altLang="en-US" dirty="0"/>
                    </a:p>
                  </a:txBody>
                  <a:tcPr anchor="ctr"/>
                </a:tc>
                <a:tc>
                  <a:txBody>
                    <a:bodyPr/>
                    <a:lstStyle/>
                    <a:p>
                      <a:pPr algn="ctr" latinLnBrk="1"/>
                      <a:r>
                        <a:rPr lang="ko-KR" altLang="en-US" dirty="0" smtClean="0"/>
                        <a:t>턴 방식의 전략 게임과 </a:t>
                      </a:r>
                      <a:r>
                        <a:rPr lang="ko-KR" altLang="en-US" dirty="0" err="1" smtClean="0"/>
                        <a:t>로그라이크</a:t>
                      </a:r>
                      <a:r>
                        <a:rPr lang="ko-KR" altLang="en-US" dirty="0" smtClean="0"/>
                        <a:t> 장르를</a:t>
                      </a:r>
                      <a:r>
                        <a:rPr lang="ko-KR" altLang="en-US" baseline="0" dirty="0" smtClean="0"/>
                        <a:t> </a:t>
                      </a:r>
                      <a:endParaRPr lang="en-US" altLang="ko-KR" baseline="0" dirty="0" smtClean="0"/>
                    </a:p>
                    <a:p>
                      <a:pPr algn="ctr" latinLnBrk="1"/>
                      <a:r>
                        <a:rPr lang="ko-KR" altLang="en-US" baseline="0" dirty="0" smtClean="0"/>
                        <a:t>선호하는 </a:t>
                      </a:r>
                      <a:r>
                        <a:rPr lang="en-US" altLang="ko-KR" dirty="0" smtClean="0"/>
                        <a:t>10~30</a:t>
                      </a:r>
                      <a:r>
                        <a:rPr lang="ko-KR" altLang="en-US" dirty="0" smtClean="0"/>
                        <a:t>대 게이머</a:t>
                      </a:r>
                      <a:endParaRPr lang="ko-KR" altLang="en-US" dirty="0"/>
                    </a:p>
                  </a:txBody>
                  <a:tcPr anchor="ctr"/>
                </a:tc>
                <a:extLst>
                  <a:ext uri="{0D108BD9-81ED-4DB2-BD59-A6C34878D82A}">
                    <a16:rowId xmlns="" xmlns:a16="http://schemas.microsoft.com/office/drawing/2014/main" val="1780395460"/>
                  </a:ext>
                </a:extLst>
              </a:tr>
            </a:tbl>
          </a:graphicData>
        </a:graphic>
      </p:graphicFrame>
      <p:sp>
        <p:nvSpPr>
          <p:cNvPr id="7" name="슬라이드 번호 개체 틀 6"/>
          <p:cNvSpPr>
            <a:spLocks noGrp="1"/>
          </p:cNvSpPr>
          <p:nvPr>
            <p:ph type="sldNum" sz="quarter" idx="12"/>
          </p:nvPr>
        </p:nvSpPr>
        <p:spPr/>
        <p:txBody>
          <a:bodyPr/>
          <a:lstStyle/>
          <a:p>
            <a:fld id="{95F8FB6C-4300-4EF3-AEA9-23A98D8A74E1}" type="slidenum">
              <a:rPr lang="ko-KR" altLang="en-US" sz="1800" smtClean="0"/>
              <a:t>5</a:t>
            </a:fld>
            <a:endParaRPr lang="ko-KR" altLang="en-US" sz="1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40266" y="777408"/>
            <a:ext cx="4196874" cy="236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1155469" y="3125709"/>
            <a:ext cx="294270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1 - 1)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턴제</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전투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6" name="TextBox 15"/>
          <p:cNvSpPr txBox="1"/>
          <p:nvPr/>
        </p:nvSpPr>
        <p:spPr>
          <a:xfrm>
            <a:off x="1155469" y="6125918"/>
            <a:ext cx="294270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1 - 2)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조합과  상성이  있는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39071" y="3640508"/>
            <a:ext cx="4199265" cy="236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35706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210 앱굴림 R" panose="02020603020101020101" pitchFamily="18" charset="-127"/>
              <a:ea typeface="210 앱굴림 R" panose="02020603020101020101" pitchFamily="18" charset="-127"/>
            </a:endParaRPr>
          </a:p>
        </p:txBody>
      </p:sp>
      <p:sp>
        <p:nvSpPr>
          <p:cNvPr id="6" name="TextBox 5"/>
          <p:cNvSpPr txBox="1"/>
          <p:nvPr/>
        </p:nvSpPr>
        <p:spPr>
          <a:xfrm>
            <a:off x="72570" y="250721"/>
            <a:ext cx="6935297" cy="369332"/>
          </a:xfrm>
          <a:prstGeom prst="rect">
            <a:avLst/>
          </a:prstGeom>
          <a:noFill/>
        </p:spPr>
        <p:txBody>
          <a:bodyPr wrap="square" rtlCol="0">
            <a:spAutoFit/>
          </a:bodyPr>
          <a:lstStyle/>
          <a:p>
            <a:r>
              <a:rPr lang="en-US" altLang="ko-KR" spc="-300" dirty="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a:gradFill>
                  <a:gsLst>
                    <a:gs pos="0">
                      <a:schemeClr val="tx1"/>
                    </a:gs>
                    <a:gs pos="100000">
                      <a:schemeClr val="tx1"/>
                    </a:gs>
                  </a:gsLst>
                  <a:lin ang="5400000" scaled="1"/>
                </a:gradFill>
                <a:latin typeface="맑은 고딕" panose="020B0503020000020004" pitchFamily="50" charset="-127"/>
              </a:rPr>
              <a:t>기획 컨셉 및 </a:t>
            </a:r>
            <a:r>
              <a:rPr lang="ko-KR" altLang="en-US" b="1" dirty="0" smtClean="0">
                <a:gradFill>
                  <a:gsLst>
                    <a:gs pos="0">
                      <a:schemeClr val="tx1"/>
                    </a:gs>
                    <a:gs pos="100000">
                      <a:schemeClr val="tx1"/>
                    </a:gs>
                  </a:gsLst>
                  <a:lin ang="5400000" scaled="1"/>
                </a:gradFill>
                <a:latin typeface="맑은 고딕" panose="020B0503020000020004" pitchFamily="50" charset="-127"/>
              </a:rPr>
              <a:t>개요</a:t>
            </a:r>
            <a:endParaRPr lang="ko-KR" altLang="en-US" b="1" dirty="0">
              <a:gradFill>
                <a:gsLst>
                  <a:gs pos="0">
                    <a:schemeClr val="tx1"/>
                  </a:gs>
                  <a:gs pos="100000">
                    <a:schemeClr val="tx1"/>
                  </a:gs>
                </a:gsLst>
                <a:lin ang="5400000" scaled="1"/>
              </a:gradFill>
              <a:latin typeface="맑은 고딕" panose="020B0503020000020004" pitchFamily="50" charset="-127"/>
            </a:endParaRPr>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754747" y="1257383"/>
            <a:ext cx="2322282"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필요 사양</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7" name="표 6"/>
          <p:cNvGraphicFramePr>
            <a:graphicFrameLocks noGrp="1"/>
          </p:cNvGraphicFramePr>
          <p:nvPr>
            <p:extLst>
              <p:ext uri="{D42A27DB-BD31-4B8C-83A1-F6EECF244321}">
                <p14:modId xmlns:p14="http://schemas.microsoft.com/office/powerpoint/2010/main" val="276476328"/>
              </p:ext>
            </p:extLst>
          </p:nvPr>
        </p:nvGraphicFramePr>
        <p:xfrm>
          <a:off x="754747" y="1894709"/>
          <a:ext cx="10609938" cy="3421728"/>
        </p:xfrm>
        <a:graphic>
          <a:graphicData uri="http://schemas.openxmlformats.org/drawingml/2006/table">
            <a:tbl>
              <a:tblPr firstRow="1" bandRow="1">
                <a:tableStyleId>{073A0DAA-6AF3-43AB-8588-CEC1D06C72B9}</a:tableStyleId>
              </a:tblPr>
              <a:tblGrid>
                <a:gridCol w="1712682">
                  <a:extLst>
                    <a:ext uri="{9D8B030D-6E8A-4147-A177-3AD203B41FA5}">
                      <a16:colId xmlns="" xmlns:a16="http://schemas.microsoft.com/office/drawing/2014/main" val="389885132"/>
                    </a:ext>
                  </a:extLst>
                </a:gridCol>
                <a:gridCol w="3991428">
                  <a:extLst>
                    <a:ext uri="{9D8B030D-6E8A-4147-A177-3AD203B41FA5}">
                      <a16:colId xmlns="" xmlns:a16="http://schemas.microsoft.com/office/drawing/2014/main" val="2257908711"/>
                    </a:ext>
                  </a:extLst>
                </a:gridCol>
                <a:gridCol w="4905828">
                  <a:extLst>
                    <a:ext uri="{9D8B030D-6E8A-4147-A177-3AD203B41FA5}">
                      <a16:colId xmlns="" xmlns:a16="http://schemas.microsoft.com/office/drawing/2014/main" val="4230724851"/>
                    </a:ext>
                  </a:extLst>
                </a:gridCol>
              </a:tblGrid>
              <a:tr h="570288">
                <a:tc>
                  <a:txBody>
                    <a:bodyPr/>
                    <a:lstStyle/>
                    <a:p>
                      <a:pPr algn="ctr" latinLnBrk="1"/>
                      <a:r>
                        <a:rPr lang="en-US" altLang="ko-KR" dirty="0" smtClean="0"/>
                        <a:t>Requirements</a:t>
                      </a:r>
                      <a:endParaRPr lang="ko-KR" altLang="en-US" dirty="0"/>
                    </a:p>
                  </a:txBody>
                  <a:tcPr anchor="ctr"/>
                </a:tc>
                <a:tc>
                  <a:txBody>
                    <a:bodyPr/>
                    <a:lstStyle/>
                    <a:p>
                      <a:pPr algn="ctr" latinLnBrk="1"/>
                      <a:r>
                        <a:rPr lang="en-US" altLang="ko-KR" dirty="0" smtClean="0"/>
                        <a:t>Minimum</a:t>
                      </a:r>
                      <a:endParaRPr lang="ko-KR" altLang="en-US" dirty="0"/>
                    </a:p>
                  </a:txBody>
                  <a:tcPr anchor="ctr"/>
                </a:tc>
                <a:tc>
                  <a:txBody>
                    <a:bodyPr/>
                    <a:lstStyle/>
                    <a:p>
                      <a:pPr algn="ctr" latinLnBrk="1"/>
                      <a:r>
                        <a:rPr lang="en-US" altLang="ko-KR" dirty="0" smtClean="0"/>
                        <a:t>Recommended</a:t>
                      </a:r>
                      <a:endParaRPr lang="ko-KR" altLang="en-US" dirty="0"/>
                    </a:p>
                  </a:txBody>
                  <a:tcPr anchor="ctr"/>
                </a:tc>
                <a:extLst>
                  <a:ext uri="{0D108BD9-81ED-4DB2-BD59-A6C34878D82A}">
                    <a16:rowId xmlns="" xmlns:a16="http://schemas.microsoft.com/office/drawing/2014/main" val="2153952193"/>
                  </a:ext>
                </a:extLst>
              </a:tr>
              <a:tr h="570288">
                <a:tc>
                  <a:txBody>
                    <a:bodyPr/>
                    <a:lstStyle/>
                    <a:p>
                      <a:pPr algn="ctr" latinLnBrk="1"/>
                      <a:r>
                        <a:rPr lang="en-US" altLang="ko-KR" dirty="0" smtClean="0"/>
                        <a:t>OS</a:t>
                      </a:r>
                      <a:endParaRPr lang="ko-KR" altLang="en-US" dirty="0"/>
                    </a:p>
                  </a:txBody>
                  <a:tcPr anchor="ctr"/>
                </a:tc>
                <a:tc>
                  <a:txBody>
                    <a:bodyPr/>
                    <a:lstStyle/>
                    <a:p>
                      <a:pPr algn="ctr" latinLnBrk="1"/>
                      <a:r>
                        <a:rPr lang="en-US" altLang="ko-KR" dirty="0" smtClean="0"/>
                        <a:t>Windows 7+</a:t>
                      </a:r>
                      <a:endParaRPr lang="ko-KR" altLang="en-US" dirty="0"/>
                    </a:p>
                  </a:txBody>
                  <a:tcPr anchor="ctr"/>
                </a:tc>
                <a:tc>
                  <a:txBody>
                    <a:bodyPr/>
                    <a:lstStyle/>
                    <a:p>
                      <a:pPr algn="ctr" latinLnBrk="1"/>
                      <a:r>
                        <a:rPr lang="en-US" altLang="ko-KR" dirty="0" smtClean="0"/>
                        <a:t>Windows 7+</a:t>
                      </a:r>
                      <a:endParaRPr lang="ko-KR" altLang="en-US" dirty="0"/>
                    </a:p>
                  </a:txBody>
                  <a:tcPr anchor="ctr"/>
                </a:tc>
                <a:extLst>
                  <a:ext uri="{0D108BD9-81ED-4DB2-BD59-A6C34878D82A}">
                    <a16:rowId xmlns="" xmlns:a16="http://schemas.microsoft.com/office/drawing/2014/main" val="1269054755"/>
                  </a:ext>
                </a:extLst>
              </a:tr>
              <a:tr h="570288">
                <a:tc>
                  <a:txBody>
                    <a:bodyPr/>
                    <a:lstStyle/>
                    <a:p>
                      <a:pPr algn="ctr" latinLnBrk="1"/>
                      <a:r>
                        <a:rPr lang="en-US" altLang="ko-KR" dirty="0" smtClean="0"/>
                        <a:t>Processor</a:t>
                      </a:r>
                      <a:endParaRPr lang="ko-KR" altLang="en-US" dirty="0"/>
                    </a:p>
                  </a:txBody>
                  <a:tcPr anchor="ctr"/>
                </a:tc>
                <a:tc>
                  <a:txBody>
                    <a:bodyPr/>
                    <a:lstStyle/>
                    <a:p>
                      <a:pPr algn="ctr" latinLnBrk="1"/>
                      <a:r>
                        <a:rPr lang="en-US" altLang="ko-KR" dirty="0" smtClean="0"/>
                        <a:t>Dual core</a:t>
                      </a:r>
                      <a:r>
                        <a:rPr lang="en-US" altLang="ko-KR" baseline="0" dirty="0" smtClean="0"/>
                        <a:t> </a:t>
                      </a:r>
                      <a:r>
                        <a:rPr lang="en-US" altLang="ko-KR" dirty="0" smtClean="0"/>
                        <a:t>2.6 </a:t>
                      </a:r>
                      <a:r>
                        <a:rPr lang="en-US" altLang="ko-KR" dirty="0" err="1" smtClean="0"/>
                        <a:t>ghz</a:t>
                      </a:r>
                      <a:r>
                        <a:rPr lang="en-US" altLang="ko-KR" dirty="0" smtClean="0"/>
                        <a:t> +</a:t>
                      </a:r>
                      <a:endParaRPr lang="ko-KR" altLang="en-US" dirty="0"/>
                    </a:p>
                  </a:txBody>
                  <a:tcPr anchor="ctr"/>
                </a:tc>
                <a:tc>
                  <a:txBody>
                    <a:bodyPr/>
                    <a:lstStyle/>
                    <a:p>
                      <a:pPr algn="ctr" latinLnBrk="1"/>
                      <a:r>
                        <a:rPr lang="en-US" altLang="ko-KR" dirty="0" smtClean="0"/>
                        <a:t>Intel core</a:t>
                      </a:r>
                      <a:r>
                        <a:rPr lang="en-US" altLang="ko-KR" baseline="0" dirty="0" smtClean="0"/>
                        <a:t> i5 series +</a:t>
                      </a:r>
                      <a:endParaRPr lang="ko-KR" altLang="en-US" dirty="0"/>
                    </a:p>
                  </a:txBody>
                  <a:tcPr anchor="ctr"/>
                </a:tc>
                <a:extLst>
                  <a:ext uri="{0D108BD9-81ED-4DB2-BD59-A6C34878D82A}">
                    <a16:rowId xmlns="" xmlns:a16="http://schemas.microsoft.com/office/drawing/2014/main" val="3493674192"/>
                  </a:ext>
                </a:extLst>
              </a:tr>
              <a:tr h="570288">
                <a:tc>
                  <a:txBody>
                    <a:bodyPr/>
                    <a:lstStyle/>
                    <a:p>
                      <a:pPr algn="ctr" latinLnBrk="1"/>
                      <a:r>
                        <a:rPr lang="en-US" altLang="ko-KR" dirty="0" smtClean="0"/>
                        <a:t>Memory</a:t>
                      </a:r>
                      <a:endParaRPr lang="ko-KR" altLang="en-US" dirty="0"/>
                    </a:p>
                  </a:txBody>
                  <a:tcPr anchor="ctr"/>
                </a:tc>
                <a:tc>
                  <a:txBody>
                    <a:bodyPr/>
                    <a:lstStyle/>
                    <a:p>
                      <a:pPr algn="ctr" latinLnBrk="1"/>
                      <a:r>
                        <a:rPr lang="en-US" altLang="ko-KR" dirty="0" smtClean="0"/>
                        <a:t>1 GB</a:t>
                      </a:r>
                      <a:endParaRPr lang="ko-KR" altLang="en-US" dirty="0"/>
                    </a:p>
                  </a:txBody>
                  <a:tcPr anchor="ctr"/>
                </a:tc>
                <a:tc>
                  <a:txBody>
                    <a:bodyPr/>
                    <a:lstStyle/>
                    <a:p>
                      <a:pPr algn="ctr" latinLnBrk="1"/>
                      <a:r>
                        <a:rPr lang="en-US" altLang="ko-KR" dirty="0" smtClean="0"/>
                        <a:t>2 GB</a:t>
                      </a:r>
                    </a:p>
                  </a:txBody>
                  <a:tcPr anchor="ctr"/>
                </a:tc>
                <a:extLst>
                  <a:ext uri="{0D108BD9-81ED-4DB2-BD59-A6C34878D82A}">
                    <a16:rowId xmlns="" xmlns:a16="http://schemas.microsoft.com/office/drawing/2014/main" val="2897240585"/>
                  </a:ext>
                </a:extLst>
              </a:tr>
              <a:tr h="570288">
                <a:tc>
                  <a:txBody>
                    <a:bodyPr/>
                    <a:lstStyle/>
                    <a:p>
                      <a:pPr algn="ctr" latinLnBrk="1"/>
                      <a:r>
                        <a:rPr lang="en-US" altLang="ko-KR" dirty="0" smtClean="0"/>
                        <a:t>Graphics</a:t>
                      </a:r>
                      <a:endParaRPr lang="ko-KR" altLang="en-US" dirty="0"/>
                    </a:p>
                  </a:txBody>
                  <a:tcPr anchor="ctr"/>
                </a:tc>
                <a:tc>
                  <a:txBody>
                    <a:bodyPr/>
                    <a:lstStyle/>
                    <a:p>
                      <a:pPr algn="ctr" latinLnBrk="1"/>
                      <a:r>
                        <a:rPr lang="en-US" altLang="ko-KR" dirty="0" err="1" smtClean="0"/>
                        <a:t>nVidia</a:t>
                      </a:r>
                      <a:r>
                        <a:rPr lang="en-US" altLang="ko-KR" dirty="0" smtClean="0"/>
                        <a:t> GTS 450 +</a:t>
                      </a:r>
                      <a:endParaRPr lang="ko-KR" altLang="en-US" dirty="0"/>
                    </a:p>
                  </a:txBody>
                  <a:tcPr anchor="ctr"/>
                </a:tc>
                <a:tc>
                  <a:txBody>
                    <a:bodyPr/>
                    <a:lstStyle/>
                    <a:p>
                      <a:pPr marL="0" indent="0" algn="ctr" latinLnBrk="1">
                        <a:buNone/>
                      </a:pPr>
                      <a:r>
                        <a:rPr lang="en-US" altLang="ko-KR" dirty="0" err="1" smtClean="0"/>
                        <a:t>nVidia</a:t>
                      </a:r>
                      <a:r>
                        <a:rPr lang="en-US" altLang="ko-KR" dirty="0" smtClean="0"/>
                        <a:t> GTS 450 +</a:t>
                      </a:r>
                      <a:endParaRPr lang="ko-KR" altLang="en-US" dirty="0"/>
                    </a:p>
                  </a:txBody>
                  <a:tcPr anchor="ctr"/>
                </a:tc>
                <a:extLst>
                  <a:ext uri="{0D108BD9-81ED-4DB2-BD59-A6C34878D82A}">
                    <a16:rowId xmlns="" xmlns:a16="http://schemas.microsoft.com/office/drawing/2014/main" val="2410361268"/>
                  </a:ext>
                </a:extLst>
              </a:tr>
              <a:tr h="570288">
                <a:tc>
                  <a:txBody>
                    <a:bodyPr/>
                    <a:lstStyle/>
                    <a:p>
                      <a:pPr algn="ctr" latinLnBrk="1"/>
                      <a:r>
                        <a:rPr lang="en-US" altLang="ko-KR" dirty="0" smtClean="0"/>
                        <a:t>Storage</a:t>
                      </a:r>
                      <a:endParaRPr lang="ko-KR" altLang="en-US" dirty="0"/>
                    </a:p>
                  </a:txBody>
                  <a:tcPr anchor="ctr"/>
                </a:tc>
                <a:tc>
                  <a:txBody>
                    <a:bodyPr/>
                    <a:lstStyle/>
                    <a:p>
                      <a:pPr algn="ctr" latinLnBrk="1"/>
                      <a:r>
                        <a:rPr lang="en-US" altLang="ko-KR" dirty="0" smtClean="0"/>
                        <a:t>400 MB</a:t>
                      </a:r>
                      <a:endParaRPr lang="ko-KR" altLang="en-US" dirty="0"/>
                    </a:p>
                  </a:txBody>
                  <a:tcPr anchor="ctr"/>
                </a:tc>
                <a:tc>
                  <a:txBody>
                    <a:bodyPr/>
                    <a:lstStyle/>
                    <a:p>
                      <a:pPr algn="ctr" latinLnBrk="1"/>
                      <a:r>
                        <a:rPr lang="en-US" altLang="ko-KR" dirty="0" smtClean="0"/>
                        <a:t>1 GB</a:t>
                      </a:r>
                      <a:endParaRPr lang="ko-KR" altLang="en-US" dirty="0"/>
                    </a:p>
                  </a:txBody>
                  <a:tcPr anchor="ctr"/>
                </a:tc>
                <a:extLst>
                  <a:ext uri="{0D108BD9-81ED-4DB2-BD59-A6C34878D82A}">
                    <a16:rowId xmlns="" xmlns:a16="http://schemas.microsoft.com/office/drawing/2014/main" val="1747673497"/>
                  </a:ext>
                </a:extLst>
              </a:tr>
            </a:tbl>
          </a:graphicData>
        </a:graphic>
      </p:graphicFrame>
      <p:sp>
        <p:nvSpPr>
          <p:cNvPr id="2" name="슬라이드 번호 개체 틀 1"/>
          <p:cNvSpPr>
            <a:spLocks noGrp="1"/>
          </p:cNvSpPr>
          <p:nvPr>
            <p:ph type="sldNum" sz="quarter" idx="12"/>
          </p:nvPr>
        </p:nvSpPr>
        <p:spPr/>
        <p:txBody>
          <a:bodyPr/>
          <a:lstStyle/>
          <a:p>
            <a:fld id="{95F8FB6C-4300-4EF3-AEA9-23A98D8A74E1}" type="slidenum">
              <a:rPr lang="ko-KR" altLang="en-US" sz="1800" smtClean="0"/>
              <a:t>6</a:t>
            </a:fld>
            <a:endParaRPr lang="ko-KR" altLang="en-US" sz="1800" dirty="0"/>
          </a:p>
        </p:txBody>
      </p:sp>
    </p:spTree>
    <p:extLst>
      <p:ext uri="{BB962C8B-B14F-4D97-AF65-F5344CB8AC3E}">
        <p14:creationId xmlns:p14="http://schemas.microsoft.com/office/powerpoint/2010/main" val="21777600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387590"/>
            <a:ext cx="5950972" cy="5078313"/>
          </a:xfrm>
          <a:prstGeom prst="rect">
            <a:avLst/>
          </a:prstGeom>
          <a:noFill/>
        </p:spPr>
        <p:txBody>
          <a:bodyPr wrap="square" rtlCol="0">
            <a:spAutoFit/>
          </a:bodyPr>
          <a:lstStyle/>
          <a:p>
            <a:pPr>
              <a:lnSpc>
                <a:spcPct val="150000"/>
              </a:lnSpc>
            </a:pPr>
            <a:r>
              <a:rPr lang="ko-KR" altLang="en-US" dirty="0" smtClean="0">
                <a:latin typeface="+mn-ea"/>
              </a:rPr>
              <a:t> 동부 왕국의 평화롭고 한적한 마을 </a:t>
            </a:r>
            <a:r>
              <a:rPr lang="en-US" altLang="ko-KR" dirty="0" smtClean="0">
                <a:latin typeface="+mn-ea"/>
              </a:rPr>
              <a:t>‘</a:t>
            </a:r>
            <a:r>
              <a:rPr lang="ko-KR" altLang="en-US" dirty="0" err="1" smtClean="0">
                <a:latin typeface="+mn-ea"/>
              </a:rPr>
              <a:t>리안</a:t>
            </a:r>
            <a:r>
              <a:rPr lang="en-US" altLang="ko-KR" dirty="0" smtClean="0">
                <a:latin typeface="+mn-ea"/>
              </a:rPr>
              <a:t>’.</a:t>
            </a:r>
          </a:p>
          <a:p>
            <a:pPr>
              <a:lnSpc>
                <a:spcPct val="150000"/>
              </a:lnSpc>
            </a:pPr>
            <a:endParaRPr lang="en-US" altLang="ko-KR" dirty="0" smtClean="0">
              <a:latin typeface="+mn-ea"/>
            </a:endParaRPr>
          </a:p>
          <a:p>
            <a:pPr>
              <a:lnSpc>
                <a:spcPct val="150000"/>
              </a:lnSpc>
            </a:pPr>
            <a:r>
              <a:rPr lang="ko-KR" altLang="en-US" dirty="0" smtClean="0">
                <a:latin typeface="+mn-ea"/>
              </a:rPr>
              <a:t>어느 날 돌연</a:t>
            </a:r>
            <a:r>
              <a:rPr lang="en-US" altLang="ko-KR" dirty="0" smtClean="0">
                <a:latin typeface="+mn-ea"/>
              </a:rPr>
              <a:t> </a:t>
            </a:r>
            <a:r>
              <a:rPr lang="ko-KR" altLang="en-US" dirty="0" smtClean="0">
                <a:latin typeface="+mn-ea"/>
              </a:rPr>
              <a:t>마을 주변에 정체불명의 던전이 출현한다</a:t>
            </a:r>
            <a:r>
              <a:rPr lang="en-US" altLang="ko-KR" dirty="0" smtClean="0">
                <a:latin typeface="+mn-ea"/>
              </a:rPr>
              <a:t>.</a:t>
            </a:r>
          </a:p>
          <a:p>
            <a:pPr>
              <a:lnSpc>
                <a:spcPct val="150000"/>
              </a:lnSpc>
            </a:pPr>
            <a:r>
              <a:rPr lang="ko-KR" altLang="en-US" dirty="0" smtClean="0">
                <a:latin typeface="+mn-ea"/>
              </a:rPr>
              <a:t>던전 안에는 수많은 다양한 </a:t>
            </a:r>
            <a:r>
              <a:rPr lang="ko-KR" altLang="en-US" dirty="0" err="1" smtClean="0">
                <a:latin typeface="+mn-ea"/>
              </a:rPr>
              <a:t>몬스터들이</a:t>
            </a:r>
            <a:r>
              <a:rPr lang="ko-KR" altLang="en-US" dirty="0" smtClean="0">
                <a:latin typeface="+mn-ea"/>
              </a:rPr>
              <a:t> 존재했고</a:t>
            </a:r>
            <a:r>
              <a:rPr lang="en-US" altLang="ko-KR" dirty="0" smtClean="0">
                <a:latin typeface="+mn-ea"/>
              </a:rPr>
              <a:t>, </a:t>
            </a:r>
          </a:p>
          <a:p>
            <a:pPr>
              <a:lnSpc>
                <a:spcPct val="150000"/>
              </a:lnSpc>
            </a:pPr>
            <a:r>
              <a:rPr lang="ko-KR" altLang="en-US" dirty="0" smtClean="0">
                <a:latin typeface="+mn-ea"/>
              </a:rPr>
              <a:t>그들은 점차 밖으로 나와 마을 주민들을 위협했다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왕국의 정예 토벌대가 </a:t>
            </a:r>
            <a:r>
              <a:rPr lang="ko-KR" altLang="en-US" dirty="0" err="1" smtClean="0">
                <a:latin typeface="+mn-ea"/>
              </a:rPr>
              <a:t>던전을</a:t>
            </a:r>
            <a:r>
              <a:rPr lang="ko-KR" altLang="en-US" dirty="0" smtClean="0">
                <a:latin typeface="+mn-ea"/>
              </a:rPr>
              <a:t> 공략하려 했지만</a:t>
            </a:r>
            <a:r>
              <a:rPr lang="en-US" altLang="ko-KR" dirty="0" smtClean="0">
                <a:latin typeface="+mn-ea"/>
              </a:rPr>
              <a:t>,</a:t>
            </a:r>
            <a:r>
              <a:rPr lang="ko-KR" altLang="en-US" dirty="0" smtClean="0">
                <a:latin typeface="+mn-ea"/>
              </a:rPr>
              <a:t> </a:t>
            </a:r>
            <a:r>
              <a:rPr lang="ko-KR" altLang="en-US" dirty="0" err="1" smtClean="0">
                <a:latin typeface="+mn-ea"/>
              </a:rPr>
              <a:t>던전의</a:t>
            </a:r>
            <a:r>
              <a:rPr lang="ko-KR" altLang="en-US" dirty="0" smtClean="0">
                <a:latin typeface="+mn-ea"/>
              </a:rPr>
              <a:t> 지배자이자 강력한 마물인 </a:t>
            </a:r>
            <a:r>
              <a:rPr lang="en-US" altLang="ko-KR" dirty="0" smtClean="0">
                <a:latin typeface="+mn-ea"/>
              </a:rPr>
              <a:t>‘</a:t>
            </a:r>
            <a:r>
              <a:rPr lang="ko-KR" altLang="en-US" dirty="0" smtClean="0">
                <a:latin typeface="+mn-ea"/>
              </a:rPr>
              <a:t>마왕</a:t>
            </a:r>
            <a:r>
              <a:rPr lang="en-US" altLang="ko-KR" dirty="0" smtClean="0">
                <a:latin typeface="+mn-ea"/>
              </a:rPr>
              <a:t>’</a:t>
            </a:r>
            <a:r>
              <a:rPr lang="ko-KR" altLang="en-US" dirty="0" smtClean="0">
                <a:latin typeface="+mn-ea"/>
              </a:rPr>
              <a:t>의 힘 앞에 속수무책으로 패배하고 만다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마왕은 </a:t>
            </a:r>
            <a:r>
              <a:rPr lang="ko-KR" altLang="en-US" dirty="0" err="1">
                <a:latin typeface="+mn-ea"/>
              </a:rPr>
              <a:t>던전의</a:t>
            </a:r>
            <a:r>
              <a:rPr lang="ko-KR" altLang="en-US" dirty="0">
                <a:latin typeface="+mn-ea"/>
              </a:rPr>
              <a:t> </a:t>
            </a:r>
            <a:r>
              <a:rPr lang="ko-KR" altLang="en-US" dirty="0" err="1">
                <a:latin typeface="+mn-ea"/>
              </a:rPr>
              <a:t>최심부에는</a:t>
            </a:r>
            <a:r>
              <a:rPr lang="ko-KR" altLang="en-US" dirty="0">
                <a:latin typeface="+mn-ea"/>
              </a:rPr>
              <a:t> 자리잡고 있으며</a:t>
            </a:r>
            <a:r>
              <a:rPr lang="en-US" altLang="ko-KR" dirty="0">
                <a:latin typeface="+mn-ea"/>
              </a:rPr>
              <a:t>, </a:t>
            </a:r>
            <a:r>
              <a:rPr lang="ko-KR" altLang="en-US" dirty="0" err="1">
                <a:latin typeface="+mn-ea"/>
              </a:rPr>
              <a:t>던전</a:t>
            </a:r>
            <a:r>
              <a:rPr lang="ko-KR" altLang="en-US" dirty="0">
                <a:latin typeface="+mn-ea"/>
              </a:rPr>
              <a:t> 안의</a:t>
            </a:r>
            <a:endParaRPr lang="en-US" altLang="ko-KR" dirty="0">
              <a:latin typeface="+mn-ea"/>
            </a:endParaRPr>
          </a:p>
          <a:p>
            <a:pPr>
              <a:lnSpc>
                <a:spcPct val="150000"/>
              </a:lnSpc>
            </a:pPr>
            <a:r>
              <a:rPr lang="ko-KR" altLang="en-US" dirty="0" err="1">
                <a:latin typeface="+mn-ea"/>
              </a:rPr>
              <a:t>몬스터들은</a:t>
            </a:r>
            <a:r>
              <a:rPr lang="ko-KR" altLang="en-US" dirty="0">
                <a:latin typeface="+mn-ea"/>
              </a:rPr>
              <a:t> 마왕의 저주를 받아 사악해진 존재들이었다</a:t>
            </a:r>
            <a:r>
              <a:rPr lang="en-US" altLang="ko-KR" dirty="0" smtClean="0">
                <a:latin typeface="+mn-ea"/>
              </a:rPr>
              <a:t>.</a:t>
            </a:r>
            <a:endParaRPr lang="en-US" altLang="ko-KR" dirty="0">
              <a:latin typeface="+mn-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7</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263143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57802" y="719382"/>
            <a:ext cx="1924394"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세계관</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2" name="TextBox 11"/>
          <p:cNvSpPr txBox="1"/>
          <p:nvPr/>
        </p:nvSpPr>
        <p:spPr>
          <a:xfrm>
            <a:off x="5257803" y="1465968"/>
            <a:ext cx="6250574" cy="4247317"/>
          </a:xfrm>
          <a:prstGeom prst="rect">
            <a:avLst/>
          </a:prstGeom>
          <a:noFill/>
        </p:spPr>
        <p:txBody>
          <a:bodyPr wrap="square" rtlCol="0">
            <a:spAutoFit/>
          </a:bodyPr>
          <a:lstStyle/>
          <a:p>
            <a:pPr>
              <a:lnSpc>
                <a:spcPct val="150000"/>
              </a:lnSpc>
            </a:pPr>
            <a:r>
              <a:rPr lang="en-US" altLang="ko-KR" dirty="0" smtClean="0">
                <a:latin typeface="+mn-ea"/>
              </a:rPr>
              <a:t> </a:t>
            </a:r>
            <a:r>
              <a:rPr lang="ko-KR" altLang="en-US" dirty="0" smtClean="0">
                <a:latin typeface="+mn-ea"/>
              </a:rPr>
              <a:t>이에 왕국은 정화의 능력을 지닌 전설의 용사를 불러 </a:t>
            </a:r>
            <a:r>
              <a:rPr lang="ko-KR" altLang="en-US" dirty="0" err="1" smtClean="0">
                <a:latin typeface="+mn-ea"/>
              </a:rPr>
              <a:t>던전을</a:t>
            </a:r>
            <a:r>
              <a:rPr lang="ko-KR" altLang="en-US" dirty="0" smtClean="0">
                <a:latin typeface="+mn-ea"/>
              </a:rPr>
              <a:t> 탐험하고 위험을 제거하라는 명을 내린다</a:t>
            </a:r>
            <a:r>
              <a:rPr lang="en-US" altLang="ko-KR" dirty="0" smtClean="0">
                <a:latin typeface="+mn-ea"/>
              </a:rPr>
              <a:t>.</a:t>
            </a:r>
          </a:p>
          <a:p>
            <a:pPr>
              <a:lnSpc>
                <a:spcPct val="150000"/>
              </a:lnSpc>
            </a:pPr>
            <a:endParaRPr lang="en-US" altLang="ko-KR" dirty="0">
              <a:latin typeface="+mn-ea"/>
            </a:endParaRPr>
          </a:p>
          <a:p>
            <a:pPr>
              <a:lnSpc>
                <a:spcPct val="150000"/>
              </a:lnSpc>
            </a:pPr>
            <a:r>
              <a:rPr lang="ko-KR" altLang="en-US" dirty="0" smtClean="0">
                <a:latin typeface="+mn-ea"/>
              </a:rPr>
              <a:t> 용사는 재앙의 원흉인 마왕을 처치하기 위해 </a:t>
            </a:r>
            <a:r>
              <a:rPr lang="ko-KR" altLang="en-US" dirty="0" err="1" smtClean="0">
                <a:latin typeface="+mn-ea"/>
              </a:rPr>
              <a:t>던전을</a:t>
            </a:r>
            <a:r>
              <a:rPr lang="ko-KR" altLang="en-US" dirty="0" smtClean="0">
                <a:latin typeface="+mn-ea"/>
              </a:rPr>
              <a:t> 정복해나가며 저주받은 </a:t>
            </a:r>
            <a:r>
              <a:rPr lang="ko-KR" altLang="en-US" dirty="0" err="1" smtClean="0">
                <a:latin typeface="+mn-ea"/>
              </a:rPr>
              <a:t>몬스터들을</a:t>
            </a:r>
            <a:r>
              <a:rPr lang="ko-KR" altLang="en-US" dirty="0" smtClean="0">
                <a:latin typeface="+mn-ea"/>
              </a:rPr>
              <a:t> 정화해나갔고</a:t>
            </a:r>
            <a:r>
              <a:rPr lang="en-US" altLang="ko-KR" dirty="0" smtClean="0">
                <a:latin typeface="+mn-ea"/>
              </a:rPr>
              <a:t>, </a:t>
            </a:r>
            <a:r>
              <a:rPr lang="ko-KR" altLang="en-US" dirty="0" smtClean="0">
                <a:latin typeface="+mn-ea"/>
              </a:rPr>
              <a:t>마왕의 손길에서 벗어난 </a:t>
            </a:r>
            <a:r>
              <a:rPr lang="ko-KR" altLang="en-US" dirty="0" err="1" smtClean="0">
                <a:latin typeface="+mn-ea"/>
              </a:rPr>
              <a:t>몬스터들은</a:t>
            </a:r>
            <a:r>
              <a:rPr lang="ko-KR" altLang="en-US" dirty="0" smtClean="0">
                <a:latin typeface="+mn-ea"/>
              </a:rPr>
              <a:t> 용사를 도와 마왕을 처치하는 데에 앞장선다</a:t>
            </a:r>
            <a:r>
              <a:rPr lang="en-US" altLang="ko-KR" dirty="0" smtClean="0">
                <a:latin typeface="+mn-ea"/>
              </a:rPr>
              <a:t>.</a:t>
            </a:r>
            <a:br>
              <a:rPr lang="en-US" altLang="ko-KR" dirty="0" smtClean="0">
                <a:latin typeface="+mn-ea"/>
              </a:rPr>
            </a:br>
            <a:endParaRPr lang="en-US" altLang="ko-KR" dirty="0" smtClean="0">
              <a:latin typeface="+mn-ea"/>
            </a:endParaRPr>
          </a:p>
          <a:p>
            <a:pPr>
              <a:lnSpc>
                <a:spcPct val="150000"/>
              </a:lnSpc>
            </a:pPr>
            <a:r>
              <a:rPr lang="ko-KR" altLang="en-US" dirty="0" smtClean="0">
                <a:latin typeface="+mn-ea"/>
              </a:rPr>
              <a:t> </a:t>
            </a:r>
            <a:r>
              <a:rPr lang="ko-KR" altLang="en-US" dirty="0" smtClean="0">
                <a:latin typeface="+mn-ea"/>
              </a:rPr>
              <a:t>과연 용사는 무사히 </a:t>
            </a:r>
            <a:r>
              <a:rPr lang="ko-KR" altLang="en-US" dirty="0" smtClean="0">
                <a:latin typeface="+mn-ea"/>
              </a:rPr>
              <a:t>마왕을 무찌르고 </a:t>
            </a:r>
            <a:r>
              <a:rPr lang="ko-KR" altLang="en-US" dirty="0" smtClean="0">
                <a:latin typeface="+mn-ea"/>
              </a:rPr>
              <a:t>마을에 평화를</a:t>
            </a:r>
            <a:endParaRPr lang="en-US" altLang="ko-KR" dirty="0" smtClean="0">
              <a:latin typeface="+mn-ea"/>
            </a:endParaRPr>
          </a:p>
          <a:p>
            <a:pPr>
              <a:lnSpc>
                <a:spcPct val="150000"/>
              </a:lnSpc>
            </a:pPr>
            <a:r>
              <a:rPr lang="ko-KR" altLang="en-US" dirty="0" smtClean="0">
                <a:latin typeface="+mn-ea"/>
              </a:rPr>
              <a:t>가져다 줄 수 있을 것인가</a:t>
            </a:r>
            <a:r>
              <a:rPr lang="en-US" altLang="ko-KR" dirty="0" smtClean="0">
                <a:latin typeface="+mn-ea"/>
              </a:rPr>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8</a:t>
            </a:fld>
            <a:endParaRPr lang="ko-KR" altLang="en-US" sz="1800"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46" y="1931553"/>
            <a:ext cx="4849360" cy="3123306"/>
          </a:xfrm>
          <a:prstGeom prst="rect">
            <a:avLst/>
          </a:prstGeom>
        </p:spPr>
      </p:pic>
      <p:sp>
        <p:nvSpPr>
          <p:cNvPr id="13" name="TextBox 12"/>
          <p:cNvSpPr txBox="1"/>
          <p:nvPr/>
        </p:nvSpPr>
        <p:spPr>
          <a:xfrm>
            <a:off x="1767579" y="5054859"/>
            <a:ext cx="2147716"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1)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던전의 출현</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23773974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로그라이트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9</a:t>
            </a:fld>
            <a:endParaRPr lang="ko-KR" altLang="en-US" sz="1800" dirty="0"/>
          </a:p>
        </p:txBody>
      </p:sp>
      <p:sp>
        <p:nvSpPr>
          <p:cNvPr id="13" name="TextBox 12"/>
          <p:cNvSpPr txBox="1"/>
          <p:nvPr/>
        </p:nvSpPr>
        <p:spPr>
          <a:xfrm>
            <a:off x="5621868" y="1172029"/>
            <a:ext cx="6340148" cy="5078313"/>
          </a:xfrm>
          <a:prstGeom prst="rect">
            <a:avLst/>
          </a:prstGeom>
          <a:noFill/>
        </p:spPr>
        <p:txBody>
          <a:bodyPr wrap="square" rtlCol="0">
            <a:spAutoFit/>
          </a:bodyPr>
          <a:lstStyle/>
          <a:p>
            <a:pPr>
              <a:lnSpc>
                <a:spcPct val="150000"/>
              </a:lnSpc>
            </a:pPr>
            <a:r>
              <a:rPr lang="en-US" altLang="ko-KR" dirty="0"/>
              <a:t>• </a:t>
            </a:r>
            <a:r>
              <a:rPr lang="ko-KR" altLang="en-US" dirty="0" err="1" smtClean="0"/>
              <a:t>로그라이크</a:t>
            </a:r>
            <a:r>
              <a:rPr lang="ko-KR" altLang="en-US" dirty="0" smtClean="0"/>
              <a:t> 게임의 요소를 일부 채용한 </a:t>
            </a:r>
            <a:r>
              <a:rPr lang="en-US" altLang="ko-KR" dirty="0" smtClean="0"/>
              <a:t>‘</a:t>
            </a:r>
            <a:r>
              <a:rPr lang="ko-KR" altLang="en-US" b="1" dirty="0" err="1" smtClean="0"/>
              <a:t>로그라이트</a:t>
            </a:r>
            <a:r>
              <a:rPr lang="en-US" altLang="ko-KR" dirty="0" smtClean="0"/>
              <a:t>’</a:t>
            </a:r>
          </a:p>
          <a:p>
            <a:pPr>
              <a:lnSpc>
                <a:spcPct val="150000"/>
              </a:lnSpc>
            </a:pPr>
            <a:r>
              <a:rPr lang="en-US" altLang="ko-KR" dirty="0"/>
              <a:t> </a:t>
            </a:r>
            <a:r>
              <a:rPr lang="en-US" altLang="ko-KR" dirty="0" smtClean="0"/>
              <a:t> </a:t>
            </a:r>
            <a:r>
              <a:rPr lang="ko-KR" altLang="en-US" dirty="0" smtClean="0"/>
              <a:t>장르를 도입</a:t>
            </a:r>
            <a:r>
              <a:rPr lang="en-US" altLang="ko-KR" dirty="0" smtClean="0"/>
              <a:t>, </a:t>
            </a:r>
            <a:r>
              <a:rPr lang="ko-KR" altLang="en-US" dirty="0" smtClean="0"/>
              <a:t>기존의 장르에 익숙한 유저들의 높은 </a:t>
            </a:r>
            <a:endParaRPr lang="en-US" altLang="ko-KR" dirty="0" smtClean="0"/>
          </a:p>
          <a:p>
            <a:pPr>
              <a:lnSpc>
                <a:spcPct val="150000"/>
              </a:lnSpc>
            </a:pPr>
            <a:r>
              <a:rPr lang="en-US" altLang="ko-KR" dirty="0" smtClean="0"/>
              <a:t>  </a:t>
            </a:r>
            <a:r>
              <a:rPr lang="ko-KR" altLang="en-US" b="1" dirty="0" smtClean="0"/>
              <a:t>접근성과 홍보 효과</a:t>
            </a:r>
            <a:r>
              <a:rPr lang="ko-KR" altLang="en-US" dirty="0" smtClean="0"/>
              <a:t>를 기대할 수 있습니다</a:t>
            </a:r>
            <a:r>
              <a:rPr lang="en-US" altLang="ko-KR" dirty="0" smtClean="0"/>
              <a:t>.</a:t>
            </a:r>
          </a:p>
          <a:p>
            <a:pPr>
              <a:lnSpc>
                <a:spcPct val="150000"/>
              </a:lnSpc>
            </a:pPr>
            <a:endParaRPr lang="en-US" altLang="ko-KR" sz="1200" dirty="0" smtClean="0">
              <a:latin typeface="+mn-ea"/>
            </a:endParaRPr>
          </a:p>
          <a:p>
            <a:pPr>
              <a:lnSpc>
                <a:spcPct val="150000"/>
              </a:lnSpc>
            </a:pPr>
            <a:r>
              <a:rPr lang="en-US" altLang="ko-KR" dirty="0" smtClean="0"/>
              <a:t>• </a:t>
            </a:r>
            <a:r>
              <a:rPr lang="en-US" altLang="ko-KR" b="1" dirty="0" smtClean="0"/>
              <a:t>1</a:t>
            </a:r>
            <a:r>
              <a:rPr lang="ko-KR" altLang="en-US" b="1" dirty="0" smtClean="0"/>
              <a:t>번 뿐인 목숨</a:t>
            </a:r>
            <a:r>
              <a:rPr lang="ko-KR" altLang="en-US" dirty="0" smtClean="0"/>
              <a:t>과</a:t>
            </a:r>
            <a:r>
              <a:rPr lang="en-US" altLang="ko-KR" dirty="0" smtClean="0"/>
              <a:t>,</a:t>
            </a:r>
            <a:r>
              <a:rPr lang="ko-KR" altLang="en-US" dirty="0" smtClean="0"/>
              <a:t> </a:t>
            </a:r>
            <a:r>
              <a:rPr lang="ko-KR" altLang="en-US" b="1" dirty="0" smtClean="0"/>
              <a:t>랜덤</a:t>
            </a:r>
            <a:r>
              <a:rPr lang="ko-KR" altLang="en-US" dirty="0" smtClean="0"/>
              <a:t>으로 배치되는 던전의 구조를 </a:t>
            </a:r>
            <a:endParaRPr lang="en-US" altLang="ko-KR" dirty="0" smtClean="0"/>
          </a:p>
          <a:p>
            <a:pPr>
              <a:lnSpc>
                <a:spcPct val="150000"/>
              </a:lnSpc>
            </a:pPr>
            <a:r>
              <a:rPr lang="en-US" altLang="ko-KR" dirty="0"/>
              <a:t> </a:t>
            </a:r>
            <a:r>
              <a:rPr lang="en-US" altLang="ko-KR" dirty="0" smtClean="0"/>
              <a:t> </a:t>
            </a:r>
            <a:r>
              <a:rPr lang="ko-KR" altLang="en-US" dirty="0" smtClean="0"/>
              <a:t>통해 게임의 긴장감과 </a:t>
            </a:r>
            <a:r>
              <a:rPr lang="ko-KR" altLang="en-US" dirty="0" err="1" smtClean="0"/>
              <a:t>몰입감을</a:t>
            </a:r>
            <a:r>
              <a:rPr lang="ko-KR" altLang="en-US" dirty="0" smtClean="0"/>
              <a:t> 높이고</a:t>
            </a:r>
            <a:r>
              <a:rPr lang="en-US" altLang="ko-KR" dirty="0" smtClean="0"/>
              <a:t>, </a:t>
            </a:r>
            <a:r>
              <a:rPr lang="ko-KR" altLang="en-US" dirty="0" smtClean="0"/>
              <a:t>플레이의 </a:t>
            </a:r>
            <a:endParaRPr lang="en-US" altLang="ko-KR" dirty="0" smtClean="0"/>
          </a:p>
          <a:p>
            <a:pPr>
              <a:lnSpc>
                <a:spcPct val="150000"/>
              </a:lnSpc>
            </a:pPr>
            <a:r>
              <a:rPr lang="en-US" altLang="ko-KR" dirty="0"/>
              <a:t> </a:t>
            </a:r>
            <a:r>
              <a:rPr lang="en-US" altLang="ko-KR" dirty="0" smtClean="0"/>
              <a:t> </a:t>
            </a:r>
            <a:r>
              <a:rPr lang="ko-KR" altLang="en-US" dirty="0" smtClean="0"/>
              <a:t>신선함과 도전 정신을 고취시킬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임의 저장과 불러오기가 불가능하며</a:t>
            </a:r>
            <a:r>
              <a:rPr lang="en-US" altLang="ko-KR" dirty="0" smtClean="0"/>
              <a:t>, </a:t>
            </a:r>
            <a:r>
              <a:rPr lang="ko-KR" altLang="en-US" dirty="0" smtClean="0"/>
              <a:t>캐릭터 사망 시</a:t>
            </a:r>
            <a:endParaRPr lang="en-US" altLang="ko-KR" dirty="0" smtClean="0"/>
          </a:p>
          <a:p>
            <a:pPr>
              <a:lnSpc>
                <a:spcPct val="150000"/>
              </a:lnSpc>
            </a:pPr>
            <a:r>
              <a:rPr lang="en-US" altLang="ko-KR" dirty="0"/>
              <a:t> </a:t>
            </a:r>
            <a:r>
              <a:rPr lang="ko-KR" altLang="en-US" dirty="0" smtClean="0"/>
              <a:t> 레벨</a:t>
            </a:r>
            <a:r>
              <a:rPr lang="en-US" altLang="ko-KR" dirty="0" smtClean="0"/>
              <a:t>, </a:t>
            </a:r>
            <a:r>
              <a:rPr lang="ko-KR" altLang="en-US" dirty="0" smtClean="0"/>
              <a:t>아이템 등의 데이터를 잃고 </a:t>
            </a:r>
            <a:r>
              <a:rPr lang="ko-KR" altLang="en-US" b="1" dirty="0" smtClean="0"/>
              <a:t>게임이 </a:t>
            </a:r>
            <a:r>
              <a:rPr lang="ko-KR" altLang="en-US" b="1" dirty="0" err="1" smtClean="0"/>
              <a:t>리셋</a:t>
            </a:r>
            <a:r>
              <a:rPr lang="ko-KR" altLang="en-US" dirty="0" err="1" smtClean="0"/>
              <a:t>됩니다</a:t>
            </a:r>
            <a:r>
              <a:rPr lang="en-US" altLang="ko-KR" dirty="0" smtClean="0"/>
              <a:t>.</a:t>
            </a:r>
          </a:p>
          <a:p>
            <a:pPr>
              <a:lnSpc>
                <a:spcPct val="150000"/>
              </a:lnSpc>
            </a:pPr>
            <a:endParaRPr lang="en-US" altLang="ko-KR" sz="1200" dirty="0"/>
          </a:p>
          <a:p>
            <a:pPr>
              <a:lnSpc>
                <a:spcPct val="150000"/>
              </a:lnSpc>
            </a:pPr>
            <a:r>
              <a:rPr lang="en-US" altLang="ko-KR" dirty="0" smtClean="0"/>
              <a:t>• </a:t>
            </a:r>
            <a:r>
              <a:rPr lang="ko-KR" altLang="en-US" dirty="0" smtClean="0"/>
              <a:t>접근성과 성취감을 높이고 </a:t>
            </a:r>
            <a:r>
              <a:rPr lang="ko-KR" altLang="en-US" dirty="0" err="1" smtClean="0"/>
              <a:t>다회차</a:t>
            </a:r>
            <a:r>
              <a:rPr lang="ko-KR" altLang="en-US" dirty="0" smtClean="0"/>
              <a:t> 플레이어의 형평성을</a:t>
            </a:r>
            <a:endParaRPr lang="en-US" altLang="ko-KR" dirty="0" smtClean="0"/>
          </a:p>
          <a:p>
            <a:pPr>
              <a:lnSpc>
                <a:spcPct val="150000"/>
              </a:lnSpc>
            </a:pPr>
            <a:r>
              <a:rPr lang="en-US" altLang="ko-KR" dirty="0"/>
              <a:t> </a:t>
            </a:r>
            <a:r>
              <a:rPr lang="ko-KR" altLang="en-US" dirty="0" smtClean="0"/>
              <a:t> 위해</a:t>
            </a:r>
            <a:r>
              <a:rPr lang="en-US" altLang="ko-KR" dirty="0" smtClean="0"/>
              <a:t>, </a:t>
            </a:r>
            <a:r>
              <a:rPr lang="ko-KR" altLang="en-US" dirty="0" smtClean="0"/>
              <a:t>사망해도 </a:t>
            </a:r>
            <a:r>
              <a:rPr lang="ko-KR" altLang="en-US" b="1" dirty="0" smtClean="0"/>
              <a:t>잃지 않는 데이터가</a:t>
            </a:r>
            <a:r>
              <a:rPr lang="en-US" altLang="ko-KR" b="1" dirty="0" smtClean="0"/>
              <a:t> </a:t>
            </a:r>
            <a:r>
              <a:rPr lang="ko-KR" altLang="en-US" dirty="0" smtClean="0"/>
              <a:t>존재합니다</a:t>
            </a:r>
            <a:r>
              <a:rPr lang="en-US" altLang="ko-KR" dirty="0" smtClean="0"/>
              <a:t>.</a:t>
            </a:r>
            <a:endParaRPr lang="en-US" altLang="ko-KR" dirty="0"/>
          </a:p>
        </p:txBody>
      </p:sp>
      <p:pic>
        <p:nvPicPr>
          <p:cNvPr id="9" name="그림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1515" y="1087359"/>
            <a:ext cx="4014931" cy="2113595"/>
          </a:xfrm>
          <a:prstGeom prst="rect">
            <a:avLst/>
          </a:prstGeom>
        </p:spPr>
      </p:pic>
      <p:sp>
        <p:nvSpPr>
          <p:cNvPr id="12" name="TextBox 11"/>
          <p:cNvSpPr txBox="1"/>
          <p:nvPr/>
        </p:nvSpPr>
        <p:spPr>
          <a:xfrm>
            <a:off x="1430007" y="3196379"/>
            <a:ext cx="2497044"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2 )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다키스트</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던전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4" name="그림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515" y="3921984"/>
            <a:ext cx="4203018" cy="1953932"/>
          </a:xfrm>
          <a:prstGeom prst="rect">
            <a:avLst/>
          </a:prstGeom>
        </p:spPr>
      </p:pic>
      <p:sp>
        <p:nvSpPr>
          <p:cNvPr id="15" name="TextBox 14"/>
          <p:cNvSpPr txBox="1"/>
          <p:nvPr/>
        </p:nvSpPr>
        <p:spPr>
          <a:xfrm>
            <a:off x="1473823" y="5875916"/>
            <a:ext cx="2409412" cy="584775"/>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3 )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로그라이트</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게임</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아이작의</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번제</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0068762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5962650" cy="584775"/>
          </a:xfrm>
          <a:prstGeom prst="rect">
            <a:avLst/>
          </a:prstGeom>
          <a:noFill/>
        </p:spPr>
        <p:txBody>
          <a:bodyPr wrap="square" rtlCol="0">
            <a:spAutoFit/>
          </a:bodyPr>
          <a:lstStyle/>
          <a:p>
            <a:pPr algn="ctr"/>
            <a:r>
              <a:rPr lang="en-US" altLang="ko-KR" sz="3200" b="1" spc="-30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개성 있는 캐릭터와 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10</a:t>
            </a:fld>
            <a:endParaRPr lang="ko-KR" altLang="en-US" sz="1800" dirty="0"/>
          </a:p>
        </p:txBody>
      </p:sp>
      <p:sp>
        <p:nvSpPr>
          <p:cNvPr id="13" name="TextBox 12"/>
          <p:cNvSpPr txBox="1"/>
          <p:nvPr/>
        </p:nvSpPr>
        <p:spPr>
          <a:xfrm>
            <a:off x="5276851" y="1099309"/>
            <a:ext cx="6467474" cy="5493812"/>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플레이어는 용사가 되어 던전을 탐험하게 됩니다</a:t>
            </a:r>
            <a:r>
              <a:rPr lang="en-US" altLang="ko-KR" dirty="0" smtClean="0">
                <a:latin typeface="+mn-ea"/>
              </a:rPr>
              <a:t>. </a:t>
            </a:r>
            <a:r>
              <a:rPr lang="ko-KR" altLang="en-US" dirty="0" smtClean="0">
                <a:latin typeface="+mn-ea"/>
              </a:rPr>
              <a:t>용사들은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각기 </a:t>
            </a:r>
            <a:r>
              <a:rPr lang="ko-KR" altLang="en-US" b="1" dirty="0" smtClean="0">
                <a:latin typeface="+mn-ea"/>
              </a:rPr>
              <a:t>다른 컨셉과 능력</a:t>
            </a:r>
            <a:r>
              <a:rPr lang="ko-KR" altLang="en-US" dirty="0" smtClean="0">
                <a:latin typeface="+mn-ea"/>
              </a:rPr>
              <a:t>을 보유하고 있으며</a:t>
            </a:r>
            <a:r>
              <a:rPr lang="en-US" altLang="ko-KR" dirty="0" smtClean="0">
                <a:latin typeface="+mn-ea"/>
              </a:rPr>
              <a:t>, </a:t>
            </a:r>
            <a:r>
              <a:rPr lang="ko-KR" altLang="en-US" dirty="0" err="1" smtClean="0">
                <a:latin typeface="+mn-ea"/>
              </a:rPr>
              <a:t>던전을</a:t>
            </a:r>
            <a:r>
              <a:rPr lang="ko-KR" altLang="en-US" dirty="0" smtClean="0">
                <a:latin typeface="+mn-ea"/>
              </a:rPr>
              <a:t> </a:t>
            </a:r>
            <a:r>
              <a:rPr lang="ko-KR" altLang="en-US" dirty="0" smtClean="0">
                <a:latin typeface="+mn-ea"/>
              </a:rPr>
              <a:t>탐험하며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아군</a:t>
            </a:r>
            <a:r>
              <a:rPr lang="ko-KR" altLang="en-US" dirty="0" smtClean="0">
                <a:latin typeface="+mn-ea"/>
              </a:rPr>
              <a:t> </a:t>
            </a:r>
            <a:r>
              <a:rPr lang="ko-KR" altLang="en-US" dirty="0" err="1" smtClean="0">
                <a:latin typeface="+mn-ea"/>
              </a:rPr>
              <a:t>몬스터들과</a:t>
            </a:r>
            <a:r>
              <a:rPr lang="ko-KR" altLang="en-US" dirty="0" smtClean="0">
                <a:latin typeface="+mn-ea"/>
              </a:rPr>
              <a:t> 함께 더욱 </a:t>
            </a:r>
            <a:r>
              <a:rPr lang="ko-KR" altLang="en-US" dirty="0" smtClean="0">
                <a:latin typeface="+mn-ea"/>
              </a:rPr>
              <a:t>깊은</a:t>
            </a:r>
            <a:r>
              <a:rPr lang="en-US" altLang="ko-KR" dirty="0" smtClean="0">
                <a:latin typeface="+mn-ea"/>
              </a:rPr>
              <a:t> </a:t>
            </a:r>
            <a:r>
              <a:rPr lang="ko-KR" altLang="en-US" dirty="0" smtClean="0">
                <a:latin typeface="+mn-ea"/>
              </a:rPr>
              <a:t>곳을 향해 나아갑니다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캐릭터와 </a:t>
            </a:r>
            <a:r>
              <a:rPr lang="ko-KR" altLang="en-US" dirty="0" err="1" smtClean="0"/>
              <a:t>몬스터</a:t>
            </a:r>
            <a:r>
              <a:rPr lang="ko-KR" altLang="en-US" dirty="0" smtClean="0"/>
              <a:t> </a:t>
            </a:r>
            <a:r>
              <a:rPr lang="ko-KR" altLang="en-US" dirty="0" smtClean="0">
                <a:latin typeface="+mn-ea"/>
              </a:rPr>
              <a:t>각각의 </a:t>
            </a:r>
            <a:r>
              <a:rPr lang="ko-KR" altLang="en-US" dirty="0" smtClean="0">
                <a:latin typeface="+mn-ea"/>
              </a:rPr>
              <a:t>독특하고 고유한 능력과 </a:t>
            </a:r>
            <a:r>
              <a:rPr lang="ko-KR" altLang="en-US" dirty="0" smtClean="0">
                <a:latin typeface="+mn-ea"/>
              </a:rPr>
              <a:t>기술로</a:t>
            </a:r>
            <a:r>
              <a:rPr lang="en-US" altLang="ko-KR" dirty="0" smtClean="0">
                <a:latin typeface="+mn-ea"/>
              </a:rPr>
              <a:t>,</a:t>
            </a:r>
            <a:r>
              <a:rPr lang="ko-KR" altLang="en-US" dirty="0" smtClean="0">
                <a:latin typeface="+mn-ea"/>
              </a:rPr>
              <a:t> </a:t>
            </a:r>
            <a:endParaRPr lang="en-US" altLang="ko-KR" dirty="0" smtClean="0">
              <a:latin typeface="+mn-ea"/>
            </a:endParaRPr>
          </a:p>
          <a:p>
            <a:pPr>
              <a:lnSpc>
                <a:spcPct val="150000"/>
              </a:lnSpc>
            </a:pPr>
            <a:r>
              <a:rPr lang="en-US" altLang="ko-KR" dirty="0" smtClean="0">
                <a:latin typeface="+mn-ea"/>
              </a:rPr>
              <a:t>  </a:t>
            </a:r>
            <a:r>
              <a:rPr lang="ko-KR" altLang="en-US" dirty="0" smtClean="0">
                <a:latin typeface="+mn-ea"/>
              </a:rPr>
              <a:t>색다르고 </a:t>
            </a:r>
            <a:r>
              <a:rPr lang="ko-KR" altLang="en-US" dirty="0">
                <a:latin typeface="+mn-ea"/>
              </a:rPr>
              <a:t>강력한 </a:t>
            </a:r>
            <a:r>
              <a:rPr lang="ko-KR" altLang="en-US" b="1" dirty="0" smtClean="0">
                <a:latin typeface="+mn-ea"/>
              </a:rPr>
              <a:t>조합을 연구</a:t>
            </a:r>
            <a:r>
              <a:rPr lang="ko-KR" altLang="en-US" dirty="0" smtClean="0">
                <a:latin typeface="+mn-ea"/>
              </a:rPr>
              <a:t>하여</a:t>
            </a:r>
            <a:r>
              <a:rPr lang="en-US" altLang="ko-KR" dirty="0" smtClean="0">
                <a:latin typeface="+mn-ea"/>
              </a:rPr>
              <a:t> </a:t>
            </a:r>
            <a:r>
              <a:rPr lang="ko-KR" altLang="en-US" b="1" dirty="0">
                <a:latin typeface="+mn-ea"/>
              </a:rPr>
              <a:t>다채로운 </a:t>
            </a:r>
            <a:r>
              <a:rPr lang="ko-KR" altLang="en-US" b="1" dirty="0" smtClean="0">
                <a:latin typeface="+mn-ea"/>
              </a:rPr>
              <a:t>전략</a:t>
            </a:r>
            <a:r>
              <a:rPr lang="ko-KR" altLang="en-US" dirty="0" smtClean="0">
                <a:latin typeface="+mn-ea"/>
              </a:rPr>
              <a:t>을 펼칠 </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수 </a:t>
            </a:r>
            <a:r>
              <a:rPr lang="ko-KR" altLang="en-US" dirty="0" smtClean="0">
                <a:latin typeface="+mn-ea"/>
              </a:rPr>
              <a:t>있습니다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err="1" smtClean="0"/>
              <a:t>던전을</a:t>
            </a:r>
            <a:r>
              <a:rPr lang="ko-KR" altLang="en-US" dirty="0" smtClean="0"/>
              <a:t> 탐험하며 획득할 수 있는 </a:t>
            </a:r>
            <a:r>
              <a:rPr lang="ko-KR" altLang="en-US" b="1" dirty="0" err="1" smtClean="0"/>
              <a:t>아티팩트</a:t>
            </a:r>
            <a:r>
              <a:rPr lang="ko-KR" altLang="en-US" dirty="0" err="1" smtClean="0"/>
              <a:t>를</a:t>
            </a:r>
            <a:r>
              <a:rPr lang="ko-KR" altLang="en-US" dirty="0" smtClean="0"/>
              <a:t> 통해 캐릭터와 </a:t>
            </a:r>
            <a:endParaRPr lang="en-US" altLang="ko-KR" dirty="0" smtClean="0"/>
          </a:p>
          <a:p>
            <a:pPr>
              <a:lnSpc>
                <a:spcPct val="150000"/>
              </a:lnSpc>
            </a:pPr>
            <a:r>
              <a:rPr lang="en-US" altLang="ko-KR" dirty="0"/>
              <a:t> </a:t>
            </a:r>
            <a:r>
              <a:rPr lang="en-US" altLang="ko-KR" dirty="0" smtClean="0"/>
              <a:t> </a:t>
            </a:r>
            <a:r>
              <a:rPr lang="ko-KR" altLang="en-US" dirty="0" err="1" smtClean="0"/>
              <a:t>몬스터를</a:t>
            </a:r>
            <a:r>
              <a:rPr lang="ko-KR" altLang="en-US" dirty="0" smtClean="0"/>
              <a:t> 더욱 강화할 수 있습니다</a:t>
            </a:r>
            <a:r>
              <a:rPr lang="en-US" altLang="ko-KR" dirty="0" smtClean="0"/>
              <a:t>.</a:t>
            </a:r>
          </a:p>
          <a:p>
            <a:pPr>
              <a:lnSpc>
                <a:spcPct val="150000"/>
              </a:lnSpc>
            </a:pPr>
            <a:endParaRPr lang="en-US" altLang="ko-KR" sz="1200" dirty="0">
              <a:latin typeface="+mn-ea"/>
            </a:endParaRPr>
          </a:p>
          <a:p>
            <a:pPr>
              <a:lnSpc>
                <a:spcPct val="150000"/>
              </a:lnSpc>
            </a:pPr>
            <a:r>
              <a:rPr lang="en-US" altLang="ko-KR" dirty="0" smtClean="0"/>
              <a:t>• </a:t>
            </a:r>
            <a:r>
              <a:rPr lang="ko-KR" altLang="en-US" dirty="0" smtClean="0"/>
              <a:t>이런 점을 </a:t>
            </a:r>
            <a:r>
              <a:rPr lang="ko-KR" altLang="en-US" dirty="0" smtClean="0"/>
              <a:t>통해 개인의 성향에 맞는 </a:t>
            </a:r>
            <a:r>
              <a:rPr lang="ko-KR" altLang="en-US" b="1" dirty="0" smtClean="0"/>
              <a:t>각양각색의 플레이</a:t>
            </a:r>
            <a:r>
              <a:rPr lang="ko-KR" altLang="en-US" dirty="0" smtClean="0"/>
              <a:t>를 </a:t>
            </a:r>
            <a:endParaRPr lang="en-US" altLang="ko-KR" dirty="0" smtClean="0"/>
          </a:p>
          <a:p>
            <a:pPr>
              <a:lnSpc>
                <a:spcPct val="150000"/>
              </a:lnSpc>
            </a:pPr>
            <a:r>
              <a:rPr lang="en-US" altLang="ko-KR" dirty="0"/>
              <a:t> </a:t>
            </a:r>
            <a:r>
              <a:rPr lang="en-US" altLang="ko-KR" dirty="0" smtClean="0"/>
              <a:t> </a:t>
            </a:r>
            <a:r>
              <a:rPr lang="ko-KR" altLang="en-US" dirty="0" smtClean="0"/>
              <a:t>제공하고</a:t>
            </a:r>
            <a:r>
              <a:rPr lang="en-US" altLang="ko-KR" dirty="0" smtClean="0"/>
              <a:t>, </a:t>
            </a:r>
            <a:r>
              <a:rPr lang="ko-KR" altLang="en-US" dirty="0" smtClean="0"/>
              <a:t>지속적인 </a:t>
            </a:r>
            <a:r>
              <a:rPr lang="ko-KR" altLang="en-US" dirty="0" err="1" smtClean="0"/>
              <a:t>컨텐츠을</a:t>
            </a:r>
            <a:r>
              <a:rPr lang="ko-KR" altLang="en-US" dirty="0" smtClean="0"/>
              <a:t> 확보하면서 유저로 하여금</a:t>
            </a:r>
            <a:endParaRPr lang="en-US" altLang="ko-KR" dirty="0" smtClean="0"/>
          </a:p>
          <a:p>
            <a:pPr>
              <a:lnSpc>
                <a:spcPct val="150000"/>
              </a:lnSpc>
            </a:pPr>
            <a:r>
              <a:rPr lang="en-US" altLang="ko-KR" dirty="0"/>
              <a:t> </a:t>
            </a:r>
            <a:r>
              <a:rPr lang="ko-KR" altLang="en-US" dirty="0" smtClean="0"/>
              <a:t> 게임에 더욱</a:t>
            </a:r>
            <a:r>
              <a:rPr lang="en-US" altLang="ko-KR" dirty="0" smtClean="0"/>
              <a:t> </a:t>
            </a:r>
            <a:r>
              <a:rPr lang="ko-KR" altLang="en-US" dirty="0" smtClean="0"/>
              <a:t>몰입할 수 있도록 유도합니다</a:t>
            </a:r>
            <a:r>
              <a:rPr lang="en-US" altLang="ko-KR" dirty="0" smtClean="0"/>
              <a:t>.</a:t>
            </a:r>
            <a:endParaRPr lang="en-US" altLang="ko-KR" dirty="0" smtClean="0">
              <a:latin typeface="+mn-ea"/>
            </a:endParaRPr>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515" y="1274142"/>
            <a:ext cx="4014931" cy="2160507"/>
          </a:xfrm>
          <a:prstGeom prst="rect">
            <a:avLst/>
          </a:prstGeom>
        </p:spPr>
      </p:pic>
      <p:sp>
        <p:nvSpPr>
          <p:cNvPr id="9" name="TextBox 8"/>
          <p:cNvSpPr txBox="1"/>
          <p:nvPr/>
        </p:nvSpPr>
        <p:spPr>
          <a:xfrm>
            <a:off x="1401192" y="343465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4</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5292" y="3864818"/>
            <a:ext cx="3840901" cy="2160507"/>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5 )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4353368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몬스터의</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정화</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11</a:t>
            </a:fld>
            <a:endParaRPr lang="ko-KR" altLang="en-US" sz="1800" dirty="0"/>
          </a:p>
        </p:txBody>
      </p:sp>
      <p:sp>
        <p:nvSpPr>
          <p:cNvPr id="13" name="TextBox 12"/>
          <p:cNvSpPr txBox="1"/>
          <p:nvPr/>
        </p:nvSpPr>
        <p:spPr>
          <a:xfrm>
            <a:off x="5280346" y="1347170"/>
            <a:ext cx="6789733" cy="5216813"/>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용사가 </a:t>
            </a:r>
            <a:r>
              <a:rPr lang="ko-KR" altLang="en-US" dirty="0" err="1" smtClean="0">
                <a:latin typeface="+mn-ea"/>
              </a:rPr>
              <a:t>던전을</a:t>
            </a:r>
            <a:r>
              <a:rPr lang="ko-KR" altLang="en-US" dirty="0" smtClean="0">
                <a:latin typeface="+mn-ea"/>
              </a:rPr>
              <a:t> 탐험하고 </a:t>
            </a:r>
            <a:r>
              <a:rPr lang="ko-KR" altLang="en-US" dirty="0" err="1" smtClean="0">
                <a:latin typeface="+mn-ea"/>
              </a:rPr>
              <a:t>몬스터를</a:t>
            </a:r>
            <a:r>
              <a:rPr lang="ko-KR" altLang="en-US" dirty="0" smtClean="0">
                <a:latin typeface="+mn-ea"/>
              </a:rPr>
              <a:t> </a:t>
            </a:r>
            <a:r>
              <a:rPr lang="ko-KR" altLang="en-US" dirty="0" smtClean="0">
                <a:latin typeface="+mn-ea"/>
              </a:rPr>
              <a:t>쓰러트린 후</a:t>
            </a:r>
            <a:r>
              <a:rPr lang="en-US" altLang="ko-KR" dirty="0" smtClean="0">
                <a:latin typeface="+mn-ea"/>
              </a:rPr>
              <a:t>, </a:t>
            </a:r>
            <a:r>
              <a:rPr lang="ko-KR" altLang="en-US" b="1" dirty="0" smtClean="0">
                <a:latin typeface="+mn-ea"/>
              </a:rPr>
              <a:t>정화</a:t>
            </a:r>
            <a:r>
              <a:rPr lang="ko-KR" altLang="en-US" dirty="0" smtClean="0">
                <a:latin typeface="+mn-ea"/>
              </a:rPr>
              <a:t>를 통해</a:t>
            </a:r>
            <a:endParaRPr lang="en-US" altLang="ko-KR" dirty="0" smtClean="0">
              <a:latin typeface="+mn-ea"/>
            </a:endParaRPr>
          </a:p>
          <a:p>
            <a:pPr>
              <a:lnSpc>
                <a:spcPct val="150000"/>
              </a:lnSpc>
            </a:pPr>
            <a:r>
              <a:rPr lang="en-US" altLang="ko-KR" dirty="0">
                <a:latin typeface="+mn-ea"/>
              </a:rPr>
              <a:t> </a:t>
            </a:r>
            <a:r>
              <a:rPr lang="en-US" altLang="ko-KR" dirty="0" smtClean="0">
                <a:latin typeface="+mn-ea"/>
              </a:rPr>
              <a:t> </a:t>
            </a:r>
            <a:r>
              <a:rPr lang="ko-KR" altLang="en-US" dirty="0" smtClean="0">
                <a:latin typeface="+mn-ea"/>
              </a:rPr>
              <a:t>해당 </a:t>
            </a:r>
            <a:r>
              <a:rPr lang="ko-KR" altLang="en-US" dirty="0" err="1" smtClean="0">
                <a:latin typeface="+mn-ea"/>
              </a:rPr>
              <a:t>몬스터의</a:t>
            </a:r>
            <a:r>
              <a:rPr lang="ko-KR" altLang="en-US" dirty="0" smtClean="0">
                <a:latin typeface="+mn-ea"/>
              </a:rPr>
              <a:t> 저주를 해제하고 </a:t>
            </a:r>
            <a:r>
              <a:rPr lang="ko-KR" altLang="en-US" b="1" dirty="0" smtClean="0">
                <a:latin typeface="+mn-ea"/>
              </a:rPr>
              <a:t>자신의 </a:t>
            </a:r>
            <a:r>
              <a:rPr lang="ko-KR" altLang="en-US" b="1" dirty="0" smtClean="0">
                <a:latin typeface="+mn-ea"/>
              </a:rPr>
              <a:t>편</a:t>
            </a:r>
            <a:r>
              <a:rPr lang="ko-KR" altLang="en-US" dirty="0" smtClean="0">
                <a:latin typeface="+mn-ea"/>
              </a:rPr>
              <a:t>으로 만들 </a:t>
            </a:r>
            <a:r>
              <a:rPr lang="ko-KR" altLang="en-US" dirty="0" smtClean="0">
                <a:latin typeface="+mn-ea"/>
              </a:rPr>
              <a:t>수 </a:t>
            </a:r>
            <a:r>
              <a:rPr lang="ko-KR" altLang="en-US" dirty="0" err="1" smtClean="0">
                <a:latin typeface="+mn-ea"/>
              </a:rPr>
              <a:t>있습</a:t>
            </a:r>
            <a:endParaRPr lang="en-US" altLang="ko-KR" dirty="0" smtClean="0">
              <a:latin typeface="+mn-ea"/>
            </a:endParaRPr>
          </a:p>
          <a:p>
            <a:pPr>
              <a:lnSpc>
                <a:spcPct val="150000"/>
              </a:lnSpc>
            </a:pPr>
            <a:r>
              <a:rPr lang="en-US" altLang="ko-KR" dirty="0" smtClean="0">
                <a:latin typeface="+mn-ea"/>
              </a:rPr>
              <a:t>  </a:t>
            </a:r>
            <a:r>
              <a:rPr lang="ko-KR" altLang="en-US" dirty="0" err="1" smtClean="0">
                <a:latin typeface="+mn-ea"/>
              </a:rPr>
              <a:t>니다</a:t>
            </a:r>
            <a:r>
              <a:rPr lang="en-US" altLang="ko-KR" dirty="0" smtClean="0">
                <a:latin typeface="+mn-ea"/>
              </a:rPr>
              <a:t>. </a:t>
            </a:r>
            <a:r>
              <a:rPr lang="ko-KR" altLang="en-US" dirty="0"/>
              <a:t>정화한 </a:t>
            </a:r>
            <a:r>
              <a:rPr lang="ko-KR" altLang="en-US" dirty="0" err="1"/>
              <a:t>몬스터는</a:t>
            </a:r>
            <a:r>
              <a:rPr lang="ko-KR" altLang="en-US" dirty="0"/>
              <a:t> 플레이어의 편에 서서 함께 전투를 </a:t>
            </a:r>
            <a:endParaRPr lang="en-US" altLang="ko-KR" dirty="0" smtClean="0"/>
          </a:p>
          <a:p>
            <a:pPr>
              <a:lnSpc>
                <a:spcPct val="150000"/>
              </a:lnSpc>
            </a:pPr>
            <a:r>
              <a:rPr lang="en-US" altLang="ko-KR" dirty="0"/>
              <a:t> </a:t>
            </a:r>
            <a:r>
              <a:rPr lang="en-US" altLang="ko-KR" dirty="0" smtClean="0"/>
              <a:t> </a:t>
            </a:r>
            <a:r>
              <a:rPr lang="ko-KR" altLang="en-US" dirty="0" smtClean="0"/>
              <a:t>치를 것</a:t>
            </a:r>
            <a:r>
              <a:rPr lang="en-US" altLang="ko-KR" dirty="0" smtClean="0"/>
              <a:t> </a:t>
            </a:r>
            <a:r>
              <a:rPr lang="ko-KR" altLang="en-US" dirty="0"/>
              <a:t>입니다</a:t>
            </a:r>
            <a:r>
              <a:rPr lang="en-US" altLang="ko-KR" dirty="0"/>
              <a:t>. </a:t>
            </a:r>
            <a:endParaRPr lang="en-US" altLang="ko-KR" dirty="0" smtClean="0">
              <a:latin typeface="+mn-ea"/>
            </a:endParaRPr>
          </a:p>
          <a:p>
            <a:pPr>
              <a:lnSpc>
                <a:spcPct val="150000"/>
              </a:lnSpc>
            </a:pPr>
            <a:endParaRPr lang="en-US" altLang="ko-KR" sz="1200" dirty="0">
              <a:latin typeface="+mn-ea"/>
            </a:endParaRPr>
          </a:p>
          <a:p>
            <a:pPr>
              <a:lnSpc>
                <a:spcPct val="150000"/>
              </a:lnSpc>
            </a:pPr>
            <a:r>
              <a:rPr lang="en-US" altLang="ko-KR" dirty="0" smtClean="0"/>
              <a:t>• </a:t>
            </a:r>
            <a:r>
              <a:rPr lang="ko-KR" altLang="en-US" dirty="0" err="1" smtClean="0"/>
              <a:t>몬스터에</a:t>
            </a:r>
            <a:r>
              <a:rPr lang="ko-KR" altLang="en-US" dirty="0" smtClean="0"/>
              <a:t> </a:t>
            </a:r>
            <a:r>
              <a:rPr lang="ko-KR" altLang="en-US" dirty="0" smtClean="0"/>
              <a:t>따라 </a:t>
            </a:r>
            <a:r>
              <a:rPr lang="ko-KR" altLang="en-US" dirty="0" smtClean="0"/>
              <a:t>정화 </a:t>
            </a:r>
            <a:r>
              <a:rPr lang="ko-KR" altLang="en-US" dirty="0" smtClean="0"/>
              <a:t>방법과 </a:t>
            </a:r>
            <a:r>
              <a:rPr lang="ko-KR" altLang="en-US" dirty="0" smtClean="0"/>
              <a:t>조</a:t>
            </a:r>
            <a:r>
              <a:rPr lang="ko-KR" altLang="en-US" dirty="0"/>
              <a:t>건</a:t>
            </a:r>
            <a:r>
              <a:rPr lang="ko-KR" altLang="en-US" dirty="0" smtClean="0"/>
              <a:t>이 상이하기 때문에</a:t>
            </a:r>
            <a:r>
              <a:rPr lang="en-US" altLang="ko-KR" dirty="0" smtClean="0"/>
              <a:t>, </a:t>
            </a:r>
            <a:r>
              <a:rPr lang="ko-KR" altLang="en-US" dirty="0" smtClean="0"/>
              <a:t>원하는 </a:t>
            </a:r>
            <a:endParaRPr lang="en-US" altLang="ko-KR" dirty="0" smtClean="0"/>
          </a:p>
          <a:p>
            <a:pPr>
              <a:lnSpc>
                <a:spcPct val="150000"/>
              </a:lnSpc>
            </a:pPr>
            <a:r>
              <a:rPr lang="en-US" altLang="ko-KR" dirty="0"/>
              <a:t> </a:t>
            </a:r>
            <a:r>
              <a:rPr lang="en-US" altLang="ko-KR" dirty="0" smtClean="0"/>
              <a:t> </a:t>
            </a:r>
            <a:r>
              <a:rPr lang="ko-KR" altLang="en-US" dirty="0" smtClean="0"/>
              <a:t>몬스터를 얻기</a:t>
            </a:r>
            <a:r>
              <a:rPr lang="en-US" altLang="ko-KR" dirty="0" smtClean="0"/>
              <a:t> </a:t>
            </a:r>
            <a:r>
              <a:rPr lang="ko-KR" altLang="en-US" dirty="0" smtClean="0"/>
              <a:t>위해선 </a:t>
            </a:r>
            <a:r>
              <a:rPr lang="ko-KR" altLang="en-US" dirty="0" smtClean="0"/>
              <a:t>특정한 방법에 따라 </a:t>
            </a:r>
            <a:r>
              <a:rPr lang="ko-KR" altLang="en-US" b="1" dirty="0" smtClean="0"/>
              <a:t>조건을 만족</a:t>
            </a:r>
            <a:r>
              <a:rPr lang="ko-KR" altLang="en-US" dirty="0" smtClean="0"/>
              <a:t>시켜야 </a:t>
            </a:r>
            <a:endParaRPr lang="en-US" altLang="ko-KR" dirty="0" smtClean="0"/>
          </a:p>
          <a:p>
            <a:pPr>
              <a:lnSpc>
                <a:spcPct val="150000"/>
              </a:lnSpc>
            </a:pPr>
            <a:r>
              <a:rPr lang="en-US" altLang="ko-KR" dirty="0"/>
              <a:t> </a:t>
            </a:r>
            <a:r>
              <a:rPr lang="en-US" altLang="ko-KR" dirty="0" smtClean="0"/>
              <a:t> </a:t>
            </a:r>
            <a:r>
              <a:rPr lang="ko-KR" altLang="en-US" dirty="0" smtClean="0"/>
              <a:t>합니다</a:t>
            </a:r>
            <a:r>
              <a:rPr lang="en-US" altLang="ko-KR" dirty="0" smtClean="0"/>
              <a:t>.</a:t>
            </a:r>
            <a:r>
              <a:rPr lang="ko-KR" altLang="en-US" dirty="0"/>
              <a:t> </a:t>
            </a:r>
            <a:r>
              <a:rPr lang="ko-KR" altLang="en-US" dirty="0" smtClean="0"/>
              <a:t>기본적으로 알 수 없으나</a:t>
            </a:r>
            <a:r>
              <a:rPr lang="en-US" altLang="ko-KR" dirty="0" smtClean="0"/>
              <a:t>, </a:t>
            </a:r>
            <a:r>
              <a:rPr lang="ko-KR" altLang="en-US" dirty="0" smtClean="0"/>
              <a:t>한번 획득하면 방법이 기록 </a:t>
            </a:r>
            <a:endParaRPr lang="en-US" altLang="ko-KR" dirty="0" smtClean="0"/>
          </a:p>
          <a:p>
            <a:pPr>
              <a:lnSpc>
                <a:spcPct val="150000"/>
              </a:lnSpc>
            </a:pPr>
            <a:r>
              <a:rPr lang="en-US" altLang="ko-KR" dirty="0"/>
              <a:t> </a:t>
            </a:r>
            <a:r>
              <a:rPr lang="en-US" altLang="ko-KR" dirty="0" smtClean="0"/>
              <a:t> </a:t>
            </a:r>
            <a:r>
              <a:rPr lang="ko-KR" altLang="en-US" dirty="0" smtClean="0"/>
              <a:t>으로 남습니다</a:t>
            </a:r>
            <a:r>
              <a:rPr lang="en-US" altLang="ko-KR" dirty="0" smtClean="0"/>
              <a:t>.</a:t>
            </a:r>
            <a:endParaRPr lang="en-US" altLang="ko-KR" dirty="0" smtClean="0"/>
          </a:p>
          <a:p>
            <a:pPr>
              <a:lnSpc>
                <a:spcPct val="150000"/>
              </a:lnSpc>
            </a:pPr>
            <a:endParaRPr lang="en-US" altLang="ko-KR" sz="1200" dirty="0" smtClean="0"/>
          </a:p>
          <a:p>
            <a:pPr>
              <a:lnSpc>
                <a:spcPct val="150000"/>
              </a:lnSpc>
            </a:pPr>
            <a:r>
              <a:rPr lang="en-US" altLang="ko-KR" dirty="0" smtClean="0"/>
              <a:t>• </a:t>
            </a:r>
            <a:r>
              <a:rPr lang="ko-KR" altLang="en-US" dirty="0" err="1" smtClean="0"/>
              <a:t>몬스터의</a:t>
            </a:r>
            <a:r>
              <a:rPr lang="ko-KR" altLang="en-US" dirty="0" smtClean="0"/>
              <a:t> 입수 방법을 알아내기 위해 플레이어는 다양한 </a:t>
            </a:r>
            <a:r>
              <a:rPr lang="ko-KR" altLang="en-US" b="1" dirty="0" smtClean="0"/>
              <a:t>시행</a:t>
            </a:r>
            <a:endParaRPr lang="en-US" altLang="ko-KR" b="1" dirty="0" smtClean="0"/>
          </a:p>
          <a:p>
            <a:pPr>
              <a:lnSpc>
                <a:spcPct val="150000"/>
              </a:lnSpc>
            </a:pPr>
            <a:r>
              <a:rPr lang="en-US" altLang="ko-KR" b="1" dirty="0"/>
              <a:t> </a:t>
            </a:r>
            <a:r>
              <a:rPr lang="en-US" altLang="ko-KR" b="1" dirty="0" smtClean="0"/>
              <a:t> </a:t>
            </a:r>
            <a:r>
              <a:rPr lang="ko-KR" altLang="en-US" b="1" dirty="0" smtClean="0"/>
              <a:t>착오</a:t>
            </a:r>
            <a:r>
              <a:rPr lang="ko-KR" altLang="en-US" dirty="0" smtClean="0"/>
              <a:t>를 겪을 것이고</a:t>
            </a:r>
            <a:r>
              <a:rPr lang="en-US" altLang="ko-KR" dirty="0" smtClean="0"/>
              <a:t>, </a:t>
            </a:r>
            <a:r>
              <a:rPr lang="ko-KR" altLang="en-US" dirty="0" smtClean="0"/>
              <a:t>이를 통해 플레이의 </a:t>
            </a:r>
            <a:r>
              <a:rPr lang="ko-KR" altLang="en-US" dirty="0" err="1" smtClean="0"/>
              <a:t>몰입감을</a:t>
            </a:r>
            <a:r>
              <a:rPr lang="ko-KR" altLang="en-US" dirty="0" smtClean="0"/>
              <a:t> 향상시킬 수 </a:t>
            </a:r>
            <a:endParaRPr lang="en-US" altLang="ko-KR" dirty="0" smtClean="0"/>
          </a:p>
          <a:p>
            <a:pPr>
              <a:lnSpc>
                <a:spcPct val="150000"/>
              </a:lnSpc>
            </a:pPr>
            <a:r>
              <a:rPr lang="en-US" altLang="ko-KR" dirty="0"/>
              <a:t> </a:t>
            </a:r>
            <a:r>
              <a:rPr lang="en-US" altLang="ko-KR" dirty="0" smtClean="0"/>
              <a:t> </a:t>
            </a:r>
            <a:r>
              <a:rPr lang="ko-KR" altLang="en-US" dirty="0" smtClean="0"/>
              <a:t>있습니다</a:t>
            </a:r>
            <a:r>
              <a:rPr lang="en-US" altLang="ko-KR" dirty="0" smtClean="0"/>
              <a:t>.  </a:t>
            </a:r>
            <a:r>
              <a:rPr lang="ko-KR" altLang="en-US" dirty="0" smtClean="0"/>
              <a:t> </a:t>
            </a:r>
            <a:endParaRPr lang="en-US" altLang="ko-KR" dirty="0" smtClean="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578" y="1255092"/>
            <a:ext cx="3892805"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다채로운   </a:t>
            </a:r>
            <a:r>
              <a:rPr lang="ko-KR" altLang="en-US" sz="1600" spc="-300" dirty="0" err="1"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몬스터들</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8" y="3817287"/>
            <a:ext cx="3969447" cy="228794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7</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다른 </a:t>
            </a:r>
            <a:r>
              <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컨셉의 용사  캐릭터</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7905986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009900" y="517669"/>
            <a:ext cx="623887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dirty="0" err="1">
                <a:gradFill>
                  <a:gsLst>
                    <a:gs pos="0">
                      <a:schemeClr val="tx1"/>
                    </a:gs>
                    <a:gs pos="100000">
                      <a:schemeClr val="tx1"/>
                    </a:gs>
                  </a:gsLst>
                  <a:lin ang="5400000" scaled="1"/>
                </a:gradFill>
                <a:latin typeface="맑은 고딕" panose="020B0503020000020004" pitchFamily="50" charset="-127"/>
              </a:rPr>
              <a:t>턴방식</a:t>
            </a:r>
            <a:r>
              <a:rPr lang="ko-KR" altLang="en-US" sz="3200" b="1" dirty="0">
                <a:gradFill>
                  <a:gsLst>
                    <a:gs pos="0">
                      <a:schemeClr val="tx1"/>
                    </a:gs>
                    <a:gs pos="100000">
                      <a:schemeClr val="tx1"/>
                    </a:gs>
                  </a:gsLst>
                  <a:lin ang="5400000" scaled="1"/>
                </a:gradFill>
                <a:latin typeface="맑은 고딕" panose="020B0503020000020004" pitchFamily="50" charset="-127"/>
              </a:rPr>
              <a:t> 전략 </a:t>
            </a:r>
            <a:r>
              <a:rPr lang="ko-KR" altLang="en-US" sz="3200" b="1" dirty="0" smtClean="0">
                <a:gradFill>
                  <a:gsLst>
                    <a:gs pos="0">
                      <a:schemeClr val="tx1"/>
                    </a:gs>
                    <a:gs pos="100000">
                      <a:schemeClr val="tx1"/>
                    </a:gs>
                  </a:gsLst>
                  <a:lin ang="5400000" scaled="1"/>
                </a:gradFill>
                <a:latin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12</a:t>
            </a:fld>
            <a:endParaRPr lang="ko-KR" altLang="en-US" sz="1800" dirty="0"/>
          </a:p>
        </p:txBody>
      </p:sp>
      <p:sp>
        <p:nvSpPr>
          <p:cNvPr id="13" name="TextBox 12"/>
          <p:cNvSpPr txBox="1"/>
          <p:nvPr/>
        </p:nvSpPr>
        <p:spPr>
          <a:xfrm>
            <a:off x="5280347" y="1347170"/>
            <a:ext cx="6660506" cy="4662815"/>
          </a:xfrm>
          <a:prstGeom prst="rect">
            <a:avLst/>
          </a:prstGeom>
          <a:noFill/>
        </p:spPr>
        <p:txBody>
          <a:bodyPr wrap="square" rtlCol="0">
            <a:spAutoFit/>
          </a:bodyPr>
          <a:lstStyle/>
          <a:p>
            <a:pPr>
              <a:lnSpc>
                <a:spcPct val="150000"/>
              </a:lnSpc>
            </a:pPr>
            <a:r>
              <a:rPr lang="en-US" altLang="ko-KR" dirty="0"/>
              <a:t>• </a:t>
            </a:r>
            <a:r>
              <a:rPr lang="ko-KR" altLang="en-US" dirty="0" smtClean="0"/>
              <a:t>플레이어는 </a:t>
            </a:r>
            <a:r>
              <a:rPr lang="ko-KR" altLang="en-US" dirty="0" smtClean="0">
                <a:latin typeface="+mn-ea"/>
              </a:rPr>
              <a:t>다양한 개성을 지닌 </a:t>
            </a:r>
            <a:r>
              <a:rPr lang="ko-KR" altLang="en-US" b="1" dirty="0" smtClean="0">
                <a:latin typeface="+mn-ea"/>
              </a:rPr>
              <a:t>캐릭터와 몬스터를 조합</a:t>
            </a:r>
            <a:r>
              <a:rPr lang="ko-KR" altLang="en-US" dirty="0" smtClean="0">
                <a:latin typeface="+mn-ea"/>
              </a:rPr>
              <a:t>하여</a:t>
            </a:r>
            <a:r>
              <a:rPr lang="en-US" altLang="ko-KR" dirty="0" smtClean="0">
                <a:latin typeface="+mn-ea"/>
              </a:rPr>
              <a:t>, </a:t>
            </a:r>
          </a:p>
          <a:p>
            <a:pPr>
              <a:lnSpc>
                <a:spcPct val="150000"/>
              </a:lnSpc>
            </a:pPr>
            <a:r>
              <a:rPr lang="en-US" altLang="ko-KR" dirty="0">
                <a:latin typeface="+mn-ea"/>
              </a:rPr>
              <a:t> </a:t>
            </a:r>
            <a:r>
              <a:rPr lang="en-US" altLang="ko-KR" dirty="0" smtClean="0">
                <a:latin typeface="+mn-ea"/>
              </a:rPr>
              <a:t> </a:t>
            </a:r>
            <a:r>
              <a:rPr lang="ko-KR" altLang="en-US" dirty="0" smtClean="0">
                <a:latin typeface="+mn-ea"/>
              </a:rPr>
              <a:t>던전 속</a:t>
            </a:r>
            <a:r>
              <a:rPr lang="en-US" altLang="ko-KR" dirty="0" smtClean="0">
                <a:latin typeface="+mn-ea"/>
              </a:rPr>
              <a:t> </a:t>
            </a:r>
            <a:r>
              <a:rPr lang="ko-KR" altLang="en-US" dirty="0" err="1" smtClean="0">
                <a:latin typeface="+mn-ea"/>
              </a:rPr>
              <a:t>몬스터들을</a:t>
            </a:r>
            <a:r>
              <a:rPr lang="ko-KR" altLang="en-US" dirty="0" smtClean="0">
                <a:latin typeface="+mn-ea"/>
              </a:rPr>
              <a:t> 최대한 피해 없이 쓰러트려야 합니다</a:t>
            </a:r>
            <a:r>
              <a:rPr lang="en-US" altLang="ko-KR" dirty="0" smtClean="0">
                <a:latin typeface="+mn-ea"/>
              </a:rPr>
              <a:t>.</a:t>
            </a:r>
          </a:p>
          <a:p>
            <a:pPr>
              <a:lnSpc>
                <a:spcPct val="150000"/>
              </a:lnSpc>
            </a:pPr>
            <a:endParaRPr lang="en-US" altLang="ko-KR" sz="1200" dirty="0">
              <a:latin typeface="+mn-ea"/>
            </a:endParaRPr>
          </a:p>
          <a:p>
            <a:pPr>
              <a:lnSpc>
                <a:spcPct val="150000"/>
              </a:lnSpc>
            </a:pPr>
            <a:r>
              <a:rPr lang="en-US" altLang="ko-KR" dirty="0"/>
              <a:t>• </a:t>
            </a:r>
            <a:r>
              <a:rPr lang="ko-KR" altLang="en-US" dirty="0"/>
              <a:t>아군과 적군의 </a:t>
            </a:r>
            <a:r>
              <a:rPr lang="ko-KR" altLang="en-US" dirty="0" smtClean="0"/>
              <a:t>기</a:t>
            </a:r>
            <a:r>
              <a:rPr lang="ko-KR" altLang="en-US" dirty="0"/>
              <a:t>술</a:t>
            </a:r>
            <a:r>
              <a:rPr lang="ko-KR" altLang="en-US" dirty="0" smtClean="0"/>
              <a:t> </a:t>
            </a:r>
            <a:r>
              <a:rPr lang="ko-KR" altLang="en-US" dirty="0"/>
              <a:t>차이</a:t>
            </a:r>
            <a:r>
              <a:rPr lang="en-US" altLang="ko-KR" dirty="0"/>
              <a:t>, </a:t>
            </a:r>
            <a:r>
              <a:rPr lang="ko-KR" altLang="en-US" dirty="0"/>
              <a:t>상성</a:t>
            </a:r>
            <a:r>
              <a:rPr lang="en-US" altLang="ko-KR" dirty="0"/>
              <a:t>, </a:t>
            </a:r>
            <a:r>
              <a:rPr lang="ko-KR" altLang="en-US" dirty="0" err="1" smtClean="0"/>
              <a:t>아티팩트</a:t>
            </a:r>
            <a:r>
              <a:rPr lang="ko-KR" altLang="en-US" dirty="0" smtClean="0"/>
              <a:t> 능력</a:t>
            </a:r>
            <a:r>
              <a:rPr lang="en-US" altLang="ko-KR" dirty="0" smtClean="0"/>
              <a:t>, </a:t>
            </a:r>
            <a:r>
              <a:rPr lang="ko-KR" altLang="en-US" dirty="0"/>
              <a:t>파티의 컨셉과 </a:t>
            </a:r>
            <a:endParaRPr lang="en-US" altLang="ko-KR" dirty="0"/>
          </a:p>
          <a:p>
            <a:pPr>
              <a:lnSpc>
                <a:spcPct val="150000"/>
              </a:lnSpc>
            </a:pPr>
            <a:r>
              <a:rPr lang="en-US" altLang="ko-KR" dirty="0"/>
              <a:t>  </a:t>
            </a:r>
            <a:r>
              <a:rPr lang="ko-KR" altLang="en-US" dirty="0"/>
              <a:t>장단점 등 </a:t>
            </a:r>
            <a:r>
              <a:rPr lang="ko-KR" altLang="en-US" b="1" dirty="0"/>
              <a:t>다양한 전략적 변수</a:t>
            </a:r>
            <a:r>
              <a:rPr lang="ko-KR" altLang="en-US" dirty="0"/>
              <a:t>들이 존재합니다</a:t>
            </a:r>
            <a:r>
              <a:rPr lang="en-US" altLang="ko-KR" dirty="0" smtClean="0"/>
              <a:t>. </a:t>
            </a:r>
          </a:p>
          <a:p>
            <a:pPr>
              <a:lnSpc>
                <a:spcPct val="150000"/>
              </a:lnSpc>
            </a:pPr>
            <a:endParaRPr lang="en-US" altLang="ko-KR" sz="1200" dirty="0"/>
          </a:p>
          <a:p>
            <a:pPr>
              <a:lnSpc>
                <a:spcPct val="150000"/>
              </a:lnSpc>
            </a:pPr>
            <a:r>
              <a:rPr lang="en-US" altLang="ko-KR" dirty="0" smtClean="0"/>
              <a:t>• </a:t>
            </a:r>
            <a:r>
              <a:rPr lang="ko-KR" altLang="en-US" dirty="0" smtClean="0">
                <a:latin typeface="+mn-ea"/>
              </a:rPr>
              <a:t>턴 방식을 통해 이러한 다양한 변수를 고려하며</a:t>
            </a:r>
            <a:r>
              <a:rPr lang="en-US" altLang="ko-KR" dirty="0" smtClean="0">
                <a:latin typeface="+mn-ea"/>
              </a:rPr>
              <a:t> </a:t>
            </a:r>
            <a:r>
              <a:rPr lang="ko-KR" altLang="en-US" b="1" dirty="0" smtClean="0">
                <a:latin typeface="+mn-ea"/>
              </a:rPr>
              <a:t>효율적이고</a:t>
            </a:r>
            <a:r>
              <a:rPr lang="en-US" altLang="ko-KR" dirty="0" smtClean="0"/>
              <a:t> </a:t>
            </a:r>
          </a:p>
          <a:p>
            <a:pPr>
              <a:lnSpc>
                <a:spcPct val="150000"/>
              </a:lnSpc>
            </a:pPr>
            <a:r>
              <a:rPr lang="en-US" altLang="ko-KR" dirty="0"/>
              <a:t> </a:t>
            </a:r>
            <a:r>
              <a:rPr lang="en-US" altLang="ko-KR" dirty="0" smtClean="0"/>
              <a:t> </a:t>
            </a:r>
            <a:r>
              <a:rPr lang="ko-KR" altLang="en-US" b="1" dirty="0" smtClean="0"/>
              <a:t>합리적인 선택</a:t>
            </a:r>
            <a:r>
              <a:rPr lang="ko-KR" altLang="en-US" dirty="0" smtClean="0"/>
              <a:t>을 내리게끔 하여</a:t>
            </a:r>
            <a:r>
              <a:rPr lang="en-US" altLang="ko-KR" dirty="0" smtClean="0"/>
              <a:t>, </a:t>
            </a:r>
            <a:r>
              <a:rPr lang="ko-KR" altLang="en-US" dirty="0" smtClean="0"/>
              <a:t>게임에 </a:t>
            </a:r>
            <a:r>
              <a:rPr lang="ko-KR" altLang="en-US" dirty="0" err="1" smtClean="0"/>
              <a:t>전략성을</a:t>
            </a:r>
            <a:r>
              <a:rPr lang="ko-KR" altLang="en-US" dirty="0" smtClean="0"/>
              <a:t> 부여합니다</a:t>
            </a:r>
            <a:r>
              <a:rPr lang="en-US" altLang="ko-KR" dirty="0" smtClean="0"/>
              <a:t>.</a:t>
            </a:r>
            <a:endParaRPr lang="en-US" altLang="ko-KR" dirty="0"/>
          </a:p>
          <a:p>
            <a:pPr>
              <a:lnSpc>
                <a:spcPct val="150000"/>
              </a:lnSpc>
            </a:pPr>
            <a:endParaRPr lang="en-US" altLang="ko-KR" sz="1200" dirty="0" smtClean="0"/>
          </a:p>
          <a:p>
            <a:pPr>
              <a:lnSpc>
                <a:spcPct val="150000"/>
              </a:lnSpc>
            </a:pPr>
            <a:r>
              <a:rPr lang="en-US" altLang="ko-KR" dirty="0" smtClean="0"/>
              <a:t>• </a:t>
            </a:r>
            <a:r>
              <a:rPr lang="ko-KR" altLang="en-US" dirty="0" smtClean="0"/>
              <a:t>실시간으로 플레이어의 컨트롤 능력을 요구하는 대신</a:t>
            </a:r>
            <a:r>
              <a:rPr lang="en-US" altLang="ko-KR" dirty="0" smtClean="0"/>
              <a:t> </a:t>
            </a:r>
            <a:r>
              <a:rPr lang="ko-KR" altLang="en-US" b="1" dirty="0" smtClean="0"/>
              <a:t>적절한   </a:t>
            </a:r>
            <a:endParaRPr lang="en-US" altLang="ko-KR" b="1" dirty="0" smtClean="0"/>
          </a:p>
          <a:p>
            <a:pPr>
              <a:lnSpc>
                <a:spcPct val="150000"/>
              </a:lnSpc>
            </a:pPr>
            <a:r>
              <a:rPr lang="en-US" altLang="ko-KR" b="1" dirty="0"/>
              <a:t> </a:t>
            </a:r>
            <a:r>
              <a:rPr lang="en-US" altLang="ko-KR" b="1" dirty="0" smtClean="0"/>
              <a:t> </a:t>
            </a:r>
            <a:r>
              <a:rPr lang="ko-KR" altLang="en-US" b="1" dirty="0" smtClean="0"/>
              <a:t>판단을 필요</a:t>
            </a:r>
            <a:r>
              <a:rPr lang="ko-KR" altLang="en-US" dirty="0" smtClean="0"/>
              <a:t>로 하기 때문에</a:t>
            </a:r>
            <a:r>
              <a:rPr lang="en-US" altLang="ko-KR" dirty="0" smtClean="0"/>
              <a:t>, </a:t>
            </a:r>
            <a:r>
              <a:rPr lang="ko-KR" altLang="en-US" dirty="0" smtClean="0"/>
              <a:t>누구나 손쉽게 접근할 수 있고</a:t>
            </a:r>
            <a:endParaRPr lang="en-US" altLang="ko-KR" dirty="0" smtClean="0"/>
          </a:p>
          <a:p>
            <a:pPr>
              <a:lnSpc>
                <a:spcPct val="150000"/>
              </a:lnSpc>
            </a:pPr>
            <a:r>
              <a:rPr lang="ko-KR" altLang="en-US" dirty="0" smtClean="0"/>
              <a:t>  게임의 기술적 구현에 있어서도 장점을 가지고 있습니다</a:t>
            </a:r>
            <a:r>
              <a:rPr lang="en-US" altLang="ko-KR" dirty="0" smtClean="0"/>
              <a:t>.</a:t>
            </a:r>
            <a:endParaRPr lang="en-US" altLang="ko-KR" dirty="0"/>
          </a:p>
        </p:txBody>
      </p:sp>
      <p:pic>
        <p:nvPicPr>
          <p:cNvPr id="8" name="그림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530" y="1255092"/>
            <a:ext cx="3840901" cy="2160507"/>
          </a:xfrm>
          <a:prstGeom prst="rect">
            <a:avLst/>
          </a:prstGeom>
        </p:spPr>
      </p:pic>
      <p:sp>
        <p:nvSpPr>
          <p:cNvPr id="9" name="TextBox 8"/>
          <p:cNvSpPr txBox="1"/>
          <p:nvPr/>
        </p:nvSpPr>
        <p:spPr>
          <a:xfrm>
            <a:off x="1401192" y="3415600"/>
            <a:ext cx="2695575"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8 )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pic>
        <p:nvPicPr>
          <p:cNvPr id="12" name="그림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530" y="3859452"/>
            <a:ext cx="3840901" cy="2160506"/>
          </a:xfrm>
          <a:prstGeom prst="rect">
            <a:avLst/>
          </a:prstGeom>
        </p:spPr>
      </p:pic>
      <p:sp>
        <p:nvSpPr>
          <p:cNvPr id="14" name="TextBox 13"/>
          <p:cNvSpPr txBox="1"/>
          <p:nvPr/>
        </p:nvSpPr>
        <p:spPr>
          <a:xfrm>
            <a:off x="1246581" y="6025325"/>
            <a:ext cx="3058321"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9 )     </a:t>
            </a: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턴  방식의  전투</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454136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13</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pSp>
        <p:nvGrpSpPr>
          <p:cNvPr id="2" name="그룹 1"/>
          <p:cNvGrpSpPr/>
          <p:nvPr/>
        </p:nvGrpSpPr>
        <p:grpSpPr>
          <a:xfrm>
            <a:off x="10374267" y="802896"/>
            <a:ext cx="1943240" cy="369332"/>
            <a:chOff x="10374267" y="802896"/>
            <a:chExt cx="1943240" cy="369332"/>
          </a:xfrm>
        </p:grpSpPr>
        <p:sp>
          <p:nvSpPr>
            <p:cNvPr id="75" name="TextBox 7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cxnSp>
          <p:nvCxnSpPr>
            <p:cNvPr id="76" name="직선 화살표 연결선 75"/>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77" name="TextBox 76"/>
          <p:cNvSpPr txBox="1"/>
          <p:nvPr/>
        </p:nvSpPr>
        <p:spPr>
          <a:xfrm>
            <a:off x="244289" y="1054134"/>
            <a:ext cx="1824307"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594135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7" name="직선 연결선 136"/>
          <p:cNvCxnSpPr/>
          <p:nvPr/>
        </p:nvCxnSpPr>
        <p:spPr>
          <a:xfrm flipH="1">
            <a:off x="5576934" y="1562193"/>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직선 연결선 137"/>
          <p:cNvCxnSpPr/>
          <p:nvPr/>
        </p:nvCxnSpPr>
        <p:spPr>
          <a:xfrm flipH="1">
            <a:off x="6626184"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직선 연결선 138"/>
          <p:cNvCxnSpPr/>
          <p:nvPr/>
        </p:nvCxnSpPr>
        <p:spPr>
          <a:xfrm flipH="1">
            <a:off x="870958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직선 연결선 139"/>
          <p:cNvCxnSpPr/>
          <p:nvPr/>
        </p:nvCxnSpPr>
        <p:spPr>
          <a:xfrm flipH="1">
            <a:off x="9758453" y="1589087"/>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직선 연결선 130"/>
          <p:cNvCxnSpPr>
            <a:stCxn id="40" idx="4"/>
            <a:endCxn id="42" idx="0"/>
          </p:cNvCxnSpPr>
          <p:nvPr/>
        </p:nvCxnSpPr>
        <p:spPr>
          <a:xfrm flipH="1">
            <a:off x="3496238" y="1575640"/>
            <a:ext cx="7954" cy="4397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직선 연결선 129"/>
          <p:cNvCxnSpPr/>
          <p:nvPr/>
        </p:nvCxnSpPr>
        <p:spPr>
          <a:xfrm flipH="1">
            <a:off x="2460814" y="1589087"/>
            <a:ext cx="0" cy="435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14</a:t>
            </a:fld>
            <a:endParaRPr lang="ko-KR" altLang="en-US" sz="1800" dirty="0"/>
          </a:p>
        </p:txBody>
      </p:sp>
      <p:sp>
        <p:nvSpPr>
          <p:cNvPr id="7" name="타원 6"/>
          <p:cNvSpPr/>
          <p:nvPr/>
        </p:nvSpPr>
        <p:spPr>
          <a:xfrm>
            <a:off x="2280935"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p:cNvSpPr/>
          <p:nvPr/>
        </p:nvSpPr>
        <p:spPr>
          <a:xfrm>
            <a:off x="2286428"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p:cNvSpPr/>
          <p:nvPr/>
        </p:nvSpPr>
        <p:spPr>
          <a:xfrm>
            <a:off x="2286429"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타원 14"/>
          <p:cNvSpPr/>
          <p:nvPr/>
        </p:nvSpPr>
        <p:spPr>
          <a:xfrm>
            <a:off x="2287232"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p:cNvSpPr/>
          <p:nvPr/>
        </p:nvSpPr>
        <p:spPr>
          <a:xfrm>
            <a:off x="2279278"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p:cNvSpPr/>
          <p:nvPr/>
        </p:nvSpPr>
        <p:spPr>
          <a:xfrm>
            <a:off x="2279279"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p:cNvSpPr/>
          <p:nvPr/>
        </p:nvSpPr>
        <p:spPr>
          <a:xfrm>
            <a:off x="2280082"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p:cNvSpPr/>
          <p:nvPr/>
        </p:nvSpPr>
        <p:spPr>
          <a:xfrm>
            <a:off x="3316359"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p:cNvSpPr/>
          <p:nvPr/>
        </p:nvSpPr>
        <p:spPr>
          <a:xfrm>
            <a:off x="3321852"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타원 38"/>
          <p:cNvSpPr/>
          <p:nvPr/>
        </p:nvSpPr>
        <p:spPr>
          <a:xfrm>
            <a:off x="3321853"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p:cNvSpPr/>
          <p:nvPr/>
        </p:nvSpPr>
        <p:spPr>
          <a:xfrm>
            <a:off x="3322656"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타원 41"/>
          <p:cNvSpPr/>
          <p:nvPr/>
        </p:nvSpPr>
        <p:spPr>
          <a:xfrm>
            <a:off x="3314702"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3" name="타원 42"/>
          <p:cNvSpPr/>
          <p:nvPr/>
        </p:nvSpPr>
        <p:spPr>
          <a:xfrm>
            <a:off x="3314703"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타원 43"/>
          <p:cNvSpPr/>
          <p:nvPr/>
        </p:nvSpPr>
        <p:spPr>
          <a:xfrm>
            <a:off x="3328953"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타원 56"/>
          <p:cNvSpPr/>
          <p:nvPr/>
        </p:nvSpPr>
        <p:spPr>
          <a:xfrm>
            <a:off x="540254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타원 57"/>
          <p:cNvSpPr/>
          <p:nvPr/>
        </p:nvSpPr>
        <p:spPr>
          <a:xfrm>
            <a:off x="540804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타원 58"/>
          <p:cNvSpPr/>
          <p:nvPr/>
        </p:nvSpPr>
        <p:spPr>
          <a:xfrm>
            <a:off x="5408041" y="203283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타원 59"/>
          <p:cNvSpPr/>
          <p:nvPr/>
        </p:nvSpPr>
        <p:spPr>
          <a:xfrm>
            <a:off x="5408844"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타원 61"/>
          <p:cNvSpPr/>
          <p:nvPr/>
        </p:nvSpPr>
        <p:spPr>
          <a:xfrm>
            <a:off x="540089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타원 62"/>
          <p:cNvSpPr/>
          <p:nvPr/>
        </p:nvSpPr>
        <p:spPr>
          <a:xfrm>
            <a:off x="5400891"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타원 63"/>
          <p:cNvSpPr/>
          <p:nvPr/>
        </p:nvSpPr>
        <p:spPr>
          <a:xfrm>
            <a:off x="5401694"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타원 66"/>
          <p:cNvSpPr/>
          <p:nvPr/>
        </p:nvSpPr>
        <p:spPr>
          <a:xfrm>
            <a:off x="6451417" y="360614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타원 67"/>
          <p:cNvSpPr/>
          <p:nvPr/>
        </p:nvSpPr>
        <p:spPr>
          <a:xfrm>
            <a:off x="6456910"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타원 68"/>
          <p:cNvSpPr/>
          <p:nvPr/>
        </p:nvSpPr>
        <p:spPr>
          <a:xfrm>
            <a:off x="6456911" y="20193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타원 69"/>
          <p:cNvSpPr/>
          <p:nvPr/>
        </p:nvSpPr>
        <p:spPr>
          <a:xfrm>
            <a:off x="6457714" y="1239463"/>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2" name="타원 71"/>
          <p:cNvSpPr/>
          <p:nvPr/>
        </p:nvSpPr>
        <p:spPr>
          <a:xfrm>
            <a:off x="6449760" y="5972818"/>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p:cNvSpPr/>
          <p:nvPr/>
        </p:nvSpPr>
        <p:spPr>
          <a:xfrm>
            <a:off x="6449761" y="519289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p:cNvSpPr/>
          <p:nvPr/>
        </p:nvSpPr>
        <p:spPr>
          <a:xfrm>
            <a:off x="6450564" y="43995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7" name="타원 86"/>
          <p:cNvSpPr/>
          <p:nvPr/>
        </p:nvSpPr>
        <p:spPr>
          <a:xfrm>
            <a:off x="8539175" y="359795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8" name="타원 87"/>
          <p:cNvSpPr/>
          <p:nvPr/>
        </p:nvSpPr>
        <p:spPr>
          <a:xfrm>
            <a:off x="8544668" y="280458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9" name="타원 88"/>
          <p:cNvSpPr/>
          <p:nvPr/>
        </p:nvSpPr>
        <p:spPr>
          <a:xfrm>
            <a:off x="8544669" y="201120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0" name="타원 89"/>
          <p:cNvSpPr/>
          <p:nvPr/>
        </p:nvSpPr>
        <p:spPr>
          <a:xfrm>
            <a:off x="8545472" y="12178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2" name="타원 91"/>
          <p:cNvSpPr/>
          <p:nvPr/>
        </p:nvSpPr>
        <p:spPr>
          <a:xfrm>
            <a:off x="8537518" y="596463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3" name="타원 92"/>
          <p:cNvSpPr/>
          <p:nvPr/>
        </p:nvSpPr>
        <p:spPr>
          <a:xfrm>
            <a:off x="8537519" y="5171260"/>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4" name="타원 93"/>
          <p:cNvSpPr/>
          <p:nvPr/>
        </p:nvSpPr>
        <p:spPr>
          <a:xfrm>
            <a:off x="8538322" y="4391332"/>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7" name="타원 96"/>
          <p:cNvSpPr/>
          <p:nvPr/>
        </p:nvSpPr>
        <p:spPr>
          <a:xfrm>
            <a:off x="9574598" y="359269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8" name="타원 97"/>
          <p:cNvSpPr/>
          <p:nvPr/>
        </p:nvSpPr>
        <p:spPr>
          <a:xfrm>
            <a:off x="9580091" y="2812765"/>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타원 98"/>
          <p:cNvSpPr/>
          <p:nvPr/>
        </p:nvSpPr>
        <p:spPr>
          <a:xfrm>
            <a:off x="9580092" y="20059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타원 99"/>
          <p:cNvSpPr/>
          <p:nvPr/>
        </p:nvSpPr>
        <p:spPr>
          <a:xfrm>
            <a:off x="9580895" y="1226016"/>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2" name="타원 101"/>
          <p:cNvSpPr/>
          <p:nvPr/>
        </p:nvSpPr>
        <p:spPr>
          <a:xfrm>
            <a:off x="9572941" y="5959371"/>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3" name="타원 102"/>
          <p:cNvSpPr/>
          <p:nvPr/>
        </p:nvSpPr>
        <p:spPr>
          <a:xfrm>
            <a:off x="9572942" y="5179444"/>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타원 103"/>
          <p:cNvSpPr/>
          <p:nvPr/>
        </p:nvSpPr>
        <p:spPr>
          <a:xfrm>
            <a:off x="9573745" y="4386069"/>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이등변 삼각형 8"/>
          <p:cNvSpPr/>
          <p:nvPr/>
        </p:nvSpPr>
        <p:spPr>
          <a:xfrm rot="5400000">
            <a:off x="656503" y="3395310"/>
            <a:ext cx="999883" cy="730944"/>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ko-KR" altLang="en-US" dirty="0" smtClean="0">
                <a:solidFill>
                  <a:schemeClr val="tx1"/>
                </a:solidFill>
              </a:rPr>
              <a:t>입</a:t>
            </a:r>
            <a:r>
              <a:rPr lang="ko-KR" altLang="en-US" dirty="0">
                <a:solidFill>
                  <a:schemeClr val="tx1"/>
                </a:solidFill>
              </a:rPr>
              <a:t>구</a:t>
            </a:r>
          </a:p>
        </p:txBody>
      </p:sp>
      <p:grpSp>
        <p:nvGrpSpPr>
          <p:cNvPr id="111" name="그룹 110"/>
          <p:cNvGrpSpPr/>
          <p:nvPr/>
        </p:nvGrpSpPr>
        <p:grpSpPr>
          <a:xfrm>
            <a:off x="10407884" y="346837"/>
            <a:ext cx="1641552" cy="389965"/>
            <a:chOff x="516703" y="972856"/>
            <a:chExt cx="1641552" cy="389965"/>
          </a:xfrm>
        </p:grpSpPr>
        <p:sp>
          <p:nvSpPr>
            <p:cNvPr id="109" name="타원 108"/>
            <p:cNvSpPr/>
            <p:nvPr/>
          </p:nvSpPr>
          <p:spPr>
            <a:xfrm>
              <a:off x="516703" y="1013197"/>
              <a:ext cx="363071" cy="34962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TextBox 109"/>
            <p:cNvSpPr txBox="1"/>
            <p:nvPr/>
          </p:nvSpPr>
          <p:spPr>
            <a:xfrm>
              <a:off x="874059" y="972856"/>
              <a:ext cx="1284196" cy="369332"/>
            </a:xfrm>
            <a:prstGeom prst="rect">
              <a:avLst/>
            </a:prstGeom>
            <a:noFill/>
          </p:spPr>
          <p:txBody>
            <a:bodyPr wrap="square" rtlCol="0">
              <a:spAutoFit/>
            </a:bodyPr>
            <a:lstStyle/>
            <a:p>
              <a:r>
                <a:rPr lang="en-US" altLang="ko-KR" dirty="0" smtClean="0"/>
                <a:t>: </a:t>
              </a:r>
              <a:r>
                <a:rPr lang="ko-KR" altLang="en-US" dirty="0" err="1" smtClean="0"/>
                <a:t>에어리어</a:t>
              </a:r>
              <a:endParaRPr lang="ko-KR" altLang="en-US" dirty="0"/>
            </a:p>
          </p:txBody>
        </p:sp>
      </p:grpSp>
      <p:sp>
        <p:nvSpPr>
          <p:cNvPr id="134" name="직사각형 133"/>
          <p:cNvSpPr/>
          <p:nvPr/>
        </p:nvSpPr>
        <p:spPr>
          <a:xfrm>
            <a:off x="4195481" y="3394351"/>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5" name="직사각형 134"/>
          <p:cNvSpPr/>
          <p:nvPr/>
        </p:nvSpPr>
        <p:spPr>
          <a:xfrm>
            <a:off x="7346576" y="3380904"/>
            <a:ext cx="699247" cy="781370"/>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중간</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sp>
        <p:nvSpPr>
          <p:cNvPr id="136" name="직사각형 135"/>
          <p:cNvSpPr/>
          <p:nvPr/>
        </p:nvSpPr>
        <p:spPr>
          <a:xfrm>
            <a:off x="10765240" y="3380903"/>
            <a:ext cx="699247" cy="781371"/>
          </a:xfrm>
          <a:prstGeom prst="rect">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ysClr val="windowText" lastClr="000000"/>
                </a:solidFill>
              </a:rPr>
              <a:t>최종</a:t>
            </a:r>
            <a:endParaRPr lang="en-US" altLang="ko-KR" dirty="0" smtClean="0">
              <a:solidFill>
                <a:sysClr val="windowText" lastClr="000000"/>
              </a:solidFill>
            </a:endParaRPr>
          </a:p>
          <a:p>
            <a:pPr algn="ctr"/>
            <a:r>
              <a:rPr lang="ko-KR" altLang="en-US" dirty="0" smtClean="0">
                <a:solidFill>
                  <a:sysClr val="windowText" lastClr="000000"/>
                </a:solidFill>
              </a:rPr>
              <a:t>보</a:t>
            </a:r>
            <a:r>
              <a:rPr lang="ko-KR" altLang="en-US" dirty="0">
                <a:solidFill>
                  <a:sysClr val="windowText" lastClr="000000"/>
                </a:solidFill>
              </a:rPr>
              <a:t>스</a:t>
            </a:r>
          </a:p>
        </p:txBody>
      </p:sp>
      <p:cxnSp>
        <p:nvCxnSpPr>
          <p:cNvPr id="142" name="직선 연결선 141"/>
          <p:cNvCxnSpPr>
            <a:stCxn id="14" idx="6"/>
            <a:endCxn id="38" idx="2"/>
          </p:cNvCxnSpPr>
          <p:nvPr/>
        </p:nvCxnSpPr>
        <p:spPr>
          <a:xfrm>
            <a:off x="2649500" y="2194203"/>
            <a:ext cx="672352" cy="79337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5" name="직선 연결선 144"/>
          <p:cNvCxnSpPr>
            <a:stCxn id="44" idx="6"/>
            <a:endCxn id="134" idx="1"/>
          </p:cNvCxnSpPr>
          <p:nvPr/>
        </p:nvCxnSpPr>
        <p:spPr>
          <a:xfrm flipV="1">
            <a:off x="3692024" y="3785036"/>
            <a:ext cx="503457" cy="77584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7" name="직선 연결선 146"/>
          <p:cNvCxnSpPr>
            <a:stCxn id="134" idx="3"/>
            <a:endCxn id="57" idx="2"/>
          </p:cNvCxnSpPr>
          <p:nvPr/>
        </p:nvCxnSpPr>
        <p:spPr>
          <a:xfrm flipV="1">
            <a:off x="4894728" y="3780953"/>
            <a:ext cx="507819"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48" name="직선 연결선 147"/>
          <p:cNvCxnSpPr>
            <a:endCxn id="73" idx="2"/>
          </p:cNvCxnSpPr>
          <p:nvPr/>
        </p:nvCxnSpPr>
        <p:spPr>
          <a:xfrm flipV="1">
            <a:off x="5763961" y="5367703"/>
            <a:ext cx="685800" cy="782255"/>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0" name="직선 연결선 149"/>
          <p:cNvCxnSpPr>
            <a:stCxn id="68" idx="6"/>
            <a:endCxn id="135" idx="1"/>
          </p:cNvCxnSpPr>
          <p:nvPr/>
        </p:nvCxnSpPr>
        <p:spPr>
          <a:xfrm>
            <a:off x="6819981" y="2987577"/>
            <a:ext cx="526595" cy="784012"/>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5" name="직선 연결선 154"/>
          <p:cNvCxnSpPr>
            <a:stCxn id="88" idx="2"/>
            <a:endCxn id="135" idx="3"/>
          </p:cNvCxnSpPr>
          <p:nvPr/>
        </p:nvCxnSpPr>
        <p:spPr>
          <a:xfrm flipH="1">
            <a:off x="8045823" y="2979393"/>
            <a:ext cx="498845" cy="79219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58" name="직선 연결선 157"/>
          <p:cNvCxnSpPr>
            <a:stCxn id="104" idx="2"/>
            <a:endCxn id="94" idx="6"/>
          </p:cNvCxnSpPr>
          <p:nvPr/>
        </p:nvCxnSpPr>
        <p:spPr>
          <a:xfrm flipH="1">
            <a:off x="8901393" y="4560881"/>
            <a:ext cx="672352" cy="526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1" name="직선 연결선 160"/>
          <p:cNvCxnSpPr>
            <a:stCxn id="136" idx="1"/>
            <a:endCxn id="97" idx="6"/>
          </p:cNvCxnSpPr>
          <p:nvPr/>
        </p:nvCxnSpPr>
        <p:spPr>
          <a:xfrm flipH="1" flipV="1">
            <a:off x="9937669" y="3767506"/>
            <a:ext cx="827571" cy="4083"/>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64" name="직선 연결선 163"/>
          <p:cNvCxnSpPr>
            <a:stCxn id="9" idx="0"/>
            <a:endCxn id="24" idx="2"/>
          </p:cNvCxnSpPr>
          <p:nvPr/>
        </p:nvCxnSpPr>
        <p:spPr>
          <a:xfrm>
            <a:off x="1521917" y="3760783"/>
            <a:ext cx="758165" cy="800098"/>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a:off x="1521917" y="3942318"/>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직선 화살표 연결선 74"/>
          <p:cNvCxnSpPr/>
          <p:nvPr/>
        </p:nvCxnSpPr>
        <p:spPr>
          <a:xfrm flipH="1" flipV="1">
            <a:off x="2705753" y="2422643"/>
            <a:ext cx="104682" cy="208195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직선 화살표 연결선 75"/>
          <p:cNvCxnSpPr/>
          <p:nvPr/>
        </p:nvCxnSpPr>
        <p:spPr>
          <a:xfrm>
            <a:off x="2606995" y="1958880"/>
            <a:ext cx="757361" cy="7933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7" name="직선 화살표 연결선 76"/>
          <p:cNvCxnSpPr/>
          <p:nvPr/>
        </p:nvCxnSpPr>
        <p:spPr>
          <a:xfrm>
            <a:off x="3747969" y="2961121"/>
            <a:ext cx="14251"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직선 화살표 연결선 77"/>
          <p:cNvCxnSpPr/>
          <p:nvPr/>
        </p:nvCxnSpPr>
        <p:spPr>
          <a:xfrm flipV="1">
            <a:off x="3621384" y="4176696"/>
            <a:ext cx="466522" cy="795264"/>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4942322" y="3677956"/>
            <a:ext cx="466522"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flipV="1">
            <a:off x="5252976" y="1694329"/>
            <a:ext cx="155064" cy="18580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1" name="직선 화살표 연결선 80"/>
          <p:cNvCxnSpPr/>
          <p:nvPr/>
        </p:nvCxnSpPr>
        <p:spPr>
          <a:xfrm>
            <a:off x="5875515" y="1360487"/>
            <a:ext cx="0" cy="45846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p:nvPr/>
        </p:nvCxnSpPr>
        <p:spPr>
          <a:xfrm flipV="1">
            <a:off x="5862737" y="5542516"/>
            <a:ext cx="594173" cy="76647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6369078" y="3154206"/>
            <a:ext cx="0" cy="203868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직선 화살표 연결선 84"/>
          <p:cNvCxnSpPr/>
          <p:nvPr/>
        </p:nvCxnSpPr>
        <p:spPr>
          <a:xfrm>
            <a:off x="6820785" y="2752256"/>
            <a:ext cx="525791" cy="7113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직선 화살표 연결선 90"/>
          <p:cNvCxnSpPr/>
          <p:nvPr/>
        </p:nvCxnSpPr>
        <p:spPr>
          <a:xfrm flipV="1">
            <a:off x="8045823" y="2812765"/>
            <a:ext cx="491695" cy="65085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5" name="직선 화살표 연결선 94"/>
          <p:cNvCxnSpPr/>
          <p:nvPr/>
        </p:nvCxnSpPr>
        <p:spPr>
          <a:xfrm>
            <a:off x="8991721" y="2961121"/>
            <a:ext cx="0" cy="14605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1" name="직선 화살표 연결선 100"/>
          <p:cNvCxnSpPr/>
          <p:nvPr/>
        </p:nvCxnSpPr>
        <p:spPr>
          <a:xfrm>
            <a:off x="8908543" y="4733620"/>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5" name="직선 화살표 연결선 104"/>
          <p:cNvCxnSpPr/>
          <p:nvPr/>
        </p:nvCxnSpPr>
        <p:spPr>
          <a:xfrm>
            <a:off x="9519835" y="4971960"/>
            <a:ext cx="53106" cy="95379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6" name="직선 화살표 연결선 105"/>
          <p:cNvCxnSpPr/>
          <p:nvPr/>
        </p:nvCxnSpPr>
        <p:spPr>
          <a:xfrm flipH="1" flipV="1">
            <a:off x="9943966" y="3955766"/>
            <a:ext cx="151174" cy="203049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3" name="직선 화살표 연결선 112"/>
          <p:cNvCxnSpPr/>
          <p:nvPr/>
        </p:nvCxnSpPr>
        <p:spPr>
          <a:xfrm>
            <a:off x="10019553" y="3652787"/>
            <a:ext cx="664398"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2" name="그룹 1"/>
          <p:cNvGrpSpPr/>
          <p:nvPr/>
        </p:nvGrpSpPr>
        <p:grpSpPr>
          <a:xfrm>
            <a:off x="10374267" y="802896"/>
            <a:ext cx="1943240" cy="369332"/>
            <a:chOff x="10374267" y="802896"/>
            <a:chExt cx="1943240" cy="369332"/>
          </a:xfrm>
        </p:grpSpPr>
        <p:cxnSp>
          <p:nvCxnSpPr>
            <p:cNvPr id="114" name="직선 화살표 연결선 113"/>
            <p:cNvCxnSpPr/>
            <p:nvPr/>
          </p:nvCxnSpPr>
          <p:spPr>
            <a:xfrm>
              <a:off x="10374267" y="1000346"/>
              <a:ext cx="387986" cy="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10762253" y="802896"/>
              <a:ext cx="1555254" cy="369332"/>
            </a:xfrm>
            <a:prstGeom prst="rect">
              <a:avLst/>
            </a:prstGeom>
            <a:noFill/>
          </p:spPr>
          <p:txBody>
            <a:bodyPr wrap="square" rtlCol="0">
              <a:spAutoFit/>
            </a:bodyPr>
            <a:lstStyle/>
            <a:p>
              <a:r>
                <a:rPr lang="en-US" altLang="ko-KR" dirty="0" smtClean="0"/>
                <a:t>: </a:t>
              </a:r>
              <a:r>
                <a:rPr lang="ko-KR" altLang="en-US" dirty="0" smtClean="0"/>
                <a:t>예상 경로</a:t>
              </a:r>
              <a:endParaRPr lang="ko-KR" altLang="en-US" dirty="0"/>
            </a:p>
          </p:txBody>
        </p:sp>
      </p:grpSp>
      <p:sp>
        <p:nvSpPr>
          <p:cNvPr id="96" name="TextBox 95"/>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08" name="TextBox 107"/>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2" name="TextBox 111"/>
          <p:cNvSpPr txBox="1"/>
          <p:nvPr/>
        </p:nvSpPr>
        <p:spPr>
          <a:xfrm>
            <a:off x="244289" y="1054134"/>
            <a:ext cx="1824307" cy="461665"/>
          </a:xfrm>
          <a:prstGeom prst="rect">
            <a:avLst/>
          </a:prstGeom>
          <a:noFill/>
        </p:spPr>
        <p:txBody>
          <a:bodyPr wrap="square" rtlCol="0">
            <a:spAutoFit/>
          </a:bodyPr>
          <a:lstStyle/>
          <a:p>
            <a:pPr algn="ct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전체 지도</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0101557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15</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ln>
                  <a:solidFill>
                    <a:srgbClr val="C00000"/>
                  </a:solidFill>
                </a:ln>
                <a:solidFill>
                  <a:sysClr val="windowText" lastClr="000000"/>
                </a:solidFill>
              </a:rPr>
              <a:t>정예</a:t>
            </a:r>
            <a:endParaRPr lang="en-US" altLang="ko-KR" dirty="0" smtClean="0">
              <a:ln>
                <a:solidFill>
                  <a:srgbClr val="C00000"/>
                </a:solidFill>
              </a:ln>
              <a:solidFill>
                <a:sysClr val="windowText" lastClr="000000"/>
              </a:solidFill>
            </a:endParaRPr>
          </a:p>
          <a:p>
            <a:pPr algn="ctr"/>
            <a:r>
              <a:rPr lang="ko-KR" altLang="en-US" dirty="0" err="1" smtClean="0">
                <a:ln>
                  <a:solidFill>
                    <a:srgbClr val="C00000"/>
                  </a:solidFill>
                </a:ln>
                <a:solidFill>
                  <a:sysClr val="windowText" lastClr="000000"/>
                </a:solidFill>
              </a:rPr>
              <a:t>몬스터</a:t>
            </a:r>
            <a:endParaRPr lang="en-US" altLang="ko-KR" dirty="0" smtClean="0">
              <a:ln>
                <a:solidFill>
                  <a:srgbClr val="C00000"/>
                </a:solidFill>
              </a:ln>
              <a:solidFill>
                <a:sysClr val="windowText" lastClr="000000"/>
              </a:solidFill>
            </a:endParaRPr>
          </a:p>
          <a:p>
            <a:pPr algn="ctr"/>
            <a:endParaRPr lang="ko-KR" altLang="en-US" dirty="0">
              <a:ln>
                <a:solidFill>
                  <a:srgbClr val="C00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5" name="이등변 삼각형 104"/>
          <p:cNvSpPr/>
          <p:nvPr/>
        </p:nvSpPr>
        <p:spPr>
          <a:xfrm>
            <a:off x="10177670" y="213359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8" name="이등변 삼각형 107"/>
          <p:cNvSpPr/>
          <p:nvPr/>
        </p:nvSpPr>
        <p:spPr>
          <a:xfrm>
            <a:off x="10177670" y="3432308"/>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403070" y="5176986"/>
            <a:ext cx="3385860"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일반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5233122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16</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27" name="이등변 삼각형 26"/>
          <p:cNvSpPr/>
          <p:nvPr/>
        </p:nvSpPr>
        <p:spPr>
          <a:xfrm>
            <a:off x="8322364" y="1563755"/>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96" name="이등변 삼각형 95"/>
          <p:cNvSpPr/>
          <p:nvPr/>
        </p:nvSpPr>
        <p:spPr>
          <a:xfrm>
            <a:off x="8322364" y="283595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01" name="이등변 삼각형 100"/>
          <p:cNvSpPr/>
          <p:nvPr/>
        </p:nvSpPr>
        <p:spPr>
          <a:xfrm>
            <a:off x="8322364" y="4147924"/>
            <a:ext cx="1855306" cy="106017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smtClean="0">
                <a:ln>
                  <a:solidFill>
                    <a:srgbClr val="FFC000"/>
                  </a:solidFill>
                </a:ln>
                <a:solidFill>
                  <a:sysClr val="windowText" lastClr="000000"/>
                </a:solidFill>
              </a:rPr>
              <a:t>몬스터</a:t>
            </a:r>
            <a:endParaRPr lang="en-US" altLang="ko-KR" dirty="0" smtClean="0">
              <a:ln>
                <a:solidFill>
                  <a:srgbClr val="FFC000"/>
                </a:solidFill>
              </a:ln>
              <a:solidFill>
                <a:sysClr val="windowText" lastClr="000000"/>
              </a:solidFill>
            </a:endParaRPr>
          </a:p>
          <a:p>
            <a:pPr algn="ctr"/>
            <a:endParaRPr lang="ko-KR" altLang="en-US" dirty="0">
              <a:ln>
                <a:solidFill>
                  <a:srgbClr val="FFC000"/>
                </a:solidFill>
              </a:ln>
              <a:solidFill>
                <a:sysClr val="windowText" lastClr="000000"/>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a:t>
            </a:r>
            <a:r>
              <a:rPr lang="en-US" altLang="ko-KR"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vs</a:t>
            </a:r>
            <a:r>
              <a:rPr lang="en-US" altLang="ko-KR"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보스 </a:t>
            </a:r>
            <a:r>
              <a:rPr lang="ko-KR" altLang="en-US" sz="2400"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에어리</a:t>
            </a:r>
            <a:r>
              <a:rPr lang="ko-KR" altLang="en-US" sz="2400"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어</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포인트가 5개인 별 1"/>
          <p:cNvSpPr/>
          <p:nvPr/>
        </p:nvSpPr>
        <p:spPr>
          <a:xfrm>
            <a:off x="10177670" y="2650422"/>
            <a:ext cx="1868557" cy="1431235"/>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dirty="0" smtClean="0">
                <a:ln>
                  <a:solidFill>
                    <a:srgbClr val="FF0000"/>
                  </a:solidFill>
                </a:ln>
                <a:solidFill>
                  <a:sysClr val="windowText" lastClr="000000"/>
                </a:solidFill>
              </a:rPr>
              <a:t>보스</a:t>
            </a:r>
            <a:endParaRPr lang="en-US" altLang="ko-KR" sz="2000" dirty="0" smtClean="0">
              <a:ln>
                <a:solidFill>
                  <a:srgbClr val="FF0000"/>
                </a:solidFill>
              </a:ln>
              <a:solidFill>
                <a:sysClr val="windowText" lastClr="000000"/>
              </a:solidFill>
            </a:endParaRPr>
          </a:p>
        </p:txBody>
      </p:sp>
    </p:spTree>
    <p:extLst>
      <p:ext uri="{BB962C8B-B14F-4D97-AF65-F5344CB8AC3E}">
        <p14:creationId xmlns:p14="http://schemas.microsoft.com/office/powerpoint/2010/main" val="18237103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17</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cxnSp>
        <p:nvCxnSpPr>
          <p:cNvPr id="6" name="직선 연결선 5"/>
          <p:cNvCxnSpPr/>
          <p:nvPr/>
        </p:nvCxnSpPr>
        <p:spPr>
          <a:xfrm flipV="1">
            <a:off x="0" y="1299887"/>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직선 연결선 84"/>
          <p:cNvCxnSpPr/>
          <p:nvPr/>
        </p:nvCxnSpPr>
        <p:spPr>
          <a:xfrm flipV="1">
            <a:off x="0" y="5852009"/>
            <a:ext cx="12192000" cy="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타원 24"/>
          <p:cNvSpPr/>
          <p:nvPr/>
        </p:nvSpPr>
        <p:spPr>
          <a:xfrm>
            <a:off x="2285053" y="1563755"/>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smtClean="0">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91" name="타원 90"/>
          <p:cNvSpPr/>
          <p:nvPr/>
        </p:nvSpPr>
        <p:spPr>
          <a:xfrm>
            <a:off x="2285053" y="2968486"/>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b="1" dirty="0">
              <a:ln>
                <a:solidFill>
                  <a:srgbClr val="002060"/>
                </a:solidFill>
              </a:ln>
              <a:solidFill>
                <a:schemeClr val="tx1"/>
              </a:solidFill>
            </a:endParaRPr>
          </a:p>
        </p:txBody>
      </p:sp>
      <p:sp>
        <p:nvSpPr>
          <p:cNvPr id="95" name="타원 94"/>
          <p:cNvSpPr/>
          <p:nvPr/>
        </p:nvSpPr>
        <p:spPr>
          <a:xfrm>
            <a:off x="2285053" y="4439477"/>
            <a:ext cx="1173763" cy="1179443"/>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ln>
                  <a:solidFill>
                    <a:srgbClr val="002060"/>
                  </a:solidFill>
                </a:ln>
                <a:solidFill>
                  <a:schemeClr val="tx1"/>
                </a:solidFill>
              </a:rPr>
              <a:t>몬스터</a:t>
            </a:r>
            <a:endParaRPr lang="ko-KR" altLang="en-US" sz="1600" dirty="0">
              <a:ln>
                <a:solidFill>
                  <a:srgbClr val="002060"/>
                </a:solidFill>
              </a:ln>
              <a:solidFill>
                <a:schemeClr val="tx1"/>
              </a:solidFill>
            </a:endParaRPr>
          </a:p>
        </p:txBody>
      </p:sp>
      <p:sp>
        <p:nvSpPr>
          <p:cNvPr id="26" name="직사각형 25"/>
          <p:cNvSpPr/>
          <p:nvPr/>
        </p:nvSpPr>
        <p:spPr>
          <a:xfrm>
            <a:off x="742122" y="2968485"/>
            <a:ext cx="1173763" cy="117944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ln>
                  <a:solidFill>
                    <a:srgbClr val="0BC10F"/>
                  </a:solidFill>
                </a:ln>
                <a:solidFill>
                  <a:schemeClr val="tx1"/>
                </a:solidFill>
              </a:rPr>
              <a:t>캐릭터</a:t>
            </a:r>
            <a:endParaRPr lang="ko-KR" altLang="en-US" sz="2400" dirty="0">
              <a:ln>
                <a:solidFill>
                  <a:srgbClr val="0BC10F"/>
                </a:solidFill>
              </a:ln>
              <a:solidFill>
                <a:schemeClr val="tx1"/>
              </a:solidFill>
            </a:endParaRPr>
          </a:p>
        </p:txBody>
      </p:sp>
      <p:sp>
        <p:nvSpPr>
          <p:cNvPr id="112" name="TextBox 111"/>
          <p:cNvSpPr txBox="1"/>
          <p:nvPr/>
        </p:nvSpPr>
        <p:spPr>
          <a:xfrm>
            <a:off x="4297052" y="5172667"/>
            <a:ext cx="3597896" cy="461665"/>
          </a:xfrm>
          <a:prstGeom prst="rect">
            <a:avLst/>
          </a:prstGeom>
          <a:noFill/>
        </p:spPr>
        <p:txBody>
          <a:bodyPr wrap="square" rtlCol="0">
            <a:spAutoFit/>
          </a:bodyPr>
          <a:lstStyle/>
          <a:p>
            <a:pPr algn="ctr"/>
            <a:r>
              <a:rPr lang="ko-KR" altLang="en-US" sz="24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특수 이벤트</a:t>
            </a:r>
            <a:endParaRPr lang="ko-KR" altLang="en-US" sz="24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정오각형 4"/>
          <p:cNvSpPr/>
          <p:nvPr/>
        </p:nvSpPr>
        <p:spPr>
          <a:xfrm>
            <a:off x="9568069" y="2822711"/>
            <a:ext cx="1736035" cy="1470992"/>
          </a:xfrm>
          <a:prstGeom prst="pentagon">
            <a:avLst/>
          </a:prstGeom>
          <a:solidFill>
            <a:schemeClr val="accent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rgbClr val="FFFF00"/>
                </a:solidFill>
              </a:rPr>
              <a:t>보물상자</a:t>
            </a:r>
            <a:endParaRPr lang="ko-KR" altLang="en-US" sz="2400" dirty="0">
              <a:solidFill>
                <a:srgbClr val="FFFF00"/>
              </a:solidFill>
            </a:endParaRPr>
          </a:p>
        </p:txBody>
      </p:sp>
    </p:spTree>
    <p:extLst>
      <p:ext uri="{BB962C8B-B14F-4D97-AF65-F5344CB8AC3E}">
        <p14:creationId xmlns:p14="http://schemas.microsoft.com/office/powerpoint/2010/main" val="40981620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374990" y="469359"/>
            <a:ext cx="30876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던전과 레벨</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 name="슬라이드 번호 개체 틀 2"/>
          <p:cNvSpPr>
            <a:spLocks noGrp="1"/>
          </p:cNvSpPr>
          <p:nvPr>
            <p:ph type="sldNum" sz="quarter" idx="12"/>
          </p:nvPr>
        </p:nvSpPr>
        <p:spPr/>
        <p:txBody>
          <a:bodyPr/>
          <a:lstStyle/>
          <a:p>
            <a:fld id="{95F8FB6C-4300-4EF3-AEA9-23A98D8A74E1}" type="slidenum">
              <a:rPr lang="ko-KR" altLang="en-US" sz="1800" smtClean="0"/>
              <a:t>18</a:t>
            </a:fld>
            <a:endParaRPr lang="ko-KR" altLang="en-US" sz="1800" dirty="0"/>
          </a:p>
        </p:txBody>
      </p:sp>
      <p:sp>
        <p:nvSpPr>
          <p:cNvPr id="71" name="TextBox 70"/>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타원 6"/>
          <p:cNvSpPr/>
          <p:nvPr/>
        </p:nvSpPr>
        <p:spPr>
          <a:xfrm>
            <a:off x="5499652" y="1378226"/>
            <a:ext cx="1192696" cy="1152939"/>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400" dirty="0" smtClean="0">
                <a:solidFill>
                  <a:schemeClr val="tx1"/>
                </a:solidFill>
              </a:rPr>
              <a:t>상인</a:t>
            </a:r>
            <a:endParaRPr lang="ko-KR" altLang="en-US" sz="2400" dirty="0">
              <a:solidFill>
                <a:schemeClr val="tx1"/>
              </a:solidFill>
            </a:endParaRPr>
          </a:p>
        </p:txBody>
      </p:sp>
      <p:grpSp>
        <p:nvGrpSpPr>
          <p:cNvPr id="17" name="그룹 16"/>
          <p:cNvGrpSpPr/>
          <p:nvPr/>
        </p:nvGrpSpPr>
        <p:grpSpPr>
          <a:xfrm>
            <a:off x="1179567" y="1160151"/>
            <a:ext cx="9478462" cy="4737066"/>
            <a:chOff x="1258956" y="1160151"/>
            <a:chExt cx="9478462" cy="4737066"/>
          </a:xfrm>
        </p:grpSpPr>
        <p:cxnSp>
          <p:nvCxnSpPr>
            <p:cNvPr id="15" name="직선 연결선 14"/>
            <p:cNvCxnSpPr/>
            <p:nvPr/>
          </p:nvCxnSpPr>
          <p:spPr>
            <a:xfrm>
              <a:off x="1258956"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p:cNvCxnSpPr/>
            <p:nvPr/>
          </p:nvCxnSpPr>
          <p:spPr>
            <a:xfrm>
              <a:off x="10737418" y="1160151"/>
              <a:ext cx="0" cy="47370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flipH="1">
              <a:off x="1258956" y="5897217"/>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H="1">
              <a:off x="1258956" y="1160151"/>
              <a:ext cx="94784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타원 31"/>
          <p:cNvSpPr/>
          <p:nvPr/>
        </p:nvSpPr>
        <p:spPr>
          <a:xfrm>
            <a:off x="7583795" y="5027382"/>
            <a:ext cx="764839" cy="711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3" name="직사각형 32"/>
          <p:cNvSpPr/>
          <p:nvPr/>
        </p:nvSpPr>
        <p:spPr>
          <a:xfrm>
            <a:off x="2219549" y="4947033"/>
            <a:ext cx="671128" cy="6357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34" name="이등변 삼각형 33"/>
          <p:cNvSpPr/>
          <p:nvPr/>
        </p:nvSpPr>
        <p:spPr>
          <a:xfrm>
            <a:off x="4989442" y="4983653"/>
            <a:ext cx="1020419" cy="65599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아이템</a:t>
            </a:r>
          </a:p>
        </p:txBody>
      </p:sp>
      <p:sp>
        <p:nvSpPr>
          <p:cNvPr id="35" name="포인트가 5개인 별 34"/>
          <p:cNvSpPr/>
          <p:nvPr/>
        </p:nvSpPr>
        <p:spPr>
          <a:xfrm>
            <a:off x="3286849" y="3939810"/>
            <a:ext cx="1251047" cy="1043843"/>
          </a:xfrm>
          <a:prstGeom prst="star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8" name="십자형 17"/>
          <p:cNvSpPr/>
          <p:nvPr/>
        </p:nvSpPr>
        <p:spPr>
          <a:xfrm>
            <a:off x="8702349" y="4162211"/>
            <a:ext cx="715618" cy="655996"/>
          </a:xfrm>
          <a:prstGeom prst="plus">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아이템</a:t>
            </a:r>
          </a:p>
        </p:txBody>
      </p:sp>
      <p:sp>
        <p:nvSpPr>
          <p:cNvPr id="19" name="순서도: 판단 18"/>
          <p:cNvSpPr/>
          <p:nvPr/>
        </p:nvSpPr>
        <p:spPr>
          <a:xfrm>
            <a:off x="6098710" y="4162211"/>
            <a:ext cx="969301" cy="784822"/>
          </a:xfrm>
          <a:prstGeom prst="flowChartDecision">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smtClean="0">
                <a:solidFill>
                  <a:schemeClr val="tx1"/>
                </a:solidFill>
              </a:rPr>
              <a:t>아이템</a:t>
            </a:r>
            <a:endParaRPr lang="ko-KR" altLang="en-US" sz="1400" dirty="0">
              <a:solidFill>
                <a:schemeClr val="tx1"/>
              </a:solidFill>
            </a:endParaRPr>
          </a:p>
        </p:txBody>
      </p:sp>
      <p:cxnSp>
        <p:nvCxnSpPr>
          <p:cNvPr id="23" name="구부러진 연결선 22"/>
          <p:cNvCxnSpPr>
            <a:stCxn id="7" idx="2"/>
          </p:cNvCxnSpPr>
          <p:nvPr/>
        </p:nvCxnSpPr>
        <p:spPr>
          <a:xfrm rot="10800000" flipV="1">
            <a:off x="4678018" y="1954695"/>
            <a:ext cx="821635" cy="914399"/>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구부러진 연결선 42"/>
          <p:cNvCxnSpPr>
            <a:endCxn id="7" idx="6"/>
          </p:cNvCxnSpPr>
          <p:nvPr/>
        </p:nvCxnSpPr>
        <p:spPr>
          <a:xfrm rot="16200000" flipV="1">
            <a:off x="6610812" y="2036233"/>
            <a:ext cx="914399" cy="751326"/>
          </a:xfrm>
          <a:prstGeom prst="curved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타원 43"/>
          <p:cNvSpPr/>
          <p:nvPr/>
        </p:nvSpPr>
        <p:spPr>
          <a:xfrm>
            <a:off x="4537896" y="2869095"/>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52" name="타원 51"/>
          <p:cNvSpPr/>
          <p:nvPr/>
        </p:nvSpPr>
        <p:spPr>
          <a:xfrm>
            <a:off x="7303552" y="2869096"/>
            <a:ext cx="280243" cy="271670"/>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36086910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63300401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디엘</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화염</a:t>
                      </a:r>
                      <a:endParaRPr lang="ko-KR" altLang="en-US" dirty="0"/>
                    </a:p>
                  </a:txBody>
                  <a:tcPr anchor="ctr"/>
                </a:tc>
                <a:extLst>
                  <a:ext uri="{0D108BD9-81ED-4DB2-BD59-A6C34878D82A}">
                    <a16:rowId xmlns=""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불굴 </a:t>
                      </a:r>
                      <a:r>
                        <a:rPr lang="en-US" altLang="ko-KR" dirty="0" smtClean="0"/>
                        <a:t>(</a:t>
                      </a:r>
                      <a:r>
                        <a:rPr lang="ko-KR" altLang="en-US" dirty="0" smtClean="0"/>
                        <a:t>캐릭터가 죽음의 위기에 처했을 때</a:t>
                      </a:r>
                      <a:r>
                        <a:rPr lang="en-US" altLang="ko-KR" dirty="0" smtClean="0"/>
                        <a:t>, </a:t>
                      </a:r>
                      <a:r>
                        <a:rPr lang="ko-KR" altLang="en-US" dirty="0" err="1" smtClean="0"/>
                        <a:t>반피로</a:t>
                      </a:r>
                      <a:r>
                        <a:rPr lang="ko-KR" altLang="en-US" dirty="0" smtClean="0"/>
                        <a:t> 회복하고 그 </a:t>
                      </a:r>
                      <a:r>
                        <a:rPr lang="ko-KR" altLang="en-US" dirty="0" err="1" smtClean="0"/>
                        <a:t>턴동안</a:t>
                      </a:r>
                      <a:r>
                        <a:rPr lang="ko-KR" altLang="en-US" dirty="0" smtClean="0"/>
                        <a:t> 무적</a:t>
                      </a:r>
                      <a:r>
                        <a:rPr lang="en-US" altLang="ko-KR"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약점 포착</a:t>
                      </a:r>
                      <a:r>
                        <a:rPr lang="en-US" altLang="ko-KR" dirty="0" smtClean="0"/>
                        <a:t>(</a:t>
                      </a:r>
                      <a:r>
                        <a:rPr lang="ko-KR" altLang="en-US" dirty="0" smtClean="0"/>
                        <a:t>한 적 방 감소</a:t>
                      </a:r>
                      <a:r>
                        <a:rPr lang="en-US" altLang="ko-KR" baseline="0" dirty="0" smtClean="0"/>
                        <a:t> </a:t>
                      </a:r>
                      <a:r>
                        <a:rPr lang="ko-KR" altLang="en-US" baseline="0" dirty="0" smtClean="0"/>
                        <a:t>후 공격</a:t>
                      </a:r>
                      <a:r>
                        <a:rPr lang="en-US" altLang="ko-KR" baseline="0" dirty="0" smtClean="0"/>
                        <a:t>)</a:t>
                      </a:r>
                      <a:r>
                        <a:rPr lang="ko-KR" altLang="en-US" dirty="0" smtClean="0"/>
                        <a:t> </a:t>
                      </a:r>
                      <a:r>
                        <a:rPr lang="en-US" altLang="ko-KR" dirty="0" smtClean="0"/>
                        <a:t>/ </a:t>
                      </a:r>
                      <a:r>
                        <a:rPr lang="ko-KR" altLang="en-US" dirty="0" smtClean="0"/>
                        <a:t>정신 집중</a:t>
                      </a:r>
                      <a:r>
                        <a:rPr lang="en-US" altLang="ko-KR" dirty="0" smtClean="0"/>
                        <a:t>(HP,</a:t>
                      </a:r>
                      <a:r>
                        <a:rPr lang="ko-KR" altLang="en-US" dirty="0" smtClean="0"/>
                        <a:t>공</a:t>
                      </a:r>
                      <a:r>
                        <a:rPr lang="en-US" altLang="ko-KR" dirty="0" smtClean="0"/>
                        <a:t>,</a:t>
                      </a:r>
                      <a:r>
                        <a:rPr lang="ko-KR" altLang="en-US" dirty="0" smtClean="0"/>
                        <a:t>방 상승</a:t>
                      </a:r>
                      <a:r>
                        <a:rPr lang="en-US" altLang="ko-KR" dirty="0" smtClean="0"/>
                        <a:t>)</a:t>
                      </a:r>
                      <a:r>
                        <a:rPr lang="ko-KR" altLang="en-US" dirty="0" smtClean="0"/>
                        <a:t> </a:t>
                      </a:r>
                      <a:r>
                        <a:rPr lang="en-US" altLang="ko-KR" dirty="0" smtClean="0"/>
                        <a:t>/ </a:t>
                      </a:r>
                      <a:r>
                        <a:rPr lang="ko-KR" altLang="en-US" dirty="0" smtClean="0"/>
                        <a:t>분노의 일격</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19</a:t>
            </a:fld>
            <a:endParaRPr lang="ko-KR" altLang="en-US" sz="1800" dirty="0"/>
          </a:p>
        </p:txBody>
      </p:sp>
    </p:spTree>
    <p:extLst>
      <p:ext uri="{BB962C8B-B14F-4D97-AF65-F5344CB8AC3E}">
        <p14:creationId xmlns:p14="http://schemas.microsoft.com/office/powerpoint/2010/main" val="4195693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640662625"/>
              </p:ext>
            </p:extLst>
          </p:nvPr>
        </p:nvGraphicFramePr>
        <p:xfrm>
          <a:off x="280219" y="2180966"/>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세실리아</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공격형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빙결</a:t>
                      </a:r>
                      <a:endParaRPr lang="ko-KR" altLang="en-US" dirty="0"/>
                    </a:p>
                  </a:txBody>
                  <a:tcPr anchor="ctr"/>
                </a:tc>
                <a:extLst>
                  <a:ext uri="{0D108BD9-81ED-4DB2-BD59-A6C34878D82A}">
                    <a16:rowId xmlns="" xmlns:a16="http://schemas.microsoft.com/office/drawing/2014/main" val="158375546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60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 xmlns:a16="http://schemas.microsoft.com/office/drawing/2014/main" val="226719958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133644938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마력 순환 </a:t>
                      </a:r>
                      <a:r>
                        <a:rPr lang="en-US" altLang="ko-KR" dirty="0" smtClean="0"/>
                        <a:t>(</a:t>
                      </a:r>
                      <a:r>
                        <a:rPr lang="ko-KR" altLang="en-US" dirty="0" smtClean="0"/>
                        <a:t>자신의 턴마다 아군</a:t>
                      </a:r>
                      <a:r>
                        <a:rPr lang="ko-KR" altLang="en-US" baseline="0" dirty="0" smtClean="0"/>
                        <a:t> </a:t>
                      </a:r>
                      <a:r>
                        <a:rPr lang="en-US" altLang="ko-KR" baseline="0" dirty="0" smtClean="0"/>
                        <a:t>SP </a:t>
                      </a:r>
                      <a:r>
                        <a:rPr lang="ko-KR" altLang="en-US" baseline="0" dirty="0" smtClean="0"/>
                        <a:t>상승</a:t>
                      </a:r>
                      <a:r>
                        <a:rPr lang="en-US" altLang="ko-KR"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물방울 폭탄</a:t>
                      </a:r>
                      <a:r>
                        <a:rPr lang="en-US" altLang="ko-KR" dirty="0" smtClean="0"/>
                        <a:t>(</a:t>
                      </a:r>
                      <a:r>
                        <a:rPr lang="ko-KR" altLang="en-US" dirty="0" smtClean="0"/>
                        <a:t>한 적 뎀</a:t>
                      </a:r>
                      <a:r>
                        <a:rPr lang="en-US" altLang="ko-KR" baseline="0" dirty="0" smtClean="0"/>
                        <a:t>)</a:t>
                      </a:r>
                      <a:r>
                        <a:rPr lang="ko-KR" altLang="en-US" dirty="0" smtClean="0"/>
                        <a:t> </a:t>
                      </a:r>
                      <a:r>
                        <a:rPr lang="en-US" altLang="ko-KR" dirty="0" smtClean="0"/>
                        <a:t>/ </a:t>
                      </a:r>
                      <a:r>
                        <a:rPr lang="ko-KR" altLang="en-US" dirty="0" err="1" smtClean="0"/>
                        <a:t>칼바람</a:t>
                      </a:r>
                      <a:r>
                        <a:rPr lang="en-US" altLang="ko-KR" dirty="0" smtClean="0"/>
                        <a:t>(</a:t>
                      </a:r>
                      <a:r>
                        <a:rPr lang="ko-KR" altLang="en-US" dirty="0" smtClean="0"/>
                        <a:t>모든 적 뎀</a:t>
                      </a:r>
                      <a:r>
                        <a:rPr lang="en-US" altLang="ko-KR" dirty="0" smtClean="0"/>
                        <a:t>)</a:t>
                      </a:r>
                      <a:r>
                        <a:rPr lang="ko-KR" altLang="en-US" dirty="0" smtClean="0"/>
                        <a:t> </a:t>
                      </a:r>
                      <a:r>
                        <a:rPr lang="en-US" altLang="ko-KR" dirty="0" smtClean="0"/>
                        <a:t>/ </a:t>
                      </a:r>
                      <a:r>
                        <a:rPr lang="ko-KR" altLang="en-US" dirty="0" smtClean="0"/>
                        <a:t>서리 폭풍</a:t>
                      </a:r>
                      <a:r>
                        <a:rPr lang="en-US" altLang="ko-KR" dirty="0" smtClean="0"/>
                        <a:t>(</a:t>
                      </a:r>
                      <a:r>
                        <a:rPr lang="ko-KR" altLang="en-US" dirty="0" smtClean="0"/>
                        <a:t>모든 적 뎀</a:t>
                      </a:r>
                      <a:r>
                        <a:rPr lang="en-US" altLang="ko-KR" dirty="0" smtClean="0"/>
                        <a:t>, </a:t>
                      </a:r>
                      <a:r>
                        <a:rPr lang="ko-KR" altLang="en-US" dirty="0" smtClean="0"/>
                        <a:t>빙결</a:t>
                      </a:r>
                      <a:r>
                        <a:rPr lang="en-US" altLang="ko-KR" dirty="0" smtClean="0"/>
                        <a:t>)</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20</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9627594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967430271"/>
              </p:ext>
            </p:extLst>
          </p:nvPr>
        </p:nvGraphicFramePr>
        <p:xfrm>
          <a:off x="277760" y="218627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프리스톤</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 xmlns:a16="http://schemas.microsoft.com/office/drawing/2014/main" val="587654416"/>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800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200</a:t>
                      </a:r>
                      <a:endParaRPr lang="ko-KR" altLang="en-US" dirty="0"/>
                    </a:p>
                  </a:txBody>
                  <a:tcPr anchor="ctr"/>
                </a:tc>
                <a:extLst>
                  <a:ext uri="{0D108BD9-81ED-4DB2-BD59-A6C34878D82A}">
                    <a16:rowId xmlns="" xmlns:a16="http://schemas.microsoft.com/office/drawing/2014/main" val="318801916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30</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 xmlns:a16="http://schemas.microsoft.com/office/drawing/2014/main" val="853102638"/>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363351160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난공불락 </a:t>
                      </a:r>
                      <a:r>
                        <a:rPr lang="en-US" altLang="ko-KR" dirty="0" smtClean="0"/>
                        <a:t>(</a:t>
                      </a:r>
                      <a:r>
                        <a:rPr lang="ko-KR" altLang="en-US" dirty="0" smtClean="0"/>
                        <a:t>잃은 체력에 비례하여 방어력 상승</a:t>
                      </a:r>
                      <a:r>
                        <a:rPr lang="en-US" altLang="ko-KR"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방패 돌격</a:t>
                      </a:r>
                      <a:r>
                        <a:rPr lang="en-US" altLang="ko-KR" dirty="0" smtClean="0"/>
                        <a:t>(</a:t>
                      </a:r>
                      <a:r>
                        <a:rPr lang="ko-KR" altLang="en-US" dirty="0" smtClean="0"/>
                        <a:t>적</a:t>
                      </a:r>
                      <a:r>
                        <a:rPr lang="en-US" altLang="ko-KR" dirty="0" smtClean="0"/>
                        <a:t>1</a:t>
                      </a:r>
                      <a:r>
                        <a:rPr lang="ko-KR" altLang="en-US" dirty="0" smtClean="0"/>
                        <a:t> </a:t>
                      </a:r>
                      <a:r>
                        <a:rPr lang="ko-KR" altLang="en-US" dirty="0" err="1" smtClean="0"/>
                        <a:t>방비례뎀</a:t>
                      </a:r>
                      <a:r>
                        <a:rPr lang="en-US" altLang="ko-KR" dirty="0" smtClean="0"/>
                        <a:t>)</a:t>
                      </a:r>
                      <a:r>
                        <a:rPr lang="ko-KR" altLang="en-US" dirty="0" smtClean="0"/>
                        <a:t> </a:t>
                      </a:r>
                      <a:r>
                        <a:rPr lang="en-US" altLang="ko-KR" dirty="0" smtClean="0"/>
                        <a:t>/ </a:t>
                      </a:r>
                      <a:r>
                        <a:rPr lang="ko-KR" altLang="en-US" dirty="0" smtClean="0"/>
                        <a:t>용기의 외침</a:t>
                      </a:r>
                      <a:r>
                        <a:rPr lang="en-US" altLang="ko-KR" dirty="0" smtClean="0"/>
                        <a:t>(</a:t>
                      </a:r>
                      <a:r>
                        <a:rPr lang="ko-KR" altLang="en-US" dirty="0" smtClean="0"/>
                        <a:t>체 회복</a:t>
                      </a:r>
                      <a:r>
                        <a:rPr lang="en-US" altLang="ko-KR" dirty="0" smtClean="0"/>
                        <a:t>, </a:t>
                      </a:r>
                      <a:r>
                        <a:rPr lang="ko-KR" altLang="en-US" dirty="0" smtClean="0"/>
                        <a:t>방 상승</a:t>
                      </a:r>
                      <a:r>
                        <a:rPr lang="en-US" altLang="ko-KR" baseline="0" dirty="0" smtClean="0"/>
                        <a:t>)</a:t>
                      </a:r>
                      <a:r>
                        <a:rPr lang="ko-KR" altLang="en-US" dirty="0" smtClean="0"/>
                        <a:t> </a:t>
                      </a:r>
                      <a:r>
                        <a:rPr lang="en-US" altLang="ko-KR" dirty="0" smtClean="0"/>
                        <a:t>/ </a:t>
                      </a:r>
                      <a:r>
                        <a:rPr lang="ko-KR" altLang="en-US" dirty="0" smtClean="0"/>
                        <a:t>수호의 방패</a:t>
                      </a:r>
                      <a:r>
                        <a:rPr lang="en-US" altLang="ko-KR" dirty="0" smtClean="0"/>
                        <a:t>(2</a:t>
                      </a:r>
                      <a:r>
                        <a:rPr lang="ko-KR" altLang="en-US" dirty="0" smtClean="0"/>
                        <a:t>턴 아군 체</a:t>
                      </a:r>
                      <a:r>
                        <a:rPr lang="en-US" altLang="ko-KR" dirty="0" smtClean="0"/>
                        <a:t>, </a:t>
                      </a:r>
                      <a:r>
                        <a:rPr lang="ko-KR" altLang="en-US" dirty="0" smtClean="0"/>
                        <a:t>방 </a:t>
                      </a:r>
                      <a:r>
                        <a:rPr lang="en-US" altLang="ko-KR" dirty="0" smtClean="0"/>
                        <a:t>2</a:t>
                      </a:r>
                      <a:r>
                        <a:rPr lang="ko-KR" altLang="en-US" dirty="0" smtClean="0"/>
                        <a:t>배</a:t>
                      </a:r>
                      <a:r>
                        <a:rPr lang="en-US" altLang="ko-KR" dirty="0" smtClean="0"/>
                        <a:t>, </a:t>
                      </a:r>
                      <a:r>
                        <a:rPr lang="ko-KR" altLang="en-US" dirty="0" err="1" smtClean="0"/>
                        <a:t>자석탱</a:t>
                      </a:r>
                      <a:r>
                        <a:rPr lang="en-US" altLang="ko-KR" dirty="0" smtClean="0"/>
                        <a:t>)</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21</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185035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2403635941"/>
              </p:ext>
            </p:extLst>
          </p:nvPr>
        </p:nvGraphicFramePr>
        <p:xfrm>
          <a:off x="280219" y="2180963"/>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아이리스</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ko-KR" altLang="en-US" baseline="0" dirty="0" smtClean="0"/>
                        <a:t> </a:t>
                      </a:r>
                      <a:r>
                        <a:rPr lang="ko-KR" altLang="en-US" dirty="0" smtClean="0"/>
                        <a:t>중 보조형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빛</a:t>
                      </a:r>
                      <a:endParaRPr lang="ko-KR" altLang="en-US" dirty="0"/>
                    </a:p>
                  </a:txBody>
                  <a:tcPr anchor="ctr"/>
                </a:tc>
                <a:extLst>
                  <a:ext uri="{0D108BD9-81ED-4DB2-BD59-A6C34878D82A}">
                    <a16:rowId xmlns="" xmlns:a16="http://schemas.microsoft.com/office/drawing/2014/main" val="3140618441"/>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 xmlns:a16="http://schemas.microsoft.com/office/drawing/2014/main" val="1120464010"/>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 xmlns:a16="http://schemas.microsoft.com/office/drawing/2014/main" val="142927731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2869796385"/>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정화</a:t>
                      </a:r>
                      <a:r>
                        <a:rPr lang="en-US" altLang="ko-KR" dirty="0" smtClean="0"/>
                        <a:t>(</a:t>
                      </a:r>
                      <a:r>
                        <a:rPr lang="ko-KR" altLang="en-US" dirty="0" smtClean="0"/>
                        <a:t>자신의 턴에 랜덤으로 아군의 상태이상 중 하나를 해제</a:t>
                      </a:r>
                      <a:r>
                        <a:rPr lang="en-US" altLang="ko-KR"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축복</a:t>
                      </a:r>
                      <a:r>
                        <a:rPr lang="en-US" altLang="ko-KR" dirty="0" smtClean="0"/>
                        <a:t>(</a:t>
                      </a:r>
                      <a:r>
                        <a:rPr lang="ko-KR" altLang="en-US" dirty="0" smtClean="0"/>
                        <a:t>아군 방</a:t>
                      </a:r>
                      <a:r>
                        <a:rPr lang="en-US" altLang="ko-KR" dirty="0" smtClean="0"/>
                        <a:t>,</a:t>
                      </a:r>
                      <a:r>
                        <a:rPr lang="ko-KR" altLang="en-US" dirty="0" smtClean="0"/>
                        <a:t>공 상승</a:t>
                      </a:r>
                      <a:r>
                        <a:rPr lang="en-US" altLang="ko-KR" dirty="0" smtClean="0"/>
                        <a:t>)</a:t>
                      </a:r>
                      <a:r>
                        <a:rPr lang="ko-KR" altLang="en-US" dirty="0" smtClean="0"/>
                        <a:t> </a:t>
                      </a:r>
                      <a:r>
                        <a:rPr lang="en-US" altLang="ko-KR" dirty="0" smtClean="0"/>
                        <a:t>/ </a:t>
                      </a:r>
                      <a:r>
                        <a:rPr lang="ko-KR" altLang="en-US" dirty="0" smtClean="0"/>
                        <a:t>치유</a:t>
                      </a:r>
                      <a:r>
                        <a:rPr lang="en-US" altLang="ko-KR" dirty="0" smtClean="0"/>
                        <a:t>(</a:t>
                      </a:r>
                      <a:r>
                        <a:rPr lang="ko-KR" altLang="en-US" dirty="0" smtClean="0"/>
                        <a:t>아군 체 회복</a:t>
                      </a:r>
                      <a:r>
                        <a:rPr lang="en-US" altLang="ko-KR" baseline="0" dirty="0" smtClean="0"/>
                        <a:t>)</a:t>
                      </a:r>
                      <a:r>
                        <a:rPr lang="ko-KR" altLang="en-US" dirty="0" smtClean="0"/>
                        <a:t> </a:t>
                      </a:r>
                      <a:r>
                        <a:rPr lang="en-US" altLang="ko-KR" dirty="0" smtClean="0"/>
                        <a:t>/ </a:t>
                      </a:r>
                      <a:r>
                        <a:rPr lang="ko-KR" altLang="en-US" dirty="0" smtClean="0"/>
                        <a:t>빛의</a:t>
                      </a:r>
                      <a:r>
                        <a:rPr lang="ko-KR" altLang="en-US" baseline="0" dirty="0" smtClean="0"/>
                        <a:t> </a:t>
                      </a:r>
                      <a:r>
                        <a:rPr lang="ko-KR" altLang="en-US" dirty="0" smtClean="0"/>
                        <a:t>찬가</a:t>
                      </a:r>
                      <a:r>
                        <a:rPr lang="en-US" altLang="ko-KR" dirty="0" smtClean="0"/>
                        <a:t>(1</a:t>
                      </a:r>
                      <a:r>
                        <a:rPr lang="ko-KR" altLang="en-US" dirty="0" smtClean="0"/>
                        <a:t>턴 간 아군 상태이상 면역</a:t>
                      </a:r>
                      <a:r>
                        <a:rPr lang="en-US" altLang="ko-KR" dirty="0" smtClean="0"/>
                        <a:t>, </a:t>
                      </a:r>
                      <a:r>
                        <a:rPr lang="ko-KR" altLang="en-US" dirty="0" smtClean="0"/>
                        <a:t>방</a:t>
                      </a:r>
                      <a:r>
                        <a:rPr lang="en-US" altLang="ko-KR" dirty="0" smtClean="0"/>
                        <a:t>,</a:t>
                      </a:r>
                      <a:r>
                        <a:rPr lang="ko-KR" altLang="en-US" dirty="0" smtClean="0"/>
                        <a:t>공 상승</a:t>
                      </a:r>
                      <a:r>
                        <a:rPr lang="en-US" altLang="ko-KR" dirty="0" smtClean="0"/>
                        <a:t>)</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22</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508613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캐릭터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390373945"/>
              </p:ext>
            </p:extLst>
          </p:nvPr>
        </p:nvGraphicFramePr>
        <p:xfrm>
          <a:off x="280219" y="2180967"/>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메리</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a:t>
                      </a:r>
                      <a:r>
                        <a:rPr lang="en-US" altLang="ko-KR" baseline="0" dirty="0" smtClean="0"/>
                        <a:t> </a:t>
                      </a:r>
                      <a:r>
                        <a:rPr lang="ko-KR" altLang="en-US" baseline="0" dirty="0" smtClean="0"/>
                        <a:t>보조</a:t>
                      </a:r>
                      <a:r>
                        <a:rPr lang="ko-KR" altLang="en-US" dirty="0" smtClean="0"/>
                        <a:t>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endParaRPr lang="ko-KR" altLang="en-US" dirty="0"/>
                    </a:p>
                  </a:txBody>
                  <a:tcPr anchor="ctr"/>
                </a:tc>
                <a:extLst>
                  <a:ext uri="{0D108BD9-81ED-4DB2-BD59-A6C34878D82A}">
                    <a16:rowId xmlns="" xmlns:a16="http://schemas.microsoft.com/office/drawing/2014/main" val="202632424"/>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500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300</a:t>
                      </a:r>
                      <a:endParaRPr lang="ko-KR" altLang="en-US" dirty="0"/>
                    </a:p>
                  </a:txBody>
                  <a:tcPr anchor="ctr"/>
                </a:tc>
                <a:extLst>
                  <a:ext uri="{0D108BD9-81ED-4DB2-BD59-A6C34878D82A}">
                    <a16:rowId xmlns="" xmlns:a16="http://schemas.microsoft.com/office/drawing/2014/main" val="3439633105"/>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 xmlns:a16="http://schemas.microsoft.com/office/drawing/2014/main" val="1078538427"/>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11225362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인형의 저주</a:t>
                      </a:r>
                      <a:r>
                        <a:rPr lang="en-US" altLang="ko-KR" dirty="0" smtClean="0"/>
                        <a:t>(</a:t>
                      </a:r>
                      <a:r>
                        <a:rPr lang="ko-KR" altLang="en-US" dirty="0" err="1" smtClean="0"/>
                        <a:t>랜덤한</a:t>
                      </a:r>
                      <a:r>
                        <a:rPr lang="ko-KR" altLang="en-US" dirty="0" smtClean="0"/>
                        <a:t> 적 몬스터 </a:t>
                      </a:r>
                      <a:r>
                        <a:rPr lang="en-US" altLang="ko-KR" dirty="0" smtClean="0"/>
                        <a:t>1</a:t>
                      </a:r>
                      <a:r>
                        <a:rPr lang="ko-KR" altLang="en-US" dirty="0" smtClean="0"/>
                        <a:t>체에 </a:t>
                      </a:r>
                      <a:r>
                        <a:rPr lang="ko-KR" altLang="en-US" dirty="0" err="1" smtClean="0"/>
                        <a:t>랜덤한</a:t>
                      </a:r>
                      <a:r>
                        <a:rPr lang="ko-KR" altLang="en-US" dirty="0" smtClean="0"/>
                        <a:t> 상태이상 부여</a:t>
                      </a:r>
                      <a:r>
                        <a:rPr lang="en-US" altLang="ko-KR"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검은 손</a:t>
                      </a:r>
                      <a:r>
                        <a:rPr lang="en-US" altLang="ko-KR" dirty="0" smtClean="0"/>
                        <a:t>(</a:t>
                      </a:r>
                      <a:r>
                        <a:rPr lang="ko-KR" altLang="en-US" dirty="0" smtClean="0"/>
                        <a:t>적 뎀</a:t>
                      </a:r>
                      <a:r>
                        <a:rPr lang="en-US" altLang="ko-KR" dirty="0" smtClean="0"/>
                        <a:t>, </a:t>
                      </a:r>
                      <a:r>
                        <a:rPr lang="ko-KR" altLang="en-US" dirty="0" smtClean="0"/>
                        <a:t>방 감소</a:t>
                      </a:r>
                      <a:r>
                        <a:rPr lang="en-US" altLang="ko-KR" dirty="0" smtClean="0"/>
                        <a:t>)</a:t>
                      </a:r>
                      <a:r>
                        <a:rPr lang="ko-KR" altLang="en-US" dirty="0" smtClean="0"/>
                        <a:t> </a:t>
                      </a:r>
                      <a:r>
                        <a:rPr lang="en-US" altLang="ko-KR" dirty="0" smtClean="0"/>
                        <a:t>/ </a:t>
                      </a:r>
                      <a:r>
                        <a:rPr lang="ko-KR" altLang="en-US" dirty="0" smtClean="0"/>
                        <a:t>유혹의 키스 </a:t>
                      </a:r>
                      <a:r>
                        <a:rPr lang="en-US" altLang="ko-KR" dirty="0" smtClean="0"/>
                        <a:t>(</a:t>
                      </a:r>
                      <a:r>
                        <a:rPr lang="ko-KR" altLang="en-US" dirty="0" smtClean="0"/>
                        <a:t>적 혼란</a:t>
                      </a:r>
                      <a:r>
                        <a:rPr lang="en-US" altLang="ko-KR" baseline="0" dirty="0" smtClean="0"/>
                        <a:t>)</a:t>
                      </a:r>
                      <a:r>
                        <a:rPr lang="ko-KR" altLang="en-US" dirty="0" smtClean="0"/>
                        <a:t> </a:t>
                      </a:r>
                      <a:r>
                        <a:rPr lang="en-US" altLang="ko-KR" dirty="0" smtClean="0"/>
                        <a:t>/ </a:t>
                      </a:r>
                      <a:r>
                        <a:rPr lang="ko-KR" altLang="en-US" dirty="0" err="1" smtClean="0"/>
                        <a:t>판데모니엄</a:t>
                      </a:r>
                      <a:r>
                        <a:rPr lang="en-US" altLang="ko-KR" dirty="0" smtClean="0"/>
                        <a:t>(</a:t>
                      </a:r>
                      <a:r>
                        <a:rPr lang="ko-KR" altLang="en-US" dirty="0" smtClean="0"/>
                        <a:t>적 전체 </a:t>
                      </a:r>
                      <a:r>
                        <a:rPr lang="ko-KR" altLang="en-US" dirty="0" err="1" smtClean="0"/>
                        <a:t>체비뎀</a:t>
                      </a:r>
                      <a:r>
                        <a:rPr lang="en-US" altLang="ko-KR" dirty="0" smtClean="0"/>
                        <a:t>, </a:t>
                      </a:r>
                      <a:r>
                        <a:rPr lang="ko-KR" altLang="en-US" dirty="0" smtClean="0"/>
                        <a:t>기절</a:t>
                      </a:r>
                      <a:r>
                        <a:rPr lang="en-US" altLang="ko-KR" dirty="0" smtClean="0"/>
                        <a:t>)</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23</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2213244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24</a:t>
            </a:fld>
            <a:endParaRPr lang="ko-KR" altLang="en-US" sz="1800" dirty="0"/>
          </a:p>
        </p:txBody>
      </p:sp>
      <p:sp>
        <p:nvSpPr>
          <p:cNvPr id="13" name="TextBox 12"/>
          <p:cNvSpPr txBox="1"/>
          <p:nvPr/>
        </p:nvSpPr>
        <p:spPr>
          <a:xfrm>
            <a:off x="766917" y="1348401"/>
            <a:ext cx="6577313" cy="3831818"/>
          </a:xfrm>
          <a:prstGeom prst="rect">
            <a:avLst/>
          </a:prstGeom>
          <a:noFill/>
        </p:spPr>
        <p:txBody>
          <a:bodyPr wrap="square" rtlCol="0">
            <a:spAutoFit/>
          </a:bodyPr>
          <a:lstStyle/>
          <a:p>
            <a:pPr>
              <a:lnSpc>
                <a:spcPct val="150000"/>
              </a:lnSpc>
            </a:pPr>
            <a:r>
              <a:rPr lang="en-US" altLang="ko-KR" dirty="0"/>
              <a:t>• </a:t>
            </a:r>
            <a:r>
              <a:rPr lang="ko-KR" altLang="en-US" dirty="0" err="1" smtClean="0">
                <a:latin typeface="+mn-ea"/>
              </a:rPr>
              <a:t>몬스터들은</a:t>
            </a:r>
            <a:r>
              <a:rPr lang="ko-KR" altLang="en-US" dirty="0" smtClean="0">
                <a:latin typeface="+mn-ea"/>
              </a:rPr>
              <a:t> 던전 안에 도사리고 있습니다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각기 다른 특성과 능력을 지니고 있습니다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용사가 몬스터를 처치하면</a:t>
            </a:r>
            <a:r>
              <a:rPr lang="en-US" altLang="ko-KR" dirty="0" smtClean="0"/>
              <a:t>, </a:t>
            </a:r>
            <a:r>
              <a:rPr lang="ko-KR" altLang="en-US" dirty="0" smtClean="0"/>
              <a:t>전투 후 용사의 </a:t>
            </a:r>
            <a:r>
              <a:rPr lang="ko-KR" altLang="en-US" dirty="0"/>
              <a:t>것</a:t>
            </a:r>
            <a:r>
              <a:rPr lang="ko-KR" altLang="en-US" dirty="0" smtClean="0"/>
              <a:t>이 됩니다</a:t>
            </a:r>
            <a:r>
              <a:rPr lang="en-US" altLang="ko-KR" dirty="0" smtClean="0"/>
              <a:t>.</a:t>
            </a:r>
          </a:p>
          <a:p>
            <a:pPr>
              <a:lnSpc>
                <a:spcPct val="150000"/>
              </a:lnSpc>
            </a:pPr>
            <a:endParaRPr lang="en-US" altLang="ko-KR" dirty="0">
              <a:latin typeface="+mn-ea"/>
            </a:endParaRPr>
          </a:p>
          <a:p>
            <a:pPr>
              <a:lnSpc>
                <a:spcPct val="150000"/>
              </a:lnSpc>
            </a:pPr>
            <a:r>
              <a:rPr lang="en-US" altLang="ko-KR" dirty="0" smtClean="0"/>
              <a:t>• </a:t>
            </a:r>
            <a:r>
              <a:rPr lang="ko-KR" altLang="en-US" dirty="0" smtClean="0"/>
              <a:t>한번 전투에서 사망하면 재사용할 수 없습니다</a:t>
            </a:r>
            <a:r>
              <a:rPr lang="en-US" altLang="ko-KR" dirty="0" smtClean="0"/>
              <a:t>.</a:t>
            </a:r>
            <a:endParaRPr lang="en-US" altLang="ko-KR" dirty="0">
              <a:latin typeface="+mn-ea"/>
            </a:endParaRPr>
          </a:p>
          <a:p>
            <a:pPr>
              <a:lnSpc>
                <a:spcPct val="150000"/>
              </a:lnSpc>
            </a:pPr>
            <a:endParaRPr lang="en-US" altLang="ko-KR" dirty="0" smtClean="0">
              <a:latin typeface="+mn-ea"/>
            </a:endParaRPr>
          </a:p>
          <a:p>
            <a:pPr>
              <a:lnSpc>
                <a:spcPct val="150000"/>
              </a:lnSpc>
            </a:pPr>
            <a:r>
              <a:rPr lang="en-US" altLang="ko-KR" dirty="0"/>
              <a:t>• 3</a:t>
            </a:r>
            <a:r>
              <a:rPr lang="ko-KR" altLang="en-US" dirty="0" smtClean="0"/>
              <a:t>마리까지 파티를 편성할 수 있다</a:t>
            </a:r>
            <a:r>
              <a:rPr lang="en-US" altLang="ko-KR" dirty="0" smtClean="0"/>
              <a:t>.</a:t>
            </a:r>
            <a:endParaRPr lang="en-US" altLang="ko-KR" dirty="0" smtClean="0">
              <a:latin typeface="+mn-ea"/>
            </a:endParaRPr>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469050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4268948201"/>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리치</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a:t>
                      </a:r>
                      <a:r>
                        <a:rPr lang="en-US" altLang="ko-KR" baseline="0" dirty="0" smtClean="0"/>
                        <a:t> </a:t>
                      </a:r>
                      <a:r>
                        <a:rPr lang="ko-KR" altLang="en-US" dirty="0" smtClean="0"/>
                        <a:t>중 </a:t>
                      </a:r>
                      <a:r>
                        <a:rPr lang="ko-KR" altLang="en-US" dirty="0" err="1" smtClean="0"/>
                        <a:t>공격형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어둠</a:t>
                      </a:r>
                      <a:r>
                        <a:rPr lang="en-US" altLang="ko-KR" dirty="0" smtClean="0"/>
                        <a:t>, </a:t>
                      </a:r>
                      <a:r>
                        <a:rPr lang="ko-KR" altLang="en-US" dirty="0" smtClean="0"/>
                        <a:t>빙결</a:t>
                      </a:r>
                      <a:endParaRPr lang="ko-KR" altLang="en-US" dirty="0"/>
                    </a:p>
                  </a:txBody>
                  <a:tcPr anchor="ctr"/>
                </a:tc>
                <a:extLst>
                  <a:ext uri="{0D108BD9-81ED-4DB2-BD59-A6C34878D82A}">
                    <a16:rowId xmlns=""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350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100</a:t>
                      </a:r>
                      <a:endParaRPr lang="ko-KR" altLang="en-US" dirty="0"/>
                    </a:p>
                  </a:txBody>
                  <a:tcPr anchor="ctr"/>
                </a:tc>
                <a:extLst>
                  <a:ext uri="{0D108BD9-81ED-4DB2-BD59-A6C34878D82A}">
                    <a16:rowId xmlns=""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5</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불사</a:t>
                      </a:r>
                      <a:r>
                        <a:rPr lang="en-US" altLang="ko-KR" baseline="0" dirty="0" smtClean="0"/>
                        <a:t>(</a:t>
                      </a:r>
                      <a:r>
                        <a:rPr lang="ko-KR" altLang="en-US" baseline="0" dirty="0" smtClean="0"/>
                        <a:t>죽음의 위기를 </a:t>
                      </a:r>
                      <a:r>
                        <a:rPr lang="en-US" altLang="ko-KR" baseline="0" dirty="0" smtClean="0"/>
                        <a:t>1</a:t>
                      </a:r>
                      <a:r>
                        <a:rPr lang="ko-KR" altLang="en-US" baseline="0" dirty="0" smtClean="0"/>
                        <a:t>번 모면합니다</a:t>
                      </a:r>
                      <a:r>
                        <a:rPr lang="en-US" altLang="ko-KR" baseline="0"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smtClean="0"/>
                        <a:t>부정한 손길</a:t>
                      </a:r>
                      <a:r>
                        <a:rPr lang="en-US" altLang="ko-KR" dirty="0" smtClean="0"/>
                        <a:t>(</a:t>
                      </a:r>
                      <a:r>
                        <a:rPr lang="ko-KR" altLang="en-US" dirty="0" smtClean="0"/>
                        <a:t>방 감</a:t>
                      </a:r>
                      <a:r>
                        <a:rPr lang="en-US" altLang="ko-KR" dirty="0" smtClean="0"/>
                        <a:t>, </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망자의 손길</a:t>
                      </a:r>
                      <a:r>
                        <a:rPr lang="en-US" altLang="ko-KR" dirty="0" smtClean="0"/>
                        <a:t>(</a:t>
                      </a:r>
                      <a:r>
                        <a:rPr lang="ko-KR" altLang="en-US" dirty="0" smtClean="0"/>
                        <a:t>뎀</a:t>
                      </a:r>
                      <a:r>
                        <a:rPr lang="en-US" altLang="ko-KR" dirty="0" smtClean="0"/>
                        <a:t>)</a:t>
                      </a:r>
                      <a:r>
                        <a:rPr lang="ko-KR" altLang="en-US" dirty="0" smtClean="0"/>
                        <a:t> </a:t>
                      </a:r>
                      <a:r>
                        <a:rPr lang="en-US" altLang="ko-KR" dirty="0" smtClean="0"/>
                        <a:t>/ </a:t>
                      </a:r>
                      <a:r>
                        <a:rPr lang="ko-KR" altLang="en-US" dirty="0" smtClean="0"/>
                        <a:t>서리 폭발</a:t>
                      </a:r>
                      <a:r>
                        <a:rPr lang="en-US" altLang="ko-KR" dirty="0" smtClean="0"/>
                        <a:t>(</a:t>
                      </a:r>
                      <a:r>
                        <a:rPr lang="ko-KR" altLang="en-US" dirty="0" smtClean="0"/>
                        <a:t>한 적 </a:t>
                      </a:r>
                      <a:r>
                        <a:rPr lang="ko-KR" altLang="en-US" dirty="0" err="1" smtClean="0"/>
                        <a:t>빅뎀</a:t>
                      </a:r>
                      <a:r>
                        <a:rPr lang="en-US" altLang="ko-KR" dirty="0" smtClean="0"/>
                        <a:t>, </a:t>
                      </a:r>
                      <a:r>
                        <a:rPr lang="ko-KR" altLang="en-US" dirty="0" smtClean="0"/>
                        <a:t>모든 적 뎀</a:t>
                      </a:r>
                      <a:r>
                        <a:rPr lang="en-US" altLang="ko-KR" dirty="0" smtClean="0"/>
                        <a:t>)</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25</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1469111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1530292396"/>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그리즐리</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a:t>
                      </a:r>
                      <a:r>
                        <a:rPr lang="ko-KR" altLang="en-US" dirty="0" err="1" smtClean="0"/>
                        <a:t>방어형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600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50</a:t>
                      </a:r>
                      <a:endParaRPr lang="ko-KR" altLang="en-US" dirty="0"/>
                    </a:p>
                  </a:txBody>
                  <a:tcPr anchor="ctr"/>
                </a:tc>
                <a:extLst>
                  <a:ext uri="{0D108BD9-81ED-4DB2-BD59-A6C34878D82A}">
                    <a16:rowId xmlns=""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20</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두꺼운 피부</a:t>
                      </a:r>
                      <a:r>
                        <a:rPr lang="en-US" altLang="ko-KR" baseline="0" dirty="0" smtClean="0"/>
                        <a:t>(</a:t>
                      </a:r>
                      <a:r>
                        <a:rPr lang="ko-KR" altLang="en-US" baseline="0" dirty="0" smtClean="0"/>
                        <a:t>받는 </a:t>
                      </a:r>
                      <a:r>
                        <a:rPr lang="ko-KR" altLang="en-US" baseline="0" dirty="0" err="1" smtClean="0"/>
                        <a:t>데미지를</a:t>
                      </a:r>
                      <a:r>
                        <a:rPr lang="ko-KR" altLang="en-US" baseline="0" dirty="0" smtClean="0"/>
                        <a:t> </a:t>
                      </a:r>
                      <a:r>
                        <a:rPr lang="en-US" altLang="ko-KR" baseline="0" dirty="0" smtClean="0"/>
                        <a:t>10% </a:t>
                      </a:r>
                      <a:r>
                        <a:rPr lang="ko-KR" altLang="en-US" baseline="0" dirty="0" smtClean="0"/>
                        <a:t>감소시킵니다</a:t>
                      </a:r>
                      <a:r>
                        <a:rPr lang="en-US" altLang="ko-KR" baseline="0"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ko-KR" altLang="en-US" dirty="0" err="1" smtClean="0"/>
                        <a:t>휘둘러치기</a:t>
                      </a:r>
                      <a:r>
                        <a:rPr lang="en-US" altLang="ko-KR" dirty="0" smtClean="0"/>
                        <a:t>(</a:t>
                      </a:r>
                      <a:r>
                        <a:rPr lang="ko-KR" altLang="en-US" dirty="0" smtClean="0"/>
                        <a:t>뎀</a:t>
                      </a:r>
                      <a:r>
                        <a:rPr lang="en-US" altLang="ko-KR" baseline="0" dirty="0" smtClean="0"/>
                        <a:t>)</a:t>
                      </a:r>
                      <a:r>
                        <a:rPr lang="ko-KR" altLang="en-US" dirty="0" smtClean="0"/>
                        <a:t> </a:t>
                      </a:r>
                      <a:r>
                        <a:rPr lang="en-US" altLang="ko-KR" dirty="0" smtClean="0"/>
                        <a:t>/ </a:t>
                      </a:r>
                      <a:r>
                        <a:rPr lang="ko-KR" altLang="en-US" dirty="0" smtClean="0"/>
                        <a:t>웅크리기</a:t>
                      </a:r>
                      <a:r>
                        <a:rPr lang="en-US" altLang="ko-KR" dirty="0" smtClean="0"/>
                        <a:t>(</a:t>
                      </a:r>
                      <a:r>
                        <a:rPr lang="ko-KR" altLang="en-US" dirty="0" err="1" smtClean="0"/>
                        <a:t>체회복</a:t>
                      </a:r>
                      <a:r>
                        <a:rPr lang="en-US" altLang="ko-KR" dirty="0" smtClean="0"/>
                        <a:t>, </a:t>
                      </a:r>
                      <a:r>
                        <a:rPr lang="ko-KR" altLang="en-US" dirty="0" err="1" smtClean="0"/>
                        <a:t>방상승</a:t>
                      </a:r>
                      <a:r>
                        <a:rPr lang="en-US" altLang="ko-KR" dirty="0" smtClean="0"/>
                        <a:t>)</a:t>
                      </a:r>
                      <a:r>
                        <a:rPr lang="ko-KR" altLang="en-US" dirty="0" smtClean="0"/>
                        <a:t> </a:t>
                      </a:r>
                      <a:r>
                        <a:rPr lang="en-US" altLang="ko-KR" dirty="0" smtClean="0"/>
                        <a:t>/ -</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26</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78575834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몬스터</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762461420"/>
              </p:ext>
            </p:extLst>
          </p:nvPr>
        </p:nvGraphicFramePr>
        <p:xfrm>
          <a:off x="280219" y="2180969"/>
          <a:ext cx="11665975" cy="4023360"/>
        </p:xfrm>
        <a:graphic>
          <a:graphicData uri="http://schemas.openxmlformats.org/drawingml/2006/table">
            <a:tbl>
              <a:tblPr firstRow="1" bandRow="1">
                <a:tableStyleId>{0505E3EF-67EA-436B-97B2-0124C06EBD24}</a:tableStyleId>
              </a:tblPr>
              <a:tblGrid>
                <a:gridCol w="1274970">
                  <a:extLst>
                    <a:ext uri="{9D8B030D-6E8A-4147-A177-3AD203B41FA5}">
                      <a16:colId xmlns="" xmlns:a16="http://schemas.microsoft.com/office/drawing/2014/main" val="3653911966"/>
                    </a:ext>
                  </a:extLst>
                </a:gridCol>
                <a:gridCol w="10391005">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피냐타</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타입</a:t>
                      </a:r>
                      <a:endParaRPr lang="ko-KR" altLang="en-US" b="1" dirty="0"/>
                    </a:p>
                  </a:txBody>
                  <a:tcPr anchor="ctr"/>
                </a:tc>
                <a:tc>
                  <a:txBody>
                    <a:bodyPr/>
                    <a:lstStyle/>
                    <a:p>
                      <a:r>
                        <a:rPr lang="ko-KR" altLang="en-US" dirty="0" err="1" smtClean="0"/>
                        <a:t>공격형</a:t>
                      </a:r>
                      <a:r>
                        <a:rPr lang="en-US" altLang="ko-KR" dirty="0" smtClean="0"/>
                        <a:t>, </a:t>
                      </a:r>
                      <a:r>
                        <a:rPr lang="ko-KR" altLang="en-US" dirty="0" err="1" smtClean="0"/>
                        <a:t>방어형</a:t>
                      </a:r>
                      <a:r>
                        <a:rPr lang="en-US" altLang="ko-KR" dirty="0" smtClean="0"/>
                        <a:t>, </a:t>
                      </a:r>
                      <a:r>
                        <a:rPr lang="ko-KR" altLang="en-US" dirty="0" smtClean="0"/>
                        <a:t>보조형 중 기능형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latinLnBrk="1"/>
                      <a:r>
                        <a:rPr lang="ko-KR" altLang="en-US" b="1" dirty="0" smtClean="0"/>
                        <a:t>속성</a:t>
                      </a:r>
                      <a:endParaRPr lang="ko-KR" altLang="en-US" b="1" dirty="0"/>
                    </a:p>
                  </a:txBody>
                  <a:tcPr anchor="ctr"/>
                </a:tc>
                <a:tc>
                  <a:txBody>
                    <a:bodyPr/>
                    <a:lstStyle/>
                    <a:p>
                      <a:r>
                        <a:rPr lang="ko-KR" altLang="en-US" dirty="0" smtClean="0"/>
                        <a:t>바람</a:t>
                      </a:r>
                      <a:endParaRPr lang="ko-KR" altLang="en-US" dirty="0"/>
                    </a:p>
                  </a:txBody>
                  <a:tcPr anchor="ctr"/>
                </a:tc>
                <a:extLst>
                  <a:ext uri="{0D108BD9-81ED-4DB2-BD59-A6C34878D82A}">
                    <a16:rowId xmlns="" xmlns:a16="http://schemas.microsoft.com/office/drawing/2014/main" val="3168038983"/>
                  </a:ext>
                </a:extLst>
              </a:tr>
              <a:tr h="254923">
                <a:tc>
                  <a:txBody>
                    <a:bodyPr/>
                    <a:lstStyle/>
                    <a:p>
                      <a:pPr algn="ctr"/>
                      <a:r>
                        <a:rPr lang="en-US" altLang="ko-KR" b="1" dirty="0" smtClean="0"/>
                        <a:t>HP</a:t>
                      </a:r>
                      <a:endParaRPr lang="ko-KR" altLang="en-US" b="1" dirty="0"/>
                    </a:p>
                  </a:txBody>
                  <a:tcPr anchor="ctr"/>
                </a:tc>
                <a:tc>
                  <a:txBody>
                    <a:bodyPr/>
                    <a:lstStyle/>
                    <a:p>
                      <a:r>
                        <a:rPr lang="en-US" altLang="ko-KR" dirty="0" smtClean="0"/>
                        <a:t>400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en-US" altLang="ko-KR" b="1" dirty="0" smtClean="0"/>
                        <a:t>SP</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 xmlns:a16="http://schemas.microsoft.com/office/drawing/2014/main" val="2295546011"/>
                  </a:ext>
                </a:extLst>
              </a:tr>
              <a:tr h="254923">
                <a:tc>
                  <a:txBody>
                    <a:bodyPr/>
                    <a:lstStyle/>
                    <a:p>
                      <a:pPr algn="ctr"/>
                      <a:r>
                        <a:rPr lang="ko-KR" altLang="en-US" b="1" dirty="0" smtClean="0"/>
                        <a:t>공격력</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방어력</a:t>
                      </a:r>
                      <a:endParaRPr lang="ko-KR" altLang="en-US" b="1" dirty="0"/>
                    </a:p>
                  </a:txBody>
                  <a:tcPr anchor="ctr"/>
                </a:tc>
                <a:tc>
                  <a:txBody>
                    <a:bodyPr/>
                    <a:lstStyle/>
                    <a:p>
                      <a:r>
                        <a:rPr lang="en-US" altLang="ko-KR" dirty="0" smtClean="0"/>
                        <a:t>0</a:t>
                      </a:r>
                      <a:endParaRPr lang="ko-KR" altLang="en-US" dirty="0"/>
                    </a:p>
                  </a:txBody>
                  <a:tcPr anchor="ctr"/>
                </a:tc>
                <a:extLst>
                  <a:ext uri="{0D108BD9-81ED-4DB2-BD59-A6C34878D82A}">
                    <a16:rowId xmlns="" xmlns:a16="http://schemas.microsoft.com/office/drawing/2014/main" val="602088556"/>
                  </a:ext>
                </a:extLst>
              </a:tr>
              <a:tr h="254923">
                <a:tc>
                  <a:txBody>
                    <a:bodyPr/>
                    <a:lstStyle/>
                    <a:p>
                      <a:pPr algn="ctr"/>
                      <a:r>
                        <a:rPr lang="ko-KR" altLang="en-US" b="1" dirty="0" smtClean="0"/>
                        <a:t>명중</a:t>
                      </a:r>
                      <a:endParaRPr lang="ko-KR" altLang="en-US" b="1" dirty="0"/>
                    </a:p>
                  </a:txBody>
                  <a:tcPr anchor="ctr"/>
                </a:tc>
                <a:tc>
                  <a:txBody>
                    <a:bodyPr/>
                    <a:lstStyle/>
                    <a:p>
                      <a:r>
                        <a:rPr lang="en-US" altLang="ko-KR" dirty="0" smtClean="0"/>
                        <a:t>40</a:t>
                      </a:r>
                      <a:endParaRPr lang="ko-KR" altLang="en-US" dirty="0"/>
                    </a:p>
                  </a:txBody>
                  <a:tcPr anchor="ctr"/>
                </a:tc>
                <a:extLst>
                  <a:ext uri="{0D108BD9-81ED-4DB2-BD59-A6C34878D82A}">
                    <a16:rowId xmlns="" xmlns:a16="http://schemas.microsoft.com/office/drawing/2014/main" val="380313429"/>
                  </a:ext>
                </a:extLst>
              </a:tr>
              <a:tr h="254923">
                <a:tc>
                  <a:txBody>
                    <a:bodyPr/>
                    <a:lstStyle/>
                    <a:p>
                      <a:pPr algn="ctr"/>
                      <a:r>
                        <a:rPr lang="ko-KR" altLang="en-US" b="1" dirty="0" smtClean="0"/>
                        <a:t>회피</a:t>
                      </a:r>
                      <a:endParaRPr lang="ko-KR" altLang="en-US" b="1" dirty="0"/>
                    </a:p>
                  </a:txBody>
                  <a:tcPr anchor="ctr"/>
                </a:tc>
                <a:tc>
                  <a:txBody>
                    <a:bodyPr/>
                    <a:lstStyle/>
                    <a:p>
                      <a:r>
                        <a:rPr lang="en-US" altLang="ko-KR" dirty="0" smtClean="0"/>
                        <a:t>10</a:t>
                      </a:r>
                      <a:endParaRPr lang="ko-KR" altLang="en-US" dirty="0"/>
                    </a:p>
                  </a:txBody>
                  <a:tcPr anchor="ctr"/>
                </a:tc>
                <a:extLst>
                  <a:ext uri="{0D108BD9-81ED-4DB2-BD59-A6C34878D82A}">
                    <a16:rowId xmlns="" xmlns:a16="http://schemas.microsoft.com/office/drawing/2014/main" val="342142082"/>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선물꾸러미 </a:t>
                      </a:r>
                      <a:r>
                        <a:rPr lang="en-US" altLang="ko-KR" baseline="0" dirty="0" smtClean="0"/>
                        <a:t>(</a:t>
                      </a:r>
                      <a:r>
                        <a:rPr lang="ko-KR" altLang="en-US" baseline="0" dirty="0" smtClean="0"/>
                        <a:t>자신이 사망했을 때</a:t>
                      </a:r>
                      <a:r>
                        <a:rPr lang="en-US" altLang="ko-KR" baseline="0" dirty="0" smtClean="0"/>
                        <a:t>, </a:t>
                      </a:r>
                      <a:r>
                        <a:rPr lang="ko-KR" altLang="en-US" baseline="0" dirty="0" smtClean="0"/>
                        <a:t>아군 전체 체력 회복 </a:t>
                      </a:r>
                      <a:r>
                        <a:rPr lang="en-US" altLang="ko-KR" baseline="0" dirty="0" smtClean="0"/>
                        <a:t>+ </a:t>
                      </a:r>
                      <a:r>
                        <a:rPr lang="ko-KR" altLang="en-US" baseline="0" dirty="0" smtClean="0"/>
                        <a:t>방</a:t>
                      </a:r>
                      <a:r>
                        <a:rPr lang="en-US" altLang="ko-KR" baseline="0" dirty="0" smtClean="0"/>
                        <a:t>, </a:t>
                      </a:r>
                      <a:r>
                        <a:rPr lang="ko-KR" altLang="en-US" baseline="0" dirty="0" smtClean="0"/>
                        <a:t>공 상승</a:t>
                      </a:r>
                      <a:r>
                        <a:rPr lang="en-US" altLang="ko-KR" baseline="0" dirty="0" smtClean="0"/>
                        <a:t>)</a:t>
                      </a:r>
                      <a:endParaRPr lang="ko-KR" altLang="en-US" dirty="0"/>
                    </a:p>
                  </a:txBody>
                  <a:tcPr anchor="ctr"/>
                </a:tc>
                <a:extLst>
                  <a:ext uri="{0D108BD9-81ED-4DB2-BD59-A6C34878D82A}">
                    <a16:rowId xmlns="" xmlns:a16="http://schemas.microsoft.com/office/drawing/2014/main" val="1231768350"/>
                  </a:ext>
                </a:extLst>
              </a:tr>
              <a:tr h="254923">
                <a:tc>
                  <a:txBody>
                    <a:bodyPr/>
                    <a:lstStyle/>
                    <a:p>
                      <a:pPr algn="ctr"/>
                      <a:r>
                        <a:rPr lang="ko-KR" altLang="en-US" b="1" dirty="0" smtClean="0"/>
                        <a:t>스킬</a:t>
                      </a:r>
                      <a:endParaRPr lang="ko-KR" altLang="en-US" b="1" dirty="0"/>
                    </a:p>
                  </a:txBody>
                  <a:tcPr anchor="ctr"/>
                </a:tc>
                <a:tc>
                  <a:txBody>
                    <a:bodyPr/>
                    <a:lstStyle/>
                    <a:p>
                      <a:r>
                        <a:rPr lang="en-US" altLang="ko-KR" dirty="0" smtClean="0"/>
                        <a:t>-</a:t>
                      </a:r>
                      <a:r>
                        <a:rPr lang="ko-KR" altLang="en-US" dirty="0" smtClean="0"/>
                        <a:t> </a:t>
                      </a:r>
                      <a:r>
                        <a:rPr lang="en-US" altLang="ko-KR" dirty="0" smtClean="0"/>
                        <a:t>/ -</a:t>
                      </a:r>
                      <a:r>
                        <a:rPr lang="ko-KR" altLang="en-US" dirty="0" smtClean="0"/>
                        <a:t> </a:t>
                      </a:r>
                      <a:r>
                        <a:rPr lang="en-US" altLang="ko-KR" dirty="0" smtClean="0"/>
                        <a:t>/ -</a:t>
                      </a:r>
                      <a:endParaRPr lang="ko-KR" altLang="en-US" dirty="0"/>
                    </a:p>
                  </a:txBody>
                  <a:tcPr anchor="ctr"/>
                </a:tc>
                <a:extLst>
                  <a:ext uri="{0D108BD9-81ED-4DB2-BD59-A6C34878D82A}">
                    <a16:rowId xmlns="" xmlns:a16="http://schemas.microsoft.com/office/drawing/2014/main" val="4015314687"/>
                  </a:ext>
                </a:extLst>
              </a:tr>
            </a:tbl>
          </a:graphicData>
        </a:graphic>
      </p:graphicFrame>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27</a:t>
            </a:fld>
            <a:endParaRPr lang="ko-KR" altLang="en-US" sz="1800" dirty="0"/>
          </a:p>
        </p:txBody>
      </p:sp>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9994723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28</a:t>
            </a:fld>
            <a:endParaRPr lang="ko-KR" altLang="en-US" sz="1800" dirty="0"/>
          </a:p>
        </p:txBody>
      </p:sp>
      <p:sp>
        <p:nvSpPr>
          <p:cNvPr id="8" name="TextBox 7"/>
          <p:cNvSpPr txBox="1"/>
          <p:nvPr/>
        </p:nvSpPr>
        <p:spPr>
          <a:xfrm>
            <a:off x="766917" y="1348401"/>
            <a:ext cx="10058399" cy="3000821"/>
          </a:xfrm>
          <a:prstGeom prst="rect">
            <a:avLst/>
          </a:prstGeom>
          <a:noFill/>
        </p:spPr>
        <p:txBody>
          <a:bodyPr wrap="square" rtlCol="0">
            <a:spAutoFit/>
          </a:bodyPr>
          <a:lstStyle/>
          <a:p>
            <a:pPr>
              <a:lnSpc>
                <a:spcPct val="150000"/>
              </a:lnSpc>
            </a:pPr>
            <a:r>
              <a:rPr lang="en-US" altLang="ko-KR" dirty="0"/>
              <a:t>• </a:t>
            </a:r>
            <a:r>
              <a:rPr lang="ko-KR" altLang="en-US" dirty="0" smtClean="0">
                <a:latin typeface="+mn-ea"/>
              </a:rPr>
              <a:t>용사는 던전을 탐험하면서 다양한 아이템을 얻습니다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아이템은 용사 혹은 몬스터가 장비하거나 사용하여</a:t>
            </a:r>
            <a:r>
              <a:rPr lang="en-US" altLang="ko-KR" dirty="0" smtClean="0"/>
              <a:t>,</a:t>
            </a:r>
          </a:p>
          <a:p>
            <a:pPr>
              <a:lnSpc>
                <a:spcPct val="150000"/>
              </a:lnSpc>
            </a:pPr>
            <a:r>
              <a:rPr lang="ko-KR" altLang="en-US" dirty="0" smtClean="0"/>
              <a:t>  던전을 정복하는 데에 도움을 줍니다</a:t>
            </a:r>
            <a:r>
              <a:rPr lang="en-US" altLang="ko-KR" dirty="0" smtClean="0">
                <a:latin typeface="+mn-ea"/>
              </a:rPr>
              <a:t>.</a:t>
            </a:r>
          </a:p>
          <a:p>
            <a:pPr>
              <a:lnSpc>
                <a:spcPct val="150000"/>
              </a:lnSpc>
            </a:pPr>
            <a:endParaRPr lang="en-US" altLang="ko-KR" dirty="0" smtClean="0">
              <a:latin typeface="+mn-ea"/>
            </a:endParaRPr>
          </a:p>
          <a:p>
            <a:pPr>
              <a:lnSpc>
                <a:spcPct val="150000"/>
              </a:lnSpc>
            </a:pPr>
            <a:r>
              <a:rPr lang="en-US" altLang="ko-KR" dirty="0"/>
              <a:t>• </a:t>
            </a:r>
            <a:r>
              <a:rPr lang="ko-KR" altLang="en-US" dirty="0" smtClean="0"/>
              <a:t>던전 속 지하 상점에서 구입</a:t>
            </a:r>
            <a:r>
              <a:rPr lang="en-US" altLang="ko-KR" dirty="0" smtClean="0"/>
              <a:t>, </a:t>
            </a:r>
            <a:r>
              <a:rPr lang="ko-KR" altLang="en-US" dirty="0" smtClean="0"/>
              <a:t>몬스터의 </a:t>
            </a:r>
            <a:r>
              <a:rPr lang="ko-KR" altLang="en-US" dirty="0" err="1" smtClean="0"/>
              <a:t>드랍</a:t>
            </a:r>
            <a:r>
              <a:rPr lang="ko-KR" altLang="en-US" dirty="0" smtClean="0"/>
              <a:t> 등으로 </a:t>
            </a:r>
            <a:endParaRPr lang="en-US" altLang="ko-KR" dirty="0" smtClean="0"/>
          </a:p>
          <a:p>
            <a:pPr>
              <a:lnSpc>
                <a:spcPct val="150000"/>
              </a:lnSpc>
            </a:pPr>
            <a:r>
              <a:rPr lang="en-US" altLang="ko-KR" dirty="0"/>
              <a:t> </a:t>
            </a:r>
            <a:r>
              <a:rPr lang="en-US" altLang="ko-KR" dirty="0" smtClean="0"/>
              <a:t> </a:t>
            </a:r>
            <a:r>
              <a:rPr lang="ko-KR" altLang="en-US" dirty="0" smtClean="0"/>
              <a:t>획득할 수 있으며</a:t>
            </a:r>
            <a:r>
              <a:rPr lang="en-US" altLang="ko-KR" dirty="0" smtClean="0"/>
              <a:t>,</a:t>
            </a:r>
            <a:r>
              <a:rPr lang="en-US" altLang="ko-KR" dirty="0" smtClean="0">
                <a:latin typeface="+mn-ea"/>
              </a:rPr>
              <a:t> </a:t>
            </a:r>
            <a:r>
              <a:rPr lang="ko-KR" altLang="en-US" dirty="0" smtClean="0">
                <a:latin typeface="+mn-ea"/>
              </a:rPr>
              <a:t>소유자가 사망 시 모두 잃습니다</a:t>
            </a:r>
            <a:r>
              <a:rPr lang="en-US" altLang="ko-KR" dirty="0" smtClean="0">
                <a:latin typeface="+mn-ea"/>
              </a:rPr>
              <a:t>.</a:t>
            </a:r>
          </a:p>
        </p:txBody>
      </p:sp>
      <p:sp>
        <p:nvSpPr>
          <p:cNvPr id="9" name="TextBox 8"/>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1026860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29</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432250167"/>
              </p:ext>
            </p:extLst>
          </p:nvPr>
        </p:nvGraphicFramePr>
        <p:xfrm>
          <a:off x="1076048" y="3538426"/>
          <a:ext cx="10029487" cy="2103120"/>
        </p:xfrm>
        <a:graphic>
          <a:graphicData uri="http://schemas.openxmlformats.org/drawingml/2006/table">
            <a:tbl>
              <a:tblPr firstRow="1" bandRow="1">
                <a:tableStyleId>{0505E3EF-67EA-436B-97B2-0124C06EBD24}</a:tableStyleId>
              </a:tblPr>
              <a:tblGrid>
                <a:gridCol w="1303804">
                  <a:extLst>
                    <a:ext uri="{9D8B030D-6E8A-4147-A177-3AD203B41FA5}">
                      <a16:colId xmlns="" xmlns:a16="http://schemas.microsoft.com/office/drawing/2014/main" val="3653911966"/>
                    </a:ext>
                  </a:extLst>
                </a:gridCol>
                <a:gridCol w="8725683">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할아버지의 낡은 시계</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악세서리</a:t>
                      </a:r>
                      <a:r>
                        <a:rPr lang="en-US" altLang="ko-KR" dirty="0" smtClean="0"/>
                        <a:t>)</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방어력</a:t>
                      </a:r>
                      <a:r>
                        <a:rPr lang="en-US" altLang="ko-KR" dirty="0" smtClean="0"/>
                        <a:t>+5</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전투에서 </a:t>
                      </a:r>
                      <a:r>
                        <a:rPr lang="en-US" altLang="ko-KR" dirty="0" smtClean="0"/>
                        <a:t>1</a:t>
                      </a:r>
                      <a:r>
                        <a:rPr lang="ko-KR" altLang="en-US" dirty="0" smtClean="0"/>
                        <a:t>번</a:t>
                      </a:r>
                      <a:r>
                        <a:rPr lang="en-US" altLang="ko-KR" dirty="0" smtClean="0"/>
                        <a:t>, </a:t>
                      </a:r>
                      <a:r>
                        <a:rPr lang="ko-KR" altLang="en-US" dirty="0" smtClean="0"/>
                        <a:t>몬스터 </a:t>
                      </a:r>
                      <a:r>
                        <a:rPr lang="en-US" altLang="ko-KR" dirty="0" smtClean="0"/>
                        <a:t>1</a:t>
                      </a:r>
                      <a:r>
                        <a:rPr lang="ko-KR" altLang="en-US" dirty="0" smtClean="0"/>
                        <a:t>체를 </a:t>
                      </a:r>
                      <a:r>
                        <a:rPr lang="en-US" altLang="ko-KR" dirty="0" smtClean="0"/>
                        <a:t>1</a:t>
                      </a:r>
                      <a:r>
                        <a:rPr lang="ko-KR" altLang="en-US" dirty="0" smtClean="0"/>
                        <a:t>턴 </a:t>
                      </a:r>
                      <a:r>
                        <a:rPr lang="ko-KR" altLang="en-US" baseline="0" dirty="0" smtClean="0"/>
                        <a:t>동안 상태이상 면역</a:t>
                      </a:r>
                      <a:r>
                        <a:rPr lang="en-US" altLang="ko-KR" baseline="0" dirty="0" smtClean="0"/>
                        <a:t>, </a:t>
                      </a:r>
                      <a:r>
                        <a:rPr lang="ko-KR" altLang="en-US" baseline="0" dirty="0" smtClean="0"/>
                        <a:t>무적이지만 행동 불가 상태로 만듭니다</a:t>
                      </a:r>
                      <a:r>
                        <a:rPr lang="en-US" altLang="ko-KR" baseline="0" dirty="0" smtClean="0"/>
                        <a:t>.</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몬스터 </a:t>
                      </a:r>
                      <a:r>
                        <a:rPr lang="ko-KR" altLang="en-US" dirty="0" err="1" smtClean="0"/>
                        <a:t>드랍</a:t>
                      </a:r>
                      <a:endParaRPr lang="ko-KR" altLang="en-US" dirty="0"/>
                    </a:p>
                  </a:txBody>
                  <a:tcPr anchor="ctr"/>
                </a:tc>
                <a:extLst>
                  <a:ext uri="{0D108BD9-81ED-4DB2-BD59-A6C34878D82A}">
                    <a16:rowId xmlns=""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964557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30</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676330391"/>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 xmlns:a16="http://schemas.microsoft.com/office/drawing/2014/main" val="3653911966"/>
                    </a:ext>
                  </a:extLst>
                </a:gridCol>
                <a:gridCol w="8725683">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smtClean="0"/>
                        <a:t>핏빛 대검</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smtClean="0"/>
                        <a:t>무기</a:t>
                      </a:r>
                      <a:r>
                        <a:rPr lang="en-US" altLang="ko-KR" dirty="0" smtClean="0"/>
                        <a:t>)</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dirty="0" smtClean="0"/>
                        <a:t>공격력</a:t>
                      </a:r>
                      <a:r>
                        <a:rPr lang="en-US" altLang="ko-KR" dirty="0" smtClean="0"/>
                        <a:t>+20,</a:t>
                      </a:r>
                      <a:r>
                        <a:rPr lang="en-US" altLang="ko-KR" baseline="0" dirty="0" smtClean="0"/>
                        <a:t> </a:t>
                      </a:r>
                      <a:r>
                        <a:rPr lang="ko-KR" altLang="en-US" baseline="0" dirty="0" smtClean="0"/>
                        <a:t>회피</a:t>
                      </a:r>
                      <a:r>
                        <a:rPr lang="en-US" altLang="ko-KR" baseline="0" dirty="0" smtClean="0"/>
                        <a:t>-5</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공격 시 일정 확률로 상대방을 상태이상 </a:t>
                      </a:r>
                      <a:r>
                        <a:rPr lang="en-US" altLang="ko-KR" dirty="0" smtClean="0"/>
                        <a:t>: </a:t>
                      </a:r>
                      <a:r>
                        <a:rPr lang="ko-KR" altLang="en-US" dirty="0" smtClean="0"/>
                        <a:t>출혈 상태로 만듭니다</a:t>
                      </a:r>
                      <a:r>
                        <a:rPr lang="en-US" altLang="ko-KR" dirty="0" smtClean="0"/>
                        <a:t>.</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0779991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31</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4438752"/>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 xmlns:a16="http://schemas.microsoft.com/office/drawing/2014/main" val="3653911966"/>
                    </a:ext>
                  </a:extLst>
                </a:gridCol>
                <a:gridCol w="8725683">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ko-KR" altLang="en-US" b="0" dirty="0" err="1" smtClean="0"/>
                        <a:t>가시갑옷</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장비형</a:t>
                      </a:r>
                      <a:r>
                        <a:rPr lang="ko-KR" altLang="en-US" dirty="0" smtClean="0"/>
                        <a:t> </a:t>
                      </a:r>
                      <a:r>
                        <a:rPr lang="en-US" altLang="ko-KR" dirty="0" smtClean="0"/>
                        <a:t>(</a:t>
                      </a:r>
                      <a:r>
                        <a:rPr lang="ko-KR" altLang="en-US" dirty="0" err="1" smtClean="0"/>
                        <a:t>방어구</a:t>
                      </a:r>
                      <a:r>
                        <a:rPr lang="en-US" altLang="ko-KR" dirty="0" smtClean="0"/>
                        <a:t>)</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ko-KR" altLang="en-US" baseline="0" dirty="0" smtClean="0"/>
                        <a:t>방어력 </a:t>
                      </a:r>
                      <a:r>
                        <a:rPr lang="en-US" altLang="ko-KR" baseline="0" dirty="0" smtClean="0"/>
                        <a:t>+ 10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ko-KR" altLang="en-US" dirty="0" smtClean="0"/>
                        <a:t>피격 시 공격자에게 </a:t>
                      </a:r>
                      <a:r>
                        <a:rPr lang="ko-KR" altLang="en-US" dirty="0" err="1" smtClean="0"/>
                        <a:t>데미지의</a:t>
                      </a:r>
                      <a:r>
                        <a:rPr lang="ko-KR" altLang="en-US" dirty="0" smtClean="0"/>
                        <a:t> </a:t>
                      </a:r>
                      <a:r>
                        <a:rPr lang="en-US" altLang="ko-KR" dirty="0" smtClean="0"/>
                        <a:t>30%</a:t>
                      </a:r>
                      <a:r>
                        <a:rPr lang="ko-KR" altLang="en-US" dirty="0" smtClean="0"/>
                        <a:t>를 돌려줍니다</a:t>
                      </a:r>
                      <a:r>
                        <a:rPr lang="en-US" altLang="ko-KR" dirty="0" smtClean="0"/>
                        <a:t>.</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420183990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p:cNvSpPr txBox="1"/>
          <p:nvPr/>
        </p:nvSpPr>
        <p:spPr>
          <a:xfrm>
            <a:off x="4615544" y="517669"/>
            <a:ext cx="2728686"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z="3200" b="1" spc="-300" dirty="0" err="1">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아티팩트</a:t>
            </a:r>
            <a:r>
              <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슬라이드 번호 개체 틀 4"/>
          <p:cNvSpPr>
            <a:spLocks noGrp="1"/>
          </p:cNvSpPr>
          <p:nvPr>
            <p:ph type="sldNum" sz="quarter" idx="12"/>
          </p:nvPr>
        </p:nvSpPr>
        <p:spPr/>
        <p:txBody>
          <a:bodyPr/>
          <a:lstStyle/>
          <a:p>
            <a:fld id="{95F8FB6C-4300-4EF3-AEA9-23A98D8A74E1}" type="slidenum">
              <a:rPr lang="ko-KR" altLang="en-US" sz="1800" smtClean="0"/>
              <a:t>32</a:t>
            </a:fld>
            <a:endParaRPr lang="ko-KR" altLang="en-US" sz="1800" dirty="0"/>
          </a:p>
        </p:txBody>
      </p:sp>
      <p:graphicFrame>
        <p:nvGraphicFramePr>
          <p:cNvPr id="9" name="표 8"/>
          <p:cNvGraphicFramePr>
            <a:graphicFrameLocks noGrp="1"/>
          </p:cNvGraphicFramePr>
          <p:nvPr>
            <p:extLst>
              <p:ext uri="{D42A27DB-BD31-4B8C-83A1-F6EECF244321}">
                <p14:modId xmlns:p14="http://schemas.microsoft.com/office/powerpoint/2010/main" val="3079796133"/>
              </p:ext>
            </p:extLst>
          </p:nvPr>
        </p:nvGraphicFramePr>
        <p:xfrm>
          <a:off x="1076048" y="3538426"/>
          <a:ext cx="10029487" cy="1828800"/>
        </p:xfrm>
        <a:graphic>
          <a:graphicData uri="http://schemas.openxmlformats.org/drawingml/2006/table">
            <a:tbl>
              <a:tblPr firstRow="1" bandRow="1">
                <a:tableStyleId>{0505E3EF-67EA-436B-97B2-0124C06EBD24}</a:tableStyleId>
              </a:tblPr>
              <a:tblGrid>
                <a:gridCol w="1303804">
                  <a:extLst>
                    <a:ext uri="{9D8B030D-6E8A-4147-A177-3AD203B41FA5}">
                      <a16:colId xmlns="" xmlns:a16="http://schemas.microsoft.com/office/drawing/2014/main" val="3653911966"/>
                    </a:ext>
                  </a:extLst>
                </a:gridCol>
                <a:gridCol w="8725683">
                  <a:extLst>
                    <a:ext uri="{9D8B030D-6E8A-4147-A177-3AD203B41FA5}">
                      <a16:colId xmlns="" xmlns:a16="http://schemas.microsoft.com/office/drawing/2014/main" val="1369104973"/>
                    </a:ext>
                  </a:extLst>
                </a:gridCol>
              </a:tblGrid>
              <a:tr h="254923">
                <a:tc>
                  <a:txBody>
                    <a:bodyPr/>
                    <a:lstStyle/>
                    <a:p>
                      <a:pPr algn="ctr" latinLnBrk="1"/>
                      <a:r>
                        <a:rPr lang="ko-KR" altLang="en-US" b="1" dirty="0" smtClean="0"/>
                        <a:t>이름</a:t>
                      </a:r>
                      <a:endParaRPr lang="ko-KR" altLang="en-US" b="1" dirty="0"/>
                    </a:p>
                  </a:txBody>
                  <a:tcPr anchor="ctr"/>
                </a:tc>
                <a:tc>
                  <a:txBody>
                    <a:bodyPr/>
                    <a:lstStyle/>
                    <a:p>
                      <a:pPr algn="ctr" latinLnBrk="1"/>
                      <a:r>
                        <a:rPr lang="en-US" altLang="ko-KR" b="0" dirty="0" smtClean="0"/>
                        <a:t>V</a:t>
                      </a:r>
                      <a:r>
                        <a:rPr lang="ko-KR" altLang="en-US" b="0" dirty="0" smtClean="0"/>
                        <a:t>타 </a:t>
                      </a:r>
                      <a:r>
                        <a:rPr lang="en-US" altLang="ko-KR" b="0" dirty="0" smtClean="0"/>
                        <a:t>500</a:t>
                      </a:r>
                      <a:endParaRPr lang="ko-KR" altLang="en-US" b="0" dirty="0"/>
                    </a:p>
                  </a:txBody>
                  <a:tcPr anchor="ctr"/>
                </a:tc>
                <a:extLst>
                  <a:ext uri="{0D108BD9-81ED-4DB2-BD59-A6C34878D82A}">
                    <a16:rowId xmlns="" xmlns:a16="http://schemas.microsoft.com/office/drawing/2014/main" val="2799860317"/>
                  </a:ext>
                </a:extLst>
              </a:tr>
              <a:tr h="254923">
                <a:tc>
                  <a:txBody>
                    <a:bodyPr/>
                    <a:lstStyle/>
                    <a:p>
                      <a:pPr algn="ctr" latinLnBrk="1"/>
                      <a:r>
                        <a:rPr lang="ko-KR" altLang="en-US" b="1" dirty="0" smtClean="0"/>
                        <a:t>종류</a:t>
                      </a:r>
                      <a:endParaRPr lang="ko-KR" altLang="en-US" b="1" dirty="0"/>
                    </a:p>
                  </a:txBody>
                  <a:tcPr anchor="ctr"/>
                </a:tc>
                <a:tc>
                  <a:txBody>
                    <a:bodyPr/>
                    <a:lstStyle/>
                    <a:p>
                      <a:r>
                        <a:rPr lang="ko-KR" altLang="en-US" dirty="0" err="1" smtClean="0"/>
                        <a:t>소비형</a:t>
                      </a:r>
                      <a:endParaRPr lang="ko-KR" altLang="en-US" dirty="0"/>
                    </a:p>
                  </a:txBody>
                  <a:tcPr anchor="ctr"/>
                </a:tc>
                <a:extLst>
                  <a:ext uri="{0D108BD9-81ED-4DB2-BD59-A6C34878D82A}">
                    <a16:rowId xmlns="" xmlns:a16="http://schemas.microsoft.com/office/drawing/2014/main" val="2137125516"/>
                  </a:ext>
                </a:extLst>
              </a:tr>
              <a:tr h="254923">
                <a:tc>
                  <a:txBody>
                    <a:bodyPr/>
                    <a:lstStyle/>
                    <a:p>
                      <a:pPr algn="ctr"/>
                      <a:r>
                        <a:rPr lang="ko-KR" altLang="en-US" b="1" dirty="0" smtClean="0"/>
                        <a:t>능력</a:t>
                      </a:r>
                      <a:endParaRPr lang="ko-KR" altLang="en-US" b="1" dirty="0"/>
                    </a:p>
                  </a:txBody>
                  <a:tcPr anchor="ctr"/>
                </a:tc>
                <a:tc>
                  <a:txBody>
                    <a:bodyPr/>
                    <a:lstStyle/>
                    <a:p>
                      <a:r>
                        <a:rPr lang="en-US" altLang="ko-KR" dirty="0" smtClean="0"/>
                        <a:t>HP</a:t>
                      </a:r>
                      <a:r>
                        <a:rPr lang="ko-KR" altLang="en-US" dirty="0" smtClean="0"/>
                        <a:t> </a:t>
                      </a:r>
                      <a:r>
                        <a:rPr lang="en-US" altLang="ko-KR" dirty="0" smtClean="0"/>
                        <a:t>+ 50, SP + 50</a:t>
                      </a:r>
                      <a:endParaRPr lang="ko-KR" altLang="en-US" dirty="0"/>
                    </a:p>
                  </a:txBody>
                  <a:tcPr anchor="ctr"/>
                </a:tc>
                <a:extLst>
                  <a:ext uri="{0D108BD9-81ED-4DB2-BD59-A6C34878D82A}">
                    <a16:rowId xmlns="" xmlns:a16="http://schemas.microsoft.com/office/drawing/2014/main" val="776402937"/>
                  </a:ext>
                </a:extLst>
              </a:tr>
              <a:tr h="254923">
                <a:tc>
                  <a:txBody>
                    <a:bodyPr/>
                    <a:lstStyle/>
                    <a:p>
                      <a:pPr algn="ctr"/>
                      <a:r>
                        <a:rPr lang="ko-KR" altLang="en-US" b="1" dirty="0" smtClean="0"/>
                        <a:t>특수</a:t>
                      </a:r>
                      <a:endParaRPr lang="ko-KR" altLang="en-US" b="1" dirty="0"/>
                    </a:p>
                  </a:txBody>
                  <a:tcPr anchor="ctr"/>
                </a:tc>
                <a:tc>
                  <a:txBody>
                    <a:bodyPr/>
                    <a:lstStyle/>
                    <a:p>
                      <a:r>
                        <a:rPr lang="en-US" altLang="ko-KR" dirty="0" smtClean="0"/>
                        <a:t>-</a:t>
                      </a:r>
                      <a:endParaRPr lang="ko-KR" altLang="en-US" dirty="0"/>
                    </a:p>
                  </a:txBody>
                  <a:tcPr anchor="ctr"/>
                </a:tc>
                <a:extLst>
                  <a:ext uri="{0D108BD9-81ED-4DB2-BD59-A6C34878D82A}">
                    <a16:rowId xmlns="" xmlns:a16="http://schemas.microsoft.com/office/drawing/2014/main" val="4001399026"/>
                  </a:ext>
                </a:extLst>
              </a:tr>
              <a:tr h="254923">
                <a:tc>
                  <a:txBody>
                    <a:bodyPr/>
                    <a:lstStyle/>
                    <a:p>
                      <a:pPr algn="ctr"/>
                      <a:r>
                        <a:rPr lang="ko-KR" altLang="en-US" b="1" dirty="0" smtClean="0"/>
                        <a:t>획득 경로</a:t>
                      </a:r>
                      <a:endParaRPr lang="ko-KR" altLang="en-US" b="1" dirty="0"/>
                    </a:p>
                  </a:txBody>
                  <a:tcPr anchor="ctr"/>
                </a:tc>
                <a:tc>
                  <a:txBody>
                    <a:bodyPr/>
                    <a:lstStyle/>
                    <a:p>
                      <a:r>
                        <a:rPr lang="ko-KR" altLang="en-US" dirty="0" smtClean="0"/>
                        <a:t>지하 상점에서 구입</a:t>
                      </a:r>
                      <a:endParaRPr lang="ko-KR" altLang="en-US" dirty="0"/>
                    </a:p>
                  </a:txBody>
                  <a:tcPr anchor="ctr"/>
                </a:tc>
                <a:extLst>
                  <a:ext uri="{0D108BD9-81ED-4DB2-BD59-A6C34878D82A}">
                    <a16:rowId xmlns="" xmlns:a16="http://schemas.microsoft.com/office/drawing/2014/main" val="602088556"/>
                  </a:ext>
                </a:extLst>
              </a:tr>
            </a:tbl>
          </a:graphicData>
        </a:graphic>
      </p:graphicFrame>
      <p:sp>
        <p:nvSpPr>
          <p:cNvPr id="8" name="TextBox 7"/>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1792489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29390" y="765193"/>
            <a:ext cx="2733217"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요소</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graphicFrame>
        <p:nvGraphicFramePr>
          <p:cNvPr id="2" name="표 1"/>
          <p:cNvGraphicFramePr>
            <a:graphicFrameLocks noGrp="1"/>
          </p:cNvGraphicFramePr>
          <p:nvPr>
            <p:extLst>
              <p:ext uri="{D42A27DB-BD31-4B8C-83A1-F6EECF244321}">
                <p14:modId xmlns:p14="http://schemas.microsoft.com/office/powerpoint/2010/main" val="3243357557"/>
              </p:ext>
            </p:extLst>
          </p:nvPr>
        </p:nvGraphicFramePr>
        <p:xfrm>
          <a:off x="1001485" y="1486485"/>
          <a:ext cx="10189028" cy="4793258"/>
        </p:xfrm>
        <a:graphic>
          <a:graphicData uri="http://schemas.openxmlformats.org/drawingml/2006/table">
            <a:tbl>
              <a:tblPr firstRow="1" bandRow="1">
                <a:tableStyleId>{073A0DAA-6AF3-43AB-8588-CEC1D06C72B9}</a:tableStyleId>
              </a:tblPr>
              <a:tblGrid>
                <a:gridCol w="1451429">
                  <a:extLst>
                    <a:ext uri="{9D8B030D-6E8A-4147-A177-3AD203B41FA5}">
                      <a16:colId xmlns="" xmlns:a16="http://schemas.microsoft.com/office/drawing/2014/main" val="3321536260"/>
                    </a:ext>
                  </a:extLst>
                </a:gridCol>
                <a:gridCol w="6285865">
                  <a:extLst>
                    <a:ext uri="{9D8B030D-6E8A-4147-A177-3AD203B41FA5}">
                      <a16:colId xmlns="" xmlns:a16="http://schemas.microsoft.com/office/drawing/2014/main" val="2362139744"/>
                    </a:ext>
                  </a:extLst>
                </a:gridCol>
                <a:gridCol w="2451734">
                  <a:extLst>
                    <a:ext uri="{9D8B030D-6E8A-4147-A177-3AD203B41FA5}">
                      <a16:colId xmlns="" xmlns:a16="http://schemas.microsoft.com/office/drawing/2014/main" val="431622231"/>
                    </a:ext>
                  </a:extLst>
                </a:gridCol>
              </a:tblGrid>
              <a:tr h="564759">
                <a:tc>
                  <a:txBody>
                    <a:bodyPr/>
                    <a:lstStyle/>
                    <a:p>
                      <a:pPr algn="ctr" latinLnBrk="1"/>
                      <a:r>
                        <a:rPr lang="ko-KR" altLang="en-US" dirty="0" smtClean="0"/>
                        <a:t>요소</a:t>
                      </a:r>
                      <a:endParaRPr lang="ko-KR" altLang="en-US" dirty="0"/>
                    </a:p>
                  </a:txBody>
                  <a:tcPr anchor="ctr"/>
                </a:tc>
                <a:tc>
                  <a:txBody>
                    <a:bodyPr/>
                    <a:lstStyle/>
                    <a:p>
                      <a:pPr algn="ctr" latinLnBrk="1"/>
                      <a:r>
                        <a:rPr lang="ko-KR" altLang="en-US" dirty="0" smtClean="0"/>
                        <a:t>설명</a:t>
                      </a:r>
                      <a:endParaRPr lang="ko-KR" altLang="en-US" dirty="0"/>
                    </a:p>
                  </a:txBody>
                  <a:tcPr anchor="ctr"/>
                </a:tc>
                <a:tc>
                  <a:txBody>
                    <a:bodyPr/>
                    <a:lstStyle/>
                    <a:p>
                      <a:pPr algn="ctr" latinLnBrk="1"/>
                      <a:r>
                        <a:rPr lang="ko-KR" altLang="en-US" dirty="0" smtClean="0"/>
                        <a:t>비고</a:t>
                      </a:r>
                      <a:endParaRPr lang="ko-KR" altLang="en-US" dirty="0"/>
                    </a:p>
                  </a:txBody>
                  <a:tcPr anchor="ctr"/>
                </a:tc>
                <a:extLst>
                  <a:ext uri="{0D108BD9-81ED-4DB2-BD59-A6C34878D82A}">
                    <a16:rowId xmlns="" xmlns:a16="http://schemas.microsoft.com/office/drawing/2014/main" val="4217640868"/>
                  </a:ext>
                </a:extLst>
              </a:tr>
              <a:tr h="612670">
                <a:tc>
                  <a:txBody>
                    <a:bodyPr/>
                    <a:lstStyle/>
                    <a:p>
                      <a:pPr algn="ctr" latinLnBrk="1"/>
                      <a:r>
                        <a:rPr lang="ko-KR" altLang="en-US" b="1" dirty="0" smtClean="0"/>
                        <a:t>시간</a:t>
                      </a:r>
                      <a:endParaRPr lang="ko-KR" altLang="en-US" b="1" dirty="0"/>
                    </a:p>
                  </a:txBody>
                  <a:tcPr anchor="ctr"/>
                </a:tc>
                <a:tc>
                  <a:txBody>
                    <a:bodyPr/>
                    <a:lstStyle/>
                    <a:p>
                      <a:pPr algn="l" latinLnBrk="1"/>
                      <a:r>
                        <a:rPr lang="en-US" altLang="ko-KR" sz="1700" dirty="0" smtClean="0"/>
                        <a:t>- </a:t>
                      </a:r>
                      <a:r>
                        <a:rPr lang="ko-KR" altLang="en-US" sz="1700" dirty="0" smtClean="0"/>
                        <a:t>게임은 하루를 기준으로 돌아간다</a:t>
                      </a:r>
                      <a:r>
                        <a:rPr lang="en-US" altLang="ko-KR" sz="1700" dirty="0" smtClean="0"/>
                        <a:t>.</a:t>
                      </a:r>
                      <a:endParaRPr lang="ko-KR" altLang="en-US" sz="1700" dirty="0"/>
                    </a:p>
                  </a:txBody>
                  <a:tcPr anchor="ctr"/>
                </a:tc>
                <a:tc>
                  <a:txBody>
                    <a:bodyPr/>
                    <a:lstStyle/>
                    <a:p>
                      <a:pPr algn="l" latinLnBrk="1"/>
                      <a:endParaRPr lang="ko-KR" altLang="en-US" dirty="0"/>
                    </a:p>
                  </a:txBody>
                  <a:tcPr anchor="ctr"/>
                </a:tc>
                <a:extLst>
                  <a:ext uri="{0D108BD9-81ED-4DB2-BD59-A6C34878D82A}">
                    <a16:rowId xmlns="" xmlns:a16="http://schemas.microsoft.com/office/drawing/2014/main" val="10001"/>
                  </a:ext>
                </a:extLst>
              </a:tr>
              <a:tr h="612670">
                <a:tc>
                  <a:txBody>
                    <a:bodyPr/>
                    <a:lstStyle/>
                    <a:p>
                      <a:pPr algn="ctr" latinLnBrk="1"/>
                      <a:r>
                        <a:rPr lang="ko-KR" altLang="en-US" b="1" dirty="0" err="1" smtClean="0"/>
                        <a:t>범죄율</a:t>
                      </a:r>
                      <a:endParaRPr lang="ko-KR" altLang="en-US" b="1" dirty="0"/>
                    </a:p>
                  </a:txBody>
                  <a:tcPr anchor="ctr"/>
                </a:tc>
                <a:tc>
                  <a:txBody>
                    <a:bodyPr/>
                    <a:lstStyle/>
                    <a:p>
                      <a:pPr algn="l" latinLnBrk="1"/>
                      <a:r>
                        <a:rPr lang="en-US" altLang="ko-KR" sz="1700" dirty="0" smtClean="0"/>
                        <a:t>- </a:t>
                      </a:r>
                      <a:r>
                        <a:rPr lang="ko-KR" altLang="en-US" sz="1700" dirty="0" smtClean="0"/>
                        <a:t>도시의 현재 </a:t>
                      </a:r>
                      <a:r>
                        <a:rPr lang="ko-KR" altLang="en-US" sz="1700" dirty="0" err="1" smtClean="0"/>
                        <a:t>범죄율을</a:t>
                      </a:r>
                      <a:r>
                        <a:rPr lang="ko-KR" altLang="en-US" sz="1700" dirty="0" smtClean="0"/>
                        <a:t> 나타내는 수치</a:t>
                      </a:r>
                      <a:endParaRPr lang="en-US" altLang="ko-KR" sz="1700" dirty="0" smtClean="0"/>
                    </a:p>
                    <a:p>
                      <a:pPr algn="l" latinLnBrk="1"/>
                      <a:r>
                        <a:rPr lang="en-US" altLang="ko-KR" sz="1700" dirty="0" smtClean="0"/>
                        <a:t>- </a:t>
                      </a:r>
                      <a:r>
                        <a:rPr lang="ko-KR" altLang="en-US" sz="1700" dirty="0" smtClean="0"/>
                        <a:t>각종 이벤트에 따라 증가</a:t>
                      </a:r>
                      <a:r>
                        <a:rPr lang="en-US" altLang="ko-KR" sz="1700" dirty="0" smtClean="0"/>
                        <a:t>, </a:t>
                      </a:r>
                      <a:r>
                        <a:rPr lang="ko-KR" altLang="en-US" sz="1700" dirty="0" smtClean="0"/>
                        <a:t>감소한다</a:t>
                      </a:r>
                      <a:endParaRPr lang="ko-KR" altLang="en-US" sz="1700" dirty="0"/>
                    </a:p>
                  </a:txBody>
                  <a:tcPr anchor="ctr"/>
                </a:tc>
                <a:tc>
                  <a:txBody>
                    <a:bodyPr/>
                    <a:lstStyle/>
                    <a:p>
                      <a:pPr algn="l" latinLnBrk="1"/>
                      <a:r>
                        <a:rPr lang="en-US" altLang="ko-KR" sz="1700" dirty="0" smtClean="0"/>
                        <a:t>0 </a:t>
                      </a:r>
                      <a:r>
                        <a:rPr lang="ko-KR" altLang="en-US" sz="1700" dirty="0" smtClean="0"/>
                        <a:t>이 되면 승리</a:t>
                      </a:r>
                      <a:endParaRPr lang="en-US" altLang="ko-KR" sz="1700" dirty="0" smtClean="0"/>
                    </a:p>
                    <a:p>
                      <a:pPr algn="l" latinLnBrk="1"/>
                      <a:r>
                        <a:rPr lang="en-US" altLang="ko-KR" sz="1700" dirty="0" smtClean="0"/>
                        <a:t>100 </a:t>
                      </a:r>
                      <a:r>
                        <a:rPr lang="ko-KR" altLang="en-US" sz="1700" dirty="0" smtClean="0"/>
                        <a:t>이 되면 패배</a:t>
                      </a:r>
                      <a:endParaRPr lang="ko-KR" altLang="en-US" sz="1700" dirty="0"/>
                    </a:p>
                  </a:txBody>
                  <a:tcPr anchor="ctr"/>
                </a:tc>
                <a:extLst>
                  <a:ext uri="{0D108BD9-81ED-4DB2-BD59-A6C34878D82A}">
                    <a16:rowId xmlns="" xmlns:a16="http://schemas.microsoft.com/office/drawing/2014/main" val="1447082540"/>
                  </a:ext>
                </a:extLst>
              </a:tr>
              <a:tr h="564802">
                <a:tc>
                  <a:txBody>
                    <a:bodyPr/>
                    <a:lstStyle/>
                    <a:p>
                      <a:pPr algn="ctr" latinLnBrk="1"/>
                      <a:r>
                        <a:rPr lang="ko-KR" altLang="en-US" b="1" dirty="0" smtClean="0"/>
                        <a:t>명성</a:t>
                      </a:r>
                      <a:endParaRPr lang="ko-KR" altLang="en-US" b="1" dirty="0"/>
                    </a:p>
                  </a:txBody>
                  <a:tcPr anchor="ctr"/>
                </a:tc>
                <a:tc>
                  <a:txBody>
                    <a:bodyPr/>
                    <a:lstStyle/>
                    <a:p>
                      <a:pPr algn="l" latinLnBrk="1"/>
                      <a:r>
                        <a:rPr lang="en-US" altLang="ko-KR" sz="1700" dirty="0" smtClean="0"/>
                        <a:t>- </a:t>
                      </a:r>
                      <a:r>
                        <a:rPr lang="ko-KR" altLang="en-US" sz="1700" dirty="0" smtClean="0"/>
                        <a:t>특수 경찰관으로서의 명성을 나타내는 수치</a:t>
                      </a:r>
                      <a:endParaRPr lang="en-US" altLang="ko-KR" sz="1700" dirty="0" smtClean="0"/>
                    </a:p>
                    <a:p>
                      <a:pPr algn="l" latinLnBrk="1"/>
                      <a:r>
                        <a:rPr lang="en-US" altLang="ko-KR" sz="1700" dirty="0" smtClean="0"/>
                        <a:t>- </a:t>
                      </a:r>
                      <a:r>
                        <a:rPr lang="ko-KR" altLang="en-US" sz="1700" dirty="0" smtClean="0"/>
                        <a:t>수치의 고저가 게임 플레이에 영향을 준다</a:t>
                      </a:r>
                      <a:endParaRPr lang="ko-KR" altLang="en-US" sz="1700" dirty="0"/>
                    </a:p>
                  </a:txBody>
                  <a:tcPr anchor="ctr"/>
                </a:tc>
                <a:tc>
                  <a:txBody>
                    <a:bodyPr/>
                    <a:lstStyle/>
                    <a:p>
                      <a:pPr algn="l" latinLnBrk="1"/>
                      <a:r>
                        <a:rPr lang="en-US" altLang="ko-KR" sz="1700" dirty="0" smtClean="0"/>
                        <a:t>0 </a:t>
                      </a:r>
                      <a:r>
                        <a:rPr lang="ko-KR" altLang="en-US" sz="1700" dirty="0" smtClean="0"/>
                        <a:t>이 되면 패배</a:t>
                      </a:r>
                      <a:endParaRPr lang="ko-KR" altLang="en-US" sz="1700" dirty="0"/>
                    </a:p>
                  </a:txBody>
                  <a:tcPr anchor="ctr"/>
                </a:tc>
                <a:extLst>
                  <a:ext uri="{0D108BD9-81ED-4DB2-BD59-A6C34878D82A}">
                    <a16:rowId xmlns="" xmlns:a16="http://schemas.microsoft.com/office/drawing/2014/main" val="1166069635"/>
                  </a:ext>
                </a:extLst>
              </a:tr>
              <a:tr h="564802">
                <a:tc>
                  <a:txBody>
                    <a:bodyPr/>
                    <a:lstStyle/>
                    <a:p>
                      <a:pPr algn="ctr" latinLnBrk="1"/>
                      <a:r>
                        <a:rPr lang="ko-KR" altLang="en-US" b="1" dirty="0" smtClean="0"/>
                        <a:t>자금</a:t>
                      </a:r>
                      <a:endParaRPr lang="ko-KR" altLang="en-US" b="1" dirty="0"/>
                    </a:p>
                  </a:txBody>
                  <a:tcPr anchor="ctr"/>
                </a:tc>
                <a:tc>
                  <a:txBody>
                    <a:bodyPr/>
                    <a:lstStyle/>
                    <a:p>
                      <a:pPr algn="l" latinLnBrk="1"/>
                      <a:r>
                        <a:rPr lang="en-US" altLang="ko-KR" sz="1700" dirty="0" smtClean="0"/>
                        <a:t>- </a:t>
                      </a:r>
                      <a:r>
                        <a:rPr lang="ko-KR" altLang="en-US" sz="1700" dirty="0" smtClean="0"/>
                        <a:t>플레이어가 사용 가능한 돈의 수치</a:t>
                      </a:r>
                      <a:endParaRPr lang="en-US" altLang="ko-KR" sz="1700" dirty="0" smtClean="0"/>
                    </a:p>
                    <a:p>
                      <a:pPr algn="l" latinLnBrk="1"/>
                      <a:r>
                        <a:rPr lang="en-US" altLang="ko-KR" sz="1700" dirty="0" smtClean="0"/>
                        <a:t>- </a:t>
                      </a:r>
                      <a:r>
                        <a:rPr lang="ko-KR" altLang="en-US" sz="1700" dirty="0" smtClean="0"/>
                        <a:t>각종 장비를 구입하거나 업그레이드 할 수 있다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 xmlns:a16="http://schemas.microsoft.com/office/drawing/2014/main" val="2270031616"/>
                  </a:ext>
                </a:extLst>
              </a:tr>
              <a:tr h="564802">
                <a:tc>
                  <a:txBody>
                    <a:bodyPr/>
                    <a:lstStyle/>
                    <a:p>
                      <a:pPr algn="ctr" latinLnBrk="1"/>
                      <a:r>
                        <a:rPr lang="ko-KR" altLang="en-US" b="1" dirty="0" err="1" smtClean="0"/>
                        <a:t>행동력</a:t>
                      </a:r>
                      <a:endParaRPr lang="ko-KR" altLang="en-US" b="1" dirty="0"/>
                    </a:p>
                  </a:txBody>
                  <a:tcPr anchor="ctr"/>
                </a:tc>
                <a:tc>
                  <a:txBody>
                    <a:bodyPr/>
                    <a:lstStyle/>
                    <a:p>
                      <a:pPr algn="l" latinLnBrk="1"/>
                      <a:r>
                        <a:rPr lang="en-US" altLang="ko-KR" sz="1700" dirty="0" smtClean="0"/>
                        <a:t>- </a:t>
                      </a:r>
                      <a:r>
                        <a:rPr lang="ko-KR" altLang="en-US" sz="1700" dirty="0" smtClean="0"/>
                        <a:t>한 사건에서 행동</a:t>
                      </a:r>
                      <a:r>
                        <a:rPr lang="en-US" altLang="ko-KR" sz="1700" dirty="0" smtClean="0"/>
                        <a:t>(</a:t>
                      </a:r>
                      <a:r>
                        <a:rPr lang="ko-KR" altLang="en-US" sz="1700" dirty="0" smtClean="0"/>
                        <a:t>수사</a:t>
                      </a:r>
                      <a:r>
                        <a:rPr lang="en-US" altLang="ko-KR" sz="1700" dirty="0" smtClean="0"/>
                        <a:t>, </a:t>
                      </a:r>
                      <a:r>
                        <a:rPr lang="ko-KR" altLang="en-US" sz="1700" dirty="0" smtClean="0"/>
                        <a:t>탐색</a:t>
                      </a:r>
                      <a:r>
                        <a:rPr lang="en-US" altLang="ko-KR" sz="1700" dirty="0" smtClean="0"/>
                        <a:t>, </a:t>
                      </a:r>
                      <a:r>
                        <a:rPr lang="ko-KR" altLang="en-US" sz="1700" dirty="0" smtClean="0"/>
                        <a:t>설득 등</a:t>
                      </a:r>
                      <a:r>
                        <a:rPr lang="en-US" altLang="ko-KR" sz="1700" dirty="0" smtClean="0"/>
                        <a:t>) </a:t>
                      </a:r>
                      <a:r>
                        <a:rPr lang="ko-KR" altLang="en-US" sz="1700" dirty="0" smtClean="0"/>
                        <a:t>할 수 있는 한계치</a:t>
                      </a:r>
                      <a:endParaRPr lang="en-US" altLang="ko-KR" sz="1700" dirty="0" smtClean="0"/>
                    </a:p>
                    <a:p>
                      <a:pPr algn="l" latinLnBrk="1"/>
                      <a:r>
                        <a:rPr lang="en-US" altLang="ko-KR" sz="1700" dirty="0" smtClean="0"/>
                        <a:t>- </a:t>
                      </a:r>
                      <a:r>
                        <a:rPr lang="ko-KR" altLang="en-US" sz="1700" dirty="0" smtClean="0"/>
                        <a:t>매 행동 마다 </a:t>
                      </a:r>
                      <a:r>
                        <a:rPr lang="ko-KR" altLang="en-US" sz="1700" dirty="0" err="1" smtClean="0"/>
                        <a:t>행동력을</a:t>
                      </a:r>
                      <a:r>
                        <a:rPr lang="ko-KR" altLang="en-US" sz="1700" dirty="0" smtClean="0"/>
                        <a:t> 소모하여 실행된다</a:t>
                      </a:r>
                      <a:endParaRPr lang="ko-KR" altLang="en-US" sz="1700" dirty="0"/>
                    </a:p>
                  </a:txBody>
                  <a:tcPr anchor="ctr"/>
                </a:tc>
                <a:tc>
                  <a:txBody>
                    <a:bodyPr/>
                    <a:lstStyle/>
                    <a:p>
                      <a:pPr algn="l" latinLnBrk="1"/>
                      <a:endParaRPr lang="ko-KR" altLang="en-US" sz="1700" dirty="0"/>
                    </a:p>
                  </a:txBody>
                  <a:tcPr anchor="ctr"/>
                </a:tc>
                <a:extLst>
                  <a:ext uri="{0D108BD9-81ED-4DB2-BD59-A6C34878D82A}">
                    <a16:rowId xmlns="" xmlns:a16="http://schemas.microsoft.com/office/drawing/2014/main" val="3714715161"/>
                  </a:ext>
                </a:extLst>
              </a:tr>
              <a:tr h="564802">
                <a:tc>
                  <a:txBody>
                    <a:bodyPr/>
                    <a:lstStyle/>
                    <a:p>
                      <a:pPr algn="ctr" latinLnBrk="1"/>
                      <a:r>
                        <a:rPr lang="ko-KR" altLang="en-US" b="1" dirty="0" smtClean="0"/>
                        <a:t>특성</a:t>
                      </a:r>
                      <a:endParaRPr lang="ko-KR" altLang="en-US" b="1" dirty="0"/>
                    </a:p>
                  </a:txBody>
                  <a:tcPr anchor="ctr"/>
                </a:tc>
                <a:tc>
                  <a:txBody>
                    <a:bodyPr/>
                    <a:lstStyle/>
                    <a:p>
                      <a:pPr algn="l" latinLnBrk="1"/>
                      <a:r>
                        <a:rPr lang="en-US" altLang="ko-KR" sz="1700" dirty="0" smtClean="0"/>
                        <a:t>- </a:t>
                      </a:r>
                      <a:r>
                        <a:rPr lang="ko-KR" altLang="en-US" sz="1700" dirty="0" smtClean="0"/>
                        <a:t>플레이를 통해 얻은 특성 포인트로 배울 수 있다</a:t>
                      </a:r>
                      <a:endParaRPr lang="en-US" altLang="ko-KR" sz="1700" dirty="0" smtClean="0"/>
                    </a:p>
                    <a:p>
                      <a:pPr algn="l" latinLnBrk="1"/>
                      <a:r>
                        <a:rPr lang="en-US" altLang="ko-KR" sz="1700" dirty="0" smtClean="0"/>
                        <a:t>- </a:t>
                      </a:r>
                      <a:r>
                        <a:rPr lang="ko-KR" altLang="en-US" sz="1700" dirty="0" smtClean="0"/>
                        <a:t>게임 플레이에 도움을 주는 효과를 가지고 있다</a:t>
                      </a:r>
                      <a:endParaRPr lang="ko-KR" altLang="en-US" sz="1700" dirty="0"/>
                    </a:p>
                  </a:txBody>
                  <a:tcPr anchor="ctr"/>
                </a:tc>
                <a:tc>
                  <a:txBody>
                    <a:bodyPr/>
                    <a:lstStyle/>
                    <a:p>
                      <a:pPr algn="l" latinLnBrk="1"/>
                      <a:r>
                        <a:rPr lang="ko-KR" altLang="en-US" sz="1700" dirty="0" smtClean="0"/>
                        <a:t>최대 </a:t>
                      </a:r>
                      <a:r>
                        <a:rPr lang="en-US" altLang="ko-KR" sz="1700" dirty="0" smtClean="0"/>
                        <a:t>3</a:t>
                      </a:r>
                      <a:r>
                        <a:rPr lang="ko-KR" altLang="en-US" sz="1700" dirty="0" smtClean="0"/>
                        <a:t>가지 사용 가능</a:t>
                      </a:r>
                      <a:endParaRPr lang="ko-KR" altLang="en-US" sz="1700" dirty="0"/>
                    </a:p>
                  </a:txBody>
                  <a:tcPr anchor="ctr"/>
                </a:tc>
                <a:extLst>
                  <a:ext uri="{0D108BD9-81ED-4DB2-BD59-A6C34878D82A}">
                    <a16:rowId xmlns="" xmlns:a16="http://schemas.microsoft.com/office/drawing/2014/main" val="1529809939"/>
                  </a:ext>
                </a:extLst>
              </a:tr>
              <a:tr h="564759">
                <a:tc>
                  <a:txBody>
                    <a:bodyPr/>
                    <a:lstStyle/>
                    <a:p>
                      <a:pPr algn="ctr" latinLnBrk="1"/>
                      <a:r>
                        <a:rPr lang="ko-KR" altLang="en-US" b="1" dirty="0" smtClean="0"/>
                        <a:t>스킬 체크</a:t>
                      </a:r>
                      <a:endParaRPr lang="ko-KR" altLang="en-US" b="1" dirty="0"/>
                    </a:p>
                  </a:txBody>
                  <a:tcPr anchor="ctr"/>
                </a:tc>
                <a:tc>
                  <a:txBody>
                    <a:bodyPr/>
                    <a:lstStyle/>
                    <a:p>
                      <a:pPr algn="l" latinLnBrk="1"/>
                      <a:r>
                        <a:rPr lang="en-US" altLang="ko-KR" sz="1700" dirty="0" smtClean="0"/>
                        <a:t>- </a:t>
                      </a:r>
                      <a:r>
                        <a:rPr lang="ko-KR" altLang="en-US" sz="1700" dirty="0" smtClean="0"/>
                        <a:t>수사</a:t>
                      </a:r>
                      <a:r>
                        <a:rPr lang="en-US" altLang="ko-KR" sz="1700" dirty="0" smtClean="0"/>
                        <a:t>, </a:t>
                      </a:r>
                      <a:r>
                        <a:rPr lang="ko-KR" altLang="en-US" sz="1700" dirty="0" smtClean="0"/>
                        <a:t>심문</a:t>
                      </a:r>
                      <a:r>
                        <a:rPr lang="en-US" altLang="ko-KR" sz="1700" dirty="0" smtClean="0"/>
                        <a:t>, </a:t>
                      </a:r>
                      <a:r>
                        <a:rPr lang="ko-KR" altLang="en-US" sz="1700" dirty="0" smtClean="0"/>
                        <a:t>탐색 등 행동 전반에 걸쳐 사용되는 기능</a:t>
                      </a:r>
                      <a:endParaRPr lang="en-US" altLang="ko-KR" sz="1700" dirty="0" smtClean="0"/>
                    </a:p>
                  </a:txBody>
                  <a:tcPr anchor="ctr"/>
                </a:tc>
                <a:tc>
                  <a:txBody>
                    <a:bodyPr/>
                    <a:lstStyle/>
                    <a:p>
                      <a:pPr algn="l" latinLnBrk="1"/>
                      <a:r>
                        <a:rPr lang="ko-KR" altLang="en-US" sz="1700" dirty="0" smtClean="0"/>
                        <a:t>성공</a:t>
                      </a:r>
                      <a:r>
                        <a:rPr lang="en-US" altLang="ko-KR" sz="1700" dirty="0" smtClean="0"/>
                        <a:t>, </a:t>
                      </a:r>
                      <a:r>
                        <a:rPr lang="ko-KR" altLang="en-US" sz="1700" dirty="0" smtClean="0"/>
                        <a:t>실패</a:t>
                      </a:r>
                      <a:r>
                        <a:rPr lang="en-US" altLang="ko-KR" sz="1700" dirty="0" smtClean="0"/>
                        <a:t>, </a:t>
                      </a:r>
                      <a:r>
                        <a:rPr lang="ko-KR" altLang="en-US" sz="1700" dirty="0" smtClean="0"/>
                        <a:t>대성공</a:t>
                      </a:r>
                      <a:endParaRPr lang="ko-KR" altLang="en-US" sz="1700" dirty="0"/>
                    </a:p>
                  </a:txBody>
                  <a:tcPr anchor="ctr"/>
                </a:tc>
                <a:extLst>
                  <a:ext uri="{0D108BD9-81ED-4DB2-BD59-A6C34878D82A}">
                    <a16:rowId xmlns="" xmlns:a16="http://schemas.microsoft.com/office/drawing/2014/main" val="2358325592"/>
                  </a:ext>
                </a:extLst>
              </a:tr>
            </a:tbl>
          </a:graphicData>
        </a:graphic>
      </p:graphicFrame>
      <p:sp>
        <p:nvSpPr>
          <p:cNvPr id="3" name="슬라이드 번호 개체 틀 2"/>
          <p:cNvSpPr>
            <a:spLocks noGrp="1"/>
          </p:cNvSpPr>
          <p:nvPr>
            <p:ph type="sldNum" sz="quarter" idx="12"/>
          </p:nvPr>
        </p:nvSpPr>
        <p:spPr/>
        <p:txBody>
          <a:bodyPr/>
          <a:lstStyle/>
          <a:p>
            <a:fld id="{95F8FB6C-4300-4EF3-AEA9-23A98D8A74E1}" type="slidenum">
              <a:rPr lang="ko-KR" altLang="en-US" sz="1800" smtClean="0"/>
              <a:t>33</a:t>
            </a:fld>
            <a:endParaRPr lang="ko-KR" altLang="en-US" sz="1800" dirty="0"/>
          </a:p>
        </p:txBody>
      </p:sp>
    </p:spTree>
    <p:extLst>
      <p:ext uri="{BB962C8B-B14F-4D97-AF65-F5344CB8AC3E}">
        <p14:creationId xmlns:p14="http://schemas.microsoft.com/office/powerpoint/2010/main" val="16480558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소개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933450" y="1438038"/>
            <a:ext cx="3162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시스템 흐름도</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 name="모서리가 둥근 직사각형 4"/>
          <p:cNvSpPr/>
          <p:nvPr/>
        </p:nvSpPr>
        <p:spPr>
          <a:xfrm>
            <a:off x="8822924" y="4149787"/>
            <a:ext cx="15675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현장 출동</a:t>
            </a:r>
            <a:endParaRPr lang="ko-KR" altLang="en-US" dirty="0">
              <a:solidFill>
                <a:schemeClr val="tx1"/>
              </a:solidFill>
            </a:endParaRPr>
          </a:p>
        </p:txBody>
      </p:sp>
      <p:sp>
        <p:nvSpPr>
          <p:cNvPr id="16" name="모서리가 둥근 직사각형 15"/>
          <p:cNvSpPr/>
          <p:nvPr/>
        </p:nvSpPr>
        <p:spPr>
          <a:xfrm>
            <a:off x="6642305" y="4149787"/>
            <a:ext cx="1522150"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상황실 지휘</a:t>
            </a:r>
          </a:p>
        </p:txBody>
      </p:sp>
      <p:sp>
        <p:nvSpPr>
          <p:cNvPr id="17" name="모서리가 둥근 직사각형 16"/>
          <p:cNvSpPr/>
          <p:nvPr/>
        </p:nvSpPr>
        <p:spPr>
          <a:xfrm>
            <a:off x="7610621" y="457417"/>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던전 탐험</a:t>
            </a:r>
            <a:endParaRPr lang="en-US" altLang="ko-KR" dirty="0" smtClean="0">
              <a:solidFill>
                <a:schemeClr val="tx1"/>
              </a:solidFill>
            </a:endParaRPr>
          </a:p>
        </p:txBody>
      </p:sp>
      <p:sp>
        <p:nvSpPr>
          <p:cNvPr id="18" name="모서리가 둥근 직사각형 17"/>
          <p:cNvSpPr/>
          <p:nvPr/>
        </p:nvSpPr>
        <p:spPr>
          <a:xfrm>
            <a:off x="7610621" y="5465052"/>
            <a:ext cx="1710365" cy="597926"/>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사건 종</a:t>
            </a:r>
            <a:r>
              <a:rPr lang="ko-KR" altLang="en-US" dirty="0">
                <a:solidFill>
                  <a:schemeClr val="tx1"/>
                </a:solidFill>
              </a:rPr>
              <a:t>료</a:t>
            </a:r>
          </a:p>
        </p:txBody>
      </p:sp>
      <p:cxnSp>
        <p:nvCxnSpPr>
          <p:cNvPr id="3" name="직선 화살표 연결선 2"/>
          <p:cNvCxnSpPr>
            <a:stCxn id="17" idx="2"/>
            <a:endCxn id="82" idx="0"/>
          </p:cNvCxnSpPr>
          <p:nvPr/>
        </p:nvCxnSpPr>
        <p:spPr>
          <a:xfrm>
            <a:off x="8465804" y="1055343"/>
            <a:ext cx="0" cy="30297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꺾인 연결선 23"/>
          <p:cNvCxnSpPr>
            <a:stCxn id="82" idx="3"/>
            <a:endCxn id="17" idx="3"/>
          </p:cNvCxnSpPr>
          <p:nvPr/>
        </p:nvCxnSpPr>
        <p:spPr>
          <a:xfrm flipH="1" flipV="1">
            <a:off x="9320986" y="756380"/>
            <a:ext cx="142493" cy="1120049"/>
          </a:xfrm>
          <a:prstGeom prst="bentConnector3">
            <a:avLst>
              <a:gd name="adj1" fmla="val -160429"/>
            </a:avLst>
          </a:prstGeom>
          <a:ln>
            <a:tailEnd type="arrow"/>
          </a:ln>
        </p:spPr>
        <p:style>
          <a:lnRef idx="3">
            <a:schemeClr val="dk1"/>
          </a:lnRef>
          <a:fillRef idx="0">
            <a:schemeClr val="dk1"/>
          </a:fillRef>
          <a:effectRef idx="2">
            <a:schemeClr val="dk1"/>
          </a:effectRef>
          <a:fontRef idx="minor">
            <a:schemeClr val="tx1"/>
          </a:fontRef>
        </p:style>
      </p:cxnSp>
      <p:cxnSp>
        <p:nvCxnSpPr>
          <p:cNvPr id="28" name="직선 화살표 연결선 27"/>
          <p:cNvCxnSpPr>
            <a:stCxn id="82" idx="2"/>
            <a:endCxn id="98" idx="0"/>
          </p:cNvCxnSpPr>
          <p:nvPr/>
        </p:nvCxnSpPr>
        <p:spPr>
          <a:xfrm flipH="1">
            <a:off x="8465431" y="2394539"/>
            <a:ext cx="373" cy="40386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0" name="직선 화살표 연결선 29"/>
          <p:cNvCxnSpPr>
            <a:endCxn id="16" idx="0"/>
          </p:cNvCxnSpPr>
          <p:nvPr/>
        </p:nvCxnSpPr>
        <p:spPr>
          <a:xfrm flipH="1">
            <a:off x="7403380" y="3353737"/>
            <a:ext cx="639116"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2" name="직선 화살표 연결선 31"/>
          <p:cNvCxnSpPr>
            <a:endCxn id="5" idx="0"/>
          </p:cNvCxnSpPr>
          <p:nvPr/>
        </p:nvCxnSpPr>
        <p:spPr>
          <a:xfrm>
            <a:off x="8888239" y="3353737"/>
            <a:ext cx="718460" cy="79605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4" name="직선 화살표 연결선 33"/>
          <p:cNvCxnSpPr>
            <a:stCxn id="5" idx="2"/>
            <a:endCxn id="18" idx="0"/>
          </p:cNvCxnSpPr>
          <p:nvPr/>
        </p:nvCxnSpPr>
        <p:spPr>
          <a:xfrm flipH="1">
            <a:off x="8465804" y="4747713"/>
            <a:ext cx="1140895"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36" name="직선 화살표 연결선 35"/>
          <p:cNvCxnSpPr>
            <a:stCxn id="16" idx="2"/>
            <a:endCxn id="18" idx="0"/>
          </p:cNvCxnSpPr>
          <p:nvPr/>
        </p:nvCxnSpPr>
        <p:spPr>
          <a:xfrm>
            <a:off x="7403380" y="4747713"/>
            <a:ext cx="1062424" cy="717339"/>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3" name="TextBox 52"/>
          <p:cNvSpPr txBox="1"/>
          <p:nvPr/>
        </p:nvSpPr>
        <p:spPr>
          <a:xfrm>
            <a:off x="8339318" y="2394539"/>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Y e s </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54" name="TextBox 53"/>
          <p:cNvSpPr txBox="1"/>
          <p:nvPr/>
        </p:nvSpPr>
        <p:spPr>
          <a:xfrm>
            <a:off x="9829931" y="1146058"/>
            <a:ext cx="678110" cy="338554"/>
          </a:xfrm>
          <a:prstGeom prst="rect">
            <a:avLst/>
          </a:prstGeom>
          <a:noFill/>
        </p:spPr>
        <p:txBody>
          <a:bodyPr wrap="square" rtlCol="0">
            <a:spAutoFit/>
          </a:bodyPr>
          <a:lstStyle/>
          <a:p>
            <a:pPr algn="ctr"/>
            <a:r>
              <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N o</a:t>
            </a:r>
            <a:endParaRPr lang="ko-KR" altLang="en-US" sz="1600"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0" name="TextBox 59"/>
          <p:cNvSpPr txBox="1"/>
          <p:nvPr/>
        </p:nvSpPr>
        <p:spPr>
          <a:xfrm>
            <a:off x="6987886" y="3571827"/>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지휘</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61" name="TextBox 60"/>
          <p:cNvSpPr txBox="1"/>
          <p:nvPr/>
        </p:nvSpPr>
        <p:spPr>
          <a:xfrm>
            <a:off x="9300301" y="3558764"/>
            <a:ext cx="678110"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출동</a:t>
            </a:r>
            <a:endParaRPr lang="en-US" altLang="ko-KR" sz="1600"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82" name="다이아몬드 81"/>
          <p:cNvSpPr/>
          <p:nvPr/>
        </p:nvSpPr>
        <p:spPr>
          <a:xfrm>
            <a:off x="7468128" y="1358318"/>
            <a:ext cx="1995351" cy="1036221"/>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착수</a:t>
            </a:r>
            <a:endParaRPr lang="ko-KR" altLang="en-US" dirty="0">
              <a:solidFill>
                <a:schemeClr val="tx1"/>
              </a:solidFill>
            </a:endParaRPr>
          </a:p>
        </p:txBody>
      </p:sp>
      <p:sp>
        <p:nvSpPr>
          <p:cNvPr id="98" name="다이아몬드 97"/>
          <p:cNvSpPr/>
          <p:nvPr/>
        </p:nvSpPr>
        <p:spPr>
          <a:xfrm>
            <a:off x="7437220" y="2798408"/>
            <a:ext cx="2056421" cy="962875"/>
          </a:xfrm>
          <a:prstGeom prst="diamond">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지휘 </a:t>
            </a:r>
            <a:r>
              <a:rPr lang="en-US" altLang="ko-KR" dirty="0">
                <a:solidFill>
                  <a:schemeClr val="tx1"/>
                </a:solidFill>
              </a:rPr>
              <a:t>or </a:t>
            </a:r>
            <a:r>
              <a:rPr lang="ko-KR" altLang="en-US" dirty="0" smtClean="0">
                <a:solidFill>
                  <a:schemeClr val="tx1"/>
                </a:solidFill>
              </a:rPr>
              <a:t>출동</a:t>
            </a:r>
            <a:endParaRPr lang="ko-KR" altLang="en-US" dirty="0">
              <a:solidFill>
                <a:schemeClr val="tx1"/>
              </a:solidFill>
            </a:endParaRPr>
          </a:p>
        </p:txBody>
      </p:sp>
      <p:sp>
        <p:nvSpPr>
          <p:cNvPr id="152" name="모서리가 둥근 직사각형 151"/>
          <p:cNvSpPr/>
          <p:nvPr/>
        </p:nvSpPr>
        <p:spPr>
          <a:xfrm>
            <a:off x="5238730" y="457417"/>
            <a:ext cx="171036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정비</a:t>
            </a:r>
            <a:endParaRPr lang="en-US" altLang="ko-KR" dirty="0" smtClean="0">
              <a:solidFill>
                <a:schemeClr val="tx1"/>
              </a:solidFill>
            </a:endParaRPr>
          </a:p>
        </p:txBody>
      </p:sp>
      <p:sp>
        <p:nvSpPr>
          <p:cNvPr id="153" name="모서리가 둥근 직사각형 152"/>
          <p:cNvSpPr/>
          <p:nvPr/>
        </p:nvSpPr>
        <p:spPr>
          <a:xfrm>
            <a:off x="5238729" y="5465052"/>
            <a:ext cx="1749555" cy="597926"/>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chemeClr val="tx1"/>
                </a:solidFill>
              </a:rPr>
              <a:t>정산</a:t>
            </a:r>
            <a:endParaRPr lang="ko-KR" altLang="en-US" dirty="0">
              <a:solidFill>
                <a:schemeClr val="tx1"/>
              </a:solidFill>
            </a:endParaRPr>
          </a:p>
        </p:txBody>
      </p:sp>
      <p:cxnSp>
        <p:nvCxnSpPr>
          <p:cNvPr id="155" name="직선 화살표 연결선 154"/>
          <p:cNvCxnSpPr>
            <a:stCxn id="18" idx="1"/>
            <a:endCxn id="153" idx="3"/>
          </p:cNvCxnSpPr>
          <p:nvPr/>
        </p:nvCxnSpPr>
        <p:spPr>
          <a:xfrm flipH="1">
            <a:off x="6988284" y="5764015"/>
            <a:ext cx="622337"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59" name="직선 화살표 연결선 158"/>
          <p:cNvCxnSpPr>
            <a:stCxn id="152" idx="3"/>
            <a:endCxn id="17" idx="1"/>
          </p:cNvCxnSpPr>
          <p:nvPr/>
        </p:nvCxnSpPr>
        <p:spPr>
          <a:xfrm>
            <a:off x="6949095" y="756380"/>
            <a:ext cx="661526"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3" name="모서리가 둥근 직사각형 32"/>
          <p:cNvSpPr/>
          <p:nvPr/>
        </p:nvSpPr>
        <p:spPr>
          <a:xfrm>
            <a:off x="1361625" y="2729959"/>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002060"/>
                </a:solidFill>
              </a:rPr>
              <a:t>목표</a:t>
            </a:r>
            <a:endParaRPr lang="en-US" altLang="ko-KR" dirty="0" smtClean="0">
              <a:solidFill>
                <a:srgbClr val="002060"/>
              </a:solidFill>
            </a:endParaRPr>
          </a:p>
        </p:txBody>
      </p:sp>
      <p:sp>
        <p:nvSpPr>
          <p:cNvPr id="35" name="모서리가 둥근 직사각형 34"/>
          <p:cNvSpPr/>
          <p:nvPr/>
        </p:nvSpPr>
        <p:spPr>
          <a:xfrm>
            <a:off x="1361625" y="4261081"/>
            <a:ext cx="1016756" cy="75355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smtClean="0">
                <a:solidFill>
                  <a:srgbClr val="FF0000"/>
                </a:solidFill>
              </a:rPr>
              <a:t>실패</a:t>
            </a:r>
            <a:endParaRPr lang="en-US" altLang="ko-KR" dirty="0" smtClean="0">
              <a:solidFill>
                <a:srgbClr val="FF0000"/>
              </a:solidFill>
            </a:endParaRPr>
          </a:p>
        </p:txBody>
      </p:sp>
      <p:sp>
        <p:nvSpPr>
          <p:cNvPr id="37" name="TextBox 36"/>
          <p:cNvSpPr txBox="1"/>
          <p:nvPr/>
        </p:nvSpPr>
        <p:spPr>
          <a:xfrm>
            <a:off x="2416481" y="2825422"/>
            <a:ext cx="2347248" cy="507831"/>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던전의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최심부</a:t>
            </a: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 </a:t>
            </a:r>
            <a:r>
              <a:rPr lang="ko-KR" altLang="en-US" spc="-150" dirty="0" err="1"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클리어</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38" name="TextBox 37"/>
          <p:cNvSpPr txBox="1"/>
          <p:nvPr/>
        </p:nvSpPr>
        <p:spPr>
          <a:xfrm>
            <a:off x="2416481" y="4410990"/>
            <a:ext cx="2053210" cy="454292"/>
          </a:xfrm>
          <a:prstGeom prst="rect">
            <a:avLst/>
          </a:prstGeom>
          <a:noFill/>
        </p:spPr>
        <p:txBody>
          <a:bodyPr wrap="square" rtlCol="0">
            <a:spAutoFit/>
          </a:bodyPr>
          <a:lstStyle/>
          <a:p>
            <a:pPr>
              <a:lnSpc>
                <a:spcPct val="150000"/>
              </a:lnSpc>
            </a:pPr>
            <a:r>
              <a:rPr lang="ko-KR" altLang="en-US" spc="-15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플레이어 사망</a:t>
            </a:r>
            <a:endParaRPr lang="en-US" altLang="ko-KR" spc="-15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34</a:t>
            </a:fld>
            <a:endParaRPr lang="ko-KR" altLang="en-US" sz="1800" dirty="0"/>
          </a:p>
        </p:txBody>
      </p:sp>
    </p:spTree>
    <p:extLst>
      <p:ext uri="{BB962C8B-B14F-4D97-AF65-F5344CB8AC3E}">
        <p14:creationId xmlns:p14="http://schemas.microsoft.com/office/powerpoint/2010/main" val="224940028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던전 탐험</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03203" y="1596326"/>
            <a:ext cx="5604329" cy="4524315"/>
          </a:xfrm>
          <a:prstGeom prst="rect">
            <a:avLst/>
          </a:prstGeom>
          <a:noFill/>
        </p:spPr>
        <p:txBody>
          <a:bodyPr wrap="square" rtlCol="0">
            <a:spAutoFit/>
          </a:bodyPr>
          <a:lstStyle/>
          <a:p>
            <a:r>
              <a:rPr lang="en-US" altLang="ko-KR" sz="2400" dirty="0" smtClean="0"/>
              <a:t>• </a:t>
            </a:r>
            <a:r>
              <a:rPr lang="ko-KR" altLang="ko-KR" sz="2400" dirty="0" smtClean="0"/>
              <a:t>플레이</a:t>
            </a:r>
            <a:r>
              <a:rPr lang="ko-KR" altLang="en-US" sz="2400" dirty="0" smtClean="0"/>
              <a:t>어가 캐릭터를 선택하면 탐험이 시작됩니다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던전은 입구부터 </a:t>
            </a:r>
            <a:r>
              <a:rPr lang="ko-KR" altLang="en-US" sz="2400" dirty="0" err="1" smtClean="0"/>
              <a:t>최심부까지</a:t>
            </a:r>
            <a:r>
              <a:rPr lang="ko-KR" altLang="en-US" sz="2400" dirty="0" smtClean="0"/>
              <a:t> 이어져있으며</a:t>
            </a:r>
            <a:r>
              <a:rPr lang="en-US" altLang="ko-KR" sz="2400" dirty="0" smtClean="0"/>
              <a:t>, </a:t>
            </a:r>
            <a:r>
              <a:rPr lang="ko-KR" altLang="en-US" sz="2400" dirty="0" smtClean="0"/>
              <a:t>한 번에 하나의 방을 탐험할 수 있습니다</a:t>
            </a:r>
            <a:r>
              <a:rPr lang="en-US" altLang="ko-KR" sz="2400" dirty="0" smtClean="0"/>
              <a:t>.</a:t>
            </a:r>
          </a:p>
          <a:p>
            <a:endParaRPr lang="en-US" altLang="ko-KR" sz="2400" dirty="0" smtClean="0"/>
          </a:p>
          <a:p>
            <a:r>
              <a:rPr lang="en-US" altLang="ko-KR" sz="2400" dirty="0"/>
              <a:t>• </a:t>
            </a:r>
            <a:r>
              <a:rPr lang="ko-KR" altLang="en-US" sz="2400" dirty="0"/>
              <a:t>한번 클리어한 방을 다시 클리어할 수는 </a:t>
            </a:r>
            <a:r>
              <a:rPr lang="ko-KR" altLang="en-US" sz="2400" dirty="0" smtClean="0"/>
              <a:t>없습니다</a:t>
            </a:r>
            <a:r>
              <a:rPr lang="en-US" altLang="ko-KR" sz="2400" dirty="0" smtClean="0"/>
              <a:t>.</a:t>
            </a:r>
            <a:endParaRPr lang="en-US" altLang="ko-KR" sz="2400" dirty="0"/>
          </a:p>
          <a:p>
            <a:r>
              <a:rPr lang="en-US" altLang="ko-KR" sz="2400" dirty="0"/>
              <a:t/>
            </a:r>
            <a:br>
              <a:rPr lang="en-US" altLang="ko-KR" sz="2400" dirty="0"/>
            </a:br>
            <a:r>
              <a:rPr lang="en-US" altLang="ko-KR" sz="2400" dirty="0"/>
              <a:t>•</a:t>
            </a:r>
            <a:r>
              <a:rPr lang="en-US" altLang="ko-KR" sz="2400" dirty="0" smtClean="0"/>
              <a:t> </a:t>
            </a:r>
            <a:r>
              <a:rPr lang="ko-KR" altLang="en-US" sz="2400" dirty="0" smtClean="0"/>
              <a:t>던전의 </a:t>
            </a:r>
            <a:r>
              <a:rPr lang="ko-KR" altLang="en-US" sz="2400" dirty="0" err="1" smtClean="0"/>
              <a:t>최심부를</a:t>
            </a:r>
            <a:r>
              <a:rPr lang="ko-KR" altLang="en-US" sz="2400" dirty="0" smtClean="0"/>
              <a:t> 클리어하는 것이 목표입니다</a:t>
            </a:r>
            <a:r>
              <a:rPr lang="en-US" altLang="ko-KR" sz="2400"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35</a:t>
            </a:fld>
            <a:endParaRPr lang="ko-KR" altLang="en-US" sz="1800" dirty="0"/>
          </a:p>
        </p:txBody>
      </p:sp>
      <p:pic>
        <p:nvPicPr>
          <p:cNvPr id="3" name="그림 2"/>
          <p:cNvPicPr>
            <a:picLocks noChangeAspect="1"/>
          </p:cNvPicPr>
          <p:nvPr/>
        </p:nvPicPr>
        <p:blipFill>
          <a:blip r:embed="rId2"/>
          <a:stretch>
            <a:fillRect/>
          </a:stretch>
        </p:blipFill>
        <p:spPr>
          <a:xfrm>
            <a:off x="6095999" y="1849971"/>
            <a:ext cx="5836845" cy="3278361"/>
          </a:xfrm>
          <a:prstGeom prst="rect">
            <a:avLst/>
          </a:prstGeom>
        </p:spPr>
      </p:pic>
      <p:sp>
        <p:nvSpPr>
          <p:cNvPr id="9" name="TextBox 8"/>
          <p:cNvSpPr txBox="1"/>
          <p:nvPr/>
        </p:nvSpPr>
        <p:spPr>
          <a:xfrm>
            <a:off x="8075717" y="5128332"/>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6</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18133704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54909" y="1340223"/>
            <a:ext cx="5039181" cy="2677656"/>
          </a:xfrm>
          <a:prstGeom prst="rect">
            <a:avLst/>
          </a:prstGeom>
          <a:noFill/>
        </p:spPr>
        <p:txBody>
          <a:bodyPr wrap="square" rtlCol="0">
            <a:spAutoFit/>
          </a:bodyPr>
          <a:lstStyle/>
          <a:p>
            <a:r>
              <a:rPr lang="en-US" altLang="ko-KR" sz="2400" dirty="0"/>
              <a:t>• </a:t>
            </a:r>
            <a:r>
              <a:rPr lang="ko-KR" altLang="en-US" sz="2400" dirty="0" smtClean="0"/>
              <a:t>아군 캐릭터와 적 몬스터의 최대 </a:t>
            </a:r>
            <a:r>
              <a:rPr lang="en-US" altLang="ko-KR" sz="2400" dirty="0" smtClean="0"/>
              <a:t>4:4 </a:t>
            </a:r>
            <a:r>
              <a:rPr lang="ko-KR" altLang="en-US" sz="2400" dirty="0" smtClean="0"/>
              <a:t>전투로 진행됩니다</a:t>
            </a:r>
            <a:r>
              <a:rPr lang="en-US" altLang="ko-KR" sz="2400" dirty="0" smtClean="0"/>
              <a:t>.</a:t>
            </a:r>
          </a:p>
          <a:p>
            <a:r>
              <a:rPr lang="en-US" altLang="ko-KR" sz="2400" dirty="0" smtClean="0"/>
              <a:t/>
            </a:r>
            <a:br>
              <a:rPr lang="en-US" altLang="ko-KR" sz="2400" dirty="0" smtClean="0"/>
            </a:br>
            <a:r>
              <a:rPr lang="en-US" altLang="ko-KR" sz="2400" dirty="0"/>
              <a:t>• </a:t>
            </a:r>
            <a:r>
              <a:rPr lang="ko-KR" altLang="en-US" sz="2400" dirty="0" smtClean="0"/>
              <a:t>아군부터</a:t>
            </a:r>
            <a:r>
              <a:rPr lang="en-US" altLang="ko-KR" sz="2400" dirty="0" smtClean="0"/>
              <a:t>, </a:t>
            </a:r>
            <a:r>
              <a:rPr lang="ko-KR" altLang="en-US" sz="2400" dirty="0" smtClean="0"/>
              <a:t>가장 왼쪽 캐릭터부터  시작하여</a:t>
            </a:r>
            <a:r>
              <a:rPr lang="en-US" altLang="ko-KR" sz="2400" dirty="0" smtClean="0"/>
              <a:t>, </a:t>
            </a:r>
            <a:r>
              <a:rPr lang="ko-KR" altLang="en-US" sz="2400" dirty="0" smtClean="0"/>
              <a:t>차례대로 한 진영의 모든 캐릭터가 행동을 마치면 차례가 넘어갑니다</a:t>
            </a:r>
            <a:r>
              <a:rPr lang="en-US" altLang="ko-KR" sz="2400" dirty="0" smtClean="0"/>
              <a:t>.</a:t>
            </a:r>
            <a:endParaRPr lang="en-US"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36</a:t>
            </a:fld>
            <a:endParaRPr lang="ko-KR" altLang="en-US" sz="1800" dirty="0"/>
          </a:p>
        </p:txBody>
      </p:sp>
      <p:pic>
        <p:nvPicPr>
          <p:cNvPr id="1026" name="Picture 2" descr="https://steamcdn-a.akamaihd.net/steam/apps/503560/ss_ec620eea4998f7ad180bf5b762ea606830c1af2f.600x338.jpg?t=15318411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1812752"/>
            <a:ext cx="5715000" cy="32099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8014795" y="50256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7</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1" name="TextBox 10"/>
          <p:cNvSpPr txBox="1"/>
          <p:nvPr/>
        </p:nvSpPr>
        <p:spPr>
          <a:xfrm>
            <a:off x="4881716" y="765193"/>
            <a:ext cx="2418735"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전투</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700794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육성</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35480" y="1559202"/>
            <a:ext cx="5642809" cy="3416320"/>
          </a:xfrm>
          <a:prstGeom prst="rect">
            <a:avLst/>
          </a:prstGeom>
          <a:noFill/>
        </p:spPr>
        <p:txBody>
          <a:bodyPr wrap="square" rtlCol="0">
            <a:spAutoFit/>
          </a:bodyPr>
          <a:lstStyle/>
          <a:p>
            <a:r>
              <a:rPr lang="en-US" altLang="ko-KR" sz="2400" dirty="0"/>
              <a:t>• </a:t>
            </a:r>
            <a:r>
              <a:rPr lang="ko-KR" altLang="en-US" sz="2400" dirty="0" smtClean="0"/>
              <a:t>아군 캐릭터들은 전투를 통해 경험치를 획득하고</a:t>
            </a:r>
            <a:r>
              <a:rPr lang="en-US" altLang="ko-KR" sz="2400" dirty="0" smtClean="0"/>
              <a:t>, </a:t>
            </a:r>
            <a:r>
              <a:rPr lang="ko-KR" altLang="en-US" sz="2400" dirty="0" smtClean="0"/>
              <a:t>일정한 경험치를 만족하면 </a:t>
            </a:r>
            <a:r>
              <a:rPr lang="ko-KR" altLang="en-US" sz="2400" dirty="0" err="1" smtClean="0"/>
              <a:t>레벨업</a:t>
            </a:r>
            <a:r>
              <a:rPr lang="ko-KR" altLang="en-US" sz="2400" dirty="0" smtClean="0"/>
              <a:t> 하여 성장합니다</a:t>
            </a:r>
            <a:r>
              <a:rPr lang="en-US" altLang="ko-KR" sz="2400" dirty="0" smtClean="0"/>
              <a:t>.</a:t>
            </a:r>
          </a:p>
          <a:p>
            <a:r>
              <a:rPr lang="en-US" altLang="ko-KR" sz="2400" dirty="0"/>
              <a:t/>
            </a:r>
            <a:br>
              <a:rPr lang="en-US" altLang="ko-KR" sz="2400" dirty="0"/>
            </a:br>
            <a:r>
              <a:rPr lang="en-US" altLang="ko-KR" sz="2400" dirty="0"/>
              <a:t>• </a:t>
            </a:r>
            <a:r>
              <a:rPr lang="ko-KR" altLang="en-US" sz="2400" dirty="0" smtClean="0"/>
              <a:t>동일한 몬스터를 재료로 사용하여 특정 몬스터를 강화할 수 있습니다</a:t>
            </a:r>
            <a:r>
              <a:rPr lang="en-US" altLang="ko-KR" sz="2400" dirty="0" smtClean="0"/>
              <a:t>.</a:t>
            </a:r>
          </a:p>
          <a:p>
            <a:endParaRPr lang="en-US" altLang="ko-KR" sz="2400" dirty="0"/>
          </a:p>
          <a:p>
            <a:r>
              <a:rPr lang="en-US" altLang="ko-KR" sz="2400" dirty="0"/>
              <a:t>• </a:t>
            </a:r>
            <a:r>
              <a:rPr lang="ko-KR" altLang="en-US" sz="2400" dirty="0" smtClean="0"/>
              <a:t>캐릭터에게 아이템을 </a:t>
            </a:r>
            <a:r>
              <a:rPr lang="ko-KR" altLang="en-US" sz="2400" dirty="0" err="1" smtClean="0"/>
              <a:t>장비시켜</a:t>
            </a:r>
            <a:r>
              <a:rPr lang="ko-KR" altLang="en-US" sz="2400" dirty="0" smtClean="0"/>
              <a:t> 능력을 향상시킬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37</a:t>
            </a:fld>
            <a:endParaRPr lang="ko-KR" altLang="en-US" sz="1800" dirty="0"/>
          </a:p>
        </p:txBody>
      </p:sp>
      <p:pic>
        <p:nvPicPr>
          <p:cNvPr id="5" name="그림 4"/>
          <p:cNvPicPr>
            <a:picLocks noChangeAspect="1"/>
          </p:cNvPicPr>
          <p:nvPr/>
        </p:nvPicPr>
        <p:blipFill>
          <a:blip r:embed="rId2"/>
          <a:stretch>
            <a:fillRect/>
          </a:stretch>
        </p:blipFill>
        <p:spPr>
          <a:xfrm>
            <a:off x="6076949" y="1844063"/>
            <a:ext cx="5715000" cy="3209925"/>
          </a:xfrm>
          <a:prstGeom prst="rect">
            <a:avLst/>
          </a:prstGeom>
        </p:spPr>
      </p:pic>
      <p:sp>
        <p:nvSpPr>
          <p:cNvPr id="12" name="TextBox 11"/>
          <p:cNvSpPr txBox="1"/>
          <p:nvPr/>
        </p:nvSpPr>
        <p:spPr>
          <a:xfrm>
            <a:off x="7995745" y="5041298"/>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8</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Tree>
    <p:extLst>
      <p:ext uri="{BB962C8B-B14F-4D97-AF65-F5344CB8AC3E}">
        <p14:creationId xmlns:p14="http://schemas.microsoft.com/office/powerpoint/2010/main" val="36910295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1" y="250721"/>
            <a:ext cx="3773716"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게임 플레이</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7" name="TextBox 6"/>
          <p:cNvSpPr txBox="1"/>
          <p:nvPr/>
        </p:nvSpPr>
        <p:spPr>
          <a:xfrm>
            <a:off x="241305" y="1894220"/>
            <a:ext cx="4845051" cy="3785652"/>
          </a:xfrm>
          <a:prstGeom prst="rect">
            <a:avLst/>
          </a:prstGeom>
          <a:noFill/>
        </p:spPr>
        <p:txBody>
          <a:bodyPr wrap="square" rtlCol="0">
            <a:spAutoFit/>
          </a:bodyPr>
          <a:lstStyle/>
          <a:p>
            <a:r>
              <a:rPr lang="en-US" altLang="ko-KR" sz="2400" dirty="0"/>
              <a:t>•</a:t>
            </a:r>
            <a:r>
              <a:rPr lang="en-US" altLang="ko-KR" sz="2400" dirty="0" smtClean="0"/>
              <a:t> </a:t>
            </a:r>
            <a:r>
              <a:rPr lang="ko-KR" altLang="en-US" sz="2400" dirty="0" smtClean="0"/>
              <a:t>캐릭터와 몬스터가 가진 능력과 스킬을 활용하여 다양한 전략을 사용할 수 있습니다</a:t>
            </a:r>
            <a:r>
              <a:rPr lang="en-US" altLang="ko-KR" sz="2400" dirty="0" smtClean="0"/>
              <a:t>.</a:t>
            </a:r>
          </a:p>
          <a:p>
            <a:endParaRPr lang="en-US" altLang="ko-KR" sz="2400" dirty="0"/>
          </a:p>
          <a:p>
            <a:r>
              <a:rPr lang="en-US" altLang="ko-KR" sz="2400" dirty="0"/>
              <a:t>•</a:t>
            </a:r>
            <a:r>
              <a:rPr lang="en-US" altLang="ko-KR" sz="2400" dirty="0" smtClean="0"/>
              <a:t> </a:t>
            </a:r>
            <a:r>
              <a:rPr lang="ko-KR" altLang="en-US" sz="2400" dirty="0" smtClean="0"/>
              <a:t>아이템으로 아군의 장점을 살리고 약점을 커버할 수 있습니다</a:t>
            </a:r>
            <a:r>
              <a:rPr lang="en-US" altLang="ko-KR" sz="2400" dirty="0" smtClean="0"/>
              <a:t>.</a:t>
            </a:r>
            <a:endParaRPr lang="en-US" altLang="ko-KR" sz="2400" dirty="0"/>
          </a:p>
          <a:p>
            <a:pPr marL="285750" indent="-285750">
              <a:buFontTx/>
              <a:buChar char="-"/>
            </a:pPr>
            <a:endParaRPr lang="en-US" altLang="ko-KR" sz="2400" dirty="0"/>
          </a:p>
          <a:p>
            <a:r>
              <a:rPr lang="en-US" altLang="ko-KR" sz="2400" dirty="0" smtClean="0"/>
              <a:t>• </a:t>
            </a:r>
            <a:r>
              <a:rPr lang="ko-KR" altLang="en-US" sz="2400" dirty="0" smtClean="0"/>
              <a:t>아군과 적의 상성을 파악하여 원하는 조합을 편성하고 전술을 펼칠 수 있습니다</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38</a:t>
            </a:fld>
            <a:endParaRPr lang="ko-KR" altLang="en-US" sz="1800" dirty="0"/>
          </a:p>
        </p:txBody>
      </p:sp>
      <p:pic>
        <p:nvPicPr>
          <p:cNvPr id="3" name="그림 2"/>
          <p:cNvPicPr>
            <a:picLocks noChangeAspect="1"/>
          </p:cNvPicPr>
          <p:nvPr/>
        </p:nvPicPr>
        <p:blipFill>
          <a:blip r:embed="rId2"/>
          <a:stretch>
            <a:fillRect/>
          </a:stretch>
        </p:blipFill>
        <p:spPr>
          <a:xfrm>
            <a:off x="6000750" y="1850852"/>
            <a:ext cx="5715000" cy="3209925"/>
          </a:xfrm>
          <a:prstGeom prst="rect">
            <a:avLst/>
          </a:prstGeom>
        </p:spPr>
      </p:pic>
      <p:sp>
        <p:nvSpPr>
          <p:cNvPr id="9" name="TextBox 8"/>
          <p:cNvSpPr txBox="1"/>
          <p:nvPr/>
        </p:nvSpPr>
        <p:spPr>
          <a:xfrm>
            <a:off x="7919546" y="5063743"/>
            <a:ext cx="1877407" cy="338554"/>
          </a:xfrm>
          <a:prstGeom prst="rect">
            <a:avLst/>
          </a:prstGeom>
          <a:noFill/>
        </p:spPr>
        <p:txBody>
          <a:bodyPr wrap="square" rtlCol="0">
            <a:spAutoFit/>
          </a:bodyPr>
          <a:lstStyle/>
          <a:p>
            <a:pPr algn="ctr"/>
            <a:r>
              <a:rPr lang="ko-KR" altLang="en-US"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그림   </a:t>
            </a:r>
            <a:r>
              <a:rPr lang="en-US" altLang="ko-KR"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rPr>
              <a:t>2</a:t>
            </a:r>
            <a:r>
              <a:rPr lang="en-US" altLang="ko-KR" sz="1600" spc="-300" dirty="0" smtClean="0">
                <a:gradFill>
                  <a:gsLst>
                    <a:gs pos="0">
                      <a:schemeClr val="tx1"/>
                    </a:gs>
                    <a:gs pos="100000">
                      <a:schemeClr val="tx1"/>
                    </a:gs>
                  </a:gsLst>
                  <a:lin ang="5400000" scaled="1"/>
                </a:gradFill>
                <a:latin typeface="돋움" panose="020B0600000101010101" pitchFamily="50" charset="-127"/>
                <a:ea typeface="돋움" panose="020B0600000101010101" pitchFamily="50" charset="-127"/>
              </a:rPr>
              <a:t>  -  9</a:t>
            </a:r>
            <a:endParaRPr lang="ko-KR" altLang="en-US" sz="1600" spc="-300" dirty="0">
              <a:gradFill>
                <a:gsLst>
                  <a:gs pos="0">
                    <a:schemeClr val="tx1"/>
                  </a:gs>
                  <a:gs pos="100000">
                    <a:schemeClr val="tx1"/>
                  </a:gs>
                </a:gsLst>
                <a:lin ang="5400000" scaled="1"/>
              </a:gradFill>
              <a:latin typeface="돋움" panose="020B0600000101010101" pitchFamily="50" charset="-127"/>
              <a:ea typeface="돋움" panose="020B0600000101010101" pitchFamily="50" charset="-127"/>
            </a:endParaRPr>
          </a:p>
        </p:txBody>
      </p:sp>
      <p:sp>
        <p:nvSpPr>
          <p:cNvPr id="14" name="TextBox 13"/>
          <p:cNvSpPr txBox="1"/>
          <p:nvPr/>
        </p:nvSpPr>
        <p:spPr>
          <a:xfrm>
            <a:off x="4705350" y="794221"/>
            <a:ext cx="2781300" cy="584775"/>
          </a:xfrm>
          <a:prstGeom prst="rect">
            <a:avLst/>
          </a:prstGeom>
          <a:noFill/>
        </p:spPr>
        <p:txBody>
          <a:bodyPr wrap="square" rtlCol="0">
            <a:spAutoFit/>
          </a:bodyPr>
          <a:lstStyle/>
          <a:p>
            <a:pPr algn="ct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&lt;</a:t>
            </a:r>
            <a:r>
              <a:rPr lang="ko-KR" altLang="en-US"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전략과 조합</a:t>
            </a:r>
            <a:r>
              <a:rPr lang="en-US" altLang="ko-KR" sz="3200" b="1" spc="-300"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&gt;</a:t>
            </a:r>
            <a:endParaRPr lang="ko-KR" altLang="en-US" sz="3200" b="1" spc="-300"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181141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3990973" y="771996"/>
            <a:ext cx="4210049"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세부 </a:t>
            </a:r>
            <a:r>
              <a:rPr lang="ko-KR" altLang="en-US" sz="3200" b="1" dirty="0">
                <a:gradFill>
                  <a:gsLst>
                    <a:gs pos="0">
                      <a:schemeClr val="tx1"/>
                    </a:gs>
                    <a:gs pos="100000">
                      <a:schemeClr val="tx1"/>
                    </a:gs>
                  </a:gsLst>
                  <a:lin ang="5400000" scaled="1"/>
                </a:gradFill>
                <a:latin typeface="맑은 고딕" panose="020B0503020000020004" pitchFamily="50" charset="-127"/>
              </a:rPr>
              <a:t>기획 </a:t>
            </a:r>
            <a:r>
              <a:rPr lang="ko-KR" altLang="en-US" sz="3200" b="1" dirty="0" smtClean="0">
                <a:gradFill>
                  <a:gsLst>
                    <a:gs pos="0">
                      <a:schemeClr val="tx1"/>
                    </a:gs>
                    <a:gs pos="100000">
                      <a:schemeClr val="tx1"/>
                    </a:gs>
                  </a:gsLst>
                  <a:lin ang="5400000" scaled="1"/>
                </a:gradFill>
                <a:latin typeface="맑은 고딕" panose="020B0503020000020004" pitchFamily="50" charset="-127"/>
              </a:rPr>
              <a:t>컨텐츠</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4" y="1392603"/>
            <a:ext cx="10869388" cy="4539704"/>
          </a:xfrm>
          <a:prstGeom prst="rect">
            <a:avLst/>
          </a:prstGeom>
          <a:noFill/>
        </p:spPr>
        <p:txBody>
          <a:bodyPr wrap="square" rtlCol="0">
            <a:spAutoFit/>
          </a:bodyPr>
          <a:lstStyle/>
          <a:p>
            <a:r>
              <a:rPr lang="ko-KR" altLang="en-US" sz="2000" u="sng" dirty="0" smtClean="0"/>
              <a:t>전투 시스템</a:t>
            </a:r>
            <a:r>
              <a:rPr lang="en-US" altLang="ko-KR" sz="2000" u="sng" dirty="0" smtClean="0"/>
              <a:t>, </a:t>
            </a:r>
            <a:r>
              <a:rPr lang="ko-KR" altLang="en-US" sz="2000" u="sng" dirty="0" smtClean="0"/>
              <a:t>육성 시스템</a:t>
            </a:r>
            <a:r>
              <a:rPr lang="ko-KR" altLang="ko-KR" sz="2000" u="sng" dirty="0" smtClean="0"/>
              <a:t>을 </a:t>
            </a:r>
            <a:r>
              <a:rPr lang="ko-KR" altLang="ko-KR" sz="2000" u="sng" dirty="0"/>
              <a:t>세부 기획 컨텐츠로 설정한다</a:t>
            </a:r>
            <a:r>
              <a:rPr lang="en-US" altLang="ko-KR" sz="2000" u="sng" dirty="0" smtClean="0"/>
              <a:t>.</a:t>
            </a:r>
            <a:br>
              <a:rPr lang="en-US" altLang="ko-KR" sz="2000" u="sng" dirty="0" smtClean="0"/>
            </a:br>
            <a:r>
              <a:rPr lang="en-US" altLang="ko-KR" sz="1100" u="sng" dirty="0" smtClean="0"/>
              <a:t/>
            </a:r>
            <a:br>
              <a:rPr lang="en-US" altLang="ko-KR" sz="1100" u="sng" dirty="0" smtClean="0"/>
            </a:br>
            <a:r>
              <a:rPr lang="ko-KR" altLang="en-US" sz="2000" u="sng" dirty="0" smtClean="0"/>
              <a:t>상성과 능력에 관한 구체적인 시스템과 밸런스에</a:t>
            </a:r>
            <a:r>
              <a:rPr lang="ko-KR" altLang="ko-KR" sz="2000" u="sng" dirty="0" smtClean="0"/>
              <a:t> </a:t>
            </a:r>
            <a:r>
              <a:rPr lang="ko-KR" altLang="ko-KR" sz="2000" u="sng" dirty="0"/>
              <a:t>초점을 두어 기획한다</a:t>
            </a:r>
            <a:r>
              <a:rPr lang="en-US" altLang="ko-KR" sz="2000" dirty="0" smtClean="0"/>
              <a:t>.</a:t>
            </a:r>
            <a:r>
              <a:rPr lang="en-US" altLang="ko-KR" dirty="0" smtClean="0"/>
              <a:t/>
            </a:r>
            <a:br>
              <a:rPr lang="en-US" altLang="ko-KR" dirty="0" smtClean="0"/>
            </a:br>
            <a:r>
              <a:rPr lang="en-US" altLang="ko-KR" dirty="0" smtClean="0"/>
              <a:t/>
            </a:r>
            <a:br>
              <a:rPr lang="en-US" altLang="ko-KR" dirty="0" smtClean="0"/>
            </a:br>
            <a:r>
              <a:rPr lang="en-US" altLang="ko-KR" sz="2000" dirty="0" smtClean="0"/>
              <a:t>• </a:t>
            </a:r>
            <a:r>
              <a:rPr lang="ko-KR" altLang="en-US" sz="2000" dirty="0" smtClean="0"/>
              <a:t>캐릭터와 </a:t>
            </a:r>
            <a:r>
              <a:rPr lang="ko-KR" altLang="en-US" sz="2000" dirty="0" err="1" smtClean="0"/>
              <a:t>몬스터</a:t>
            </a:r>
            <a:r>
              <a:rPr lang="ko-KR" altLang="en-US" sz="2000" dirty="0" smtClean="0"/>
              <a:t> 각각의 </a:t>
            </a:r>
            <a:r>
              <a:rPr lang="ko-KR" altLang="en-US" sz="2000" dirty="0" err="1" smtClean="0"/>
              <a:t>컨셉에</a:t>
            </a:r>
            <a:r>
              <a:rPr lang="ko-KR" altLang="en-US" sz="2000" dirty="0" smtClean="0"/>
              <a:t> 맞는 전투 방식과 능력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수치와 상성을 기반으로 공식을 설정하여 실질적인 전투 시스템 기획</a:t>
            </a:r>
            <a:endParaRPr lang="en-US" altLang="ko-KR" sz="2000" dirty="0" smtClean="0"/>
          </a:p>
          <a:p>
            <a:r>
              <a:rPr lang="en-US" altLang="ko-KR" sz="2000" dirty="0" smtClean="0"/>
              <a:t/>
            </a:r>
            <a:br>
              <a:rPr lang="en-US" altLang="ko-KR" sz="2000" dirty="0" smtClean="0"/>
            </a:br>
            <a:r>
              <a:rPr lang="en-US" altLang="ko-KR" sz="2000" dirty="0" smtClean="0"/>
              <a:t>• </a:t>
            </a:r>
            <a:r>
              <a:rPr lang="ko-KR" altLang="en-US" sz="2000" dirty="0" smtClean="0"/>
              <a:t>아이템과 </a:t>
            </a:r>
            <a:r>
              <a:rPr lang="ko-KR" altLang="en-US" sz="2000" dirty="0" err="1" smtClean="0"/>
              <a:t>레벨업을</a:t>
            </a:r>
            <a:r>
              <a:rPr lang="ko-KR" altLang="en-US" sz="2000" dirty="0" smtClean="0"/>
              <a:t> 고려한 </a:t>
            </a:r>
            <a:r>
              <a:rPr lang="ko-KR" altLang="en-US" sz="2000" dirty="0" err="1" smtClean="0"/>
              <a:t>스테이터스</a:t>
            </a:r>
            <a:r>
              <a:rPr lang="ko-KR" altLang="en-US" sz="2000" dirty="0" smtClean="0"/>
              <a:t> 밸런스 설정과 조정</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 </a:t>
            </a:r>
            <a:r>
              <a:rPr lang="ko-KR" altLang="en-US" sz="2000" dirty="0" err="1" smtClean="0"/>
              <a:t>던전</a:t>
            </a:r>
            <a:r>
              <a:rPr lang="ko-KR" altLang="en-US" sz="2000" dirty="0" smtClean="0"/>
              <a:t> 내 세부 </a:t>
            </a:r>
            <a:r>
              <a:rPr lang="ko-KR" altLang="en-US" sz="2000" dirty="0" err="1" smtClean="0"/>
              <a:t>에어리어들</a:t>
            </a:r>
            <a:r>
              <a:rPr lang="ko-KR" altLang="en-US" sz="2000" dirty="0" smtClean="0"/>
              <a:t> 및 전투</a:t>
            </a:r>
            <a:r>
              <a:rPr lang="en-US" altLang="ko-KR" sz="2000" dirty="0" smtClean="0"/>
              <a:t>(</a:t>
            </a:r>
            <a:r>
              <a:rPr lang="ko-KR" altLang="en-US" sz="2000" dirty="0" err="1" smtClean="0"/>
              <a:t>던전</a:t>
            </a:r>
            <a:r>
              <a:rPr lang="en-US" altLang="ko-KR" sz="2000" dirty="0" smtClean="0"/>
              <a:t>)</a:t>
            </a:r>
            <a:r>
              <a:rPr lang="ko-KR" altLang="en-US" sz="2000" dirty="0" smtClean="0"/>
              <a:t> 레벨 디자인 기획</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a:t>• </a:t>
            </a:r>
            <a:r>
              <a:rPr lang="en-US" altLang="ko-KR" sz="2000" dirty="0" smtClean="0"/>
              <a:t/>
            </a:r>
            <a:br>
              <a:rPr lang="en-US" altLang="ko-KR" sz="2000" dirty="0" smtClean="0"/>
            </a:br>
            <a:r>
              <a:rPr lang="en-US" altLang="ko-KR" sz="2000" dirty="0" smtClean="0"/>
              <a:t/>
            </a:r>
            <a:br>
              <a:rPr lang="en-US" altLang="ko-KR" sz="2000" dirty="0" smtClean="0"/>
            </a:b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39</a:t>
            </a:fld>
            <a:endParaRPr lang="ko-KR" altLang="en-US" sz="1800" dirty="0"/>
          </a:p>
        </p:txBody>
      </p:sp>
    </p:spTree>
    <p:extLst>
      <p:ext uri="{BB962C8B-B14F-4D97-AF65-F5344CB8AC3E}">
        <p14:creationId xmlns:p14="http://schemas.microsoft.com/office/powerpoint/2010/main" val="365374363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기획서 제작 계획</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089296" y="797899"/>
            <a:ext cx="2127705"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보완점</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661305" y="1539074"/>
            <a:ext cx="10869388" cy="4462760"/>
          </a:xfrm>
          <a:prstGeom prst="rect">
            <a:avLst/>
          </a:prstGeom>
          <a:noFill/>
        </p:spPr>
        <p:txBody>
          <a:bodyPr wrap="square" rtlCol="0">
            <a:spAutoFit/>
          </a:bodyPr>
          <a:lstStyle/>
          <a:p>
            <a:r>
              <a:rPr lang="en-US" altLang="ko-KR" sz="2000" dirty="0"/>
              <a:t>• </a:t>
            </a:r>
            <a:r>
              <a:rPr lang="ko-KR" altLang="ko-KR" sz="2000" dirty="0" smtClean="0"/>
              <a:t>구체적인 </a:t>
            </a:r>
            <a:r>
              <a:rPr lang="ko-KR" altLang="en-US" sz="2000" dirty="0" smtClean="0"/>
              <a:t>그래픽 </a:t>
            </a:r>
            <a:r>
              <a:rPr lang="ko-KR" altLang="en-US" sz="2000" dirty="0" err="1" smtClean="0"/>
              <a:t>컨셉과</a:t>
            </a:r>
            <a:r>
              <a:rPr lang="ko-KR" altLang="en-US" sz="2000" dirty="0" smtClean="0"/>
              <a:t> </a:t>
            </a:r>
            <a:r>
              <a:rPr lang="ko-KR" altLang="ko-KR" sz="2000" dirty="0" smtClean="0"/>
              <a:t>레벨 디자인</a:t>
            </a:r>
            <a:r>
              <a:rPr lang="en-US" altLang="ko-KR" sz="2000" dirty="0"/>
              <a:t>,</a:t>
            </a:r>
            <a:r>
              <a:rPr lang="ko-KR" altLang="en-US" sz="2000" dirty="0" smtClean="0"/>
              <a:t> </a:t>
            </a:r>
            <a:r>
              <a:rPr lang="en-US" altLang="ko-KR" sz="2000" dirty="0" smtClean="0"/>
              <a:t>UI</a:t>
            </a:r>
            <a:r>
              <a:rPr lang="ko-KR" altLang="ko-KR" sz="2000" dirty="0" smtClean="0"/>
              <a:t>에 </a:t>
            </a:r>
            <a:r>
              <a:rPr lang="ko-KR" altLang="ko-KR" sz="2000" dirty="0"/>
              <a:t>대한 </a:t>
            </a:r>
            <a:r>
              <a:rPr lang="ko-KR" altLang="ko-KR" sz="2000" dirty="0" smtClean="0"/>
              <a:t>기획</a:t>
            </a:r>
            <a:r>
              <a:rPr lang="ko-KR" altLang="en-US" sz="2000" dirty="0" smtClean="0"/>
              <a:t>의 빈약함</a:t>
            </a:r>
            <a:endParaRPr lang="en-US" altLang="ko-KR" sz="2000" dirty="0" smtClean="0"/>
          </a:p>
          <a:p>
            <a:r>
              <a:rPr lang="en-US" altLang="ko-KR" sz="2000" dirty="0" smtClean="0"/>
              <a:t> └&gt; </a:t>
            </a:r>
            <a:r>
              <a:rPr lang="ko-KR" altLang="en-US" sz="2000" dirty="0" smtClean="0"/>
              <a:t>레벨 디자인과 </a:t>
            </a:r>
            <a:r>
              <a:rPr lang="en-US" altLang="ko-KR" sz="2000" dirty="0" smtClean="0"/>
              <a:t>UI</a:t>
            </a:r>
            <a:r>
              <a:rPr lang="ko-KR" altLang="en-US" sz="2000" dirty="0" smtClean="0"/>
              <a:t>에 대한 기획을 통해 그래픽 </a:t>
            </a:r>
            <a:r>
              <a:rPr lang="ko-KR" altLang="en-US" sz="2000" dirty="0" err="1" smtClean="0"/>
              <a:t>컨셉을</a:t>
            </a:r>
            <a:r>
              <a:rPr lang="ko-KR" altLang="en-US" sz="2000" dirty="0" smtClean="0"/>
              <a:t> 밝히고 </a:t>
            </a:r>
            <a:r>
              <a:rPr lang="ko-KR" altLang="en-US" sz="2000" dirty="0" err="1" smtClean="0"/>
              <a:t>직관성을</a:t>
            </a:r>
            <a:r>
              <a:rPr lang="ko-KR" altLang="en-US" sz="2000" dirty="0" smtClean="0"/>
              <a:t> 높여야 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ko-KR" sz="2000" dirty="0" smtClean="0"/>
              <a:t>수사 </a:t>
            </a:r>
            <a:r>
              <a:rPr lang="ko-KR" altLang="ko-KR" sz="2000" dirty="0"/>
              <a:t>과정을 표현한 것이 단순한 스킬 체크 방식이었던 </a:t>
            </a:r>
            <a:r>
              <a:rPr lang="ko-KR" altLang="en-US" sz="2000" dirty="0"/>
              <a:t>점</a:t>
            </a:r>
            <a:endParaRPr lang="en-US" altLang="ko-KR" sz="2000" dirty="0" smtClean="0"/>
          </a:p>
          <a:p>
            <a:r>
              <a:rPr lang="en-US" altLang="ko-KR" sz="2000" dirty="0" smtClean="0"/>
              <a:t> └&gt; </a:t>
            </a:r>
            <a:r>
              <a:rPr lang="ko-KR" altLang="en-US" sz="2000" dirty="0" smtClean="0"/>
              <a:t>너무 어렵지 않으면서도 긴장감을 줄 수 있는 다양한 미니게임 고안이 필요하다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시스템 요소들의 구체적인 수치에 대한 기획이 전무</a:t>
            </a:r>
            <a:endParaRPr lang="en-US" altLang="ko-KR" sz="2000" dirty="0" smtClean="0"/>
          </a:p>
          <a:p>
            <a:r>
              <a:rPr lang="en-US" altLang="ko-KR" sz="2000" dirty="0" smtClean="0"/>
              <a:t> </a:t>
            </a:r>
            <a:r>
              <a:rPr lang="en-US" altLang="ko-KR" sz="2000" dirty="0"/>
              <a:t>└</a:t>
            </a:r>
            <a:r>
              <a:rPr lang="en-US" altLang="ko-KR" sz="2000" dirty="0" smtClean="0"/>
              <a:t>&gt; </a:t>
            </a:r>
            <a:r>
              <a:rPr lang="ko-KR" altLang="en-US" sz="2000" dirty="0" err="1" smtClean="0"/>
              <a:t>범죄율</a:t>
            </a:r>
            <a:r>
              <a:rPr lang="en-US" altLang="ko-KR" sz="2000" dirty="0" smtClean="0"/>
              <a:t>, </a:t>
            </a:r>
            <a:r>
              <a:rPr lang="ko-KR" altLang="en-US" sz="2000" dirty="0" smtClean="0"/>
              <a:t>명성</a:t>
            </a:r>
            <a:r>
              <a:rPr lang="en-US" altLang="ko-KR" sz="2000" dirty="0" smtClean="0"/>
              <a:t>, </a:t>
            </a:r>
            <a:r>
              <a:rPr lang="ko-KR" altLang="en-US" sz="2000" dirty="0" smtClean="0"/>
              <a:t>자금</a:t>
            </a:r>
            <a:r>
              <a:rPr lang="en-US" altLang="ko-KR" sz="2000" dirty="0" smtClean="0"/>
              <a:t>(</a:t>
            </a:r>
            <a:r>
              <a:rPr lang="ko-KR" altLang="en-US" sz="2000" dirty="0" smtClean="0"/>
              <a:t>가격</a:t>
            </a:r>
            <a:r>
              <a:rPr lang="en-US" altLang="ko-KR" sz="2000" dirty="0" smtClean="0"/>
              <a:t>) </a:t>
            </a:r>
            <a:r>
              <a:rPr lang="ko-KR" altLang="en-US" sz="2000" dirty="0" smtClean="0"/>
              <a:t>등에 대한 밸런스 디자인이 요구된다</a:t>
            </a:r>
            <a:r>
              <a:rPr lang="en-US" altLang="ko-KR" sz="2000" dirty="0" smtClean="0"/>
              <a:t>.</a:t>
            </a:r>
            <a:br>
              <a:rPr lang="en-US" altLang="ko-KR" sz="2000" dirty="0" smtClean="0"/>
            </a:br>
            <a:r>
              <a:rPr lang="en-US" altLang="ko-KR" sz="2000" dirty="0" smtClean="0"/>
              <a:t/>
            </a:r>
            <a:br>
              <a:rPr lang="en-US" altLang="ko-KR" sz="2000" dirty="0" smtClean="0"/>
            </a:br>
            <a:r>
              <a:rPr lang="en-US" altLang="ko-KR" sz="2000" dirty="0"/>
              <a:t>• </a:t>
            </a:r>
            <a:r>
              <a:rPr lang="ko-KR" altLang="en-US" sz="2000" dirty="0" smtClean="0"/>
              <a:t>선택 요소들과 </a:t>
            </a:r>
            <a:r>
              <a:rPr lang="ko-KR" altLang="ko-KR" sz="2000" dirty="0" smtClean="0"/>
              <a:t>이벤트 소개</a:t>
            </a:r>
            <a:r>
              <a:rPr lang="ko-KR" altLang="en-US" sz="2000" dirty="0" smtClean="0"/>
              <a:t>의 모호함</a:t>
            </a:r>
            <a:endParaRPr lang="en-US" altLang="ko-KR" sz="2000" dirty="0" smtClean="0"/>
          </a:p>
          <a:p>
            <a:r>
              <a:rPr lang="en-US" altLang="ko-KR" sz="2000" dirty="0" smtClean="0"/>
              <a:t> └</a:t>
            </a:r>
            <a:r>
              <a:rPr lang="en-US" altLang="ko-KR" sz="2000" dirty="0"/>
              <a:t>&gt; </a:t>
            </a:r>
            <a:r>
              <a:rPr lang="ko-KR" altLang="en-US" sz="2000" dirty="0" smtClean="0"/>
              <a:t>핵심 선택 요소들과 특수 이벤트들을 간추려 구체적으로 제시할 필요가 있다</a:t>
            </a:r>
            <a:r>
              <a:rPr lang="en-US" altLang="ko-KR" sz="2000" dirty="0"/>
              <a:t>.</a:t>
            </a:r>
            <a:br>
              <a:rPr lang="en-US" altLang="ko-KR" sz="2000" dirty="0"/>
            </a:br>
            <a:r>
              <a:rPr lang="en-US" altLang="ko-KR" sz="2000" dirty="0"/>
              <a:t/>
            </a:r>
            <a:br>
              <a:rPr lang="en-US" altLang="ko-KR" sz="2000" dirty="0"/>
            </a:br>
            <a:r>
              <a:rPr lang="en-US" altLang="ko-KR" sz="2000" dirty="0"/>
              <a:t>• </a:t>
            </a:r>
            <a:r>
              <a:rPr lang="ko-KR" altLang="en-US" sz="2000" dirty="0" smtClean="0"/>
              <a:t>게임 플레이에 더욱 몰입할 수 있는 요소가 부족</a:t>
            </a:r>
            <a:endParaRPr lang="en-US" altLang="ko-KR" sz="2000" dirty="0"/>
          </a:p>
          <a:p>
            <a:r>
              <a:rPr lang="en-US" altLang="ko-KR" sz="2000" dirty="0"/>
              <a:t> └&gt; </a:t>
            </a:r>
            <a:r>
              <a:rPr lang="ko-KR" altLang="en-US" sz="2000" dirty="0" smtClean="0"/>
              <a:t>도전과제처럼 게이머의 도전 정신을 불러일으킬 수 있는 </a:t>
            </a:r>
            <a:r>
              <a:rPr lang="ko-KR" altLang="en-US" sz="2000" dirty="0" err="1" smtClean="0"/>
              <a:t>컨텐츠를</a:t>
            </a:r>
            <a:r>
              <a:rPr lang="ko-KR" altLang="en-US" sz="2000" dirty="0" smtClean="0"/>
              <a:t> 추가해야 한다</a:t>
            </a:r>
            <a:r>
              <a:rPr lang="en-US" altLang="ko-KR" sz="2000" dirty="0" smtClean="0"/>
              <a:t>.</a:t>
            </a:r>
            <a:endParaRPr lang="ko-KR" altLang="ko-KR" sz="20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40</a:t>
            </a:fld>
            <a:endParaRPr lang="ko-KR" altLang="en-US" sz="1800" dirty="0"/>
          </a:p>
        </p:txBody>
      </p:sp>
    </p:spTree>
    <p:extLst>
      <p:ext uri="{BB962C8B-B14F-4D97-AF65-F5344CB8AC3E}">
        <p14:creationId xmlns:p14="http://schemas.microsoft.com/office/powerpoint/2010/main" val="23974087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(1)</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1" y="1109945"/>
            <a:ext cx="11698516" cy="5078313"/>
          </a:xfrm>
          <a:prstGeom prst="rect">
            <a:avLst/>
          </a:prstGeom>
          <a:noFill/>
        </p:spPr>
        <p:txBody>
          <a:bodyPr wrap="square" rtlCol="0">
            <a:spAutoFit/>
          </a:bodyPr>
          <a:lstStyle/>
          <a:p>
            <a:pPr>
              <a:lnSpc>
                <a:spcPct val="150000"/>
              </a:lnSpc>
            </a:pPr>
            <a:r>
              <a:rPr lang="en-US" altLang="ko-KR" dirty="0" smtClean="0"/>
              <a:t>1-1) </a:t>
            </a:r>
            <a:r>
              <a:rPr lang="ko-KR" altLang="en-US" dirty="0" smtClean="0"/>
              <a:t>포켓몬스터 모바일 게임 속 전투 화면</a:t>
            </a:r>
            <a:endParaRPr lang="en-US" altLang="ko-KR" dirty="0" smtClean="0"/>
          </a:p>
          <a:p>
            <a:pPr>
              <a:lnSpc>
                <a:spcPct val="150000"/>
              </a:lnSpc>
            </a:pPr>
            <a:r>
              <a:rPr lang="en-US" altLang="ko-KR" dirty="0" smtClean="0">
                <a:hlinkClick r:id="rId2"/>
              </a:rPr>
              <a:t>https</a:t>
            </a:r>
            <a:r>
              <a:rPr lang="en-US" altLang="ko-KR" dirty="0">
                <a:hlinkClick r:id="rId2"/>
              </a:rPr>
              <a:t>://</a:t>
            </a:r>
            <a:r>
              <a:rPr lang="en-US" altLang="ko-KR" dirty="0" smtClean="0">
                <a:hlinkClick r:id="rId2"/>
              </a:rPr>
              <a:t>www.clien.net/service/board/park/12754454</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1-2</a:t>
            </a:r>
            <a:r>
              <a:rPr lang="en-US" altLang="ko-KR" dirty="0"/>
              <a:t>)</a:t>
            </a:r>
            <a:r>
              <a:rPr lang="en-US" altLang="ko-KR" dirty="0" smtClean="0"/>
              <a:t> ‘</a:t>
            </a:r>
            <a:r>
              <a:rPr lang="ko-KR" altLang="en-US" dirty="0" err="1" smtClean="0"/>
              <a:t>서머너즈</a:t>
            </a:r>
            <a:r>
              <a:rPr lang="ko-KR" altLang="en-US" dirty="0" smtClean="0"/>
              <a:t> 워</a:t>
            </a:r>
            <a:r>
              <a:rPr lang="en-US" altLang="ko-KR" dirty="0" smtClean="0"/>
              <a:t>’, </a:t>
            </a:r>
            <a:r>
              <a:rPr lang="ko-KR" altLang="en-US" dirty="0" smtClean="0"/>
              <a:t>아레나 전투 화면</a:t>
            </a:r>
            <a:endParaRPr lang="en-US" altLang="ko-KR" dirty="0" smtClean="0"/>
          </a:p>
          <a:p>
            <a:pPr>
              <a:lnSpc>
                <a:spcPct val="150000"/>
              </a:lnSpc>
            </a:pPr>
            <a:r>
              <a:rPr lang="en-US" altLang="ko-KR" dirty="0" smtClean="0">
                <a:hlinkClick r:id="rId3"/>
              </a:rPr>
              <a:t>http</a:t>
            </a:r>
            <a:r>
              <a:rPr lang="en-US" altLang="ko-KR" dirty="0">
                <a:hlinkClick r:id="rId3"/>
              </a:rPr>
              <a:t>://</a:t>
            </a:r>
            <a:r>
              <a:rPr lang="en-US" altLang="ko-KR" dirty="0" smtClean="0">
                <a:hlinkClick r:id="rId3"/>
              </a:rPr>
              <a:t>www.kukinews.com/news/article.html?no=467851</a:t>
            </a:r>
            <a:r>
              <a:rPr lang="en-US" altLang="ko-KR" dirty="0" smtClean="0"/>
              <a:t> (1</a:t>
            </a:r>
            <a:r>
              <a:rPr lang="ko-KR" altLang="en-US" dirty="0" smtClean="0"/>
              <a:t>번 </a:t>
            </a:r>
            <a:r>
              <a:rPr lang="ko-KR" altLang="en-US" dirty="0" err="1" smtClean="0"/>
              <a:t>스크린샷</a:t>
            </a:r>
            <a:r>
              <a:rPr lang="en-US" altLang="ko-KR" dirty="0" smtClean="0"/>
              <a:t>)</a:t>
            </a:r>
          </a:p>
          <a:p>
            <a:pPr>
              <a:lnSpc>
                <a:spcPct val="150000"/>
              </a:lnSpc>
            </a:pPr>
            <a:r>
              <a:rPr lang="en-US" altLang="ko-KR" dirty="0" smtClean="0"/>
              <a:t>2-1) ‘</a:t>
            </a:r>
            <a:r>
              <a:rPr lang="ko-KR" altLang="en-US" dirty="0" err="1" smtClean="0"/>
              <a:t>던그리드</a:t>
            </a:r>
            <a:r>
              <a:rPr lang="en-US" altLang="ko-KR" dirty="0" smtClean="0"/>
              <a:t>’, </a:t>
            </a:r>
            <a:r>
              <a:rPr lang="ko-KR" altLang="en-US" dirty="0" err="1" smtClean="0"/>
              <a:t>튜토리얼</a:t>
            </a:r>
            <a:r>
              <a:rPr lang="ko-KR" altLang="en-US" dirty="0" smtClean="0"/>
              <a:t> 속 던전의 출현 화면</a:t>
            </a:r>
            <a:endParaRPr lang="en-US" altLang="ko-KR" dirty="0" smtClean="0"/>
          </a:p>
          <a:p>
            <a:pPr>
              <a:lnSpc>
                <a:spcPct val="150000"/>
              </a:lnSpc>
            </a:pPr>
            <a:r>
              <a:rPr lang="en-US" altLang="ko-KR" dirty="0" smtClean="0">
                <a:hlinkClick r:id="rId4"/>
              </a:rPr>
              <a:t>https</a:t>
            </a:r>
            <a:r>
              <a:rPr lang="en-US" altLang="ko-KR" dirty="0">
                <a:hlinkClick r:id="rId4"/>
              </a:rPr>
              <a:t>://</a:t>
            </a:r>
            <a:r>
              <a:rPr lang="en-US" altLang="ko-KR" dirty="0" smtClean="0">
                <a:hlinkClick r:id="rId4"/>
              </a:rPr>
              <a:t>www.vingle.net/posts/2320991</a:t>
            </a:r>
            <a:r>
              <a:rPr lang="en-US" altLang="ko-KR" dirty="0" smtClean="0"/>
              <a:t> (</a:t>
            </a:r>
            <a:r>
              <a:rPr lang="en-US" altLang="ko-KR" dirty="0"/>
              <a:t>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-2) ‘</a:t>
            </a:r>
            <a:r>
              <a:rPr lang="ko-KR" altLang="en-US" dirty="0" err="1" smtClean="0"/>
              <a:t>다키스트</a:t>
            </a:r>
            <a:r>
              <a:rPr lang="ko-KR" altLang="en-US" dirty="0" smtClean="0"/>
              <a:t> 던전</a:t>
            </a:r>
            <a:r>
              <a:rPr lang="en-US" altLang="ko-KR" dirty="0" smtClean="0"/>
              <a:t>’, </a:t>
            </a:r>
            <a:r>
              <a:rPr lang="ko-KR" altLang="en-US" dirty="0" smtClean="0"/>
              <a:t>던전 전투 화면</a:t>
            </a:r>
            <a:endParaRPr lang="en-US" altLang="ko-KR" dirty="0" smtClean="0"/>
          </a:p>
          <a:p>
            <a:pPr>
              <a:lnSpc>
                <a:spcPct val="150000"/>
              </a:lnSpc>
            </a:pPr>
            <a:r>
              <a:rPr lang="en-US" altLang="ko-KR" dirty="0" smtClean="0">
                <a:hlinkClick r:id="rId5"/>
              </a:rPr>
              <a:t>https</a:t>
            </a:r>
            <a:r>
              <a:rPr lang="en-US" altLang="ko-KR" dirty="0">
                <a:hlinkClick r:id="rId5"/>
              </a:rPr>
              <a:t>://steamcommunity.com/sharedfiles/filedetails/?</a:t>
            </a:r>
            <a:r>
              <a:rPr lang="en-US" altLang="ko-KR" dirty="0" smtClean="0">
                <a:hlinkClick r:id="rId5"/>
              </a:rPr>
              <a:t>id=396427946</a:t>
            </a:r>
            <a:r>
              <a:rPr lang="en-US" altLang="ko-KR" dirty="0" smtClean="0"/>
              <a:t> (11</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-3) ‘</a:t>
            </a:r>
            <a:r>
              <a:rPr lang="ko-KR" altLang="en-US" dirty="0" err="1" smtClean="0"/>
              <a:t>아이작의</a:t>
            </a:r>
            <a:r>
              <a:rPr lang="ko-KR" altLang="en-US" dirty="0" smtClean="0"/>
              <a:t> </a:t>
            </a:r>
            <a:r>
              <a:rPr lang="ko-KR" altLang="en-US" dirty="0" err="1" smtClean="0"/>
              <a:t>번제</a:t>
            </a:r>
            <a:r>
              <a:rPr lang="en-US" altLang="ko-KR" dirty="0" smtClean="0"/>
              <a:t>‘, </a:t>
            </a:r>
            <a:r>
              <a:rPr lang="ko-KR" altLang="en-US" dirty="0" smtClean="0"/>
              <a:t>사망 결과 화면</a:t>
            </a:r>
            <a:endParaRPr lang="en-US" altLang="ko-KR" dirty="0" smtClean="0"/>
          </a:p>
          <a:p>
            <a:pPr>
              <a:lnSpc>
                <a:spcPct val="150000"/>
              </a:lnSpc>
            </a:pPr>
            <a:r>
              <a:rPr lang="en-US" altLang="ko-KR" dirty="0" smtClean="0">
                <a:hlinkClick r:id="rId6"/>
              </a:rPr>
              <a:t>https</a:t>
            </a:r>
            <a:r>
              <a:rPr lang="en-US" altLang="ko-KR" dirty="0">
                <a:hlinkClick r:id="rId6"/>
              </a:rPr>
              <a:t>://entropymag.org/hobby-horse-anatomy-bawdy-and-body-in-the-binding-of-isaac-ch-3</a:t>
            </a:r>
            <a:r>
              <a:rPr lang="en-US" altLang="ko-KR" dirty="0" smtClean="0">
                <a:hlinkClick r:id="rId6"/>
              </a:rPr>
              <a:t>/</a:t>
            </a:r>
            <a:r>
              <a:rPr lang="en-US" altLang="ko-KR" dirty="0" smtClean="0"/>
              <a:t> (2</a:t>
            </a:r>
            <a:r>
              <a:rPr lang="ko-KR" altLang="en-US" dirty="0" smtClean="0"/>
              <a:t>번 </a:t>
            </a:r>
            <a:r>
              <a:rPr lang="ko-KR" altLang="en-US" dirty="0" err="1" smtClean="0"/>
              <a:t>스크린샷</a:t>
            </a:r>
            <a:r>
              <a:rPr lang="en-US" altLang="ko-KR" dirty="0" smtClean="0"/>
              <a:t>)</a:t>
            </a:r>
          </a:p>
          <a:p>
            <a:pPr>
              <a:lnSpc>
                <a:spcPct val="150000"/>
              </a:lnSpc>
            </a:pPr>
            <a:r>
              <a:rPr lang="en-US" altLang="ko-KR" dirty="0"/>
              <a:t>2</a:t>
            </a:r>
            <a:r>
              <a:rPr lang="en-US" altLang="ko-KR" dirty="0" smtClean="0"/>
              <a:t>-4) ‘</a:t>
            </a:r>
            <a:r>
              <a:rPr lang="ko-KR" altLang="en-US" dirty="0" smtClean="0"/>
              <a:t>던전 메이커</a:t>
            </a:r>
            <a:r>
              <a:rPr lang="en-US" altLang="ko-KR" dirty="0" smtClean="0"/>
              <a:t>’, </a:t>
            </a:r>
            <a:r>
              <a:rPr lang="ko-KR" altLang="en-US" dirty="0" smtClean="0"/>
              <a:t>보유 몬스터 화면</a:t>
            </a:r>
            <a:endParaRPr lang="en-US" altLang="ko-KR" dirty="0" smtClean="0"/>
          </a:p>
          <a:p>
            <a:pPr>
              <a:lnSpc>
                <a:spcPct val="150000"/>
              </a:lnSpc>
            </a:pPr>
            <a:r>
              <a:rPr lang="en-US" altLang="ko-KR" dirty="0">
                <a:hlinkClick r:id="rId7"/>
              </a:rPr>
              <a:t>https://</a:t>
            </a:r>
            <a:r>
              <a:rPr lang="en-US" altLang="ko-KR" dirty="0" smtClean="0">
                <a:hlinkClick r:id="rId7"/>
              </a:rPr>
              <a:t>minimap.net/game/dungeon-maker/review</a:t>
            </a:r>
            <a:r>
              <a:rPr lang="en-US" altLang="ko-KR" dirty="0" smtClean="0"/>
              <a:t> (9</a:t>
            </a:r>
            <a:r>
              <a:rPr lang="ko-KR" altLang="en-US" dirty="0" smtClean="0"/>
              <a:t>번 </a:t>
            </a:r>
            <a:r>
              <a:rPr lang="ko-KR" altLang="en-US" dirty="0" err="1"/>
              <a:t>스크린샷</a:t>
            </a:r>
            <a:r>
              <a:rPr lang="en-US" altLang="ko-KR" dirty="0" smtClean="0"/>
              <a:t>)</a:t>
            </a: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41</a:t>
            </a:fld>
            <a:endParaRPr lang="ko-KR" altLang="en-US" sz="1800" dirty="0"/>
          </a:p>
        </p:txBody>
      </p:sp>
    </p:spTree>
    <p:extLst>
      <p:ext uri="{BB962C8B-B14F-4D97-AF65-F5344CB8AC3E}">
        <p14:creationId xmlns:p14="http://schemas.microsoft.com/office/powerpoint/2010/main" val="10383434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참고문헌 </a:t>
            </a:r>
            <a:r>
              <a:rPr lang="en-US" altLang="ko-KR"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(2)</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4886323" y="620053"/>
            <a:ext cx="2419351" cy="584775"/>
          </a:xfrm>
          <a:prstGeom prst="rect">
            <a:avLst/>
          </a:prstGeom>
          <a:noFill/>
        </p:spPr>
        <p:txBody>
          <a:bodyPr wrap="square" rtlCol="0">
            <a:spAutoFit/>
          </a:bodyPr>
          <a:lstStyle/>
          <a:p>
            <a:r>
              <a:rPr lang="en-US" altLang="ko-KR" sz="3200" b="1" dirty="0" smtClean="0">
                <a:gradFill>
                  <a:gsLst>
                    <a:gs pos="0">
                      <a:schemeClr val="tx1"/>
                    </a:gs>
                    <a:gs pos="100000">
                      <a:schemeClr val="tx1"/>
                    </a:gs>
                  </a:gsLst>
                  <a:lin ang="5400000" scaled="1"/>
                </a:gradFill>
                <a:latin typeface="맑은 고딕" panose="020B0503020000020004" pitchFamily="50" charset="-127"/>
              </a:rPr>
              <a:t>&lt;</a:t>
            </a:r>
            <a:r>
              <a:rPr lang="ko-KR" altLang="en-US" sz="3200" b="1" dirty="0" smtClean="0">
                <a:gradFill>
                  <a:gsLst>
                    <a:gs pos="0">
                      <a:schemeClr val="tx1"/>
                    </a:gs>
                    <a:gs pos="100000">
                      <a:schemeClr val="tx1"/>
                    </a:gs>
                  </a:gsLst>
                  <a:lin ang="5400000" scaled="1"/>
                </a:gradFill>
                <a:latin typeface="맑은 고딕" panose="020B0503020000020004" pitchFamily="50" charset="-127"/>
              </a:rPr>
              <a:t>참고문헌</a:t>
            </a:r>
            <a:r>
              <a:rPr lang="en-US" altLang="ko-KR" sz="3200" b="1" dirty="0" smtClean="0">
                <a:gradFill>
                  <a:gsLst>
                    <a:gs pos="0">
                      <a:schemeClr val="tx1"/>
                    </a:gs>
                    <a:gs pos="100000">
                      <a:schemeClr val="tx1"/>
                    </a:gs>
                  </a:gsLst>
                  <a:lin ang="5400000" scaled="1"/>
                </a:gradFill>
                <a:latin typeface="맑은 고딕" panose="020B0503020000020004" pitchFamily="50" charset="-127"/>
              </a:rPr>
              <a:t>&gt;</a:t>
            </a:r>
            <a:endParaRPr lang="ko-KR" altLang="en-US" sz="3200" b="1" dirty="0">
              <a:gradFill>
                <a:gsLst>
                  <a:gs pos="0">
                    <a:schemeClr val="tx1"/>
                  </a:gs>
                  <a:gs pos="100000">
                    <a:schemeClr val="tx1"/>
                  </a:gs>
                </a:gsLst>
                <a:lin ang="5400000" scaled="1"/>
              </a:gradFill>
              <a:latin typeface="맑은 고딕" panose="020B0503020000020004" pitchFamily="50" charset="-127"/>
            </a:endParaRPr>
          </a:p>
        </p:txBody>
      </p:sp>
      <p:sp>
        <p:nvSpPr>
          <p:cNvPr id="7" name="TextBox 6"/>
          <p:cNvSpPr txBox="1"/>
          <p:nvPr/>
        </p:nvSpPr>
        <p:spPr>
          <a:xfrm>
            <a:off x="246740" y="1217411"/>
            <a:ext cx="11698516" cy="5493812"/>
          </a:xfrm>
          <a:prstGeom prst="rect">
            <a:avLst/>
          </a:prstGeom>
          <a:noFill/>
        </p:spPr>
        <p:txBody>
          <a:bodyPr wrap="square" rtlCol="0">
            <a:spAutoFit/>
          </a:bodyPr>
          <a:lstStyle/>
          <a:p>
            <a:pPr>
              <a:lnSpc>
                <a:spcPct val="150000"/>
              </a:lnSpc>
            </a:pPr>
            <a:r>
              <a:rPr lang="en-US" altLang="ko-KR" dirty="0" smtClean="0"/>
              <a:t>2-5) ‘</a:t>
            </a:r>
            <a:r>
              <a:rPr lang="ko-KR" altLang="en-US" dirty="0" err="1" smtClean="0"/>
              <a:t>던그리드</a:t>
            </a:r>
            <a:r>
              <a:rPr lang="en-US" altLang="ko-KR" dirty="0" smtClean="0"/>
              <a:t>’, </a:t>
            </a:r>
            <a:r>
              <a:rPr lang="ko-KR" altLang="en-US" dirty="0" smtClean="0"/>
              <a:t>의상실 화면</a:t>
            </a:r>
            <a:endParaRPr lang="en-US" altLang="ko-KR" dirty="0" smtClean="0"/>
          </a:p>
          <a:p>
            <a:pPr>
              <a:lnSpc>
                <a:spcPct val="150000"/>
              </a:lnSpc>
            </a:pPr>
            <a:r>
              <a:rPr lang="en-US" altLang="ko-KR" dirty="0">
                <a:hlinkClick r:id="rId2"/>
              </a:rPr>
              <a:t>https://</a:t>
            </a:r>
            <a:r>
              <a:rPr lang="en-US" altLang="ko-KR" dirty="0" smtClean="0">
                <a:hlinkClick r:id="rId2"/>
              </a:rPr>
              <a:t>realust.tistory.com/506</a:t>
            </a:r>
            <a:r>
              <a:rPr lang="en-US" altLang="ko-KR" dirty="0" smtClean="0"/>
              <a:t> (4</a:t>
            </a:r>
            <a:r>
              <a:rPr lang="ko-KR" altLang="en-US" dirty="0" smtClean="0"/>
              <a:t>번 </a:t>
            </a:r>
            <a:r>
              <a:rPr lang="ko-KR" altLang="en-US" dirty="0" err="1"/>
              <a:t>스크린샷</a:t>
            </a:r>
            <a:r>
              <a:rPr lang="en-US" altLang="ko-KR" dirty="0"/>
              <a:t>)</a:t>
            </a:r>
          </a:p>
          <a:p>
            <a:pPr>
              <a:lnSpc>
                <a:spcPct val="150000"/>
              </a:lnSpc>
            </a:pPr>
            <a:r>
              <a:rPr lang="en-US" altLang="ko-KR" dirty="0" smtClean="0"/>
              <a:t>2-6) ‘</a:t>
            </a:r>
            <a:r>
              <a:rPr lang="ko-KR" altLang="en-US" dirty="0" smtClean="0"/>
              <a:t>몬스터슈퍼리그</a:t>
            </a:r>
            <a:r>
              <a:rPr lang="en-US" altLang="ko-KR" dirty="0" smtClean="0"/>
              <a:t>’, </a:t>
            </a:r>
            <a:r>
              <a:rPr lang="ko-KR" altLang="en-US" dirty="0" smtClean="0"/>
              <a:t>몬스터 획득 장면</a:t>
            </a:r>
            <a:endParaRPr lang="en-US" altLang="ko-KR" dirty="0" smtClean="0"/>
          </a:p>
          <a:p>
            <a:pPr>
              <a:lnSpc>
                <a:spcPct val="150000"/>
              </a:lnSpc>
            </a:pPr>
            <a:r>
              <a:rPr lang="en-US" altLang="ko-KR" dirty="0">
                <a:hlinkClick r:id="rId3"/>
              </a:rPr>
              <a:t>http://www.thisisgame.com/webzine/game/nboard/19/?</a:t>
            </a:r>
            <a:r>
              <a:rPr lang="en-US" altLang="ko-KR" dirty="0" smtClean="0">
                <a:hlinkClick r:id="rId3"/>
              </a:rPr>
              <a:t>page=13&amp;n=64534</a:t>
            </a:r>
            <a:r>
              <a:rPr lang="en-US" altLang="ko-KR" dirty="0" smtClean="0"/>
              <a:t> (</a:t>
            </a:r>
            <a:r>
              <a:rPr lang="en-US" altLang="ko-KR" dirty="0"/>
              <a:t>4</a:t>
            </a:r>
            <a:r>
              <a:rPr lang="ko-KR" altLang="en-US" dirty="0"/>
              <a:t>번 </a:t>
            </a:r>
            <a:r>
              <a:rPr lang="ko-KR" altLang="en-US" dirty="0" err="1"/>
              <a:t>스크린샷</a:t>
            </a:r>
            <a:r>
              <a:rPr lang="en-US" altLang="ko-KR" dirty="0"/>
              <a:t>)</a:t>
            </a:r>
          </a:p>
          <a:p>
            <a:pPr>
              <a:lnSpc>
                <a:spcPct val="150000"/>
              </a:lnSpc>
            </a:pPr>
            <a:r>
              <a:rPr lang="en-US" altLang="ko-KR" dirty="0" smtClean="0"/>
              <a:t>2-7) ‘</a:t>
            </a:r>
            <a:r>
              <a:rPr lang="ko-KR" altLang="en-US" dirty="0" err="1" smtClean="0"/>
              <a:t>마계전기</a:t>
            </a:r>
            <a:r>
              <a:rPr lang="ko-KR" altLang="en-US" dirty="0" smtClean="0"/>
              <a:t> </a:t>
            </a:r>
            <a:r>
              <a:rPr lang="ko-KR" altLang="en-US" dirty="0" err="1" smtClean="0"/>
              <a:t>디스가이아</a:t>
            </a:r>
            <a:r>
              <a:rPr lang="ko-KR" altLang="en-US" dirty="0" smtClean="0"/>
              <a:t> </a:t>
            </a:r>
            <a:r>
              <a:rPr lang="en-US" altLang="ko-KR" dirty="0" smtClean="0"/>
              <a:t>5’</a:t>
            </a:r>
          </a:p>
          <a:p>
            <a:pPr>
              <a:lnSpc>
                <a:spcPct val="150000"/>
              </a:lnSpc>
            </a:pPr>
            <a:r>
              <a:rPr lang="en-US" altLang="ko-KR" dirty="0">
                <a:hlinkClick r:id="rId4"/>
              </a:rPr>
              <a:t>http://www.thisisgame.com/pad/tboard/?</a:t>
            </a:r>
            <a:r>
              <a:rPr lang="en-US" altLang="ko-KR" dirty="0" smtClean="0">
                <a:hlinkClick r:id="rId4"/>
              </a:rPr>
              <a:t>board=37&amp;n=286482</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2-8) ‘</a:t>
            </a:r>
            <a:r>
              <a:rPr lang="ko-KR" altLang="en-US" dirty="0" err="1" smtClean="0"/>
              <a:t>미소스</a:t>
            </a:r>
            <a:r>
              <a:rPr lang="ko-KR" altLang="en-US" dirty="0" smtClean="0"/>
              <a:t> 영웅전 </a:t>
            </a:r>
            <a:r>
              <a:rPr lang="en-US" altLang="ko-KR" dirty="0" smtClean="0"/>
              <a:t>for </a:t>
            </a:r>
            <a:r>
              <a:rPr lang="en-US" altLang="ko-KR" dirty="0" err="1" smtClean="0"/>
              <a:t>kakao</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5"/>
              </a:rPr>
              <a:t>http://www.thisisgame.com/mobile/nboard/1/?</a:t>
            </a:r>
            <a:r>
              <a:rPr lang="en-US" altLang="ko-KR" dirty="0" smtClean="0">
                <a:hlinkClick r:id="rId5"/>
              </a:rPr>
              <a:t>n=55660&amp;mode=print</a:t>
            </a:r>
            <a:r>
              <a:rPr lang="en-US" altLang="ko-KR" dirty="0" smtClean="0"/>
              <a:t> (7</a:t>
            </a:r>
            <a:r>
              <a:rPr lang="ko-KR" altLang="en-US" dirty="0" smtClean="0"/>
              <a:t>번 </a:t>
            </a:r>
            <a:r>
              <a:rPr lang="ko-KR" altLang="en-US" dirty="0" err="1"/>
              <a:t>스크린샷</a:t>
            </a:r>
            <a:r>
              <a:rPr lang="en-US" altLang="ko-KR" dirty="0"/>
              <a:t>)</a:t>
            </a:r>
          </a:p>
          <a:p>
            <a:pPr>
              <a:lnSpc>
                <a:spcPct val="150000"/>
              </a:lnSpc>
            </a:pPr>
            <a:r>
              <a:rPr lang="en-US" altLang="ko-KR" dirty="0" smtClean="0"/>
              <a:t>2-9) ‘</a:t>
            </a:r>
            <a:r>
              <a:rPr lang="ko-KR" altLang="en-US" dirty="0" err="1" smtClean="0"/>
              <a:t>그랜드체이스</a:t>
            </a:r>
            <a:r>
              <a:rPr lang="ko-KR" altLang="en-US" dirty="0" smtClean="0"/>
              <a:t> 올스타</a:t>
            </a:r>
            <a:r>
              <a:rPr lang="en-US" altLang="ko-KR" dirty="0" smtClean="0"/>
              <a:t>’, </a:t>
            </a:r>
            <a:r>
              <a:rPr lang="ko-KR" altLang="en-US" dirty="0" smtClean="0"/>
              <a:t>전투 장면</a:t>
            </a:r>
            <a:endParaRPr lang="en-US" altLang="ko-KR" dirty="0" smtClean="0"/>
          </a:p>
          <a:p>
            <a:pPr>
              <a:lnSpc>
                <a:spcPct val="150000"/>
              </a:lnSpc>
            </a:pPr>
            <a:r>
              <a:rPr lang="en-US" altLang="ko-KR" dirty="0">
                <a:hlinkClick r:id="rId6"/>
              </a:rPr>
              <a:t>http://www.thisisgame.com/mobile/nboard/1/?</a:t>
            </a:r>
            <a:r>
              <a:rPr lang="en-US" altLang="ko-KR" dirty="0" smtClean="0">
                <a:hlinkClick r:id="rId6"/>
              </a:rPr>
              <a:t>n=51285</a:t>
            </a:r>
            <a:r>
              <a:rPr lang="en-US" altLang="ko-KR" dirty="0" smtClean="0"/>
              <a:t> (2</a:t>
            </a:r>
            <a:r>
              <a:rPr lang="ko-KR" altLang="en-US" dirty="0" smtClean="0"/>
              <a:t>번 </a:t>
            </a:r>
            <a:r>
              <a:rPr lang="ko-KR" altLang="en-US" dirty="0" err="1"/>
              <a:t>스크린샷</a:t>
            </a:r>
            <a:r>
              <a:rPr lang="en-US" altLang="ko-KR" dirty="0"/>
              <a:t>)</a:t>
            </a:r>
          </a:p>
          <a:p>
            <a:pPr>
              <a:lnSpc>
                <a:spcPct val="150000"/>
              </a:lnSpc>
            </a:pPr>
            <a:r>
              <a:rPr lang="en-US" altLang="ko-KR" dirty="0"/>
              <a:t>2-10) </a:t>
            </a:r>
            <a:r>
              <a:rPr lang="en-US" altLang="ko-KR" dirty="0">
                <a:hlinkClick r:id="rId7"/>
              </a:rPr>
              <a:t>https://store.steampowered.com/app/785740/This_Is_the_Police_2/</a:t>
            </a:r>
            <a:r>
              <a:rPr lang="en-US" altLang="ko-KR" dirty="0"/>
              <a:t> (2</a:t>
            </a:r>
            <a:r>
              <a:rPr lang="ko-KR" altLang="en-US" dirty="0"/>
              <a:t>번 </a:t>
            </a:r>
            <a:r>
              <a:rPr lang="ko-KR" altLang="en-US" dirty="0" err="1"/>
              <a:t>스크린샷</a:t>
            </a:r>
            <a:r>
              <a:rPr lang="en-US" altLang="ko-KR" dirty="0"/>
              <a:t>)</a:t>
            </a:r>
          </a:p>
          <a:p>
            <a:pPr>
              <a:lnSpc>
                <a:spcPct val="150000"/>
              </a:lnSpc>
            </a:pPr>
            <a:r>
              <a:rPr lang="en-US" altLang="ko-KR" dirty="0"/>
              <a:t>2-11) </a:t>
            </a:r>
            <a:r>
              <a:rPr lang="en-US" altLang="ko-KR" dirty="0">
                <a:hlinkClick r:id="rId8"/>
              </a:rPr>
              <a:t>https://taskandpurpose.com/xcom2-war-chosen-review/</a:t>
            </a:r>
            <a:r>
              <a:rPr lang="en-US" altLang="ko-KR" dirty="0"/>
              <a:t> </a:t>
            </a:r>
          </a:p>
          <a:p>
            <a:pPr>
              <a:lnSpc>
                <a:spcPct val="150000"/>
              </a:lnSpc>
            </a:pPr>
            <a:endParaRPr lang="ko-KR" altLang="ko-KR"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42</a:t>
            </a:fld>
            <a:endParaRPr lang="ko-KR" altLang="en-US" dirty="0"/>
          </a:p>
        </p:txBody>
      </p:sp>
    </p:spTree>
    <p:extLst>
      <p:ext uri="{BB962C8B-B14F-4D97-AF65-F5344CB8AC3E}">
        <p14:creationId xmlns:p14="http://schemas.microsoft.com/office/powerpoint/2010/main" val="336750069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6668430"/>
            <a:ext cx="12192000" cy="20020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p:cNvSpPr/>
          <p:nvPr/>
        </p:nvSpPr>
        <p:spPr>
          <a:xfrm>
            <a:off x="0" y="-938"/>
            <a:ext cx="12192000" cy="1679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p:cNvSpPr txBox="1"/>
          <p:nvPr/>
        </p:nvSpPr>
        <p:spPr>
          <a:xfrm>
            <a:off x="72570" y="250721"/>
            <a:ext cx="5515429" cy="369332"/>
          </a:xfrm>
          <a:prstGeom prst="rect">
            <a:avLst/>
          </a:prstGeom>
          <a:noFill/>
        </p:spPr>
        <p:txBody>
          <a:bodyPr wrap="square" rtlCol="0">
            <a:spAutoFit/>
          </a:bodyPr>
          <a:lstStyle/>
          <a:p>
            <a:r>
              <a:rPr lang="en-US" altLang="ko-KR" spc="-300" dirty="0" smtClean="0">
                <a:gradFill>
                  <a:gsLst>
                    <a:gs pos="0">
                      <a:schemeClr val="tx1"/>
                    </a:gs>
                    <a:gs pos="100000">
                      <a:schemeClr val="tx1"/>
                    </a:gs>
                  </a:gsLst>
                  <a:lin ang="5400000" scaled="1"/>
                </a:gradFill>
                <a:latin typeface="210 앱굴림 R" panose="02020603020101020101" pitchFamily="18" charset="-127"/>
                <a:ea typeface="210 앱굴림 R" panose="02020603020101020101" pitchFamily="18" charset="-127"/>
              </a:rPr>
              <a:t>▶   </a:t>
            </a:r>
            <a:r>
              <a:rPr lang="ko-KR" altLang="en-US" b="1" dirty="0" smtClean="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rPr>
              <a:t>부록</a:t>
            </a:r>
            <a:endParaRPr lang="ko-KR" altLang="en-US" b="1" dirty="0">
              <a:gradFill>
                <a:gsLst>
                  <a:gs pos="0">
                    <a:schemeClr val="tx1"/>
                  </a:gs>
                  <a:gs pos="100000">
                    <a:schemeClr val="tx1"/>
                  </a:gs>
                </a:gsLst>
                <a:lin ang="5400000" scaled="1"/>
              </a:gradFill>
              <a:latin typeface="맑은 고딕" panose="020B0503020000020004" pitchFamily="50" charset="-127"/>
              <a:ea typeface="맑은 고딕" panose="020B0503020000020004" pitchFamily="50" charset="-127"/>
            </a:endParaRPr>
          </a:p>
        </p:txBody>
      </p:sp>
      <p:sp>
        <p:nvSpPr>
          <p:cNvPr id="11" name="TextBox 10"/>
          <p:cNvSpPr txBox="1"/>
          <p:nvPr/>
        </p:nvSpPr>
        <p:spPr>
          <a:xfrm>
            <a:off x="5297713" y="892460"/>
            <a:ext cx="1436915" cy="523220"/>
          </a:xfrm>
          <a:prstGeom prst="rect">
            <a:avLst/>
          </a:prstGeom>
          <a:noFill/>
        </p:spPr>
        <p:txBody>
          <a:bodyPr wrap="square" rtlCol="0">
            <a:spAutoFit/>
          </a:bodyPr>
          <a:lstStyle/>
          <a:p>
            <a:r>
              <a:rPr lang="en-US" altLang="ko-KR" sz="2800" b="1" dirty="0">
                <a:gradFill>
                  <a:gsLst>
                    <a:gs pos="0">
                      <a:schemeClr val="tx1"/>
                    </a:gs>
                    <a:gs pos="100000">
                      <a:schemeClr val="tx1"/>
                    </a:gs>
                  </a:gsLst>
                  <a:lin ang="5400000" scaled="1"/>
                </a:gradFill>
                <a:latin typeface="맑은 고딕" panose="020B0503020000020004" pitchFamily="50" charset="-127"/>
              </a:rPr>
              <a:t>&lt;</a:t>
            </a:r>
            <a:r>
              <a:rPr lang="ko-KR" altLang="en-US" sz="2800" b="1" dirty="0" smtClean="0">
                <a:gradFill>
                  <a:gsLst>
                    <a:gs pos="0">
                      <a:schemeClr val="tx1"/>
                    </a:gs>
                    <a:gs pos="100000">
                      <a:schemeClr val="tx1"/>
                    </a:gs>
                  </a:gsLst>
                  <a:lin ang="5400000" scaled="1"/>
                </a:gradFill>
                <a:latin typeface="맑은 고딕" panose="020B0503020000020004" pitchFamily="50" charset="-127"/>
              </a:rPr>
              <a:t>부록</a:t>
            </a:r>
            <a:r>
              <a:rPr lang="en-US" altLang="ko-KR" sz="2800" b="1" dirty="0" smtClean="0">
                <a:gradFill>
                  <a:gsLst>
                    <a:gs pos="0">
                      <a:schemeClr val="tx1"/>
                    </a:gs>
                    <a:gs pos="100000">
                      <a:schemeClr val="tx1"/>
                    </a:gs>
                  </a:gsLst>
                  <a:lin ang="5400000" scaled="1"/>
                </a:gradFill>
                <a:latin typeface="맑은 고딕" panose="020B0503020000020004" pitchFamily="50" charset="-127"/>
              </a:rPr>
              <a:t>&gt;</a:t>
            </a:r>
            <a:endParaRPr lang="ko-KR" altLang="en-US" sz="2800" b="1" dirty="0">
              <a:gradFill>
                <a:gsLst>
                  <a:gs pos="0">
                    <a:schemeClr val="tx1"/>
                  </a:gs>
                  <a:gs pos="100000">
                    <a:schemeClr val="tx1"/>
                  </a:gs>
                </a:gsLst>
                <a:lin ang="5400000" scaled="1"/>
              </a:gradFill>
              <a:latin typeface="맑은 고딕" panose="020B0503020000020004" pitchFamily="50" charset="-127"/>
            </a:endParaRPr>
          </a:p>
        </p:txBody>
      </p:sp>
      <p:sp>
        <p:nvSpPr>
          <p:cNvPr id="8" name="TextBox 7"/>
          <p:cNvSpPr txBox="1"/>
          <p:nvPr/>
        </p:nvSpPr>
        <p:spPr>
          <a:xfrm>
            <a:off x="1235927" y="1763768"/>
            <a:ext cx="8403373" cy="830997"/>
          </a:xfrm>
          <a:prstGeom prst="rect">
            <a:avLst/>
          </a:prstGeom>
          <a:noFill/>
        </p:spPr>
        <p:txBody>
          <a:bodyPr wrap="square" rtlCol="0">
            <a:spAutoFit/>
          </a:bodyPr>
          <a:lstStyle/>
          <a:p>
            <a:r>
              <a:rPr lang="en-US" altLang="ko-KR" sz="2400" dirty="0"/>
              <a:t>• </a:t>
            </a:r>
            <a:r>
              <a:rPr lang="ko-KR" altLang="en-US" sz="2400" dirty="0" err="1" smtClean="0"/>
              <a:t>별첨문서</a:t>
            </a:r>
            <a:r>
              <a:rPr lang="ko-KR" altLang="en-US" sz="2400" dirty="0" smtClean="0"/>
              <a:t> </a:t>
            </a:r>
            <a:r>
              <a:rPr lang="en-US" altLang="ko-KR" sz="2400" dirty="0" smtClean="0"/>
              <a:t>‘I AM THE LAW.docx’</a:t>
            </a:r>
            <a:br>
              <a:rPr lang="en-US" altLang="ko-KR" sz="2400" dirty="0" smtClean="0"/>
            </a:br>
            <a:r>
              <a:rPr lang="en-US" altLang="ko-KR" sz="2400" dirty="0" smtClean="0"/>
              <a:t>  (PPT </a:t>
            </a:r>
            <a:r>
              <a:rPr lang="ko-KR" altLang="en-US" sz="2400" dirty="0" smtClean="0"/>
              <a:t>제작 전</a:t>
            </a:r>
            <a:r>
              <a:rPr lang="en-US" altLang="ko-KR" sz="2400" dirty="0" smtClean="0"/>
              <a:t>, </a:t>
            </a:r>
            <a:r>
              <a:rPr lang="ko-KR" altLang="en-US" sz="2400" dirty="0" smtClean="0"/>
              <a:t>기획 내용 작성 및 정리를 위한 워드 문서</a:t>
            </a:r>
            <a:r>
              <a:rPr lang="en-US" altLang="ko-KR" sz="2400" dirty="0" smtClean="0"/>
              <a:t>)</a:t>
            </a:r>
            <a:endParaRPr lang="ko-KR" altLang="ko-KR" sz="2400" dirty="0"/>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t>43</a:t>
            </a:fld>
            <a:endParaRPr lang="ko-KR" altLang="en-US" dirty="0"/>
          </a:p>
        </p:txBody>
      </p:sp>
    </p:spTree>
    <p:extLst>
      <p:ext uri="{BB962C8B-B14F-4D97-AF65-F5344CB8AC3E}">
        <p14:creationId xmlns:p14="http://schemas.microsoft.com/office/powerpoint/2010/main" val="323495960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9" name="직선 연결선 8"/>
          <p:cNvCxnSpPr/>
          <p:nvPr/>
        </p:nvCxnSpPr>
        <p:spPr>
          <a:xfrm flipH="1">
            <a:off x="-124046" y="0"/>
            <a:ext cx="12316046" cy="6949263"/>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66386" y="3126868"/>
            <a:ext cx="6059229" cy="830997"/>
          </a:xfrm>
          <a:prstGeom prst="rect">
            <a:avLst/>
          </a:prstGeom>
          <a:solidFill>
            <a:schemeClr val="tx1"/>
          </a:solidFill>
        </p:spPr>
        <p:txBody>
          <a:bodyPr wrap="square" rtlCol="0">
            <a:spAutoFit/>
          </a:bodyPr>
          <a:lstStyle/>
          <a:p>
            <a:pPr algn="ctr"/>
            <a:r>
              <a:rPr lang="ko-KR" altLang="en-US" sz="4800" b="1" spc="-150" dirty="0" smtClean="0">
                <a:gradFill>
                  <a:gsLst>
                    <a:gs pos="0">
                      <a:prstClr val="white"/>
                    </a:gs>
                    <a:gs pos="100000">
                      <a:prstClr val="white"/>
                    </a:gs>
                  </a:gsLst>
                  <a:lin ang="5400000" scaled="1"/>
                </a:gradFill>
                <a:latin typeface="+mj-ea"/>
                <a:ea typeface="+mj-ea"/>
              </a:rPr>
              <a:t>감사합니다</a:t>
            </a:r>
            <a:r>
              <a:rPr lang="en-US" altLang="ko-KR" sz="4800" b="1" spc="-150" dirty="0" smtClean="0">
                <a:gradFill>
                  <a:gsLst>
                    <a:gs pos="0">
                      <a:prstClr val="white"/>
                    </a:gs>
                    <a:gs pos="100000">
                      <a:prstClr val="white"/>
                    </a:gs>
                  </a:gsLst>
                  <a:lin ang="5400000" scaled="1"/>
                </a:gradFill>
                <a:latin typeface="+mj-ea"/>
                <a:ea typeface="+mj-ea"/>
              </a:rPr>
              <a:t>.</a:t>
            </a:r>
            <a:endParaRPr lang="ko-KR" altLang="en-US" sz="4800" b="1" spc="-150" dirty="0">
              <a:gradFill>
                <a:gsLst>
                  <a:gs pos="0">
                    <a:prstClr val="white"/>
                  </a:gs>
                  <a:gs pos="100000">
                    <a:prstClr val="white"/>
                  </a:gs>
                </a:gsLst>
                <a:lin ang="5400000" scaled="1"/>
              </a:gradFill>
              <a:latin typeface="+mj-ea"/>
              <a:ea typeface="+mj-ea"/>
            </a:endParaRPr>
          </a:p>
        </p:txBody>
      </p:sp>
      <p:sp>
        <p:nvSpPr>
          <p:cNvPr id="2" name="슬라이드 번호 개체 틀 1"/>
          <p:cNvSpPr>
            <a:spLocks noGrp="1"/>
          </p:cNvSpPr>
          <p:nvPr>
            <p:ph type="sldNum" sz="quarter" idx="12"/>
          </p:nvPr>
        </p:nvSpPr>
        <p:spPr/>
        <p:txBody>
          <a:bodyPr/>
          <a:lstStyle/>
          <a:p>
            <a:fld id="{95F8FB6C-4300-4EF3-AEA9-23A98D8A74E1}" type="slidenum">
              <a:rPr lang="ko-KR" altLang="en-US" sz="1800" smtClean="0">
                <a:solidFill>
                  <a:prstClr val="black">
                    <a:tint val="75000"/>
                  </a:prstClr>
                </a:solidFill>
              </a:rPr>
              <a:pPr/>
              <a:t>44</a:t>
            </a:fld>
            <a:endParaRPr lang="ko-KR" altLang="en-US" dirty="0">
              <a:solidFill>
                <a:prstClr val="black">
                  <a:tint val="75000"/>
                </a:prstClr>
              </a:solidFill>
            </a:endParaRPr>
          </a:p>
        </p:txBody>
      </p:sp>
    </p:spTree>
    <p:extLst>
      <p:ext uri="{BB962C8B-B14F-4D97-AF65-F5344CB8AC3E}">
        <p14:creationId xmlns:p14="http://schemas.microsoft.com/office/powerpoint/2010/main" val="34078395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5402</TotalTime>
  <Words>2375</Words>
  <Application>Microsoft Office PowerPoint</Application>
  <PresentationFormat>사용자 지정</PresentationFormat>
  <Paragraphs>646</Paragraphs>
  <Slides>44</Slides>
  <Notes>2</Notes>
  <HiddenSlides>0</HiddenSlides>
  <MMClips>0</MMClips>
  <ScaleCrop>false</ScaleCrop>
  <HeadingPairs>
    <vt:vector size="6" baseType="variant">
      <vt:variant>
        <vt:lpstr>사용한 글꼴</vt:lpstr>
      </vt:variant>
      <vt:variant>
        <vt:i4>6</vt:i4>
      </vt:variant>
      <vt:variant>
        <vt:lpstr>테마</vt:lpstr>
      </vt:variant>
      <vt:variant>
        <vt:i4>2</vt:i4>
      </vt:variant>
      <vt:variant>
        <vt:lpstr>슬라이드 제목</vt:lpstr>
      </vt:variant>
      <vt:variant>
        <vt:i4>44</vt:i4>
      </vt:variant>
    </vt:vector>
  </HeadingPairs>
  <TitlesOfParts>
    <vt:vector size="52" baseType="lpstr">
      <vt:lpstr>굴림</vt:lpstr>
      <vt:lpstr>Arial</vt:lpstr>
      <vt:lpstr>돋움</vt:lpstr>
      <vt:lpstr>HY견명조</vt:lpstr>
      <vt:lpstr>210 앱굴림 R</vt:lpstr>
      <vt:lpstr>맑은 고딕</vt:lpstr>
      <vt:lpstr>Office 테마</vt:lpstr>
      <vt:lpstr>1_Office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YEONGBEOM KIM</dc:creator>
  <cp:lastModifiedBy>user</cp:lastModifiedBy>
  <cp:revision>393</cp:revision>
  <dcterms:created xsi:type="dcterms:W3CDTF">2017-06-15T12:10:59Z</dcterms:created>
  <dcterms:modified xsi:type="dcterms:W3CDTF">2019-01-07T07:38:17Z</dcterms:modified>
</cp:coreProperties>
</file>