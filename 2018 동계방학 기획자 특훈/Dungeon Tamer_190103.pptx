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40"/>
  </p:notesMasterIdLst>
  <p:sldIdLst>
    <p:sldId id="273" r:id="rId3"/>
    <p:sldId id="260" r:id="rId4"/>
    <p:sldId id="288" r:id="rId5"/>
    <p:sldId id="289" r:id="rId6"/>
    <p:sldId id="266" r:id="rId7"/>
    <p:sldId id="290" r:id="rId8"/>
    <p:sldId id="276" r:id="rId9"/>
    <p:sldId id="291" r:id="rId10"/>
    <p:sldId id="315" r:id="rId11"/>
    <p:sldId id="325" r:id="rId12"/>
    <p:sldId id="316" r:id="rId13"/>
    <p:sldId id="317" r:id="rId14"/>
    <p:sldId id="318" r:id="rId15"/>
    <p:sldId id="319" r:id="rId16"/>
    <p:sldId id="320" r:id="rId17"/>
    <p:sldId id="321" r:id="rId18"/>
    <p:sldId id="326" r:id="rId19"/>
    <p:sldId id="322" r:id="rId20"/>
    <p:sldId id="292" r:id="rId21"/>
    <p:sldId id="324" r:id="rId22"/>
    <p:sldId id="323" r:id="rId23"/>
    <p:sldId id="327" r:id="rId24"/>
    <p:sldId id="328" r:id="rId25"/>
    <p:sldId id="294" r:id="rId26"/>
    <p:sldId id="293" r:id="rId27"/>
    <p:sldId id="295" r:id="rId28"/>
    <p:sldId id="308" r:id="rId29"/>
    <p:sldId id="296" r:id="rId30"/>
    <p:sldId id="309" r:id="rId31"/>
    <p:sldId id="302" r:id="rId32"/>
    <p:sldId id="303" r:id="rId33"/>
    <p:sldId id="304" r:id="rId34"/>
    <p:sldId id="305" r:id="rId35"/>
    <p:sldId id="306" r:id="rId36"/>
    <p:sldId id="314" r:id="rId37"/>
    <p:sldId id="307" r:id="rId38"/>
    <p:sldId id="275" r:id="rId39"/>
  </p:sldIdLst>
  <p:sldSz cx="12192000" cy="6858000"/>
  <p:notesSz cx="6858000" cy="9144000"/>
  <p:embeddedFontLst>
    <p:embeddedFont>
      <p:font typeface="HY견명조" panose="02030600000101010101" pitchFamily="18" charset="-127"/>
      <p:regular r:id="rId41"/>
    </p:embeddedFont>
    <p:embeddedFont>
      <p:font typeface="210 앱굴림 R" panose="02020603020101020101" pitchFamily="18" charset="-127"/>
      <p:regular r:id="rId42"/>
    </p:embeddedFont>
    <p:embeddedFont>
      <p:font typeface="맑은 고딕" panose="020B0503020000020004" pitchFamily="50" charset="-127"/>
      <p:regular r:id="rId43"/>
      <p:bold r:id="rId44"/>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사용자" initials="W사" lastIdx="1" clrIdx="0">
    <p:extLst>
      <p:ext uri="{19B8F6BF-5375-455C-9EA6-DF929625EA0E}">
        <p15:presenceInfo xmlns:p15="http://schemas.microsoft.com/office/powerpoint/2012/main" userId="Windows 사용자" providerId="None"/>
      </p:ext>
    </p:extLst>
  </p:cmAuthor>
  <p:cmAuthor id="2" name="user" initials="u" lastIdx="1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C10F"/>
    <a:srgbClr val="88B6E0"/>
    <a:srgbClr val="8EBA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344D84-9AFB-497E-A393-DC336BA19D2E}" styleName="보통 스타일 3 - 강조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15" autoAdjust="0"/>
    <p:restoredTop sz="94660" autoAdjust="0"/>
  </p:normalViewPr>
  <p:slideViewPr>
    <p:cSldViewPr snapToGrid="0">
      <p:cViewPr varScale="1">
        <p:scale>
          <a:sx n="66" d="100"/>
          <a:sy n="66" d="100"/>
        </p:scale>
        <p:origin x="66" y="318"/>
      </p:cViewPr>
      <p:guideLst>
        <p:guide orient="horz" pos="2160"/>
        <p:guide pos="3840"/>
      </p:guideLst>
    </p:cSldViewPr>
  </p:slideViewPr>
  <p:outlineViewPr>
    <p:cViewPr>
      <p:scale>
        <a:sx n="33" d="100"/>
        <a:sy n="33" d="100"/>
      </p:scale>
      <p:origin x="0" y="142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EB80D-BC7F-423F-9B95-3633B0A8F55B}" type="datetimeFigureOut">
              <a:rPr lang="ko-KR" altLang="en-US" smtClean="0"/>
              <a:t>2019-01-03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4FA5D-5FE6-4026-B2CA-93DADBB0FBE6}" type="slidenum">
              <a:rPr lang="ko-KR" altLang="en-US" smtClean="0"/>
              <a:t>‹#›</a:t>
            </a:fld>
            <a:endParaRPr lang="ko-KR" altLang="en-US"/>
          </a:p>
        </p:txBody>
      </p:sp>
    </p:spTree>
    <p:extLst>
      <p:ext uri="{BB962C8B-B14F-4D97-AF65-F5344CB8AC3E}">
        <p14:creationId xmlns:p14="http://schemas.microsoft.com/office/powerpoint/2010/main" val="82634538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1</a:t>
            </a:fld>
            <a:endParaRPr lang="ko-KR" altLang="en-US"/>
          </a:p>
        </p:txBody>
      </p:sp>
    </p:spTree>
    <p:extLst>
      <p:ext uri="{BB962C8B-B14F-4D97-AF65-F5344CB8AC3E}">
        <p14:creationId xmlns:p14="http://schemas.microsoft.com/office/powerpoint/2010/main" val="867218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2</a:t>
            </a:fld>
            <a:endParaRPr lang="ko-KR" altLang="en-US"/>
          </a:p>
        </p:txBody>
      </p:sp>
    </p:spTree>
    <p:extLst>
      <p:ext uri="{BB962C8B-B14F-4D97-AF65-F5344CB8AC3E}">
        <p14:creationId xmlns:p14="http://schemas.microsoft.com/office/powerpoint/2010/main" val="4076130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EC3AB0CA-3A26-4F16-8C8D-1B3625A31A00}" type="datetime1">
              <a:rPr lang="ko-KR" altLang="en-US" smtClean="0"/>
              <a:t>2019-01-03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473838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7685CB9-AAEC-4501-983B-23D9B3A40981}" type="datetime1">
              <a:rPr lang="ko-KR" altLang="en-US" smtClean="0"/>
              <a:t>2019-01-03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29115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1D2FE8F3-BBC3-4016-B12E-DEE91B8C70D1}" type="datetime1">
              <a:rPr lang="ko-KR" altLang="en-US" smtClean="0"/>
              <a:t>2019-01-03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4859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666A834B-F951-4846-895A-0477317BA5B4}" type="datetime1">
              <a:rPr lang="ko-KR" altLang="en-US" smtClean="0"/>
              <a:t>2019-01-03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526981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5B85590D-5B44-4A15-A6FA-238D48DB53C8}" type="datetime1">
              <a:rPr lang="ko-KR" altLang="en-US" smtClean="0"/>
              <a:t>2019-01-03</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149263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E312041-A6D6-4EAF-81C3-6AF3590D9B2E}" type="datetime1">
              <a:rPr lang="ko-KR" altLang="en-US" smtClean="0"/>
              <a:t>2019-01-03</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980559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BE6731DD-6728-4529-B4AC-150F5EA6CDA5}" type="datetime1">
              <a:rPr lang="ko-KR" altLang="en-US" smtClean="0"/>
              <a:t>2019-01-03</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5343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412BC3E-02B2-4BA3-88C6-D876B9132BEE}" type="datetime1">
              <a:rPr lang="ko-KR" altLang="en-US" smtClean="0"/>
              <a:t>2019-01-03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12490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A791F1B8-4AB0-450E-BA30-A393CBEEE0B9}" type="datetime1">
              <a:rPr lang="ko-KR" altLang="en-US" smtClean="0"/>
              <a:t>2019-01-03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786154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96B5077E-4D09-4D7F-AED2-3ECFB52B4B2F}" type="datetime1">
              <a:rPr lang="ko-KR" altLang="en-US" smtClean="0"/>
              <a:t>2019-01-03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07545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804BD64-D2A7-4DBC-9C22-C35FF2171F88}" type="datetime1">
              <a:rPr lang="ko-KR" altLang="en-US" smtClean="0"/>
              <a:t>2019-01-03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35919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09789B80-0F68-4808-8308-7E8CB701F80B}" type="datetime1">
              <a:rPr lang="ko-KR" altLang="en-US" smtClean="0">
                <a:solidFill>
                  <a:prstClr val="black">
                    <a:tint val="75000"/>
                  </a:prstClr>
                </a:solidFill>
              </a:rPr>
              <a:t>2019-01-03</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69270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8146DA0-A543-443B-9976-4C13D64EFF49}" type="datetime1">
              <a:rPr lang="ko-KR" altLang="en-US" smtClean="0">
                <a:solidFill>
                  <a:prstClr val="black">
                    <a:tint val="75000"/>
                  </a:prstClr>
                </a:solidFill>
              </a:rPr>
              <a:t>2019-01-03</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03436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04E0AC1A-42E2-4BCB-8C04-467EB6812828}" type="datetime1">
              <a:rPr lang="ko-KR" altLang="en-US" smtClean="0">
                <a:solidFill>
                  <a:prstClr val="black">
                    <a:tint val="75000"/>
                  </a:prstClr>
                </a:solidFill>
              </a:rPr>
              <a:t>2019-01-03</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636386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78C9E740-A4F3-48E1-ADE5-C768671A5022}" type="datetime1">
              <a:rPr lang="ko-KR" altLang="en-US" smtClean="0">
                <a:solidFill>
                  <a:prstClr val="black">
                    <a:tint val="75000"/>
                  </a:prstClr>
                </a:solidFill>
              </a:rPr>
              <a:t>2019-01-03</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502852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FB71890C-30A4-4F38-AE2E-EDCBC5B32417}" type="datetime1">
              <a:rPr lang="ko-KR" altLang="en-US" smtClean="0">
                <a:solidFill>
                  <a:prstClr val="black">
                    <a:tint val="75000"/>
                  </a:prstClr>
                </a:solidFill>
              </a:rPr>
              <a:t>2019-01-03</a:t>
            </a:fld>
            <a:endParaRPr lang="ko-KR" altLang="en-US">
              <a:solidFill>
                <a:prstClr val="black">
                  <a:tint val="75000"/>
                </a:prstClr>
              </a:solidFill>
            </a:endParaRPr>
          </a:p>
        </p:txBody>
      </p:sp>
      <p:sp>
        <p:nvSpPr>
          <p:cNvPr id="8" name="바닥글 개체 틀 7"/>
          <p:cNvSpPr>
            <a:spLocks noGrp="1"/>
          </p:cNvSpPr>
          <p:nvPr>
            <p:ph type="ftr" sz="quarter" idx="11"/>
          </p:nvPr>
        </p:nvSpPr>
        <p:spPr/>
        <p:txBody>
          <a:bodyPr/>
          <a:lstStyle/>
          <a:p>
            <a:endParaRPr lang="ko-KR" altLang="en-US">
              <a:solidFill>
                <a:prstClr val="black">
                  <a:tint val="75000"/>
                </a:prstClr>
              </a:solidFill>
            </a:endParaRPr>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24856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62C9AAE-3A71-4E68-B2DF-A4796799849E}" type="datetime1">
              <a:rPr lang="ko-KR" altLang="en-US" smtClean="0">
                <a:solidFill>
                  <a:prstClr val="black">
                    <a:tint val="75000"/>
                  </a:prstClr>
                </a:solidFill>
              </a:rPr>
              <a:t>2019-01-03</a:t>
            </a:fld>
            <a:endParaRPr lang="ko-KR" altLang="en-US">
              <a:solidFill>
                <a:prstClr val="black">
                  <a:tint val="75000"/>
                </a:prstClr>
              </a:solidFill>
            </a:endParaRPr>
          </a:p>
        </p:txBody>
      </p:sp>
      <p:sp>
        <p:nvSpPr>
          <p:cNvPr id="4" name="바닥글 개체 틀 3"/>
          <p:cNvSpPr>
            <a:spLocks noGrp="1"/>
          </p:cNvSpPr>
          <p:nvPr>
            <p:ph type="ftr" sz="quarter" idx="11"/>
          </p:nvPr>
        </p:nvSpPr>
        <p:spPr/>
        <p:txBody>
          <a:bodyPr/>
          <a:lstStyle/>
          <a:p>
            <a:endParaRPr lang="ko-KR" altLang="en-US">
              <a:solidFill>
                <a:prstClr val="black">
                  <a:tint val="75000"/>
                </a:prstClr>
              </a:solidFill>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8375930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1B4F376A-881F-4F83-8BAA-2452AC86BF07}" type="datetime1">
              <a:rPr lang="ko-KR" altLang="en-US" smtClean="0">
                <a:solidFill>
                  <a:prstClr val="black">
                    <a:tint val="75000"/>
                  </a:prstClr>
                </a:solidFill>
              </a:rPr>
              <a:t>2019-01-03</a:t>
            </a:fld>
            <a:endParaRPr lang="ko-KR" altLang="en-US">
              <a:solidFill>
                <a:prstClr val="black">
                  <a:tint val="75000"/>
                </a:prstClr>
              </a:solidFill>
            </a:endParaRPr>
          </a:p>
        </p:txBody>
      </p:sp>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4911532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77745D6-926D-49A4-A0BD-75E92CE8DBD3}" type="datetime1">
              <a:rPr lang="ko-KR" altLang="en-US" smtClean="0">
                <a:solidFill>
                  <a:prstClr val="black">
                    <a:tint val="75000"/>
                  </a:prstClr>
                </a:solidFill>
              </a:rPr>
              <a:t>2019-01-03</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8934710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8B1A9945-754F-4F4C-BDBA-3A0C250A3228}" type="datetime1">
              <a:rPr lang="ko-KR" altLang="en-US" smtClean="0">
                <a:solidFill>
                  <a:prstClr val="black">
                    <a:tint val="75000"/>
                  </a:prstClr>
                </a:solidFill>
              </a:rPr>
              <a:t>2019-01-03</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5874289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8DF61253-3998-40D1-84D1-14DDCA9B525D}" type="datetime1">
              <a:rPr lang="ko-KR" altLang="en-US" smtClean="0">
                <a:solidFill>
                  <a:prstClr val="black">
                    <a:tint val="75000"/>
                  </a:prstClr>
                </a:solidFill>
              </a:rPr>
              <a:t>2019-01-03</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264705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C893902-BCC8-459F-A9CB-F37808573195}" type="datetime1">
              <a:rPr lang="ko-KR" altLang="en-US" smtClean="0">
                <a:solidFill>
                  <a:prstClr val="black">
                    <a:tint val="75000"/>
                  </a:prstClr>
                </a:solidFill>
              </a:rPr>
              <a:t>2019-01-03</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34584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784D16-1F4A-4F5E-B3BB-0CA00F5D809F}" type="datetime1">
              <a:rPr lang="ko-KR" altLang="en-US" smtClean="0"/>
              <a:t>2019-01-03</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830809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3CA10-B9BB-4BE8-B178-00EC3ABEC49F}" type="datetime1">
              <a:rPr lang="ko-KR" altLang="en-US" smtClean="0">
                <a:solidFill>
                  <a:prstClr val="black">
                    <a:tint val="75000"/>
                  </a:prstClr>
                </a:solidFill>
              </a:rPr>
              <a:t>2019-01-03</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solidFill>
                <a:prstClr val="black">
                  <a:tint val="75000"/>
                </a:prstClr>
              </a:solidFill>
            </a:endParaRPr>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7733858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hyperlink" Target="https://taskandpurpose.com/xcom2-war-chosen-review/" TargetMode="External"/><Relationship Id="rId3" Type="http://schemas.openxmlformats.org/officeDocument/2006/relationships/hyperlink" Target="http://www.kookje.co.kr/news2011/asp/newsbody.asp?code=0400&amp;key=20180828.22013012447" TargetMode="External"/><Relationship Id="rId7" Type="http://schemas.openxmlformats.org/officeDocument/2006/relationships/hyperlink" Target="https://store.steampowered.com/app/785740/This_Is_the_Police_2/" TargetMode="External"/><Relationship Id="rId2" Type="http://schemas.openxmlformats.org/officeDocument/2006/relationships/hyperlink" Target="http://itcm.co.kr/g_board/3361399" TargetMode="External"/><Relationship Id="rId1" Type="http://schemas.openxmlformats.org/officeDocument/2006/relationships/slideLayout" Target="../slideLayouts/slideLayout2.xml"/><Relationship Id="rId6" Type="http://schemas.openxmlformats.org/officeDocument/2006/relationships/hyperlink" Target="https://store.steampowered.com/app/503560/911_Operator/" TargetMode="External"/><Relationship Id="rId5" Type="http://schemas.openxmlformats.org/officeDocument/2006/relationships/hyperlink" Target="https://post.naver.com/viewer/postView.nhn?volumeNo=5018435&amp;memberNo=1283967" TargetMode="External"/><Relationship Id="rId4" Type="http://schemas.openxmlformats.org/officeDocument/2006/relationships/hyperlink" Target="https://store.steampowered.com/app/208650/Batman_Arkham_Knight/"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www.accelerated-ideas.com/thedivision/whats-the-difference-between-skills-talents-and-perks.aspx" TargetMode="External"/><Relationship Id="rId7" Type="http://schemas.openxmlformats.org/officeDocument/2006/relationships/hyperlink" Target="https://store.steampowered.com/app/503560/911_Operator/" TargetMode="External"/><Relationship Id="rId2" Type="http://schemas.openxmlformats.org/officeDocument/2006/relationships/hyperlink" Target="https://wegotthiscovered.com/gaming/plan-character-borderlands-2-skill-tree-previews/" TargetMode="External"/><Relationship Id="rId1" Type="http://schemas.openxmlformats.org/officeDocument/2006/relationships/slideLayout" Target="../slideLayouts/slideLayout2.xml"/><Relationship Id="rId6" Type="http://schemas.openxmlformats.org/officeDocument/2006/relationships/hyperlink" Target="https://www.bottersgonnabot.com/automating-skill-checks-in-dead-by-daylight-part-i/" TargetMode="External"/><Relationship Id="rId5" Type="http://schemas.openxmlformats.org/officeDocument/2006/relationships/hyperlink" Target="http://xcom.wikia.com/wiki/File:XCOM_EW_BaseDefense_MissionFail.png" TargetMode="External"/><Relationship Id="rId4" Type="http://schemas.openxmlformats.org/officeDocument/2006/relationships/hyperlink" Target="https://store.steampowered.com/app/785740/This_Is_the_Police_2/"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7" name="직선 연결선 6"/>
          <p:cNvCxnSpPr/>
          <p:nvPr/>
        </p:nvCxnSpPr>
        <p:spPr>
          <a:xfrm flipH="1">
            <a:off x="0" y="580571"/>
            <a:ext cx="12467772" cy="627742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3066386" y="3090656"/>
            <a:ext cx="6716243" cy="2906180"/>
            <a:chOff x="3066386" y="3090656"/>
            <a:chExt cx="6716243" cy="2906180"/>
          </a:xfrm>
          <a:solidFill>
            <a:schemeClr val="tx1"/>
          </a:solidFill>
        </p:grpSpPr>
        <p:sp>
          <p:nvSpPr>
            <p:cNvPr id="11" name="TextBox 10"/>
            <p:cNvSpPr txBox="1"/>
            <p:nvPr/>
          </p:nvSpPr>
          <p:spPr>
            <a:xfrm>
              <a:off x="3066386" y="3090656"/>
              <a:ext cx="6059229" cy="830997"/>
            </a:xfrm>
            <a:prstGeom prst="rect">
              <a:avLst/>
            </a:prstGeom>
            <a:grpFill/>
          </p:spPr>
          <p:txBody>
            <a:bodyPr wrap="square" rtlCol="0">
              <a:spAutoFit/>
            </a:bodyPr>
            <a:lstStyle/>
            <a:p>
              <a:pPr algn="ctr"/>
              <a:r>
                <a:rPr lang="en-US" altLang="ko-KR" sz="4800" i="1" spc="-150" dirty="0" smtClean="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rPr>
                <a:t>Dungeon Tamer</a:t>
              </a:r>
              <a:endParaRPr lang="ko-KR" altLang="en-US" sz="4800" i="1" spc="-150" dirty="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endParaRPr>
            </a:p>
          </p:txBody>
        </p:sp>
        <p:sp>
          <p:nvSpPr>
            <p:cNvPr id="9" name="TextBox 8"/>
            <p:cNvSpPr txBox="1"/>
            <p:nvPr/>
          </p:nvSpPr>
          <p:spPr>
            <a:xfrm>
              <a:off x="3066386" y="5658282"/>
              <a:ext cx="6716243" cy="338554"/>
            </a:xfrm>
            <a:prstGeom prst="rect">
              <a:avLst/>
            </a:prstGeom>
            <a:grpFill/>
          </p:spPr>
          <p:txBody>
            <a:bodyPr wrap="square" rtlCol="0">
              <a:spAutoFit/>
            </a:bodyPr>
            <a:lstStyle/>
            <a:p>
              <a:endParaRPr lang="ko-KR" altLang="en-US" sz="1600" b="1" dirty="0">
                <a:gradFill>
                  <a:gsLst>
                    <a:gs pos="0">
                      <a:schemeClr val="bg1"/>
                    </a:gs>
                    <a:gs pos="100000">
                      <a:schemeClr val="bg1"/>
                    </a:gs>
                  </a:gsLst>
                  <a:lin ang="5400000" scaled="1"/>
                </a:gradFill>
                <a:latin typeface="+mj-ea"/>
                <a:ea typeface="+mj-ea"/>
              </a:endParaRPr>
            </a:p>
          </p:txBody>
        </p:sp>
      </p:grpSp>
      <p:sp>
        <p:nvSpPr>
          <p:cNvPr id="5" name="직사각형 4"/>
          <p:cNvSpPr/>
          <p:nvPr/>
        </p:nvSpPr>
        <p:spPr>
          <a:xfrm>
            <a:off x="5164486" y="4596452"/>
            <a:ext cx="6339255" cy="923330"/>
          </a:xfrm>
          <a:prstGeom prst="rect">
            <a:avLst/>
          </a:prstGeom>
        </p:spPr>
        <p:txBody>
          <a:bodyPr wrap="square">
            <a:spAutoFit/>
          </a:bodyPr>
          <a:lstStyle/>
          <a:p>
            <a:r>
              <a:rPr lang="ko-KR" altLang="ko-KR" dirty="0">
                <a:solidFill>
                  <a:schemeClr val="bg1"/>
                </a:solidFill>
                <a:latin typeface="+mn-ea"/>
              </a:rPr>
              <a:t>던전을 탐험하며 몬스터를 물리치고</a:t>
            </a:r>
            <a:r>
              <a:rPr lang="en-US" altLang="ko-KR" dirty="0">
                <a:solidFill>
                  <a:schemeClr val="bg1"/>
                </a:solidFill>
                <a:latin typeface="+mn-ea"/>
              </a:rPr>
              <a:t>, </a:t>
            </a:r>
            <a:r>
              <a:rPr lang="ko-KR" altLang="ko-KR" dirty="0">
                <a:solidFill>
                  <a:schemeClr val="bg1"/>
                </a:solidFill>
                <a:latin typeface="+mn-ea"/>
              </a:rPr>
              <a:t>처치한 </a:t>
            </a:r>
            <a:r>
              <a:rPr lang="ko-KR" altLang="ko-KR" dirty="0" smtClean="0">
                <a:solidFill>
                  <a:schemeClr val="bg1"/>
                </a:solidFill>
                <a:latin typeface="+mn-ea"/>
              </a:rPr>
              <a:t>몬스터를</a:t>
            </a:r>
            <a:endParaRPr lang="en-US" altLang="ko-KR" dirty="0" smtClean="0">
              <a:solidFill>
                <a:schemeClr val="bg1"/>
              </a:solidFill>
              <a:latin typeface="+mn-ea"/>
            </a:endParaRPr>
          </a:p>
          <a:p>
            <a:r>
              <a:rPr lang="ko-KR" altLang="ko-KR" dirty="0" smtClean="0">
                <a:solidFill>
                  <a:schemeClr val="bg1"/>
                </a:solidFill>
                <a:latin typeface="+mn-ea"/>
              </a:rPr>
              <a:t>자신의 </a:t>
            </a:r>
            <a:r>
              <a:rPr lang="ko-KR" altLang="ko-KR" dirty="0">
                <a:solidFill>
                  <a:schemeClr val="bg1"/>
                </a:solidFill>
                <a:latin typeface="+mn-ea"/>
              </a:rPr>
              <a:t>것으로 만들어 성장시키고 장비를 </a:t>
            </a:r>
            <a:r>
              <a:rPr lang="ko-KR" altLang="ko-KR" dirty="0" smtClean="0">
                <a:solidFill>
                  <a:schemeClr val="bg1"/>
                </a:solidFill>
                <a:latin typeface="+mn-ea"/>
              </a:rPr>
              <a:t>업그레이드</a:t>
            </a:r>
            <a:endParaRPr lang="en-US" altLang="ko-KR" dirty="0" smtClean="0">
              <a:solidFill>
                <a:schemeClr val="bg1"/>
              </a:solidFill>
              <a:latin typeface="+mn-ea"/>
            </a:endParaRPr>
          </a:p>
          <a:p>
            <a:r>
              <a:rPr lang="ko-KR" altLang="ko-KR" dirty="0" smtClean="0">
                <a:solidFill>
                  <a:schemeClr val="bg1"/>
                </a:solidFill>
                <a:latin typeface="+mn-ea"/>
              </a:rPr>
              <a:t>하여 던전 </a:t>
            </a:r>
            <a:r>
              <a:rPr lang="ko-KR" altLang="ko-KR" dirty="0" err="1">
                <a:solidFill>
                  <a:schemeClr val="bg1"/>
                </a:solidFill>
                <a:latin typeface="+mn-ea"/>
              </a:rPr>
              <a:t>최심부까지</a:t>
            </a:r>
            <a:r>
              <a:rPr lang="ko-KR" altLang="ko-KR" dirty="0">
                <a:solidFill>
                  <a:schemeClr val="bg1"/>
                </a:solidFill>
                <a:latin typeface="+mn-ea"/>
              </a:rPr>
              <a:t> 정복하는 </a:t>
            </a:r>
            <a:r>
              <a:rPr lang="ko-KR" altLang="en-US" dirty="0" err="1" smtClean="0">
                <a:solidFill>
                  <a:schemeClr val="bg1"/>
                </a:solidFill>
                <a:latin typeface="+mn-ea"/>
              </a:rPr>
              <a:t>로그라이크</a:t>
            </a:r>
            <a:r>
              <a:rPr lang="ko-KR" altLang="ko-KR" dirty="0" smtClean="0">
                <a:solidFill>
                  <a:schemeClr val="bg1"/>
                </a:solidFill>
                <a:latin typeface="+mn-ea"/>
              </a:rPr>
              <a:t> </a:t>
            </a:r>
            <a:r>
              <a:rPr lang="ko-KR" altLang="en-US" dirty="0" err="1" smtClean="0">
                <a:solidFill>
                  <a:schemeClr val="bg1"/>
                </a:solidFill>
                <a:latin typeface="+mn-ea"/>
              </a:rPr>
              <a:t>턴제</a:t>
            </a:r>
            <a:r>
              <a:rPr lang="ko-KR" altLang="en-US" dirty="0" smtClean="0">
                <a:solidFill>
                  <a:schemeClr val="bg1"/>
                </a:solidFill>
                <a:latin typeface="+mn-ea"/>
              </a:rPr>
              <a:t> </a:t>
            </a:r>
            <a:r>
              <a:rPr lang="en-US" altLang="ko-KR" dirty="0" smtClean="0">
                <a:solidFill>
                  <a:schemeClr val="bg1"/>
                </a:solidFill>
                <a:latin typeface="+mn-ea"/>
              </a:rPr>
              <a:t>RPG </a:t>
            </a:r>
            <a:r>
              <a:rPr lang="ko-KR" altLang="ko-KR" dirty="0">
                <a:solidFill>
                  <a:schemeClr val="bg1"/>
                </a:solidFill>
                <a:latin typeface="+mn-ea"/>
              </a:rPr>
              <a:t>게임</a:t>
            </a: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a:t>
            </a:fld>
            <a:endParaRPr lang="ko-KR" altLang="en-US" sz="1800" dirty="0"/>
          </a:p>
        </p:txBody>
      </p:sp>
    </p:spTree>
    <p:extLst>
      <p:ext uri="{BB962C8B-B14F-4D97-AF65-F5344CB8AC3E}">
        <p14:creationId xmlns:p14="http://schemas.microsoft.com/office/powerpoint/2010/main" val="30321945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127868" y="628787"/>
            <a:ext cx="7599138"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   〮〮〮〮〮〮〮〮〮〮〮〮〮〮〮〮〮〮〮〮〮〮〮〮〮〮〮〮〮〮〮〮〮〮〮〮〮〮〮  </a:t>
            </a:r>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4127868" y="3024604"/>
            <a:ext cx="7599137"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TextBox 40"/>
          <p:cNvSpPr txBox="1"/>
          <p:nvPr/>
        </p:nvSpPr>
        <p:spPr>
          <a:xfrm>
            <a:off x="5470435" y="3529592"/>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 및 설정</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4" name="TextBox 43"/>
          <p:cNvSpPr txBox="1"/>
          <p:nvPr/>
        </p:nvSpPr>
        <p:spPr>
          <a:xfrm>
            <a:off x="5470435" y="409263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5" name="TextBox 44"/>
          <p:cNvSpPr txBox="1"/>
          <p:nvPr/>
        </p:nvSpPr>
        <p:spPr>
          <a:xfrm>
            <a:off x="5468973" y="465331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2-3. </a:t>
            </a:r>
            <a:r>
              <a:rPr lang="ko-KR" altLang="en-US" sz="2200" b="1" dirty="0">
                <a:gradFill>
                  <a:gsLst>
                    <a:gs pos="0">
                      <a:schemeClr val="tx1"/>
                    </a:gs>
                    <a:gs pos="100000">
                      <a:schemeClr val="tx1"/>
                    </a:gs>
                  </a:gsLst>
                  <a:lin ang="5400000" scaled="1"/>
                </a:gradFill>
                <a:latin typeface="맑은 고딕" panose="020B0503020000020004" pitchFamily="50" charset="-127"/>
              </a:rPr>
              <a:t>아이템</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a:t>
            </a:fld>
            <a:endParaRPr lang="ko-KR" altLang="en-US" sz="1800" dirty="0"/>
          </a:p>
        </p:txBody>
      </p:sp>
      <p:sp>
        <p:nvSpPr>
          <p:cNvPr id="18" name="TextBox 17"/>
          <p:cNvSpPr txBox="1"/>
          <p:nvPr/>
        </p:nvSpPr>
        <p:spPr>
          <a:xfrm>
            <a:off x="5470434" y="120081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70434" y="176385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TextBox 20"/>
          <p:cNvSpPr txBox="1"/>
          <p:nvPr/>
        </p:nvSpPr>
        <p:spPr>
          <a:xfrm>
            <a:off x="5468972" y="232453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2" name="TextBox 21"/>
          <p:cNvSpPr txBox="1"/>
          <p:nvPr/>
        </p:nvSpPr>
        <p:spPr>
          <a:xfrm>
            <a:off x="5468971" y="523087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2-4. </a:t>
            </a:r>
            <a:r>
              <a:rPr lang="ko-KR" altLang="en-US" sz="2200" b="1" dirty="0">
                <a:gradFill>
                  <a:gsLst>
                    <a:gs pos="0">
                      <a:schemeClr val="tx1"/>
                    </a:gs>
                    <a:gs pos="100000">
                      <a:schemeClr val="tx1"/>
                    </a:gs>
                  </a:gsLst>
                  <a:lin ang="5400000" scaled="1"/>
                </a:gradFill>
                <a:latin typeface="맑은 고딕" panose="020B0503020000020004" pitchFamily="50" charset="-127"/>
              </a:rPr>
              <a:t>던전 </a:t>
            </a:r>
            <a:r>
              <a:rPr lang="en-US" altLang="ko-KR" sz="2200" b="1" dirty="0">
                <a:gradFill>
                  <a:gsLst>
                    <a:gs pos="0">
                      <a:schemeClr val="tx1"/>
                    </a:gs>
                    <a:gs pos="100000">
                      <a:schemeClr val="tx1"/>
                    </a:gs>
                  </a:gsLst>
                  <a:lin ang="5400000" scaled="1"/>
                </a:gradFill>
                <a:latin typeface="맑은 고딕" panose="020B0503020000020004" pitchFamily="50" charset="-127"/>
              </a:rPr>
              <a:t>(</a:t>
            </a:r>
            <a:r>
              <a:rPr lang="ko-KR" altLang="en-US" sz="2200" b="1" dirty="0">
                <a:gradFill>
                  <a:gsLst>
                    <a:gs pos="0">
                      <a:schemeClr val="tx1"/>
                    </a:gs>
                    <a:gs pos="100000">
                      <a:schemeClr val="tx1"/>
                    </a:gs>
                  </a:gsLst>
                  <a:lin ang="5400000" scaled="1"/>
                </a:gradFill>
                <a:latin typeface="맑은 고딕" panose="020B0503020000020004" pitchFamily="50" charset="-127"/>
              </a:rPr>
              <a:t>스테이지</a:t>
            </a:r>
            <a:r>
              <a:rPr lang="en-US" altLang="ko-KR" sz="2200" b="1" dirty="0">
                <a:gradFill>
                  <a:gsLst>
                    <a:gs pos="0">
                      <a:schemeClr val="tx1"/>
                    </a:gs>
                    <a:gs pos="100000">
                      <a:schemeClr val="tx1"/>
                    </a:gs>
                  </a:gsLst>
                  <a:lin ang="5400000" scaled="1"/>
                </a:gradFill>
                <a:latin typeface="맑은 고딕" panose="020B0503020000020004" pitchFamily="50" charset="-127"/>
              </a:rPr>
              <a:t>)</a:t>
            </a:r>
          </a:p>
        </p:txBody>
      </p:sp>
      <p:sp>
        <p:nvSpPr>
          <p:cNvPr id="24" name="TextBox 23"/>
          <p:cNvSpPr txBox="1"/>
          <p:nvPr/>
        </p:nvSpPr>
        <p:spPr>
          <a:xfrm>
            <a:off x="5468971" y="579113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p>
        </p:txBody>
      </p:sp>
    </p:spTree>
    <p:extLst>
      <p:ext uri="{BB962C8B-B14F-4D97-AF65-F5344CB8AC3E}">
        <p14:creationId xmlns:p14="http://schemas.microsoft.com/office/powerpoint/2010/main" val="13558336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151583" y="3615324"/>
            <a:ext cx="7558195"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TextBox 23"/>
          <p:cNvSpPr txBox="1"/>
          <p:nvPr/>
        </p:nvSpPr>
        <p:spPr>
          <a:xfrm>
            <a:off x="5492688" y="4189842"/>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TextBox 24"/>
          <p:cNvSpPr txBox="1"/>
          <p:nvPr/>
        </p:nvSpPr>
        <p:spPr>
          <a:xfrm>
            <a:off x="5492688" y="478748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a:t>
            </a:fld>
            <a:endParaRPr lang="ko-KR" altLang="en-US" sz="1800" dirty="0"/>
          </a:p>
        </p:txBody>
      </p:sp>
      <p:sp>
        <p:nvSpPr>
          <p:cNvPr id="18" name="TextBox 17"/>
          <p:cNvSpPr txBox="1"/>
          <p:nvPr/>
        </p:nvSpPr>
        <p:spPr>
          <a:xfrm>
            <a:off x="4151583" y="626716"/>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5492687" y="115976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탐험</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6" name="TextBox 25"/>
          <p:cNvSpPr txBox="1"/>
          <p:nvPr/>
        </p:nvSpPr>
        <p:spPr>
          <a:xfrm>
            <a:off x="5492687" y="1731793"/>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7" name="TextBox 26"/>
          <p:cNvSpPr txBox="1"/>
          <p:nvPr/>
        </p:nvSpPr>
        <p:spPr>
          <a:xfrm>
            <a:off x="5492687" y="230935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육성</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9" name="TextBox 28"/>
          <p:cNvSpPr txBox="1"/>
          <p:nvPr/>
        </p:nvSpPr>
        <p:spPr>
          <a:xfrm>
            <a:off x="5492687" y="288392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3-4.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전략과 조합</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2" name="TextBox 31"/>
          <p:cNvSpPr txBox="1"/>
          <p:nvPr/>
        </p:nvSpPr>
        <p:spPr>
          <a:xfrm>
            <a:off x="4151584" y="5699983"/>
            <a:ext cx="7449014"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코멘트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27p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3310411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151583" y="481242"/>
            <a:ext cx="7517253"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후기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28p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2" name="TextBox 21"/>
          <p:cNvSpPr txBox="1"/>
          <p:nvPr/>
        </p:nvSpPr>
        <p:spPr>
          <a:xfrm>
            <a:off x="4151584" y="1845842"/>
            <a:ext cx="751725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29p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TextBox 27"/>
          <p:cNvSpPr txBox="1"/>
          <p:nvPr/>
        </p:nvSpPr>
        <p:spPr>
          <a:xfrm>
            <a:off x="4151583" y="3210443"/>
            <a:ext cx="7694673"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a:t>
            </a:fld>
            <a:endParaRPr lang="ko-KR" altLang="en-US" sz="1800" dirty="0"/>
          </a:p>
        </p:txBody>
      </p:sp>
    </p:spTree>
    <p:extLst>
      <p:ext uri="{BB962C8B-B14F-4D97-AF65-F5344CB8AC3E}">
        <p14:creationId xmlns:p14="http://schemas.microsoft.com/office/powerpoint/2010/main" val="10812117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5" name="TextBox 4"/>
          <p:cNvSpPr txBox="1"/>
          <p:nvPr/>
        </p:nvSpPr>
        <p:spPr>
          <a:xfrm>
            <a:off x="4699192" y="620053"/>
            <a:ext cx="23086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TextBox 36"/>
          <p:cNvSpPr txBox="1"/>
          <p:nvPr/>
        </p:nvSpPr>
        <p:spPr>
          <a:xfrm>
            <a:off x="4949374" y="1151764"/>
            <a:ext cx="6924178" cy="1269578"/>
          </a:xfrm>
          <a:prstGeom prst="rect">
            <a:avLst/>
          </a:prstGeom>
          <a:noFill/>
        </p:spPr>
        <p:txBody>
          <a:bodyPr wrap="square" rtlCol="0">
            <a:spAutoFit/>
          </a:bodyPr>
          <a:lstStyle/>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플레이어가 선택할 캐릭터와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테이밍할</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수 있는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몬스터들을</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중심으로</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각각의 특징과 능력에 따른 다양한 조합과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턴제</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임의 전략적 플레이에서 기인하는 재미를 구체적으로 제시하는 데에 중점을 둔다</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endParaRPr lang="en-US" altLang="ko-KR"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22991" y="2818021"/>
            <a:ext cx="24610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3" name="표 2"/>
          <p:cNvGraphicFramePr>
            <a:graphicFrameLocks noGrp="1"/>
          </p:cNvGraphicFramePr>
          <p:nvPr>
            <p:extLst>
              <p:ext uri="{D42A27DB-BD31-4B8C-83A1-F6EECF244321}">
                <p14:modId xmlns:p14="http://schemas.microsoft.com/office/powerpoint/2010/main" val="2104488904"/>
              </p:ext>
            </p:extLst>
          </p:nvPr>
        </p:nvGraphicFramePr>
        <p:xfrm>
          <a:off x="4949374" y="3443220"/>
          <a:ext cx="6995883" cy="2595880"/>
        </p:xfrm>
        <a:graphic>
          <a:graphicData uri="http://schemas.openxmlformats.org/drawingml/2006/table">
            <a:tbl>
              <a:tblPr firstRow="1" bandRow="1">
                <a:tableStyleId>{073A0DAA-6AF3-43AB-8588-CEC1D06C72B9}</a:tableStyleId>
              </a:tblPr>
              <a:tblGrid>
                <a:gridCol w="1804448">
                  <a:extLst>
                    <a:ext uri="{9D8B030D-6E8A-4147-A177-3AD203B41FA5}">
                      <a16:colId xmlns:a16="http://schemas.microsoft.com/office/drawing/2014/main" val="3475047078"/>
                    </a:ext>
                  </a:extLst>
                </a:gridCol>
                <a:gridCol w="5191435">
                  <a:extLst>
                    <a:ext uri="{9D8B030D-6E8A-4147-A177-3AD203B41FA5}">
                      <a16:colId xmlns:a16="http://schemas.microsoft.com/office/drawing/2014/main" val="1305153539"/>
                    </a:ext>
                  </a:extLst>
                </a:gridCol>
              </a:tblGrid>
              <a:tr h="370840">
                <a:tc gridSpan="2">
                  <a:txBody>
                    <a:bodyPr/>
                    <a:lstStyle/>
                    <a:p>
                      <a:pPr algn="ctr" latinLnBrk="1"/>
                      <a:r>
                        <a:rPr lang="ko-KR" altLang="en-US" dirty="0" smtClean="0"/>
                        <a:t>개요</a:t>
                      </a:r>
                      <a:endParaRPr lang="ko-KR" altLang="en-US" dirty="0"/>
                    </a:p>
                  </a:txBody>
                  <a:tcPr anchor="ctr"/>
                </a:tc>
                <a:tc hMerge="1">
                  <a:txBody>
                    <a:bodyPr/>
                    <a:lstStyle/>
                    <a:p>
                      <a:pPr latinLnBrk="1"/>
                      <a:endParaRPr lang="ko-KR" altLang="en-US" dirty="0"/>
                    </a:p>
                  </a:txBody>
                  <a:tcPr/>
                </a:tc>
                <a:extLst>
                  <a:ext uri="{0D108BD9-81ED-4DB2-BD59-A6C34878D82A}">
                    <a16:rowId xmlns:a16="http://schemas.microsoft.com/office/drawing/2014/main" val="1178596490"/>
                  </a:ext>
                </a:extLst>
              </a:tr>
              <a:tr h="370840">
                <a:tc>
                  <a:txBody>
                    <a:bodyPr/>
                    <a:lstStyle/>
                    <a:p>
                      <a:pPr algn="ctr" latinLnBrk="1"/>
                      <a:r>
                        <a:rPr lang="ko-KR" altLang="en-US" dirty="0" smtClean="0"/>
                        <a:t>제목</a:t>
                      </a:r>
                      <a:endParaRPr lang="ko-KR" altLang="en-US" dirty="0"/>
                    </a:p>
                  </a:txBody>
                  <a:tcPr anchor="ctr"/>
                </a:tc>
                <a:tc>
                  <a:txBody>
                    <a:bodyPr/>
                    <a:lstStyle/>
                    <a:p>
                      <a:pPr algn="ctr" latinLnBrk="1"/>
                      <a:r>
                        <a:rPr lang="en-US" altLang="ko-KR" dirty="0" smtClean="0"/>
                        <a:t>Dungeon</a:t>
                      </a:r>
                      <a:r>
                        <a:rPr lang="en-US" altLang="ko-KR" baseline="0" dirty="0" smtClean="0"/>
                        <a:t> Tamer</a:t>
                      </a:r>
                      <a:endParaRPr lang="ko-KR" altLang="en-US" dirty="0"/>
                    </a:p>
                  </a:txBody>
                  <a:tcPr anchor="ctr"/>
                </a:tc>
                <a:extLst>
                  <a:ext uri="{0D108BD9-81ED-4DB2-BD59-A6C34878D82A}">
                    <a16:rowId xmlns:a16="http://schemas.microsoft.com/office/drawing/2014/main" val="1039901684"/>
                  </a:ext>
                </a:extLst>
              </a:tr>
              <a:tr h="370840">
                <a:tc>
                  <a:txBody>
                    <a:bodyPr/>
                    <a:lstStyle/>
                    <a:p>
                      <a:pPr algn="ctr" latinLnBrk="1"/>
                      <a:r>
                        <a:rPr lang="ko-KR" altLang="en-US" dirty="0" smtClean="0"/>
                        <a:t>장르</a:t>
                      </a:r>
                      <a:endParaRPr lang="ko-KR" altLang="en-US" dirty="0"/>
                    </a:p>
                  </a:txBody>
                  <a:tcPr anchor="ctr"/>
                </a:tc>
                <a:tc>
                  <a:txBody>
                    <a:bodyPr/>
                    <a:lstStyle/>
                    <a:p>
                      <a:pPr algn="ctr" latinLnBrk="1"/>
                      <a:r>
                        <a:rPr lang="en-US" altLang="ko-KR" dirty="0" smtClean="0"/>
                        <a:t>2D TRPG</a:t>
                      </a:r>
                      <a:endParaRPr lang="ko-KR" altLang="en-US" dirty="0"/>
                    </a:p>
                  </a:txBody>
                  <a:tcPr anchor="ctr"/>
                </a:tc>
                <a:extLst>
                  <a:ext uri="{0D108BD9-81ED-4DB2-BD59-A6C34878D82A}">
                    <a16:rowId xmlns:a16="http://schemas.microsoft.com/office/drawing/2014/main" val="1243071007"/>
                  </a:ext>
                </a:extLst>
              </a:tr>
              <a:tr h="370840">
                <a:tc>
                  <a:txBody>
                    <a:bodyPr/>
                    <a:lstStyle/>
                    <a:p>
                      <a:pPr algn="ctr" latinLnBrk="1"/>
                      <a:r>
                        <a:rPr lang="ko-KR" altLang="en-US" dirty="0" smtClean="0"/>
                        <a:t>플랫폼</a:t>
                      </a:r>
                      <a:endParaRPr lang="ko-KR" altLang="en-US" dirty="0"/>
                    </a:p>
                  </a:txBody>
                  <a:tcPr anchor="ctr"/>
                </a:tc>
                <a:tc>
                  <a:txBody>
                    <a:bodyPr/>
                    <a:lstStyle/>
                    <a:p>
                      <a:pPr algn="ctr" latinLnBrk="1"/>
                      <a:r>
                        <a:rPr lang="en-US" altLang="ko-KR" dirty="0" smtClean="0"/>
                        <a:t>PC, PS4,</a:t>
                      </a:r>
                      <a:r>
                        <a:rPr lang="en-US" altLang="ko-KR" baseline="0" dirty="0" smtClean="0"/>
                        <a:t> XB1, NSW</a:t>
                      </a:r>
                      <a:endParaRPr lang="ko-KR" altLang="en-US" dirty="0"/>
                    </a:p>
                  </a:txBody>
                  <a:tcPr anchor="ctr"/>
                </a:tc>
                <a:extLst>
                  <a:ext uri="{0D108BD9-81ED-4DB2-BD59-A6C34878D82A}">
                    <a16:rowId xmlns:a16="http://schemas.microsoft.com/office/drawing/2014/main" val="3415024306"/>
                  </a:ext>
                </a:extLst>
              </a:tr>
              <a:tr h="370840">
                <a:tc>
                  <a:txBody>
                    <a:bodyPr/>
                    <a:lstStyle/>
                    <a:p>
                      <a:pPr algn="ctr" latinLnBrk="1"/>
                      <a:r>
                        <a:rPr lang="ko-KR" altLang="en-US" dirty="0" smtClean="0"/>
                        <a:t>플레이 유형</a:t>
                      </a:r>
                      <a:endParaRPr lang="ko-KR" altLang="en-US" dirty="0"/>
                    </a:p>
                  </a:txBody>
                  <a:tcPr anchor="ctr"/>
                </a:tc>
                <a:tc>
                  <a:txBody>
                    <a:bodyPr/>
                    <a:lstStyle/>
                    <a:p>
                      <a:pPr algn="ctr" latinLnBrk="1"/>
                      <a:r>
                        <a:rPr lang="ko-KR" altLang="en-US" dirty="0" smtClean="0"/>
                        <a:t>싱글 플레이</a:t>
                      </a:r>
                      <a:endParaRPr lang="ko-KR" altLang="en-US" dirty="0"/>
                    </a:p>
                  </a:txBody>
                  <a:tcPr anchor="ctr"/>
                </a:tc>
                <a:extLst>
                  <a:ext uri="{0D108BD9-81ED-4DB2-BD59-A6C34878D82A}">
                    <a16:rowId xmlns:a16="http://schemas.microsoft.com/office/drawing/2014/main" val="3365250972"/>
                  </a:ext>
                </a:extLst>
              </a:tr>
              <a:tr h="741680">
                <a:tc>
                  <a:txBody>
                    <a:bodyPr/>
                    <a:lstStyle/>
                    <a:p>
                      <a:pPr algn="ctr" latinLnBrk="1"/>
                      <a:r>
                        <a:rPr lang="ko-KR" altLang="en-US" dirty="0" smtClean="0"/>
                        <a:t>주 타겟 유저</a:t>
                      </a:r>
                      <a:endParaRPr lang="ko-KR" altLang="en-US" dirty="0"/>
                    </a:p>
                  </a:txBody>
                  <a:tcPr anchor="ctr"/>
                </a:tc>
                <a:tc>
                  <a:txBody>
                    <a:bodyPr/>
                    <a:lstStyle/>
                    <a:p>
                      <a:pPr algn="ctr" latinLnBrk="1"/>
                      <a:r>
                        <a:rPr lang="ko-KR" altLang="en-US" dirty="0" smtClean="0"/>
                        <a:t>턴 방식의 전략 게임과 </a:t>
                      </a:r>
                      <a:r>
                        <a:rPr lang="ko-KR" altLang="en-US" dirty="0" err="1" smtClean="0"/>
                        <a:t>로그라이크를</a:t>
                      </a:r>
                      <a:r>
                        <a:rPr lang="ko-KR" altLang="en-US" baseline="0" dirty="0" smtClean="0"/>
                        <a:t> 선호하는</a:t>
                      </a:r>
                      <a:endParaRPr lang="en-US" altLang="ko-KR" baseline="0" dirty="0" smtClean="0"/>
                    </a:p>
                    <a:p>
                      <a:pPr algn="ctr" latinLnBrk="1"/>
                      <a:r>
                        <a:rPr lang="en-US" altLang="ko-KR" dirty="0" smtClean="0"/>
                        <a:t>10~30</a:t>
                      </a:r>
                      <a:r>
                        <a:rPr lang="ko-KR" altLang="en-US" dirty="0" smtClean="0"/>
                        <a:t>대 게이머</a:t>
                      </a:r>
                      <a:endParaRPr lang="ko-KR" altLang="en-US" dirty="0"/>
                    </a:p>
                  </a:txBody>
                  <a:tcPr anchor="ctr"/>
                </a:tc>
                <a:extLst>
                  <a:ext uri="{0D108BD9-81ED-4DB2-BD59-A6C34878D82A}">
                    <a16:rowId xmlns:a16="http://schemas.microsoft.com/office/drawing/2014/main" val="1780395460"/>
                  </a:ext>
                </a:extLst>
              </a:tr>
            </a:tbl>
          </a:graphicData>
        </a:graphic>
      </p:graphicFrame>
      <p:sp>
        <p:nvSpPr>
          <p:cNvPr id="7" name="슬라이드 번호 개체 틀 6"/>
          <p:cNvSpPr>
            <a:spLocks noGrp="1"/>
          </p:cNvSpPr>
          <p:nvPr>
            <p:ph type="sldNum" sz="quarter" idx="12"/>
          </p:nvPr>
        </p:nvSpPr>
        <p:spPr/>
        <p:txBody>
          <a:bodyPr/>
          <a:lstStyle/>
          <a:p>
            <a:fld id="{95F8FB6C-4300-4EF3-AEA9-23A98D8A74E1}" type="slidenum">
              <a:rPr lang="ko-KR" altLang="en-US" sz="1800" smtClean="0"/>
              <a:t>5</a:t>
            </a:fld>
            <a:endParaRPr lang="ko-KR" altLang="en-US" sz="1800" dirty="0"/>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9071" y="777408"/>
            <a:ext cx="4199265" cy="23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1499998" y="3125709"/>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1</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6" name="TextBox 15"/>
          <p:cNvSpPr txBox="1"/>
          <p:nvPr/>
        </p:nvSpPr>
        <p:spPr>
          <a:xfrm>
            <a:off x="1499997" y="6125918"/>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2</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031" name="Picture 7" descr="http://db.kookje.co.kr/news2000/photo/2018/0828/L20180828.22013012447i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071" y="3515375"/>
            <a:ext cx="4199265" cy="2610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3570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a:gradFill>
                  <a:gsLst>
                    <a:gs pos="0">
                      <a:schemeClr val="tx1"/>
                    </a:gs>
                    <a:gs pos="100000">
                      <a:schemeClr val="tx1"/>
                    </a:gs>
                  </a:gsLst>
                  <a:lin ang="5400000" scaled="1"/>
                </a:gradFill>
                <a:latin typeface="맑은 고딕" panose="020B0503020000020004" pitchFamily="50" charset="-127"/>
              </a:rPr>
              <a:t>기획 컨셉 및 </a:t>
            </a:r>
            <a:r>
              <a:rPr lang="ko-KR" altLang="en-US" b="1" dirty="0" smtClean="0">
                <a:gradFill>
                  <a:gsLst>
                    <a:gs pos="0">
                      <a:schemeClr val="tx1"/>
                    </a:gs>
                    <a:gs pos="100000">
                      <a:schemeClr val="tx1"/>
                    </a:gs>
                  </a:gsLst>
                  <a:lin ang="5400000" scaled="1"/>
                </a:gradFill>
                <a:latin typeface="맑은 고딕" panose="020B0503020000020004" pitchFamily="50" charset="-127"/>
              </a:rPr>
              <a:t>개요</a:t>
            </a:r>
            <a:endParaRPr lang="ko-KR" altLang="en-US" b="1" dirty="0">
              <a:gradFill>
                <a:gsLst>
                  <a:gs pos="0">
                    <a:schemeClr val="tx1"/>
                  </a:gs>
                  <a:gs pos="100000">
                    <a:schemeClr val="tx1"/>
                  </a:gs>
                </a:gsLst>
                <a:lin ang="5400000" scaled="1"/>
              </a:gradFill>
              <a:latin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754747" y="1257383"/>
            <a:ext cx="2322282"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7" name="표 6"/>
          <p:cNvGraphicFramePr>
            <a:graphicFrameLocks noGrp="1"/>
          </p:cNvGraphicFramePr>
          <p:nvPr>
            <p:extLst>
              <p:ext uri="{D42A27DB-BD31-4B8C-83A1-F6EECF244321}">
                <p14:modId xmlns:p14="http://schemas.microsoft.com/office/powerpoint/2010/main" val="276476328"/>
              </p:ext>
            </p:extLst>
          </p:nvPr>
        </p:nvGraphicFramePr>
        <p:xfrm>
          <a:off x="754747" y="1894709"/>
          <a:ext cx="10609938" cy="3421728"/>
        </p:xfrm>
        <a:graphic>
          <a:graphicData uri="http://schemas.openxmlformats.org/drawingml/2006/table">
            <a:tbl>
              <a:tblPr firstRow="1" bandRow="1">
                <a:tableStyleId>{073A0DAA-6AF3-43AB-8588-CEC1D06C72B9}</a:tableStyleId>
              </a:tblPr>
              <a:tblGrid>
                <a:gridCol w="1712682">
                  <a:extLst>
                    <a:ext uri="{9D8B030D-6E8A-4147-A177-3AD203B41FA5}">
                      <a16:colId xmlns:a16="http://schemas.microsoft.com/office/drawing/2014/main" val="389885132"/>
                    </a:ext>
                  </a:extLst>
                </a:gridCol>
                <a:gridCol w="3991428">
                  <a:extLst>
                    <a:ext uri="{9D8B030D-6E8A-4147-A177-3AD203B41FA5}">
                      <a16:colId xmlns:a16="http://schemas.microsoft.com/office/drawing/2014/main" val="2257908711"/>
                    </a:ext>
                  </a:extLst>
                </a:gridCol>
                <a:gridCol w="4905828">
                  <a:extLst>
                    <a:ext uri="{9D8B030D-6E8A-4147-A177-3AD203B41FA5}">
                      <a16:colId xmlns:a16="http://schemas.microsoft.com/office/drawing/2014/main" val="4230724851"/>
                    </a:ext>
                  </a:extLst>
                </a:gridCol>
              </a:tblGrid>
              <a:tr h="570288">
                <a:tc>
                  <a:txBody>
                    <a:bodyPr/>
                    <a:lstStyle/>
                    <a:p>
                      <a:pPr algn="ctr" latinLnBrk="1"/>
                      <a:r>
                        <a:rPr lang="en-US" altLang="ko-KR" dirty="0" smtClean="0"/>
                        <a:t>Requirements</a:t>
                      </a:r>
                      <a:endParaRPr lang="ko-KR" altLang="en-US" dirty="0"/>
                    </a:p>
                  </a:txBody>
                  <a:tcPr anchor="ctr"/>
                </a:tc>
                <a:tc>
                  <a:txBody>
                    <a:bodyPr/>
                    <a:lstStyle/>
                    <a:p>
                      <a:pPr algn="ctr" latinLnBrk="1"/>
                      <a:r>
                        <a:rPr lang="en-US" altLang="ko-KR" dirty="0" smtClean="0"/>
                        <a:t>Minimum</a:t>
                      </a:r>
                      <a:endParaRPr lang="ko-KR" altLang="en-US" dirty="0"/>
                    </a:p>
                  </a:txBody>
                  <a:tcPr anchor="ctr"/>
                </a:tc>
                <a:tc>
                  <a:txBody>
                    <a:bodyPr/>
                    <a:lstStyle/>
                    <a:p>
                      <a:pPr algn="ctr" latinLnBrk="1"/>
                      <a:r>
                        <a:rPr lang="en-US" altLang="ko-KR" dirty="0" smtClean="0"/>
                        <a:t>Recommended</a:t>
                      </a:r>
                      <a:endParaRPr lang="ko-KR" altLang="en-US" dirty="0"/>
                    </a:p>
                  </a:txBody>
                  <a:tcPr anchor="ctr"/>
                </a:tc>
                <a:extLst>
                  <a:ext uri="{0D108BD9-81ED-4DB2-BD59-A6C34878D82A}">
                    <a16:rowId xmlns:a16="http://schemas.microsoft.com/office/drawing/2014/main" val="2153952193"/>
                  </a:ext>
                </a:extLst>
              </a:tr>
              <a:tr h="570288">
                <a:tc>
                  <a:txBody>
                    <a:bodyPr/>
                    <a:lstStyle/>
                    <a:p>
                      <a:pPr algn="ctr" latinLnBrk="1"/>
                      <a:r>
                        <a:rPr lang="en-US" altLang="ko-KR" dirty="0" smtClean="0"/>
                        <a:t>OS</a:t>
                      </a:r>
                      <a:endParaRPr lang="ko-KR" altLang="en-US" dirty="0"/>
                    </a:p>
                  </a:txBody>
                  <a:tcPr anchor="ctr"/>
                </a:tc>
                <a:tc>
                  <a:txBody>
                    <a:bodyPr/>
                    <a:lstStyle/>
                    <a:p>
                      <a:pPr algn="ctr" latinLnBrk="1"/>
                      <a:r>
                        <a:rPr lang="en-US" altLang="ko-KR" dirty="0" smtClean="0"/>
                        <a:t>Windows 7+</a:t>
                      </a:r>
                      <a:endParaRPr lang="ko-KR" altLang="en-US" dirty="0"/>
                    </a:p>
                  </a:txBody>
                  <a:tcPr anchor="ctr"/>
                </a:tc>
                <a:tc>
                  <a:txBody>
                    <a:bodyPr/>
                    <a:lstStyle/>
                    <a:p>
                      <a:pPr algn="ctr" latinLnBrk="1"/>
                      <a:r>
                        <a:rPr lang="en-US" altLang="ko-KR" dirty="0" smtClean="0"/>
                        <a:t>Windows 7+</a:t>
                      </a:r>
                      <a:endParaRPr lang="ko-KR" altLang="en-US" dirty="0"/>
                    </a:p>
                  </a:txBody>
                  <a:tcPr anchor="ctr"/>
                </a:tc>
                <a:extLst>
                  <a:ext uri="{0D108BD9-81ED-4DB2-BD59-A6C34878D82A}">
                    <a16:rowId xmlns:a16="http://schemas.microsoft.com/office/drawing/2014/main" val="1269054755"/>
                  </a:ext>
                </a:extLst>
              </a:tr>
              <a:tr h="570288">
                <a:tc>
                  <a:txBody>
                    <a:bodyPr/>
                    <a:lstStyle/>
                    <a:p>
                      <a:pPr algn="ctr" latinLnBrk="1"/>
                      <a:r>
                        <a:rPr lang="en-US" altLang="ko-KR" dirty="0" smtClean="0"/>
                        <a:t>Processor</a:t>
                      </a:r>
                      <a:endParaRPr lang="ko-KR" altLang="en-US" dirty="0"/>
                    </a:p>
                  </a:txBody>
                  <a:tcPr anchor="ctr"/>
                </a:tc>
                <a:tc>
                  <a:txBody>
                    <a:bodyPr/>
                    <a:lstStyle/>
                    <a:p>
                      <a:pPr algn="ctr" latinLnBrk="1"/>
                      <a:r>
                        <a:rPr lang="en-US" altLang="ko-KR" dirty="0" smtClean="0"/>
                        <a:t>Dual core</a:t>
                      </a:r>
                      <a:r>
                        <a:rPr lang="en-US" altLang="ko-KR" baseline="0" dirty="0" smtClean="0"/>
                        <a:t> </a:t>
                      </a:r>
                      <a:r>
                        <a:rPr lang="en-US" altLang="ko-KR" dirty="0" smtClean="0"/>
                        <a:t>2.6 </a:t>
                      </a:r>
                      <a:r>
                        <a:rPr lang="en-US" altLang="ko-KR" dirty="0" err="1" smtClean="0"/>
                        <a:t>ghz</a:t>
                      </a:r>
                      <a:r>
                        <a:rPr lang="en-US" altLang="ko-KR" dirty="0" smtClean="0"/>
                        <a:t> +</a:t>
                      </a:r>
                      <a:endParaRPr lang="ko-KR" altLang="en-US" dirty="0"/>
                    </a:p>
                  </a:txBody>
                  <a:tcPr anchor="ctr"/>
                </a:tc>
                <a:tc>
                  <a:txBody>
                    <a:bodyPr/>
                    <a:lstStyle/>
                    <a:p>
                      <a:pPr algn="ctr" latinLnBrk="1"/>
                      <a:r>
                        <a:rPr lang="en-US" altLang="ko-KR" dirty="0" smtClean="0"/>
                        <a:t>Intel core</a:t>
                      </a:r>
                      <a:r>
                        <a:rPr lang="en-US" altLang="ko-KR" baseline="0" dirty="0" smtClean="0"/>
                        <a:t> i5 series +</a:t>
                      </a:r>
                      <a:endParaRPr lang="ko-KR" altLang="en-US" dirty="0"/>
                    </a:p>
                  </a:txBody>
                  <a:tcPr anchor="ctr"/>
                </a:tc>
                <a:extLst>
                  <a:ext uri="{0D108BD9-81ED-4DB2-BD59-A6C34878D82A}">
                    <a16:rowId xmlns:a16="http://schemas.microsoft.com/office/drawing/2014/main" val="3493674192"/>
                  </a:ext>
                </a:extLst>
              </a:tr>
              <a:tr h="570288">
                <a:tc>
                  <a:txBody>
                    <a:bodyPr/>
                    <a:lstStyle/>
                    <a:p>
                      <a:pPr algn="ctr" latinLnBrk="1"/>
                      <a:r>
                        <a:rPr lang="en-US" altLang="ko-KR" dirty="0" smtClean="0"/>
                        <a:t>Memory</a:t>
                      </a:r>
                      <a:endParaRPr lang="ko-KR" altLang="en-US" dirty="0"/>
                    </a:p>
                  </a:txBody>
                  <a:tcPr anchor="ctr"/>
                </a:tc>
                <a:tc>
                  <a:txBody>
                    <a:bodyPr/>
                    <a:lstStyle/>
                    <a:p>
                      <a:pPr algn="ctr" latinLnBrk="1"/>
                      <a:r>
                        <a:rPr lang="en-US" altLang="ko-KR" dirty="0" smtClean="0"/>
                        <a:t>1 GB</a:t>
                      </a:r>
                      <a:endParaRPr lang="ko-KR" altLang="en-US" dirty="0"/>
                    </a:p>
                  </a:txBody>
                  <a:tcPr anchor="ctr"/>
                </a:tc>
                <a:tc>
                  <a:txBody>
                    <a:bodyPr/>
                    <a:lstStyle/>
                    <a:p>
                      <a:pPr algn="ctr" latinLnBrk="1"/>
                      <a:r>
                        <a:rPr lang="en-US" altLang="ko-KR" dirty="0" smtClean="0"/>
                        <a:t>2 GB</a:t>
                      </a:r>
                    </a:p>
                  </a:txBody>
                  <a:tcPr anchor="ctr"/>
                </a:tc>
                <a:extLst>
                  <a:ext uri="{0D108BD9-81ED-4DB2-BD59-A6C34878D82A}">
                    <a16:rowId xmlns:a16="http://schemas.microsoft.com/office/drawing/2014/main" val="2897240585"/>
                  </a:ext>
                </a:extLst>
              </a:tr>
              <a:tr h="570288">
                <a:tc>
                  <a:txBody>
                    <a:bodyPr/>
                    <a:lstStyle/>
                    <a:p>
                      <a:pPr algn="ctr" latinLnBrk="1"/>
                      <a:r>
                        <a:rPr lang="en-US" altLang="ko-KR" dirty="0" smtClean="0"/>
                        <a:t>Graphics</a:t>
                      </a:r>
                      <a:endParaRPr lang="ko-KR" altLang="en-US" dirty="0"/>
                    </a:p>
                  </a:txBody>
                  <a:tcPr anchor="ctr"/>
                </a:tc>
                <a:tc>
                  <a:txBody>
                    <a:bodyPr/>
                    <a:lstStyle/>
                    <a:p>
                      <a:pPr algn="ctr" latinLnBrk="1"/>
                      <a:r>
                        <a:rPr lang="en-US" altLang="ko-KR" dirty="0" err="1" smtClean="0"/>
                        <a:t>nVidia</a:t>
                      </a:r>
                      <a:r>
                        <a:rPr lang="en-US" altLang="ko-KR" dirty="0" smtClean="0"/>
                        <a:t> GTS 450 +</a:t>
                      </a:r>
                      <a:endParaRPr lang="ko-KR" altLang="en-US" dirty="0"/>
                    </a:p>
                  </a:txBody>
                  <a:tcPr anchor="ctr"/>
                </a:tc>
                <a:tc>
                  <a:txBody>
                    <a:bodyPr/>
                    <a:lstStyle/>
                    <a:p>
                      <a:pPr marL="0" indent="0" algn="ctr" latinLnBrk="1">
                        <a:buNone/>
                      </a:pPr>
                      <a:r>
                        <a:rPr lang="en-US" altLang="ko-KR" dirty="0" err="1" smtClean="0"/>
                        <a:t>nVidia</a:t>
                      </a:r>
                      <a:r>
                        <a:rPr lang="en-US" altLang="ko-KR" dirty="0" smtClean="0"/>
                        <a:t> GTS 450 +</a:t>
                      </a:r>
                      <a:endParaRPr lang="ko-KR" altLang="en-US" dirty="0"/>
                    </a:p>
                  </a:txBody>
                  <a:tcPr anchor="ctr"/>
                </a:tc>
                <a:extLst>
                  <a:ext uri="{0D108BD9-81ED-4DB2-BD59-A6C34878D82A}">
                    <a16:rowId xmlns:a16="http://schemas.microsoft.com/office/drawing/2014/main" val="2410361268"/>
                  </a:ext>
                </a:extLst>
              </a:tr>
              <a:tr h="570288">
                <a:tc>
                  <a:txBody>
                    <a:bodyPr/>
                    <a:lstStyle/>
                    <a:p>
                      <a:pPr algn="ctr" latinLnBrk="1"/>
                      <a:r>
                        <a:rPr lang="en-US" altLang="ko-KR" dirty="0" smtClean="0"/>
                        <a:t>Storage</a:t>
                      </a:r>
                      <a:endParaRPr lang="ko-KR" altLang="en-US" dirty="0"/>
                    </a:p>
                  </a:txBody>
                  <a:tcPr anchor="ctr"/>
                </a:tc>
                <a:tc>
                  <a:txBody>
                    <a:bodyPr/>
                    <a:lstStyle/>
                    <a:p>
                      <a:pPr algn="ctr" latinLnBrk="1"/>
                      <a:r>
                        <a:rPr lang="en-US" altLang="ko-KR" dirty="0" smtClean="0"/>
                        <a:t>400 MB</a:t>
                      </a:r>
                      <a:endParaRPr lang="ko-KR" altLang="en-US" dirty="0"/>
                    </a:p>
                  </a:txBody>
                  <a:tcPr anchor="ctr"/>
                </a:tc>
                <a:tc>
                  <a:txBody>
                    <a:bodyPr/>
                    <a:lstStyle/>
                    <a:p>
                      <a:pPr algn="ctr" latinLnBrk="1"/>
                      <a:r>
                        <a:rPr lang="en-US" altLang="ko-KR" dirty="0" smtClean="0"/>
                        <a:t>1 GB</a:t>
                      </a:r>
                      <a:endParaRPr lang="ko-KR" altLang="en-US" dirty="0"/>
                    </a:p>
                  </a:txBody>
                  <a:tcPr anchor="ctr"/>
                </a:tc>
                <a:extLst>
                  <a:ext uri="{0D108BD9-81ED-4DB2-BD59-A6C34878D82A}">
                    <a16:rowId xmlns:a16="http://schemas.microsoft.com/office/drawing/2014/main" val="1747673497"/>
                  </a:ext>
                </a:extLst>
              </a:tr>
            </a:tbl>
          </a:graphicData>
        </a:graphic>
      </p:graphicFrame>
      <p:sp>
        <p:nvSpPr>
          <p:cNvPr id="2" name="슬라이드 번호 개체 틀 1"/>
          <p:cNvSpPr>
            <a:spLocks noGrp="1"/>
          </p:cNvSpPr>
          <p:nvPr>
            <p:ph type="sldNum" sz="quarter" idx="12"/>
          </p:nvPr>
        </p:nvSpPr>
        <p:spPr/>
        <p:txBody>
          <a:bodyPr/>
          <a:lstStyle/>
          <a:p>
            <a:fld id="{95F8FB6C-4300-4EF3-AEA9-23A98D8A74E1}" type="slidenum">
              <a:rPr lang="ko-KR" altLang="en-US" sz="1800" smtClean="0"/>
              <a:t>6</a:t>
            </a:fld>
            <a:endParaRPr lang="ko-KR" altLang="en-US" sz="1800" dirty="0"/>
          </a:p>
        </p:txBody>
      </p:sp>
    </p:spTree>
    <p:extLst>
      <p:ext uri="{BB962C8B-B14F-4D97-AF65-F5344CB8AC3E}">
        <p14:creationId xmlns:p14="http://schemas.microsoft.com/office/powerpoint/2010/main" val="21777600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3352798"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 및 설정</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348401"/>
            <a:ext cx="5950972" cy="4662815"/>
          </a:xfrm>
          <a:prstGeom prst="rect">
            <a:avLst/>
          </a:prstGeom>
          <a:noFill/>
        </p:spPr>
        <p:txBody>
          <a:bodyPr wrap="square" rtlCol="0">
            <a:spAutoFit/>
          </a:bodyPr>
          <a:lstStyle/>
          <a:p>
            <a:pPr>
              <a:lnSpc>
                <a:spcPct val="150000"/>
              </a:lnSpc>
            </a:pPr>
            <a:r>
              <a:rPr lang="ko-KR" altLang="en-US" dirty="0" smtClean="0">
                <a:latin typeface="+mn-ea"/>
              </a:rPr>
              <a:t>동부 왕국의 평화롭고 한적한 마을 </a:t>
            </a:r>
            <a:r>
              <a:rPr lang="en-US" altLang="ko-KR" dirty="0" smtClean="0">
                <a:latin typeface="+mn-ea"/>
              </a:rPr>
              <a:t>‘</a:t>
            </a:r>
            <a:r>
              <a:rPr lang="ko-KR" altLang="en-US" dirty="0" err="1" smtClean="0">
                <a:latin typeface="+mn-ea"/>
              </a:rPr>
              <a:t>리안</a:t>
            </a:r>
            <a:r>
              <a:rPr lang="en-US" altLang="ko-KR" dirty="0" smtClean="0">
                <a:latin typeface="+mn-ea"/>
              </a:rPr>
              <a:t>’.</a:t>
            </a:r>
          </a:p>
          <a:p>
            <a:pPr>
              <a:lnSpc>
                <a:spcPct val="150000"/>
              </a:lnSpc>
            </a:pPr>
            <a:r>
              <a:rPr lang="ko-KR" altLang="en-US" dirty="0" smtClean="0">
                <a:latin typeface="+mn-ea"/>
              </a:rPr>
              <a:t>어느 날 돌연</a:t>
            </a:r>
            <a:r>
              <a:rPr lang="en-US" altLang="ko-KR" dirty="0" smtClean="0">
                <a:latin typeface="+mn-ea"/>
              </a:rPr>
              <a:t> </a:t>
            </a:r>
            <a:r>
              <a:rPr lang="ko-KR" altLang="en-US" dirty="0" smtClean="0">
                <a:latin typeface="+mn-ea"/>
              </a:rPr>
              <a:t>마을 주변에 정체불명의 던전이 출현한다</a:t>
            </a:r>
            <a:r>
              <a:rPr lang="en-US" altLang="ko-KR" dirty="0" smtClean="0">
                <a:latin typeface="+mn-ea"/>
              </a:rPr>
              <a:t>.</a:t>
            </a:r>
          </a:p>
          <a:p>
            <a:pPr>
              <a:lnSpc>
                <a:spcPct val="150000"/>
              </a:lnSpc>
            </a:pPr>
            <a:r>
              <a:rPr lang="ko-KR" altLang="en-US" dirty="0" smtClean="0">
                <a:latin typeface="+mn-ea"/>
              </a:rPr>
              <a:t>던전 안에는 수많은 다양한 </a:t>
            </a:r>
            <a:r>
              <a:rPr lang="ko-KR" altLang="en-US" dirty="0" err="1" smtClean="0">
                <a:latin typeface="+mn-ea"/>
              </a:rPr>
              <a:t>몬스터들이</a:t>
            </a:r>
            <a:r>
              <a:rPr lang="ko-KR" altLang="en-US" dirty="0" smtClean="0">
                <a:latin typeface="+mn-ea"/>
              </a:rPr>
              <a:t> 존재했고</a:t>
            </a:r>
            <a:r>
              <a:rPr lang="en-US" altLang="ko-KR" dirty="0" smtClean="0">
                <a:latin typeface="+mn-ea"/>
              </a:rPr>
              <a:t>, </a:t>
            </a:r>
          </a:p>
          <a:p>
            <a:pPr>
              <a:lnSpc>
                <a:spcPct val="150000"/>
              </a:lnSpc>
            </a:pPr>
            <a:r>
              <a:rPr lang="ko-KR" altLang="en-US" dirty="0" smtClean="0">
                <a:latin typeface="+mn-ea"/>
              </a:rPr>
              <a:t>그들은 점차 밖으로 나와 마을 주민들을 위협했다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이를 해결하기 위해 왕국은 </a:t>
            </a:r>
            <a:r>
              <a:rPr lang="ko-KR" altLang="en-US" dirty="0" err="1" smtClean="0">
                <a:latin typeface="+mn-ea"/>
              </a:rPr>
              <a:t>몬스터들을</a:t>
            </a:r>
            <a:r>
              <a:rPr lang="ko-KR" altLang="en-US" dirty="0" smtClean="0">
                <a:latin typeface="+mn-ea"/>
              </a:rPr>
              <a:t> 길들이는 </a:t>
            </a:r>
            <a:endParaRPr lang="en-US" altLang="ko-KR" dirty="0" smtClean="0">
              <a:latin typeface="+mn-ea"/>
            </a:endParaRPr>
          </a:p>
          <a:p>
            <a:pPr>
              <a:lnSpc>
                <a:spcPct val="150000"/>
              </a:lnSpc>
            </a:pPr>
            <a:r>
              <a:rPr lang="ko-KR" altLang="en-US" dirty="0" smtClean="0">
                <a:latin typeface="+mn-ea"/>
              </a:rPr>
              <a:t>전설의 용사를 마을로 파견하여 던전을 탐험하고 </a:t>
            </a:r>
            <a:endParaRPr lang="en-US" altLang="ko-KR" dirty="0" smtClean="0">
              <a:latin typeface="+mn-ea"/>
            </a:endParaRPr>
          </a:p>
          <a:p>
            <a:pPr>
              <a:lnSpc>
                <a:spcPct val="150000"/>
              </a:lnSpc>
            </a:pPr>
            <a:r>
              <a:rPr lang="ko-KR" altLang="en-US" dirty="0" smtClean="0">
                <a:latin typeface="+mn-ea"/>
              </a:rPr>
              <a:t>위험을 없애라는 명을 내린다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과연 용사는 무사히 던전을 정복하고 마을에 평화를</a:t>
            </a:r>
            <a:endParaRPr lang="en-US" altLang="ko-KR" dirty="0" smtClean="0">
              <a:latin typeface="+mn-ea"/>
            </a:endParaRPr>
          </a:p>
          <a:p>
            <a:pPr>
              <a:lnSpc>
                <a:spcPct val="150000"/>
              </a:lnSpc>
            </a:pPr>
            <a:r>
              <a:rPr lang="ko-KR" altLang="en-US" dirty="0" smtClean="0">
                <a:latin typeface="+mn-ea"/>
              </a:rPr>
              <a:t>가져다 줄 수 있을 것인가</a:t>
            </a:r>
            <a:r>
              <a:rPr lang="en-US" altLang="ko-KR" dirty="0" smtClean="0">
                <a:latin typeface="+mn-ea"/>
              </a:rPr>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7</a:t>
            </a:fld>
            <a:endParaRPr lang="ko-KR" altLang="en-US" sz="1800" dirty="0"/>
          </a:p>
        </p:txBody>
      </p:sp>
      <p:pic>
        <p:nvPicPr>
          <p:cNvPr id="6" name="그림 5"/>
          <p:cNvPicPr>
            <a:picLocks noChangeAspect="1"/>
          </p:cNvPicPr>
          <p:nvPr/>
        </p:nvPicPr>
        <p:blipFill>
          <a:blip r:embed="rId2"/>
          <a:stretch>
            <a:fillRect/>
          </a:stretch>
        </p:blipFill>
        <p:spPr>
          <a:xfrm>
            <a:off x="213746" y="1523889"/>
            <a:ext cx="4849360" cy="3530970"/>
          </a:xfrm>
          <a:prstGeom prst="rect">
            <a:avLst/>
          </a:prstGeom>
        </p:spPr>
      </p:pic>
      <p:sp>
        <p:nvSpPr>
          <p:cNvPr id="13" name="TextBox 12"/>
          <p:cNvSpPr txBox="1"/>
          <p:nvPr/>
        </p:nvSpPr>
        <p:spPr>
          <a:xfrm>
            <a:off x="1800830" y="5054859"/>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6263143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a:t>
            </a:fld>
            <a:endParaRPr lang="ko-KR" altLang="en-US" sz="1800" dirty="0"/>
          </a:p>
        </p:txBody>
      </p:sp>
      <p:sp>
        <p:nvSpPr>
          <p:cNvPr id="13" name="TextBox 12"/>
          <p:cNvSpPr txBox="1"/>
          <p:nvPr/>
        </p:nvSpPr>
        <p:spPr>
          <a:xfrm>
            <a:off x="766917" y="1348401"/>
            <a:ext cx="6577313" cy="3416320"/>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플레이어는 용사가 되어 던전을 탐험할 수 있습니다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latin typeface="+mn-ea"/>
              </a:rPr>
              <a:t>용사 캐릭터는 각기 다른 컨셉과 능력을 보유하고 있습니다</a:t>
            </a:r>
            <a:r>
              <a:rPr lang="en-US" altLang="ko-KR" dirty="0" smtClean="0">
                <a:latin typeface="+mn-ea"/>
              </a:rPr>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무기</a:t>
            </a:r>
            <a:r>
              <a:rPr lang="en-US" altLang="ko-KR" dirty="0" smtClean="0"/>
              <a:t>, </a:t>
            </a:r>
            <a:r>
              <a:rPr lang="ko-KR" altLang="en-US" dirty="0" err="1" smtClean="0"/>
              <a:t>방어구</a:t>
            </a:r>
            <a:r>
              <a:rPr lang="en-US" altLang="ko-KR" dirty="0" smtClean="0"/>
              <a:t>, </a:t>
            </a:r>
            <a:r>
              <a:rPr lang="ko-KR" altLang="en-US" dirty="0" err="1" smtClean="0"/>
              <a:t>악세서리</a:t>
            </a:r>
            <a:r>
              <a:rPr lang="ko-KR" altLang="en-US" dirty="0" smtClean="0"/>
              <a:t> </a:t>
            </a:r>
            <a:r>
              <a:rPr lang="en-US" altLang="ko-KR" dirty="0" smtClean="0"/>
              <a:t>3</a:t>
            </a:r>
            <a:r>
              <a:rPr lang="ko-KR" altLang="en-US" dirty="0" smtClean="0"/>
              <a:t>종류의 장비를 착용할 수 있습니다</a:t>
            </a:r>
            <a:r>
              <a:rPr lang="en-US" altLang="ko-KR" dirty="0" smtClean="0"/>
              <a:t>.</a:t>
            </a:r>
            <a:endParaRPr lang="en-US" altLang="ko-KR" dirty="0">
              <a:latin typeface="+mn-ea"/>
            </a:endParaRPr>
          </a:p>
          <a:p>
            <a:pPr>
              <a:lnSpc>
                <a:spcPct val="150000"/>
              </a:lnSpc>
            </a:pPr>
            <a:endParaRPr lang="en-US" altLang="ko-KR" dirty="0" smtClean="0">
              <a:latin typeface="+mn-ea"/>
            </a:endParaRPr>
          </a:p>
          <a:p>
            <a:pPr>
              <a:lnSpc>
                <a:spcPct val="150000"/>
              </a:lnSpc>
            </a:pPr>
            <a:r>
              <a:rPr lang="en-US" altLang="ko-KR" dirty="0"/>
              <a:t>• </a:t>
            </a:r>
            <a:r>
              <a:rPr lang="ko-KR" altLang="en-US" dirty="0" err="1" smtClean="0">
                <a:latin typeface="+mn-ea"/>
              </a:rPr>
              <a:t>로그라이크</a:t>
            </a:r>
            <a:r>
              <a:rPr lang="ko-KR" altLang="en-US" dirty="0" smtClean="0">
                <a:latin typeface="+mn-ea"/>
              </a:rPr>
              <a:t> 요소를 가미하여</a:t>
            </a:r>
            <a:r>
              <a:rPr lang="en-US" altLang="ko-KR" dirty="0" smtClean="0">
                <a:latin typeface="+mn-ea"/>
              </a:rPr>
              <a:t>, </a:t>
            </a:r>
            <a:r>
              <a:rPr lang="ko-KR" altLang="en-US" dirty="0" smtClean="0">
                <a:latin typeface="+mn-ea"/>
              </a:rPr>
              <a:t>용사 캐릭터가 사망하면 </a:t>
            </a:r>
            <a:r>
              <a:rPr lang="en-US" altLang="ko-KR" dirty="0">
                <a:latin typeface="+mn-ea"/>
              </a:rPr>
              <a:t/>
            </a:r>
            <a:br>
              <a:rPr lang="en-US" altLang="ko-KR" dirty="0">
                <a:latin typeface="+mn-ea"/>
              </a:rPr>
            </a:br>
            <a:r>
              <a:rPr lang="en-US" altLang="ko-KR" dirty="0" smtClean="0">
                <a:latin typeface="+mn-ea"/>
              </a:rPr>
              <a:t>  </a:t>
            </a:r>
            <a:r>
              <a:rPr lang="ko-KR" altLang="en-US" dirty="0" smtClean="0">
                <a:latin typeface="+mn-ea"/>
              </a:rPr>
              <a:t>그 시점에서 모든 진행 사항을 잃고 게임 오버 됩니다</a:t>
            </a:r>
            <a:r>
              <a:rPr lang="en-US" altLang="ko-KR" dirty="0" smtClean="0">
                <a:latin typeface="+mn-ea"/>
              </a:rPr>
              <a:t>.</a:t>
            </a:r>
          </a:p>
        </p:txBody>
      </p:sp>
    </p:spTree>
    <p:extLst>
      <p:ext uri="{BB962C8B-B14F-4D97-AF65-F5344CB8AC3E}">
        <p14:creationId xmlns:p14="http://schemas.microsoft.com/office/powerpoint/2010/main" val="14353368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63300401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디엘</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a:t>
                      </a:r>
                      <a:r>
                        <a:rPr lang="ko-KR" altLang="en-US" dirty="0" smtClean="0"/>
                        <a:t>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화염</a:t>
                      </a:r>
                      <a:endParaRPr lang="ko-KR" altLang="en-US" dirty="0"/>
                    </a:p>
                  </a:txBody>
                  <a:tcPr anchor="ctr"/>
                </a:tc>
                <a:extLst>
                  <a:ext uri="{0D108BD9-81ED-4DB2-BD59-A6C34878D82A}">
                    <a16:rowId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불굴 </a:t>
                      </a:r>
                      <a:r>
                        <a:rPr lang="en-US" altLang="ko-KR" dirty="0" smtClean="0"/>
                        <a:t>(</a:t>
                      </a:r>
                      <a:r>
                        <a:rPr lang="ko-KR" altLang="en-US" dirty="0" smtClean="0"/>
                        <a:t>캐릭터가 죽음의 위기에 처했을 때</a:t>
                      </a:r>
                      <a:r>
                        <a:rPr lang="en-US" altLang="ko-KR" dirty="0" smtClean="0"/>
                        <a:t>, </a:t>
                      </a:r>
                      <a:r>
                        <a:rPr lang="ko-KR" altLang="en-US" dirty="0" err="1" smtClean="0"/>
                        <a:t>반피로</a:t>
                      </a:r>
                      <a:r>
                        <a:rPr lang="ko-KR" altLang="en-US" dirty="0" smtClean="0"/>
                        <a:t> 회복하고 그 </a:t>
                      </a:r>
                      <a:r>
                        <a:rPr lang="ko-KR" altLang="en-US" dirty="0" err="1" smtClean="0"/>
                        <a:t>턴동안</a:t>
                      </a:r>
                      <a:r>
                        <a:rPr lang="ko-KR" altLang="en-US" dirty="0" smtClean="0"/>
                        <a:t> 무적</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약점 포착</a:t>
                      </a:r>
                      <a:r>
                        <a:rPr lang="en-US" altLang="ko-KR" dirty="0" smtClean="0"/>
                        <a:t>(</a:t>
                      </a:r>
                      <a:r>
                        <a:rPr lang="ko-KR" altLang="en-US" dirty="0" smtClean="0"/>
                        <a:t>한 적 방 감소</a:t>
                      </a:r>
                      <a:r>
                        <a:rPr lang="en-US" altLang="ko-KR" baseline="0" dirty="0" smtClean="0"/>
                        <a:t> </a:t>
                      </a:r>
                      <a:r>
                        <a:rPr lang="ko-KR" altLang="en-US" baseline="0" dirty="0" smtClean="0"/>
                        <a:t>후 공격</a:t>
                      </a:r>
                      <a:r>
                        <a:rPr lang="en-US" altLang="ko-KR" baseline="0" dirty="0" smtClean="0"/>
                        <a:t>)</a:t>
                      </a:r>
                      <a:r>
                        <a:rPr lang="ko-KR" altLang="en-US" dirty="0" smtClean="0"/>
                        <a:t> </a:t>
                      </a:r>
                      <a:r>
                        <a:rPr lang="en-US" altLang="ko-KR" dirty="0" smtClean="0"/>
                        <a:t>/ </a:t>
                      </a:r>
                      <a:r>
                        <a:rPr lang="ko-KR" altLang="en-US" dirty="0" smtClean="0"/>
                        <a:t>정신 집중</a:t>
                      </a:r>
                      <a:r>
                        <a:rPr lang="en-US" altLang="ko-KR" dirty="0" smtClean="0"/>
                        <a:t>(HP,</a:t>
                      </a:r>
                      <a:r>
                        <a:rPr lang="ko-KR" altLang="en-US" dirty="0" smtClean="0"/>
                        <a:t>공</a:t>
                      </a:r>
                      <a:r>
                        <a:rPr lang="en-US" altLang="ko-KR" dirty="0" smtClean="0"/>
                        <a:t>,</a:t>
                      </a:r>
                      <a:r>
                        <a:rPr lang="ko-KR" altLang="en-US" dirty="0" smtClean="0"/>
                        <a:t>방 상승</a:t>
                      </a:r>
                      <a:r>
                        <a:rPr lang="en-US" altLang="ko-KR" dirty="0" smtClean="0"/>
                        <a:t>)</a:t>
                      </a:r>
                      <a:r>
                        <a:rPr lang="ko-KR" altLang="en-US" dirty="0" smtClean="0"/>
                        <a:t> </a:t>
                      </a:r>
                      <a:r>
                        <a:rPr lang="en-US" altLang="ko-KR" dirty="0" smtClean="0"/>
                        <a:t>/ </a:t>
                      </a:r>
                      <a:r>
                        <a:rPr lang="ko-KR" altLang="en-US" dirty="0" smtClean="0"/>
                        <a:t>분노의 일격</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a:t>
            </a:fld>
            <a:endParaRPr lang="ko-KR" altLang="en-US" sz="1800" dirty="0"/>
          </a:p>
        </p:txBody>
      </p:sp>
    </p:spTree>
    <p:extLst>
      <p:ext uri="{BB962C8B-B14F-4D97-AF65-F5344CB8AC3E}">
        <p14:creationId xmlns:p14="http://schemas.microsoft.com/office/powerpoint/2010/main" val="4195693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64066262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세실리아</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a:t>
                      </a:r>
                      <a:r>
                        <a:rPr lang="ko-KR" altLang="en-US" dirty="0" smtClean="0"/>
                        <a:t>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빙결</a:t>
                      </a:r>
                      <a:endParaRPr lang="ko-KR" altLang="en-US" dirty="0"/>
                    </a:p>
                  </a:txBody>
                  <a:tcPr anchor="ctr"/>
                </a:tc>
                <a:extLst>
                  <a:ext uri="{0D108BD9-81ED-4DB2-BD59-A6C34878D82A}">
                    <a16:rowId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마력 순환 </a:t>
                      </a:r>
                      <a:r>
                        <a:rPr lang="en-US" altLang="ko-KR" dirty="0" smtClean="0"/>
                        <a:t>(</a:t>
                      </a:r>
                      <a:r>
                        <a:rPr lang="ko-KR" altLang="en-US" dirty="0" smtClean="0"/>
                        <a:t>자신의 턴마다 아군</a:t>
                      </a:r>
                      <a:r>
                        <a:rPr lang="ko-KR" altLang="en-US" baseline="0" dirty="0" smtClean="0"/>
                        <a:t> </a:t>
                      </a:r>
                      <a:r>
                        <a:rPr lang="en-US" altLang="ko-KR" baseline="0" dirty="0" smtClean="0"/>
                        <a:t>SP </a:t>
                      </a:r>
                      <a:r>
                        <a:rPr lang="ko-KR" altLang="en-US" baseline="0" dirty="0" smtClean="0"/>
                        <a:t>상승</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물방울 폭탄</a:t>
                      </a:r>
                      <a:r>
                        <a:rPr lang="en-US" altLang="ko-KR" dirty="0" smtClean="0"/>
                        <a:t>(</a:t>
                      </a:r>
                      <a:r>
                        <a:rPr lang="ko-KR" altLang="en-US" dirty="0" smtClean="0"/>
                        <a:t>한 적 뎀</a:t>
                      </a:r>
                      <a:r>
                        <a:rPr lang="en-US" altLang="ko-KR" baseline="0" dirty="0" smtClean="0"/>
                        <a:t>)</a:t>
                      </a:r>
                      <a:r>
                        <a:rPr lang="ko-KR" altLang="en-US" dirty="0" smtClean="0"/>
                        <a:t> </a:t>
                      </a:r>
                      <a:r>
                        <a:rPr lang="en-US" altLang="ko-KR" dirty="0" smtClean="0"/>
                        <a:t>/ </a:t>
                      </a:r>
                      <a:r>
                        <a:rPr lang="ko-KR" altLang="en-US" dirty="0" err="1" smtClean="0"/>
                        <a:t>칼바람</a:t>
                      </a:r>
                      <a:r>
                        <a:rPr lang="en-US" altLang="ko-KR" dirty="0" smtClean="0"/>
                        <a:t>(</a:t>
                      </a:r>
                      <a:r>
                        <a:rPr lang="ko-KR" altLang="en-US" dirty="0" smtClean="0"/>
                        <a:t>모든 적 뎀</a:t>
                      </a:r>
                      <a:r>
                        <a:rPr lang="en-US" altLang="ko-KR" dirty="0" smtClean="0"/>
                        <a:t>)</a:t>
                      </a:r>
                      <a:r>
                        <a:rPr lang="ko-KR" altLang="en-US" dirty="0" smtClean="0"/>
                        <a:t> </a:t>
                      </a:r>
                      <a:r>
                        <a:rPr lang="en-US" altLang="ko-KR" dirty="0" smtClean="0"/>
                        <a:t>/ </a:t>
                      </a:r>
                      <a:r>
                        <a:rPr lang="ko-KR" altLang="en-US" dirty="0" smtClean="0"/>
                        <a:t>서리 폭풍</a:t>
                      </a:r>
                      <a:r>
                        <a:rPr lang="en-US" altLang="ko-KR" dirty="0" smtClean="0"/>
                        <a:t>(</a:t>
                      </a:r>
                      <a:r>
                        <a:rPr lang="ko-KR" altLang="en-US" dirty="0" smtClean="0"/>
                        <a:t>모든 적 뎀</a:t>
                      </a:r>
                      <a:r>
                        <a:rPr lang="en-US" altLang="ko-KR" dirty="0" smtClean="0"/>
                        <a:t>, </a:t>
                      </a:r>
                      <a:r>
                        <a:rPr lang="ko-KR" altLang="en-US" dirty="0" smtClean="0"/>
                        <a:t>빙결</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10</a:t>
            </a:fld>
            <a:endParaRPr lang="ko-KR" altLang="en-US" sz="1800" dirty="0"/>
          </a:p>
        </p:txBody>
      </p:sp>
    </p:spTree>
    <p:extLst>
      <p:ext uri="{BB962C8B-B14F-4D97-AF65-F5344CB8AC3E}">
        <p14:creationId xmlns:p14="http://schemas.microsoft.com/office/powerpoint/2010/main" val="19627594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967430271"/>
              </p:ext>
            </p:extLst>
          </p:nvPr>
        </p:nvGraphicFramePr>
        <p:xfrm>
          <a:off x="277760" y="218627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프리스톤</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a:t>
                      </a:r>
                      <a:r>
                        <a:rPr lang="ko-KR" altLang="en-US" dirty="0" smtClean="0"/>
                        <a:t>중 </a:t>
                      </a:r>
                      <a:r>
                        <a:rPr lang="ko-KR" altLang="en-US" dirty="0" err="1" smtClean="0"/>
                        <a:t>방어형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587654416"/>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800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val="318801916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85310263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363351160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난공불락 </a:t>
                      </a:r>
                      <a:r>
                        <a:rPr lang="en-US" altLang="ko-KR" dirty="0" smtClean="0"/>
                        <a:t>(</a:t>
                      </a:r>
                      <a:r>
                        <a:rPr lang="ko-KR" altLang="en-US" dirty="0" smtClean="0"/>
                        <a:t>잃은 체력에 비례하여 방어력 상승</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방패 돌격</a:t>
                      </a:r>
                      <a:r>
                        <a:rPr lang="en-US" altLang="ko-KR" dirty="0" smtClean="0"/>
                        <a:t>(</a:t>
                      </a:r>
                      <a:r>
                        <a:rPr lang="ko-KR" altLang="en-US" dirty="0" smtClean="0"/>
                        <a:t>적</a:t>
                      </a:r>
                      <a:r>
                        <a:rPr lang="en-US" altLang="ko-KR" dirty="0" smtClean="0"/>
                        <a:t>1</a:t>
                      </a:r>
                      <a:r>
                        <a:rPr lang="ko-KR" altLang="en-US" dirty="0" smtClean="0"/>
                        <a:t> </a:t>
                      </a:r>
                      <a:r>
                        <a:rPr lang="ko-KR" altLang="en-US" dirty="0" err="1" smtClean="0"/>
                        <a:t>방비례뎀</a:t>
                      </a:r>
                      <a:r>
                        <a:rPr lang="en-US" altLang="ko-KR" dirty="0" smtClean="0"/>
                        <a:t>)</a:t>
                      </a:r>
                      <a:r>
                        <a:rPr lang="ko-KR" altLang="en-US" dirty="0" smtClean="0"/>
                        <a:t> </a:t>
                      </a:r>
                      <a:r>
                        <a:rPr lang="en-US" altLang="ko-KR" dirty="0" smtClean="0"/>
                        <a:t>/ </a:t>
                      </a:r>
                      <a:r>
                        <a:rPr lang="ko-KR" altLang="en-US" dirty="0" smtClean="0"/>
                        <a:t>용기의 외침</a:t>
                      </a:r>
                      <a:r>
                        <a:rPr lang="en-US" altLang="ko-KR" dirty="0" smtClean="0"/>
                        <a:t>(</a:t>
                      </a:r>
                      <a:r>
                        <a:rPr lang="ko-KR" altLang="en-US" dirty="0" smtClean="0"/>
                        <a:t>체 회복</a:t>
                      </a:r>
                      <a:r>
                        <a:rPr lang="en-US" altLang="ko-KR" dirty="0" smtClean="0"/>
                        <a:t>, </a:t>
                      </a:r>
                      <a:r>
                        <a:rPr lang="ko-KR" altLang="en-US" dirty="0" smtClean="0"/>
                        <a:t>방 상승</a:t>
                      </a:r>
                      <a:r>
                        <a:rPr lang="en-US" altLang="ko-KR" baseline="0" dirty="0" smtClean="0"/>
                        <a:t>)</a:t>
                      </a:r>
                      <a:r>
                        <a:rPr lang="ko-KR" altLang="en-US" dirty="0" smtClean="0"/>
                        <a:t> </a:t>
                      </a:r>
                      <a:r>
                        <a:rPr lang="en-US" altLang="ko-KR" dirty="0" smtClean="0"/>
                        <a:t>/ </a:t>
                      </a:r>
                      <a:r>
                        <a:rPr lang="ko-KR" altLang="en-US" dirty="0" smtClean="0"/>
                        <a:t>수호의 방패</a:t>
                      </a:r>
                      <a:r>
                        <a:rPr lang="en-US" altLang="ko-KR" dirty="0" smtClean="0"/>
                        <a:t>(2</a:t>
                      </a:r>
                      <a:r>
                        <a:rPr lang="ko-KR" altLang="en-US" dirty="0" smtClean="0"/>
                        <a:t>턴 아군 체</a:t>
                      </a:r>
                      <a:r>
                        <a:rPr lang="en-US" altLang="ko-KR" dirty="0" smtClean="0"/>
                        <a:t>, </a:t>
                      </a:r>
                      <a:r>
                        <a:rPr lang="ko-KR" altLang="en-US" dirty="0" smtClean="0"/>
                        <a:t>방 </a:t>
                      </a:r>
                      <a:r>
                        <a:rPr lang="en-US" altLang="ko-KR" dirty="0" smtClean="0"/>
                        <a:t>2</a:t>
                      </a:r>
                      <a:r>
                        <a:rPr lang="ko-KR" altLang="en-US" dirty="0" smtClean="0"/>
                        <a:t>배</a:t>
                      </a:r>
                      <a:r>
                        <a:rPr lang="en-US" altLang="ko-KR" dirty="0" smtClean="0"/>
                        <a:t>, </a:t>
                      </a:r>
                      <a:r>
                        <a:rPr lang="ko-KR" altLang="en-US" dirty="0" err="1" smtClean="0"/>
                        <a:t>자석탱</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11</a:t>
            </a:fld>
            <a:endParaRPr lang="ko-KR" altLang="en-US" sz="1800" dirty="0"/>
          </a:p>
        </p:txBody>
      </p:sp>
    </p:spTree>
    <p:extLst>
      <p:ext uri="{BB962C8B-B14F-4D97-AF65-F5344CB8AC3E}">
        <p14:creationId xmlns:p14="http://schemas.microsoft.com/office/powerpoint/2010/main" val="21185035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2403635941"/>
              </p:ext>
            </p:extLst>
          </p:nvPr>
        </p:nvGraphicFramePr>
        <p:xfrm>
          <a:off x="280219" y="2180963"/>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아이리스</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ko-KR" altLang="en-US" baseline="0" dirty="0" smtClean="0"/>
                        <a:t> </a:t>
                      </a:r>
                      <a:r>
                        <a:rPr lang="ko-KR" altLang="en-US" dirty="0" smtClean="0"/>
                        <a:t>중 </a:t>
                      </a:r>
                      <a:r>
                        <a:rPr lang="ko-KR" altLang="en-US" dirty="0" smtClean="0"/>
                        <a:t>보조형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빛</a:t>
                      </a:r>
                      <a:endParaRPr lang="ko-KR" altLang="en-US" dirty="0"/>
                    </a:p>
                  </a:txBody>
                  <a:tcPr anchor="ctr"/>
                </a:tc>
                <a:extLst>
                  <a:ext uri="{0D108BD9-81ED-4DB2-BD59-A6C34878D82A}">
                    <a16:rowId xmlns:a16="http://schemas.microsoft.com/office/drawing/2014/main" val="3140618441"/>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112046401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142927731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2869796385"/>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정화</a:t>
                      </a:r>
                      <a:r>
                        <a:rPr lang="en-US" altLang="ko-KR" dirty="0" smtClean="0"/>
                        <a:t>(</a:t>
                      </a:r>
                      <a:r>
                        <a:rPr lang="ko-KR" altLang="en-US" dirty="0" smtClean="0"/>
                        <a:t>자신의 턴에 랜덤으로 아군의 상태이상 중 하나를 해제</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축복</a:t>
                      </a:r>
                      <a:r>
                        <a:rPr lang="en-US" altLang="ko-KR" dirty="0" smtClean="0"/>
                        <a:t>(</a:t>
                      </a:r>
                      <a:r>
                        <a:rPr lang="ko-KR" altLang="en-US" dirty="0" smtClean="0"/>
                        <a:t>아군 방</a:t>
                      </a:r>
                      <a:r>
                        <a:rPr lang="en-US" altLang="ko-KR" dirty="0" smtClean="0"/>
                        <a:t>,</a:t>
                      </a:r>
                      <a:r>
                        <a:rPr lang="ko-KR" altLang="en-US" dirty="0" smtClean="0"/>
                        <a:t>공 상승</a:t>
                      </a:r>
                      <a:r>
                        <a:rPr lang="en-US" altLang="ko-KR" dirty="0" smtClean="0"/>
                        <a:t>)</a:t>
                      </a:r>
                      <a:r>
                        <a:rPr lang="ko-KR" altLang="en-US" dirty="0" smtClean="0"/>
                        <a:t> </a:t>
                      </a:r>
                      <a:r>
                        <a:rPr lang="en-US" altLang="ko-KR" dirty="0" smtClean="0"/>
                        <a:t>/ </a:t>
                      </a:r>
                      <a:r>
                        <a:rPr lang="ko-KR" altLang="en-US" dirty="0" smtClean="0"/>
                        <a:t>치유</a:t>
                      </a:r>
                      <a:r>
                        <a:rPr lang="en-US" altLang="ko-KR" dirty="0" smtClean="0"/>
                        <a:t>(</a:t>
                      </a:r>
                      <a:r>
                        <a:rPr lang="ko-KR" altLang="en-US" dirty="0" smtClean="0"/>
                        <a:t>아군 체 회복</a:t>
                      </a:r>
                      <a:r>
                        <a:rPr lang="en-US" altLang="ko-KR" baseline="0" dirty="0" smtClean="0"/>
                        <a:t>)</a:t>
                      </a:r>
                      <a:r>
                        <a:rPr lang="ko-KR" altLang="en-US" dirty="0" smtClean="0"/>
                        <a:t> </a:t>
                      </a:r>
                      <a:r>
                        <a:rPr lang="en-US" altLang="ko-KR" dirty="0" smtClean="0"/>
                        <a:t>/ </a:t>
                      </a:r>
                      <a:r>
                        <a:rPr lang="ko-KR" altLang="en-US" dirty="0" smtClean="0"/>
                        <a:t>빛의</a:t>
                      </a:r>
                      <a:r>
                        <a:rPr lang="ko-KR" altLang="en-US" baseline="0" dirty="0" smtClean="0"/>
                        <a:t> </a:t>
                      </a:r>
                      <a:r>
                        <a:rPr lang="ko-KR" altLang="en-US" dirty="0" smtClean="0"/>
                        <a:t>찬가</a:t>
                      </a:r>
                      <a:r>
                        <a:rPr lang="en-US" altLang="ko-KR" dirty="0" smtClean="0"/>
                        <a:t>(1</a:t>
                      </a:r>
                      <a:r>
                        <a:rPr lang="ko-KR" altLang="en-US" dirty="0" smtClean="0"/>
                        <a:t>턴 간 아군 상태이상 면역</a:t>
                      </a:r>
                      <a:r>
                        <a:rPr lang="en-US" altLang="ko-KR" dirty="0" smtClean="0"/>
                        <a:t>, </a:t>
                      </a:r>
                      <a:r>
                        <a:rPr lang="ko-KR" altLang="en-US" dirty="0" smtClean="0"/>
                        <a:t>방</a:t>
                      </a:r>
                      <a:r>
                        <a:rPr lang="en-US" altLang="ko-KR" dirty="0" smtClean="0"/>
                        <a:t>,</a:t>
                      </a:r>
                      <a:r>
                        <a:rPr lang="ko-KR" altLang="en-US" dirty="0" smtClean="0"/>
                        <a:t>공 상승</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12</a:t>
            </a:fld>
            <a:endParaRPr lang="ko-KR" altLang="en-US" sz="1800" dirty="0"/>
          </a:p>
        </p:txBody>
      </p:sp>
    </p:spTree>
    <p:extLst>
      <p:ext uri="{BB962C8B-B14F-4D97-AF65-F5344CB8AC3E}">
        <p14:creationId xmlns:p14="http://schemas.microsoft.com/office/powerpoint/2010/main" val="25508613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390373945"/>
              </p:ext>
            </p:extLst>
          </p:nvPr>
        </p:nvGraphicFramePr>
        <p:xfrm>
          <a:off x="280219" y="218096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메리</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a:t>
                      </a:r>
                      <a:r>
                        <a:rPr lang="ko-KR" altLang="en-US" dirty="0" smtClean="0"/>
                        <a:t>중</a:t>
                      </a:r>
                      <a:r>
                        <a:rPr lang="en-US" altLang="ko-KR" baseline="0" dirty="0" smtClean="0"/>
                        <a:t> </a:t>
                      </a:r>
                      <a:r>
                        <a:rPr lang="ko-KR" altLang="en-US" baseline="0" dirty="0" smtClean="0"/>
                        <a:t>보</a:t>
                      </a:r>
                      <a:r>
                        <a:rPr lang="ko-KR" altLang="en-US" baseline="0" dirty="0" smtClean="0"/>
                        <a:t>조</a:t>
                      </a:r>
                      <a:r>
                        <a:rPr lang="ko-KR" altLang="en-US" dirty="0" smtClean="0"/>
                        <a:t>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endParaRPr lang="ko-KR" altLang="en-US" dirty="0"/>
                    </a:p>
                  </a:txBody>
                  <a:tcPr anchor="ctr"/>
                </a:tc>
                <a:extLst>
                  <a:ext uri="{0D108BD9-81ED-4DB2-BD59-A6C34878D82A}">
                    <a16:rowId xmlns:a16="http://schemas.microsoft.com/office/drawing/2014/main" val="202632424"/>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3439633105"/>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107853842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1225362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인형의 저주</a:t>
                      </a:r>
                      <a:r>
                        <a:rPr lang="en-US" altLang="ko-KR" dirty="0" smtClean="0"/>
                        <a:t>(</a:t>
                      </a:r>
                      <a:r>
                        <a:rPr lang="ko-KR" altLang="en-US" dirty="0" err="1" smtClean="0"/>
                        <a:t>랜덤한</a:t>
                      </a:r>
                      <a:r>
                        <a:rPr lang="ko-KR" altLang="en-US" dirty="0" smtClean="0"/>
                        <a:t> 적 몬스터 </a:t>
                      </a:r>
                      <a:r>
                        <a:rPr lang="en-US" altLang="ko-KR" dirty="0" smtClean="0"/>
                        <a:t>1</a:t>
                      </a:r>
                      <a:r>
                        <a:rPr lang="ko-KR" altLang="en-US" dirty="0" smtClean="0"/>
                        <a:t>체에 </a:t>
                      </a:r>
                      <a:r>
                        <a:rPr lang="ko-KR" altLang="en-US" dirty="0" err="1" smtClean="0"/>
                        <a:t>랜덤한</a:t>
                      </a:r>
                      <a:r>
                        <a:rPr lang="ko-KR" altLang="en-US" dirty="0" smtClean="0"/>
                        <a:t> 상태이상 부여</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검은 손</a:t>
                      </a:r>
                      <a:r>
                        <a:rPr lang="en-US" altLang="ko-KR" dirty="0" smtClean="0"/>
                        <a:t>(</a:t>
                      </a:r>
                      <a:r>
                        <a:rPr lang="ko-KR" altLang="en-US" dirty="0" smtClean="0"/>
                        <a:t>적 뎀</a:t>
                      </a:r>
                      <a:r>
                        <a:rPr lang="en-US" altLang="ko-KR" dirty="0" smtClean="0"/>
                        <a:t>, </a:t>
                      </a:r>
                      <a:r>
                        <a:rPr lang="ko-KR" altLang="en-US" dirty="0" smtClean="0"/>
                        <a:t>방 감소</a:t>
                      </a:r>
                      <a:r>
                        <a:rPr lang="en-US" altLang="ko-KR" dirty="0" smtClean="0"/>
                        <a:t>)</a:t>
                      </a:r>
                      <a:r>
                        <a:rPr lang="ko-KR" altLang="en-US" dirty="0" smtClean="0"/>
                        <a:t> </a:t>
                      </a:r>
                      <a:r>
                        <a:rPr lang="en-US" altLang="ko-KR" dirty="0" smtClean="0"/>
                        <a:t>/ </a:t>
                      </a:r>
                      <a:r>
                        <a:rPr lang="ko-KR" altLang="en-US" dirty="0" smtClean="0"/>
                        <a:t>유혹의 키스 </a:t>
                      </a:r>
                      <a:r>
                        <a:rPr lang="en-US" altLang="ko-KR" dirty="0" smtClean="0"/>
                        <a:t>(</a:t>
                      </a:r>
                      <a:r>
                        <a:rPr lang="ko-KR" altLang="en-US" dirty="0" smtClean="0"/>
                        <a:t>적 혼란</a:t>
                      </a:r>
                      <a:r>
                        <a:rPr lang="en-US" altLang="ko-KR" baseline="0" dirty="0" smtClean="0"/>
                        <a:t>)</a:t>
                      </a:r>
                      <a:r>
                        <a:rPr lang="ko-KR" altLang="en-US" dirty="0" smtClean="0"/>
                        <a:t> </a:t>
                      </a:r>
                      <a:r>
                        <a:rPr lang="en-US" altLang="ko-KR" dirty="0" smtClean="0"/>
                        <a:t>/ </a:t>
                      </a:r>
                      <a:r>
                        <a:rPr lang="ko-KR" altLang="en-US" dirty="0" err="1" smtClean="0"/>
                        <a:t>판데모니엄</a:t>
                      </a:r>
                      <a:r>
                        <a:rPr lang="en-US" altLang="ko-KR" dirty="0" smtClean="0"/>
                        <a:t>(</a:t>
                      </a:r>
                      <a:r>
                        <a:rPr lang="ko-KR" altLang="en-US" dirty="0" smtClean="0"/>
                        <a:t>적 전체 </a:t>
                      </a:r>
                      <a:r>
                        <a:rPr lang="ko-KR" altLang="en-US" dirty="0" err="1" smtClean="0"/>
                        <a:t>체비뎀</a:t>
                      </a:r>
                      <a:r>
                        <a:rPr lang="en-US" altLang="ko-KR" dirty="0" smtClean="0"/>
                        <a:t>, </a:t>
                      </a:r>
                      <a:r>
                        <a:rPr lang="ko-KR" altLang="en-US" dirty="0" smtClean="0"/>
                        <a:t>기절</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13</a:t>
            </a:fld>
            <a:endParaRPr lang="ko-KR" altLang="en-US" sz="1800" dirty="0"/>
          </a:p>
        </p:txBody>
      </p:sp>
    </p:spTree>
    <p:extLst>
      <p:ext uri="{BB962C8B-B14F-4D97-AF65-F5344CB8AC3E}">
        <p14:creationId xmlns:p14="http://schemas.microsoft.com/office/powerpoint/2010/main" val="12213244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14</a:t>
            </a:fld>
            <a:endParaRPr lang="ko-KR" altLang="en-US" sz="1800" dirty="0"/>
          </a:p>
        </p:txBody>
      </p:sp>
      <p:sp>
        <p:nvSpPr>
          <p:cNvPr id="8" name="TextBox 7"/>
          <p:cNvSpPr txBox="1"/>
          <p:nvPr/>
        </p:nvSpPr>
        <p:spPr>
          <a:xfrm>
            <a:off x="766917" y="1348401"/>
            <a:ext cx="10058399" cy="3000821"/>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용사는 던전을 탐험하면서 다양한 아이템을 얻습니다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아이템은 용사 혹은 몬스터가 장비하거나 사용하여</a:t>
            </a:r>
            <a:r>
              <a:rPr lang="en-US" altLang="ko-KR" dirty="0" smtClean="0"/>
              <a:t>,</a:t>
            </a:r>
          </a:p>
          <a:p>
            <a:pPr>
              <a:lnSpc>
                <a:spcPct val="150000"/>
              </a:lnSpc>
            </a:pPr>
            <a:r>
              <a:rPr lang="ko-KR" altLang="en-US" dirty="0" smtClean="0"/>
              <a:t>  던전을 정복하는 데에 도움을 줍니다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던전 속 지하 상점에서 구입</a:t>
            </a:r>
            <a:r>
              <a:rPr lang="en-US" altLang="ko-KR" dirty="0" smtClean="0"/>
              <a:t>, </a:t>
            </a:r>
            <a:r>
              <a:rPr lang="ko-KR" altLang="en-US" dirty="0" smtClean="0"/>
              <a:t>몬스터의 </a:t>
            </a:r>
            <a:r>
              <a:rPr lang="ko-KR" altLang="en-US" dirty="0" err="1" smtClean="0"/>
              <a:t>드랍</a:t>
            </a:r>
            <a:r>
              <a:rPr lang="ko-KR" altLang="en-US" dirty="0" smtClean="0"/>
              <a:t> 등으로 </a:t>
            </a:r>
            <a:endParaRPr lang="en-US" altLang="ko-KR" dirty="0" smtClean="0"/>
          </a:p>
          <a:p>
            <a:pPr>
              <a:lnSpc>
                <a:spcPct val="150000"/>
              </a:lnSpc>
            </a:pPr>
            <a:r>
              <a:rPr lang="en-US" altLang="ko-KR" dirty="0"/>
              <a:t> </a:t>
            </a:r>
            <a:r>
              <a:rPr lang="en-US" altLang="ko-KR" dirty="0" smtClean="0"/>
              <a:t> </a:t>
            </a:r>
            <a:r>
              <a:rPr lang="ko-KR" altLang="en-US" dirty="0" smtClean="0"/>
              <a:t>획득할 수 있으며</a:t>
            </a:r>
            <a:r>
              <a:rPr lang="en-US" altLang="ko-KR" dirty="0" smtClean="0"/>
              <a:t>,</a:t>
            </a:r>
            <a:r>
              <a:rPr lang="en-US" altLang="ko-KR" dirty="0" smtClean="0">
                <a:latin typeface="+mn-ea"/>
              </a:rPr>
              <a:t> </a:t>
            </a:r>
            <a:r>
              <a:rPr lang="ko-KR" altLang="en-US" dirty="0" smtClean="0">
                <a:latin typeface="+mn-ea"/>
              </a:rPr>
              <a:t>소유자가 사망 시 모두 잃습니다</a:t>
            </a:r>
            <a:r>
              <a:rPr lang="en-US" altLang="ko-KR" dirty="0" smtClean="0">
                <a:latin typeface="+mn-ea"/>
              </a:rPr>
              <a:t>.</a:t>
            </a:r>
          </a:p>
        </p:txBody>
      </p:sp>
    </p:spTree>
    <p:extLst>
      <p:ext uri="{BB962C8B-B14F-4D97-AF65-F5344CB8AC3E}">
        <p14:creationId xmlns:p14="http://schemas.microsoft.com/office/powerpoint/2010/main" val="31026860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15</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432250167"/>
              </p:ext>
            </p:extLst>
          </p:nvPr>
        </p:nvGraphicFramePr>
        <p:xfrm>
          <a:off x="1076048" y="3538426"/>
          <a:ext cx="10029487" cy="210312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할아버지의 낡은 시계</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악세서리</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방어력</a:t>
                      </a:r>
                      <a:r>
                        <a:rPr lang="en-US" altLang="ko-KR" dirty="0" smtClean="0"/>
                        <a:t>+5</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전투에서 </a:t>
                      </a:r>
                      <a:r>
                        <a:rPr lang="en-US" altLang="ko-KR" dirty="0" smtClean="0"/>
                        <a:t>1</a:t>
                      </a:r>
                      <a:r>
                        <a:rPr lang="ko-KR" altLang="en-US" dirty="0" smtClean="0"/>
                        <a:t>번</a:t>
                      </a:r>
                      <a:r>
                        <a:rPr lang="en-US" altLang="ko-KR" dirty="0" smtClean="0"/>
                        <a:t>, </a:t>
                      </a:r>
                      <a:r>
                        <a:rPr lang="ko-KR" altLang="en-US" dirty="0" smtClean="0"/>
                        <a:t>몬스터 </a:t>
                      </a:r>
                      <a:r>
                        <a:rPr lang="en-US" altLang="ko-KR" dirty="0" smtClean="0"/>
                        <a:t>1</a:t>
                      </a:r>
                      <a:r>
                        <a:rPr lang="ko-KR" altLang="en-US" dirty="0" smtClean="0"/>
                        <a:t>체를 </a:t>
                      </a:r>
                      <a:r>
                        <a:rPr lang="en-US" altLang="ko-KR" dirty="0" smtClean="0"/>
                        <a:t>1</a:t>
                      </a:r>
                      <a:r>
                        <a:rPr lang="ko-KR" altLang="en-US" dirty="0" smtClean="0"/>
                        <a:t>턴 </a:t>
                      </a:r>
                      <a:r>
                        <a:rPr lang="ko-KR" altLang="en-US" baseline="0" dirty="0" smtClean="0"/>
                        <a:t>동안 상태이상 면역</a:t>
                      </a:r>
                      <a:r>
                        <a:rPr lang="en-US" altLang="ko-KR" baseline="0" dirty="0" smtClean="0"/>
                        <a:t>, </a:t>
                      </a:r>
                      <a:r>
                        <a:rPr lang="ko-KR" altLang="en-US" baseline="0" dirty="0" smtClean="0"/>
                        <a:t>무적이지만 행동 불가 상태로 만듭니다</a:t>
                      </a:r>
                      <a:r>
                        <a:rPr lang="en-US" altLang="ko-KR" baseline="0"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몬스터 </a:t>
                      </a:r>
                      <a:r>
                        <a:rPr lang="ko-KR" altLang="en-US" dirty="0" err="1" smtClean="0"/>
                        <a:t>드랍</a:t>
                      </a:r>
                      <a:endParaRPr lang="ko-KR" altLang="en-US" dirty="0"/>
                    </a:p>
                  </a:txBody>
                  <a:tcPr anchor="ctr"/>
                </a:tc>
                <a:extLst>
                  <a:ext uri="{0D108BD9-81ED-4DB2-BD59-A6C34878D82A}">
                    <a16:rowId xmlns:a16="http://schemas.microsoft.com/office/drawing/2014/main" val="602088556"/>
                  </a:ext>
                </a:extLst>
              </a:tr>
            </a:tbl>
          </a:graphicData>
        </a:graphic>
      </p:graphicFrame>
    </p:spTree>
    <p:extLst>
      <p:ext uri="{BB962C8B-B14F-4D97-AF65-F5344CB8AC3E}">
        <p14:creationId xmlns:p14="http://schemas.microsoft.com/office/powerpoint/2010/main" val="21964557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16</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676330391"/>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핏빛 대검</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smtClean="0"/>
                        <a:t>무기</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공격력</a:t>
                      </a:r>
                      <a:r>
                        <a:rPr lang="en-US" altLang="ko-KR" dirty="0" smtClean="0"/>
                        <a:t>+20,</a:t>
                      </a:r>
                      <a:r>
                        <a:rPr lang="en-US" altLang="ko-KR" baseline="0" dirty="0" smtClean="0"/>
                        <a:t> </a:t>
                      </a:r>
                      <a:r>
                        <a:rPr lang="ko-KR" altLang="en-US" baseline="0" dirty="0" smtClean="0"/>
                        <a:t>회피</a:t>
                      </a:r>
                      <a:r>
                        <a:rPr lang="en-US" altLang="ko-KR" baseline="0" dirty="0" smtClean="0"/>
                        <a:t>-5</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공격 시 일정 확률로 상대방을 상태이상 </a:t>
                      </a:r>
                      <a:r>
                        <a:rPr lang="en-US" altLang="ko-KR" dirty="0" smtClean="0"/>
                        <a:t>: </a:t>
                      </a:r>
                      <a:r>
                        <a:rPr lang="ko-KR" altLang="en-US" dirty="0" smtClean="0"/>
                        <a:t>출혈 상태로 만듭니다</a:t>
                      </a:r>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Tree>
    <p:extLst>
      <p:ext uri="{BB962C8B-B14F-4D97-AF65-F5344CB8AC3E}">
        <p14:creationId xmlns:p14="http://schemas.microsoft.com/office/powerpoint/2010/main" val="10779991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17</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4438752"/>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가시갑옷</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방어구</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방어력 </a:t>
                      </a:r>
                      <a:r>
                        <a:rPr lang="en-US" altLang="ko-KR" baseline="0" dirty="0" smtClean="0"/>
                        <a:t>+ 10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피격 시 공격자에게 </a:t>
                      </a:r>
                      <a:r>
                        <a:rPr lang="ko-KR" altLang="en-US" dirty="0" err="1" smtClean="0"/>
                        <a:t>데미지의</a:t>
                      </a:r>
                      <a:r>
                        <a:rPr lang="ko-KR" altLang="en-US" dirty="0" smtClean="0"/>
                        <a:t> </a:t>
                      </a:r>
                      <a:r>
                        <a:rPr lang="en-US" altLang="ko-KR" dirty="0" smtClean="0"/>
                        <a:t>30%</a:t>
                      </a:r>
                      <a:r>
                        <a:rPr lang="ko-KR" altLang="en-US" dirty="0" smtClean="0"/>
                        <a:t>를 돌려줍니다</a:t>
                      </a:r>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Tree>
    <p:extLst>
      <p:ext uri="{BB962C8B-B14F-4D97-AF65-F5344CB8AC3E}">
        <p14:creationId xmlns:p14="http://schemas.microsoft.com/office/powerpoint/2010/main" val="42018399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18</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79796133"/>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en-US" altLang="ko-KR" b="0" dirty="0" smtClean="0"/>
                        <a:t>V</a:t>
                      </a:r>
                      <a:r>
                        <a:rPr lang="ko-KR" altLang="en-US" b="0" dirty="0" smtClean="0"/>
                        <a:t>타 </a:t>
                      </a:r>
                      <a:r>
                        <a:rPr lang="en-US" altLang="ko-KR" b="0" dirty="0" smtClean="0"/>
                        <a:t>500</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소비형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en-US" altLang="ko-KR" dirty="0" smtClean="0"/>
                        <a:t>HP</a:t>
                      </a:r>
                      <a:r>
                        <a:rPr lang="ko-KR" altLang="en-US" dirty="0" smtClean="0"/>
                        <a:t> </a:t>
                      </a:r>
                      <a:r>
                        <a:rPr lang="en-US" altLang="ko-KR" dirty="0" smtClean="0"/>
                        <a:t>+ 50, SP + 50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Tree>
    <p:extLst>
      <p:ext uri="{BB962C8B-B14F-4D97-AF65-F5344CB8AC3E}">
        <p14:creationId xmlns:p14="http://schemas.microsoft.com/office/powerpoint/2010/main" val="21792489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479433" y="535828"/>
            <a:ext cx="323313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스테이지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 name="TextBox 7"/>
          <p:cNvSpPr txBox="1"/>
          <p:nvPr/>
        </p:nvSpPr>
        <p:spPr>
          <a:xfrm>
            <a:off x="5046338" y="2154137"/>
            <a:ext cx="1398071" cy="461665"/>
          </a:xfrm>
          <a:prstGeom prst="rect">
            <a:avLst/>
          </a:prstGeom>
          <a:noFill/>
        </p:spPr>
        <p:txBody>
          <a:bodyPr wrap="square" rtlCol="0">
            <a:spAutoFit/>
          </a:bodyPr>
          <a:lstStyle/>
          <a:p>
            <a:pPr algn="just"/>
            <a:r>
              <a:rPr lang="ko-KR" altLang="en-US" sz="2400" b="1" dirty="0" smtClean="0">
                <a:latin typeface="+mn-ea"/>
              </a:rPr>
              <a:t>던전</a:t>
            </a:r>
            <a:endParaRPr lang="en-US" altLang="ko-KR" sz="2400" b="1" dirty="0" smtClean="0">
              <a:latin typeface="+mn-ea"/>
            </a:endParaRPr>
          </a:p>
        </p:txBody>
      </p:sp>
      <p:sp>
        <p:nvSpPr>
          <p:cNvPr id="12" name="TextBox 11"/>
          <p:cNvSpPr txBox="1"/>
          <p:nvPr/>
        </p:nvSpPr>
        <p:spPr>
          <a:xfrm>
            <a:off x="5066383" y="4985680"/>
            <a:ext cx="1103470" cy="461665"/>
          </a:xfrm>
          <a:prstGeom prst="rect">
            <a:avLst/>
          </a:prstGeom>
          <a:noFill/>
        </p:spPr>
        <p:txBody>
          <a:bodyPr wrap="square" rtlCol="0">
            <a:spAutoFit/>
          </a:bodyPr>
          <a:lstStyle/>
          <a:p>
            <a:pPr algn="just"/>
            <a:r>
              <a:rPr lang="ko-KR" altLang="en-US" sz="2400" b="1" dirty="0" smtClean="0">
                <a:latin typeface="+mn-ea"/>
              </a:rPr>
              <a:t>상인</a:t>
            </a:r>
            <a:endParaRPr lang="en-US" altLang="ko-KR" sz="2400" b="1" dirty="0" smtClean="0">
              <a:latin typeface="+mn-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19</a:t>
            </a:fld>
            <a:endParaRPr lang="ko-KR" altLang="en-US" sz="1800" dirty="0"/>
          </a:p>
        </p:txBody>
      </p:sp>
      <p:pic>
        <p:nvPicPr>
          <p:cNvPr id="5" name="그림 4"/>
          <p:cNvPicPr>
            <a:picLocks noChangeAspect="1"/>
          </p:cNvPicPr>
          <p:nvPr/>
        </p:nvPicPr>
        <p:blipFill>
          <a:blip r:embed="rId2"/>
          <a:stretch>
            <a:fillRect/>
          </a:stretch>
        </p:blipFill>
        <p:spPr>
          <a:xfrm>
            <a:off x="501790" y="1208847"/>
            <a:ext cx="4438556" cy="2492989"/>
          </a:xfrm>
          <a:prstGeom prst="rect">
            <a:avLst/>
          </a:prstGeom>
        </p:spPr>
      </p:pic>
      <p:pic>
        <p:nvPicPr>
          <p:cNvPr id="6" name="그림 5"/>
          <p:cNvPicPr>
            <a:picLocks noChangeAspect="1"/>
          </p:cNvPicPr>
          <p:nvPr/>
        </p:nvPicPr>
        <p:blipFill>
          <a:blip r:embed="rId3"/>
          <a:stretch>
            <a:fillRect/>
          </a:stretch>
        </p:blipFill>
        <p:spPr>
          <a:xfrm>
            <a:off x="7067644" y="2541336"/>
            <a:ext cx="4438556" cy="2492989"/>
          </a:xfrm>
          <a:prstGeom prst="rect">
            <a:avLst/>
          </a:prstGeom>
        </p:spPr>
      </p:pic>
      <p:sp>
        <p:nvSpPr>
          <p:cNvPr id="13" name="TextBox 12"/>
          <p:cNvSpPr txBox="1"/>
          <p:nvPr/>
        </p:nvSpPr>
        <p:spPr>
          <a:xfrm>
            <a:off x="8794798" y="1994067"/>
            <a:ext cx="1448620" cy="461665"/>
          </a:xfrm>
          <a:prstGeom prst="rect">
            <a:avLst/>
          </a:prstGeom>
          <a:noFill/>
        </p:spPr>
        <p:txBody>
          <a:bodyPr wrap="square" rtlCol="0">
            <a:spAutoFit/>
          </a:bodyPr>
          <a:lstStyle/>
          <a:p>
            <a:pPr algn="just"/>
            <a:r>
              <a:rPr lang="ko-KR" altLang="en-US" sz="2400" b="1" dirty="0" smtClean="0">
                <a:latin typeface="+mn-ea"/>
              </a:rPr>
              <a:t>전투</a:t>
            </a:r>
            <a:endParaRPr lang="en-US" altLang="ko-KR" sz="2400" b="1" dirty="0" smtClean="0">
              <a:latin typeface="+mn-ea"/>
            </a:endParaRPr>
          </a:p>
        </p:txBody>
      </p:sp>
      <p:pic>
        <p:nvPicPr>
          <p:cNvPr id="9" name="그림 8"/>
          <p:cNvPicPr>
            <a:picLocks noChangeAspect="1"/>
          </p:cNvPicPr>
          <p:nvPr/>
        </p:nvPicPr>
        <p:blipFill>
          <a:blip r:embed="rId4"/>
          <a:stretch>
            <a:fillRect/>
          </a:stretch>
        </p:blipFill>
        <p:spPr>
          <a:xfrm>
            <a:off x="501790" y="4042474"/>
            <a:ext cx="4438556" cy="2492989"/>
          </a:xfrm>
          <a:prstGeom prst="rect">
            <a:avLst/>
          </a:prstGeom>
        </p:spPr>
      </p:pic>
      <p:sp>
        <p:nvSpPr>
          <p:cNvPr id="15" name="TextBox 14"/>
          <p:cNvSpPr txBox="1"/>
          <p:nvPr/>
        </p:nvSpPr>
        <p:spPr>
          <a:xfrm>
            <a:off x="4679414" y="2633591"/>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3</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6" name="TextBox 15"/>
          <p:cNvSpPr txBox="1"/>
          <p:nvPr/>
        </p:nvSpPr>
        <p:spPr>
          <a:xfrm>
            <a:off x="8348218" y="5061534"/>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4</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7" name="TextBox 16"/>
          <p:cNvSpPr txBox="1"/>
          <p:nvPr/>
        </p:nvSpPr>
        <p:spPr>
          <a:xfrm>
            <a:off x="4567003" y="5484222"/>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5</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8678118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20</a:t>
            </a:fld>
            <a:endParaRPr lang="ko-KR" altLang="en-US" sz="1800" dirty="0"/>
          </a:p>
        </p:txBody>
      </p:sp>
      <p:sp>
        <p:nvSpPr>
          <p:cNvPr id="13" name="TextBox 12"/>
          <p:cNvSpPr txBox="1"/>
          <p:nvPr/>
        </p:nvSpPr>
        <p:spPr>
          <a:xfrm>
            <a:off x="766917" y="1348401"/>
            <a:ext cx="6577313" cy="3831818"/>
          </a:xfrm>
          <a:prstGeom prst="rect">
            <a:avLst/>
          </a:prstGeom>
          <a:noFill/>
        </p:spPr>
        <p:txBody>
          <a:bodyPr wrap="square" rtlCol="0">
            <a:spAutoFit/>
          </a:bodyPr>
          <a:lstStyle/>
          <a:p>
            <a:pPr>
              <a:lnSpc>
                <a:spcPct val="150000"/>
              </a:lnSpc>
            </a:pPr>
            <a:r>
              <a:rPr lang="en-US" altLang="ko-KR" dirty="0"/>
              <a:t>• </a:t>
            </a:r>
            <a:r>
              <a:rPr lang="ko-KR" altLang="en-US" dirty="0" err="1" smtClean="0">
                <a:latin typeface="+mn-ea"/>
              </a:rPr>
              <a:t>몬스터들은</a:t>
            </a:r>
            <a:r>
              <a:rPr lang="ko-KR" altLang="en-US" dirty="0" smtClean="0">
                <a:latin typeface="+mn-ea"/>
              </a:rPr>
              <a:t> 던전 안에 도사리고 있습니다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각기 다른 특성과 능력을 지니고 있습니다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용사가 몬스터를 처치하면</a:t>
            </a:r>
            <a:r>
              <a:rPr lang="en-US" altLang="ko-KR" dirty="0" smtClean="0"/>
              <a:t>, </a:t>
            </a:r>
            <a:r>
              <a:rPr lang="ko-KR" altLang="en-US" dirty="0" smtClean="0"/>
              <a:t>용사의 편이 됩니다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한번 전투에서 사망하면 돌이킬 수 없습니다</a:t>
            </a:r>
            <a:r>
              <a:rPr lang="en-US" altLang="ko-KR" dirty="0" smtClean="0"/>
              <a:t>.</a:t>
            </a:r>
            <a:endParaRPr lang="en-US" altLang="ko-KR" dirty="0">
              <a:latin typeface="+mn-ea"/>
            </a:endParaRPr>
          </a:p>
          <a:p>
            <a:pPr>
              <a:lnSpc>
                <a:spcPct val="150000"/>
              </a:lnSpc>
            </a:pPr>
            <a:endParaRPr lang="en-US" altLang="ko-KR" dirty="0" smtClean="0">
              <a:latin typeface="+mn-ea"/>
            </a:endParaRPr>
          </a:p>
          <a:p>
            <a:pPr>
              <a:lnSpc>
                <a:spcPct val="150000"/>
              </a:lnSpc>
            </a:pPr>
            <a:r>
              <a:rPr lang="en-US" altLang="ko-KR" dirty="0"/>
              <a:t>• </a:t>
            </a:r>
            <a:r>
              <a:rPr lang="ko-KR" altLang="en-US" dirty="0" smtClean="0"/>
              <a:t>전투에서 </a:t>
            </a:r>
            <a:r>
              <a:rPr lang="en-US" altLang="ko-KR" dirty="0" smtClean="0"/>
              <a:t>4</a:t>
            </a:r>
            <a:r>
              <a:rPr lang="ko-KR" altLang="en-US" dirty="0" smtClean="0"/>
              <a:t>마리까지 파티를 편성할 수 있다</a:t>
            </a:r>
            <a:r>
              <a:rPr lang="en-US" altLang="ko-KR" dirty="0" smtClean="0"/>
              <a:t>.</a:t>
            </a:r>
            <a:endParaRPr lang="en-US" altLang="ko-KR" dirty="0" smtClean="0">
              <a:latin typeface="+mn-ea"/>
            </a:endParaRPr>
          </a:p>
        </p:txBody>
      </p:sp>
    </p:spTree>
    <p:extLst>
      <p:ext uri="{BB962C8B-B14F-4D97-AF65-F5344CB8AC3E}">
        <p14:creationId xmlns:p14="http://schemas.microsoft.com/office/powerpoint/2010/main" val="14469050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4268948201"/>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리치</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en-US" altLang="ko-KR" baseline="0" dirty="0" smtClean="0"/>
                        <a:t> </a:t>
                      </a:r>
                      <a:r>
                        <a:rPr lang="ko-KR" altLang="en-US" dirty="0" smtClean="0"/>
                        <a:t>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r>
                        <a:rPr lang="en-US" altLang="ko-KR" dirty="0" smtClean="0"/>
                        <a:t>, </a:t>
                      </a:r>
                      <a:r>
                        <a:rPr lang="ko-KR" altLang="en-US" dirty="0" smtClean="0"/>
                        <a:t>빙결</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350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100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5</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불사</a:t>
                      </a:r>
                      <a:r>
                        <a:rPr lang="en-US" altLang="ko-KR" baseline="0" dirty="0" smtClean="0"/>
                        <a:t>(</a:t>
                      </a:r>
                      <a:r>
                        <a:rPr lang="ko-KR" altLang="en-US" baseline="0" dirty="0" smtClean="0"/>
                        <a:t>죽음의 위기를 </a:t>
                      </a:r>
                      <a:r>
                        <a:rPr lang="en-US" altLang="ko-KR" baseline="0" dirty="0" smtClean="0"/>
                        <a:t>1</a:t>
                      </a:r>
                      <a:r>
                        <a:rPr lang="ko-KR" altLang="en-US" baseline="0" dirty="0" smtClean="0"/>
                        <a:t>번 모면합니다</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부정한 손길</a:t>
                      </a:r>
                      <a:r>
                        <a:rPr lang="en-US" altLang="ko-KR" dirty="0" smtClean="0"/>
                        <a:t>(</a:t>
                      </a:r>
                      <a:r>
                        <a:rPr lang="ko-KR" altLang="en-US" dirty="0" smtClean="0"/>
                        <a:t>방 감</a:t>
                      </a:r>
                      <a:r>
                        <a:rPr lang="en-US" altLang="ko-KR" dirty="0" smtClean="0"/>
                        <a:t>, </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망자의 손길</a:t>
                      </a:r>
                      <a:r>
                        <a:rPr lang="en-US" altLang="ko-KR" dirty="0" smtClean="0"/>
                        <a:t>(</a:t>
                      </a:r>
                      <a:r>
                        <a:rPr lang="ko-KR" altLang="en-US" dirty="0" smtClean="0"/>
                        <a:t>뎀</a:t>
                      </a:r>
                      <a:r>
                        <a:rPr lang="en-US" altLang="ko-KR" dirty="0" smtClean="0"/>
                        <a:t>)</a:t>
                      </a:r>
                      <a:r>
                        <a:rPr lang="ko-KR" altLang="en-US" dirty="0" smtClean="0"/>
                        <a:t> </a:t>
                      </a:r>
                      <a:r>
                        <a:rPr lang="en-US" altLang="ko-KR" dirty="0" smtClean="0"/>
                        <a:t>/ </a:t>
                      </a:r>
                      <a:r>
                        <a:rPr lang="ko-KR" altLang="en-US" dirty="0" smtClean="0"/>
                        <a:t>서리 폭발</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21</a:t>
            </a:fld>
            <a:endParaRPr lang="ko-KR" altLang="en-US" sz="1800" dirty="0"/>
          </a:p>
        </p:txBody>
      </p:sp>
    </p:spTree>
    <p:extLst>
      <p:ext uri="{BB962C8B-B14F-4D97-AF65-F5344CB8AC3E}">
        <p14:creationId xmlns:p14="http://schemas.microsoft.com/office/powerpoint/2010/main" val="41469111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530292396"/>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그리즐리</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a:t>
                      </a:r>
                      <a:r>
                        <a:rPr lang="ko-KR" altLang="en-US" dirty="0" smtClean="0"/>
                        <a:t>중 </a:t>
                      </a:r>
                      <a:r>
                        <a:rPr lang="ko-KR" altLang="en-US" dirty="0" err="1" smtClean="0"/>
                        <a:t>방어형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두꺼운 피부</a:t>
                      </a:r>
                      <a:r>
                        <a:rPr lang="en-US" altLang="ko-KR" baseline="0" dirty="0" smtClean="0"/>
                        <a:t>(</a:t>
                      </a:r>
                      <a:r>
                        <a:rPr lang="ko-KR" altLang="en-US" baseline="0" dirty="0" smtClean="0"/>
                        <a:t>받는 </a:t>
                      </a:r>
                      <a:r>
                        <a:rPr lang="ko-KR" altLang="en-US" baseline="0" dirty="0" err="1" smtClean="0"/>
                        <a:t>데미지를</a:t>
                      </a:r>
                      <a:r>
                        <a:rPr lang="ko-KR" altLang="en-US" baseline="0" dirty="0" smtClean="0"/>
                        <a:t> </a:t>
                      </a:r>
                      <a:r>
                        <a:rPr lang="en-US" altLang="ko-KR" baseline="0" dirty="0" smtClean="0"/>
                        <a:t>10% </a:t>
                      </a:r>
                      <a:r>
                        <a:rPr lang="ko-KR" altLang="en-US" baseline="0" dirty="0" smtClean="0"/>
                        <a:t>감소시킵니다</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err="1" smtClean="0"/>
                        <a:t>휘둘러치기</a:t>
                      </a:r>
                      <a:r>
                        <a:rPr lang="en-US" altLang="ko-KR" dirty="0" smtClean="0"/>
                        <a:t>(</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웅크리기</a:t>
                      </a:r>
                      <a:r>
                        <a:rPr lang="en-US" altLang="ko-KR" dirty="0" smtClean="0"/>
                        <a:t>(</a:t>
                      </a:r>
                      <a:r>
                        <a:rPr lang="ko-KR" altLang="en-US" dirty="0" err="1" smtClean="0"/>
                        <a:t>체회복</a:t>
                      </a:r>
                      <a:r>
                        <a:rPr lang="en-US" altLang="ko-KR" dirty="0" smtClean="0"/>
                        <a:t>, </a:t>
                      </a:r>
                      <a:r>
                        <a:rPr lang="ko-KR" altLang="en-US" dirty="0" err="1" smtClean="0"/>
                        <a:t>방상승</a:t>
                      </a:r>
                      <a:r>
                        <a:rPr lang="en-US" altLang="ko-KR" dirty="0" smtClean="0"/>
                        <a:t>)</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22</a:t>
            </a:fld>
            <a:endParaRPr lang="ko-KR" altLang="en-US" sz="1800" dirty="0"/>
          </a:p>
        </p:txBody>
      </p:sp>
    </p:spTree>
    <p:extLst>
      <p:ext uri="{BB962C8B-B14F-4D97-AF65-F5344CB8AC3E}">
        <p14:creationId xmlns:p14="http://schemas.microsoft.com/office/powerpoint/2010/main" val="27857583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762461420"/>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피냐타</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a:t>
                      </a:r>
                      <a:r>
                        <a:rPr lang="ko-KR" altLang="en-US" dirty="0" smtClean="0"/>
                        <a:t>중 </a:t>
                      </a:r>
                      <a:r>
                        <a:rPr lang="ko-KR" altLang="en-US" dirty="0" smtClean="0"/>
                        <a:t>기능형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선물꾸러미 </a:t>
                      </a:r>
                      <a:r>
                        <a:rPr lang="en-US" altLang="ko-KR" baseline="0" dirty="0" smtClean="0"/>
                        <a:t>(</a:t>
                      </a:r>
                      <a:r>
                        <a:rPr lang="ko-KR" altLang="en-US" baseline="0" dirty="0" smtClean="0"/>
                        <a:t>자신이 사망했을 때</a:t>
                      </a:r>
                      <a:r>
                        <a:rPr lang="en-US" altLang="ko-KR" baseline="0" dirty="0" smtClean="0"/>
                        <a:t>, </a:t>
                      </a:r>
                      <a:r>
                        <a:rPr lang="ko-KR" altLang="en-US" baseline="0" dirty="0" smtClean="0"/>
                        <a:t>아군 전체 체력 회복 </a:t>
                      </a:r>
                      <a:r>
                        <a:rPr lang="en-US" altLang="ko-KR" baseline="0" dirty="0" smtClean="0"/>
                        <a:t>+ </a:t>
                      </a:r>
                      <a:r>
                        <a:rPr lang="ko-KR" altLang="en-US" baseline="0" dirty="0" smtClean="0"/>
                        <a:t>방</a:t>
                      </a:r>
                      <a:r>
                        <a:rPr lang="en-US" altLang="ko-KR" baseline="0" dirty="0" smtClean="0"/>
                        <a:t>, </a:t>
                      </a:r>
                      <a:r>
                        <a:rPr lang="ko-KR" altLang="en-US" baseline="0" dirty="0" smtClean="0"/>
                        <a:t>공 상승</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en-US" altLang="ko-KR" dirty="0" smtClean="0"/>
                        <a:t>-</a:t>
                      </a:r>
                      <a:r>
                        <a:rPr lang="ko-KR" altLang="en-US" dirty="0" smtClean="0"/>
                        <a:t> </a:t>
                      </a:r>
                      <a:r>
                        <a:rPr lang="en-US" altLang="ko-KR" dirty="0" smtClean="0"/>
                        <a:t>/ -</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23</a:t>
            </a:fld>
            <a:endParaRPr lang="ko-KR" altLang="en-US" sz="1800" dirty="0"/>
          </a:p>
        </p:txBody>
      </p:sp>
    </p:spTree>
    <p:extLst>
      <p:ext uri="{BB962C8B-B14F-4D97-AF65-F5344CB8AC3E}">
        <p14:creationId xmlns:p14="http://schemas.microsoft.com/office/powerpoint/2010/main" val="39994723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29390" y="765193"/>
            <a:ext cx="27332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3243357557"/>
              </p:ext>
            </p:extLst>
          </p:nvPr>
        </p:nvGraphicFramePr>
        <p:xfrm>
          <a:off x="1001485" y="1486485"/>
          <a:ext cx="10189028" cy="4793258"/>
        </p:xfrm>
        <a:graphic>
          <a:graphicData uri="http://schemas.openxmlformats.org/drawingml/2006/table">
            <a:tbl>
              <a:tblPr firstRow="1" bandRow="1">
                <a:tableStyleId>{073A0DAA-6AF3-43AB-8588-CEC1D06C72B9}</a:tableStyleId>
              </a:tblPr>
              <a:tblGrid>
                <a:gridCol w="1451429">
                  <a:extLst>
                    <a:ext uri="{9D8B030D-6E8A-4147-A177-3AD203B41FA5}">
                      <a16:colId xmlns:a16="http://schemas.microsoft.com/office/drawing/2014/main" val="3321536260"/>
                    </a:ext>
                  </a:extLst>
                </a:gridCol>
                <a:gridCol w="6285865">
                  <a:extLst>
                    <a:ext uri="{9D8B030D-6E8A-4147-A177-3AD203B41FA5}">
                      <a16:colId xmlns:a16="http://schemas.microsoft.com/office/drawing/2014/main" val="2362139744"/>
                    </a:ext>
                  </a:extLst>
                </a:gridCol>
                <a:gridCol w="2451734">
                  <a:extLst>
                    <a:ext uri="{9D8B030D-6E8A-4147-A177-3AD203B41FA5}">
                      <a16:colId xmlns:a16="http://schemas.microsoft.com/office/drawing/2014/main" val="431622231"/>
                    </a:ext>
                  </a:extLst>
                </a:gridCol>
              </a:tblGrid>
              <a:tr h="564759">
                <a:tc>
                  <a:txBody>
                    <a:bodyPr/>
                    <a:lstStyle/>
                    <a:p>
                      <a:pPr algn="ctr" latinLnBrk="1"/>
                      <a:r>
                        <a:rPr lang="ko-KR" altLang="en-US" dirty="0" smtClean="0"/>
                        <a:t>요소</a:t>
                      </a:r>
                      <a:endParaRPr lang="ko-KR" altLang="en-US" dirty="0"/>
                    </a:p>
                  </a:txBody>
                  <a:tcPr anchor="ctr"/>
                </a:tc>
                <a:tc>
                  <a:txBody>
                    <a:bodyPr/>
                    <a:lstStyle/>
                    <a:p>
                      <a:pPr algn="ctr" latinLnBrk="1"/>
                      <a:r>
                        <a:rPr lang="ko-KR" altLang="en-US" dirty="0" smtClean="0"/>
                        <a:t>설명</a:t>
                      </a:r>
                      <a:endParaRPr lang="ko-KR" altLang="en-US" dirty="0"/>
                    </a:p>
                  </a:txBody>
                  <a:tcPr anchor="ctr"/>
                </a:tc>
                <a:tc>
                  <a:txBody>
                    <a:bodyPr/>
                    <a:lstStyle/>
                    <a:p>
                      <a:pPr algn="ctr" latinLnBrk="1"/>
                      <a:r>
                        <a:rPr lang="ko-KR" altLang="en-US" dirty="0" smtClean="0"/>
                        <a:t>비고</a:t>
                      </a:r>
                      <a:endParaRPr lang="ko-KR" altLang="en-US" dirty="0"/>
                    </a:p>
                  </a:txBody>
                  <a:tcPr anchor="ctr"/>
                </a:tc>
                <a:extLst>
                  <a:ext uri="{0D108BD9-81ED-4DB2-BD59-A6C34878D82A}">
                    <a16:rowId xmlns:a16="http://schemas.microsoft.com/office/drawing/2014/main" val="4217640868"/>
                  </a:ext>
                </a:extLst>
              </a:tr>
              <a:tr h="612670">
                <a:tc>
                  <a:txBody>
                    <a:bodyPr/>
                    <a:lstStyle/>
                    <a:p>
                      <a:pPr algn="ctr" latinLnBrk="1"/>
                      <a:r>
                        <a:rPr lang="ko-KR" altLang="en-US" b="1" dirty="0" smtClean="0"/>
                        <a:t>시간</a:t>
                      </a:r>
                      <a:endParaRPr lang="ko-KR" altLang="en-US" b="1" dirty="0"/>
                    </a:p>
                  </a:txBody>
                  <a:tcPr anchor="ctr"/>
                </a:tc>
                <a:tc>
                  <a:txBody>
                    <a:bodyPr/>
                    <a:lstStyle/>
                    <a:p>
                      <a:pPr algn="l" latinLnBrk="1"/>
                      <a:r>
                        <a:rPr lang="en-US" altLang="ko-KR" sz="1700" dirty="0" smtClean="0"/>
                        <a:t>- </a:t>
                      </a:r>
                      <a:r>
                        <a:rPr lang="ko-KR" altLang="en-US" sz="1700" dirty="0" smtClean="0"/>
                        <a:t>게임은 하루를 기준으로 돌아간다</a:t>
                      </a:r>
                      <a:r>
                        <a:rPr lang="en-US" altLang="ko-KR" sz="1700" dirty="0" smtClean="0"/>
                        <a:t>.</a:t>
                      </a:r>
                      <a:endParaRPr lang="ko-KR" altLang="en-US" sz="1700" dirty="0"/>
                    </a:p>
                  </a:txBody>
                  <a:tcPr anchor="ctr"/>
                </a:tc>
                <a:tc>
                  <a:txBody>
                    <a:bodyPr/>
                    <a:lstStyle/>
                    <a:p>
                      <a:pPr algn="l" latinLnBrk="1"/>
                      <a:endParaRPr lang="ko-KR" altLang="en-US" dirty="0"/>
                    </a:p>
                  </a:txBody>
                  <a:tcPr anchor="ctr"/>
                </a:tc>
                <a:extLst>
                  <a:ext uri="{0D108BD9-81ED-4DB2-BD59-A6C34878D82A}">
                    <a16:rowId xmlns:a16="http://schemas.microsoft.com/office/drawing/2014/main" val="10001"/>
                  </a:ext>
                </a:extLst>
              </a:tr>
              <a:tr h="612670">
                <a:tc>
                  <a:txBody>
                    <a:bodyPr/>
                    <a:lstStyle/>
                    <a:p>
                      <a:pPr algn="ctr" latinLnBrk="1"/>
                      <a:r>
                        <a:rPr lang="ko-KR" altLang="en-US" b="1" dirty="0" err="1" smtClean="0"/>
                        <a:t>범죄율</a:t>
                      </a:r>
                      <a:endParaRPr lang="ko-KR" altLang="en-US" b="1" dirty="0"/>
                    </a:p>
                  </a:txBody>
                  <a:tcPr anchor="ctr"/>
                </a:tc>
                <a:tc>
                  <a:txBody>
                    <a:bodyPr/>
                    <a:lstStyle/>
                    <a:p>
                      <a:pPr algn="l" latinLnBrk="1"/>
                      <a:r>
                        <a:rPr lang="en-US" altLang="ko-KR" sz="1700" dirty="0" smtClean="0"/>
                        <a:t>- </a:t>
                      </a:r>
                      <a:r>
                        <a:rPr lang="ko-KR" altLang="en-US" sz="1700" dirty="0" smtClean="0"/>
                        <a:t>도시의 현재 </a:t>
                      </a:r>
                      <a:r>
                        <a:rPr lang="ko-KR" altLang="en-US" sz="1700" dirty="0" err="1" smtClean="0"/>
                        <a:t>범죄율을</a:t>
                      </a:r>
                      <a:r>
                        <a:rPr lang="ko-KR" altLang="en-US" sz="1700" dirty="0" smtClean="0"/>
                        <a:t> 나타내는 수치</a:t>
                      </a:r>
                      <a:endParaRPr lang="en-US" altLang="ko-KR" sz="1700" dirty="0" smtClean="0"/>
                    </a:p>
                    <a:p>
                      <a:pPr algn="l" latinLnBrk="1"/>
                      <a:r>
                        <a:rPr lang="en-US" altLang="ko-KR" sz="1700" dirty="0" smtClean="0"/>
                        <a:t>- </a:t>
                      </a:r>
                      <a:r>
                        <a:rPr lang="ko-KR" altLang="en-US" sz="1700" dirty="0" smtClean="0"/>
                        <a:t>각종 이벤트에 따라 증가</a:t>
                      </a:r>
                      <a:r>
                        <a:rPr lang="en-US" altLang="ko-KR" sz="1700" dirty="0" smtClean="0"/>
                        <a:t>, </a:t>
                      </a:r>
                      <a:r>
                        <a:rPr lang="ko-KR" altLang="en-US" sz="1700" dirty="0" smtClean="0"/>
                        <a:t>감소한다</a:t>
                      </a:r>
                      <a:endParaRPr lang="ko-KR" altLang="en-US" sz="1700" dirty="0"/>
                    </a:p>
                  </a:txBody>
                  <a:tcPr anchor="ctr"/>
                </a:tc>
                <a:tc>
                  <a:txBody>
                    <a:bodyPr/>
                    <a:lstStyle/>
                    <a:p>
                      <a:pPr algn="l" latinLnBrk="1"/>
                      <a:r>
                        <a:rPr lang="en-US" altLang="ko-KR" sz="1700" dirty="0" smtClean="0"/>
                        <a:t>0 </a:t>
                      </a:r>
                      <a:r>
                        <a:rPr lang="ko-KR" altLang="en-US" sz="1700" dirty="0" smtClean="0"/>
                        <a:t>이 되면 승리</a:t>
                      </a:r>
                      <a:endParaRPr lang="en-US" altLang="ko-KR" sz="1700" dirty="0" smtClean="0"/>
                    </a:p>
                    <a:p>
                      <a:pPr algn="l" latinLnBrk="1"/>
                      <a:r>
                        <a:rPr lang="en-US" altLang="ko-KR" sz="1700" dirty="0" smtClean="0"/>
                        <a:t>100 </a:t>
                      </a:r>
                      <a:r>
                        <a:rPr lang="ko-KR" altLang="en-US" sz="1700" dirty="0" smtClean="0"/>
                        <a:t>이 되면 패배</a:t>
                      </a:r>
                      <a:endParaRPr lang="ko-KR" altLang="en-US" sz="1700" dirty="0"/>
                    </a:p>
                  </a:txBody>
                  <a:tcPr anchor="ctr"/>
                </a:tc>
                <a:extLst>
                  <a:ext uri="{0D108BD9-81ED-4DB2-BD59-A6C34878D82A}">
                    <a16:rowId xmlns:a16="http://schemas.microsoft.com/office/drawing/2014/main" val="1447082540"/>
                  </a:ext>
                </a:extLst>
              </a:tr>
              <a:tr h="564802">
                <a:tc>
                  <a:txBody>
                    <a:bodyPr/>
                    <a:lstStyle/>
                    <a:p>
                      <a:pPr algn="ctr" latinLnBrk="1"/>
                      <a:r>
                        <a:rPr lang="ko-KR" altLang="en-US" b="1" dirty="0" smtClean="0"/>
                        <a:t>명성</a:t>
                      </a:r>
                      <a:endParaRPr lang="ko-KR" altLang="en-US" b="1" dirty="0"/>
                    </a:p>
                  </a:txBody>
                  <a:tcPr anchor="ctr"/>
                </a:tc>
                <a:tc>
                  <a:txBody>
                    <a:bodyPr/>
                    <a:lstStyle/>
                    <a:p>
                      <a:pPr algn="l" latinLnBrk="1"/>
                      <a:r>
                        <a:rPr lang="en-US" altLang="ko-KR" sz="1700" dirty="0" smtClean="0"/>
                        <a:t>- </a:t>
                      </a:r>
                      <a:r>
                        <a:rPr lang="ko-KR" altLang="en-US" sz="1700" dirty="0" smtClean="0"/>
                        <a:t>특수 경찰관으로서의 명성을 나타내는 수치</a:t>
                      </a:r>
                      <a:endParaRPr lang="en-US" altLang="ko-KR" sz="1700" dirty="0" smtClean="0"/>
                    </a:p>
                    <a:p>
                      <a:pPr algn="l" latinLnBrk="1"/>
                      <a:r>
                        <a:rPr lang="en-US" altLang="ko-KR" sz="1700" dirty="0" smtClean="0"/>
                        <a:t>- </a:t>
                      </a:r>
                      <a:r>
                        <a:rPr lang="ko-KR" altLang="en-US" sz="1700" dirty="0" smtClean="0"/>
                        <a:t>수치의 고저가 게임 플레이에 영향을 준다</a:t>
                      </a:r>
                      <a:endParaRPr lang="ko-KR" altLang="en-US" sz="1700" dirty="0"/>
                    </a:p>
                  </a:txBody>
                  <a:tcPr anchor="ctr"/>
                </a:tc>
                <a:tc>
                  <a:txBody>
                    <a:bodyPr/>
                    <a:lstStyle/>
                    <a:p>
                      <a:pPr algn="l" latinLnBrk="1"/>
                      <a:r>
                        <a:rPr lang="en-US" altLang="ko-KR" sz="1700" dirty="0" smtClean="0"/>
                        <a:t>0 </a:t>
                      </a:r>
                      <a:r>
                        <a:rPr lang="ko-KR" altLang="en-US" sz="1700" dirty="0" smtClean="0"/>
                        <a:t>이 되면 패배</a:t>
                      </a:r>
                      <a:endParaRPr lang="ko-KR" altLang="en-US" sz="1700" dirty="0"/>
                    </a:p>
                  </a:txBody>
                  <a:tcPr anchor="ctr"/>
                </a:tc>
                <a:extLst>
                  <a:ext uri="{0D108BD9-81ED-4DB2-BD59-A6C34878D82A}">
                    <a16:rowId xmlns:a16="http://schemas.microsoft.com/office/drawing/2014/main" val="1166069635"/>
                  </a:ext>
                </a:extLst>
              </a:tr>
              <a:tr h="564802">
                <a:tc>
                  <a:txBody>
                    <a:bodyPr/>
                    <a:lstStyle/>
                    <a:p>
                      <a:pPr algn="ctr" latinLnBrk="1"/>
                      <a:r>
                        <a:rPr lang="ko-KR" altLang="en-US" b="1" dirty="0" smtClean="0"/>
                        <a:t>자금</a:t>
                      </a:r>
                      <a:endParaRPr lang="ko-KR" altLang="en-US" b="1" dirty="0"/>
                    </a:p>
                  </a:txBody>
                  <a:tcPr anchor="ctr"/>
                </a:tc>
                <a:tc>
                  <a:txBody>
                    <a:bodyPr/>
                    <a:lstStyle/>
                    <a:p>
                      <a:pPr algn="l" latinLnBrk="1"/>
                      <a:r>
                        <a:rPr lang="en-US" altLang="ko-KR" sz="1700" dirty="0" smtClean="0"/>
                        <a:t>- </a:t>
                      </a:r>
                      <a:r>
                        <a:rPr lang="ko-KR" altLang="en-US" sz="1700" dirty="0" smtClean="0"/>
                        <a:t>플레이어가 사용 가능한 돈의 수치</a:t>
                      </a:r>
                      <a:endParaRPr lang="en-US" altLang="ko-KR" sz="1700" dirty="0" smtClean="0"/>
                    </a:p>
                    <a:p>
                      <a:pPr algn="l" latinLnBrk="1"/>
                      <a:r>
                        <a:rPr lang="en-US" altLang="ko-KR" sz="1700" dirty="0" smtClean="0"/>
                        <a:t>- </a:t>
                      </a:r>
                      <a:r>
                        <a:rPr lang="ko-KR" altLang="en-US" sz="1700" dirty="0" smtClean="0"/>
                        <a:t>각종 장비를 구입하거나 업그레이드 할 수 있다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val="2270031616"/>
                  </a:ext>
                </a:extLst>
              </a:tr>
              <a:tr h="564802">
                <a:tc>
                  <a:txBody>
                    <a:bodyPr/>
                    <a:lstStyle/>
                    <a:p>
                      <a:pPr algn="ctr" latinLnBrk="1"/>
                      <a:r>
                        <a:rPr lang="ko-KR" altLang="en-US" b="1" dirty="0" err="1" smtClean="0"/>
                        <a:t>행동력</a:t>
                      </a:r>
                      <a:endParaRPr lang="ko-KR" altLang="en-US" b="1" dirty="0"/>
                    </a:p>
                  </a:txBody>
                  <a:tcPr anchor="ctr"/>
                </a:tc>
                <a:tc>
                  <a:txBody>
                    <a:bodyPr/>
                    <a:lstStyle/>
                    <a:p>
                      <a:pPr algn="l" latinLnBrk="1"/>
                      <a:r>
                        <a:rPr lang="en-US" altLang="ko-KR" sz="1700" dirty="0" smtClean="0"/>
                        <a:t>- </a:t>
                      </a:r>
                      <a:r>
                        <a:rPr lang="ko-KR" altLang="en-US" sz="1700" dirty="0" smtClean="0"/>
                        <a:t>한 사건에서 행동</a:t>
                      </a:r>
                      <a:r>
                        <a:rPr lang="en-US" altLang="ko-KR" sz="1700" dirty="0" smtClean="0"/>
                        <a:t>(</a:t>
                      </a:r>
                      <a:r>
                        <a:rPr lang="ko-KR" altLang="en-US" sz="1700" dirty="0" smtClean="0"/>
                        <a:t>수사</a:t>
                      </a:r>
                      <a:r>
                        <a:rPr lang="en-US" altLang="ko-KR" sz="1700" dirty="0" smtClean="0"/>
                        <a:t>, </a:t>
                      </a:r>
                      <a:r>
                        <a:rPr lang="ko-KR" altLang="en-US" sz="1700" dirty="0" smtClean="0"/>
                        <a:t>탐색</a:t>
                      </a:r>
                      <a:r>
                        <a:rPr lang="en-US" altLang="ko-KR" sz="1700" dirty="0" smtClean="0"/>
                        <a:t>, </a:t>
                      </a:r>
                      <a:r>
                        <a:rPr lang="ko-KR" altLang="en-US" sz="1700" dirty="0" smtClean="0"/>
                        <a:t>설득 등</a:t>
                      </a:r>
                      <a:r>
                        <a:rPr lang="en-US" altLang="ko-KR" sz="1700" dirty="0" smtClean="0"/>
                        <a:t>) </a:t>
                      </a:r>
                      <a:r>
                        <a:rPr lang="ko-KR" altLang="en-US" sz="1700" dirty="0" smtClean="0"/>
                        <a:t>할 수 있는 한계치</a:t>
                      </a:r>
                      <a:endParaRPr lang="en-US" altLang="ko-KR" sz="1700" dirty="0" smtClean="0"/>
                    </a:p>
                    <a:p>
                      <a:pPr algn="l" latinLnBrk="1"/>
                      <a:r>
                        <a:rPr lang="en-US" altLang="ko-KR" sz="1700" dirty="0" smtClean="0"/>
                        <a:t>- </a:t>
                      </a:r>
                      <a:r>
                        <a:rPr lang="ko-KR" altLang="en-US" sz="1700" dirty="0" smtClean="0"/>
                        <a:t>매 행동 마다 </a:t>
                      </a:r>
                      <a:r>
                        <a:rPr lang="ko-KR" altLang="en-US" sz="1700" dirty="0" err="1" smtClean="0"/>
                        <a:t>행동력을</a:t>
                      </a:r>
                      <a:r>
                        <a:rPr lang="ko-KR" altLang="en-US" sz="1700" dirty="0" smtClean="0"/>
                        <a:t> 소모하여 실행된다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val="3714715161"/>
                  </a:ext>
                </a:extLst>
              </a:tr>
              <a:tr h="564802">
                <a:tc>
                  <a:txBody>
                    <a:bodyPr/>
                    <a:lstStyle/>
                    <a:p>
                      <a:pPr algn="ctr" latinLnBrk="1"/>
                      <a:r>
                        <a:rPr lang="ko-KR" altLang="en-US" b="1" dirty="0" smtClean="0"/>
                        <a:t>특성</a:t>
                      </a:r>
                      <a:endParaRPr lang="ko-KR" altLang="en-US" b="1" dirty="0"/>
                    </a:p>
                  </a:txBody>
                  <a:tcPr anchor="ctr"/>
                </a:tc>
                <a:tc>
                  <a:txBody>
                    <a:bodyPr/>
                    <a:lstStyle/>
                    <a:p>
                      <a:pPr algn="l" latinLnBrk="1"/>
                      <a:r>
                        <a:rPr lang="en-US" altLang="ko-KR" sz="1700" dirty="0" smtClean="0"/>
                        <a:t>- </a:t>
                      </a:r>
                      <a:r>
                        <a:rPr lang="ko-KR" altLang="en-US" sz="1700" dirty="0" smtClean="0"/>
                        <a:t>플레이를 통해 얻은 특성 포인트로 배울 수 있다</a:t>
                      </a:r>
                      <a:endParaRPr lang="en-US" altLang="ko-KR" sz="1700" dirty="0" smtClean="0"/>
                    </a:p>
                    <a:p>
                      <a:pPr algn="l" latinLnBrk="1"/>
                      <a:r>
                        <a:rPr lang="en-US" altLang="ko-KR" sz="1700" dirty="0" smtClean="0"/>
                        <a:t>- </a:t>
                      </a:r>
                      <a:r>
                        <a:rPr lang="ko-KR" altLang="en-US" sz="1700" dirty="0" smtClean="0"/>
                        <a:t>게임 플레이에 도움을 주는 효과를 가지고 있다</a:t>
                      </a:r>
                      <a:endParaRPr lang="ko-KR" altLang="en-US" sz="1700" dirty="0"/>
                    </a:p>
                  </a:txBody>
                  <a:tcPr anchor="ctr"/>
                </a:tc>
                <a:tc>
                  <a:txBody>
                    <a:bodyPr/>
                    <a:lstStyle/>
                    <a:p>
                      <a:pPr algn="l" latinLnBrk="1"/>
                      <a:r>
                        <a:rPr lang="ko-KR" altLang="en-US" sz="1700" dirty="0" smtClean="0"/>
                        <a:t>최대 </a:t>
                      </a:r>
                      <a:r>
                        <a:rPr lang="en-US" altLang="ko-KR" sz="1700" dirty="0" smtClean="0"/>
                        <a:t>3</a:t>
                      </a:r>
                      <a:r>
                        <a:rPr lang="ko-KR" altLang="en-US" sz="1700" dirty="0" smtClean="0"/>
                        <a:t>가지 사용 가능</a:t>
                      </a:r>
                      <a:endParaRPr lang="ko-KR" altLang="en-US" sz="1700" dirty="0"/>
                    </a:p>
                  </a:txBody>
                  <a:tcPr anchor="ctr"/>
                </a:tc>
                <a:extLst>
                  <a:ext uri="{0D108BD9-81ED-4DB2-BD59-A6C34878D82A}">
                    <a16:rowId xmlns:a16="http://schemas.microsoft.com/office/drawing/2014/main" val="1529809939"/>
                  </a:ext>
                </a:extLst>
              </a:tr>
              <a:tr h="564759">
                <a:tc>
                  <a:txBody>
                    <a:bodyPr/>
                    <a:lstStyle/>
                    <a:p>
                      <a:pPr algn="ctr" latinLnBrk="1"/>
                      <a:r>
                        <a:rPr lang="ko-KR" altLang="en-US" b="1" dirty="0" smtClean="0"/>
                        <a:t>스킬 체크</a:t>
                      </a:r>
                      <a:endParaRPr lang="ko-KR" altLang="en-US" b="1" dirty="0"/>
                    </a:p>
                  </a:txBody>
                  <a:tcPr anchor="ctr"/>
                </a:tc>
                <a:tc>
                  <a:txBody>
                    <a:bodyPr/>
                    <a:lstStyle/>
                    <a:p>
                      <a:pPr algn="l" latinLnBrk="1"/>
                      <a:r>
                        <a:rPr lang="en-US" altLang="ko-KR" sz="1700" dirty="0" smtClean="0"/>
                        <a:t>- </a:t>
                      </a:r>
                      <a:r>
                        <a:rPr lang="ko-KR" altLang="en-US" sz="1700" dirty="0" smtClean="0"/>
                        <a:t>수사</a:t>
                      </a:r>
                      <a:r>
                        <a:rPr lang="en-US" altLang="ko-KR" sz="1700" dirty="0" smtClean="0"/>
                        <a:t>, </a:t>
                      </a:r>
                      <a:r>
                        <a:rPr lang="ko-KR" altLang="en-US" sz="1700" dirty="0" smtClean="0"/>
                        <a:t>심문</a:t>
                      </a:r>
                      <a:r>
                        <a:rPr lang="en-US" altLang="ko-KR" sz="1700" dirty="0" smtClean="0"/>
                        <a:t>, </a:t>
                      </a:r>
                      <a:r>
                        <a:rPr lang="ko-KR" altLang="en-US" sz="1700" dirty="0" smtClean="0"/>
                        <a:t>탐색 등 행동 전반에 걸쳐 사용되는 기능</a:t>
                      </a:r>
                      <a:endParaRPr lang="en-US" altLang="ko-KR" sz="1700" dirty="0" smtClean="0"/>
                    </a:p>
                  </a:txBody>
                  <a:tcPr anchor="ctr"/>
                </a:tc>
                <a:tc>
                  <a:txBody>
                    <a:bodyPr/>
                    <a:lstStyle/>
                    <a:p>
                      <a:pPr algn="l" latinLnBrk="1"/>
                      <a:r>
                        <a:rPr lang="ko-KR" altLang="en-US" sz="1700" dirty="0" smtClean="0"/>
                        <a:t>성공</a:t>
                      </a:r>
                      <a:r>
                        <a:rPr lang="en-US" altLang="ko-KR" sz="1700" dirty="0" smtClean="0"/>
                        <a:t>, </a:t>
                      </a:r>
                      <a:r>
                        <a:rPr lang="ko-KR" altLang="en-US" sz="1700" dirty="0" smtClean="0"/>
                        <a:t>실패</a:t>
                      </a:r>
                      <a:r>
                        <a:rPr lang="en-US" altLang="ko-KR" sz="1700" dirty="0" smtClean="0"/>
                        <a:t>, </a:t>
                      </a:r>
                      <a:r>
                        <a:rPr lang="ko-KR" altLang="en-US" sz="1700" dirty="0" smtClean="0"/>
                        <a:t>대성공</a:t>
                      </a:r>
                      <a:endParaRPr lang="ko-KR" altLang="en-US" sz="1700" dirty="0"/>
                    </a:p>
                  </a:txBody>
                  <a:tcPr anchor="ctr"/>
                </a:tc>
                <a:extLst>
                  <a:ext uri="{0D108BD9-81ED-4DB2-BD59-A6C34878D82A}">
                    <a16:rowId xmlns:a16="http://schemas.microsoft.com/office/drawing/2014/main" val="2358325592"/>
                  </a:ext>
                </a:extLst>
              </a:tr>
            </a:tbl>
          </a:graphicData>
        </a:graphic>
      </p:graphicFrame>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24</a:t>
            </a:fld>
            <a:endParaRPr lang="ko-KR" altLang="en-US" sz="1800" dirty="0"/>
          </a:p>
        </p:txBody>
      </p:sp>
    </p:spTree>
    <p:extLst>
      <p:ext uri="{BB962C8B-B14F-4D97-AF65-F5344CB8AC3E}">
        <p14:creationId xmlns:p14="http://schemas.microsoft.com/office/powerpoint/2010/main" val="16480558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933450" y="1438038"/>
            <a:ext cx="3162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모서리가 둥근 직사각형 4"/>
          <p:cNvSpPr/>
          <p:nvPr/>
        </p:nvSpPr>
        <p:spPr>
          <a:xfrm>
            <a:off x="8822924" y="4149787"/>
            <a:ext cx="15675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현장 출동</a:t>
            </a:r>
            <a:endParaRPr lang="ko-KR" altLang="en-US" dirty="0">
              <a:solidFill>
                <a:schemeClr val="tx1"/>
              </a:solidFill>
            </a:endParaRPr>
          </a:p>
        </p:txBody>
      </p:sp>
      <p:sp>
        <p:nvSpPr>
          <p:cNvPr id="16" name="모서리가 둥근 직사각형 15"/>
          <p:cNvSpPr/>
          <p:nvPr/>
        </p:nvSpPr>
        <p:spPr>
          <a:xfrm>
            <a:off x="6642305" y="4149787"/>
            <a:ext cx="15221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상황실 지휘</a:t>
            </a:r>
          </a:p>
        </p:txBody>
      </p:sp>
      <p:sp>
        <p:nvSpPr>
          <p:cNvPr id="17" name="모서리가 둥근 직사각형 16"/>
          <p:cNvSpPr/>
          <p:nvPr/>
        </p:nvSpPr>
        <p:spPr>
          <a:xfrm>
            <a:off x="7610621" y="457417"/>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던전 탐험</a:t>
            </a:r>
            <a:endParaRPr lang="en-US" altLang="ko-KR" dirty="0" smtClean="0">
              <a:solidFill>
                <a:schemeClr val="tx1"/>
              </a:solidFill>
            </a:endParaRPr>
          </a:p>
        </p:txBody>
      </p:sp>
      <p:sp>
        <p:nvSpPr>
          <p:cNvPr id="18" name="모서리가 둥근 직사각형 17"/>
          <p:cNvSpPr/>
          <p:nvPr/>
        </p:nvSpPr>
        <p:spPr>
          <a:xfrm>
            <a:off x="7610621" y="5465052"/>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사건 종</a:t>
            </a:r>
            <a:r>
              <a:rPr lang="ko-KR" altLang="en-US" dirty="0">
                <a:solidFill>
                  <a:schemeClr val="tx1"/>
                </a:solidFill>
              </a:rPr>
              <a:t>료</a:t>
            </a:r>
          </a:p>
        </p:txBody>
      </p:sp>
      <p:cxnSp>
        <p:nvCxnSpPr>
          <p:cNvPr id="3" name="직선 화살표 연결선 2"/>
          <p:cNvCxnSpPr>
            <a:stCxn id="17" idx="2"/>
            <a:endCxn id="82" idx="0"/>
          </p:cNvCxnSpPr>
          <p:nvPr/>
        </p:nvCxnSpPr>
        <p:spPr>
          <a:xfrm>
            <a:off x="8465804" y="1055343"/>
            <a:ext cx="0" cy="3029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꺾인 연결선 23"/>
          <p:cNvCxnSpPr>
            <a:stCxn id="82" idx="3"/>
            <a:endCxn id="17" idx="3"/>
          </p:cNvCxnSpPr>
          <p:nvPr/>
        </p:nvCxnSpPr>
        <p:spPr>
          <a:xfrm flipH="1" flipV="1">
            <a:off x="9320986" y="756380"/>
            <a:ext cx="142493" cy="1120049"/>
          </a:xfrm>
          <a:prstGeom prst="bentConnector3">
            <a:avLst>
              <a:gd name="adj1" fmla="val -160429"/>
            </a:avLst>
          </a:prstGeom>
          <a:ln>
            <a:tailEnd type="arrow"/>
          </a:ln>
        </p:spPr>
        <p:style>
          <a:lnRef idx="3">
            <a:schemeClr val="dk1"/>
          </a:lnRef>
          <a:fillRef idx="0">
            <a:schemeClr val="dk1"/>
          </a:fillRef>
          <a:effectRef idx="2">
            <a:schemeClr val="dk1"/>
          </a:effectRef>
          <a:fontRef idx="minor">
            <a:schemeClr val="tx1"/>
          </a:fontRef>
        </p:style>
      </p:cxnSp>
      <p:cxnSp>
        <p:nvCxnSpPr>
          <p:cNvPr id="28" name="직선 화살표 연결선 27"/>
          <p:cNvCxnSpPr>
            <a:stCxn id="82" idx="2"/>
            <a:endCxn id="98" idx="0"/>
          </p:cNvCxnSpPr>
          <p:nvPr/>
        </p:nvCxnSpPr>
        <p:spPr>
          <a:xfrm flipH="1">
            <a:off x="8465431" y="2394539"/>
            <a:ext cx="373" cy="4038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직선 화살표 연결선 29"/>
          <p:cNvCxnSpPr>
            <a:endCxn id="16" idx="0"/>
          </p:cNvCxnSpPr>
          <p:nvPr/>
        </p:nvCxnSpPr>
        <p:spPr>
          <a:xfrm flipH="1">
            <a:off x="7403380" y="3353737"/>
            <a:ext cx="639116"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직선 화살표 연결선 31"/>
          <p:cNvCxnSpPr>
            <a:endCxn id="5" idx="0"/>
          </p:cNvCxnSpPr>
          <p:nvPr/>
        </p:nvCxnSpPr>
        <p:spPr>
          <a:xfrm>
            <a:off x="8888239" y="3353737"/>
            <a:ext cx="718460"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직선 화살표 연결선 33"/>
          <p:cNvCxnSpPr>
            <a:stCxn id="5" idx="2"/>
            <a:endCxn id="18" idx="0"/>
          </p:cNvCxnSpPr>
          <p:nvPr/>
        </p:nvCxnSpPr>
        <p:spPr>
          <a:xfrm flipH="1">
            <a:off x="8465804" y="4747713"/>
            <a:ext cx="1140895"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직선 화살표 연결선 35"/>
          <p:cNvCxnSpPr>
            <a:stCxn id="16" idx="2"/>
            <a:endCxn id="18" idx="0"/>
          </p:cNvCxnSpPr>
          <p:nvPr/>
        </p:nvCxnSpPr>
        <p:spPr>
          <a:xfrm>
            <a:off x="7403380" y="4747713"/>
            <a:ext cx="1062424"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8339318" y="23945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9829931" y="114605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987886" y="3571827"/>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지휘</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1" name="TextBox 60"/>
          <p:cNvSpPr txBox="1"/>
          <p:nvPr/>
        </p:nvSpPr>
        <p:spPr>
          <a:xfrm>
            <a:off x="9300301" y="3558764"/>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출동</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다이아몬드 81"/>
          <p:cNvSpPr/>
          <p:nvPr/>
        </p:nvSpPr>
        <p:spPr>
          <a:xfrm>
            <a:off x="7468128" y="1358318"/>
            <a:ext cx="1995351" cy="1036221"/>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착수</a:t>
            </a:r>
            <a:endParaRPr lang="ko-KR" altLang="en-US" dirty="0">
              <a:solidFill>
                <a:schemeClr val="tx1"/>
              </a:solidFill>
            </a:endParaRPr>
          </a:p>
        </p:txBody>
      </p:sp>
      <p:sp>
        <p:nvSpPr>
          <p:cNvPr id="98" name="다이아몬드 97"/>
          <p:cNvSpPr/>
          <p:nvPr/>
        </p:nvSpPr>
        <p:spPr>
          <a:xfrm>
            <a:off x="7437220" y="2798408"/>
            <a:ext cx="2056421" cy="962875"/>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지휘 </a:t>
            </a:r>
            <a:r>
              <a:rPr lang="en-US" altLang="ko-KR" dirty="0">
                <a:solidFill>
                  <a:schemeClr val="tx1"/>
                </a:solidFill>
              </a:rPr>
              <a:t>or </a:t>
            </a:r>
            <a:r>
              <a:rPr lang="ko-KR" altLang="en-US" dirty="0" smtClean="0">
                <a:solidFill>
                  <a:schemeClr val="tx1"/>
                </a:solidFill>
              </a:rPr>
              <a:t>출동</a:t>
            </a:r>
            <a:endParaRPr lang="ko-KR" altLang="en-US" dirty="0">
              <a:solidFill>
                <a:schemeClr val="tx1"/>
              </a:solidFill>
            </a:endParaRPr>
          </a:p>
        </p:txBody>
      </p:sp>
      <p:sp>
        <p:nvSpPr>
          <p:cNvPr id="152" name="모서리가 둥근 직사각형 151"/>
          <p:cNvSpPr/>
          <p:nvPr/>
        </p:nvSpPr>
        <p:spPr>
          <a:xfrm>
            <a:off x="5238730" y="457417"/>
            <a:ext cx="171036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정비</a:t>
            </a:r>
            <a:endParaRPr lang="en-US" altLang="ko-KR" dirty="0" smtClean="0">
              <a:solidFill>
                <a:schemeClr val="tx1"/>
              </a:solidFill>
            </a:endParaRPr>
          </a:p>
        </p:txBody>
      </p:sp>
      <p:sp>
        <p:nvSpPr>
          <p:cNvPr id="153" name="모서리가 둥근 직사각형 152"/>
          <p:cNvSpPr/>
          <p:nvPr/>
        </p:nvSpPr>
        <p:spPr>
          <a:xfrm>
            <a:off x="5238729" y="5465052"/>
            <a:ext cx="174955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정산</a:t>
            </a:r>
            <a:endParaRPr lang="ko-KR" altLang="en-US" dirty="0">
              <a:solidFill>
                <a:schemeClr val="tx1"/>
              </a:solidFill>
            </a:endParaRPr>
          </a:p>
        </p:txBody>
      </p:sp>
      <p:cxnSp>
        <p:nvCxnSpPr>
          <p:cNvPr id="155" name="직선 화살표 연결선 154"/>
          <p:cNvCxnSpPr>
            <a:stCxn id="18" idx="1"/>
            <a:endCxn id="153" idx="3"/>
          </p:cNvCxnSpPr>
          <p:nvPr/>
        </p:nvCxnSpPr>
        <p:spPr>
          <a:xfrm flipH="1">
            <a:off x="6988284" y="5764015"/>
            <a:ext cx="62233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9" name="직선 화살표 연결선 158"/>
          <p:cNvCxnSpPr>
            <a:stCxn id="152" idx="3"/>
            <a:endCxn id="17" idx="1"/>
          </p:cNvCxnSpPr>
          <p:nvPr/>
        </p:nvCxnSpPr>
        <p:spPr>
          <a:xfrm>
            <a:off x="6949095" y="756380"/>
            <a:ext cx="661526"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모서리가 둥근 직사각형 32"/>
          <p:cNvSpPr/>
          <p:nvPr/>
        </p:nvSpPr>
        <p:spPr>
          <a:xfrm>
            <a:off x="1361625" y="2729959"/>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002060"/>
                </a:solidFill>
              </a:rPr>
              <a:t>목표</a:t>
            </a:r>
            <a:endParaRPr lang="en-US" altLang="ko-KR" dirty="0" smtClean="0">
              <a:solidFill>
                <a:srgbClr val="002060"/>
              </a:solidFill>
            </a:endParaRPr>
          </a:p>
        </p:txBody>
      </p:sp>
      <p:sp>
        <p:nvSpPr>
          <p:cNvPr id="35" name="모서리가 둥근 직사각형 34"/>
          <p:cNvSpPr/>
          <p:nvPr/>
        </p:nvSpPr>
        <p:spPr>
          <a:xfrm>
            <a:off x="1361625" y="4261081"/>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FF0000"/>
                </a:solidFill>
              </a:rPr>
              <a:t>실패</a:t>
            </a:r>
            <a:endParaRPr lang="en-US" altLang="ko-KR" dirty="0" smtClean="0">
              <a:solidFill>
                <a:srgbClr val="FF0000"/>
              </a:solidFill>
            </a:endParaRPr>
          </a:p>
        </p:txBody>
      </p:sp>
      <p:sp>
        <p:nvSpPr>
          <p:cNvPr id="37" name="TextBox 36"/>
          <p:cNvSpPr txBox="1"/>
          <p:nvPr/>
        </p:nvSpPr>
        <p:spPr>
          <a:xfrm>
            <a:off x="2416481" y="2825422"/>
            <a:ext cx="2347248" cy="507831"/>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최심부</a:t>
            </a: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클리어</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8" name="TextBox 37"/>
          <p:cNvSpPr txBox="1"/>
          <p:nvPr/>
        </p:nvSpPr>
        <p:spPr>
          <a:xfrm>
            <a:off x="2416481" y="4410990"/>
            <a:ext cx="2053210" cy="454292"/>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사망</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25</a:t>
            </a:fld>
            <a:endParaRPr lang="ko-KR" altLang="en-US" sz="1800" dirty="0"/>
          </a:p>
        </p:txBody>
      </p:sp>
    </p:spTree>
    <p:extLst>
      <p:ext uri="{BB962C8B-B14F-4D97-AF65-F5344CB8AC3E}">
        <p14:creationId xmlns:p14="http://schemas.microsoft.com/office/powerpoint/2010/main" val="22494002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탐험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03203" y="1596326"/>
            <a:ext cx="5604329" cy="4524315"/>
          </a:xfrm>
          <a:prstGeom prst="rect">
            <a:avLst/>
          </a:prstGeom>
          <a:noFill/>
        </p:spPr>
        <p:txBody>
          <a:bodyPr wrap="square" rtlCol="0">
            <a:spAutoFit/>
          </a:bodyPr>
          <a:lstStyle/>
          <a:p>
            <a:r>
              <a:rPr lang="en-US" altLang="ko-KR" sz="2400" dirty="0" smtClean="0"/>
              <a:t>• </a:t>
            </a:r>
            <a:r>
              <a:rPr lang="ko-KR" altLang="ko-KR" sz="2400" dirty="0" smtClean="0"/>
              <a:t>플레이</a:t>
            </a:r>
            <a:r>
              <a:rPr lang="ko-KR" altLang="en-US" sz="2400" dirty="0" smtClean="0"/>
              <a:t>어가 캐릭터를 선택하면 탐험이 시작된다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던전은 입구부터 </a:t>
            </a:r>
            <a:r>
              <a:rPr lang="ko-KR" altLang="en-US" sz="2400" dirty="0" err="1" smtClean="0"/>
              <a:t>최심부까지</a:t>
            </a:r>
            <a:r>
              <a:rPr lang="ko-KR" altLang="en-US" sz="2400" dirty="0" smtClean="0"/>
              <a:t> 이어져있으며</a:t>
            </a:r>
            <a:r>
              <a:rPr lang="en-US" altLang="ko-KR" sz="2400" dirty="0" smtClean="0"/>
              <a:t>, </a:t>
            </a:r>
            <a:r>
              <a:rPr lang="ko-KR" altLang="en-US" sz="2400" dirty="0" smtClean="0"/>
              <a:t>한 번에 하나의 방을 탐험할 수 있다</a:t>
            </a:r>
            <a:r>
              <a:rPr lang="en-US" altLang="ko-KR" sz="2400" dirty="0" smtClean="0"/>
              <a:t>.</a:t>
            </a:r>
            <a:endParaRPr lang="en-US" altLang="ko-KR" sz="2400" dirty="0" smtClean="0"/>
          </a:p>
          <a:p>
            <a:endParaRPr lang="en-US" altLang="ko-KR" sz="2400" dirty="0" smtClean="0"/>
          </a:p>
          <a:p>
            <a:r>
              <a:rPr lang="en-US" altLang="ko-KR" sz="2400" dirty="0"/>
              <a:t>• </a:t>
            </a:r>
            <a:r>
              <a:rPr lang="ko-KR" altLang="en-US" sz="2400" dirty="0"/>
              <a:t>한번 클리어한 방을 다시 클리어할 수는 없다</a:t>
            </a:r>
            <a:r>
              <a:rPr lang="en-US" altLang="ko-KR" sz="2400" dirty="0" smtClean="0"/>
              <a:t>.</a:t>
            </a:r>
            <a:endParaRPr lang="en-US" altLang="ko-KR" sz="2400" dirty="0"/>
          </a:p>
          <a:p>
            <a:r>
              <a:rPr lang="en-US" altLang="ko-KR" sz="2400" dirty="0"/>
              <a:t/>
            </a:r>
            <a:br>
              <a:rPr lang="en-US" altLang="ko-KR" sz="2400" dirty="0"/>
            </a:br>
            <a:r>
              <a:rPr lang="en-US" altLang="ko-KR" sz="2400" dirty="0"/>
              <a:t>•</a:t>
            </a:r>
            <a:r>
              <a:rPr lang="en-US" altLang="ko-KR" sz="2400" dirty="0" smtClean="0"/>
              <a:t> </a:t>
            </a:r>
            <a:r>
              <a:rPr lang="ko-KR" altLang="en-US" sz="2400" dirty="0" smtClean="0"/>
              <a:t>던전의 </a:t>
            </a:r>
            <a:r>
              <a:rPr lang="ko-KR" altLang="en-US" sz="2400" dirty="0" err="1" smtClean="0"/>
              <a:t>최심부를</a:t>
            </a:r>
            <a:r>
              <a:rPr lang="ko-KR" altLang="en-US" sz="2400" dirty="0" smtClean="0"/>
              <a:t> 클리어하는 것이 목표이다</a:t>
            </a:r>
            <a:r>
              <a:rPr lang="en-US" altLang="ko-KR" sz="2400" dirty="0" smtClean="0"/>
              <a:t>.</a:t>
            </a:r>
            <a:endParaRPr lang="en-US" altLang="ko-KR" sz="2400" dirty="0" smtClean="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26</a:t>
            </a:fld>
            <a:endParaRPr lang="ko-KR" altLang="en-US" sz="1800" dirty="0"/>
          </a:p>
        </p:txBody>
      </p:sp>
      <p:pic>
        <p:nvPicPr>
          <p:cNvPr id="3" name="그림 2"/>
          <p:cNvPicPr>
            <a:picLocks noChangeAspect="1"/>
          </p:cNvPicPr>
          <p:nvPr/>
        </p:nvPicPr>
        <p:blipFill>
          <a:blip r:embed="rId2"/>
          <a:stretch>
            <a:fillRect/>
          </a:stretch>
        </p:blipFill>
        <p:spPr>
          <a:xfrm>
            <a:off x="6095999" y="1849971"/>
            <a:ext cx="5836845" cy="3278361"/>
          </a:xfrm>
          <a:prstGeom prst="rect">
            <a:avLst/>
          </a:prstGeom>
        </p:spPr>
      </p:pic>
      <p:sp>
        <p:nvSpPr>
          <p:cNvPr id="9" name="TextBox 8"/>
          <p:cNvSpPr txBox="1"/>
          <p:nvPr/>
        </p:nvSpPr>
        <p:spPr>
          <a:xfrm>
            <a:off x="8075717" y="5128332"/>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813370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54909" y="1340223"/>
            <a:ext cx="5039181" cy="2677656"/>
          </a:xfrm>
          <a:prstGeom prst="rect">
            <a:avLst/>
          </a:prstGeom>
          <a:noFill/>
        </p:spPr>
        <p:txBody>
          <a:bodyPr wrap="square" rtlCol="0">
            <a:spAutoFit/>
          </a:bodyPr>
          <a:lstStyle/>
          <a:p>
            <a:r>
              <a:rPr lang="en-US" altLang="ko-KR" sz="2400" dirty="0"/>
              <a:t>• </a:t>
            </a:r>
            <a:r>
              <a:rPr lang="ko-KR" altLang="en-US" sz="2400" dirty="0" smtClean="0"/>
              <a:t>아군 캐릭터와 적 몬스터의 최대 </a:t>
            </a:r>
            <a:r>
              <a:rPr lang="en-US" altLang="ko-KR" sz="2400" dirty="0" smtClean="0"/>
              <a:t>4:4 </a:t>
            </a:r>
            <a:r>
              <a:rPr lang="ko-KR" altLang="en-US" sz="2400" dirty="0" smtClean="0"/>
              <a:t>전투로 진행된다</a:t>
            </a:r>
            <a:r>
              <a:rPr lang="en-US" altLang="ko-KR" sz="2400" dirty="0" smtClean="0"/>
              <a:t>.</a:t>
            </a:r>
            <a:endParaRPr lang="en-US" altLang="ko-KR" sz="2400" dirty="0" smtClean="0"/>
          </a:p>
          <a:p>
            <a:r>
              <a:rPr lang="en-US" altLang="ko-KR" sz="2400" dirty="0" smtClean="0"/>
              <a:t/>
            </a:r>
            <a:br>
              <a:rPr lang="en-US" altLang="ko-KR" sz="2400" dirty="0" smtClean="0"/>
            </a:br>
            <a:r>
              <a:rPr lang="en-US" altLang="ko-KR" sz="2400" dirty="0"/>
              <a:t>• </a:t>
            </a:r>
            <a:r>
              <a:rPr lang="ko-KR" altLang="en-US" sz="2400" dirty="0" smtClean="0"/>
              <a:t>아군부터</a:t>
            </a:r>
            <a:r>
              <a:rPr lang="en-US" altLang="ko-KR" sz="2400" dirty="0" smtClean="0"/>
              <a:t>, </a:t>
            </a:r>
            <a:r>
              <a:rPr lang="ko-KR" altLang="en-US" sz="2400" dirty="0" smtClean="0"/>
              <a:t>가장 왼쪽 캐릭터부터  시작하여</a:t>
            </a:r>
            <a:r>
              <a:rPr lang="en-US" altLang="ko-KR" sz="2400" dirty="0" smtClean="0"/>
              <a:t>, </a:t>
            </a:r>
            <a:r>
              <a:rPr lang="ko-KR" altLang="en-US" sz="2400" dirty="0" smtClean="0"/>
              <a:t>차례대로 </a:t>
            </a:r>
            <a:r>
              <a:rPr lang="ko-KR" altLang="en-US" sz="2400" dirty="0" smtClean="0"/>
              <a:t>한 진영의 모든 캐릭터가 행동을 마치면 차례가 넘어간다</a:t>
            </a:r>
            <a:r>
              <a:rPr lang="en-US" altLang="ko-KR" sz="2400" dirty="0" smtClean="0"/>
              <a:t>.</a:t>
            </a:r>
            <a:endParaRPr lang="en-US"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27</a:t>
            </a:fld>
            <a:endParaRPr lang="ko-KR" altLang="en-US" sz="1800" dirty="0"/>
          </a:p>
        </p:txBody>
      </p:sp>
      <p:pic>
        <p:nvPicPr>
          <p:cNvPr id="1026" name="Picture 2" descr="https://steamcdn-a.akamaihd.net/steam/apps/503560/ss_ec620eea4998f7ad180bf5b762ea606830c1af2f.600x338.jpg?t=15318411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1812752"/>
            <a:ext cx="5715000" cy="320992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8014795" y="50256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7</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97007944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육</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성</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35480" y="1559202"/>
            <a:ext cx="5642809" cy="3416320"/>
          </a:xfrm>
          <a:prstGeom prst="rect">
            <a:avLst/>
          </a:prstGeom>
          <a:noFill/>
        </p:spPr>
        <p:txBody>
          <a:bodyPr wrap="square" rtlCol="0">
            <a:spAutoFit/>
          </a:bodyPr>
          <a:lstStyle/>
          <a:p>
            <a:r>
              <a:rPr lang="en-US" altLang="ko-KR" sz="2400" dirty="0"/>
              <a:t>• </a:t>
            </a:r>
            <a:r>
              <a:rPr lang="ko-KR" altLang="en-US" sz="2400" dirty="0" smtClean="0"/>
              <a:t>아군 캐릭터들은 전투를 통해 경험치를 획득하고</a:t>
            </a:r>
            <a:r>
              <a:rPr lang="en-US" altLang="ko-KR" sz="2400" dirty="0" smtClean="0"/>
              <a:t>, </a:t>
            </a:r>
            <a:r>
              <a:rPr lang="ko-KR" altLang="en-US" sz="2400" dirty="0" smtClean="0"/>
              <a:t>일정한 경험치를 만족하면 </a:t>
            </a:r>
            <a:r>
              <a:rPr lang="ko-KR" altLang="en-US" sz="2400" dirty="0" err="1" smtClean="0"/>
              <a:t>레벨업</a:t>
            </a:r>
            <a:r>
              <a:rPr lang="ko-KR" altLang="en-US" sz="2400" dirty="0" smtClean="0"/>
              <a:t> 하여 성장합니다</a:t>
            </a:r>
            <a:r>
              <a:rPr lang="en-US" altLang="ko-KR" sz="2400" dirty="0" smtClean="0"/>
              <a:t>.</a:t>
            </a:r>
            <a:endParaRPr lang="en-US" altLang="ko-KR" sz="2400" dirty="0" smtClean="0"/>
          </a:p>
          <a:p>
            <a:r>
              <a:rPr lang="en-US" altLang="ko-KR" sz="2400" dirty="0"/>
              <a:t/>
            </a:r>
            <a:br>
              <a:rPr lang="en-US" altLang="ko-KR" sz="2400" dirty="0"/>
            </a:br>
            <a:r>
              <a:rPr lang="en-US" altLang="ko-KR" sz="2400" dirty="0"/>
              <a:t>• </a:t>
            </a:r>
            <a:r>
              <a:rPr lang="ko-KR" altLang="en-US" sz="2400" dirty="0" smtClean="0"/>
              <a:t>동일한 몬스터를 재료로 사용하여 특정 몬스터를 강화할 수 있습니다</a:t>
            </a:r>
            <a:r>
              <a:rPr lang="en-US" altLang="ko-KR" sz="2400" dirty="0" smtClean="0"/>
              <a:t>.</a:t>
            </a:r>
            <a:endParaRPr lang="en-US" altLang="ko-KR" sz="2400" dirty="0" smtClean="0"/>
          </a:p>
          <a:p>
            <a:endParaRPr lang="en-US" altLang="ko-KR" sz="2400" dirty="0"/>
          </a:p>
          <a:p>
            <a:r>
              <a:rPr lang="en-US" altLang="ko-KR" sz="2400" dirty="0"/>
              <a:t>• </a:t>
            </a:r>
            <a:r>
              <a:rPr lang="ko-KR" altLang="en-US" sz="2400" dirty="0" smtClean="0"/>
              <a:t>캐릭터에게 아이템을 </a:t>
            </a:r>
            <a:r>
              <a:rPr lang="ko-KR" altLang="en-US" sz="2400" dirty="0" err="1" smtClean="0"/>
              <a:t>장비시켜</a:t>
            </a:r>
            <a:r>
              <a:rPr lang="ko-KR" altLang="en-US" sz="2400" dirty="0" smtClean="0"/>
              <a:t> 능력을 향상시킬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28</a:t>
            </a:fld>
            <a:endParaRPr lang="ko-KR" altLang="en-US" sz="1800" dirty="0"/>
          </a:p>
        </p:txBody>
      </p:sp>
      <p:pic>
        <p:nvPicPr>
          <p:cNvPr id="5" name="그림 4"/>
          <p:cNvPicPr>
            <a:picLocks noChangeAspect="1"/>
          </p:cNvPicPr>
          <p:nvPr/>
        </p:nvPicPr>
        <p:blipFill>
          <a:blip r:embed="rId2"/>
          <a:stretch>
            <a:fillRect/>
          </a:stretch>
        </p:blipFill>
        <p:spPr>
          <a:xfrm>
            <a:off x="6076949" y="1844063"/>
            <a:ext cx="5715000" cy="3209925"/>
          </a:xfrm>
          <a:prstGeom prst="rect">
            <a:avLst/>
          </a:prstGeom>
        </p:spPr>
      </p:pic>
      <p:sp>
        <p:nvSpPr>
          <p:cNvPr id="12" name="TextBox 11"/>
          <p:cNvSpPr txBox="1"/>
          <p:nvPr/>
        </p:nvSpPr>
        <p:spPr>
          <a:xfrm>
            <a:off x="7995745" y="5041298"/>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8</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6910295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41305" y="1894220"/>
            <a:ext cx="4845051" cy="3785652"/>
          </a:xfrm>
          <a:prstGeom prst="rect">
            <a:avLst/>
          </a:prstGeom>
          <a:noFill/>
        </p:spPr>
        <p:txBody>
          <a:bodyPr wrap="square" rtlCol="0">
            <a:spAutoFit/>
          </a:bodyPr>
          <a:lstStyle/>
          <a:p>
            <a:r>
              <a:rPr lang="en-US" altLang="ko-KR" sz="2400" dirty="0"/>
              <a:t>•</a:t>
            </a:r>
            <a:r>
              <a:rPr lang="en-US" altLang="ko-KR" sz="2400" dirty="0" smtClean="0"/>
              <a:t> </a:t>
            </a:r>
            <a:r>
              <a:rPr lang="ko-KR" altLang="en-US" sz="2400" dirty="0" smtClean="0"/>
              <a:t>캐릭터와 몬스터가 가진 능력과 스킬을 활용하여 다양한 전략을 사용할 수 있습니다</a:t>
            </a:r>
            <a:r>
              <a:rPr lang="en-US" altLang="ko-KR" sz="2400" dirty="0" smtClean="0"/>
              <a:t>.</a:t>
            </a:r>
          </a:p>
          <a:p>
            <a:endParaRPr lang="en-US" altLang="ko-KR" sz="2400" dirty="0"/>
          </a:p>
          <a:p>
            <a:r>
              <a:rPr lang="en-US" altLang="ko-KR" sz="2400" dirty="0"/>
              <a:t>•</a:t>
            </a:r>
            <a:r>
              <a:rPr lang="en-US" altLang="ko-KR" sz="2400" dirty="0" smtClean="0"/>
              <a:t> </a:t>
            </a:r>
            <a:r>
              <a:rPr lang="ko-KR" altLang="en-US" sz="2400" dirty="0" smtClean="0"/>
              <a:t>아이템으로 아군의 장점을 살리고 약점을 커버할 수 있습니다</a:t>
            </a:r>
            <a:r>
              <a:rPr lang="en-US" altLang="ko-KR" sz="2400" dirty="0" smtClean="0"/>
              <a:t>.</a:t>
            </a:r>
            <a:endParaRPr lang="en-US" altLang="ko-KR" sz="2400" dirty="0"/>
          </a:p>
          <a:p>
            <a:pPr marL="285750" indent="-285750">
              <a:buFontTx/>
              <a:buChar char="-"/>
            </a:pPr>
            <a:endParaRPr lang="en-US" altLang="ko-KR" sz="2400" dirty="0"/>
          </a:p>
          <a:p>
            <a:r>
              <a:rPr lang="en-US" altLang="ko-KR" sz="2400" dirty="0" smtClean="0"/>
              <a:t>• </a:t>
            </a:r>
            <a:r>
              <a:rPr lang="ko-KR" altLang="en-US" sz="2400" dirty="0" smtClean="0"/>
              <a:t>아군과 적의 상성을 파악하여 원하는 조합을 편성하고 전술을 펼칠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29</a:t>
            </a:fld>
            <a:endParaRPr lang="ko-KR" altLang="en-US" sz="1800" dirty="0"/>
          </a:p>
        </p:txBody>
      </p:sp>
      <p:pic>
        <p:nvPicPr>
          <p:cNvPr id="3" name="그림 2"/>
          <p:cNvPicPr>
            <a:picLocks noChangeAspect="1"/>
          </p:cNvPicPr>
          <p:nvPr/>
        </p:nvPicPr>
        <p:blipFill>
          <a:blip r:embed="rId2"/>
          <a:stretch>
            <a:fillRect/>
          </a:stretch>
        </p:blipFill>
        <p:spPr>
          <a:xfrm>
            <a:off x="6000750" y="1850852"/>
            <a:ext cx="5715000" cy="3209925"/>
          </a:xfrm>
          <a:prstGeom prst="rect">
            <a:avLst/>
          </a:prstGeom>
        </p:spPr>
      </p:pic>
      <p:sp>
        <p:nvSpPr>
          <p:cNvPr id="9" name="TextBox 8"/>
          <p:cNvSpPr txBox="1"/>
          <p:nvPr/>
        </p:nvSpPr>
        <p:spPr>
          <a:xfrm>
            <a:off x="7919546" y="50637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4" name="TextBox 13"/>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전략과 조합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6181141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기말 기획서 제작 계획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990973" y="771996"/>
            <a:ext cx="4210049"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세부 </a:t>
            </a:r>
            <a:r>
              <a:rPr lang="ko-KR" altLang="en-US" sz="3200" b="1" dirty="0">
                <a:gradFill>
                  <a:gsLst>
                    <a:gs pos="0">
                      <a:schemeClr val="tx1"/>
                    </a:gs>
                    <a:gs pos="100000">
                      <a:schemeClr val="tx1"/>
                    </a:gs>
                  </a:gsLst>
                  <a:lin ang="5400000" scaled="1"/>
                </a:gradFill>
                <a:latin typeface="맑은 고딕" panose="020B0503020000020004" pitchFamily="50" charset="-127"/>
              </a:rPr>
              <a:t>기획 </a:t>
            </a:r>
            <a:r>
              <a:rPr lang="ko-KR" altLang="en-US" sz="3200" b="1" dirty="0" smtClean="0">
                <a:gradFill>
                  <a:gsLst>
                    <a:gs pos="0">
                      <a:schemeClr val="tx1"/>
                    </a:gs>
                    <a:gs pos="100000">
                      <a:schemeClr val="tx1"/>
                    </a:gs>
                  </a:gsLst>
                  <a:lin ang="5400000" scaled="1"/>
                </a:gradFill>
                <a:latin typeface="맑은 고딕" panose="020B0503020000020004" pitchFamily="50" charset="-127"/>
              </a:rPr>
              <a:t>컨텐츠</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4" y="1392603"/>
            <a:ext cx="10869388" cy="4909036"/>
          </a:xfrm>
          <a:prstGeom prst="rect">
            <a:avLst/>
          </a:prstGeom>
          <a:noFill/>
        </p:spPr>
        <p:txBody>
          <a:bodyPr wrap="square" rtlCol="0">
            <a:spAutoFit/>
          </a:bodyPr>
          <a:lstStyle/>
          <a:p>
            <a:r>
              <a:rPr lang="ko-KR" altLang="ko-KR" sz="2000" u="sng" dirty="0" smtClean="0"/>
              <a:t>게임 </a:t>
            </a:r>
            <a:r>
              <a:rPr lang="ko-KR" altLang="ko-KR" sz="2000" u="sng" dirty="0"/>
              <a:t>플레이 파트</a:t>
            </a:r>
            <a:r>
              <a:rPr lang="en-US" altLang="ko-KR" sz="2000" u="sng" dirty="0"/>
              <a:t>, </a:t>
            </a:r>
            <a:r>
              <a:rPr lang="ko-KR" altLang="ko-KR" sz="2000" u="sng" dirty="0"/>
              <a:t>그 중에서 상황실 지휘와 현장 출동 부분을 세부 기획 컨텐츠로 설정한다</a:t>
            </a:r>
            <a:r>
              <a:rPr lang="en-US" altLang="ko-KR" sz="2000" u="sng" dirty="0" smtClean="0"/>
              <a:t>.</a:t>
            </a:r>
            <a:br>
              <a:rPr lang="en-US" altLang="ko-KR" sz="2000" u="sng" dirty="0" smtClean="0"/>
            </a:br>
            <a:r>
              <a:rPr lang="en-US" altLang="ko-KR" sz="1100" u="sng" dirty="0" smtClean="0"/>
              <a:t/>
            </a:r>
            <a:br>
              <a:rPr lang="en-US" altLang="ko-KR" sz="1100" u="sng" dirty="0" smtClean="0"/>
            </a:br>
            <a:r>
              <a:rPr lang="ko-KR" altLang="ko-KR" sz="2000" u="sng" dirty="0" smtClean="0"/>
              <a:t>이벤트의 </a:t>
            </a:r>
            <a:r>
              <a:rPr lang="ko-KR" altLang="ko-KR" sz="2000" u="sng" dirty="0"/>
              <a:t>발생과 플레이어의 선택</a:t>
            </a:r>
            <a:r>
              <a:rPr lang="en-US" altLang="ko-KR" sz="2000" u="sng" dirty="0"/>
              <a:t>, </a:t>
            </a:r>
            <a:r>
              <a:rPr lang="ko-KR" altLang="ko-KR" sz="2000" u="sng" dirty="0"/>
              <a:t>그리고 그 선택이 미치는 영향에 초점을 두어 기획한다</a:t>
            </a:r>
            <a:r>
              <a:rPr lang="en-US" altLang="ko-KR" sz="2000" dirty="0" smtClean="0"/>
              <a:t>.</a:t>
            </a:r>
            <a:r>
              <a:rPr lang="en-US" altLang="ko-KR" dirty="0" smtClean="0"/>
              <a:t/>
            </a:r>
            <a:br>
              <a:rPr lang="en-US" altLang="ko-KR" dirty="0" smtClean="0"/>
            </a:br>
            <a:r>
              <a:rPr lang="en-US" altLang="ko-KR" dirty="0" smtClean="0"/>
              <a:t/>
            </a:r>
            <a:br>
              <a:rPr lang="en-US" altLang="ko-KR" dirty="0" smtClean="0"/>
            </a:br>
            <a:r>
              <a:rPr lang="en-US" altLang="ko-KR" sz="2000" dirty="0"/>
              <a:t>• </a:t>
            </a:r>
            <a:r>
              <a:rPr lang="ko-KR" altLang="en-US" sz="2000" dirty="0" smtClean="0"/>
              <a:t>사건</a:t>
            </a:r>
            <a:r>
              <a:rPr lang="en-US" altLang="ko-KR" sz="2000" dirty="0" smtClean="0"/>
              <a:t>, </a:t>
            </a:r>
            <a:r>
              <a:rPr lang="ko-KR" altLang="en-US" sz="2000" dirty="0" smtClean="0"/>
              <a:t>사고</a:t>
            </a:r>
            <a:r>
              <a:rPr lang="en-US" altLang="ko-KR" sz="2000" dirty="0" smtClean="0"/>
              <a:t>, </a:t>
            </a:r>
            <a:r>
              <a:rPr lang="ko-KR" altLang="en-US" sz="2000" dirty="0" smtClean="0"/>
              <a:t>범죄 등 게임 내 업무와 이벤트의 유형을 선별하여 설정하고</a:t>
            </a:r>
            <a:r>
              <a:rPr lang="en-US" altLang="ko-KR" sz="2000" dirty="0" smtClean="0"/>
              <a:t/>
            </a:r>
            <a:br>
              <a:rPr lang="en-US" altLang="ko-KR" sz="2000" dirty="0" smtClean="0"/>
            </a:br>
            <a:r>
              <a:rPr lang="en-US" altLang="ko-KR" sz="2000" dirty="0" smtClean="0"/>
              <a:t>  </a:t>
            </a:r>
            <a:r>
              <a:rPr lang="ko-KR" altLang="en-US" sz="2000" dirty="0" smtClean="0"/>
              <a:t>규모와 종류</a:t>
            </a:r>
            <a:r>
              <a:rPr lang="en-US" altLang="ko-KR" sz="2000" dirty="0" smtClean="0"/>
              <a:t>, </a:t>
            </a:r>
            <a:r>
              <a:rPr lang="ko-KR" altLang="en-US" sz="2000" dirty="0" smtClean="0"/>
              <a:t>위험도</a:t>
            </a:r>
            <a:r>
              <a:rPr lang="en-US" altLang="ko-KR" sz="2000" dirty="0" smtClean="0"/>
              <a:t>, </a:t>
            </a:r>
            <a:r>
              <a:rPr lang="ko-KR" altLang="en-US" sz="2000" dirty="0" smtClean="0"/>
              <a:t>중요도 등에 따른 해결 방식과 결과 처리 방법을 기획한다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플레이어의 행동과 선택에서 특성의 능력을 반영하는 방법을 기획한다</a:t>
            </a:r>
            <a:r>
              <a:rPr lang="en-US" altLang="ko-KR" sz="2000" dirty="0" smtClean="0"/>
              <a:t>.</a:t>
            </a:r>
          </a:p>
          <a:p>
            <a:r>
              <a:rPr lang="en-US" altLang="ko-KR" sz="2000" dirty="0" smtClean="0"/>
              <a:t/>
            </a:r>
            <a:br>
              <a:rPr lang="en-US" altLang="ko-KR" sz="2000" dirty="0" smtClean="0"/>
            </a:br>
            <a:r>
              <a:rPr lang="en-US" altLang="ko-KR" sz="2000" dirty="0"/>
              <a:t>• </a:t>
            </a:r>
            <a:r>
              <a:rPr lang="ko-KR" altLang="en-US" sz="2000" dirty="0" smtClean="0"/>
              <a:t>지휘</a:t>
            </a:r>
            <a:r>
              <a:rPr lang="en-US" altLang="ko-KR" sz="2000" dirty="0" smtClean="0"/>
              <a:t>(</a:t>
            </a:r>
            <a:r>
              <a:rPr lang="ko-KR" altLang="en-US" sz="2000" dirty="0" smtClean="0"/>
              <a:t>인력 배치</a:t>
            </a:r>
            <a:r>
              <a:rPr lang="en-US" altLang="ko-KR" sz="2000" dirty="0" smtClean="0"/>
              <a:t>)</a:t>
            </a:r>
            <a:r>
              <a:rPr lang="ko-KR" altLang="en-US" sz="2000" dirty="0" smtClean="0"/>
              <a:t> 시 배치한 병력의 능력</a:t>
            </a:r>
            <a:r>
              <a:rPr lang="en-US" altLang="ko-KR" sz="2000" dirty="0" smtClean="0"/>
              <a:t>, </a:t>
            </a:r>
            <a:r>
              <a:rPr lang="ko-KR" altLang="en-US" sz="2000" dirty="0" smtClean="0"/>
              <a:t>인원수에 따라 다른 결과 처리 방법을 설정한다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지휘</a:t>
            </a:r>
            <a:r>
              <a:rPr lang="en-US" altLang="ko-KR" sz="2000" dirty="0" smtClean="0"/>
              <a:t>(</a:t>
            </a:r>
            <a:r>
              <a:rPr lang="ko-KR" altLang="en-US" sz="2000" dirty="0" smtClean="0"/>
              <a:t>자원 배치</a:t>
            </a:r>
            <a:r>
              <a:rPr lang="en-US" altLang="ko-KR" sz="2000" dirty="0" smtClean="0"/>
              <a:t>) </a:t>
            </a:r>
            <a:r>
              <a:rPr lang="ko-KR" altLang="en-US" sz="2000" dirty="0" smtClean="0"/>
              <a:t>시 배치한 자원의 종류와 규모에 따라 다른 결과 처리 방법을 설정한다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출동</a:t>
            </a:r>
            <a:r>
              <a:rPr lang="en-US" altLang="ko-KR" sz="2000" dirty="0"/>
              <a:t> </a:t>
            </a:r>
            <a:r>
              <a:rPr lang="ko-KR" altLang="en-US" sz="2000" dirty="0" smtClean="0"/>
              <a:t>시</a:t>
            </a:r>
            <a:r>
              <a:rPr lang="en-US" altLang="ko-KR" sz="2000" dirty="0"/>
              <a:t> </a:t>
            </a:r>
            <a:r>
              <a:rPr lang="ko-KR" altLang="en-US" sz="2000" dirty="0" smtClean="0"/>
              <a:t>소지한 도구 아이템에 따라 다른 결과 처리 방법을 설정한다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출동 시 상황에 따라 플레이어의 행동 선택지를 제시하는 방법을 기획한다</a:t>
            </a: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30</a:t>
            </a:fld>
            <a:endParaRPr lang="ko-KR" altLang="en-US" sz="1800" dirty="0"/>
          </a:p>
        </p:txBody>
      </p:sp>
    </p:spTree>
    <p:extLst>
      <p:ext uri="{BB962C8B-B14F-4D97-AF65-F5344CB8AC3E}">
        <p14:creationId xmlns:p14="http://schemas.microsoft.com/office/powerpoint/2010/main" val="36537436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기말 기획서 제작 계획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089296" y="797899"/>
            <a:ext cx="2127705"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보완점</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5" y="1539074"/>
            <a:ext cx="10869388" cy="4462760"/>
          </a:xfrm>
          <a:prstGeom prst="rect">
            <a:avLst/>
          </a:prstGeom>
          <a:noFill/>
        </p:spPr>
        <p:txBody>
          <a:bodyPr wrap="square" rtlCol="0">
            <a:spAutoFit/>
          </a:bodyPr>
          <a:lstStyle/>
          <a:p>
            <a:r>
              <a:rPr lang="en-US" altLang="ko-KR" sz="2000" dirty="0"/>
              <a:t>• </a:t>
            </a:r>
            <a:r>
              <a:rPr lang="ko-KR" altLang="ko-KR" sz="2000" dirty="0" smtClean="0"/>
              <a:t>구체적인 </a:t>
            </a:r>
            <a:r>
              <a:rPr lang="ko-KR" altLang="en-US" sz="2000" dirty="0" smtClean="0"/>
              <a:t>그래픽 </a:t>
            </a:r>
            <a:r>
              <a:rPr lang="ko-KR" altLang="en-US" sz="2000" dirty="0" err="1" smtClean="0"/>
              <a:t>컨셉과</a:t>
            </a:r>
            <a:r>
              <a:rPr lang="ko-KR" altLang="en-US" sz="2000" dirty="0" smtClean="0"/>
              <a:t> </a:t>
            </a:r>
            <a:r>
              <a:rPr lang="ko-KR" altLang="ko-KR" sz="2000" dirty="0" smtClean="0"/>
              <a:t>레벨 디자인</a:t>
            </a:r>
            <a:r>
              <a:rPr lang="en-US" altLang="ko-KR" sz="2000" dirty="0"/>
              <a:t>,</a:t>
            </a:r>
            <a:r>
              <a:rPr lang="ko-KR" altLang="en-US" sz="2000" dirty="0" smtClean="0"/>
              <a:t> </a:t>
            </a:r>
            <a:r>
              <a:rPr lang="en-US" altLang="ko-KR" sz="2000" dirty="0" smtClean="0"/>
              <a:t>UI</a:t>
            </a:r>
            <a:r>
              <a:rPr lang="ko-KR" altLang="ko-KR" sz="2000" dirty="0" smtClean="0"/>
              <a:t>에 </a:t>
            </a:r>
            <a:r>
              <a:rPr lang="ko-KR" altLang="ko-KR" sz="2000" dirty="0"/>
              <a:t>대한 </a:t>
            </a:r>
            <a:r>
              <a:rPr lang="ko-KR" altLang="ko-KR" sz="2000" dirty="0" smtClean="0"/>
              <a:t>기획</a:t>
            </a:r>
            <a:r>
              <a:rPr lang="ko-KR" altLang="en-US" sz="2000" dirty="0" smtClean="0"/>
              <a:t>의 빈약함</a:t>
            </a:r>
            <a:endParaRPr lang="en-US" altLang="ko-KR" sz="2000" dirty="0" smtClean="0"/>
          </a:p>
          <a:p>
            <a:r>
              <a:rPr lang="en-US" altLang="ko-KR" sz="2000" dirty="0" smtClean="0"/>
              <a:t> └&gt; </a:t>
            </a:r>
            <a:r>
              <a:rPr lang="ko-KR" altLang="en-US" sz="2000" dirty="0" smtClean="0"/>
              <a:t>레벨 디자인과 </a:t>
            </a:r>
            <a:r>
              <a:rPr lang="en-US" altLang="ko-KR" sz="2000" dirty="0" smtClean="0"/>
              <a:t>UI</a:t>
            </a:r>
            <a:r>
              <a:rPr lang="ko-KR" altLang="en-US" sz="2000" dirty="0" smtClean="0"/>
              <a:t>에 대한 기획을 통해 그래픽 </a:t>
            </a:r>
            <a:r>
              <a:rPr lang="ko-KR" altLang="en-US" sz="2000" dirty="0" err="1" smtClean="0"/>
              <a:t>컨셉을</a:t>
            </a:r>
            <a:r>
              <a:rPr lang="ko-KR" altLang="en-US" sz="2000" dirty="0" smtClean="0"/>
              <a:t> 밝히고 </a:t>
            </a:r>
            <a:r>
              <a:rPr lang="ko-KR" altLang="en-US" sz="2000" dirty="0" err="1" smtClean="0"/>
              <a:t>직관성을</a:t>
            </a:r>
            <a:r>
              <a:rPr lang="ko-KR" altLang="en-US" sz="2000" dirty="0" smtClean="0"/>
              <a:t> 높여야 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ko-KR" sz="2000" dirty="0" smtClean="0"/>
              <a:t>수사 </a:t>
            </a:r>
            <a:r>
              <a:rPr lang="ko-KR" altLang="ko-KR" sz="2000" dirty="0"/>
              <a:t>과정을 표현한 것이 단순한 스킬 체크 방식이었던 </a:t>
            </a:r>
            <a:r>
              <a:rPr lang="ko-KR" altLang="en-US" sz="2000" dirty="0"/>
              <a:t>점</a:t>
            </a:r>
            <a:endParaRPr lang="en-US" altLang="ko-KR" sz="2000" dirty="0" smtClean="0"/>
          </a:p>
          <a:p>
            <a:r>
              <a:rPr lang="en-US" altLang="ko-KR" sz="2000" dirty="0" smtClean="0"/>
              <a:t> └&gt; </a:t>
            </a:r>
            <a:r>
              <a:rPr lang="ko-KR" altLang="en-US" sz="2000" dirty="0" smtClean="0"/>
              <a:t>너무 어렵지 않으면서도 긴장감을 줄 수 있는 다양한 미니게임 고안이 필요하다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시스템 요소들의 구체적인 수치에 대한 기획이 전무</a:t>
            </a:r>
            <a:endParaRPr lang="en-US" altLang="ko-KR" sz="2000" dirty="0" smtClean="0"/>
          </a:p>
          <a:p>
            <a:r>
              <a:rPr lang="en-US" altLang="ko-KR" sz="2000" dirty="0" smtClean="0"/>
              <a:t> </a:t>
            </a:r>
            <a:r>
              <a:rPr lang="en-US" altLang="ko-KR" sz="2000" dirty="0"/>
              <a:t>└</a:t>
            </a:r>
            <a:r>
              <a:rPr lang="en-US" altLang="ko-KR" sz="2000" dirty="0" smtClean="0"/>
              <a:t>&gt; </a:t>
            </a:r>
            <a:r>
              <a:rPr lang="ko-KR" altLang="en-US" sz="2000" dirty="0" err="1" smtClean="0"/>
              <a:t>범죄율</a:t>
            </a:r>
            <a:r>
              <a:rPr lang="en-US" altLang="ko-KR" sz="2000" dirty="0" smtClean="0"/>
              <a:t>, </a:t>
            </a:r>
            <a:r>
              <a:rPr lang="ko-KR" altLang="en-US" sz="2000" dirty="0" smtClean="0"/>
              <a:t>명성</a:t>
            </a:r>
            <a:r>
              <a:rPr lang="en-US" altLang="ko-KR" sz="2000" dirty="0" smtClean="0"/>
              <a:t>, </a:t>
            </a:r>
            <a:r>
              <a:rPr lang="ko-KR" altLang="en-US" sz="2000" dirty="0" smtClean="0"/>
              <a:t>자금</a:t>
            </a:r>
            <a:r>
              <a:rPr lang="en-US" altLang="ko-KR" sz="2000" dirty="0" smtClean="0"/>
              <a:t>(</a:t>
            </a:r>
            <a:r>
              <a:rPr lang="ko-KR" altLang="en-US" sz="2000" dirty="0" smtClean="0"/>
              <a:t>가격</a:t>
            </a:r>
            <a:r>
              <a:rPr lang="en-US" altLang="ko-KR" sz="2000" dirty="0" smtClean="0"/>
              <a:t>) </a:t>
            </a:r>
            <a:r>
              <a:rPr lang="ko-KR" altLang="en-US" sz="2000" dirty="0" smtClean="0"/>
              <a:t>등에 대한 밸런스 디자인이 요구된다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선택 요소들과 </a:t>
            </a:r>
            <a:r>
              <a:rPr lang="ko-KR" altLang="ko-KR" sz="2000" dirty="0" smtClean="0"/>
              <a:t>이벤트 소개</a:t>
            </a:r>
            <a:r>
              <a:rPr lang="ko-KR" altLang="en-US" sz="2000" dirty="0" smtClean="0"/>
              <a:t>의 모호함</a:t>
            </a:r>
            <a:endParaRPr lang="en-US" altLang="ko-KR" sz="2000" dirty="0" smtClean="0"/>
          </a:p>
          <a:p>
            <a:r>
              <a:rPr lang="en-US" altLang="ko-KR" sz="2000" dirty="0" smtClean="0"/>
              <a:t> └</a:t>
            </a:r>
            <a:r>
              <a:rPr lang="en-US" altLang="ko-KR" sz="2000" dirty="0"/>
              <a:t>&gt; </a:t>
            </a:r>
            <a:r>
              <a:rPr lang="ko-KR" altLang="en-US" sz="2000" dirty="0" smtClean="0"/>
              <a:t>핵심 선택 요소들과 특수 이벤트들을 간추려 구체적으로 제시할 필요가 있다</a:t>
            </a:r>
            <a:r>
              <a:rPr lang="en-US" altLang="ko-KR" sz="2000" dirty="0"/>
              <a:t>.</a:t>
            </a:r>
            <a:br>
              <a:rPr lang="en-US" altLang="ko-KR" sz="2000" dirty="0"/>
            </a:br>
            <a:r>
              <a:rPr lang="en-US" altLang="ko-KR" sz="2000" dirty="0"/>
              <a:t/>
            </a:r>
            <a:br>
              <a:rPr lang="en-US" altLang="ko-KR" sz="2000" dirty="0"/>
            </a:br>
            <a:r>
              <a:rPr lang="en-US" altLang="ko-KR" sz="2000" dirty="0"/>
              <a:t>• </a:t>
            </a:r>
            <a:r>
              <a:rPr lang="ko-KR" altLang="en-US" sz="2000" dirty="0" smtClean="0"/>
              <a:t>게임 플레이에 더욱 몰입할 수 있는 요소가 부족</a:t>
            </a:r>
            <a:endParaRPr lang="en-US" altLang="ko-KR" sz="2000" dirty="0"/>
          </a:p>
          <a:p>
            <a:r>
              <a:rPr lang="en-US" altLang="ko-KR" sz="2000" dirty="0"/>
              <a:t> └&gt; </a:t>
            </a:r>
            <a:r>
              <a:rPr lang="ko-KR" altLang="en-US" sz="2000" dirty="0" smtClean="0"/>
              <a:t>도전과제처럼 게이머의 도전 정신을 불러일으킬 수 있는 </a:t>
            </a:r>
            <a:r>
              <a:rPr lang="ko-KR" altLang="en-US" sz="2000" dirty="0" err="1" smtClean="0"/>
              <a:t>컨텐츠를</a:t>
            </a:r>
            <a:r>
              <a:rPr lang="ko-KR" altLang="en-US" sz="2000" dirty="0" smtClean="0"/>
              <a:t> 추가해야 한다</a:t>
            </a: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31</a:t>
            </a:fld>
            <a:endParaRPr lang="ko-KR" altLang="en-US" sz="1800" dirty="0"/>
          </a:p>
        </p:txBody>
      </p:sp>
    </p:spTree>
    <p:extLst>
      <p:ext uri="{BB962C8B-B14F-4D97-AF65-F5344CB8AC3E}">
        <p14:creationId xmlns:p14="http://schemas.microsoft.com/office/powerpoint/2010/main" val="23974087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코멘트</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100636" y="765119"/>
            <a:ext cx="1990726"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코멘트</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5" y="1451419"/>
            <a:ext cx="10869388" cy="4893647"/>
          </a:xfrm>
          <a:prstGeom prst="rect">
            <a:avLst/>
          </a:prstGeom>
          <a:noFill/>
        </p:spPr>
        <p:txBody>
          <a:bodyPr wrap="square" rtlCol="0">
            <a:spAutoFit/>
          </a:bodyPr>
          <a:lstStyle/>
          <a:p>
            <a:r>
              <a:rPr lang="en-US" altLang="ko-KR" dirty="0"/>
              <a:t>•</a:t>
            </a:r>
            <a:r>
              <a:rPr lang="en-US" altLang="ko-KR" dirty="0" smtClean="0"/>
              <a:t> </a:t>
            </a:r>
            <a:r>
              <a:rPr lang="ko-KR" altLang="ko-KR" dirty="0" smtClean="0"/>
              <a:t>초기에는 </a:t>
            </a:r>
            <a:r>
              <a:rPr lang="en-US" altLang="ko-KR" dirty="0"/>
              <a:t>3D </a:t>
            </a:r>
            <a:r>
              <a:rPr lang="ko-KR" altLang="ko-KR" dirty="0"/>
              <a:t>시뮬레이션 게임을 생각했으나</a:t>
            </a:r>
            <a:r>
              <a:rPr lang="en-US" altLang="ko-KR" dirty="0"/>
              <a:t>, </a:t>
            </a:r>
            <a:r>
              <a:rPr lang="ko-KR" altLang="ko-KR" dirty="0"/>
              <a:t>차후 기획 단계에서의 </a:t>
            </a:r>
            <a:r>
              <a:rPr lang="ko-KR" altLang="ko-KR" dirty="0" smtClean="0"/>
              <a:t>어려움과</a:t>
            </a:r>
            <a:r>
              <a:rPr lang="en-US" altLang="ko-KR" dirty="0" smtClean="0"/>
              <a:t/>
            </a:r>
            <a:br>
              <a:rPr lang="en-US" altLang="ko-KR" dirty="0" smtClean="0"/>
            </a:br>
            <a:r>
              <a:rPr lang="en-US" altLang="ko-KR" dirty="0" smtClean="0"/>
              <a:t>  2D </a:t>
            </a:r>
            <a:r>
              <a:rPr lang="ko-KR" altLang="ko-KR" dirty="0"/>
              <a:t>게임 기획에 대한 흥미로 인해 작성 도중 </a:t>
            </a:r>
            <a:r>
              <a:rPr lang="en-US" altLang="ko-KR" dirty="0"/>
              <a:t>2D </a:t>
            </a:r>
            <a:r>
              <a:rPr lang="ko-KR" altLang="ko-KR" dirty="0"/>
              <a:t>시뮬레이션 게임으로 장르를 변경했다</a:t>
            </a:r>
            <a:r>
              <a:rPr lang="en-US" altLang="ko-KR" dirty="0" smtClean="0"/>
              <a:t>.</a:t>
            </a:r>
          </a:p>
          <a:p>
            <a:r>
              <a:rPr lang="en-US" altLang="ko-KR" dirty="0" smtClean="0"/>
              <a:t/>
            </a:r>
            <a:br>
              <a:rPr lang="en-US" altLang="ko-KR" dirty="0" smtClean="0"/>
            </a:br>
            <a:r>
              <a:rPr lang="en-US" altLang="ko-KR" dirty="0"/>
              <a:t>•</a:t>
            </a:r>
            <a:r>
              <a:rPr lang="en-US" altLang="ko-KR" dirty="0" smtClean="0"/>
              <a:t> </a:t>
            </a:r>
            <a:r>
              <a:rPr lang="ko-KR" altLang="ko-KR" dirty="0"/>
              <a:t>목차를 만드는 데에 있어 제안서의 단계를 넘어 과도하게 세부적으로 나눠 작성한 것을</a:t>
            </a:r>
            <a:r>
              <a:rPr lang="en-US" altLang="ko-KR" dirty="0"/>
              <a:t>, </a:t>
            </a:r>
            <a:r>
              <a:rPr lang="en-US" altLang="ko-KR" dirty="0" smtClean="0"/>
              <a:t/>
            </a:r>
            <a:br>
              <a:rPr lang="en-US" altLang="ko-KR" dirty="0" smtClean="0"/>
            </a:br>
            <a:r>
              <a:rPr lang="en-US" altLang="ko-KR" dirty="0" smtClean="0"/>
              <a:t>  </a:t>
            </a:r>
            <a:r>
              <a:rPr lang="ko-KR" altLang="ko-KR" dirty="0" smtClean="0"/>
              <a:t>카테고리 </a:t>
            </a:r>
            <a:r>
              <a:rPr lang="ko-KR" altLang="ko-KR" dirty="0"/>
              <a:t>분류를 크게 잡아 간소화했다</a:t>
            </a:r>
            <a:r>
              <a:rPr lang="en-US" altLang="ko-KR" dirty="0" smtClean="0"/>
              <a:t>.</a:t>
            </a:r>
            <a:br>
              <a:rPr lang="en-US" altLang="ko-KR" dirty="0" smtClean="0"/>
            </a:br>
            <a:r>
              <a:rPr lang="en-US" altLang="ko-KR" dirty="0" smtClean="0"/>
              <a:t/>
            </a:r>
            <a:br>
              <a:rPr lang="en-US" altLang="ko-KR" dirty="0" smtClean="0"/>
            </a:br>
            <a:r>
              <a:rPr lang="en-US" altLang="ko-KR" dirty="0"/>
              <a:t>•</a:t>
            </a:r>
            <a:r>
              <a:rPr lang="en-US" altLang="ko-KR" dirty="0" smtClean="0"/>
              <a:t> </a:t>
            </a:r>
            <a:r>
              <a:rPr lang="ko-KR" altLang="ko-KR" dirty="0"/>
              <a:t>목차를 간소화함에 따라</a:t>
            </a:r>
            <a:r>
              <a:rPr lang="en-US" altLang="ko-KR" dirty="0"/>
              <a:t>, </a:t>
            </a:r>
            <a:r>
              <a:rPr lang="ko-KR" altLang="en-US" dirty="0" smtClean="0"/>
              <a:t>기존에 </a:t>
            </a:r>
            <a:r>
              <a:rPr lang="ko-KR" altLang="ko-KR" dirty="0" smtClean="0"/>
              <a:t>작성했던 </a:t>
            </a:r>
            <a:r>
              <a:rPr lang="ko-KR" altLang="ko-KR" dirty="0"/>
              <a:t>게임 플레이 내용을 목차에 맞게 </a:t>
            </a:r>
            <a:r>
              <a:rPr lang="ko-KR" altLang="ko-KR" dirty="0" smtClean="0"/>
              <a:t>재배치하고</a:t>
            </a:r>
            <a:r>
              <a:rPr lang="en-US" altLang="ko-KR" dirty="0" smtClean="0"/>
              <a:t> </a:t>
            </a:r>
            <a:r>
              <a:rPr lang="ko-KR" altLang="ko-KR" dirty="0" smtClean="0"/>
              <a:t>수정했다</a:t>
            </a:r>
            <a:r>
              <a:rPr lang="en-US" altLang="ko-KR" dirty="0" smtClean="0"/>
              <a:t>.</a:t>
            </a:r>
            <a:br>
              <a:rPr lang="en-US" altLang="ko-KR" dirty="0" smtClean="0"/>
            </a:br>
            <a:r>
              <a:rPr lang="en-US" altLang="ko-KR" dirty="0" smtClean="0"/>
              <a:t/>
            </a:r>
            <a:br>
              <a:rPr lang="en-US" altLang="ko-KR" dirty="0" smtClean="0"/>
            </a:br>
            <a:r>
              <a:rPr lang="en-US" altLang="ko-KR" dirty="0"/>
              <a:t>•</a:t>
            </a:r>
            <a:r>
              <a:rPr lang="en-US" altLang="ko-KR" dirty="0" smtClean="0"/>
              <a:t> </a:t>
            </a:r>
            <a:r>
              <a:rPr lang="ko-KR" altLang="ko-KR" dirty="0"/>
              <a:t>게임 개요와 사항 등을 작성할 때</a:t>
            </a:r>
            <a:r>
              <a:rPr lang="en-US" altLang="ko-KR" dirty="0"/>
              <a:t>, </a:t>
            </a:r>
            <a:r>
              <a:rPr lang="ko-KR" altLang="ko-KR" dirty="0"/>
              <a:t>처음에 단순한 산문으로 서술했던 정보를 </a:t>
            </a:r>
            <a:endParaRPr lang="en-US" altLang="ko-KR" dirty="0" smtClean="0"/>
          </a:p>
          <a:p>
            <a:r>
              <a:rPr lang="en-US" altLang="ko-KR" dirty="0"/>
              <a:t> </a:t>
            </a:r>
            <a:r>
              <a:rPr lang="en-US" altLang="ko-KR" dirty="0" smtClean="0"/>
              <a:t> </a:t>
            </a:r>
            <a:r>
              <a:rPr lang="ko-KR" altLang="ko-KR" dirty="0" smtClean="0"/>
              <a:t>표 </a:t>
            </a:r>
            <a:r>
              <a:rPr lang="ko-KR" altLang="ko-KR" dirty="0"/>
              <a:t>그리기를 통해 </a:t>
            </a:r>
            <a:r>
              <a:rPr lang="ko-KR" altLang="ko-KR" dirty="0" err="1"/>
              <a:t>도표화하여</a:t>
            </a:r>
            <a:r>
              <a:rPr lang="ko-KR" altLang="ko-KR" dirty="0"/>
              <a:t> </a:t>
            </a:r>
            <a:r>
              <a:rPr lang="ko-KR" altLang="ko-KR" dirty="0" err="1"/>
              <a:t>가독성을</a:t>
            </a:r>
            <a:r>
              <a:rPr lang="ko-KR" altLang="ko-KR" dirty="0"/>
              <a:t> 높였다</a:t>
            </a:r>
            <a:r>
              <a:rPr lang="en-US" altLang="ko-KR" dirty="0" smtClean="0"/>
              <a:t>.</a:t>
            </a:r>
            <a:r>
              <a:rPr lang="en-US" altLang="ko-KR" dirty="0"/>
              <a:t/>
            </a:r>
            <a:br>
              <a:rPr lang="en-US" altLang="ko-KR" dirty="0"/>
            </a:br>
            <a:r>
              <a:rPr lang="en-US" altLang="ko-KR" dirty="0" smtClean="0"/>
              <a:t/>
            </a:r>
            <a:br>
              <a:rPr lang="en-US" altLang="ko-KR" dirty="0" smtClean="0"/>
            </a:br>
            <a:r>
              <a:rPr lang="en-US" altLang="ko-KR" dirty="0"/>
              <a:t>•</a:t>
            </a:r>
            <a:r>
              <a:rPr lang="en-US" altLang="ko-KR" dirty="0" smtClean="0"/>
              <a:t> ‘</a:t>
            </a:r>
            <a:r>
              <a:rPr lang="ko-KR" altLang="en-US" dirty="0" smtClean="0"/>
              <a:t>게임 플레이</a:t>
            </a:r>
            <a:r>
              <a:rPr lang="en-US" altLang="ko-KR" dirty="0" smtClean="0"/>
              <a:t>’</a:t>
            </a:r>
            <a:r>
              <a:rPr lang="ko-KR" altLang="en-US" dirty="0" smtClean="0"/>
              <a:t> 파트와 </a:t>
            </a:r>
            <a:r>
              <a:rPr lang="en-US" altLang="ko-KR" dirty="0" smtClean="0"/>
              <a:t>‘</a:t>
            </a:r>
            <a:r>
              <a:rPr lang="ko-KR" altLang="en-US" dirty="0" smtClean="0"/>
              <a:t>플레이어의 선택</a:t>
            </a:r>
            <a:r>
              <a:rPr lang="en-US" altLang="ko-KR" dirty="0" smtClean="0"/>
              <a:t>‘ </a:t>
            </a:r>
            <a:r>
              <a:rPr lang="ko-KR" altLang="en-US" dirty="0" smtClean="0"/>
              <a:t>파트에서 내용이 겹치거나 중복으로 </a:t>
            </a:r>
            <a:r>
              <a:rPr lang="en-US" altLang="ko-KR" dirty="0" smtClean="0"/>
              <a:t/>
            </a:r>
            <a:br>
              <a:rPr lang="en-US" altLang="ko-KR" dirty="0" smtClean="0"/>
            </a:br>
            <a:r>
              <a:rPr lang="en-US" altLang="ko-KR" dirty="0" smtClean="0"/>
              <a:t>  </a:t>
            </a:r>
            <a:r>
              <a:rPr lang="ko-KR" altLang="en-US" dirty="0" smtClean="0"/>
              <a:t>설명된 부분을</a:t>
            </a:r>
            <a:r>
              <a:rPr lang="en-US" altLang="ko-KR" dirty="0" smtClean="0"/>
              <a:t>, </a:t>
            </a:r>
            <a:r>
              <a:rPr lang="ko-KR" altLang="en-US" dirty="0" smtClean="0"/>
              <a:t>기초적이고 원론적인 내용은 게임 플레이 파트로</a:t>
            </a:r>
            <a:r>
              <a:rPr lang="en-US" altLang="ko-KR" dirty="0" smtClean="0"/>
              <a:t>, </a:t>
            </a:r>
            <a:r>
              <a:rPr lang="ko-KR" altLang="en-US" dirty="0" smtClean="0"/>
              <a:t>구체적이고</a:t>
            </a:r>
            <a:r>
              <a:rPr lang="en-US" altLang="ko-KR" dirty="0" smtClean="0"/>
              <a:t/>
            </a:r>
            <a:br>
              <a:rPr lang="en-US" altLang="ko-KR" dirty="0" smtClean="0"/>
            </a:br>
            <a:r>
              <a:rPr lang="en-US" altLang="ko-KR" dirty="0" smtClean="0"/>
              <a:t> </a:t>
            </a:r>
            <a:r>
              <a:rPr lang="ko-KR" altLang="en-US" dirty="0" smtClean="0"/>
              <a:t> 중요한 내용은 플레이어의 선택 파트로</a:t>
            </a:r>
            <a:r>
              <a:rPr lang="en-US" altLang="ko-KR" dirty="0" smtClean="0"/>
              <a:t> </a:t>
            </a:r>
            <a:r>
              <a:rPr lang="ko-KR" altLang="en-US" dirty="0" smtClean="0"/>
              <a:t>분리하여 정리했다</a:t>
            </a:r>
            <a:r>
              <a:rPr lang="en-US" altLang="ko-KR" dirty="0" smtClean="0"/>
              <a:t>.</a:t>
            </a:r>
          </a:p>
          <a:p>
            <a:endParaRPr lang="en-US" altLang="ko-KR" dirty="0"/>
          </a:p>
          <a:p>
            <a:r>
              <a:rPr lang="en-US" altLang="ko-KR" dirty="0"/>
              <a:t>•</a:t>
            </a:r>
            <a:r>
              <a:rPr lang="en-US" altLang="ko-KR" dirty="0" smtClean="0"/>
              <a:t> </a:t>
            </a:r>
            <a:r>
              <a:rPr lang="ko-KR" altLang="en-US" dirty="0" smtClean="0"/>
              <a:t>슬라이드 쇼로 검토해보니 한 슬라이드에 글자와 내용이 너무 많은 감이 있어</a:t>
            </a:r>
            <a:r>
              <a:rPr lang="en-US" altLang="ko-KR" dirty="0" smtClean="0"/>
              <a:t>,</a:t>
            </a:r>
            <a:br>
              <a:rPr lang="en-US" altLang="ko-KR" dirty="0" smtClean="0"/>
            </a:br>
            <a:r>
              <a:rPr lang="en-US" altLang="ko-KR" dirty="0" smtClean="0"/>
              <a:t>  </a:t>
            </a:r>
            <a:r>
              <a:rPr lang="ko-KR" altLang="en-US" dirty="0" smtClean="0"/>
              <a:t>한 챕터의 내용을 </a:t>
            </a:r>
            <a:r>
              <a:rPr lang="en-US" altLang="ko-KR" dirty="0" smtClean="0"/>
              <a:t>2</a:t>
            </a:r>
            <a:r>
              <a:rPr lang="ko-KR" altLang="en-US" dirty="0" smtClean="0"/>
              <a:t>개의 슬라이드에 나눠서 담았다</a:t>
            </a:r>
            <a:r>
              <a:rPr lang="en-US" altLang="ko-KR" dirty="0" smtClean="0"/>
              <a:t>.</a:t>
            </a:r>
            <a:endParaRPr lang="ko-KR" altLang="ko-KR"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32</a:t>
            </a:fld>
            <a:endParaRPr lang="ko-KR" altLang="en-US" dirty="0"/>
          </a:p>
        </p:txBody>
      </p:sp>
    </p:spTree>
    <p:extLst>
      <p:ext uri="{BB962C8B-B14F-4D97-AF65-F5344CB8AC3E}">
        <p14:creationId xmlns:p14="http://schemas.microsoft.com/office/powerpoint/2010/main" val="15218788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후기</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537425" y="782334"/>
            <a:ext cx="1597933"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후기</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6" y="1529390"/>
            <a:ext cx="10869388" cy="4747453"/>
          </a:xfrm>
          <a:prstGeom prst="rect">
            <a:avLst/>
          </a:prstGeom>
          <a:noFill/>
        </p:spPr>
        <p:txBody>
          <a:bodyPr wrap="square" rtlCol="0">
            <a:spAutoFit/>
          </a:bodyPr>
          <a:lstStyle/>
          <a:p>
            <a:r>
              <a:rPr lang="en-US" altLang="ko-KR" dirty="0"/>
              <a:t>•</a:t>
            </a:r>
            <a:r>
              <a:rPr lang="en-US" altLang="ko-KR" dirty="0" smtClean="0"/>
              <a:t> </a:t>
            </a:r>
            <a:r>
              <a:rPr lang="ko-KR" altLang="en-US" dirty="0" smtClean="0"/>
              <a:t>역시 </a:t>
            </a:r>
            <a:r>
              <a:rPr lang="ko-KR" altLang="ko-KR" dirty="0" smtClean="0"/>
              <a:t>머리 </a:t>
            </a:r>
            <a:r>
              <a:rPr lang="ko-KR" altLang="ko-KR" dirty="0"/>
              <a:t>속에서 깔끔하고 확고하게 정립이 안된 아이디어는 </a:t>
            </a:r>
            <a:r>
              <a:rPr lang="ko-KR" altLang="ko-KR" dirty="0" smtClean="0"/>
              <a:t>실패한다</a:t>
            </a:r>
            <a:r>
              <a:rPr lang="en-US" altLang="ko-KR" dirty="0" smtClean="0"/>
              <a:t>.</a:t>
            </a:r>
            <a:br>
              <a:rPr lang="en-US" altLang="ko-KR" dirty="0" smtClean="0"/>
            </a:br>
            <a:r>
              <a:rPr lang="en-US" altLang="ko-KR" sz="1100" dirty="0" smtClean="0"/>
              <a:t/>
            </a:r>
            <a:br>
              <a:rPr lang="en-US" altLang="ko-KR" sz="1100" dirty="0" smtClean="0"/>
            </a:br>
            <a:r>
              <a:rPr lang="en-US" altLang="ko-KR" dirty="0"/>
              <a:t>•</a:t>
            </a:r>
            <a:r>
              <a:rPr lang="en-US" altLang="ko-KR" dirty="0" smtClean="0"/>
              <a:t> </a:t>
            </a:r>
            <a:r>
              <a:rPr lang="ko-KR" altLang="en-US" dirty="0" smtClean="0"/>
              <a:t>왜 게임회사에서 실제로 기획 단계에서 자꾸 뒤집어 엎고 다시 시작하는 것을 반복하는 지 알 것 같다</a:t>
            </a:r>
            <a:r>
              <a:rPr lang="en-US" altLang="ko-KR" dirty="0" smtClean="0"/>
              <a:t>.</a:t>
            </a:r>
            <a:br>
              <a:rPr lang="en-US" altLang="ko-KR" dirty="0" smtClean="0"/>
            </a:br>
            <a:r>
              <a:rPr lang="en-US" altLang="ko-KR" sz="1050" dirty="0" smtClean="0"/>
              <a:t/>
            </a:r>
            <a:br>
              <a:rPr lang="en-US" altLang="ko-KR" sz="1050" dirty="0" smtClean="0"/>
            </a:br>
            <a:r>
              <a:rPr lang="en-US" altLang="ko-KR" dirty="0"/>
              <a:t>•</a:t>
            </a:r>
            <a:r>
              <a:rPr lang="en-US" altLang="ko-KR" dirty="0" smtClean="0"/>
              <a:t> </a:t>
            </a:r>
            <a:r>
              <a:rPr lang="ko-KR" altLang="en-US" dirty="0" smtClean="0"/>
              <a:t>만드는</a:t>
            </a:r>
            <a:r>
              <a:rPr lang="ko-KR" altLang="ko-KR" dirty="0" smtClean="0"/>
              <a:t> </a:t>
            </a:r>
            <a:r>
              <a:rPr lang="ko-KR" altLang="ko-KR" dirty="0"/>
              <a:t>내내 </a:t>
            </a:r>
            <a:r>
              <a:rPr lang="en-US" altLang="ko-KR" dirty="0"/>
              <a:t>‘</a:t>
            </a:r>
            <a:r>
              <a:rPr lang="ko-KR" altLang="ko-KR" dirty="0"/>
              <a:t>이렇게 하는 게 더 나은 것 같은데</a:t>
            </a:r>
            <a:r>
              <a:rPr lang="en-US" altLang="ko-KR" dirty="0"/>
              <a:t>’, ‘</a:t>
            </a:r>
            <a:r>
              <a:rPr lang="ko-KR" altLang="ko-KR" dirty="0"/>
              <a:t>이건 좀 아닌가</a:t>
            </a:r>
            <a:r>
              <a:rPr lang="en-US" altLang="ko-KR" dirty="0"/>
              <a:t>?’ </a:t>
            </a:r>
            <a:r>
              <a:rPr lang="ko-KR" altLang="ko-KR" dirty="0"/>
              <a:t>같은 잡생각이 들고 </a:t>
            </a:r>
            <a:r>
              <a:rPr lang="en-US" altLang="ko-KR" dirty="0" smtClean="0"/>
              <a:t/>
            </a:r>
            <a:br>
              <a:rPr lang="en-US" altLang="ko-KR" dirty="0" smtClean="0"/>
            </a:br>
            <a:r>
              <a:rPr lang="en-US" altLang="ko-KR" dirty="0" smtClean="0"/>
              <a:t>  </a:t>
            </a:r>
            <a:r>
              <a:rPr lang="ko-KR" altLang="en-US" dirty="0" smtClean="0"/>
              <a:t>계속해서</a:t>
            </a:r>
            <a:r>
              <a:rPr lang="ko-KR" altLang="ko-KR" dirty="0" smtClean="0"/>
              <a:t> </a:t>
            </a:r>
            <a:r>
              <a:rPr lang="ko-KR" altLang="ko-KR" dirty="0"/>
              <a:t>미숙한 부분과 수정사항들이 눈에 </a:t>
            </a:r>
            <a:r>
              <a:rPr lang="ko-KR" altLang="ko-KR" dirty="0" smtClean="0"/>
              <a:t>밟</a:t>
            </a:r>
            <a:r>
              <a:rPr lang="ko-KR" altLang="en-US" dirty="0" smtClean="0"/>
              <a:t>힌다</a:t>
            </a:r>
            <a:r>
              <a:rPr lang="en-US" altLang="ko-KR" dirty="0" smtClean="0"/>
              <a:t>. </a:t>
            </a:r>
            <a:r>
              <a:rPr lang="ko-KR" altLang="ko-KR" dirty="0" smtClean="0"/>
              <a:t>어</a:t>
            </a:r>
            <a:r>
              <a:rPr lang="ko-KR" altLang="en-US" dirty="0" smtClean="0"/>
              <a:t>렵다 어려워</a:t>
            </a:r>
            <a:r>
              <a:rPr lang="en-US" altLang="ko-KR" dirty="0" smtClean="0"/>
              <a:t>.</a:t>
            </a:r>
            <a:br>
              <a:rPr lang="en-US" altLang="ko-KR" dirty="0" smtClean="0"/>
            </a:br>
            <a:r>
              <a:rPr lang="en-US" altLang="ko-KR" sz="1100" dirty="0" smtClean="0"/>
              <a:t/>
            </a:r>
            <a:br>
              <a:rPr lang="en-US" altLang="ko-KR" sz="1100" dirty="0" smtClean="0"/>
            </a:br>
            <a:r>
              <a:rPr lang="en-US" altLang="ko-KR" dirty="0"/>
              <a:t>•</a:t>
            </a:r>
            <a:r>
              <a:rPr lang="en-US" altLang="ko-KR" dirty="0" smtClean="0"/>
              <a:t> </a:t>
            </a:r>
            <a:r>
              <a:rPr lang="ko-KR" altLang="en-US" dirty="0" err="1" smtClean="0"/>
              <a:t>배그</a:t>
            </a:r>
            <a:r>
              <a:rPr lang="ko-KR" altLang="en-US" dirty="0"/>
              <a:t> </a:t>
            </a:r>
            <a:r>
              <a:rPr lang="ko-KR" altLang="en-US" dirty="0" smtClean="0"/>
              <a:t>하고 싶다</a:t>
            </a:r>
            <a:r>
              <a:rPr lang="en-US" altLang="ko-KR" dirty="0" smtClean="0"/>
              <a:t>.</a:t>
            </a:r>
            <a:br>
              <a:rPr lang="en-US" altLang="ko-KR" dirty="0" smtClean="0"/>
            </a:br>
            <a:r>
              <a:rPr lang="en-US" altLang="ko-KR" sz="1100" dirty="0" smtClean="0"/>
              <a:t/>
            </a:r>
            <a:br>
              <a:rPr lang="en-US" altLang="ko-KR" sz="1100" dirty="0" smtClean="0"/>
            </a:br>
            <a:r>
              <a:rPr lang="en-US" altLang="ko-KR" dirty="0"/>
              <a:t>•</a:t>
            </a:r>
            <a:r>
              <a:rPr lang="en-US" altLang="ko-KR" dirty="0" smtClean="0"/>
              <a:t> </a:t>
            </a:r>
            <a:r>
              <a:rPr lang="ko-KR" altLang="en-US" dirty="0" smtClean="0"/>
              <a:t>치킨 먹고 싶다</a:t>
            </a:r>
            <a:r>
              <a:rPr lang="en-US" altLang="ko-KR" dirty="0" smtClean="0"/>
              <a:t>. </a:t>
            </a:r>
            <a:r>
              <a:rPr lang="ko-KR" altLang="en-US" dirty="0" smtClean="0"/>
              <a:t>특히 버팔로 윙</a:t>
            </a:r>
            <a:r>
              <a:rPr lang="en-US" altLang="ko-KR" dirty="0" smtClean="0"/>
              <a:t>.</a:t>
            </a:r>
            <a:br>
              <a:rPr lang="en-US" altLang="ko-KR" dirty="0" smtClean="0"/>
            </a:br>
            <a:r>
              <a:rPr lang="en-US" altLang="ko-KR" sz="1100" dirty="0" smtClean="0"/>
              <a:t/>
            </a:r>
            <a:br>
              <a:rPr lang="en-US" altLang="ko-KR" sz="1100" dirty="0" smtClean="0"/>
            </a:br>
            <a:r>
              <a:rPr lang="en-US" altLang="ko-KR" dirty="0"/>
              <a:t>•</a:t>
            </a:r>
            <a:r>
              <a:rPr lang="en-US" altLang="ko-KR" dirty="0" smtClean="0"/>
              <a:t> </a:t>
            </a:r>
            <a:r>
              <a:rPr lang="ko-KR" altLang="en-US" dirty="0" smtClean="0"/>
              <a:t>피자 먹고 싶다</a:t>
            </a:r>
            <a:r>
              <a:rPr lang="en-US" altLang="ko-KR" dirty="0" smtClean="0"/>
              <a:t>. </a:t>
            </a:r>
            <a:r>
              <a:rPr lang="ko-KR" altLang="en-US" dirty="0" smtClean="0"/>
              <a:t>특히 치즈 </a:t>
            </a:r>
            <a:r>
              <a:rPr lang="ko-KR" altLang="en-US" dirty="0" err="1" smtClean="0"/>
              <a:t>크러스트</a:t>
            </a:r>
            <a:r>
              <a:rPr lang="ko-KR" altLang="en-US" dirty="0" smtClean="0"/>
              <a:t> 피자</a:t>
            </a:r>
            <a:r>
              <a:rPr lang="en-US" altLang="ko-KR" dirty="0" smtClean="0"/>
              <a:t>.</a:t>
            </a:r>
            <a:br>
              <a:rPr lang="en-US" altLang="ko-KR" dirty="0" smtClean="0"/>
            </a:br>
            <a:r>
              <a:rPr lang="en-US" altLang="ko-KR" sz="1100" dirty="0" smtClean="0"/>
              <a:t/>
            </a:r>
            <a:br>
              <a:rPr lang="en-US" altLang="ko-KR" sz="1100" dirty="0" smtClean="0"/>
            </a:br>
            <a:r>
              <a:rPr lang="en-US" altLang="ko-KR" dirty="0"/>
              <a:t>•</a:t>
            </a:r>
            <a:r>
              <a:rPr lang="en-US" altLang="ko-KR" dirty="0" smtClean="0"/>
              <a:t> </a:t>
            </a:r>
            <a:r>
              <a:rPr lang="ko-KR" altLang="en-US" dirty="0" smtClean="0"/>
              <a:t>좀 얕본 거 같다</a:t>
            </a:r>
            <a:r>
              <a:rPr lang="en-US" altLang="ko-KR" dirty="0" smtClean="0"/>
              <a:t>. </a:t>
            </a:r>
            <a:r>
              <a:rPr lang="ko-KR" altLang="en-US" dirty="0" smtClean="0"/>
              <a:t>아무리 과제가 많다지만 </a:t>
            </a:r>
            <a:r>
              <a:rPr lang="en-US" altLang="ko-KR" dirty="0" smtClean="0"/>
              <a:t>‘</a:t>
            </a:r>
            <a:r>
              <a:rPr lang="ko-KR" altLang="en-US" dirty="0" smtClean="0"/>
              <a:t>잘 할 수 있겠지</a:t>
            </a:r>
            <a:r>
              <a:rPr lang="en-US" altLang="ko-KR" dirty="0" smtClean="0"/>
              <a:t>’ </a:t>
            </a:r>
            <a:r>
              <a:rPr lang="ko-KR" altLang="en-US" dirty="0" smtClean="0"/>
              <a:t>생각하고 계속 차일피일 미뤘다</a:t>
            </a:r>
            <a:r>
              <a:rPr lang="en-US" altLang="ko-KR" dirty="0" smtClean="0"/>
              <a:t>.</a:t>
            </a:r>
            <a:br>
              <a:rPr lang="en-US" altLang="ko-KR" dirty="0" smtClean="0"/>
            </a:br>
            <a:r>
              <a:rPr lang="en-US" altLang="ko-KR" sz="1100" dirty="0" smtClean="0"/>
              <a:t/>
            </a:r>
            <a:br>
              <a:rPr lang="en-US" altLang="ko-KR" sz="1100" dirty="0" smtClean="0"/>
            </a:br>
            <a:r>
              <a:rPr lang="en-US" altLang="ko-KR" dirty="0"/>
              <a:t>•</a:t>
            </a:r>
            <a:r>
              <a:rPr lang="en-US" altLang="ko-KR" dirty="0" smtClean="0"/>
              <a:t> </a:t>
            </a:r>
            <a:r>
              <a:rPr lang="ko-KR" altLang="en-US" dirty="0" smtClean="0"/>
              <a:t>수정을 하고 나면 연관된 부분도 다시 손 봐줘야 한다</a:t>
            </a:r>
            <a:r>
              <a:rPr lang="en-US" altLang="ko-KR" dirty="0" smtClean="0"/>
              <a:t>.  </a:t>
            </a:r>
            <a:r>
              <a:rPr lang="ko-KR" altLang="en-US" dirty="0" smtClean="0"/>
              <a:t>짜증난다</a:t>
            </a:r>
            <a:r>
              <a:rPr lang="en-US" altLang="ko-KR" dirty="0" smtClean="0"/>
              <a:t>.</a:t>
            </a:r>
            <a:br>
              <a:rPr lang="en-US" altLang="ko-KR" dirty="0" smtClean="0"/>
            </a:br>
            <a:r>
              <a:rPr lang="en-US" altLang="ko-KR" sz="1100" dirty="0" smtClean="0"/>
              <a:t/>
            </a:r>
            <a:br>
              <a:rPr lang="en-US" altLang="ko-KR" sz="1100" dirty="0" smtClean="0"/>
            </a:br>
            <a:r>
              <a:rPr lang="en-US" altLang="ko-KR" dirty="0"/>
              <a:t>•</a:t>
            </a:r>
            <a:r>
              <a:rPr lang="en-US" altLang="ko-KR" dirty="0" smtClean="0"/>
              <a:t> </a:t>
            </a:r>
            <a:r>
              <a:rPr lang="ko-KR" altLang="en-US" dirty="0" smtClean="0"/>
              <a:t>평소에 </a:t>
            </a:r>
            <a:r>
              <a:rPr lang="ko-KR" altLang="en-US" dirty="0" err="1" smtClean="0"/>
              <a:t>포토샵</a:t>
            </a:r>
            <a:r>
              <a:rPr lang="ko-KR" altLang="en-US" dirty="0" smtClean="0"/>
              <a:t> 같은 그래픽 부분을 좀 배워둘걸 그랬다</a:t>
            </a:r>
            <a:r>
              <a:rPr lang="en-US" altLang="ko-KR" dirty="0" smtClean="0"/>
              <a:t>. </a:t>
            </a:r>
            <a:r>
              <a:rPr lang="ko-KR" altLang="en-US" dirty="0" smtClean="0"/>
              <a:t>원하는 그림 찾는 거도 </a:t>
            </a:r>
            <a:r>
              <a:rPr lang="ko-KR" altLang="en-US" dirty="0" err="1" smtClean="0"/>
              <a:t>빡세다</a:t>
            </a:r>
            <a:r>
              <a:rPr lang="en-US" altLang="ko-KR" dirty="0" smtClean="0"/>
              <a:t>.</a:t>
            </a:r>
            <a:r>
              <a:rPr lang="en-US" altLang="ko-KR" dirty="0"/>
              <a:t/>
            </a:r>
            <a:br>
              <a:rPr lang="en-US" altLang="ko-KR" dirty="0"/>
            </a:br>
            <a:r>
              <a:rPr lang="en-US" altLang="ko-KR" sz="1100" dirty="0" smtClean="0"/>
              <a:t/>
            </a:r>
            <a:br>
              <a:rPr lang="en-US" altLang="ko-KR" sz="1100" dirty="0" smtClean="0"/>
            </a:br>
            <a:r>
              <a:rPr lang="en-US" altLang="ko-KR" dirty="0"/>
              <a:t>•</a:t>
            </a:r>
            <a:r>
              <a:rPr lang="en-US" altLang="ko-KR" dirty="0" smtClean="0"/>
              <a:t> </a:t>
            </a:r>
            <a:r>
              <a:rPr lang="ko-KR" altLang="en-US" dirty="0" smtClean="0"/>
              <a:t>인간의 욕심은 끝이 없고 같은 실수를 반복한다</a:t>
            </a:r>
            <a:r>
              <a:rPr lang="en-US" altLang="ko-KR" dirty="0" smtClean="0"/>
              <a:t>.</a:t>
            </a:r>
            <a:endParaRPr lang="ko-KR" altLang="ko-KR"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33</a:t>
            </a:fld>
            <a:endParaRPr lang="ko-KR" altLang="en-US" sz="1800" dirty="0"/>
          </a:p>
        </p:txBody>
      </p:sp>
    </p:spTree>
    <p:extLst>
      <p:ext uri="{BB962C8B-B14F-4D97-AF65-F5344CB8AC3E}">
        <p14:creationId xmlns:p14="http://schemas.microsoft.com/office/powerpoint/2010/main" val="11460016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1" y="1109945"/>
            <a:ext cx="11698516" cy="5440272"/>
          </a:xfrm>
          <a:prstGeom prst="rect">
            <a:avLst/>
          </a:prstGeom>
          <a:noFill/>
        </p:spPr>
        <p:txBody>
          <a:bodyPr wrap="square" rtlCol="0">
            <a:spAutoFit/>
          </a:bodyPr>
          <a:lstStyle/>
          <a:p>
            <a:pPr>
              <a:lnSpc>
                <a:spcPct val="150000"/>
              </a:lnSpc>
            </a:pPr>
            <a:r>
              <a:rPr lang="en-US" altLang="ko-KR" dirty="0" smtClean="0"/>
              <a:t>1-1) </a:t>
            </a:r>
            <a:r>
              <a:rPr lang="en-US" altLang="ko-KR" dirty="0">
                <a:hlinkClick r:id="rId2"/>
              </a:rPr>
              <a:t>http://</a:t>
            </a:r>
            <a:r>
              <a:rPr lang="en-US" altLang="ko-KR" dirty="0" smtClean="0">
                <a:hlinkClick r:id="rId2"/>
              </a:rPr>
              <a:t>itcm.co.kr/g_board/3361399</a:t>
            </a:r>
            <a:r>
              <a:rPr lang="en-US" altLang="ko-KR" dirty="0"/>
              <a:t> </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1-2</a:t>
            </a:r>
            <a:r>
              <a:rPr lang="en-US" altLang="ko-KR" dirty="0"/>
              <a:t>)</a:t>
            </a:r>
            <a:r>
              <a:rPr lang="en-US" altLang="ko-KR" dirty="0" smtClean="0"/>
              <a:t> </a:t>
            </a:r>
            <a:r>
              <a:rPr lang="en-US" altLang="ko-KR" dirty="0">
                <a:hlinkClick r:id="rId3"/>
              </a:rPr>
              <a:t>http://</a:t>
            </a:r>
            <a:r>
              <a:rPr lang="en-US" altLang="ko-KR" dirty="0" smtClean="0">
                <a:hlinkClick r:id="rId3"/>
              </a:rPr>
              <a:t>www.kookje.co.kr/news2011/asp/newsbody.asp?code=0400&amp;key=20180828.22013012447</a:t>
            </a:r>
            <a:endParaRPr lang="en-US" altLang="ko-KR" dirty="0" smtClean="0"/>
          </a:p>
          <a:p>
            <a:pPr>
              <a:lnSpc>
                <a:spcPct val="150000"/>
              </a:lnSpc>
            </a:pPr>
            <a:r>
              <a:rPr lang="en-US" altLang="ko-KR" dirty="0" smtClean="0"/>
              <a:t>2-1) </a:t>
            </a:r>
            <a:r>
              <a:rPr lang="en-US" altLang="ko-KR" dirty="0">
                <a:hlinkClick r:id="rId4"/>
              </a:rPr>
              <a:t>https://store.steampowered.com/app/208650/Batman_Arkham_Knight</a:t>
            </a:r>
            <a:r>
              <a:rPr lang="en-US" altLang="ko-KR" dirty="0" smtClean="0">
                <a:hlinkClick r:id="rId4"/>
              </a:rPr>
              <a:t>/</a:t>
            </a:r>
            <a:r>
              <a:rPr lang="en-US" altLang="ko-KR" dirty="0" smtClean="0"/>
              <a:t>  (2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-2) </a:t>
            </a:r>
            <a:r>
              <a:rPr lang="en-US" altLang="ko-KR" dirty="0">
                <a:hlinkClick r:id="rId5"/>
              </a:rPr>
              <a:t>https</a:t>
            </a:r>
            <a:r>
              <a:rPr lang="en-US" altLang="ko-KR" dirty="0" smtClean="0">
                <a:hlinkClick r:id="rId5"/>
              </a:rPr>
              <a:t>://post.naver.com/viewer/postView.nhn?volumeNo=5018435&amp;memberNo=1283967</a:t>
            </a:r>
            <a:r>
              <a:rPr lang="en-US" altLang="ko-KR" dirty="0" smtClean="0"/>
              <a:t> (7</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-3) </a:t>
            </a:r>
            <a:r>
              <a:rPr lang="en-US" altLang="ko-KR" dirty="0">
                <a:hlinkClick r:id="rId6"/>
              </a:rPr>
              <a:t>https://store.steampowered.com/app/503560/911_Operator</a:t>
            </a:r>
            <a:r>
              <a:rPr lang="en-US" altLang="ko-KR" dirty="0" smtClean="0">
                <a:hlinkClick r:id="rId6"/>
              </a:rPr>
              <a:t>/</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-4) </a:t>
            </a:r>
            <a:r>
              <a:rPr lang="en-US" altLang="ko-KR" dirty="0">
                <a:hlinkClick r:id="rId6"/>
              </a:rPr>
              <a:t>https://store.steampowered.com/app/503560/911_Operator/</a:t>
            </a:r>
            <a:r>
              <a:rPr lang="en-US" altLang="ko-KR" dirty="0"/>
              <a:t> </a:t>
            </a:r>
            <a:r>
              <a:rPr lang="en-US" altLang="ko-KR" dirty="0" smtClean="0"/>
              <a:t>(</a:t>
            </a:r>
            <a:r>
              <a:rPr lang="ko-KR" altLang="en-US" dirty="0" smtClean="0"/>
              <a:t>뒤에서 </a:t>
            </a:r>
            <a:r>
              <a:rPr lang="en-US" altLang="ko-KR" dirty="0" smtClean="0"/>
              <a:t>2</a:t>
            </a:r>
            <a:r>
              <a:rPr lang="ko-KR" altLang="en-US" dirty="0" smtClean="0"/>
              <a:t>번째 </a:t>
            </a:r>
            <a:r>
              <a:rPr lang="ko-KR" altLang="en-US" dirty="0" err="1"/>
              <a:t>스크린샷</a:t>
            </a:r>
            <a:r>
              <a:rPr lang="en-US" altLang="ko-KR" dirty="0" smtClean="0"/>
              <a:t>)</a:t>
            </a:r>
          </a:p>
          <a:p>
            <a:pPr>
              <a:lnSpc>
                <a:spcPct val="150000"/>
              </a:lnSpc>
            </a:pPr>
            <a:r>
              <a:rPr lang="en-US" altLang="ko-KR" dirty="0"/>
              <a:t>2</a:t>
            </a:r>
            <a:r>
              <a:rPr lang="en-US" altLang="ko-KR" dirty="0" smtClean="0"/>
              <a:t>-5) </a:t>
            </a:r>
            <a:r>
              <a:rPr lang="en-US" altLang="ko-KR" dirty="0">
                <a:hlinkClick r:id="rId7"/>
              </a:rPr>
              <a:t>https://store.steampowered.com/app/785740/This_Is_the_Police_2</a:t>
            </a:r>
            <a:r>
              <a:rPr lang="en-US" altLang="ko-KR" dirty="0" smtClean="0">
                <a:hlinkClick r:id="rId7"/>
              </a:rPr>
              <a:t>/</a:t>
            </a:r>
            <a:r>
              <a:rPr lang="en-US" altLang="ko-KR" dirty="0" smtClean="0"/>
              <a:t> (</a:t>
            </a:r>
            <a:r>
              <a:rPr lang="ko-KR" altLang="en-US" dirty="0" smtClean="0"/>
              <a:t>뒤에서 </a:t>
            </a:r>
            <a:r>
              <a:rPr lang="en-US" altLang="ko-KR" dirty="0"/>
              <a:t>2</a:t>
            </a:r>
            <a:r>
              <a:rPr lang="ko-KR" altLang="en-US" dirty="0" smtClean="0"/>
              <a:t>번째 </a:t>
            </a:r>
            <a:r>
              <a:rPr lang="ko-KR" altLang="en-US" dirty="0" err="1"/>
              <a:t>스크린샷</a:t>
            </a:r>
            <a:r>
              <a:rPr lang="en-US" altLang="ko-KR" dirty="0" smtClean="0"/>
              <a:t>)</a:t>
            </a:r>
          </a:p>
          <a:p>
            <a:pPr>
              <a:lnSpc>
                <a:spcPct val="150000"/>
              </a:lnSpc>
            </a:pPr>
            <a:r>
              <a:rPr lang="en-US" altLang="ko-KR" dirty="0"/>
              <a:t>2</a:t>
            </a:r>
            <a:r>
              <a:rPr lang="en-US" altLang="ko-KR" dirty="0" smtClean="0"/>
              <a:t>-6) </a:t>
            </a:r>
            <a:r>
              <a:rPr lang="en-US" altLang="ko-KR" dirty="0" smtClean="0">
                <a:hlinkClick r:id="rId6"/>
              </a:rPr>
              <a:t>https</a:t>
            </a:r>
            <a:r>
              <a:rPr lang="en-US" altLang="ko-KR" dirty="0">
                <a:hlinkClick r:id="rId6"/>
              </a:rPr>
              <a:t>://store.steampowered.com/app/503560/911_Operator/</a:t>
            </a:r>
            <a:r>
              <a:rPr lang="en-US" altLang="ko-KR" dirty="0"/>
              <a:t> </a:t>
            </a:r>
            <a:r>
              <a:rPr lang="en-US" altLang="ko-KR" dirty="0" smtClean="0"/>
              <a:t>(4</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2-7) </a:t>
            </a:r>
            <a:r>
              <a:rPr lang="en-US" altLang="ko-KR" dirty="0">
                <a:hlinkClick r:id="rId6"/>
              </a:rPr>
              <a:t>https://store.steampowered.com/app/503560/911_Operator/</a:t>
            </a:r>
            <a:r>
              <a:rPr lang="en-US" altLang="ko-KR" dirty="0"/>
              <a:t> </a:t>
            </a:r>
            <a:r>
              <a:rPr lang="en-US" altLang="ko-KR" dirty="0" smtClean="0"/>
              <a:t>(</a:t>
            </a:r>
            <a:r>
              <a:rPr lang="ko-KR" altLang="en-US" dirty="0" smtClean="0"/>
              <a:t>뒤에서 </a:t>
            </a:r>
            <a:r>
              <a:rPr lang="en-US" altLang="ko-KR" dirty="0" smtClean="0"/>
              <a:t>4</a:t>
            </a:r>
            <a:r>
              <a:rPr lang="ko-KR" altLang="en-US" dirty="0" smtClean="0"/>
              <a:t>번째 </a:t>
            </a:r>
            <a:r>
              <a:rPr lang="ko-KR" altLang="en-US" dirty="0" err="1"/>
              <a:t>스크린샷</a:t>
            </a:r>
            <a:r>
              <a:rPr lang="en-US" altLang="ko-KR" dirty="0" smtClean="0"/>
              <a:t>)</a:t>
            </a:r>
          </a:p>
          <a:p>
            <a:pPr>
              <a:lnSpc>
                <a:spcPct val="150000"/>
              </a:lnSpc>
            </a:pPr>
            <a:r>
              <a:rPr lang="en-US" altLang="ko-KR" dirty="0" smtClean="0"/>
              <a:t>2-8) </a:t>
            </a:r>
            <a:r>
              <a:rPr lang="en-US" altLang="ko-KR" dirty="0">
                <a:hlinkClick r:id="rId6"/>
              </a:rPr>
              <a:t>https://store.steampowered.com/app/503560/911_Operator/</a:t>
            </a:r>
            <a:r>
              <a:rPr lang="en-US" altLang="ko-KR" dirty="0"/>
              <a:t> (</a:t>
            </a:r>
            <a:r>
              <a:rPr lang="ko-KR" altLang="en-US" dirty="0"/>
              <a:t>뒤에서 </a:t>
            </a:r>
            <a:r>
              <a:rPr lang="en-US" altLang="ko-KR" dirty="0" smtClean="0"/>
              <a:t>6</a:t>
            </a:r>
            <a:r>
              <a:rPr lang="ko-KR" altLang="en-US" dirty="0" smtClean="0"/>
              <a:t>번째 </a:t>
            </a:r>
            <a:r>
              <a:rPr lang="ko-KR" altLang="en-US" dirty="0" err="1"/>
              <a:t>스크린샷</a:t>
            </a:r>
            <a:r>
              <a:rPr lang="en-US" altLang="ko-KR" dirty="0" smtClean="0"/>
              <a:t>)</a:t>
            </a:r>
          </a:p>
          <a:p>
            <a:pPr>
              <a:lnSpc>
                <a:spcPct val="150000"/>
              </a:lnSpc>
            </a:pPr>
            <a:r>
              <a:rPr lang="en-US" altLang="ko-KR" dirty="0" smtClean="0"/>
              <a:t>2-9) </a:t>
            </a:r>
            <a:r>
              <a:rPr lang="en-US" altLang="ko-KR" dirty="0">
                <a:hlinkClick r:id="rId7"/>
              </a:rPr>
              <a:t>https://store.steampowered.com/app/785740/This_Is_the_Police_2/</a:t>
            </a:r>
            <a:r>
              <a:rPr lang="en-US" altLang="ko-KR" dirty="0"/>
              <a:t> </a:t>
            </a:r>
            <a:r>
              <a:rPr lang="en-US" altLang="ko-KR" dirty="0" smtClean="0"/>
              <a:t>(13</a:t>
            </a:r>
            <a:r>
              <a:rPr lang="ko-KR" altLang="en-US" dirty="0" smtClean="0"/>
              <a:t>번 </a:t>
            </a:r>
            <a:r>
              <a:rPr lang="ko-KR" altLang="en-US" dirty="0" err="1"/>
              <a:t>스크린샷</a:t>
            </a:r>
            <a:r>
              <a:rPr lang="en-US" altLang="ko-KR" dirty="0" smtClean="0"/>
              <a:t>)</a:t>
            </a:r>
          </a:p>
          <a:p>
            <a:pPr>
              <a:lnSpc>
                <a:spcPct val="150000"/>
              </a:lnSpc>
            </a:pPr>
            <a:r>
              <a:rPr lang="en-US" altLang="ko-KR" dirty="0" smtClean="0"/>
              <a:t>2-10) </a:t>
            </a:r>
            <a:r>
              <a:rPr lang="en-US" altLang="ko-KR" dirty="0">
                <a:hlinkClick r:id="rId7"/>
              </a:rPr>
              <a:t>https://store.steampowered.com/app/785740/This_Is_the_Police_2/</a:t>
            </a:r>
            <a:r>
              <a:rPr lang="en-US" altLang="ko-KR" dirty="0"/>
              <a:t> </a:t>
            </a:r>
            <a:r>
              <a:rPr lang="en-US" altLang="ko-KR" dirty="0" smtClean="0"/>
              <a:t>(2</a:t>
            </a:r>
            <a:r>
              <a:rPr lang="ko-KR" altLang="en-US" dirty="0" smtClean="0"/>
              <a:t>번 </a:t>
            </a:r>
            <a:r>
              <a:rPr lang="ko-KR" altLang="en-US" dirty="0" err="1"/>
              <a:t>스크린샷</a:t>
            </a:r>
            <a:r>
              <a:rPr lang="en-US" altLang="ko-KR" dirty="0" smtClean="0"/>
              <a:t>)</a:t>
            </a:r>
          </a:p>
          <a:p>
            <a:pPr>
              <a:lnSpc>
                <a:spcPct val="150000"/>
              </a:lnSpc>
            </a:pPr>
            <a:r>
              <a:rPr lang="en-US" altLang="ko-KR" dirty="0" smtClean="0"/>
              <a:t>2-11</a:t>
            </a:r>
            <a:r>
              <a:rPr lang="en-US" altLang="ko-KR" dirty="0"/>
              <a:t>) </a:t>
            </a:r>
            <a:r>
              <a:rPr lang="en-US" altLang="ko-KR" dirty="0">
                <a:hlinkClick r:id="rId8"/>
              </a:rPr>
              <a:t>https://taskandpurpose.com/xcom2-war-chosen-review</a:t>
            </a:r>
            <a:r>
              <a:rPr lang="en-US" altLang="ko-KR" dirty="0" smtClean="0">
                <a:hlinkClick r:id="rId8"/>
              </a:rPr>
              <a:t>/</a:t>
            </a:r>
            <a:r>
              <a:rPr lang="en-US" altLang="ko-KR" dirty="0" smtClean="0"/>
              <a:t> </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34</a:t>
            </a:fld>
            <a:endParaRPr lang="ko-KR" altLang="en-US" sz="1800" dirty="0"/>
          </a:p>
        </p:txBody>
      </p:sp>
    </p:spTree>
    <p:extLst>
      <p:ext uri="{BB962C8B-B14F-4D97-AF65-F5344CB8AC3E}">
        <p14:creationId xmlns:p14="http://schemas.microsoft.com/office/powerpoint/2010/main" val="103834342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0" y="1217411"/>
            <a:ext cx="11698516" cy="3362780"/>
          </a:xfrm>
          <a:prstGeom prst="rect">
            <a:avLst/>
          </a:prstGeom>
          <a:noFill/>
        </p:spPr>
        <p:txBody>
          <a:bodyPr wrap="square" rtlCol="0">
            <a:spAutoFit/>
          </a:bodyPr>
          <a:lstStyle/>
          <a:p>
            <a:pPr>
              <a:lnSpc>
                <a:spcPct val="150000"/>
              </a:lnSpc>
            </a:pPr>
            <a:r>
              <a:rPr lang="en-US" altLang="ko-KR" dirty="0" smtClean="0"/>
              <a:t>3-1</a:t>
            </a:r>
            <a:r>
              <a:rPr lang="en-US" altLang="ko-KR" dirty="0"/>
              <a:t>) </a:t>
            </a:r>
            <a:r>
              <a:rPr lang="en-US" altLang="ko-KR" dirty="0">
                <a:hlinkClick r:id="rId2"/>
              </a:rPr>
              <a:t>https://wegotthiscovered.com/gaming/plan-character-borderlands-2-skill-tree-previews</a:t>
            </a:r>
            <a:r>
              <a:rPr lang="en-US" altLang="ko-KR" dirty="0" smtClean="0">
                <a:hlinkClick r:id="rId2"/>
              </a:rPr>
              <a:t>/</a:t>
            </a:r>
            <a:r>
              <a:rPr lang="en-US" altLang="ko-KR" dirty="0" smtClean="0"/>
              <a:t> </a:t>
            </a:r>
          </a:p>
          <a:p>
            <a:pPr>
              <a:lnSpc>
                <a:spcPct val="150000"/>
              </a:lnSpc>
            </a:pPr>
            <a:r>
              <a:rPr lang="en-US" altLang="ko-KR" dirty="0"/>
              <a:t>3-2) </a:t>
            </a:r>
            <a:r>
              <a:rPr lang="en-US" altLang="ko-KR" dirty="0">
                <a:hlinkClick r:id="rId3"/>
              </a:rPr>
              <a:t>http://</a:t>
            </a:r>
            <a:r>
              <a:rPr lang="en-US" altLang="ko-KR" dirty="0" smtClean="0">
                <a:hlinkClick r:id="rId3"/>
              </a:rPr>
              <a:t>www.accelerated-ideas.com/thedivision/whats-the-difference-between-skills-talents-and-perks.aspx</a:t>
            </a:r>
            <a:r>
              <a:rPr lang="en-US" altLang="ko-KR" dirty="0" smtClean="0"/>
              <a:t> </a:t>
            </a:r>
          </a:p>
          <a:p>
            <a:pPr>
              <a:lnSpc>
                <a:spcPct val="150000"/>
              </a:lnSpc>
            </a:pPr>
            <a:r>
              <a:rPr lang="en-US" altLang="ko-KR" dirty="0"/>
              <a:t>3-3) </a:t>
            </a:r>
            <a:r>
              <a:rPr lang="en-US" altLang="ko-KR" dirty="0">
                <a:hlinkClick r:id="rId4"/>
              </a:rPr>
              <a:t>https://store.steampowered.com/app/785740/This_Is_the_Police_2</a:t>
            </a:r>
            <a:r>
              <a:rPr lang="en-US" altLang="ko-KR" dirty="0" smtClean="0">
                <a:hlinkClick r:id="rId4"/>
              </a:rPr>
              <a:t>/</a:t>
            </a:r>
            <a:r>
              <a:rPr lang="en-US" altLang="ko-KR" dirty="0" smtClean="0"/>
              <a:t> (</a:t>
            </a:r>
            <a:r>
              <a:rPr lang="ko-KR" altLang="en-US" dirty="0" smtClean="0"/>
              <a:t>뒤에서 </a:t>
            </a:r>
            <a:r>
              <a:rPr lang="en-US" altLang="ko-KR" dirty="0" smtClean="0"/>
              <a:t>7</a:t>
            </a:r>
            <a:r>
              <a:rPr lang="ko-KR" altLang="en-US" dirty="0" smtClean="0"/>
              <a:t>번째 </a:t>
            </a:r>
            <a:r>
              <a:rPr lang="ko-KR" altLang="en-US" dirty="0" err="1" smtClean="0"/>
              <a:t>스크린샷</a:t>
            </a:r>
            <a:r>
              <a:rPr lang="en-US" altLang="ko-KR" dirty="0" smtClean="0"/>
              <a:t>)</a:t>
            </a:r>
          </a:p>
          <a:p>
            <a:pPr>
              <a:lnSpc>
                <a:spcPct val="150000"/>
              </a:lnSpc>
            </a:pPr>
            <a:r>
              <a:rPr lang="en-US" altLang="ko-KR" dirty="0" smtClean="0"/>
              <a:t>3-4</a:t>
            </a:r>
            <a:r>
              <a:rPr lang="en-US" altLang="ko-KR" dirty="0"/>
              <a:t>) </a:t>
            </a:r>
            <a:r>
              <a:rPr lang="en-US" altLang="ko-KR" dirty="0">
                <a:hlinkClick r:id="rId5"/>
              </a:rPr>
              <a:t>http://</a:t>
            </a:r>
            <a:r>
              <a:rPr lang="en-US" altLang="ko-KR" dirty="0" smtClean="0">
                <a:hlinkClick r:id="rId5"/>
              </a:rPr>
              <a:t>xcom.wikia.com/wiki/File:XCOM_EW_BaseDefense_MissionFail.png</a:t>
            </a:r>
            <a:r>
              <a:rPr lang="en-US" altLang="ko-KR" dirty="0" smtClean="0"/>
              <a:t> </a:t>
            </a:r>
          </a:p>
          <a:p>
            <a:pPr>
              <a:lnSpc>
                <a:spcPct val="150000"/>
              </a:lnSpc>
            </a:pPr>
            <a:r>
              <a:rPr lang="en-US" altLang="ko-KR" dirty="0" smtClean="0"/>
              <a:t>3-5) </a:t>
            </a:r>
            <a:r>
              <a:rPr lang="en-US" altLang="ko-KR" dirty="0" smtClean="0">
                <a:hlinkClick r:id="rId4"/>
              </a:rPr>
              <a:t>https://store.steampowered.com/app/785740/This_Is_the_Police_2/</a:t>
            </a:r>
            <a:r>
              <a:rPr lang="en-US" altLang="ko-KR" dirty="0" smtClean="0"/>
              <a:t> (3</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3-6</a:t>
            </a:r>
            <a:r>
              <a:rPr lang="en-US" altLang="ko-KR" dirty="0"/>
              <a:t>) </a:t>
            </a:r>
            <a:r>
              <a:rPr lang="en-US" altLang="ko-KR" dirty="0">
                <a:hlinkClick r:id="rId6"/>
              </a:rPr>
              <a:t>https://</a:t>
            </a:r>
            <a:r>
              <a:rPr lang="en-US" altLang="ko-KR" dirty="0" smtClean="0">
                <a:hlinkClick r:id="rId6"/>
              </a:rPr>
              <a:t>www.bottersgonnabot.com/automating-skill-checks-in-dead-by-daylight-part-i/</a:t>
            </a:r>
            <a:r>
              <a:rPr lang="en-US" altLang="ko-KR" dirty="0" smtClean="0"/>
              <a:t> </a:t>
            </a:r>
            <a:br>
              <a:rPr lang="en-US" altLang="ko-KR" dirty="0" smtClean="0"/>
            </a:br>
            <a:r>
              <a:rPr lang="en-US" altLang="ko-KR" dirty="0" smtClean="0"/>
              <a:t>3-7) </a:t>
            </a:r>
            <a:r>
              <a:rPr lang="en-US" altLang="ko-KR" dirty="0">
                <a:hlinkClick r:id="rId7"/>
              </a:rPr>
              <a:t>https://store.steampowered.com/app/503560/911_Operator/</a:t>
            </a:r>
            <a:r>
              <a:rPr lang="en-US" altLang="ko-KR" dirty="0"/>
              <a:t> (9</a:t>
            </a:r>
            <a:r>
              <a:rPr lang="ko-KR" altLang="en-US" dirty="0"/>
              <a:t>번 </a:t>
            </a:r>
            <a:r>
              <a:rPr lang="ko-KR" altLang="en-US" dirty="0" err="1"/>
              <a:t>스크린샷</a:t>
            </a:r>
            <a:r>
              <a:rPr lang="en-US" altLang="ko-KR" dirty="0"/>
              <a:t>)</a:t>
            </a:r>
          </a:p>
          <a:p>
            <a:pPr>
              <a:lnSpc>
                <a:spcPct val="150000"/>
              </a:lnSpc>
            </a:pPr>
            <a:endParaRPr lang="ko-KR" altLang="ko-KR"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35</a:t>
            </a:fld>
            <a:endParaRPr lang="ko-KR" altLang="en-US" dirty="0"/>
          </a:p>
        </p:txBody>
      </p:sp>
    </p:spTree>
    <p:extLst>
      <p:ext uri="{BB962C8B-B14F-4D97-AF65-F5344CB8AC3E}">
        <p14:creationId xmlns:p14="http://schemas.microsoft.com/office/powerpoint/2010/main" val="336750069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97713" y="892460"/>
            <a:ext cx="1436915" cy="523220"/>
          </a:xfrm>
          <a:prstGeom prst="rect">
            <a:avLst/>
          </a:prstGeom>
          <a:noFill/>
        </p:spPr>
        <p:txBody>
          <a:bodyPr wrap="square" rtlCol="0">
            <a:spAutoFit/>
          </a:bodyPr>
          <a:lstStyle/>
          <a:p>
            <a:r>
              <a:rPr lang="en-US" altLang="ko-KR" sz="2800" b="1" dirty="0">
                <a:gradFill>
                  <a:gsLst>
                    <a:gs pos="0">
                      <a:schemeClr val="tx1"/>
                    </a:gs>
                    <a:gs pos="100000">
                      <a:schemeClr val="tx1"/>
                    </a:gs>
                  </a:gsLst>
                  <a:lin ang="5400000" scaled="1"/>
                </a:gradFill>
                <a:latin typeface="맑은 고딕" panose="020B0503020000020004" pitchFamily="50" charset="-127"/>
              </a:rPr>
              <a:t>&lt;</a:t>
            </a:r>
            <a:r>
              <a:rPr lang="ko-KR" altLang="en-US" sz="2800" b="1" dirty="0" smtClean="0">
                <a:gradFill>
                  <a:gsLst>
                    <a:gs pos="0">
                      <a:schemeClr val="tx1"/>
                    </a:gs>
                    <a:gs pos="100000">
                      <a:schemeClr val="tx1"/>
                    </a:gs>
                  </a:gsLst>
                  <a:lin ang="5400000" scaled="1"/>
                </a:gradFill>
                <a:latin typeface="맑은 고딕" panose="020B0503020000020004" pitchFamily="50" charset="-127"/>
              </a:rPr>
              <a:t>부록</a:t>
            </a:r>
            <a:r>
              <a:rPr lang="en-US" altLang="ko-KR" sz="2800" b="1" dirty="0" smtClean="0">
                <a:gradFill>
                  <a:gsLst>
                    <a:gs pos="0">
                      <a:schemeClr val="tx1"/>
                    </a:gs>
                    <a:gs pos="100000">
                      <a:schemeClr val="tx1"/>
                    </a:gs>
                  </a:gsLst>
                  <a:lin ang="5400000" scaled="1"/>
                </a:gradFill>
                <a:latin typeface="맑은 고딕" panose="020B0503020000020004" pitchFamily="50" charset="-127"/>
              </a:rPr>
              <a:t>&gt;</a:t>
            </a:r>
            <a:endParaRPr lang="ko-KR" altLang="en-US" sz="2800" b="1" dirty="0">
              <a:gradFill>
                <a:gsLst>
                  <a:gs pos="0">
                    <a:schemeClr val="tx1"/>
                  </a:gs>
                  <a:gs pos="100000">
                    <a:schemeClr val="tx1"/>
                  </a:gs>
                </a:gsLst>
                <a:lin ang="5400000" scaled="1"/>
              </a:gradFill>
              <a:latin typeface="맑은 고딕" panose="020B0503020000020004" pitchFamily="50" charset="-127"/>
            </a:endParaRPr>
          </a:p>
        </p:txBody>
      </p:sp>
      <p:sp>
        <p:nvSpPr>
          <p:cNvPr id="8" name="TextBox 7"/>
          <p:cNvSpPr txBox="1"/>
          <p:nvPr/>
        </p:nvSpPr>
        <p:spPr>
          <a:xfrm>
            <a:off x="1235927" y="1763768"/>
            <a:ext cx="8403373" cy="830997"/>
          </a:xfrm>
          <a:prstGeom prst="rect">
            <a:avLst/>
          </a:prstGeom>
          <a:noFill/>
        </p:spPr>
        <p:txBody>
          <a:bodyPr wrap="square" rtlCol="0">
            <a:spAutoFit/>
          </a:bodyPr>
          <a:lstStyle/>
          <a:p>
            <a:r>
              <a:rPr lang="en-US" altLang="ko-KR" sz="2400" dirty="0"/>
              <a:t>• </a:t>
            </a:r>
            <a:r>
              <a:rPr lang="ko-KR" altLang="en-US" sz="2400" dirty="0" err="1" smtClean="0"/>
              <a:t>별첨문서</a:t>
            </a:r>
            <a:r>
              <a:rPr lang="ko-KR" altLang="en-US" sz="2400" dirty="0" smtClean="0"/>
              <a:t> </a:t>
            </a:r>
            <a:r>
              <a:rPr lang="en-US" altLang="ko-KR" sz="2400" dirty="0" smtClean="0"/>
              <a:t>‘I AM THE LAW.docx’</a:t>
            </a:r>
            <a:br>
              <a:rPr lang="en-US" altLang="ko-KR" sz="2400" dirty="0" smtClean="0"/>
            </a:br>
            <a:r>
              <a:rPr lang="en-US" altLang="ko-KR" sz="2400" dirty="0" smtClean="0"/>
              <a:t>  (PPT </a:t>
            </a:r>
            <a:r>
              <a:rPr lang="ko-KR" altLang="en-US" sz="2400" dirty="0" smtClean="0"/>
              <a:t>제작 전</a:t>
            </a:r>
            <a:r>
              <a:rPr lang="en-US" altLang="ko-KR" sz="2400" dirty="0" smtClean="0"/>
              <a:t>, </a:t>
            </a:r>
            <a:r>
              <a:rPr lang="ko-KR" altLang="en-US" sz="2400" dirty="0" smtClean="0"/>
              <a:t>기획 내용 작성 및 정리를 위한 워드 문서</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36</a:t>
            </a:fld>
            <a:endParaRPr lang="ko-KR" altLang="en-US" dirty="0"/>
          </a:p>
        </p:txBody>
      </p:sp>
    </p:spTree>
    <p:extLst>
      <p:ext uri="{BB962C8B-B14F-4D97-AF65-F5344CB8AC3E}">
        <p14:creationId xmlns:p14="http://schemas.microsoft.com/office/powerpoint/2010/main" val="323495960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감사합니다</a:t>
            </a:r>
            <a:r>
              <a:rPr lang="en-US" altLang="ko-KR" sz="4800" b="1" spc="-150" dirty="0" smtClean="0">
                <a:gradFill>
                  <a:gsLst>
                    <a:gs pos="0">
                      <a:prstClr val="white"/>
                    </a:gs>
                    <a:gs pos="100000">
                      <a:prstClr val="white"/>
                    </a:gs>
                  </a:gsLst>
                  <a:lin ang="5400000" scaled="1"/>
                </a:gradFill>
                <a:latin typeface="+mj-ea"/>
                <a:ea typeface="+mj-ea"/>
              </a:rPr>
              <a:t>.</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37</a:t>
            </a:fld>
            <a:endParaRPr lang="ko-KR" altLang="en-US" dirty="0">
              <a:solidFill>
                <a:prstClr val="black">
                  <a:tint val="75000"/>
                </a:prstClr>
              </a:solidFill>
            </a:endParaRPr>
          </a:p>
        </p:txBody>
      </p:sp>
    </p:spTree>
    <p:extLst>
      <p:ext uri="{BB962C8B-B14F-4D97-AF65-F5344CB8AC3E}">
        <p14:creationId xmlns:p14="http://schemas.microsoft.com/office/powerpoint/2010/main" val="34078395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4295</TotalTime>
  <Words>1814</Words>
  <Application>Microsoft Office PowerPoint</Application>
  <PresentationFormat>와이드스크린</PresentationFormat>
  <Paragraphs>521</Paragraphs>
  <Slides>37</Slides>
  <Notes>2</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37</vt:i4>
      </vt:variant>
    </vt:vector>
  </HeadingPairs>
  <TitlesOfParts>
    <vt:vector size="44" baseType="lpstr">
      <vt:lpstr>Arial</vt:lpstr>
      <vt:lpstr>HY견명조</vt:lpstr>
      <vt:lpstr>210 앱굴림 R</vt:lpstr>
      <vt:lpstr>돋움</vt:lpstr>
      <vt:lpstr>맑은 고딕</vt:lpstr>
      <vt:lpstr>Office 테마</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YEONGBEOM KIM</dc:creator>
  <cp:lastModifiedBy>Windows 사용자</cp:lastModifiedBy>
  <cp:revision>302</cp:revision>
  <dcterms:created xsi:type="dcterms:W3CDTF">2017-06-15T12:10:59Z</dcterms:created>
  <dcterms:modified xsi:type="dcterms:W3CDTF">2019-01-03T16:07:56Z</dcterms:modified>
</cp:coreProperties>
</file>