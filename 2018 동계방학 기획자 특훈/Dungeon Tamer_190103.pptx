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42"/>
  </p:notesMasterIdLst>
  <p:sldIdLst>
    <p:sldId id="273" r:id="rId3"/>
    <p:sldId id="260" r:id="rId4"/>
    <p:sldId id="288" r:id="rId5"/>
    <p:sldId id="289" r:id="rId6"/>
    <p:sldId id="266" r:id="rId7"/>
    <p:sldId id="290" r:id="rId8"/>
    <p:sldId id="276" r:id="rId9"/>
    <p:sldId id="332" r:id="rId10"/>
    <p:sldId id="291" r:id="rId11"/>
    <p:sldId id="333" r:id="rId12"/>
    <p:sldId id="334" r:id="rId13"/>
    <p:sldId id="329" r:id="rId14"/>
    <p:sldId id="330" r:id="rId15"/>
    <p:sldId id="315" r:id="rId16"/>
    <p:sldId id="325" r:id="rId17"/>
    <p:sldId id="316" r:id="rId18"/>
    <p:sldId id="317" r:id="rId19"/>
    <p:sldId id="318" r:id="rId20"/>
    <p:sldId id="324" r:id="rId21"/>
    <p:sldId id="323" r:id="rId22"/>
    <p:sldId id="327" r:id="rId23"/>
    <p:sldId id="328" r:id="rId24"/>
    <p:sldId id="319" r:id="rId25"/>
    <p:sldId id="320" r:id="rId26"/>
    <p:sldId id="321" r:id="rId27"/>
    <p:sldId id="326" r:id="rId28"/>
    <p:sldId id="322" r:id="rId29"/>
    <p:sldId id="294" r:id="rId30"/>
    <p:sldId id="293" r:id="rId31"/>
    <p:sldId id="295" r:id="rId32"/>
    <p:sldId id="308" r:id="rId33"/>
    <p:sldId id="296" r:id="rId34"/>
    <p:sldId id="309" r:id="rId35"/>
    <p:sldId id="302" r:id="rId36"/>
    <p:sldId id="303" r:id="rId37"/>
    <p:sldId id="306" r:id="rId38"/>
    <p:sldId id="314" r:id="rId39"/>
    <p:sldId id="307" r:id="rId40"/>
    <p:sldId id="275" r:id="rId41"/>
  </p:sldIdLst>
  <p:sldSz cx="12192000" cy="6858000"/>
  <p:notesSz cx="6858000" cy="9144000"/>
  <p:embeddedFontLst>
    <p:embeddedFont>
      <p:font typeface="맑은 고딕" panose="020B0503020000020004" pitchFamily="50" charset="-127"/>
      <p:regular r:id="rId43"/>
      <p:bold r:id="rId44"/>
    </p:embeddedFont>
    <p:embeddedFont>
      <p:font typeface="HY견명조" panose="02030600000101010101" pitchFamily="18" charset="-127"/>
      <p:regular r:id="rId45"/>
    </p:embeddedFont>
    <p:embeddedFont>
      <p:font typeface="210 앱굴림 R" panose="02020603020101020101" pitchFamily="18" charset="-127"/>
      <p:regular r:id="rId46"/>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215" autoAdjust="0"/>
    <p:restoredTop sz="94660" autoAdjust="0"/>
  </p:normalViewPr>
  <p:slideViewPr>
    <p:cSldViewPr snapToGrid="0">
      <p:cViewPr>
        <p:scale>
          <a:sx n="100" d="100"/>
          <a:sy n="100" d="100"/>
        </p:scale>
        <p:origin x="1266" y="426"/>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1.fntdata"/><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4.fntdata"/><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2019-01-06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2019-01-06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2019-01-06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2019-01-06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2019-01-06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2019-01-06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2019-01-06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2019-01-06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2019-01-06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2019-01-06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2019-01-06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2019-01-06</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2019-01-06</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www.kukinews.com/news/article.html?no=467851" TargetMode="External"/><Relationship Id="rId7" Type="http://schemas.openxmlformats.org/officeDocument/2006/relationships/hyperlink" Target="https://minimap.net/game/dungeon-maker/review" TargetMode="External"/><Relationship Id="rId2" Type="http://schemas.openxmlformats.org/officeDocument/2006/relationships/hyperlink" Target="https://www.clien.net/service/board/park/12754454" TargetMode="External"/><Relationship Id="rId1" Type="http://schemas.openxmlformats.org/officeDocument/2006/relationships/slideLayout" Target="../slideLayouts/slideLayout2.xml"/><Relationship Id="rId6" Type="http://schemas.openxmlformats.org/officeDocument/2006/relationships/hyperlink" Target="https://entropymag.org/hobby-horse-anatomy-bawdy-and-body-in-the-binding-of-isaac-ch-3/" TargetMode="External"/><Relationship Id="rId5" Type="http://schemas.openxmlformats.org/officeDocument/2006/relationships/hyperlink" Target="https://steamcommunity.com/sharedfiles/filedetails/?id=396427946" TargetMode="External"/><Relationship Id="rId4" Type="http://schemas.openxmlformats.org/officeDocument/2006/relationships/hyperlink" Target="https://www.vingle.net/posts/2320991" TargetMode="External"/></Relationships>
</file>

<file path=ppt/slides/_rels/slide37.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thisisgame.com/webzine/game/nboard/19/?page=13&amp;n=64534"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s://realust.tistory.com/506" TargetMode="External"/><Relationship Id="rId1" Type="http://schemas.openxmlformats.org/officeDocument/2006/relationships/slideLayout" Target="../slideLayouts/slideLayout2.xml"/><Relationship Id="rId6" Type="http://schemas.openxmlformats.org/officeDocument/2006/relationships/hyperlink" Target="http://www.thisisgame.com/mobile/nboard/1/?n=51285" TargetMode="External"/><Relationship Id="rId5" Type="http://schemas.openxmlformats.org/officeDocument/2006/relationships/hyperlink" Target="http://www.thisisgame.com/mobile/nboard/1/?n=55660&amp;mode=print" TargetMode="External"/><Relationship Id="rId4" Type="http://schemas.openxmlformats.org/officeDocument/2006/relationships/hyperlink" Target="http://www.thisisgame.com/pad/tboard/?board=37&amp;n=28648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6" y="4596452"/>
            <a:ext cx="6339255"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성장시키고 장비를 </a:t>
            </a:r>
            <a:r>
              <a:rPr lang="ko-KR" altLang="ko-KR" dirty="0" smtClean="0">
                <a:solidFill>
                  <a:schemeClr val="bg1"/>
                </a:solidFill>
                <a:latin typeface="+mn-ea"/>
              </a:rPr>
              <a:t>업그레이드</a:t>
            </a:r>
            <a:endParaRPr lang="en-US" altLang="ko-KR" dirty="0" smtClean="0">
              <a:solidFill>
                <a:schemeClr val="bg1"/>
              </a:solidFill>
              <a:latin typeface="+mn-ea"/>
            </a:endParaRPr>
          </a:p>
          <a:p>
            <a:r>
              <a:rPr lang="ko-KR" altLang="ko-KR" dirty="0" smtClean="0">
                <a:solidFill>
                  <a:schemeClr val="bg1"/>
                </a:solidFill>
                <a:latin typeface="+mn-ea"/>
              </a:rPr>
              <a:t>하여 던전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a:t>
            </a:r>
            <a:r>
              <a:rPr lang="ko-KR" altLang="en-US" sz="2200" b="1" dirty="0" smtClean="0">
                <a:gradFill>
                  <a:gsLst>
                    <a:gs pos="0">
                      <a:schemeClr val="tx1"/>
                    </a:gs>
                    <a:gs pos="100000">
                      <a:schemeClr val="tx1"/>
                    </a:gs>
                  </a:gsLst>
                  <a:lin ang="5400000" scaled="1"/>
                </a:gradFill>
                <a:latin typeface="맑은 고딕" panose="020B0503020000020004" pitchFamily="50" charset="-127"/>
              </a:rPr>
              <a:t>캐릭터와 몬스터</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rPr>
              <a:t>2-4. </a:t>
            </a:r>
            <a:r>
              <a:rPr lang="ko-KR" altLang="en-US" sz="2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2200" b="1" dirty="0">
                <a:gradFill>
                  <a:gsLst>
                    <a:gs pos="0">
                      <a:schemeClr val="tx1"/>
                    </a:gs>
                    <a:gs pos="100000">
                      <a:schemeClr val="tx1"/>
                    </a:gs>
                  </a:gsLst>
                  <a:lin ang="5400000" scaled="1"/>
                </a:gradFill>
                <a:latin typeface="맑은 고딕" panose="020B0503020000020004" pitchFamily="50" charset="-127"/>
              </a:rPr>
              <a:t> 육성 시스템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식</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4462788"/>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503730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563494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455947"/>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218259" y="626716"/>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218258" y="1934167"/>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555973262"/>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val="3475047078"/>
                    </a:ext>
                  </a:extLst>
                </a:gridCol>
                <a:gridCol w="5191435">
                  <a:extLst>
                    <a:ext uri="{9D8B030D-6E8A-4147-A177-3AD203B41FA5}">
                      <a16:colId xmlns:a16="http://schemas.microsoft.com/office/drawing/2014/main"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a:t>
                      </a:r>
                      <a:r>
                        <a:rPr lang="ko-KR" altLang="en-US" dirty="0" smtClean="0"/>
                        <a:t> 장르를</a:t>
                      </a:r>
                      <a:r>
                        <a:rPr lang="ko-KR" altLang="en-US" baseline="0" dirty="0" smtClean="0"/>
                        <a:t> </a:t>
                      </a:r>
                      <a:endParaRPr lang="en-US" altLang="ko-KR" baseline="0" dirty="0" smtClean="0"/>
                    </a:p>
                    <a:p>
                      <a:pPr algn="ctr" latinLnBrk="1"/>
                      <a:r>
                        <a:rPr lang="ko-KR" altLang="en-US" baseline="0" dirty="0" smtClean="0"/>
                        <a:t>선호하는 </a:t>
                      </a:r>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5</a:t>
            </a:fld>
            <a:endParaRPr lang="ko-KR" altLang="en-US" sz="1800"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0266" y="777408"/>
            <a:ext cx="4196874"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155469" y="3125709"/>
            <a:ext cx="294270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턴제</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전투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155469" y="6125918"/>
            <a:ext cx="294270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조합과  상성이  있는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39071" y="3640508"/>
            <a:ext cx="4199265" cy="2360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val="389885132"/>
                    </a:ext>
                  </a:extLst>
                </a:gridCol>
                <a:gridCol w="3991428">
                  <a:extLst>
                    <a:ext uri="{9D8B030D-6E8A-4147-A177-3AD203B41FA5}">
                      <a16:colId xmlns:a16="http://schemas.microsoft.com/office/drawing/2014/main" val="2257908711"/>
                    </a:ext>
                  </a:extLst>
                </a:gridCol>
                <a:gridCol w="4905828">
                  <a:extLst>
                    <a:ext uri="{9D8B030D-6E8A-4147-A177-3AD203B41FA5}">
                      <a16:colId xmlns:a16="http://schemas.microsoft.com/office/drawing/2014/main"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48401"/>
            <a:ext cx="5950972" cy="4662815"/>
          </a:xfrm>
          <a:prstGeom prst="rect">
            <a:avLst/>
          </a:prstGeom>
          <a:noFill/>
        </p:spPr>
        <p:txBody>
          <a:bodyPr wrap="square" rtlCol="0">
            <a:spAutoFit/>
          </a:bodyPr>
          <a:lstStyle/>
          <a:p>
            <a:pPr>
              <a:lnSpc>
                <a:spcPct val="150000"/>
              </a:lnSpc>
            </a:pPr>
            <a:r>
              <a:rPr lang="ko-KR" altLang="en-US" dirty="0" smtClean="0">
                <a:latin typeface="+mn-ea"/>
              </a:rPr>
              <a:t> 동부 </a:t>
            </a:r>
            <a:r>
              <a:rPr lang="ko-KR" altLang="en-US" dirty="0" smtClean="0">
                <a:latin typeface="+mn-ea"/>
              </a:rPr>
              <a:t>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이를 </a:t>
            </a:r>
            <a:r>
              <a:rPr lang="ko-KR" altLang="en-US" dirty="0" smtClean="0">
                <a:latin typeface="+mn-ea"/>
              </a:rPr>
              <a:t>해결하기 위해 왕국은 </a:t>
            </a:r>
            <a:r>
              <a:rPr lang="ko-KR" altLang="en-US" dirty="0" err="1" smtClean="0">
                <a:latin typeface="+mn-ea"/>
              </a:rPr>
              <a:t>몬스터들을</a:t>
            </a:r>
            <a:r>
              <a:rPr lang="ko-KR" altLang="en-US" dirty="0" smtClean="0">
                <a:latin typeface="+mn-ea"/>
              </a:rPr>
              <a:t> 길들이는 </a:t>
            </a:r>
            <a:endParaRPr lang="en-US" altLang="ko-KR" dirty="0" smtClean="0">
              <a:latin typeface="+mn-ea"/>
            </a:endParaRPr>
          </a:p>
          <a:p>
            <a:pPr>
              <a:lnSpc>
                <a:spcPct val="150000"/>
              </a:lnSpc>
            </a:pPr>
            <a:r>
              <a:rPr lang="ko-KR" altLang="en-US" dirty="0" smtClean="0">
                <a:latin typeface="+mn-ea"/>
              </a:rPr>
              <a:t>전설의 용사를 마을로 파견하여 던전을 탐험하고 </a:t>
            </a:r>
            <a:endParaRPr lang="en-US" altLang="ko-KR" dirty="0" smtClean="0">
              <a:latin typeface="+mn-ea"/>
            </a:endParaRPr>
          </a:p>
          <a:p>
            <a:pPr>
              <a:lnSpc>
                <a:spcPct val="150000"/>
              </a:lnSpc>
            </a:pPr>
            <a:r>
              <a:rPr lang="ko-KR" altLang="en-US" dirty="0" smtClean="0">
                <a:latin typeface="+mn-ea"/>
              </a:rPr>
              <a:t>위험을 없애라는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과연 </a:t>
            </a:r>
            <a:r>
              <a:rPr lang="ko-KR" altLang="en-US" dirty="0" smtClean="0">
                <a:latin typeface="+mn-ea"/>
              </a:rPr>
              <a:t>용사는 무사히 던전을 정복하고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8</a:t>
            </a:fld>
            <a:endParaRPr lang="ko-KR" altLang="en-US" sz="1800" dirty="0"/>
          </a:p>
        </p:txBody>
      </p:sp>
      <p:sp>
        <p:nvSpPr>
          <p:cNvPr id="13" name="TextBox 12"/>
          <p:cNvSpPr txBox="1"/>
          <p:nvPr/>
        </p:nvSpPr>
        <p:spPr>
          <a:xfrm>
            <a:off x="5621868" y="1172029"/>
            <a:ext cx="6340148" cy="5078313"/>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게임의 요소를 일부 채용한 </a:t>
            </a:r>
            <a:r>
              <a:rPr lang="en-US" altLang="ko-KR" dirty="0" smtClean="0"/>
              <a:t>‘</a:t>
            </a:r>
            <a:r>
              <a:rPr lang="ko-KR" altLang="en-US" b="1" dirty="0" err="1" smtClean="0"/>
              <a:t>로그라이트</a:t>
            </a:r>
            <a:r>
              <a:rPr lang="en-US" altLang="ko-KR" dirty="0" smtClean="0"/>
              <a:t>’</a:t>
            </a:r>
          </a:p>
          <a:p>
            <a:pPr>
              <a:lnSpc>
                <a:spcPct val="150000"/>
              </a:lnSpc>
            </a:pPr>
            <a:r>
              <a:rPr lang="en-US" altLang="ko-KR" dirty="0"/>
              <a:t> </a:t>
            </a:r>
            <a:r>
              <a:rPr lang="en-US" altLang="ko-KR" dirty="0" smtClean="0"/>
              <a:t> </a:t>
            </a:r>
            <a:r>
              <a:rPr lang="ko-KR" altLang="en-US" dirty="0" smtClean="0"/>
              <a:t>장르를 도입</a:t>
            </a:r>
            <a:r>
              <a:rPr lang="en-US" altLang="ko-KR" dirty="0" smtClean="0"/>
              <a:t>, </a:t>
            </a:r>
            <a:r>
              <a:rPr lang="ko-KR" altLang="en-US" dirty="0" smtClean="0"/>
              <a:t>기존의 장르에 익숙한 유저들의 높은 </a:t>
            </a:r>
            <a:endParaRPr lang="en-US" altLang="ko-KR" dirty="0" smtClean="0"/>
          </a:p>
          <a:p>
            <a:pPr>
              <a:lnSpc>
                <a:spcPct val="150000"/>
              </a:lnSpc>
            </a:pPr>
            <a:r>
              <a:rPr lang="en-US" altLang="ko-KR" dirty="0" smtClean="0"/>
              <a:t>  </a:t>
            </a:r>
            <a:r>
              <a:rPr lang="ko-KR" altLang="en-US" b="1" dirty="0" smtClean="0"/>
              <a:t>접근성과 홍보 효과</a:t>
            </a:r>
            <a:r>
              <a:rPr lang="ko-KR" altLang="en-US" dirty="0" smtClean="0"/>
              <a:t>를 기대할 수 있습니다</a:t>
            </a:r>
            <a:r>
              <a:rPr lang="en-US" altLang="ko-KR" dirty="0" smtClean="0"/>
              <a:t>.</a:t>
            </a:r>
          </a:p>
          <a:p>
            <a:pPr>
              <a:lnSpc>
                <a:spcPct val="150000"/>
              </a:lnSpc>
            </a:pPr>
            <a:endParaRPr lang="en-US" altLang="ko-KR" sz="1200" dirty="0" smtClean="0">
              <a:latin typeface="+mn-ea"/>
            </a:endParaRPr>
          </a:p>
          <a:p>
            <a:pPr>
              <a:lnSpc>
                <a:spcPct val="150000"/>
              </a:lnSpc>
            </a:pPr>
            <a:r>
              <a:rPr lang="en-US" altLang="ko-KR" dirty="0" smtClean="0"/>
              <a:t>• </a:t>
            </a:r>
            <a:r>
              <a:rPr lang="en-US" altLang="ko-KR" b="1" dirty="0" smtClean="0"/>
              <a:t>1</a:t>
            </a:r>
            <a:r>
              <a:rPr lang="ko-KR" altLang="en-US" b="1" dirty="0" smtClean="0"/>
              <a:t>번 뿐인 목숨</a:t>
            </a:r>
            <a:r>
              <a:rPr lang="ko-KR" altLang="en-US" dirty="0" smtClean="0"/>
              <a:t>과</a:t>
            </a:r>
            <a:r>
              <a:rPr lang="en-US" altLang="ko-KR" dirty="0" smtClean="0"/>
              <a:t>,</a:t>
            </a:r>
            <a:r>
              <a:rPr lang="ko-KR" altLang="en-US" dirty="0" smtClean="0"/>
              <a:t> </a:t>
            </a:r>
            <a:r>
              <a:rPr lang="ko-KR" altLang="en-US" b="1" dirty="0" smtClean="0"/>
              <a:t>랜덤</a:t>
            </a:r>
            <a:r>
              <a:rPr lang="ko-KR" altLang="en-US" dirty="0" smtClean="0"/>
              <a:t>으로 배치되는 던전의 구조를 </a:t>
            </a:r>
            <a:endParaRPr lang="en-US" altLang="ko-KR" dirty="0" smtClean="0"/>
          </a:p>
          <a:p>
            <a:pPr>
              <a:lnSpc>
                <a:spcPct val="150000"/>
              </a:lnSpc>
            </a:pPr>
            <a:r>
              <a:rPr lang="en-US" altLang="ko-KR" dirty="0"/>
              <a:t> </a:t>
            </a:r>
            <a:r>
              <a:rPr lang="en-US" altLang="ko-KR" dirty="0" smtClean="0"/>
              <a:t> </a:t>
            </a:r>
            <a:r>
              <a:rPr lang="ko-KR" altLang="en-US" dirty="0" smtClean="0"/>
              <a:t>통해 게임의 긴장감과 </a:t>
            </a:r>
            <a:r>
              <a:rPr lang="ko-KR" altLang="en-US" dirty="0" err="1" smtClean="0"/>
              <a:t>몰입감을</a:t>
            </a:r>
            <a:r>
              <a:rPr lang="ko-KR" altLang="en-US" dirty="0" smtClean="0"/>
              <a:t> 높이고</a:t>
            </a:r>
            <a:r>
              <a:rPr lang="en-US" altLang="ko-KR" dirty="0" smtClean="0"/>
              <a:t>, </a:t>
            </a:r>
            <a:r>
              <a:rPr lang="ko-KR" altLang="en-US" dirty="0" smtClean="0"/>
              <a:t>플레이의 </a:t>
            </a:r>
            <a:endParaRPr lang="en-US" altLang="ko-KR" dirty="0" smtClean="0"/>
          </a:p>
          <a:p>
            <a:pPr>
              <a:lnSpc>
                <a:spcPct val="150000"/>
              </a:lnSpc>
            </a:pPr>
            <a:r>
              <a:rPr lang="en-US" altLang="ko-KR" dirty="0"/>
              <a:t> </a:t>
            </a:r>
            <a:r>
              <a:rPr lang="en-US" altLang="ko-KR" dirty="0" smtClean="0"/>
              <a:t> </a:t>
            </a:r>
            <a:r>
              <a:rPr lang="ko-KR" altLang="en-US" dirty="0" smtClean="0"/>
              <a:t>신선함과 도전 정신을 고취시킬 </a:t>
            </a:r>
            <a:r>
              <a:rPr lang="ko-KR" altLang="en-US" dirty="0" smtClean="0"/>
              <a:t>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pic>
        <p:nvPicPr>
          <p:cNvPr id="9" name="그림 8"/>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741515" y="1087359"/>
            <a:ext cx="4014931" cy="2113595"/>
          </a:xfrm>
          <a:prstGeom prst="rect">
            <a:avLst/>
          </a:prstGeom>
        </p:spPr>
      </p:pic>
      <p:sp>
        <p:nvSpPr>
          <p:cNvPr id="12" name="TextBox 11"/>
          <p:cNvSpPr txBox="1"/>
          <p:nvPr/>
        </p:nvSpPr>
        <p:spPr>
          <a:xfrm>
            <a:off x="1430007" y="3196379"/>
            <a:ext cx="2497044"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다키스트</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던전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4" name="그림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515" y="3921984"/>
            <a:ext cx="4203018" cy="1953932"/>
          </a:xfrm>
          <a:prstGeom prst="rect">
            <a:avLst/>
          </a:prstGeom>
        </p:spPr>
      </p:pic>
      <p:sp>
        <p:nvSpPr>
          <p:cNvPr id="15" name="TextBox 14"/>
          <p:cNvSpPr txBox="1"/>
          <p:nvPr/>
        </p:nvSpPr>
        <p:spPr>
          <a:xfrm>
            <a:off x="1473823" y="5875916"/>
            <a:ext cx="2409412"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3</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아이작의</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번제</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00687629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5962650"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9</a:t>
            </a:fld>
            <a:endParaRPr lang="ko-KR" altLang="en-US" sz="1800" dirty="0"/>
          </a:p>
        </p:txBody>
      </p:sp>
      <p:sp>
        <p:nvSpPr>
          <p:cNvPr id="13" name="TextBox 12"/>
          <p:cNvSpPr txBox="1"/>
          <p:nvPr/>
        </p:nvSpPr>
        <p:spPr>
          <a:xfrm>
            <a:off x="5276851" y="1243002"/>
            <a:ext cx="6467474" cy="4801314"/>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a:t>
            </a:r>
            <a:r>
              <a:rPr lang="ko-KR" altLang="en-US" dirty="0" smtClean="0">
                <a:latin typeface="+mn-ea"/>
              </a:rPr>
              <a:t>되어 던전을 </a:t>
            </a:r>
            <a:r>
              <a:rPr lang="ko-KR" altLang="en-US" dirty="0" smtClean="0">
                <a:latin typeface="+mn-ea"/>
              </a:rPr>
              <a:t>탐험하게 됩니다</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용사들은 각기 </a:t>
            </a:r>
            <a:r>
              <a:rPr lang="ko-KR" altLang="en-US" b="1" dirty="0" smtClean="0">
                <a:latin typeface="+mn-ea"/>
              </a:rPr>
              <a:t>다른 컨셉과 능력</a:t>
            </a:r>
            <a:r>
              <a:rPr lang="ko-KR" altLang="en-US" dirty="0" smtClean="0">
                <a:latin typeface="+mn-ea"/>
              </a:rPr>
              <a:t>을 보유하고 있으며</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던전을 탐험하며 </a:t>
            </a:r>
            <a:r>
              <a:rPr lang="ko-KR" altLang="en-US" dirty="0" err="1" smtClean="0">
                <a:latin typeface="+mn-ea"/>
              </a:rPr>
              <a:t>테이밍한</a:t>
            </a:r>
            <a:r>
              <a:rPr lang="ko-KR" altLang="en-US" dirty="0" smtClean="0">
                <a:latin typeface="+mn-ea"/>
              </a:rPr>
              <a:t> </a:t>
            </a:r>
            <a:r>
              <a:rPr lang="ko-KR" altLang="en-US" dirty="0" err="1" smtClean="0">
                <a:latin typeface="+mn-ea"/>
              </a:rPr>
              <a:t>몬스터들과</a:t>
            </a:r>
            <a:r>
              <a:rPr lang="ko-KR" altLang="en-US" dirty="0" smtClean="0">
                <a:latin typeface="+mn-ea"/>
              </a:rPr>
              <a:t> 함께 더욱 깊은</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곳을 향해 나아갑니다</a:t>
            </a:r>
            <a:r>
              <a:rPr lang="en-US" altLang="ko-KR" dirty="0" smtClean="0">
                <a:latin typeface="+mn-ea"/>
              </a:rPr>
              <a:t>.</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용사와 몬스터는 성장과 아이템을 통해 한층 더 강해집니다</a:t>
            </a:r>
            <a:r>
              <a:rPr lang="en-US" altLang="ko-KR" dirty="0" smtClean="0"/>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각각의 독특하고 고유한 능력과 기술로 </a:t>
            </a:r>
            <a:r>
              <a:rPr lang="ko-KR" altLang="en-US" dirty="0">
                <a:latin typeface="+mn-ea"/>
              </a:rPr>
              <a:t>색다르고 강력한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b="1" dirty="0" smtClean="0">
                <a:latin typeface="+mn-ea"/>
              </a:rPr>
              <a:t>조합을 연구</a:t>
            </a:r>
            <a:r>
              <a:rPr lang="ko-KR" altLang="en-US" dirty="0" smtClean="0">
                <a:latin typeface="+mn-ea"/>
              </a:rPr>
              <a:t>하고</a:t>
            </a:r>
            <a:r>
              <a:rPr lang="en-US" altLang="ko-KR" dirty="0" smtClean="0">
                <a:latin typeface="+mn-ea"/>
              </a:rPr>
              <a:t>, </a:t>
            </a:r>
            <a:r>
              <a:rPr lang="ko-KR" altLang="en-US" b="1" dirty="0">
                <a:latin typeface="+mn-ea"/>
              </a:rPr>
              <a:t>다채로운 </a:t>
            </a:r>
            <a:r>
              <a:rPr lang="ko-KR" altLang="en-US" b="1" dirty="0" smtClean="0">
                <a:latin typeface="+mn-ea"/>
              </a:rPr>
              <a:t>전략</a:t>
            </a:r>
            <a:r>
              <a:rPr lang="ko-KR" altLang="en-US" dirty="0" smtClean="0">
                <a:latin typeface="+mn-ea"/>
              </a:rPr>
              <a:t>을 펼칠 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이를 통해 개인의 성향에 맞는 </a:t>
            </a:r>
            <a:r>
              <a:rPr lang="ko-KR" altLang="en-US" b="1" dirty="0" smtClean="0"/>
              <a:t>각양각색의 플레이</a:t>
            </a:r>
            <a:r>
              <a:rPr lang="ko-KR" altLang="en-US" dirty="0" smtClean="0"/>
              <a:t>를 </a:t>
            </a:r>
            <a:endParaRPr lang="en-US" altLang="ko-KR" dirty="0" smtClean="0"/>
          </a:p>
          <a:p>
            <a:pPr>
              <a:lnSpc>
                <a:spcPct val="150000"/>
              </a:lnSpc>
            </a:pPr>
            <a:r>
              <a:rPr lang="en-US" altLang="ko-KR" dirty="0"/>
              <a:t> </a:t>
            </a:r>
            <a:r>
              <a:rPr lang="en-US" altLang="ko-KR" dirty="0" smtClean="0"/>
              <a:t> </a:t>
            </a:r>
            <a:r>
              <a:rPr lang="ko-KR" altLang="en-US" dirty="0" smtClean="0"/>
              <a:t>제공하고</a:t>
            </a:r>
            <a:r>
              <a:rPr lang="en-US" altLang="ko-KR" dirty="0" smtClean="0"/>
              <a:t>, </a:t>
            </a:r>
            <a:r>
              <a:rPr lang="ko-KR" altLang="en-US" dirty="0" smtClean="0"/>
              <a:t>지속적인 </a:t>
            </a:r>
            <a:r>
              <a:rPr lang="ko-KR" altLang="en-US" dirty="0" err="1" smtClean="0"/>
              <a:t>컨텐츠을</a:t>
            </a:r>
            <a:r>
              <a:rPr lang="ko-KR" altLang="en-US" dirty="0" smtClean="0"/>
              <a:t> 확보하면서 유저로 하여금</a:t>
            </a:r>
            <a:endParaRPr lang="en-US" altLang="ko-KR" dirty="0" smtClean="0"/>
          </a:p>
          <a:p>
            <a:pPr>
              <a:lnSpc>
                <a:spcPct val="150000"/>
              </a:lnSpc>
            </a:pPr>
            <a:r>
              <a:rPr lang="en-US" altLang="ko-KR" dirty="0"/>
              <a:t> </a:t>
            </a:r>
            <a:r>
              <a:rPr lang="ko-KR" altLang="en-US" dirty="0" smtClean="0"/>
              <a:t> 게임에 더욱</a:t>
            </a:r>
            <a:r>
              <a:rPr lang="en-US" altLang="ko-KR" dirty="0" smtClean="0"/>
              <a:t> </a:t>
            </a:r>
            <a:r>
              <a:rPr lang="ko-KR" altLang="en-US" dirty="0" smtClean="0"/>
              <a:t>몰입할 수 있도록 유도합니다</a:t>
            </a:r>
            <a:r>
              <a:rPr lang="en-US" altLang="ko-KR" dirty="0" smtClean="0"/>
              <a:t>.</a:t>
            </a:r>
            <a:endParaRPr lang="en-US" altLang="ko-KR" dirty="0" smtClean="0">
              <a:latin typeface="+mn-ea"/>
            </a:endParaRPr>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515" y="1274142"/>
            <a:ext cx="4014931" cy="2160507"/>
          </a:xfrm>
          <a:prstGeom prst="rect">
            <a:avLst/>
          </a:prstGeom>
        </p:spPr>
      </p:pic>
      <p:sp>
        <p:nvSpPr>
          <p:cNvPr id="9" name="TextBox 8"/>
          <p:cNvSpPr txBox="1"/>
          <p:nvPr/>
        </p:nvSpPr>
        <p:spPr>
          <a:xfrm>
            <a:off x="1401192" y="343465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292" y="3864818"/>
            <a:ext cx="3840901" cy="2160507"/>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5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3200" b="1" dirty="0">
                <a:gradFill>
                  <a:gsLst>
                    <a:gs pos="0">
                      <a:schemeClr val="tx1"/>
                    </a:gs>
                    <a:gs pos="100000">
                      <a:schemeClr val="tx1"/>
                    </a:gs>
                  </a:gsLst>
                  <a:lin ang="5400000" scaled="1"/>
                </a:gradFill>
                <a:latin typeface="맑은 고딕" panose="020B0503020000020004" pitchFamily="50" charset="-127"/>
              </a:rPr>
              <a:t> 육성 </a:t>
            </a:r>
            <a:r>
              <a:rPr lang="ko-KR" altLang="en-US" sz="3200" b="1" dirty="0" smtClean="0">
                <a:gradFill>
                  <a:gsLst>
                    <a:gs pos="0">
                      <a:schemeClr val="tx1"/>
                    </a:gs>
                    <a:gs pos="100000">
                      <a:schemeClr val="tx1"/>
                    </a:gs>
                  </a:gsLst>
                  <a:lin ang="5400000" scaled="1"/>
                </a:gradFill>
                <a:latin typeface="맑은 고딕" panose="020B0503020000020004" pitchFamily="50" charset="-127"/>
              </a:rPr>
              <a:t>시스템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sp>
        <p:nvSpPr>
          <p:cNvPr id="13" name="TextBox 12"/>
          <p:cNvSpPr txBox="1"/>
          <p:nvPr/>
        </p:nvSpPr>
        <p:spPr>
          <a:xfrm>
            <a:off x="5280347" y="1347170"/>
            <a:ext cx="6660506" cy="5078313"/>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용사가 던전을 탐험하고 몬스터를 쓰러트리면</a:t>
            </a:r>
            <a:r>
              <a:rPr lang="en-US" altLang="ko-KR" dirty="0" smtClean="0">
                <a:latin typeface="+mn-ea"/>
              </a:rPr>
              <a:t>, </a:t>
            </a:r>
            <a:r>
              <a:rPr lang="ko-KR" altLang="en-US" dirty="0" smtClean="0">
                <a:latin typeface="+mn-ea"/>
              </a:rPr>
              <a:t>전투 종료 후</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해당 </a:t>
            </a:r>
            <a:r>
              <a:rPr lang="ko-KR" altLang="en-US" dirty="0" err="1" smtClean="0">
                <a:latin typeface="+mn-ea"/>
              </a:rPr>
              <a:t>몬스터들을</a:t>
            </a:r>
            <a:r>
              <a:rPr lang="ko-KR" altLang="en-US" dirty="0" smtClean="0">
                <a:latin typeface="+mn-ea"/>
              </a:rPr>
              <a:t> 자신의 것으로 </a:t>
            </a:r>
            <a:r>
              <a:rPr lang="ko-KR" altLang="en-US" b="1" dirty="0" err="1" smtClean="0">
                <a:latin typeface="+mn-ea"/>
              </a:rPr>
              <a:t>테이밍</a:t>
            </a:r>
            <a:r>
              <a:rPr lang="ko-KR" altLang="en-US" dirty="0" smtClean="0">
                <a:latin typeface="+mn-ea"/>
              </a:rPr>
              <a:t> 할 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latin typeface="+mn-ea"/>
              </a:rPr>
              <a:t>이 때 </a:t>
            </a:r>
            <a:r>
              <a:rPr lang="ko-KR" altLang="en-US" dirty="0" smtClean="0"/>
              <a:t>몬스터에 따라 획득 방법과 제한이 상이하며</a:t>
            </a:r>
            <a:r>
              <a:rPr lang="en-US" altLang="ko-KR" dirty="0" smtClean="0"/>
              <a:t>, </a:t>
            </a:r>
            <a:r>
              <a:rPr lang="ko-KR" altLang="en-US" dirty="0" smtClean="0"/>
              <a:t>원하는 </a:t>
            </a:r>
            <a:endParaRPr lang="en-US" altLang="ko-KR" dirty="0" smtClean="0"/>
          </a:p>
          <a:p>
            <a:pPr>
              <a:lnSpc>
                <a:spcPct val="150000"/>
              </a:lnSpc>
            </a:pPr>
            <a:r>
              <a:rPr lang="en-US" altLang="ko-KR" dirty="0"/>
              <a:t> </a:t>
            </a:r>
            <a:r>
              <a:rPr lang="en-US" altLang="ko-KR" dirty="0" smtClean="0"/>
              <a:t> </a:t>
            </a:r>
            <a:r>
              <a:rPr lang="ko-KR" altLang="en-US" dirty="0" smtClean="0"/>
              <a:t>몬스터를 얻기</a:t>
            </a:r>
            <a:r>
              <a:rPr lang="en-US" altLang="ko-KR" dirty="0" smtClean="0"/>
              <a:t> </a:t>
            </a:r>
            <a:r>
              <a:rPr lang="ko-KR" altLang="en-US" dirty="0" smtClean="0"/>
              <a:t>위해선 </a:t>
            </a:r>
            <a:r>
              <a:rPr lang="ko-KR" altLang="en-US" b="1" dirty="0" smtClean="0"/>
              <a:t>몬스터의 요구사항</a:t>
            </a:r>
            <a:r>
              <a:rPr lang="ko-KR" altLang="en-US" dirty="0" smtClean="0"/>
              <a:t>을 들어줘야 합니다</a:t>
            </a:r>
            <a:r>
              <a:rPr lang="en-US" altLang="ko-KR" dirty="0" smtClean="0"/>
              <a:t>.</a:t>
            </a:r>
            <a:endParaRPr lang="en-US" altLang="ko-KR" sz="1200" dirty="0">
              <a:latin typeface="+mn-ea"/>
            </a:endParaRPr>
          </a:p>
          <a:p>
            <a:pPr>
              <a:lnSpc>
                <a:spcPct val="150000"/>
              </a:lnSpc>
            </a:pPr>
            <a:r>
              <a:rPr lang="ko-KR" altLang="en-US" dirty="0" smtClean="0"/>
              <a:t>  </a:t>
            </a:r>
            <a:r>
              <a:rPr lang="ko-KR" altLang="en-US" dirty="0" err="1" smtClean="0"/>
              <a:t>테이밍한</a:t>
            </a:r>
            <a:r>
              <a:rPr lang="ko-KR" altLang="en-US" dirty="0" smtClean="0"/>
              <a:t> 몬스터는 플레이어의 몬스터가 되어</a:t>
            </a:r>
            <a:r>
              <a:rPr lang="en-US" altLang="ko-KR" dirty="0"/>
              <a:t> </a:t>
            </a:r>
            <a:r>
              <a:rPr lang="ko-KR" altLang="en-US" dirty="0" smtClean="0"/>
              <a:t>전투를 도와줄</a:t>
            </a:r>
            <a:endParaRPr lang="en-US" altLang="ko-KR" dirty="0" smtClean="0"/>
          </a:p>
          <a:p>
            <a:pPr>
              <a:lnSpc>
                <a:spcPct val="150000"/>
              </a:lnSpc>
            </a:pPr>
            <a:r>
              <a:rPr lang="en-US" altLang="ko-KR" dirty="0"/>
              <a:t> </a:t>
            </a:r>
            <a:r>
              <a:rPr lang="ko-KR" altLang="en-US" dirty="0" smtClean="0"/>
              <a:t> 것 입니다</a:t>
            </a:r>
            <a:r>
              <a:rPr lang="en-US" altLang="ko-KR" dirty="0" smtClean="0"/>
              <a:t>. </a:t>
            </a:r>
          </a:p>
          <a:p>
            <a:pPr>
              <a:lnSpc>
                <a:spcPct val="150000"/>
              </a:lnSpc>
            </a:pPr>
            <a:endParaRPr lang="en-US" altLang="ko-KR" sz="1200" dirty="0" smtClean="0"/>
          </a:p>
          <a:p>
            <a:pPr>
              <a:lnSpc>
                <a:spcPct val="150000"/>
              </a:lnSpc>
            </a:pPr>
            <a:r>
              <a:rPr lang="en-US" altLang="ko-KR" dirty="0" smtClean="0"/>
              <a:t>• </a:t>
            </a:r>
            <a:r>
              <a:rPr lang="ko-KR" altLang="en-US" dirty="0" smtClean="0"/>
              <a:t>캐릭터와 몬스터는 </a:t>
            </a:r>
            <a:r>
              <a:rPr lang="ko-KR" altLang="en-US" b="1" dirty="0" smtClean="0"/>
              <a:t>아이템을 장비</a:t>
            </a:r>
            <a:r>
              <a:rPr lang="ko-KR" altLang="en-US" dirty="0" smtClean="0"/>
              <a:t>하거나</a:t>
            </a:r>
            <a:r>
              <a:rPr lang="en-US" altLang="ko-KR" dirty="0" smtClean="0"/>
              <a:t>, </a:t>
            </a:r>
            <a:r>
              <a:rPr lang="ko-KR" altLang="en-US" dirty="0" smtClean="0"/>
              <a:t> 전투에서 </a:t>
            </a:r>
            <a:r>
              <a:rPr lang="ko-KR" altLang="en-US" b="1" dirty="0" smtClean="0"/>
              <a:t>경험치를  </a:t>
            </a:r>
            <a:endParaRPr lang="en-US" altLang="ko-KR" b="1" dirty="0" smtClean="0"/>
          </a:p>
          <a:p>
            <a:pPr>
              <a:lnSpc>
                <a:spcPct val="150000"/>
              </a:lnSpc>
            </a:pPr>
            <a:r>
              <a:rPr lang="en-US" altLang="ko-KR" b="1" dirty="0"/>
              <a:t> </a:t>
            </a:r>
            <a:r>
              <a:rPr lang="en-US" altLang="ko-KR" b="1" dirty="0" smtClean="0"/>
              <a:t> </a:t>
            </a:r>
            <a:r>
              <a:rPr lang="ko-KR" altLang="en-US" b="1" dirty="0" smtClean="0"/>
              <a:t>획득</a:t>
            </a:r>
            <a:r>
              <a:rPr lang="ko-KR" altLang="en-US" dirty="0" smtClean="0"/>
              <a:t>하고 성장함으로써 강해질 수 있습니다</a:t>
            </a:r>
            <a:r>
              <a:rPr lang="en-US" altLang="ko-KR" dirty="0" smtClean="0"/>
              <a:t>. </a:t>
            </a:r>
            <a:r>
              <a:rPr lang="ko-KR" altLang="en-US" dirty="0" smtClean="0"/>
              <a:t>이러한 육성을 </a:t>
            </a:r>
            <a:endParaRPr lang="en-US" altLang="ko-KR" dirty="0" smtClean="0"/>
          </a:p>
          <a:p>
            <a:pPr>
              <a:lnSpc>
                <a:spcPct val="150000"/>
              </a:lnSpc>
            </a:pPr>
            <a:r>
              <a:rPr lang="en-US" altLang="ko-KR" dirty="0"/>
              <a:t> </a:t>
            </a:r>
            <a:r>
              <a:rPr lang="en-US" altLang="ko-KR" dirty="0" smtClean="0"/>
              <a:t> </a:t>
            </a:r>
            <a:r>
              <a:rPr lang="ko-KR" altLang="en-US" dirty="0" smtClean="0"/>
              <a:t>통해 아군의 </a:t>
            </a:r>
            <a:r>
              <a:rPr lang="ko-KR" altLang="en-US" dirty="0" err="1" smtClean="0"/>
              <a:t>능력치가</a:t>
            </a:r>
            <a:r>
              <a:rPr lang="ko-KR" altLang="en-US" dirty="0" smtClean="0"/>
              <a:t> 상승하고 스킬이 강화되어 던전을 더</a:t>
            </a:r>
            <a:endParaRPr lang="en-US" altLang="ko-KR" dirty="0" smtClean="0"/>
          </a:p>
          <a:p>
            <a:pPr>
              <a:lnSpc>
                <a:spcPct val="150000"/>
              </a:lnSpc>
            </a:pPr>
            <a:r>
              <a:rPr lang="en-US" altLang="ko-KR" dirty="0"/>
              <a:t> </a:t>
            </a:r>
            <a:r>
              <a:rPr lang="en-US" altLang="ko-KR" dirty="0" smtClean="0"/>
              <a:t> </a:t>
            </a:r>
            <a:r>
              <a:rPr lang="ko-KR" altLang="en-US" dirty="0" smtClean="0"/>
              <a:t>쉽게 헤쳐나갈 수 있습니다</a:t>
            </a:r>
            <a:r>
              <a:rPr lang="en-US" altLang="ko-KR" dirty="0" smtClean="0"/>
              <a:t>.</a:t>
            </a:r>
          </a:p>
          <a:p>
            <a:pPr>
              <a:lnSpc>
                <a:spcPct val="150000"/>
              </a:lnSpc>
            </a:pPr>
            <a:endParaRPr lang="en-US" altLang="ko-KR" sz="1200" dirty="0" smtClean="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578" y="1255092"/>
            <a:ext cx="3892805"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6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578" y="3817287"/>
            <a:ext cx="3969447" cy="228794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7</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79059868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턴방식</a:t>
            </a:r>
            <a:r>
              <a:rPr lang="ko-KR" altLang="en-US" sz="3200" b="1" dirty="0">
                <a:gradFill>
                  <a:gsLst>
                    <a:gs pos="0">
                      <a:schemeClr val="tx1"/>
                    </a:gs>
                    <a:gs pos="100000">
                      <a:schemeClr val="tx1"/>
                    </a:gs>
                  </a:gsLst>
                  <a:lin ang="5400000" scaled="1"/>
                </a:gradFill>
                <a:latin typeface="맑은 고딕" panose="020B0503020000020004" pitchFamily="50" charset="-127"/>
              </a:rPr>
              <a:t> 전략 </a:t>
            </a:r>
            <a:r>
              <a:rPr lang="ko-KR" altLang="en-US" sz="3200" b="1" dirty="0" smtClean="0">
                <a:gradFill>
                  <a:gsLst>
                    <a:gs pos="0">
                      <a:schemeClr val="tx1"/>
                    </a:gs>
                    <a:gs pos="100000">
                      <a:schemeClr val="tx1"/>
                    </a:gs>
                  </a:gsLst>
                  <a:lin ang="5400000" scaled="1"/>
                </a:gradFill>
                <a:latin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sp>
        <p:nvSpPr>
          <p:cNvPr id="13" name="TextBox 12"/>
          <p:cNvSpPr txBox="1"/>
          <p:nvPr/>
        </p:nvSpPr>
        <p:spPr>
          <a:xfrm>
            <a:off x="5280347" y="1347170"/>
            <a:ext cx="6660506" cy="4662815"/>
          </a:xfrm>
          <a:prstGeom prst="rect">
            <a:avLst/>
          </a:prstGeom>
          <a:noFill/>
        </p:spPr>
        <p:txBody>
          <a:bodyPr wrap="square" rtlCol="0">
            <a:spAutoFit/>
          </a:bodyPr>
          <a:lstStyle/>
          <a:p>
            <a:pPr>
              <a:lnSpc>
                <a:spcPct val="150000"/>
              </a:lnSpc>
            </a:pPr>
            <a:r>
              <a:rPr lang="en-US" altLang="ko-KR" dirty="0"/>
              <a:t>• </a:t>
            </a:r>
            <a:r>
              <a:rPr lang="ko-KR" altLang="en-US" dirty="0" smtClean="0"/>
              <a:t>플레이어는 </a:t>
            </a:r>
            <a:r>
              <a:rPr lang="ko-KR" altLang="en-US" dirty="0" smtClean="0">
                <a:latin typeface="+mn-ea"/>
              </a:rPr>
              <a:t>다양한 개성을 지닌 캐릭터와 몬스터를 조합하여</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 속</a:t>
            </a:r>
            <a:r>
              <a:rPr lang="en-US" altLang="ko-KR" dirty="0" smtClean="0">
                <a:latin typeface="+mn-ea"/>
              </a:rPr>
              <a:t> </a:t>
            </a:r>
            <a:r>
              <a:rPr lang="ko-KR" altLang="en-US" dirty="0" err="1" smtClean="0">
                <a:latin typeface="+mn-ea"/>
              </a:rPr>
              <a:t>몬스터들을</a:t>
            </a:r>
            <a:r>
              <a:rPr lang="ko-KR" altLang="en-US" dirty="0" smtClean="0">
                <a:latin typeface="+mn-ea"/>
              </a:rPr>
              <a:t> 최대한 피해 없이 쓰러트려야 합니다</a:t>
            </a:r>
            <a:r>
              <a:rPr lang="en-US" altLang="ko-KR" dirty="0" smtClean="0">
                <a:latin typeface="+mn-ea"/>
              </a:rPr>
              <a:t>.</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a:t>• </a:t>
            </a:r>
            <a:r>
              <a:rPr lang="ko-KR" altLang="en-US" dirty="0"/>
              <a:t>아군과 적군의 성장 차이</a:t>
            </a:r>
            <a:r>
              <a:rPr lang="en-US" altLang="ko-KR" dirty="0"/>
              <a:t>, </a:t>
            </a:r>
            <a:r>
              <a:rPr lang="ko-KR" altLang="en-US" dirty="0"/>
              <a:t>상성</a:t>
            </a:r>
            <a:r>
              <a:rPr lang="en-US" altLang="ko-KR" dirty="0"/>
              <a:t>, </a:t>
            </a:r>
            <a:r>
              <a:rPr lang="ko-KR" altLang="en-US" dirty="0"/>
              <a:t>아이템의 현황</a:t>
            </a:r>
            <a:r>
              <a:rPr lang="en-US" altLang="ko-KR" dirty="0"/>
              <a:t>, </a:t>
            </a:r>
            <a:r>
              <a:rPr lang="ko-KR" altLang="en-US" dirty="0"/>
              <a:t>파티의 컨셉과 </a:t>
            </a:r>
            <a:endParaRPr lang="en-US" altLang="ko-KR" dirty="0"/>
          </a:p>
          <a:p>
            <a:pPr>
              <a:lnSpc>
                <a:spcPct val="150000"/>
              </a:lnSpc>
            </a:pPr>
            <a:r>
              <a:rPr lang="en-US" altLang="ko-KR" dirty="0"/>
              <a:t>  </a:t>
            </a:r>
            <a:r>
              <a:rPr lang="ko-KR" altLang="en-US" dirty="0"/>
              <a:t>장단점 등 다양한 전략적 변수들이 존재합니다</a:t>
            </a:r>
            <a:r>
              <a:rPr lang="en-US" altLang="ko-KR" dirty="0" smtClean="0"/>
              <a:t>. </a:t>
            </a:r>
          </a:p>
          <a:p>
            <a:pPr>
              <a:lnSpc>
                <a:spcPct val="150000"/>
              </a:lnSpc>
            </a:pPr>
            <a:endParaRPr lang="en-US" altLang="ko-KR" sz="1200" dirty="0"/>
          </a:p>
          <a:p>
            <a:pPr>
              <a:lnSpc>
                <a:spcPct val="150000"/>
              </a:lnSpc>
            </a:pPr>
            <a:r>
              <a:rPr lang="en-US" altLang="ko-KR" dirty="0" smtClean="0"/>
              <a:t>• </a:t>
            </a:r>
            <a:r>
              <a:rPr lang="ko-KR" altLang="en-US" dirty="0" smtClean="0">
                <a:latin typeface="+mn-ea"/>
              </a:rPr>
              <a:t>턴 방식을 통해 이러한 다양한 변수를 고려하며</a:t>
            </a:r>
            <a:r>
              <a:rPr lang="en-US" altLang="ko-KR" dirty="0" smtClean="0">
                <a:latin typeface="+mn-ea"/>
              </a:rPr>
              <a:t> </a:t>
            </a:r>
            <a:r>
              <a:rPr lang="ko-KR" altLang="en-US" dirty="0" smtClean="0">
                <a:latin typeface="+mn-ea"/>
              </a:rPr>
              <a:t>효율적이고</a:t>
            </a:r>
            <a:r>
              <a:rPr lang="en-US" altLang="ko-KR" dirty="0" smtClean="0"/>
              <a:t> </a:t>
            </a:r>
          </a:p>
          <a:p>
            <a:pPr>
              <a:lnSpc>
                <a:spcPct val="150000"/>
              </a:lnSpc>
            </a:pPr>
            <a:r>
              <a:rPr lang="en-US" altLang="ko-KR" dirty="0"/>
              <a:t> </a:t>
            </a:r>
            <a:r>
              <a:rPr lang="en-US" altLang="ko-KR" dirty="0" smtClean="0"/>
              <a:t> </a:t>
            </a:r>
            <a:r>
              <a:rPr lang="ko-KR" altLang="en-US" dirty="0" smtClean="0"/>
              <a:t>합리적인 선택을 내리게끔 하여</a:t>
            </a:r>
            <a:r>
              <a:rPr lang="en-US" altLang="ko-KR" dirty="0" smtClean="0"/>
              <a:t>, </a:t>
            </a:r>
            <a:r>
              <a:rPr lang="ko-KR" altLang="en-US" dirty="0" smtClean="0"/>
              <a:t>게임에 </a:t>
            </a:r>
            <a:r>
              <a:rPr lang="ko-KR" altLang="en-US" dirty="0" err="1" smtClean="0"/>
              <a:t>전략성을</a:t>
            </a:r>
            <a:r>
              <a:rPr lang="ko-KR" altLang="en-US" dirty="0" smtClean="0"/>
              <a:t> 부여합니다</a:t>
            </a:r>
            <a:r>
              <a:rPr lang="en-US" altLang="ko-KR" dirty="0" smtClean="0"/>
              <a:t>.</a:t>
            </a:r>
            <a:endParaRPr lang="en-US" altLang="ko-KR" dirty="0"/>
          </a:p>
          <a:p>
            <a:pPr>
              <a:lnSpc>
                <a:spcPct val="150000"/>
              </a:lnSpc>
            </a:pPr>
            <a:endParaRPr lang="en-US" altLang="ko-KR" sz="1200" dirty="0" smtClean="0"/>
          </a:p>
          <a:p>
            <a:pPr>
              <a:lnSpc>
                <a:spcPct val="150000"/>
              </a:lnSpc>
            </a:pPr>
            <a:r>
              <a:rPr lang="en-US" altLang="ko-KR" dirty="0" smtClean="0"/>
              <a:t>• </a:t>
            </a:r>
            <a:r>
              <a:rPr lang="ko-KR" altLang="en-US" dirty="0" smtClean="0"/>
              <a:t>실시간으로 플레이어의 컨트롤 능력을 요구하는 대신</a:t>
            </a:r>
            <a:r>
              <a:rPr lang="en-US" altLang="ko-KR" dirty="0" smtClean="0"/>
              <a:t> </a:t>
            </a:r>
            <a:r>
              <a:rPr lang="ko-KR" altLang="en-US" dirty="0" smtClean="0"/>
              <a:t>적절한   </a:t>
            </a:r>
            <a:endParaRPr lang="en-US" altLang="ko-KR" dirty="0" smtClean="0"/>
          </a:p>
          <a:p>
            <a:pPr>
              <a:lnSpc>
                <a:spcPct val="150000"/>
              </a:lnSpc>
            </a:pPr>
            <a:r>
              <a:rPr lang="en-US" altLang="ko-KR" dirty="0"/>
              <a:t> </a:t>
            </a:r>
            <a:r>
              <a:rPr lang="en-US" altLang="ko-KR" dirty="0" smtClean="0"/>
              <a:t> </a:t>
            </a:r>
            <a:r>
              <a:rPr lang="ko-KR" altLang="en-US" dirty="0" smtClean="0"/>
              <a:t>판단을 필요로 하기 때문에</a:t>
            </a:r>
            <a:r>
              <a:rPr lang="en-US" altLang="ko-KR" dirty="0" smtClean="0"/>
              <a:t>, </a:t>
            </a:r>
            <a:r>
              <a:rPr lang="ko-KR" altLang="en-US" dirty="0" smtClean="0"/>
              <a:t>남녀노소 누구나 접근할 수 있고</a:t>
            </a:r>
            <a:endParaRPr lang="en-US" altLang="ko-KR" dirty="0" smtClean="0"/>
          </a:p>
          <a:p>
            <a:pPr>
              <a:lnSpc>
                <a:spcPct val="150000"/>
              </a:lnSpc>
            </a:pPr>
            <a:r>
              <a:rPr lang="ko-KR" altLang="en-US" dirty="0" smtClean="0"/>
              <a:t>  게임의 기술적 구현에 있어서도 장점을 가지고 있습니다</a:t>
            </a:r>
            <a:r>
              <a:rPr lang="en-US" altLang="ko-KR" dirty="0" smtClean="0"/>
              <a:t>.</a:t>
            </a:r>
            <a:endParaRPr lang="en-US" altLang="ko-KR" dirty="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530" y="1255092"/>
            <a:ext cx="3840901"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530" y="3859452"/>
            <a:ext cx="3840901" cy="216050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9</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454136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2" name="그룹 1"/>
          <p:cNvGrpSpPr/>
          <p:nvPr/>
        </p:nvGrpSpPr>
        <p:grpSpPr>
          <a:xfrm>
            <a:off x="10374267" y="802896"/>
            <a:ext cx="1943240" cy="369332"/>
            <a:chOff x="10374267" y="802896"/>
            <a:chExt cx="1943240" cy="369332"/>
          </a:xfrm>
        </p:grpSpPr>
        <p:sp>
          <p:nvSpPr>
            <p:cNvPr id="75" name="TextBox 7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cxnSp>
          <p:nvCxnSpPr>
            <p:cNvPr id="76" name="직선 화살표 연결선 75"/>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10374267" y="802896"/>
            <a:ext cx="1943240" cy="369332"/>
            <a:chOff x="10374267" y="802896"/>
            <a:chExt cx="1943240" cy="369332"/>
          </a:xfrm>
        </p:grpSpPr>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grpSp>
      <p:sp>
        <p:nvSpPr>
          <p:cNvPr id="96" name="TextBox 95"/>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TextBox 107"/>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15</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16</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재사용할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3</a:t>
            </a:r>
            <a:r>
              <a:rPr lang="ko-KR" altLang="en-US" dirty="0" smtClean="0"/>
              <a:t>마리까지 파티를 편성할 수 있다</a:t>
            </a:r>
            <a:r>
              <a:rPr lang="en-US" altLang="ko-KR" dirty="0" smtClean="0"/>
              <a:t>.</a:t>
            </a:r>
            <a:endParaRPr lang="en-US" altLang="ko-KR" dirty="0" smtClean="0">
              <a:latin typeface="+mn-ea"/>
            </a:endParaRPr>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
        <p:nvSpPr>
          <p:cNvPr id="9" name="TextBox 8"/>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val="3321536260"/>
                    </a:ext>
                  </a:extLst>
                </a:gridCol>
                <a:gridCol w="6285865">
                  <a:extLst>
                    <a:ext uri="{9D8B030D-6E8A-4147-A177-3AD203B41FA5}">
                      <a16:colId xmlns:a16="http://schemas.microsoft.com/office/drawing/2014/main" val="2362139744"/>
                    </a:ext>
                  </a:extLst>
                </a:gridCol>
                <a:gridCol w="2451734">
                  <a:extLst>
                    <a:ext uri="{9D8B030D-6E8A-4147-A177-3AD203B41FA5}">
                      <a16:colId xmlns:a16="http://schemas.microsoft.com/office/drawing/2014/main"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32</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35</a:t>
            </a:fld>
            <a:endParaRPr lang="ko-KR" altLang="en-US" sz="1800" dirty="0"/>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078313"/>
          </a:xfrm>
          <a:prstGeom prst="rect">
            <a:avLst/>
          </a:prstGeom>
          <a:noFill/>
        </p:spPr>
        <p:txBody>
          <a:bodyPr wrap="square" rtlCol="0">
            <a:spAutoFit/>
          </a:bodyPr>
          <a:lstStyle/>
          <a:p>
            <a:pPr>
              <a:lnSpc>
                <a:spcPct val="150000"/>
              </a:lnSpc>
            </a:pPr>
            <a:r>
              <a:rPr lang="en-US" altLang="ko-KR" dirty="0" smtClean="0"/>
              <a:t>1-1</a:t>
            </a:r>
            <a:r>
              <a:rPr lang="en-US" altLang="ko-KR" dirty="0" smtClean="0"/>
              <a:t>) </a:t>
            </a:r>
            <a:r>
              <a:rPr lang="ko-KR" altLang="en-US" dirty="0" smtClean="0"/>
              <a:t>포켓몬스터 모바일 게임 속 전투 화면</a:t>
            </a:r>
            <a:endParaRPr lang="en-US" altLang="ko-KR" dirty="0" smtClean="0"/>
          </a:p>
          <a:p>
            <a:pPr>
              <a:lnSpc>
                <a:spcPct val="150000"/>
              </a:lnSpc>
            </a:pPr>
            <a:r>
              <a:rPr lang="en-US" altLang="ko-KR" dirty="0" smtClean="0">
                <a:hlinkClick r:id="rId2"/>
              </a:rPr>
              <a:t>https</a:t>
            </a:r>
            <a:r>
              <a:rPr lang="en-US" altLang="ko-KR" dirty="0">
                <a:hlinkClick r:id="rId2"/>
              </a:rPr>
              <a:t>://</a:t>
            </a:r>
            <a:r>
              <a:rPr lang="en-US" altLang="ko-KR" dirty="0" smtClean="0">
                <a:hlinkClick r:id="rId2"/>
              </a:rPr>
              <a:t>www.clien.net/service/board/park/12754454</a:t>
            </a:r>
            <a:r>
              <a:rPr lang="en-US" altLang="ko-KR" dirty="0" smtClean="0"/>
              <a:t> </a:t>
            </a:r>
            <a:r>
              <a:rPr lang="en-US" altLang="ko-KR" dirty="0" smtClean="0"/>
              <a:t>(</a:t>
            </a:r>
            <a:r>
              <a:rPr lang="en-US" altLang="ko-KR" dirty="0" smtClean="0"/>
              <a:t>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en-US" altLang="ko-KR" dirty="0" smtClean="0"/>
              <a:t>‘</a:t>
            </a:r>
            <a:r>
              <a:rPr lang="ko-KR" altLang="en-US" dirty="0" err="1" smtClean="0"/>
              <a:t>서머너즈</a:t>
            </a:r>
            <a:r>
              <a:rPr lang="ko-KR" altLang="en-US" dirty="0" smtClean="0"/>
              <a:t> 워</a:t>
            </a:r>
            <a:r>
              <a:rPr lang="en-US" altLang="ko-KR" dirty="0" smtClean="0"/>
              <a:t>’, </a:t>
            </a:r>
            <a:r>
              <a:rPr lang="ko-KR" altLang="en-US" dirty="0" smtClean="0"/>
              <a:t>아레나 전투 화면</a:t>
            </a:r>
            <a:endParaRPr lang="en-US" altLang="ko-KR" dirty="0" smtClean="0"/>
          </a:p>
          <a:p>
            <a:pPr>
              <a:lnSpc>
                <a:spcPct val="150000"/>
              </a:lnSpc>
            </a:pPr>
            <a:r>
              <a:rPr lang="en-US" altLang="ko-KR" dirty="0" smtClean="0">
                <a:hlinkClick r:id="rId3"/>
              </a:rPr>
              <a:t>http</a:t>
            </a:r>
            <a:r>
              <a:rPr lang="en-US" altLang="ko-KR" dirty="0">
                <a:hlinkClick r:id="rId3"/>
              </a:rPr>
              <a:t>://</a:t>
            </a:r>
            <a:r>
              <a:rPr lang="en-US" altLang="ko-KR" dirty="0" smtClean="0">
                <a:hlinkClick r:id="rId3"/>
              </a:rPr>
              <a:t>www.kukinews.com/news/article.html?no=467851</a:t>
            </a:r>
            <a:r>
              <a:rPr lang="en-US" altLang="ko-KR" dirty="0" smtClean="0"/>
              <a:t> (1</a:t>
            </a:r>
            <a:r>
              <a:rPr lang="ko-KR" altLang="en-US" dirty="0" smtClean="0"/>
              <a:t>번 </a:t>
            </a:r>
            <a:r>
              <a:rPr lang="ko-KR" altLang="en-US" dirty="0" err="1" smtClean="0"/>
              <a:t>스크린샷</a:t>
            </a:r>
            <a:r>
              <a:rPr lang="en-US" altLang="ko-KR" dirty="0" smtClean="0"/>
              <a:t>)</a:t>
            </a:r>
            <a:endParaRPr lang="en-US" altLang="ko-KR" dirty="0" smtClean="0"/>
          </a:p>
          <a:p>
            <a:pPr>
              <a:lnSpc>
                <a:spcPct val="150000"/>
              </a:lnSpc>
            </a:pPr>
            <a:r>
              <a:rPr lang="en-US" altLang="ko-KR" dirty="0" smtClean="0"/>
              <a:t>2-1) </a:t>
            </a:r>
            <a:r>
              <a:rPr lang="en-US" altLang="ko-KR" dirty="0" smtClean="0"/>
              <a:t>‘</a:t>
            </a:r>
            <a:r>
              <a:rPr lang="ko-KR" altLang="en-US" dirty="0" err="1" smtClean="0"/>
              <a:t>던그리드</a:t>
            </a:r>
            <a:r>
              <a:rPr lang="en-US" altLang="ko-KR" dirty="0" smtClean="0"/>
              <a:t>’, </a:t>
            </a:r>
            <a:r>
              <a:rPr lang="ko-KR" altLang="en-US" dirty="0" err="1" smtClean="0"/>
              <a:t>튜토리얼</a:t>
            </a:r>
            <a:r>
              <a:rPr lang="ko-KR" altLang="en-US" dirty="0" smtClean="0"/>
              <a:t> 속 던전의 출현 화면</a:t>
            </a:r>
            <a:endParaRPr lang="en-US" altLang="ko-KR" dirty="0" smtClean="0"/>
          </a:p>
          <a:p>
            <a:pPr>
              <a:lnSpc>
                <a:spcPct val="150000"/>
              </a:lnSpc>
            </a:pPr>
            <a:r>
              <a:rPr lang="en-US" altLang="ko-KR" dirty="0" smtClean="0">
                <a:hlinkClick r:id="rId4"/>
              </a:rPr>
              <a:t>https</a:t>
            </a:r>
            <a:r>
              <a:rPr lang="en-US" altLang="ko-KR" dirty="0">
                <a:hlinkClick r:id="rId4"/>
              </a:rPr>
              <a:t>://</a:t>
            </a:r>
            <a:r>
              <a:rPr lang="en-US" altLang="ko-KR" dirty="0" smtClean="0">
                <a:hlinkClick r:id="rId4"/>
              </a:rPr>
              <a:t>www.vingle.net/posts/2320991</a:t>
            </a:r>
            <a:r>
              <a:rPr lang="en-US" altLang="ko-KR" dirty="0" smtClean="0"/>
              <a:t> (</a:t>
            </a:r>
            <a:r>
              <a:rPr lang="en-US" altLang="ko-KR" dirty="0"/>
              <a:t>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en-US" altLang="ko-KR" dirty="0" smtClean="0"/>
              <a:t>‘</a:t>
            </a:r>
            <a:r>
              <a:rPr lang="ko-KR" altLang="en-US" dirty="0" err="1" smtClean="0"/>
              <a:t>다키스트</a:t>
            </a:r>
            <a:r>
              <a:rPr lang="ko-KR" altLang="en-US" dirty="0" smtClean="0"/>
              <a:t> 던전</a:t>
            </a:r>
            <a:r>
              <a:rPr lang="en-US" altLang="ko-KR" dirty="0" smtClean="0"/>
              <a:t>’, </a:t>
            </a:r>
            <a:r>
              <a:rPr lang="ko-KR" altLang="en-US" dirty="0" smtClean="0"/>
              <a:t>던전 전투 화면</a:t>
            </a:r>
            <a:endParaRPr lang="en-US" altLang="ko-KR" dirty="0" smtClean="0"/>
          </a:p>
          <a:p>
            <a:pPr>
              <a:lnSpc>
                <a:spcPct val="150000"/>
              </a:lnSpc>
            </a:pPr>
            <a:r>
              <a:rPr lang="en-US" altLang="ko-KR" dirty="0" smtClean="0">
                <a:hlinkClick r:id="rId5"/>
              </a:rPr>
              <a:t>https</a:t>
            </a:r>
            <a:r>
              <a:rPr lang="en-US" altLang="ko-KR" dirty="0">
                <a:hlinkClick r:id="rId5"/>
              </a:rPr>
              <a:t>://steamcommunity.com/sharedfiles/filedetails/?</a:t>
            </a:r>
            <a:r>
              <a:rPr lang="en-US" altLang="ko-KR" dirty="0" smtClean="0">
                <a:hlinkClick r:id="rId5"/>
              </a:rPr>
              <a:t>id=396427946</a:t>
            </a:r>
            <a:r>
              <a:rPr lang="en-US" altLang="ko-KR" dirty="0" smtClean="0"/>
              <a:t> (11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en-US" altLang="ko-KR" dirty="0" smtClean="0"/>
              <a:t>‘</a:t>
            </a:r>
            <a:r>
              <a:rPr lang="ko-KR" altLang="en-US" dirty="0" err="1" smtClean="0"/>
              <a:t>아이작의</a:t>
            </a:r>
            <a:r>
              <a:rPr lang="ko-KR" altLang="en-US" dirty="0" smtClean="0"/>
              <a:t> </a:t>
            </a:r>
            <a:r>
              <a:rPr lang="ko-KR" altLang="en-US" dirty="0" err="1" smtClean="0"/>
              <a:t>번제</a:t>
            </a:r>
            <a:r>
              <a:rPr lang="en-US" altLang="ko-KR" dirty="0" smtClean="0"/>
              <a:t>‘, </a:t>
            </a:r>
            <a:r>
              <a:rPr lang="ko-KR" altLang="en-US" dirty="0" smtClean="0"/>
              <a:t>사망 결과 화면</a:t>
            </a:r>
            <a:endParaRPr lang="en-US" altLang="ko-KR" dirty="0" smtClean="0"/>
          </a:p>
          <a:p>
            <a:pPr>
              <a:lnSpc>
                <a:spcPct val="150000"/>
              </a:lnSpc>
            </a:pPr>
            <a:r>
              <a:rPr lang="en-US" altLang="ko-KR" dirty="0" smtClean="0">
                <a:hlinkClick r:id="rId6"/>
              </a:rPr>
              <a:t>https</a:t>
            </a:r>
            <a:r>
              <a:rPr lang="en-US" altLang="ko-KR" dirty="0">
                <a:hlinkClick r:id="rId6"/>
              </a:rPr>
              <a:t>://entropymag.org/hobby-horse-anatomy-bawdy-and-body-in-the-binding-of-isaac-ch-3</a:t>
            </a:r>
            <a:r>
              <a:rPr lang="en-US" altLang="ko-KR" dirty="0" smtClean="0">
                <a:hlinkClick r:id="rId6"/>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a:t>
            </a:r>
            <a:r>
              <a:rPr lang="en-US" altLang="ko-KR" dirty="0" smtClean="0"/>
              <a:t>) ‘</a:t>
            </a:r>
            <a:r>
              <a:rPr lang="ko-KR" altLang="en-US" dirty="0" smtClean="0"/>
              <a:t>던전 메이커</a:t>
            </a:r>
            <a:r>
              <a:rPr lang="en-US" altLang="ko-KR" dirty="0" smtClean="0"/>
              <a:t>’, </a:t>
            </a:r>
            <a:r>
              <a:rPr lang="ko-KR" altLang="en-US" dirty="0" smtClean="0"/>
              <a:t>보유 몬스터 화면</a:t>
            </a:r>
            <a:endParaRPr lang="en-US" altLang="ko-KR" dirty="0" smtClean="0"/>
          </a:p>
          <a:p>
            <a:pPr>
              <a:lnSpc>
                <a:spcPct val="150000"/>
              </a:lnSpc>
            </a:pPr>
            <a:r>
              <a:rPr lang="en-US" altLang="ko-KR" dirty="0">
                <a:hlinkClick r:id="rId7"/>
              </a:rPr>
              <a:t>https://</a:t>
            </a:r>
            <a:r>
              <a:rPr lang="en-US" altLang="ko-KR" dirty="0" smtClean="0">
                <a:hlinkClick r:id="rId7"/>
              </a:rPr>
              <a:t>minimap.net/game/dungeon-maker/review</a:t>
            </a:r>
            <a:r>
              <a:rPr lang="en-US" altLang="ko-KR" dirty="0" smtClean="0"/>
              <a:t> </a:t>
            </a:r>
            <a:r>
              <a:rPr lang="en-US" altLang="ko-KR" dirty="0" smtClean="0"/>
              <a:t>(9</a:t>
            </a:r>
            <a:r>
              <a:rPr lang="ko-KR" altLang="en-US" dirty="0" smtClean="0"/>
              <a:t>번 </a:t>
            </a:r>
            <a:r>
              <a:rPr lang="ko-KR" altLang="en-US" dirty="0" err="1"/>
              <a:t>스크린샷</a:t>
            </a:r>
            <a:r>
              <a:rPr lang="en-US" altLang="ko-KR" dirty="0" smtClean="0"/>
              <a:t>)</a:t>
            </a:r>
            <a:endParaRPr lang="en-US" altLang="ko-KR" dirty="0" smtClean="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36</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5493812"/>
          </a:xfrm>
          <a:prstGeom prst="rect">
            <a:avLst/>
          </a:prstGeom>
          <a:noFill/>
        </p:spPr>
        <p:txBody>
          <a:bodyPr wrap="square" rtlCol="0">
            <a:spAutoFit/>
          </a:bodyPr>
          <a:lstStyle/>
          <a:p>
            <a:pPr>
              <a:lnSpc>
                <a:spcPct val="150000"/>
              </a:lnSpc>
            </a:pPr>
            <a:r>
              <a:rPr lang="en-US" altLang="ko-KR" dirty="0" smtClean="0"/>
              <a:t>2-5) ‘</a:t>
            </a:r>
            <a:r>
              <a:rPr lang="ko-KR" altLang="en-US" dirty="0" err="1" smtClean="0"/>
              <a:t>던그리드</a:t>
            </a:r>
            <a:r>
              <a:rPr lang="en-US" altLang="ko-KR" dirty="0" smtClean="0"/>
              <a:t>’, </a:t>
            </a:r>
            <a:r>
              <a:rPr lang="ko-KR" altLang="en-US" dirty="0" smtClean="0"/>
              <a:t>의상실 화면</a:t>
            </a:r>
            <a:endParaRPr lang="en-US" altLang="ko-KR" dirty="0" smtClean="0"/>
          </a:p>
          <a:p>
            <a:pPr>
              <a:lnSpc>
                <a:spcPct val="150000"/>
              </a:lnSpc>
            </a:pPr>
            <a:r>
              <a:rPr lang="en-US" altLang="ko-KR" dirty="0">
                <a:hlinkClick r:id="rId2"/>
              </a:rPr>
              <a:t>https://</a:t>
            </a:r>
            <a:r>
              <a:rPr lang="en-US" altLang="ko-KR" dirty="0" smtClean="0">
                <a:hlinkClick r:id="rId2"/>
              </a:rPr>
              <a:t>realust.tistory.com/506</a:t>
            </a:r>
            <a:r>
              <a:rPr lang="en-US" altLang="ko-KR" dirty="0" smtClean="0"/>
              <a:t> (4</a:t>
            </a:r>
            <a:r>
              <a:rPr lang="ko-KR" altLang="en-US" dirty="0" smtClean="0"/>
              <a:t>번 </a:t>
            </a:r>
            <a:r>
              <a:rPr lang="ko-KR" altLang="en-US" dirty="0" err="1"/>
              <a:t>스크린샷</a:t>
            </a:r>
            <a:r>
              <a:rPr lang="en-US" altLang="ko-KR" dirty="0"/>
              <a:t>)</a:t>
            </a:r>
          </a:p>
          <a:p>
            <a:pPr>
              <a:lnSpc>
                <a:spcPct val="150000"/>
              </a:lnSpc>
            </a:pPr>
            <a:r>
              <a:rPr lang="en-US" altLang="ko-KR" dirty="0" smtClean="0"/>
              <a:t>2-6) ‘</a:t>
            </a:r>
            <a:r>
              <a:rPr lang="ko-KR" altLang="en-US" dirty="0" smtClean="0"/>
              <a:t>몬스터슈퍼리그</a:t>
            </a:r>
            <a:r>
              <a:rPr lang="en-US" altLang="ko-KR" dirty="0" smtClean="0"/>
              <a:t>’, </a:t>
            </a:r>
            <a:r>
              <a:rPr lang="ko-KR" altLang="en-US" dirty="0" smtClean="0"/>
              <a:t>몬스터 획득 장면</a:t>
            </a:r>
            <a:endParaRPr lang="en-US" altLang="ko-KR" dirty="0" smtClean="0"/>
          </a:p>
          <a:p>
            <a:pPr>
              <a:lnSpc>
                <a:spcPct val="150000"/>
              </a:lnSpc>
            </a:pPr>
            <a:r>
              <a:rPr lang="en-US" altLang="ko-KR" dirty="0">
                <a:hlinkClick r:id="rId3"/>
              </a:rPr>
              <a:t>http://www.thisisgame.com/webzine/game/nboard/19/?</a:t>
            </a:r>
            <a:r>
              <a:rPr lang="en-US" altLang="ko-KR" dirty="0" smtClean="0">
                <a:hlinkClick r:id="rId3"/>
              </a:rPr>
              <a:t>page=13&amp;n=64534</a:t>
            </a:r>
            <a:r>
              <a:rPr lang="en-US" altLang="ko-KR" dirty="0" smtClean="0"/>
              <a:t> (</a:t>
            </a:r>
            <a:r>
              <a:rPr lang="en-US" altLang="ko-KR" dirty="0"/>
              <a:t>4</a:t>
            </a:r>
            <a:r>
              <a:rPr lang="ko-KR" altLang="en-US" dirty="0"/>
              <a:t>번 </a:t>
            </a:r>
            <a:r>
              <a:rPr lang="ko-KR" altLang="en-US" dirty="0" err="1"/>
              <a:t>스크린샷</a:t>
            </a:r>
            <a:r>
              <a:rPr lang="en-US" altLang="ko-KR" dirty="0"/>
              <a:t>)</a:t>
            </a:r>
          </a:p>
          <a:p>
            <a:pPr>
              <a:lnSpc>
                <a:spcPct val="150000"/>
              </a:lnSpc>
            </a:pPr>
            <a:r>
              <a:rPr lang="en-US" altLang="ko-KR" dirty="0" smtClean="0"/>
              <a:t>2-7) ‘</a:t>
            </a:r>
            <a:r>
              <a:rPr lang="ko-KR" altLang="en-US" dirty="0" err="1" smtClean="0"/>
              <a:t>마계전기</a:t>
            </a:r>
            <a:r>
              <a:rPr lang="ko-KR" altLang="en-US" dirty="0" smtClean="0"/>
              <a:t> </a:t>
            </a:r>
            <a:r>
              <a:rPr lang="ko-KR" altLang="en-US" dirty="0" err="1" smtClean="0"/>
              <a:t>디스가이아</a:t>
            </a:r>
            <a:r>
              <a:rPr lang="ko-KR" altLang="en-US" dirty="0" smtClean="0"/>
              <a:t> </a:t>
            </a:r>
            <a:r>
              <a:rPr lang="en-US" altLang="ko-KR" dirty="0" smtClean="0"/>
              <a:t>5’</a:t>
            </a:r>
          </a:p>
          <a:p>
            <a:pPr>
              <a:lnSpc>
                <a:spcPct val="150000"/>
              </a:lnSpc>
            </a:pPr>
            <a:r>
              <a:rPr lang="en-US" altLang="ko-KR" dirty="0">
                <a:hlinkClick r:id="rId4"/>
              </a:rPr>
              <a:t>http://www.thisisgame.com/pad/tboard/?</a:t>
            </a:r>
            <a:r>
              <a:rPr lang="en-US" altLang="ko-KR" dirty="0" smtClean="0">
                <a:hlinkClick r:id="rId4"/>
              </a:rPr>
              <a:t>board=37&amp;n=286482</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2-8) ‘</a:t>
            </a:r>
            <a:r>
              <a:rPr lang="ko-KR" altLang="en-US" dirty="0" err="1" smtClean="0"/>
              <a:t>미소스</a:t>
            </a:r>
            <a:r>
              <a:rPr lang="ko-KR" altLang="en-US" dirty="0" smtClean="0"/>
              <a:t> 영웅전 </a:t>
            </a:r>
            <a:r>
              <a:rPr lang="en-US" altLang="ko-KR" dirty="0" smtClean="0"/>
              <a:t>for </a:t>
            </a:r>
            <a:r>
              <a:rPr lang="en-US" altLang="ko-KR" dirty="0" err="1" smtClean="0"/>
              <a:t>kakao</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5"/>
              </a:rPr>
              <a:t>http://www.thisisgame.com/mobile/nboard/1/?</a:t>
            </a:r>
            <a:r>
              <a:rPr lang="en-US" altLang="ko-KR" dirty="0" smtClean="0">
                <a:hlinkClick r:id="rId5"/>
              </a:rPr>
              <a:t>n=55660&amp;mode=print</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2-9) ‘</a:t>
            </a:r>
            <a:r>
              <a:rPr lang="ko-KR" altLang="en-US" dirty="0" err="1" smtClean="0"/>
              <a:t>그랜드체이스</a:t>
            </a:r>
            <a:r>
              <a:rPr lang="ko-KR" altLang="en-US" dirty="0" smtClean="0"/>
              <a:t> 올스타</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6"/>
              </a:rPr>
              <a:t>http://www.thisisgame.com/mobile/nboard/1/?</a:t>
            </a:r>
            <a:r>
              <a:rPr lang="en-US" altLang="ko-KR" dirty="0" smtClean="0">
                <a:hlinkClick r:id="rId6"/>
              </a:rPr>
              <a:t>n=51285</a:t>
            </a:r>
            <a:r>
              <a:rPr lang="en-US" altLang="ko-KR" dirty="0" smtClean="0"/>
              <a:t> (2</a:t>
            </a:r>
            <a:r>
              <a:rPr lang="ko-KR" altLang="en-US" dirty="0" smtClean="0"/>
              <a:t>번 </a:t>
            </a:r>
            <a:r>
              <a:rPr lang="ko-KR" altLang="en-US" dirty="0" err="1"/>
              <a:t>스크린샷</a:t>
            </a:r>
            <a:r>
              <a:rPr lang="en-US" altLang="ko-KR" dirty="0"/>
              <a:t>)</a:t>
            </a:r>
          </a:p>
          <a:p>
            <a:pPr>
              <a:lnSpc>
                <a:spcPct val="150000"/>
              </a:lnSpc>
            </a:pPr>
            <a:r>
              <a:rPr lang="en-US" altLang="ko-KR" dirty="0"/>
              <a:t>2-10) </a:t>
            </a:r>
            <a:r>
              <a:rPr lang="en-US" altLang="ko-KR" dirty="0">
                <a:hlinkClick r:id="rId7"/>
              </a:rPr>
              <a:t>https://store.steampowered.com/app/785740/This_Is_the_Police_2/</a:t>
            </a:r>
            <a:r>
              <a:rPr lang="en-US" altLang="ko-KR" dirty="0"/>
              <a:t> (2</a:t>
            </a:r>
            <a:r>
              <a:rPr lang="ko-KR" altLang="en-US" dirty="0"/>
              <a:t>번 </a:t>
            </a:r>
            <a:r>
              <a:rPr lang="ko-KR" altLang="en-US" dirty="0" err="1"/>
              <a:t>스크린샷</a:t>
            </a:r>
            <a:r>
              <a:rPr lang="en-US" altLang="ko-KR" dirty="0"/>
              <a:t>)</a:t>
            </a:r>
          </a:p>
          <a:p>
            <a:pPr>
              <a:lnSpc>
                <a:spcPct val="150000"/>
              </a:lnSpc>
            </a:pPr>
            <a:r>
              <a:rPr lang="en-US" altLang="ko-KR" dirty="0"/>
              <a:t>2-11) </a:t>
            </a:r>
            <a:r>
              <a:rPr lang="en-US" altLang="ko-KR" dirty="0">
                <a:hlinkClick r:id="rId8"/>
              </a:rPr>
              <a:t>https://taskandpurpose.com/xcom2-war-chosen-review/</a:t>
            </a:r>
            <a:r>
              <a:rPr lang="en-US" altLang="ko-KR" dirty="0"/>
              <a:t> </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37</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38</a:t>
            </a:fld>
            <a:endParaRPr lang="ko-KR" altLang="en-US" dirty="0"/>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39</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5241</TotalTime>
  <Words>2220</Words>
  <Application>Microsoft Office PowerPoint</Application>
  <PresentationFormat>와이드스크린</PresentationFormat>
  <Paragraphs>588</Paragraphs>
  <Slides>39</Slides>
  <Notes>2</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39</vt:i4>
      </vt:variant>
    </vt:vector>
  </HeadingPairs>
  <TitlesOfParts>
    <vt:vector size="46" baseType="lpstr">
      <vt:lpstr>맑은 고딕</vt:lpstr>
      <vt:lpstr>HY견명조</vt:lpstr>
      <vt:lpstr>Arial</vt:lpstr>
      <vt:lpstr>210 앱굴림 R</vt:lpstr>
      <vt:lpstr>돋움</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Windows 사용자</cp:lastModifiedBy>
  <cp:revision>371</cp:revision>
  <dcterms:created xsi:type="dcterms:W3CDTF">2017-06-15T12:10:59Z</dcterms:created>
  <dcterms:modified xsi:type="dcterms:W3CDTF">2019-01-06T18:39:22Z</dcterms:modified>
</cp:coreProperties>
</file>