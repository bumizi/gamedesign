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77"/>
  </p:notesMasterIdLst>
  <p:sldIdLst>
    <p:sldId id="273" r:id="rId3"/>
    <p:sldId id="260" r:id="rId4"/>
    <p:sldId id="288" r:id="rId5"/>
    <p:sldId id="289" r:id="rId6"/>
    <p:sldId id="341" r:id="rId7"/>
    <p:sldId id="266" r:id="rId8"/>
    <p:sldId id="290" r:id="rId9"/>
    <p:sldId id="342" r:id="rId10"/>
    <p:sldId id="276" r:id="rId11"/>
    <p:sldId id="339" r:id="rId12"/>
    <p:sldId id="332" r:id="rId13"/>
    <p:sldId id="291" r:id="rId14"/>
    <p:sldId id="333" r:id="rId15"/>
    <p:sldId id="334" r:id="rId16"/>
    <p:sldId id="343" r:id="rId17"/>
    <p:sldId id="329" r:id="rId18"/>
    <p:sldId id="353" r:id="rId19"/>
    <p:sldId id="347" r:id="rId20"/>
    <p:sldId id="348" r:id="rId21"/>
    <p:sldId id="349" r:id="rId22"/>
    <p:sldId id="351" r:id="rId23"/>
    <p:sldId id="350" r:id="rId24"/>
    <p:sldId id="352" r:id="rId25"/>
    <p:sldId id="355" r:id="rId26"/>
    <p:sldId id="330" r:id="rId27"/>
    <p:sldId id="340" r:id="rId28"/>
    <p:sldId id="33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70" r:id="rId43"/>
    <p:sldId id="369" r:id="rId44"/>
    <p:sldId id="371" r:id="rId45"/>
    <p:sldId id="372" r:id="rId46"/>
    <p:sldId id="354" r:id="rId47"/>
    <p:sldId id="336" r:id="rId48"/>
    <p:sldId id="338" r:id="rId49"/>
    <p:sldId id="337" r:id="rId50"/>
    <p:sldId id="315" r:id="rId51"/>
    <p:sldId id="325" r:id="rId52"/>
    <p:sldId id="316" r:id="rId53"/>
    <p:sldId id="317" r:id="rId54"/>
    <p:sldId id="318" r:id="rId55"/>
    <p:sldId id="324" r:id="rId56"/>
    <p:sldId id="323" r:id="rId57"/>
    <p:sldId id="327" r:id="rId58"/>
    <p:sldId id="328" r:id="rId59"/>
    <p:sldId id="319" r:id="rId60"/>
    <p:sldId id="320" r:id="rId61"/>
    <p:sldId id="321" r:id="rId62"/>
    <p:sldId id="326" r:id="rId63"/>
    <p:sldId id="322" r:id="rId64"/>
    <p:sldId id="294" r:id="rId65"/>
    <p:sldId id="293" r:id="rId66"/>
    <p:sldId id="295" r:id="rId67"/>
    <p:sldId id="308" r:id="rId68"/>
    <p:sldId id="296" r:id="rId69"/>
    <p:sldId id="309" r:id="rId70"/>
    <p:sldId id="302" r:id="rId71"/>
    <p:sldId id="303" r:id="rId72"/>
    <p:sldId id="306" r:id="rId73"/>
    <p:sldId id="314" r:id="rId74"/>
    <p:sldId id="307" r:id="rId75"/>
    <p:sldId id="275" r:id="rId76"/>
  </p:sldIdLst>
  <p:sldSz cx="12192000" cy="6858000"/>
  <p:notesSz cx="6858000" cy="9144000"/>
  <p:embeddedFontLst>
    <p:embeddedFont>
      <p:font typeface="HY견명조" panose="02030600000101010101" pitchFamily="18" charset="-127"/>
      <p:regular r:id="rId78"/>
    </p:embeddedFont>
    <p:embeddedFont>
      <p:font typeface="210 앱굴림 R" panose="02020603020101020101" pitchFamily="18" charset="-127"/>
      <p:regular r:id="rId79"/>
    </p:embeddedFont>
    <p:embeddedFont>
      <p:font typeface="맑은 고딕" panose="020B0503020000020004" pitchFamily="50" charset="-127"/>
      <p:regular r:id="rId80"/>
      <p:bold r:id="rId81"/>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p15="http://schemas.microsoft.com/office/powerpoint/2012/main"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15" autoAdjust="0"/>
    <p:restoredTop sz="94660" autoAdjust="0"/>
  </p:normalViewPr>
  <p:slideViewPr>
    <p:cSldViewPr snapToGrid="0">
      <p:cViewPr varScale="1">
        <p:scale>
          <a:sx n="81" d="100"/>
          <a:sy n="81" d="100"/>
        </p:scale>
        <p:origin x="96" y="846"/>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2.fntdata"/><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3.fntdata"/><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2019-01-10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2019-01-10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2019-01-10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2019-01-10</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2019-01-10</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2019-01-10</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2019-01-10</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2019-01-10</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2019-01-10</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2019-01-10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2019-01-10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2019-01-10</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2019-01-10</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www.kukinews.com/news/article.html?no=467851" TargetMode="External"/><Relationship Id="rId7" Type="http://schemas.openxmlformats.org/officeDocument/2006/relationships/hyperlink" Target="https://minimap.net/game/dungeon-maker/review" TargetMode="External"/><Relationship Id="rId2" Type="http://schemas.openxmlformats.org/officeDocument/2006/relationships/hyperlink" Target="https://www.clien.net/service/board/park/12754454" TargetMode="External"/><Relationship Id="rId1" Type="http://schemas.openxmlformats.org/officeDocument/2006/relationships/slideLayout" Target="../slideLayouts/slideLayout2.xml"/><Relationship Id="rId6" Type="http://schemas.openxmlformats.org/officeDocument/2006/relationships/hyperlink" Target="https://entropymag.org/hobby-horse-anatomy-bawdy-and-body-in-the-binding-of-isaac-ch-3/" TargetMode="External"/><Relationship Id="rId5" Type="http://schemas.openxmlformats.org/officeDocument/2006/relationships/hyperlink" Target="https://steamcommunity.com/sharedfiles/filedetails/?id=396427946" TargetMode="External"/><Relationship Id="rId4" Type="http://schemas.openxmlformats.org/officeDocument/2006/relationships/hyperlink" Target="https://www.vingle.net/posts/2320991" TargetMode="External"/></Relationships>
</file>

<file path=ppt/slides/_rels/slide72.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thisisgame.com/webzine/game/nboard/19/?page=13&amp;n=64534"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s://realust.tistory.com/506" TargetMode="External"/><Relationship Id="rId1" Type="http://schemas.openxmlformats.org/officeDocument/2006/relationships/slideLayout" Target="../slideLayouts/slideLayout2.xml"/><Relationship Id="rId6" Type="http://schemas.openxmlformats.org/officeDocument/2006/relationships/hyperlink" Target="http://www.thisisgame.com/mobile/nboard/1/?n=51285" TargetMode="External"/><Relationship Id="rId5" Type="http://schemas.openxmlformats.org/officeDocument/2006/relationships/hyperlink" Target="http://www.thisisgame.com/mobile/nboard/1/?n=55660&amp;mode=print" TargetMode="External"/><Relationship Id="rId4" Type="http://schemas.openxmlformats.org/officeDocument/2006/relationships/hyperlink" Target="http://www.thisisgame.com/pad/tboard/?board=37&amp;n=286482"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Tamer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7" y="4596452"/>
            <a:ext cx="5834440"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a:t>
            </a:r>
            <a:r>
              <a:rPr lang="ko-KR" altLang="en-US" dirty="0" smtClean="0">
                <a:solidFill>
                  <a:schemeClr val="bg1"/>
                </a:solidFill>
                <a:latin typeface="+mn-ea"/>
              </a:rPr>
              <a:t>다양한 전략적 조합을 편성</a:t>
            </a:r>
            <a:r>
              <a:rPr lang="ko-KR" altLang="ko-KR" dirty="0" smtClean="0">
                <a:solidFill>
                  <a:schemeClr val="bg1"/>
                </a:solidFill>
                <a:latin typeface="+mn-ea"/>
              </a:rPr>
              <a:t>하여</a:t>
            </a:r>
            <a:endParaRPr lang="en-US" altLang="ko-KR" dirty="0" smtClean="0">
              <a:solidFill>
                <a:schemeClr val="bg1"/>
              </a:solidFill>
              <a:latin typeface="+mn-ea"/>
            </a:endParaRPr>
          </a:p>
          <a:p>
            <a:r>
              <a:rPr lang="ko-KR" altLang="ko-KR" dirty="0" err="1" smtClean="0">
                <a:solidFill>
                  <a:schemeClr val="bg1"/>
                </a:solidFill>
                <a:latin typeface="+mn-ea"/>
              </a:rPr>
              <a:t>던전</a:t>
            </a:r>
            <a:r>
              <a:rPr lang="ko-KR" altLang="ko-KR" dirty="0" smtClean="0">
                <a:solidFill>
                  <a:schemeClr val="bg1"/>
                </a:solidFill>
                <a:latin typeface="+mn-ea"/>
              </a:rPr>
              <a:t>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a:t>
            </a:r>
            <a:r>
              <a:rPr lang="ko-KR" altLang="en-US" sz="2200" b="1" dirty="0" smtClean="0">
                <a:gradFill>
                  <a:gsLst>
                    <a:gs pos="0">
                      <a:schemeClr val="tx1"/>
                    </a:gs>
                    <a:gs pos="100000">
                      <a:schemeClr val="tx1"/>
                    </a:gs>
                  </a:gsLst>
                  <a:lin ang="5400000" scaled="1"/>
                </a:gradFill>
                <a:latin typeface="맑은 고딕" panose="020B0503020000020004" pitchFamily="50" charset="-127"/>
              </a:rPr>
              <a:t>캐릭터와 몬스터</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rPr>
              <a:t>2-4. </a:t>
            </a:r>
            <a:r>
              <a:rPr lang="ko-KR" altLang="en-US" sz="2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2200" b="1" dirty="0">
                <a:gradFill>
                  <a:gsLst>
                    <a:gs pos="0">
                      <a:schemeClr val="tx1"/>
                    </a:gs>
                    <a:gs pos="100000">
                      <a:schemeClr val="tx1"/>
                    </a:gs>
                  </a:gsLst>
                  <a:lin ang="5400000" scaled="1"/>
                </a:gradFill>
                <a:latin typeface="맑은 고딕" panose="020B0503020000020004" pitchFamily="50" charset="-127"/>
              </a:rPr>
              <a:t> 육성 시스템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4462788"/>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503730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563494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455947"/>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218259" y="626716"/>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218258" y="1934167"/>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기획 컨셉 및 개요</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5</a:t>
            </a:fld>
            <a:endParaRPr lang="ko-KR" altLang="en-US" dirty="0">
              <a:solidFill>
                <a:prstClr val="black">
                  <a:tint val="75000"/>
                </a:prstClr>
              </a:solidFill>
            </a:endParaRPr>
          </a:p>
        </p:txBody>
      </p:sp>
    </p:spTree>
    <p:extLst>
      <p:ext uri="{BB962C8B-B14F-4D97-AF65-F5344CB8AC3E}">
        <p14:creationId xmlns:p14="http://schemas.microsoft.com/office/powerpoint/2010/main" val="795923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69578"/>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테이밍할</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 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555973262"/>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a16="http://schemas.microsoft.com/office/drawing/2014/main" val="3475047078"/>
                    </a:ext>
                  </a:extLst>
                </a:gridCol>
                <a:gridCol w="5191435">
                  <a:extLst>
                    <a:ext uri="{9D8B030D-6E8A-4147-A177-3AD203B41FA5}">
                      <a16:colId xmlns:a16="http://schemas.microsoft.com/office/drawing/2014/main"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a16="http://schemas.microsoft.com/office/drawing/2014/main"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Tamer</a:t>
                      </a:r>
                      <a:endParaRPr lang="ko-KR" altLang="en-US" dirty="0"/>
                    </a:p>
                  </a:txBody>
                  <a:tcPr anchor="ctr"/>
                </a:tc>
                <a:extLst>
                  <a:ext uri="{0D108BD9-81ED-4DB2-BD59-A6C34878D82A}">
                    <a16:rowId xmlns:a16="http://schemas.microsoft.com/office/drawing/2014/main"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a16="http://schemas.microsoft.com/office/drawing/2014/main"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a16="http://schemas.microsoft.com/office/drawing/2014/main"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a16="http://schemas.microsoft.com/office/drawing/2014/main"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a:t>
                      </a:r>
                      <a:r>
                        <a:rPr lang="ko-KR" altLang="en-US" dirty="0" smtClean="0"/>
                        <a:t> 장르를</a:t>
                      </a:r>
                      <a:r>
                        <a:rPr lang="ko-KR" altLang="en-US" baseline="0" dirty="0" smtClean="0"/>
                        <a:t> </a:t>
                      </a:r>
                      <a:endParaRPr lang="en-US" altLang="ko-KR" baseline="0" dirty="0" smtClean="0"/>
                    </a:p>
                    <a:p>
                      <a:pPr algn="ctr" latinLnBrk="1"/>
                      <a:r>
                        <a:rPr lang="ko-KR" altLang="en-US" baseline="0" dirty="0" smtClean="0"/>
                        <a:t>선호하는 </a:t>
                      </a:r>
                      <a:r>
                        <a:rPr lang="en-US" altLang="ko-KR" dirty="0" smtClean="0"/>
                        <a:t>10~30</a:t>
                      </a:r>
                      <a:r>
                        <a:rPr lang="ko-KR" altLang="en-US" dirty="0" smtClean="0"/>
                        <a:t>대 게이머</a:t>
                      </a:r>
                      <a:endParaRPr lang="ko-KR" altLang="en-US" dirty="0"/>
                    </a:p>
                  </a:txBody>
                  <a:tcPr anchor="ctr"/>
                </a:tc>
                <a:extLst>
                  <a:ext uri="{0D108BD9-81ED-4DB2-BD59-A6C34878D82A}">
                    <a16:rowId xmlns:a16="http://schemas.microsoft.com/office/drawing/2014/main"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6</a:t>
            </a:fld>
            <a:endParaRPr lang="ko-KR" altLang="en-US" sz="1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266" y="777408"/>
            <a:ext cx="4196874"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155469" y="3125709"/>
            <a:ext cx="294270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턴제</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전투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155469" y="6125918"/>
            <a:ext cx="294270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조합과  상성이  있는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9071" y="3640508"/>
            <a:ext cx="4199265" cy="236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a16="http://schemas.microsoft.com/office/drawing/2014/main" val="389885132"/>
                    </a:ext>
                  </a:extLst>
                </a:gridCol>
                <a:gridCol w="3991428">
                  <a:extLst>
                    <a:ext uri="{9D8B030D-6E8A-4147-A177-3AD203B41FA5}">
                      <a16:colId xmlns:a16="http://schemas.microsoft.com/office/drawing/2014/main" val="2257908711"/>
                    </a:ext>
                  </a:extLst>
                </a:gridCol>
                <a:gridCol w="4905828">
                  <a:extLst>
                    <a:ext uri="{9D8B030D-6E8A-4147-A177-3AD203B41FA5}">
                      <a16:colId xmlns:a16="http://schemas.microsoft.com/office/drawing/2014/main"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a16="http://schemas.microsoft.com/office/drawing/2014/main"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a16="http://schemas.microsoft.com/office/drawing/2014/main"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a16="http://schemas.microsoft.com/office/drawing/2014/main"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a16="http://schemas.microsoft.com/office/drawing/2014/main"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a16="http://schemas.microsoft.com/office/drawing/2014/main"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a16="http://schemas.microsoft.com/office/drawing/2014/main"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게임 소개</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8</a:t>
            </a:fld>
            <a:endParaRPr lang="ko-KR" altLang="en-US" dirty="0">
              <a:solidFill>
                <a:prstClr val="black">
                  <a:tint val="75000"/>
                </a:prstClr>
              </a:solidFill>
            </a:endParaRPr>
          </a:p>
        </p:txBody>
      </p:sp>
    </p:spTree>
    <p:extLst>
      <p:ext uri="{BB962C8B-B14F-4D97-AF65-F5344CB8AC3E}">
        <p14:creationId xmlns:p14="http://schemas.microsoft.com/office/powerpoint/2010/main" val="35390760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87590"/>
            <a:ext cx="5950972" cy="5078313"/>
          </a:xfrm>
          <a:prstGeom prst="rect">
            <a:avLst/>
          </a:prstGeom>
          <a:noFill/>
        </p:spPr>
        <p:txBody>
          <a:bodyPr wrap="square" rtlCol="0">
            <a:spAutoFit/>
          </a:bodyPr>
          <a:lstStyle/>
          <a:p>
            <a:pPr>
              <a:lnSpc>
                <a:spcPct val="150000"/>
              </a:lnSpc>
            </a:pPr>
            <a:r>
              <a:rPr lang="ko-KR" altLang="en-US" dirty="0" smtClean="0">
                <a:latin typeface="+mn-ea"/>
              </a:rPr>
              <a:t> 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endParaRPr lang="en-US" altLang="ko-KR" dirty="0" smtClean="0">
              <a:latin typeface="+mn-ea"/>
            </a:endParaRP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왕국의 정예 토벌대가 </a:t>
            </a:r>
            <a:r>
              <a:rPr lang="ko-KR" altLang="en-US" dirty="0" err="1" smtClean="0">
                <a:latin typeface="+mn-ea"/>
              </a:rPr>
              <a:t>던전을</a:t>
            </a:r>
            <a:r>
              <a:rPr lang="ko-KR" altLang="en-US" dirty="0" smtClean="0">
                <a:latin typeface="+mn-ea"/>
              </a:rPr>
              <a:t> 공략하려 했지만</a:t>
            </a:r>
            <a:r>
              <a:rPr lang="en-US" altLang="ko-KR" dirty="0" smtClean="0">
                <a:latin typeface="+mn-ea"/>
              </a:rPr>
              <a:t>,</a:t>
            </a:r>
            <a:r>
              <a:rPr lang="ko-KR" altLang="en-US" dirty="0" smtClean="0">
                <a:latin typeface="+mn-ea"/>
              </a:rPr>
              <a:t> </a:t>
            </a:r>
            <a:r>
              <a:rPr lang="ko-KR" altLang="en-US" dirty="0" err="1" smtClean="0">
                <a:latin typeface="+mn-ea"/>
              </a:rPr>
              <a:t>던전의</a:t>
            </a:r>
            <a:r>
              <a:rPr lang="ko-KR" altLang="en-US" dirty="0" smtClean="0">
                <a:latin typeface="+mn-ea"/>
              </a:rPr>
              <a:t> 지배자이자 강력한 마물인 </a:t>
            </a:r>
            <a:r>
              <a:rPr lang="en-US" altLang="ko-KR" dirty="0" smtClean="0">
                <a:latin typeface="+mn-ea"/>
              </a:rPr>
              <a:t>‘</a:t>
            </a:r>
            <a:r>
              <a:rPr lang="ko-KR" altLang="en-US" dirty="0" smtClean="0">
                <a:latin typeface="+mn-ea"/>
              </a:rPr>
              <a:t>마왕</a:t>
            </a:r>
            <a:r>
              <a:rPr lang="en-US" altLang="ko-KR" dirty="0" smtClean="0">
                <a:latin typeface="+mn-ea"/>
              </a:rPr>
              <a:t>’</a:t>
            </a:r>
            <a:r>
              <a:rPr lang="ko-KR" altLang="en-US" dirty="0" smtClean="0">
                <a:latin typeface="+mn-ea"/>
              </a:rPr>
              <a:t>의 힘 앞에 속수무책으로 패배하고 만다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마왕은 </a:t>
            </a:r>
            <a:r>
              <a:rPr lang="ko-KR" altLang="en-US" dirty="0" err="1">
                <a:latin typeface="+mn-ea"/>
              </a:rPr>
              <a:t>던전의</a:t>
            </a:r>
            <a:r>
              <a:rPr lang="ko-KR" altLang="en-US" dirty="0">
                <a:latin typeface="+mn-ea"/>
              </a:rPr>
              <a:t> </a:t>
            </a:r>
            <a:r>
              <a:rPr lang="ko-KR" altLang="en-US" dirty="0" err="1">
                <a:latin typeface="+mn-ea"/>
              </a:rPr>
              <a:t>최심부에는</a:t>
            </a:r>
            <a:r>
              <a:rPr lang="ko-KR" altLang="en-US" dirty="0">
                <a:latin typeface="+mn-ea"/>
              </a:rPr>
              <a:t> 자리잡고 있으며</a:t>
            </a:r>
            <a:r>
              <a:rPr lang="en-US" altLang="ko-KR" dirty="0">
                <a:latin typeface="+mn-ea"/>
              </a:rPr>
              <a:t>, </a:t>
            </a:r>
            <a:r>
              <a:rPr lang="ko-KR" altLang="en-US" dirty="0" err="1">
                <a:latin typeface="+mn-ea"/>
              </a:rPr>
              <a:t>던전</a:t>
            </a:r>
            <a:r>
              <a:rPr lang="ko-KR" altLang="en-US" dirty="0">
                <a:latin typeface="+mn-ea"/>
              </a:rPr>
              <a:t> 안의</a:t>
            </a:r>
            <a:endParaRPr lang="en-US" altLang="ko-KR" dirty="0">
              <a:latin typeface="+mn-ea"/>
            </a:endParaRPr>
          </a:p>
          <a:p>
            <a:pPr>
              <a:lnSpc>
                <a:spcPct val="150000"/>
              </a:lnSpc>
            </a:pPr>
            <a:r>
              <a:rPr lang="ko-KR" altLang="en-US" dirty="0" err="1">
                <a:latin typeface="+mn-ea"/>
              </a:rPr>
              <a:t>몬스터들은</a:t>
            </a:r>
            <a:r>
              <a:rPr lang="ko-KR" altLang="en-US" dirty="0">
                <a:latin typeface="+mn-ea"/>
              </a:rPr>
              <a:t> 마왕의 저주를 받아 사악해진 존재들이었다</a:t>
            </a:r>
            <a:r>
              <a:rPr lang="en-US" altLang="ko-KR" dirty="0" smtClean="0">
                <a:latin typeface="+mn-ea"/>
              </a:rPr>
              <a:t>.</a:t>
            </a:r>
            <a:endParaRPr lang="en-US" altLang="ko-KR" dirty="0">
              <a:latin typeface="+mn-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465968"/>
            <a:ext cx="6250574" cy="4247317"/>
          </a:xfrm>
          <a:prstGeom prst="rect">
            <a:avLst/>
          </a:prstGeom>
          <a:noFill/>
        </p:spPr>
        <p:txBody>
          <a:bodyPr wrap="square" rtlCol="0">
            <a:spAutoFit/>
          </a:bodyPr>
          <a:lstStyle/>
          <a:p>
            <a:pPr>
              <a:lnSpc>
                <a:spcPct val="150000"/>
              </a:lnSpc>
            </a:pPr>
            <a:r>
              <a:rPr lang="en-US" altLang="ko-KR" dirty="0" smtClean="0">
                <a:latin typeface="+mn-ea"/>
              </a:rPr>
              <a:t> </a:t>
            </a:r>
            <a:r>
              <a:rPr lang="ko-KR" altLang="en-US" dirty="0" smtClean="0">
                <a:latin typeface="+mn-ea"/>
              </a:rPr>
              <a:t>이에 왕국은 정화의 능력을 지닌 전설의 용사를 불러 </a:t>
            </a:r>
            <a:r>
              <a:rPr lang="ko-KR" altLang="en-US" dirty="0" err="1" smtClean="0">
                <a:latin typeface="+mn-ea"/>
              </a:rPr>
              <a:t>던전을</a:t>
            </a:r>
            <a:r>
              <a:rPr lang="ko-KR" altLang="en-US" dirty="0" smtClean="0">
                <a:latin typeface="+mn-ea"/>
              </a:rPr>
              <a:t> 탐험하고 위험을 제거하라는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용사는 재앙의 원흉인 마왕을 처치하기 위해 </a:t>
            </a:r>
            <a:r>
              <a:rPr lang="ko-KR" altLang="en-US" dirty="0" err="1" smtClean="0">
                <a:latin typeface="+mn-ea"/>
              </a:rPr>
              <a:t>던전을</a:t>
            </a:r>
            <a:r>
              <a:rPr lang="ko-KR" altLang="en-US" dirty="0" smtClean="0">
                <a:latin typeface="+mn-ea"/>
              </a:rPr>
              <a:t> 정복해나가며 저주받은 </a:t>
            </a:r>
            <a:r>
              <a:rPr lang="ko-KR" altLang="en-US" dirty="0" err="1" smtClean="0">
                <a:latin typeface="+mn-ea"/>
              </a:rPr>
              <a:t>몬스터들을</a:t>
            </a:r>
            <a:r>
              <a:rPr lang="ko-KR" altLang="en-US" dirty="0" smtClean="0">
                <a:latin typeface="+mn-ea"/>
              </a:rPr>
              <a:t> 정화해나갔고</a:t>
            </a:r>
            <a:r>
              <a:rPr lang="en-US" altLang="ko-KR" dirty="0" smtClean="0">
                <a:latin typeface="+mn-ea"/>
              </a:rPr>
              <a:t>, </a:t>
            </a:r>
            <a:r>
              <a:rPr lang="ko-KR" altLang="en-US" dirty="0" smtClean="0">
                <a:latin typeface="+mn-ea"/>
              </a:rPr>
              <a:t>마왕의 손길에서 벗어난 </a:t>
            </a:r>
            <a:r>
              <a:rPr lang="ko-KR" altLang="en-US" dirty="0" err="1" smtClean="0">
                <a:latin typeface="+mn-ea"/>
              </a:rPr>
              <a:t>몬스터들은</a:t>
            </a:r>
            <a:r>
              <a:rPr lang="ko-KR" altLang="en-US" dirty="0" smtClean="0">
                <a:latin typeface="+mn-ea"/>
              </a:rPr>
              <a:t> 용사를 도와 마왕을 처치하는 데에 앞장선다</a:t>
            </a:r>
            <a:r>
              <a:rPr lang="en-US" altLang="ko-KR" dirty="0" smtClean="0">
                <a:latin typeface="+mn-ea"/>
              </a:rPr>
              <a:t>.</a:t>
            </a:r>
            <a:br>
              <a:rPr lang="en-US" altLang="ko-KR" dirty="0" smtClean="0">
                <a:latin typeface="+mn-ea"/>
              </a:rPr>
            </a:br>
            <a:endParaRPr lang="en-US" altLang="ko-KR" dirty="0" smtClean="0">
              <a:latin typeface="+mn-ea"/>
            </a:endParaRPr>
          </a:p>
          <a:p>
            <a:pPr>
              <a:lnSpc>
                <a:spcPct val="150000"/>
              </a:lnSpc>
            </a:pPr>
            <a:r>
              <a:rPr lang="ko-KR" altLang="en-US" dirty="0" smtClean="0">
                <a:latin typeface="+mn-ea"/>
              </a:rPr>
              <a:t> 과연 용사는 무사히 마왕을 무찌르고 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23773974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sp>
        <p:nvSpPr>
          <p:cNvPr id="13" name="TextBox 12"/>
          <p:cNvSpPr txBox="1"/>
          <p:nvPr/>
        </p:nvSpPr>
        <p:spPr>
          <a:xfrm>
            <a:off x="5621868" y="1172029"/>
            <a:ext cx="6340148" cy="5078313"/>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게임의 요소를 일부 채용한 </a:t>
            </a:r>
            <a:r>
              <a:rPr lang="en-US" altLang="ko-KR" dirty="0" smtClean="0"/>
              <a:t>‘</a:t>
            </a:r>
            <a:r>
              <a:rPr lang="ko-KR" altLang="en-US" b="1" dirty="0" err="1" smtClean="0"/>
              <a:t>로그라이트</a:t>
            </a:r>
            <a:r>
              <a:rPr lang="en-US" altLang="ko-KR" dirty="0" smtClean="0"/>
              <a:t>’</a:t>
            </a:r>
          </a:p>
          <a:p>
            <a:pPr>
              <a:lnSpc>
                <a:spcPct val="150000"/>
              </a:lnSpc>
            </a:pPr>
            <a:r>
              <a:rPr lang="en-US" altLang="ko-KR" dirty="0"/>
              <a:t> </a:t>
            </a:r>
            <a:r>
              <a:rPr lang="en-US" altLang="ko-KR" dirty="0" smtClean="0"/>
              <a:t> </a:t>
            </a:r>
            <a:r>
              <a:rPr lang="ko-KR" altLang="en-US" dirty="0" smtClean="0"/>
              <a:t>장르를 도입</a:t>
            </a:r>
            <a:r>
              <a:rPr lang="en-US" altLang="ko-KR" dirty="0" smtClean="0"/>
              <a:t>, </a:t>
            </a:r>
            <a:r>
              <a:rPr lang="ko-KR" altLang="en-US" dirty="0" smtClean="0"/>
              <a:t>기존의 장르에 익숙한 유저들의 높은 </a:t>
            </a:r>
            <a:endParaRPr lang="en-US" altLang="ko-KR" dirty="0" smtClean="0"/>
          </a:p>
          <a:p>
            <a:pPr>
              <a:lnSpc>
                <a:spcPct val="150000"/>
              </a:lnSpc>
            </a:pPr>
            <a:r>
              <a:rPr lang="en-US" altLang="ko-KR" dirty="0" smtClean="0"/>
              <a:t>  </a:t>
            </a:r>
            <a:r>
              <a:rPr lang="ko-KR" altLang="en-US" b="1" dirty="0" smtClean="0"/>
              <a:t>접근성과 홍보 효과</a:t>
            </a:r>
            <a:r>
              <a:rPr lang="ko-KR" altLang="en-US" dirty="0" smtClean="0"/>
              <a:t>를 기대할 수 있습니다</a:t>
            </a:r>
            <a:r>
              <a:rPr lang="en-US" altLang="ko-KR" dirty="0" smtClean="0"/>
              <a:t>.</a:t>
            </a:r>
          </a:p>
          <a:p>
            <a:pPr>
              <a:lnSpc>
                <a:spcPct val="150000"/>
              </a:lnSpc>
            </a:pPr>
            <a:endParaRPr lang="en-US" altLang="ko-KR" sz="1200" dirty="0" smtClean="0">
              <a:latin typeface="+mn-ea"/>
            </a:endParaRPr>
          </a:p>
          <a:p>
            <a:pPr>
              <a:lnSpc>
                <a:spcPct val="150000"/>
              </a:lnSpc>
            </a:pPr>
            <a:r>
              <a:rPr lang="en-US" altLang="ko-KR" dirty="0" smtClean="0"/>
              <a:t>• </a:t>
            </a:r>
            <a:r>
              <a:rPr lang="en-US" altLang="ko-KR" b="1" dirty="0" smtClean="0"/>
              <a:t>1</a:t>
            </a:r>
            <a:r>
              <a:rPr lang="ko-KR" altLang="en-US" b="1" dirty="0" smtClean="0"/>
              <a:t>번 뿐인 목숨</a:t>
            </a:r>
            <a:r>
              <a:rPr lang="ko-KR" altLang="en-US" dirty="0" smtClean="0"/>
              <a:t>과</a:t>
            </a:r>
            <a:r>
              <a:rPr lang="en-US" altLang="ko-KR" dirty="0" smtClean="0"/>
              <a:t>,</a:t>
            </a:r>
            <a:r>
              <a:rPr lang="ko-KR" altLang="en-US" dirty="0" smtClean="0"/>
              <a:t> </a:t>
            </a:r>
            <a:r>
              <a:rPr lang="ko-KR" altLang="en-US" b="1" dirty="0" smtClean="0"/>
              <a:t>랜덤</a:t>
            </a:r>
            <a:r>
              <a:rPr lang="ko-KR" altLang="en-US" dirty="0" smtClean="0"/>
              <a:t>으로 배치되는 던전의 구조를 </a:t>
            </a:r>
            <a:endParaRPr lang="en-US" altLang="ko-KR" dirty="0" smtClean="0"/>
          </a:p>
          <a:p>
            <a:pPr>
              <a:lnSpc>
                <a:spcPct val="150000"/>
              </a:lnSpc>
            </a:pPr>
            <a:r>
              <a:rPr lang="en-US" altLang="ko-KR" dirty="0"/>
              <a:t> </a:t>
            </a:r>
            <a:r>
              <a:rPr lang="en-US" altLang="ko-KR" dirty="0" smtClean="0"/>
              <a:t> </a:t>
            </a:r>
            <a:r>
              <a:rPr lang="ko-KR" altLang="en-US" dirty="0" smtClean="0"/>
              <a:t>통해 게임의 긴장감과 </a:t>
            </a:r>
            <a:r>
              <a:rPr lang="ko-KR" altLang="en-US" dirty="0" err="1" smtClean="0"/>
              <a:t>몰입감을</a:t>
            </a:r>
            <a:r>
              <a:rPr lang="ko-KR" altLang="en-US" dirty="0" smtClean="0"/>
              <a:t> 높이고</a:t>
            </a:r>
            <a:r>
              <a:rPr lang="en-US" altLang="ko-KR" dirty="0" smtClean="0"/>
              <a:t>, </a:t>
            </a:r>
            <a:r>
              <a:rPr lang="ko-KR" altLang="en-US" dirty="0" smtClean="0"/>
              <a:t>플레이의 </a:t>
            </a:r>
            <a:endParaRPr lang="en-US" altLang="ko-KR" dirty="0" smtClean="0"/>
          </a:p>
          <a:p>
            <a:pPr>
              <a:lnSpc>
                <a:spcPct val="150000"/>
              </a:lnSpc>
            </a:pPr>
            <a:r>
              <a:rPr lang="en-US" altLang="ko-KR" dirty="0"/>
              <a:t> </a:t>
            </a:r>
            <a:r>
              <a:rPr lang="en-US" altLang="ko-KR" dirty="0" smtClean="0"/>
              <a:t> </a:t>
            </a:r>
            <a:r>
              <a:rPr lang="ko-KR" altLang="en-US" dirty="0" smtClean="0"/>
              <a:t>신선함과 도전 정신을 고취시킬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pic>
        <p:nvPicPr>
          <p:cNvPr id="9" name="그림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515" y="1087359"/>
            <a:ext cx="4014931" cy="2113595"/>
          </a:xfrm>
          <a:prstGeom prst="rect">
            <a:avLst/>
          </a:prstGeom>
        </p:spPr>
      </p:pic>
      <p:sp>
        <p:nvSpPr>
          <p:cNvPr id="12" name="TextBox 11"/>
          <p:cNvSpPr txBox="1"/>
          <p:nvPr/>
        </p:nvSpPr>
        <p:spPr>
          <a:xfrm>
            <a:off x="1430007" y="3196379"/>
            <a:ext cx="2497044"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2 )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다키스트</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던전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15" y="3921984"/>
            <a:ext cx="4203018" cy="1953932"/>
          </a:xfrm>
          <a:prstGeom prst="rect">
            <a:avLst/>
          </a:prstGeom>
        </p:spPr>
      </p:pic>
      <p:sp>
        <p:nvSpPr>
          <p:cNvPr id="15" name="TextBox 14"/>
          <p:cNvSpPr txBox="1"/>
          <p:nvPr/>
        </p:nvSpPr>
        <p:spPr>
          <a:xfrm>
            <a:off x="1473823" y="5875916"/>
            <a:ext cx="2409412"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아이작의</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번제</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0068762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4848564"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5962650"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
        <p:nvSpPr>
          <p:cNvPr id="13" name="TextBox 12"/>
          <p:cNvSpPr txBox="1"/>
          <p:nvPr/>
        </p:nvSpPr>
        <p:spPr>
          <a:xfrm>
            <a:off x="5276851" y="1099309"/>
            <a:ext cx="6467474" cy="5493812"/>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탐험하게 됩니다</a:t>
            </a:r>
            <a:r>
              <a:rPr lang="en-US" altLang="ko-KR" dirty="0" smtClean="0">
                <a:latin typeface="+mn-ea"/>
              </a:rPr>
              <a:t>. </a:t>
            </a:r>
            <a:r>
              <a:rPr lang="ko-KR" altLang="en-US" dirty="0" smtClean="0">
                <a:latin typeface="+mn-ea"/>
              </a:rPr>
              <a:t>용사들은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각기 </a:t>
            </a:r>
            <a:r>
              <a:rPr lang="ko-KR" altLang="en-US" b="1" dirty="0" smtClean="0">
                <a:latin typeface="+mn-ea"/>
              </a:rPr>
              <a:t>다른 컨셉과 능력</a:t>
            </a:r>
            <a:r>
              <a:rPr lang="ko-KR" altLang="en-US" dirty="0" smtClean="0">
                <a:latin typeface="+mn-ea"/>
              </a:rPr>
              <a:t>을 보유하고 있으며</a:t>
            </a:r>
            <a:r>
              <a:rPr lang="en-US" altLang="ko-KR" dirty="0" smtClean="0">
                <a:latin typeface="+mn-ea"/>
              </a:rPr>
              <a:t>, </a:t>
            </a:r>
            <a:r>
              <a:rPr lang="ko-KR" altLang="en-US" dirty="0" err="1" smtClean="0">
                <a:latin typeface="+mn-ea"/>
              </a:rPr>
              <a:t>던전을</a:t>
            </a:r>
            <a:r>
              <a:rPr lang="ko-KR" altLang="en-US" dirty="0" smtClean="0">
                <a:latin typeface="+mn-ea"/>
              </a:rPr>
              <a:t> 탐험하며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아군 </a:t>
            </a:r>
            <a:r>
              <a:rPr lang="ko-KR" altLang="en-US" dirty="0" err="1" smtClean="0">
                <a:latin typeface="+mn-ea"/>
              </a:rPr>
              <a:t>몬스터들과</a:t>
            </a:r>
            <a:r>
              <a:rPr lang="ko-KR" altLang="en-US" dirty="0" smtClean="0">
                <a:latin typeface="+mn-ea"/>
              </a:rPr>
              <a:t> 함께 더욱 깊은</a:t>
            </a:r>
            <a:r>
              <a:rPr lang="en-US" altLang="ko-KR" dirty="0" smtClean="0">
                <a:latin typeface="+mn-ea"/>
              </a:rPr>
              <a:t> </a:t>
            </a:r>
            <a:r>
              <a:rPr lang="ko-KR" altLang="en-US" dirty="0" smtClean="0">
                <a:latin typeface="+mn-ea"/>
              </a:rPr>
              <a:t>곳을 향해 나아갑니다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캐릭터와 </a:t>
            </a:r>
            <a:r>
              <a:rPr lang="ko-KR" altLang="en-US" dirty="0" err="1" smtClean="0"/>
              <a:t>몬스터</a:t>
            </a:r>
            <a:r>
              <a:rPr lang="ko-KR" altLang="en-US" dirty="0" smtClean="0"/>
              <a:t> </a:t>
            </a:r>
            <a:r>
              <a:rPr lang="ko-KR" altLang="en-US" dirty="0" smtClean="0">
                <a:latin typeface="+mn-ea"/>
              </a:rPr>
              <a:t>각각의 독특하고 고유한 능력과 기술로</a:t>
            </a:r>
            <a:r>
              <a:rPr lang="en-US" altLang="ko-KR" dirty="0" smtClean="0">
                <a:latin typeface="+mn-ea"/>
              </a:rPr>
              <a:t>,</a:t>
            </a:r>
            <a:r>
              <a:rPr lang="ko-KR" altLang="en-US" dirty="0" smtClean="0">
                <a:latin typeface="+mn-ea"/>
              </a:rPr>
              <a:t> </a:t>
            </a:r>
            <a:endParaRPr lang="en-US" altLang="ko-KR" dirty="0" smtClean="0">
              <a:latin typeface="+mn-ea"/>
            </a:endParaRPr>
          </a:p>
          <a:p>
            <a:pPr>
              <a:lnSpc>
                <a:spcPct val="150000"/>
              </a:lnSpc>
            </a:pPr>
            <a:r>
              <a:rPr lang="en-US" altLang="ko-KR" dirty="0" smtClean="0">
                <a:latin typeface="+mn-ea"/>
              </a:rPr>
              <a:t>  </a:t>
            </a:r>
            <a:r>
              <a:rPr lang="ko-KR" altLang="en-US" dirty="0" smtClean="0">
                <a:latin typeface="+mn-ea"/>
              </a:rPr>
              <a:t>색다르고 </a:t>
            </a:r>
            <a:r>
              <a:rPr lang="ko-KR" altLang="en-US" dirty="0">
                <a:latin typeface="+mn-ea"/>
              </a:rPr>
              <a:t>강력한 </a:t>
            </a:r>
            <a:r>
              <a:rPr lang="ko-KR" altLang="en-US" b="1" dirty="0" smtClean="0">
                <a:latin typeface="+mn-ea"/>
              </a:rPr>
              <a:t>조합을 연구</a:t>
            </a:r>
            <a:r>
              <a:rPr lang="ko-KR" altLang="en-US" dirty="0" smtClean="0">
                <a:latin typeface="+mn-ea"/>
              </a:rPr>
              <a:t>하여</a:t>
            </a:r>
            <a:r>
              <a:rPr lang="en-US" altLang="ko-KR" dirty="0" smtClean="0">
                <a:latin typeface="+mn-ea"/>
              </a:rPr>
              <a:t> </a:t>
            </a:r>
            <a:r>
              <a:rPr lang="ko-KR" altLang="en-US" b="1" dirty="0">
                <a:latin typeface="+mn-ea"/>
              </a:rPr>
              <a:t>다채로운 </a:t>
            </a:r>
            <a:r>
              <a:rPr lang="ko-KR" altLang="en-US" b="1" dirty="0" smtClean="0">
                <a:latin typeface="+mn-ea"/>
              </a:rPr>
              <a:t>전략</a:t>
            </a:r>
            <a:r>
              <a:rPr lang="ko-KR" altLang="en-US" dirty="0" smtClean="0">
                <a:latin typeface="+mn-ea"/>
              </a:rPr>
              <a:t>을 펼칠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수 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err="1" smtClean="0"/>
              <a:t>던전을</a:t>
            </a:r>
            <a:r>
              <a:rPr lang="ko-KR" altLang="en-US" dirty="0" smtClean="0"/>
              <a:t> 탐험하며 획득할 수 있는 </a:t>
            </a:r>
            <a:r>
              <a:rPr lang="ko-KR" altLang="en-US" b="1" dirty="0" err="1" smtClean="0"/>
              <a:t>아티팩트</a:t>
            </a:r>
            <a:r>
              <a:rPr lang="ko-KR" altLang="en-US" dirty="0" err="1" smtClean="0"/>
              <a:t>를</a:t>
            </a:r>
            <a:r>
              <a:rPr lang="ko-KR" altLang="en-US" dirty="0" smtClean="0"/>
              <a:t> 통해 캐릭터와 </a:t>
            </a:r>
            <a:endParaRPr lang="en-US" altLang="ko-KR" dirty="0" smtClean="0"/>
          </a:p>
          <a:p>
            <a:pPr>
              <a:lnSpc>
                <a:spcPct val="150000"/>
              </a:lnSpc>
            </a:pPr>
            <a:r>
              <a:rPr lang="en-US" altLang="ko-KR" dirty="0"/>
              <a:t> </a:t>
            </a:r>
            <a:r>
              <a:rPr lang="en-US" altLang="ko-KR" dirty="0" smtClean="0"/>
              <a:t> </a:t>
            </a:r>
            <a:r>
              <a:rPr lang="ko-KR" altLang="en-US" dirty="0" err="1" smtClean="0"/>
              <a:t>몬스터를</a:t>
            </a:r>
            <a:r>
              <a:rPr lang="ko-KR" altLang="en-US" dirty="0" smtClean="0"/>
              <a:t> 더욱 강화할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이런 점을 통해 개인의 성향에 맞는 </a:t>
            </a:r>
            <a:r>
              <a:rPr lang="ko-KR" altLang="en-US" b="1" dirty="0" smtClean="0"/>
              <a:t>각양각색의 플레이</a:t>
            </a:r>
            <a:r>
              <a:rPr lang="ko-KR" altLang="en-US" dirty="0" smtClean="0"/>
              <a:t>를 </a:t>
            </a:r>
            <a:endParaRPr lang="en-US" altLang="ko-KR" dirty="0" smtClean="0"/>
          </a:p>
          <a:p>
            <a:pPr>
              <a:lnSpc>
                <a:spcPct val="150000"/>
              </a:lnSpc>
            </a:pPr>
            <a:r>
              <a:rPr lang="en-US" altLang="ko-KR" dirty="0"/>
              <a:t> </a:t>
            </a:r>
            <a:r>
              <a:rPr lang="en-US" altLang="ko-KR" dirty="0" smtClean="0"/>
              <a:t> </a:t>
            </a:r>
            <a:r>
              <a:rPr lang="ko-KR" altLang="en-US" dirty="0" smtClean="0"/>
              <a:t>제공하고</a:t>
            </a:r>
            <a:r>
              <a:rPr lang="en-US" altLang="ko-KR" dirty="0" smtClean="0"/>
              <a:t>, </a:t>
            </a:r>
            <a:r>
              <a:rPr lang="ko-KR" altLang="en-US" dirty="0" smtClean="0"/>
              <a:t>지속적인 </a:t>
            </a:r>
            <a:r>
              <a:rPr lang="ko-KR" altLang="en-US" dirty="0" err="1" smtClean="0"/>
              <a:t>컨텐츠을</a:t>
            </a:r>
            <a:r>
              <a:rPr lang="ko-KR" altLang="en-US" dirty="0" smtClean="0"/>
              <a:t> 확보하면서 유저로 하여금</a:t>
            </a:r>
            <a:endParaRPr lang="en-US" altLang="ko-KR" dirty="0" smtClean="0"/>
          </a:p>
          <a:p>
            <a:pPr>
              <a:lnSpc>
                <a:spcPct val="150000"/>
              </a:lnSpc>
            </a:pPr>
            <a:r>
              <a:rPr lang="en-US" altLang="ko-KR" dirty="0"/>
              <a:t> </a:t>
            </a:r>
            <a:r>
              <a:rPr lang="ko-KR" altLang="en-US" dirty="0" smtClean="0"/>
              <a:t> 게임에 더욱</a:t>
            </a:r>
            <a:r>
              <a:rPr lang="en-US" altLang="ko-KR" dirty="0" smtClean="0"/>
              <a:t> </a:t>
            </a:r>
            <a:r>
              <a:rPr lang="ko-KR" altLang="en-US" dirty="0" smtClean="0"/>
              <a:t>몰입할 수 있도록 유도합니다</a:t>
            </a:r>
            <a:r>
              <a:rPr lang="en-US" altLang="ko-KR" dirty="0" smtClean="0"/>
              <a:t>.</a:t>
            </a:r>
            <a:endParaRPr lang="en-US" altLang="ko-KR" dirty="0" smtClean="0">
              <a:latin typeface="+mn-ea"/>
            </a:endParaRPr>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515" y="1274142"/>
            <a:ext cx="4014931" cy="2160507"/>
          </a:xfrm>
          <a:prstGeom prst="rect">
            <a:avLst/>
          </a:prstGeom>
        </p:spPr>
      </p:pic>
      <p:sp>
        <p:nvSpPr>
          <p:cNvPr id="9" name="TextBox 8"/>
          <p:cNvSpPr txBox="1"/>
          <p:nvPr/>
        </p:nvSpPr>
        <p:spPr>
          <a:xfrm>
            <a:off x="1401192" y="343465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92" y="3864818"/>
            <a:ext cx="3840901" cy="2160507"/>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 정화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정화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
        <p:nvSpPr>
          <p:cNvPr id="13" name="TextBox 12"/>
          <p:cNvSpPr txBox="1"/>
          <p:nvPr/>
        </p:nvSpPr>
        <p:spPr>
          <a:xfrm>
            <a:off x="5280346" y="1347170"/>
            <a:ext cx="6789733" cy="5216813"/>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용사가 </a:t>
            </a:r>
            <a:r>
              <a:rPr lang="ko-KR" altLang="en-US" dirty="0" err="1" smtClean="0">
                <a:latin typeface="+mn-ea"/>
              </a:rPr>
              <a:t>던전을</a:t>
            </a:r>
            <a:r>
              <a:rPr lang="ko-KR" altLang="en-US" dirty="0" smtClean="0">
                <a:latin typeface="+mn-ea"/>
              </a:rPr>
              <a:t> 탐험하고 </a:t>
            </a:r>
            <a:r>
              <a:rPr lang="ko-KR" altLang="en-US" dirty="0" err="1" smtClean="0">
                <a:latin typeface="+mn-ea"/>
              </a:rPr>
              <a:t>몬스터를</a:t>
            </a:r>
            <a:r>
              <a:rPr lang="ko-KR" altLang="en-US" dirty="0" smtClean="0">
                <a:latin typeface="+mn-ea"/>
              </a:rPr>
              <a:t> 쓰러트린 후</a:t>
            </a:r>
            <a:r>
              <a:rPr lang="en-US" altLang="ko-KR" dirty="0" smtClean="0">
                <a:latin typeface="+mn-ea"/>
              </a:rPr>
              <a:t>, </a:t>
            </a:r>
            <a:r>
              <a:rPr lang="ko-KR" altLang="en-US" b="1" dirty="0" smtClean="0">
                <a:latin typeface="+mn-ea"/>
              </a:rPr>
              <a:t>정화</a:t>
            </a:r>
            <a:r>
              <a:rPr lang="ko-KR" altLang="en-US" dirty="0" smtClean="0">
                <a:latin typeface="+mn-ea"/>
              </a:rPr>
              <a:t>를 통해</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해당 </a:t>
            </a:r>
            <a:r>
              <a:rPr lang="ko-KR" altLang="en-US" dirty="0" err="1" smtClean="0">
                <a:latin typeface="+mn-ea"/>
              </a:rPr>
              <a:t>몬스터의</a:t>
            </a:r>
            <a:r>
              <a:rPr lang="ko-KR" altLang="en-US" dirty="0" smtClean="0">
                <a:latin typeface="+mn-ea"/>
              </a:rPr>
              <a:t> 저주를 해제하고 </a:t>
            </a:r>
            <a:r>
              <a:rPr lang="ko-KR" altLang="en-US" b="1" dirty="0" smtClean="0">
                <a:latin typeface="+mn-ea"/>
              </a:rPr>
              <a:t>자신의 편</a:t>
            </a:r>
            <a:r>
              <a:rPr lang="ko-KR" altLang="en-US" dirty="0" smtClean="0">
                <a:latin typeface="+mn-ea"/>
              </a:rPr>
              <a:t>으로 만들 수 </a:t>
            </a:r>
            <a:r>
              <a:rPr lang="ko-KR" altLang="en-US" dirty="0" err="1" smtClean="0">
                <a:latin typeface="+mn-ea"/>
              </a:rPr>
              <a:t>있습</a:t>
            </a:r>
            <a:endParaRPr lang="en-US" altLang="ko-KR" dirty="0" smtClean="0">
              <a:latin typeface="+mn-ea"/>
            </a:endParaRPr>
          </a:p>
          <a:p>
            <a:pPr>
              <a:lnSpc>
                <a:spcPct val="150000"/>
              </a:lnSpc>
            </a:pPr>
            <a:r>
              <a:rPr lang="en-US" altLang="ko-KR" dirty="0" smtClean="0">
                <a:latin typeface="+mn-ea"/>
              </a:rPr>
              <a:t>  </a:t>
            </a:r>
            <a:r>
              <a:rPr lang="ko-KR" altLang="en-US" dirty="0" err="1" smtClean="0">
                <a:latin typeface="+mn-ea"/>
              </a:rPr>
              <a:t>니다</a:t>
            </a:r>
            <a:r>
              <a:rPr lang="en-US" altLang="ko-KR" dirty="0" smtClean="0">
                <a:latin typeface="+mn-ea"/>
              </a:rPr>
              <a:t>. </a:t>
            </a:r>
            <a:r>
              <a:rPr lang="ko-KR" altLang="en-US" dirty="0"/>
              <a:t>정화한 </a:t>
            </a:r>
            <a:r>
              <a:rPr lang="ko-KR" altLang="en-US" dirty="0" err="1"/>
              <a:t>몬스터는</a:t>
            </a:r>
            <a:r>
              <a:rPr lang="ko-KR" altLang="en-US" dirty="0"/>
              <a:t> 플레이어의 편에 서서 함께 전투를 </a:t>
            </a:r>
            <a:endParaRPr lang="en-US" altLang="ko-KR" dirty="0" smtClean="0"/>
          </a:p>
          <a:p>
            <a:pPr>
              <a:lnSpc>
                <a:spcPct val="150000"/>
              </a:lnSpc>
            </a:pPr>
            <a:r>
              <a:rPr lang="en-US" altLang="ko-KR" dirty="0"/>
              <a:t> </a:t>
            </a:r>
            <a:r>
              <a:rPr lang="en-US" altLang="ko-KR" dirty="0" smtClean="0"/>
              <a:t> </a:t>
            </a:r>
            <a:r>
              <a:rPr lang="ko-KR" altLang="en-US" dirty="0" smtClean="0"/>
              <a:t>치를 것</a:t>
            </a:r>
            <a:r>
              <a:rPr lang="en-US" altLang="ko-KR" dirty="0" smtClean="0"/>
              <a:t> </a:t>
            </a:r>
            <a:r>
              <a:rPr lang="ko-KR" altLang="en-US" dirty="0"/>
              <a:t>입니다</a:t>
            </a:r>
            <a:r>
              <a:rPr lang="en-US" altLang="ko-KR" dirty="0"/>
              <a:t>. </a:t>
            </a:r>
            <a:endParaRPr lang="en-US" altLang="ko-KR" dirty="0" smtClean="0">
              <a:latin typeface="+mn-ea"/>
            </a:endParaRPr>
          </a:p>
          <a:p>
            <a:pPr>
              <a:lnSpc>
                <a:spcPct val="150000"/>
              </a:lnSpc>
            </a:pPr>
            <a:endParaRPr lang="en-US" altLang="ko-KR" sz="1200" dirty="0">
              <a:latin typeface="+mn-ea"/>
            </a:endParaRPr>
          </a:p>
          <a:p>
            <a:pPr>
              <a:lnSpc>
                <a:spcPct val="150000"/>
              </a:lnSpc>
            </a:pPr>
            <a:r>
              <a:rPr lang="en-US" altLang="ko-KR" dirty="0" smtClean="0"/>
              <a:t>• </a:t>
            </a:r>
            <a:r>
              <a:rPr lang="ko-KR" altLang="en-US" dirty="0" err="1" smtClean="0"/>
              <a:t>몬스터에</a:t>
            </a:r>
            <a:r>
              <a:rPr lang="ko-KR" altLang="en-US" dirty="0" smtClean="0"/>
              <a:t> 따라 정화 방법과 조</a:t>
            </a:r>
            <a:r>
              <a:rPr lang="ko-KR" altLang="en-US" dirty="0"/>
              <a:t>건</a:t>
            </a:r>
            <a:r>
              <a:rPr lang="ko-KR" altLang="en-US" dirty="0" smtClean="0"/>
              <a:t>이 상이하기 때문에</a:t>
            </a:r>
            <a:r>
              <a:rPr lang="en-US" altLang="ko-KR" dirty="0" smtClean="0"/>
              <a:t>, </a:t>
            </a:r>
            <a:r>
              <a:rPr lang="ko-KR" altLang="en-US" dirty="0" smtClean="0"/>
              <a:t>원하는 </a:t>
            </a:r>
            <a:endParaRPr lang="en-US" altLang="ko-KR" dirty="0" smtClean="0"/>
          </a:p>
          <a:p>
            <a:pPr>
              <a:lnSpc>
                <a:spcPct val="150000"/>
              </a:lnSpc>
            </a:pPr>
            <a:r>
              <a:rPr lang="en-US" altLang="ko-KR" dirty="0"/>
              <a:t> </a:t>
            </a:r>
            <a:r>
              <a:rPr lang="en-US" altLang="ko-KR" dirty="0" smtClean="0"/>
              <a:t> </a:t>
            </a:r>
            <a:r>
              <a:rPr lang="ko-KR" altLang="en-US" dirty="0" smtClean="0"/>
              <a:t>몬스터를 얻기</a:t>
            </a:r>
            <a:r>
              <a:rPr lang="en-US" altLang="ko-KR" dirty="0" smtClean="0"/>
              <a:t> </a:t>
            </a:r>
            <a:r>
              <a:rPr lang="ko-KR" altLang="en-US" dirty="0" smtClean="0"/>
              <a:t>위해선 특정한 방법에 따라 </a:t>
            </a:r>
            <a:r>
              <a:rPr lang="ko-KR" altLang="en-US" b="1" dirty="0" smtClean="0"/>
              <a:t>조건을 만족</a:t>
            </a:r>
            <a:r>
              <a:rPr lang="ko-KR" altLang="en-US" dirty="0" smtClean="0"/>
              <a:t>시켜야 </a:t>
            </a:r>
            <a:endParaRPr lang="en-US" altLang="ko-KR" dirty="0" smtClean="0"/>
          </a:p>
          <a:p>
            <a:pPr>
              <a:lnSpc>
                <a:spcPct val="150000"/>
              </a:lnSpc>
            </a:pPr>
            <a:r>
              <a:rPr lang="en-US" altLang="ko-KR" dirty="0"/>
              <a:t> </a:t>
            </a:r>
            <a:r>
              <a:rPr lang="en-US" altLang="ko-KR" dirty="0" smtClean="0"/>
              <a:t> </a:t>
            </a:r>
            <a:r>
              <a:rPr lang="ko-KR" altLang="en-US" dirty="0" smtClean="0"/>
              <a:t>합니다</a:t>
            </a:r>
            <a:r>
              <a:rPr lang="en-US" altLang="ko-KR" dirty="0" smtClean="0"/>
              <a:t>.</a:t>
            </a:r>
            <a:r>
              <a:rPr lang="ko-KR" altLang="en-US" dirty="0"/>
              <a:t> </a:t>
            </a:r>
            <a:r>
              <a:rPr lang="ko-KR" altLang="en-US" dirty="0" smtClean="0"/>
              <a:t>기본적으로 알 수 없으나</a:t>
            </a:r>
            <a:r>
              <a:rPr lang="en-US" altLang="ko-KR" dirty="0" smtClean="0"/>
              <a:t>, </a:t>
            </a:r>
            <a:r>
              <a:rPr lang="ko-KR" altLang="en-US" dirty="0" smtClean="0"/>
              <a:t>한번 획득하면 방법이 기록 </a:t>
            </a:r>
            <a:endParaRPr lang="en-US" altLang="ko-KR" dirty="0" smtClean="0"/>
          </a:p>
          <a:p>
            <a:pPr>
              <a:lnSpc>
                <a:spcPct val="150000"/>
              </a:lnSpc>
            </a:pPr>
            <a:r>
              <a:rPr lang="en-US" altLang="ko-KR" dirty="0"/>
              <a:t> </a:t>
            </a:r>
            <a:r>
              <a:rPr lang="en-US" altLang="ko-KR" dirty="0" smtClean="0"/>
              <a:t> </a:t>
            </a:r>
            <a:r>
              <a:rPr lang="ko-KR" altLang="en-US" dirty="0" smtClean="0"/>
              <a:t>으로 남습니다</a:t>
            </a:r>
            <a:r>
              <a:rPr lang="en-US" altLang="ko-KR" dirty="0" smtClean="0"/>
              <a:t>.</a:t>
            </a:r>
          </a:p>
          <a:p>
            <a:pPr>
              <a:lnSpc>
                <a:spcPct val="150000"/>
              </a:lnSpc>
            </a:pPr>
            <a:endParaRPr lang="en-US" altLang="ko-KR" sz="1200" dirty="0" smtClean="0"/>
          </a:p>
          <a:p>
            <a:pPr>
              <a:lnSpc>
                <a:spcPct val="150000"/>
              </a:lnSpc>
            </a:pPr>
            <a:r>
              <a:rPr lang="en-US" altLang="ko-KR" dirty="0" smtClean="0"/>
              <a:t>• </a:t>
            </a:r>
            <a:r>
              <a:rPr lang="ko-KR" altLang="en-US" dirty="0" err="1" smtClean="0"/>
              <a:t>몬스터의</a:t>
            </a:r>
            <a:r>
              <a:rPr lang="ko-KR" altLang="en-US" dirty="0" smtClean="0"/>
              <a:t> 입수 방법을 알아내기 위해 플레이어는 다양한 </a:t>
            </a:r>
            <a:r>
              <a:rPr lang="ko-KR" altLang="en-US" b="1" dirty="0" smtClean="0"/>
              <a:t>시행</a:t>
            </a:r>
            <a:endParaRPr lang="en-US" altLang="ko-KR" b="1" dirty="0" smtClean="0"/>
          </a:p>
          <a:p>
            <a:pPr>
              <a:lnSpc>
                <a:spcPct val="150000"/>
              </a:lnSpc>
            </a:pPr>
            <a:r>
              <a:rPr lang="en-US" altLang="ko-KR" b="1" dirty="0"/>
              <a:t> </a:t>
            </a:r>
            <a:r>
              <a:rPr lang="en-US" altLang="ko-KR" b="1" dirty="0" smtClean="0"/>
              <a:t> </a:t>
            </a:r>
            <a:r>
              <a:rPr lang="ko-KR" altLang="en-US" b="1" dirty="0" smtClean="0"/>
              <a:t>착오</a:t>
            </a:r>
            <a:r>
              <a:rPr lang="ko-KR" altLang="en-US" dirty="0" smtClean="0"/>
              <a:t>를 겪을 것이고</a:t>
            </a:r>
            <a:r>
              <a:rPr lang="en-US" altLang="ko-KR" dirty="0" smtClean="0"/>
              <a:t>, </a:t>
            </a:r>
            <a:r>
              <a:rPr lang="ko-KR" altLang="en-US" dirty="0" smtClean="0"/>
              <a:t>이를 통해 플레이의 </a:t>
            </a:r>
            <a:r>
              <a:rPr lang="ko-KR" altLang="en-US" dirty="0" err="1" smtClean="0"/>
              <a:t>몰입감을</a:t>
            </a:r>
            <a:r>
              <a:rPr lang="ko-KR" altLang="en-US" dirty="0" smtClean="0"/>
              <a:t> 향상시킬 수 </a:t>
            </a:r>
            <a:endParaRPr lang="en-US" altLang="ko-KR" dirty="0" smtClean="0"/>
          </a:p>
          <a:p>
            <a:pPr>
              <a:lnSpc>
                <a:spcPct val="150000"/>
              </a:lnSpc>
            </a:pPr>
            <a:r>
              <a:rPr lang="en-US" altLang="ko-KR" dirty="0"/>
              <a:t> </a:t>
            </a:r>
            <a:r>
              <a:rPr lang="en-US" altLang="ko-KR" dirty="0" smtClean="0"/>
              <a:t> </a:t>
            </a:r>
            <a:r>
              <a:rPr lang="ko-KR" altLang="en-US" dirty="0" smtClean="0"/>
              <a:t>있습니다</a:t>
            </a:r>
            <a:r>
              <a:rPr lang="en-US" altLang="ko-KR" dirty="0" smtClean="0"/>
              <a:t>.  </a:t>
            </a:r>
            <a:r>
              <a:rPr lang="ko-KR" altLang="en-US" dirty="0" smtClean="0"/>
              <a:t> </a:t>
            </a:r>
            <a:endParaRPr lang="en-US" altLang="ko-KR" dirty="0" smtClean="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78" y="1255092"/>
            <a:ext cx="3892805"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8" y="3817287"/>
            <a:ext cx="3969447" cy="228794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7</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790598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턴방식</a:t>
            </a:r>
            <a:r>
              <a:rPr lang="ko-KR" altLang="en-US" sz="3200" b="1" dirty="0">
                <a:gradFill>
                  <a:gsLst>
                    <a:gs pos="0">
                      <a:schemeClr val="tx1"/>
                    </a:gs>
                    <a:gs pos="100000">
                      <a:schemeClr val="tx1"/>
                    </a:gs>
                  </a:gsLst>
                  <a:lin ang="5400000" scaled="1"/>
                </a:gradFill>
                <a:latin typeface="맑은 고딕" panose="020B0503020000020004" pitchFamily="50" charset="-127"/>
              </a:rPr>
              <a:t> 전략 </a:t>
            </a:r>
            <a:r>
              <a:rPr lang="ko-KR" altLang="en-US" sz="3200" b="1" dirty="0" smtClean="0">
                <a:gradFill>
                  <a:gsLst>
                    <a:gs pos="0">
                      <a:schemeClr val="tx1"/>
                    </a:gs>
                    <a:gs pos="100000">
                      <a:schemeClr val="tx1"/>
                    </a:gs>
                  </a:gsLst>
                  <a:lin ang="5400000" scaled="1"/>
                </a:gradFill>
                <a:latin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13" name="TextBox 12"/>
          <p:cNvSpPr txBox="1"/>
          <p:nvPr/>
        </p:nvSpPr>
        <p:spPr>
          <a:xfrm>
            <a:off x="5280347" y="1347170"/>
            <a:ext cx="6660506" cy="4662815"/>
          </a:xfrm>
          <a:prstGeom prst="rect">
            <a:avLst/>
          </a:prstGeom>
          <a:noFill/>
        </p:spPr>
        <p:txBody>
          <a:bodyPr wrap="square" rtlCol="0">
            <a:spAutoFit/>
          </a:bodyPr>
          <a:lstStyle/>
          <a:p>
            <a:pPr>
              <a:lnSpc>
                <a:spcPct val="150000"/>
              </a:lnSpc>
            </a:pPr>
            <a:r>
              <a:rPr lang="en-US" altLang="ko-KR" dirty="0"/>
              <a:t>• </a:t>
            </a:r>
            <a:r>
              <a:rPr lang="ko-KR" altLang="en-US" dirty="0" smtClean="0"/>
              <a:t>플레이어는 </a:t>
            </a:r>
            <a:r>
              <a:rPr lang="ko-KR" altLang="en-US" dirty="0" smtClean="0">
                <a:latin typeface="+mn-ea"/>
              </a:rPr>
              <a:t>다양한 개성을 지닌 </a:t>
            </a:r>
            <a:r>
              <a:rPr lang="ko-KR" altLang="en-US" b="1" dirty="0" smtClean="0">
                <a:latin typeface="+mn-ea"/>
              </a:rPr>
              <a:t>캐릭터와 몬스터를 조합</a:t>
            </a:r>
            <a:r>
              <a:rPr lang="ko-KR" altLang="en-US" dirty="0" smtClean="0">
                <a:latin typeface="+mn-ea"/>
              </a:rPr>
              <a:t>하여</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 속</a:t>
            </a:r>
            <a:r>
              <a:rPr lang="en-US" altLang="ko-KR" dirty="0" smtClean="0">
                <a:latin typeface="+mn-ea"/>
              </a:rPr>
              <a:t> </a:t>
            </a:r>
            <a:r>
              <a:rPr lang="ko-KR" altLang="en-US" dirty="0" err="1" smtClean="0">
                <a:latin typeface="+mn-ea"/>
              </a:rPr>
              <a:t>몬스터들을</a:t>
            </a:r>
            <a:r>
              <a:rPr lang="ko-KR" altLang="en-US" dirty="0" smtClean="0">
                <a:latin typeface="+mn-ea"/>
              </a:rPr>
              <a:t> 최대한 피해 없이 쓰러트려야 합니다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a:t>아군과 적군의 </a:t>
            </a:r>
            <a:r>
              <a:rPr lang="ko-KR" altLang="en-US" dirty="0" smtClean="0"/>
              <a:t>기</a:t>
            </a:r>
            <a:r>
              <a:rPr lang="ko-KR" altLang="en-US" dirty="0"/>
              <a:t>술</a:t>
            </a:r>
            <a:r>
              <a:rPr lang="ko-KR" altLang="en-US" dirty="0" smtClean="0"/>
              <a:t> </a:t>
            </a:r>
            <a:r>
              <a:rPr lang="ko-KR" altLang="en-US" dirty="0"/>
              <a:t>차이</a:t>
            </a:r>
            <a:r>
              <a:rPr lang="en-US" altLang="ko-KR" dirty="0"/>
              <a:t>, </a:t>
            </a:r>
            <a:r>
              <a:rPr lang="ko-KR" altLang="en-US" dirty="0"/>
              <a:t>상성</a:t>
            </a:r>
            <a:r>
              <a:rPr lang="en-US" altLang="ko-KR" dirty="0"/>
              <a:t>, </a:t>
            </a:r>
            <a:r>
              <a:rPr lang="ko-KR" altLang="en-US" dirty="0" err="1" smtClean="0"/>
              <a:t>아티팩트</a:t>
            </a:r>
            <a:r>
              <a:rPr lang="ko-KR" altLang="en-US" dirty="0" smtClean="0"/>
              <a:t> 능력</a:t>
            </a:r>
            <a:r>
              <a:rPr lang="en-US" altLang="ko-KR" dirty="0" smtClean="0"/>
              <a:t>, </a:t>
            </a:r>
            <a:r>
              <a:rPr lang="ko-KR" altLang="en-US" dirty="0"/>
              <a:t>파티의 컨셉과 </a:t>
            </a:r>
            <a:endParaRPr lang="en-US" altLang="ko-KR" dirty="0"/>
          </a:p>
          <a:p>
            <a:pPr>
              <a:lnSpc>
                <a:spcPct val="150000"/>
              </a:lnSpc>
            </a:pPr>
            <a:r>
              <a:rPr lang="en-US" altLang="ko-KR" dirty="0"/>
              <a:t>  </a:t>
            </a:r>
            <a:r>
              <a:rPr lang="ko-KR" altLang="en-US" dirty="0"/>
              <a:t>장단점 등 </a:t>
            </a:r>
            <a:r>
              <a:rPr lang="ko-KR" altLang="en-US" b="1" dirty="0"/>
              <a:t>다양한 전략적 변수</a:t>
            </a:r>
            <a:r>
              <a:rPr lang="ko-KR" altLang="en-US" dirty="0"/>
              <a:t>들이 존재합니다</a:t>
            </a:r>
            <a:r>
              <a:rPr lang="en-US" altLang="ko-KR" dirty="0" smtClean="0"/>
              <a:t>. </a:t>
            </a:r>
          </a:p>
          <a:p>
            <a:pPr>
              <a:lnSpc>
                <a:spcPct val="150000"/>
              </a:lnSpc>
            </a:pPr>
            <a:endParaRPr lang="en-US" altLang="ko-KR" sz="1200" dirty="0"/>
          </a:p>
          <a:p>
            <a:pPr>
              <a:lnSpc>
                <a:spcPct val="150000"/>
              </a:lnSpc>
            </a:pPr>
            <a:r>
              <a:rPr lang="en-US" altLang="ko-KR" dirty="0" smtClean="0"/>
              <a:t>• </a:t>
            </a:r>
            <a:r>
              <a:rPr lang="ko-KR" altLang="en-US" dirty="0" smtClean="0">
                <a:latin typeface="+mn-ea"/>
              </a:rPr>
              <a:t>턴 방식을 통해 이러한 다양한 변수를 고려하며</a:t>
            </a:r>
            <a:r>
              <a:rPr lang="en-US" altLang="ko-KR" dirty="0" smtClean="0">
                <a:latin typeface="+mn-ea"/>
              </a:rPr>
              <a:t> </a:t>
            </a:r>
            <a:r>
              <a:rPr lang="ko-KR" altLang="en-US" b="1" dirty="0" smtClean="0">
                <a:latin typeface="+mn-ea"/>
              </a:rPr>
              <a:t>효율적이고</a:t>
            </a:r>
            <a:r>
              <a:rPr lang="en-US" altLang="ko-KR" dirty="0" smtClean="0"/>
              <a:t> </a:t>
            </a:r>
          </a:p>
          <a:p>
            <a:pPr>
              <a:lnSpc>
                <a:spcPct val="150000"/>
              </a:lnSpc>
            </a:pPr>
            <a:r>
              <a:rPr lang="en-US" altLang="ko-KR" dirty="0"/>
              <a:t> </a:t>
            </a:r>
            <a:r>
              <a:rPr lang="en-US" altLang="ko-KR" dirty="0" smtClean="0"/>
              <a:t> </a:t>
            </a:r>
            <a:r>
              <a:rPr lang="ko-KR" altLang="en-US" b="1" dirty="0" smtClean="0"/>
              <a:t>합리적인 선택</a:t>
            </a:r>
            <a:r>
              <a:rPr lang="ko-KR" altLang="en-US" dirty="0" smtClean="0"/>
              <a:t>을 내리게끔 하여</a:t>
            </a:r>
            <a:r>
              <a:rPr lang="en-US" altLang="ko-KR" dirty="0" smtClean="0"/>
              <a:t>, </a:t>
            </a:r>
            <a:r>
              <a:rPr lang="ko-KR" altLang="en-US" dirty="0" smtClean="0"/>
              <a:t>게임에 </a:t>
            </a:r>
            <a:r>
              <a:rPr lang="ko-KR" altLang="en-US" dirty="0" err="1" smtClean="0"/>
              <a:t>전략성을</a:t>
            </a:r>
            <a:r>
              <a:rPr lang="ko-KR" altLang="en-US" dirty="0" smtClean="0"/>
              <a:t> 부여합니다</a:t>
            </a:r>
            <a:r>
              <a:rPr lang="en-US" altLang="ko-KR" dirty="0" smtClean="0"/>
              <a:t>.</a:t>
            </a:r>
            <a:endParaRPr lang="en-US" altLang="ko-KR" dirty="0"/>
          </a:p>
          <a:p>
            <a:pPr>
              <a:lnSpc>
                <a:spcPct val="150000"/>
              </a:lnSpc>
            </a:pPr>
            <a:endParaRPr lang="en-US" altLang="ko-KR" sz="1200" dirty="0" smtClean="0"/>
          </a:p>
          <a:p>
            <a:pPr>
              <a:lnSpc>
                <a:spcPct val="150000"/>
              </a:lnSpc>
            </a:pPr>
            <a:r>
              <a:rPr lang="en-US" altLang="ko-KR" dirty="0" smtClean="0"/>
              <a:t>• </a:t>
            </a:r>
            <a:r>
              <a:rPr lang="ko-KR" altLang="en-US" dirty="0" smtClean="0"/>
              <a:t>실시간으로 플레이어의 컨트롤 능력을 요구하는 대신</a:t>
            </a:r>
            <a:r>
              <a:rPr lang="en-US" altLang="ko-KR" dirty="0" smtClean="0"/>
              <a:t> </a:t>
            </a:r>
            <a:r>
              <a:rPr lang="ko-KR" altLang="en-US" b="1" dirty="0" smtClean="0"/>
              <a:t>적절한   </a:t>
            </a:r>
            <a:endParaRPr lang="en-US" altLang="ko-KR" b="1" dirty="0" smtClean="0"/>
          </a:p>
          <a:p>
            <a:pPr>
              <a:lnSpc>
                <a:spcPct val="150000"/>
              </a:lnSpc>
            </a:pPr>
            <a:r>
              <a:rPr lang="en-US" altLang="ko-KR" b="1" dirty="0"/>
              <a:t> </a:t>
            </a:r>
            <a:r>
              <a:rPr lang="en-US" altLang="ko-KR" b="1" dirty="0" smtClean="0"/>
              <a:t> </a:t>
            </a:r>
            <a:r>
              <a:rPr lang="ko-KR" altLang="en-US" b="1" dirty="0" smtClean="0"/>
              <a:t>판단을 필요</a:t>
            </a:r>
            <a:r>
              <a:rPr lang="ko-KR" altLang="en-US" dirty="0" smtClean="0"/>
              <a:t>로 하기 때문에</a:t>
            </a:r>
            <a:r>
              <a:rPr lang="en-US" altLang="ko-KR" dirty="0" smtClean="0"/>
              <a:t>, </a:t>
            </a:r>
            <a:r>
              <a:rPr lang="ko-KR" altLang="en-US" dirty="0" smtClean="0"/>
              <a:t>누구나 손쉽게 접근할 수 있고</a:t>
            </a:r>
            <a:endParaRPr lang="en-US" altLang="ko-KR" dirty="0" smtClean="0"/>
          </a:p>
          <a:p>
            <a:pPr>
              <a:lnSpc>
                <a:spcPct val="150000"/>
              </a:lnSpc>
            </a:pPr>
            <a:r>
              <a:rPr lang="ko-KR" altLang="en-US" dirty="0" smtClean="0"/>
              <a:t>  게임의 기술적 구현에 있어서도 장점을 가지고 있습니다</a:t>
            </a:r>
            <a:r>
              <a:rPr lang="en-US" altLang="ko-KR" dirty="0" smtClean="0"/>
              <a:t>.</a:t>
            </a:r>
            <a:endParaRPr lang="en-US" altLang="ko-KR"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0" y="1255092"/>
            <a:ext cx="3840901"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8 )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30" y="3859452"/>
            <a:ext cx="3840901" cy="216050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454136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게임 플레이</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15</a:t>
            </a:fld>
            <a:endParaRPr lang="ko-KR" altLang="en-US" dirty="0">
              <a:solidFill>
                <a:prstClr val="black">
                  <a:tint val="75000"/>
                </a:prstClr>
              </a:solidFill>
            </a:endParaRPr>
          </a:p>
        </p:txBody>
      </p:sp>
    </p:spTree>
    <p:extLst>
      <p:ext uri="{BB962C8B-B14F-4D97-AF65-F5344CB8AC3E}">
        <p14:creationId xmlns:p14="http://schemas.microsoft.com/office/powerpoint/2010/main" val="35017810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16</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TextBox 95"/>
          <p:cNvSpPr txBox="1"/>
          <p:nvPr/>
        </p:nvSpPr>
        <p:spPr>
          <a:xfrm>
            <a:off x="8900590" y="304142"/>
            <a:ext cx="318688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계층은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차후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추가될 수 있습니다</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42594135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예상 경로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1" name="직선 화살표 연결선 10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직선 화살표 연결선 10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8" name="직선 화살표 연결선 10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2" name="직선 화살표 연결선 111"/>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직선 화살표 연결선 113"/>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직선 화살표 연결선 114"/>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직선 화살표 연결선 115"/>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7" name="직선 화살표 연결선 116"/>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직선 화살표 연결선 117"/>
          <p:cNvCxnSpPr/>
          <p:nvPr/>
        </p:nvCxnSpPr>
        <p:spPr>
          <a:xfrm flipV="1">
            <a:off x="8045823" y="2812766"/>
            <a:ext cx="491695" cy="739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직선 화살표 연결선 118"/>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직선 화살표 연결선 119"/>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2" name="직선 화살표 연결선 121"/>
          <p:cNvCxnSpPr/>
          <p:nvPr/>
        </p:nvCxnSpPr>
        <p:spPr>
          <a:xfrm flipH="1" flipV="1">
            <a:off x="9979507" y="3955767"/>
            <a:ext cx="75587" cy="20304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3" name="직선 화살표 연결선 12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6" name="모서리가 둥근 직사각형 95"/>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12163929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도넛 76"/>
          <p:cNvSpPr/>
          <p:nvPr/>
        </p:nvSpPr>
        <p:spPr>
          <a:xfrm>
            <a:off x="349545" y="3112030"/>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1686139" y="1245339"/>
            <a:ext cx="2680605" cy="1978087"/>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입구</a:t>
            </a:r>
            <a:r>
              <a:rPr lang="en-US" altLang="ko-KR" sz="1600" b="1"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 탐험을 시작하는 장소</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전투가 발생하지 않음</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err="1" smtClean="0">
                <a:solidFill>
                  <a:sysClr val="windowText" lastClr="000000"/>
                </a:solidFill>
              </a:rPr>
              <a:t>아티팩트를</a:t>
            </a:r>
            <a:r>
              <a:rPr lang="ko-KR" altLang="en-US" sz="1400" dirty="0" smtClean="0">
                <a:solidFill>
                  <a:sysClr val="windowText" lastClr="000000"/>
                </a:solidFill>
              </a:rPr>
              <a:t> 획득함</a:t>
            </a:r>
            <a:endParaRPr lang="ko-KR" altLang="en-US" sz="1400" dirty="0">
              <a:solidFill>
                <a:sysClr val="windowText" lastClr="000000"/>
              </a:solidFill>
            </a:endParaRPr>
          </a:p>
        </p:txBody>
      </p:sp>
      <p:sp>
        <p:nvSpPr>
          <p:cNvPr id="96" name="모서리가 둥근 직사각형 95"/>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39298827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던전의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2173999" y="1268884"/>
            <a:ext cx="2804753" cy="2560868"/>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길</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던전을 탐험하는 길을 표시</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계층 내에서 </a:t>
            </a:r>
            <a:r>
              <a:rPr lang="ko-KR" altLang="en-US" sz="1400" dirty="0" smtClean="0">
                <a:solidFill>
                  <a:sysClr val="windowText" lastClr="000000"/>
                </a:solidFill>
              </a:rPr>
              <a:t>왕복으로 </a:t>
            </a:r>
            <a:r>
              <a:rPr lang="ko-KR" altLang="en-US" sz="1400" dirty="0" smtClean="0">
                <a:solidFill>
                  <a:sysClr val="windowText" lastClr="000000"/>
                </a:solidFill>
              </a:rPr>
              <a:t>이동 가능하며</a:t>
            </a:r>
            <a:r>
              <a:rPr lang="en-US" altLang="ko-KR" sz="1400" dirty="0" smtClean="0">
                <a:solidFill>
                  <a:sysClr val="windowText" lastClr="000000"/>
                </a:solidFill>
              </a:rPr>
              <a:t>, </a:t>
            </a:r>
            <a:r>
              <a:rPr lang="ko-KR" altLang="en-US" sz="1400" dirty="0" smtClean="0">
                <a:solidFill>
                  <a:sysClr val="windowText" lastClr="000000"/>
                </a:solidFill>
              </a:rPr>
              <a:t>한번에 </a:t>
            </a:r>
            <a:r>
              <a:rPr lang="ko-KR" altLang="en-US" sz="1400" dirty="0" smtClean="0">
                <a:solidFill>
                  <a:sysClr val="windowText" lastClr="000000"/>
                </a:solidFill>
              </a:rPr>
              <a:t>하나의 길을 건널 </a:t>
            </a:r>
            <a:r>
              <a:rPr lang="ko-KR" altLang="en-US" sz="1400" dirty="0" smtClean="0">
                <a:solidFill>
                  <a:sysClr val="windowText" lastClr="000000"/>
                </a:solidFill>
              </a:rPr>
              <a:t>수 있음</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계층 간 이동의 경우</a:t>
            </a:r>
            <a:r>
              <a:rPr lang="en-US" altLang="ko-KR" sz="1400" dirty="0" smtClean="0">
                <a:solidFill>
                  <a:sysClr val="windowText" lastClr="000000"/>
                </a:solidFill>
              </a:rPr>
              <a:t>, </a:t>
            </a:r>
            <a:r>
              <a:rPr lang="ko-KR" altLang="en-US" sz="1400" dirty="0" smtClean="0">
                <a:solidFill>
                  <a:sysClr val="windowText" lastClr="000000"/>
                </a:solidFill>
              </a:rPr>
              <a:t>이전 계층으로 되돌아갈 수 없음</a:t>
            </a:r>
            <a:endParaRPr lang="ko-KR" altLang="en-US" sz="1400" dirty="0">
              <a:solidFill>
                <a:sysClr val="windowText" lastClr="000000"/>
              </a:solidFill>
            </a:endParaRPr>
          </a:p>
        </p:txBody>
      </p:sp>
      <p:cxnSp>
        <p:nvCxnSpPr>
          <p:cNvPr id="96" name="직선 화살표 연결선 95"/>
          <p:cNvCxnSpPr/>
          <p:nvPr/>
        </p:nvCxnSpPr>
        <p:spPr>
          <a:xfrm>
            <a:off x="1662904" y="4037316"/>
            <a:ext cx="365072" cy="3803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1" name="모서리가 둥근 직사각형 100"/>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6" name="도넛 105"/>
          <p:cNvSpPr/>
          <p:nvPr/>
        </p:nvSpPr>
        <p:spPr>
          <a:xfrm>
            <a:off x="1476039" y="3787676"/>
            <a:ext cx="783158" cy="71772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9679309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던전의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3201414" y="1228619"/>
            <a:ext cx="3571267" cy="2549730"/>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계층</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에어리어들로 구성된</a:t>
            </a:r>
            <a:r>
              <a:rPr lang="en-US" altLang="ko-KR" sz="1400" dirty="0" smtClean="0">
                <a:solidFill>
                  <a:sysClr val="windowText" lastClr="000000"/>
                </a:solidFill>
              </a:rPr>
              <a:t>,</a:t>
            </a:r>
            <a:r>
              <a:rPr lang="ko-KR" altLang="en-US" sz="1400" dirty="0" smtClean="0">
                <a:solidFill>
                  <a:sysClr val="windowText" lastClr="000000"/>
                </a:solidFill>
              </a:rPr>
              <a:t> 던전의 층계</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다음 계층으로 가는 길이 이어져있는 </a:t>
            </a:r>
            <a:r>
              <a:rPr lang="en-US" altLang="ko-KR" sz="1400" dirty="0" smtClean="0">
                <a:solidFill>
                  <a:sysClr val="windowText" lastClr="000000"/>
                </a:solidFill>
              </a:rPr>
              <a:t>1</a:t>
            </a:r>
            <a:r>
              <a:rPr lang="ko-KR" altLang="en-US" sz="1400" dirty="0" smtClean="0">
                <a:solidFill>
                  <a:sysClr val="windowText" lastClr="000000"/>
                </a:solidFill>
              </a:rPr>
              <a:t>개의 </a:t>
            </a:r>
            <a:r>
              <a:rPr lang="ko-KR" altLang="en-US" sz="1400" dirty="0" err="1" smtClean="0">
                <a:solidFill>
                  <a:sysClr val="windowText" lastClr="000000"/>
                </a:solidFill>
              </a:rPr>
              <a:t>에어리어가</a:t>
            </a:r>
            <a:r>
              <a:rPr lang="ko-KR" altLang="en-US" sz="1400" dirty="0" smtClean="0">
                <a:solidFill>
                  <a:sysClr val="windowText" lastClr="000000"/>
                </a:solidFill>
              </a:rPr>
              <a:t> 존재</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다음 계층으로 넘어가면</a:t>
            </a:r>
            <a:r>
              <a:rPr lang="en-US" altLang="ko-KR" sz="1400" dirty="0" smtClean="0">
                <a:solidFill>
                  <a:sysClr val="windowText" lastClr="000000"/>
                </a:solidFill>
              </a:rPr>
              <a:t>, </a:t>
            </a:r>
            <a:r>
              <a:rPr lang="ko-KR" altLang="en-US" sz="1400" dirty="0" smtClean="0">
                <a:solidFill>
                  <a:sysClr val="windowText" lastClr="000000"/>
                </a:solidFill>
              </a:rPr>
              <a:t>이전의 계층으로 되돌아갈 수 없음</a:t>
            </a:r>
            <a:endParaRPr lang="en-US" altLang="ko-KR" sz="1400" dirty="0" smtClean="0">
              <a:solidFill>
                <a:sysClr val="windowText" lastClr="000000"/>
              </a:solidFill>
            </a:endParaRPr>
          </a:p>
        </p:txBody>
      </p:sp>
      <p:sp>
        <p:nvSpPr>
          <p:cNvPr id="96" name="모서리가 둥근 직사각형 95"/>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1" name="도넛 100"/>
          <p:cNvSpPr/>
          <p:nvPr/>
        </p:nvSpPr>
        <p:spPr>
          <a:xfrm>
            <a:off x="1787188" y="627372"/>
            <a:ext cx="1335591" cy="5752149"/>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9429588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던전의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2730985" y="794865"/>
            <a:ext cx="3965534" cy="3309404"/>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에어리어</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몬스터와 이벤트가 존재하는</a:t>
            </a:r>
            <a:r>
              <a:rPr lang="en-US" altLang="ko-KR" sz="1400" dirty="0" smtClean="0">
                <a:solidFill>
                  <a:sysClr val="windowText" lastClr="000000"/>
                </a:solidFill>
              </a:rPr>
              <a:t>, </a:t>
            </a:r>
            <a:r>
              <a:rPr lang="ko-KR" altLang="en-US" sz="1400" dirty="0" smtClean="0">
                <a:solidFill>
                  <a:sysClr val="windowText" lastClr="000000"/>
                </a:solidFill>
              </a:rPr>
              <a:t>던전과 계층을 구성하는 단위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클리어</a:t>
            </a:r>
            <a:r>
              <a:rPr lang="ko-KR" altLang="en-US" sz="1400" dirty="0" smtClean="0">
                <a:solidFill>
                  <a:sysClr val="windowText" lastClr="000000"/>
                </a:solidFill>
              </a:rPr>
              <a:t> 유무와 상관없이</a:t>
            </a:r>
            <a:r>
              <a:rPr lang="en-US" altLang="ko-KR" sz="1400" dirty="0" smtClean="0">
                <a:solidFill>
                  <a:sysClr val="windowText" lastClr="000000"/>
                </a:solidFill>
              </a:rPr>
              <a:t>, </a:t>
            </a:r>
            <a:r>
              <a:rPr lang="ko-KR" altLang="en-US" sz="1400" dirty="0" smtClean="0">
                <a:solidFill>
                  <a:sysClr val="windowText" lastClr="000000"/>
                </a:solidFill>
              </a:rPr>
              <a:t>길로 </a:t>
            </a:r>
            <a:r>
              <a:rPr lang="ko-KR" altLang="en-US" sz="1400" dirty="0" err="1" smtClean="0">
                <a:solidFill>
                  <a:sysClr val="windowText" lastClr="000000"/>
                </a:solidFill>
              </a:rPr>
              <a:t>이어져있는인접한</a:t>
            </a:r>
            <a:r>
              <a:rPr lang="ko-KR" altLang="en-US" sz="1400" dirty="0" smtClean="0">
                <a:solidFill>
                  <a:sysClr val="windowText" lastClr="000000"/>
                </a:solidFill>
              </a:rPr>
              <a:t> </a:t>
            </a:r>
            <a:r>
              <a:rPr lang="ko-KR" altLang="en-US" sz="1400" dirty="0" err="1" smtClean="0">
                <a:solidFill>
                  <a:sysClr val="windowText" lastClr="000000"/>
                </a:solidFill>
              </a:rPr>
              <a:t>에어리어</a:t>
            </a:r>
            <a:r>
              <a:rPr lang="ko-KR" altLang="en-US" sz="1400" dirty="0" smtClean="0">
                <a:solidFill>
                  <a:sysClr val="windowText" lastClr="000000"/>
                </a:solidFill>
              </a:rPr>
              <a:t> 간의 이동만 가능</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탐험하지 않은 지역은 회색</a:t>
            </a:r>
            <a:r>
              <a:rPr lang="en-US" altLang="ko-KR" sz="1400" dirty="0" smtClean="0">
                <a:solidFill>
                  <a:sysClr val="windowText" lastClr="000000"/>
                </a:solidFill>
              </a:rPr>
              <a:t>, </a:t>
            </a:r>
            <a:r>
              <a:rPr lang="ko-KR" altLang="en-US" sz="1400" dirty="0" smtClean="0">
                <a:solidFill>
                  <a:sysClr val="windowText" lastClr="000000"/>
                </a:solidFill>
              </a:rPr>
              <a:t>탐험한 지역은 백색으로 표시</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한번 클리어한 </a:t>
            </a:r>
            <a:r>
              <a:rPr lang="ko-KR" altLang="en-US" sz="1400" dirty="0" err="1" smtClean="0">
                <a:solidFill>
                  <a:sysClr val="windowText" lastClr="000000"/>
                </a:solidFill>
              </a:rPr>
              <a:t>에어리어는</a:t>
            </a:r>
            <a:r>
              <a:rPr lang="ko-KR" altLang="en-US" sz="1400" dirty="0" smtClean="0">
                <a:solidFill>
                  <a:sysClr val="windowText" lastClr="000000"/>
                </a:solidFill>
              </a:rPr>
              <a:t> 다시 방문해도 전투 및 이벤트가 발생하지 않음</a:t>
            </a:r>
            <a:endParaRPr lang="en-US" altLang="ko-KR" sz="1400" dirty="0" smtClean="0">
              <a:solidFill>
                <a:sysClr val="windowText" lastClr="000000"/>
              </a:solidFill>
            </a:endParaRPr>
          </a:p>
        </p:txBody>
      </p:sp>
      <p:sp>
        <p:nvSpPr>
          <p:cNvPr id="96" name="모서리가 둥근 직사각형 95"/>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1" name="도넛 100"/>
          <p:cNvSpPr/>
          <p:nvPr/>
        </p:nvSpPr>
        <p:spPr>
          <a:xfrm>
            <a:off x="2096169" y="4241515"/>
            <a:ext cx="720826" cy="66892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4872687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4995893" y="1165145"/>
            <a:ext cx="2890089" cy="2035115"/>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중간보스</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강력한 보스 몬스터가 등장</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보상으로 </a:t>
            </a:r>
            <a:r>
              <a:rPr lang="ko-KR" altLang="en-US" sz="1400" dirty="0" err="1" smtClean="0">
                <a:solidFill>
                  <a:sysClr val="windowText" lastClr="000000"/>
                </a:solidFill>
              </a:rPr>
              <a:t>아티팩트</a:t>
            </a:r>
            <a:r>
              <a:rPr lang="ko-KR" altLang="en-US" sz="1400" dirty="0" smtClean="0">
                <a:solidFill>
                  <a:sysClr val="windowText" lastClr="000000"/>
                </a:solidFill>
              </a:rPr>
              <a:t> 획득 가능</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err="1" smtClean="0">
                <a:solidFill>
                  <a:sysClr val="windowText" lastClr="000000"/>
                </a:solidFill>
              </a:rPr>
              <a:t>클리어</a:t>
            </a:r>
            <a:r>
              <a:rPr lang="ko-KR" altLang="en-US" sz="1400" dirty="0" smtClean="0">
                <a:solidFill>
                  <a:sysClr val="windowText" lastClr="000000"/>
                </a:solidFill>
              </a:rPr>
              <a:t> 시 </a:t>
            </a:r>
            <a:r>
              <a:rPr lang="en-US" altLang="ko-KR" sz="1400" dirty="0" smtClean="0">
                <a:solidFill>
                  <a:sysClr val="windowText" lastClr="000000"/>
                </a:solidFill>
              </a:rPr>
              <a:t>X </a:t>
            </a:r>
            <a:r>
              <a:rPr lang="ko-KR" altLang="en-US" sz="1400" dirty="0" smtClean="0">
                <a:solidFill>
                  <a:sysClr val="windowText" lastClr="000000"/>
                </a:solidFill>
              </a:rPr>
              <a:t>표가 </a:t>
            </a:r>
            <a:r>
              <a:rPr lang="ko-KR" altLang="en-US" sz="1400" dirty="0" err="1" smtClean="0">
                <a:solidFill>
                  <a:sysClr val="windowText" lastClr="000000"/>
                </a:solidFill>
              </a:rPr>
              <a:t>그려짐</a:t>
            </a:r>
            <a:endParaRPr lang="en-US" altLang="ko-KR" sz="1400" dirty="0" smtClean="0">
              <a:solidFill>
                <a:sysClr val="windowText" lastClr="000000"/>
              </a:solidFill>
            </a:endParaRPr>
          </a:p>
        </p:txBody>
      </p:sp>
      <p:sp>
        <p:nvSpPr>
          <p:cNvPr id="96" name="모서리가 둥근 직사각형 95"/>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1" name="도넛 100"/>
          <p:cNvSpPr/>
          <p:nvPr/>
        </p:nvSpPr>
        <p:spPr>
          <a:xfrm>
            <a:off x="3956295" y="3225026"/>
            <a:ext cx="1195282" cy="11497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11146628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8324563" y="1441928"/>
            <a:ext cx="2511056" cy="155715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최종보스</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최종 보스 몬스터가 등장</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err="1" smtClean="0">
                <a:solidFill>
                  <a:sysClr val="windowText" lastClr="000000"/>
                </a:solidFill>
              </a:rPr>
              <a:t>클리어</a:t>
            </a:r>
            <a:r>
              <a:rPr lang="ko-KR" altLang="en-US" sz="1400" dirty="0" smtClean="0">
                <a:solidFill>
                  <a:sysClr val="windowText" lastClr="000000"/>
                </a:solidFill>
              </a:rPr>
              <a:t> 시 게임에서 승리</a:t>
            </a:r>
            <a:endParaRPr lang="en-US" altLang="ko-KR" sz="1400" dirty="0" smtClean="0">
              <a:solidFill>
                <a:sysClr val="windowText" lastClr="000000"/>
              </a:solidFill>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모서리가 둥근 직사각형 100"/>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541498" y="3198865"/>
            <a:ext cx="1219963" cy="11644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25729399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모서리가 둥근 직사각형 100"/>
          <p:cNvSpPr/>
          <p:nvPr/>
        </p:nvSpPr>
        <p:spPr>
          <a:xfrm>
            <a:off x="10876211" y="5520884"/>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78" name="모서리가 둥근 사각형 설명선 77"/>
          <p:cNvSpPr/>
          <p:nvPr/>
        </p:nvSpPr>
        <p:spPr>
          <a:xfrm>
            <a:off x="7125664" y="2501582"/>
            <a:ext cx="4084642" cy="25748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파티</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 파티를 편성할 수 있는 창을 팝업</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파티창을</a:t>
            </a:r>
            <a:r>
              <a:rPr lang="ko-KR" altLang="en-US" sz="1400" dirty="0" smtClean="0">
                <a:solidFill>
                  <a:sysClr val="windowText" lastClr="000000"/>
                </a:solidFill>
              </a:rPr>
              <a:t> 통해 파티를 편성하고 캐릭터와 몬스터의 정보와 특성을 살펴볼 수 있음</a:t>
            </a:r>
            <a:endParaRPr lang="en-US" altLang="ko-KR" sz="1400" dirty="0" smtClean="0">
              <a:solidFill>
                <a:sysClr val="windowText" lastClr="000000"/>
              </a:solidFill>
            </a:endParaRPr>
          </a:p>
        </p:txBody>
      </p:sp>
      <p:sp>
        <p:nvSpPr>
          <p:cNvPr id="105" name="도넛 104"/>
          <p:cNvSpPr/>
          <p:nvPr/>
        </p:nvSpPr>
        <p:spPr>
          <a:xfrm>
            <a:off x="10654575" y="5137209"/>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8580006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직선 화살표 연결선 7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직선 화살표 연결선 7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직선 화살표 연결선 7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직선 화살표 연결선 80"/>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직선 화살표 연결선 84"/>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p:nvPr/>
        </p:nvCxnSpPr>
        <p:spPr>
          <a:xfrm flipV="1">
            <a:off x="8045823" y="2812765"/>
            <a:ext cx="491695" cy="65085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flipH="1" flipV="1">
            <a:off x="9943966" y="3955766"/>
            <a:ext cx="151174" cy="203049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10374267" y="802896"/>
            <a:ext cx="1943240" cy="369332"/>
            <a:chOff x="10374267" y="802896"/>
            <a:chExt cx="1943240" cy="369332"/>
          </a:xfrm>
        </p:grpSpPr>
        <p:cxnSp>
          <p:nvCxnSpPr>
            <p:cNvPr id="114" name="직선 화살표 연결선 113"/>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grpSp>
      <p:sp>
        <p:nvSpPr>
          <p:cNvPr id="107" name="TextBox 106"/>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6" name="TextBox 115"/>
          <p:cNvSpPr txBox="1"/>
          <p:nvPr/>
        </p:nvSpPr>
        <p:spPr>
          <a:xfrm>
            <a:off x="4316878" y="392472"/>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250992" y="5672576"/>
            <a:ext cx="1454041"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폐기</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101557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cxnSp>
        <p:nvCxnSpPr>
          <p:cNvPr id="130" name="직선 연결선 129"/>
          <p:cNvCxnSpPr/>
          <p:nvPr/>
        </p:nvCxnSpPr>
        <p:spPr>
          <a:xfrm rot="5400000" flipH="1">
            <a:off x="6324047" y="-254260"/>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타원 6"/>
          <p:cNvSpPr/>
          <p:nvPr/>
        </p:nvSpPr>
        <p:spPr>
          <a:xfrm rot="5400000">
            <a:off x="6142093" y="175058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rot="5400000">
            <a:off x="6922022" y="175607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rot="5400000">
            <a:off x="7715396" y="175607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rot="5400000">
            <a:off x="8495324" y="175688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5400000">
            <a:off x="3775416" y="174892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rot="5400000">
            <a:off x="4555343" y="174892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rot="5400000">
            <a:off x="5348718" y="17497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2" name="직선 연결선 141"/>
          <p:cNvCxnSpPr>
            <a:stCxn id="14" idx="6"/>
          </p:cNvCxnSpPr>
          <p:nvPr/>
        </p:nvCxnSpPr>
        <p:spPr>
          <a:xfrm rot="5400000">
            <a:off x="7164068" y="2051915"/>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endCxn id="24" idx="2"/>
          </p:cNvCxnSpPr>
          <p:nvPr/>
        </p:nvCxnSpPr>
        <p:spPr>
          <a:xfrm rot="5400000">
            <a:off x="5551220" y="963877"/>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2" name="그룹 1"/>
          <p:cNvGrpSpPr/>
          <p:nvPr/>
        </p:nvGrpSpPr>
        <p:grpSpPr>
          <a:xfrm>
            <a:off x="10374267" y="802896"/>
            <a:ext cx="1943240" cy="369332"/>
            <a:chOff x="10374267" y="802896"/>
            <a:chExt cx="1943240" cy="369332"/>
          </a:xfrm>
        </p:grpSpPr>
        <p:sp>
          <p:nvSpPr>
            <p:cNvPr id="75" name="TextBox 7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cxnSp>
          <p:nvCxnSpPr>
            <p:cNvPr id="76" name="직선 화살표 연결선 75"/>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77" name="TextBox 76"/>
          <p:cNvSpPr txBox="1"/>
          <p:nvPr/>
        </p:nvSpPr>
        <p:spPr>
          <a:xfrm>
            <a:off x="586462" y="1692907"/>
            <a:ext cx="1824307"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 지도</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타원 94"/>
          <p:cNvSpPr/>
          <p:nvPr/>
        </p:nvSpPr>
        <p:spPr>
          <a:xfrm rot="5400000">
            <a:off x="6166407" y="67824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TextBox 95"/>
          <p:cNvSpPr txBox="1"/>
          <p:nvPr/>
        </p:nvSpPr>
        <p:spPr>
          <a:xfrm>
            <a:off x="3714007"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6720246"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2850190" y="73680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2852951" y="176672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TextBox 106"/>
          <p:cNvSpPr txBox="1"/>
          <p:nvPr/>
        </p:nvSpPr>
        <p:spPr>
          <a:xfrm>
            <a:off x="2850190" y="279703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타원 107"/>
          <p:cNvSpPr/>
          <p:nvPr/>
        </p:nvSpPr>
        <p:spPr>
          <a:xfrm rot="5400000">
            <a:off x="6957556" y="277475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TextBox 111"/>
          <p:cNvSpPr txBox="1"/>
          <p:nvPr/>
        </p:nvSpPr>
        <p:spPr>
          <a:xfrm>
            <a:off x="4505156"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3" name="TextBox 112"/>
          <p:cNvSpPr txBox="1"/>
          <p:nvPr/>
        </p:nvSpPr>
        <p:spPr>
          <a:xfrm>
            <a:off x="7511395"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액자 31"/>
          <p:cNvSpPr/>
          <p:nvPr/>
        </p:nvSpPr>
        <p:spPr>
          <a:xfrm>
            <a:off x="8944960" y="1596946"/>
            <a:ext cx="1867339" cy="1820490"/>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3" name="모서리가 둥근 사각형 설명선 32"/>
          <p:cNvSpPr/>
          <p:nvPr/>
        </p:nvSpPr>
        <p:spPr>
          <a:xfrm>
            <a:off x="8284898" y="3530426"/>
            <a:ext cx="2713851" cy="2261498"/>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b="1" dirty="0" smtClean="0">
                <a:solidFill>
                  <a:sysClr val="windowText" lastClr="000000"/>
                </a:solidFill>
              </a:rPr>
              <a:t>‘</a:t>
            </a:r>
            <a:r>
              <a:rPr lang="ko-KR" altLang="en-US" sz="1400" b="1" dirty="0" smtClean="0">
                <a:solidFill>
                  <a:sysClr val="windowText" lastClr="000000"/>
                </a:solidFill>
              </a:rPr>
              <a:t>캐릭터</a:t>
            </a:r>
            <a:r>
              <a:rPr lang="en-US" altLang="ko-KR" sz="14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- 30x30 unit</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 크기 제작의 기준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a:t>
            </a:r>
            <a:endParaRPr lang="en-US" altLang="ko-KR" sz="1400" dirty="0" smtClean="0">
              <a:solidFill>
                <a:sysClr val="windowText" lastClr="000000"/>
              </a:solidFill>
            </a:endParaRPr>
          </a:p>
        </p:txBody>
      </p:sp>
      <p:sp>
        <p:nvSpPr>
          <p:cNvPr id="34" name="TextBox 33"/>
          <p:cNvSpPr txBox="1"/>
          <p:nvPr/>
        </p:nvSpPr>
        <p:spPr>
          <a:xfrm>
            <a:off x="250992" y="5672576"/>
            <a:ext cx="1454041"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폐기</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9565254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27</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3122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28</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128569" y="2123288"/>
            <a:ext cx="1511256" cy="143749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315741" y="1581676"/>
            <a:ext cx="3274456" cy="2763401"/>
          </a:xfrm>
          <a:prstGeom prst="wedgeRoundRectCallout">
            <a:avLst>
              <a:gd name="adj1" fmla="val -66725"/>
              <a:gd name="adj2" fmla="val 401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캐릭터</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요소의 크기의 척도</a:t>
            </a:r>
            <a:r>
              <a:rPr lang="en-US" altLang="ko-KR" sz="1400" dirty="0" smtClean="0">
                <a:solidFill>
                  <a:sysClr val="windowText" lastClr="000000"/>
                </a:solidFill>
              </a:rPr>
              <a:t>, </a:t>
            </a:r>
            <a:r>
              <a:rPr lang="ko-KR" altLang="en-US" sz="1400" dirty="0" smtClean="0">
                <a:solidFill>
                  <a:sysClr val="windowText" lastClr="000000"/>
                </a:solidFill>
              </a:rPr>
              <a:t>기준 단위 </a:t>
            </a:r>
            <a:r>
              <a:rPr lang="en-US" altLang="ko-KR" sz="1400" dirty="0" smtClean="0">
                <a:solidFill>
                  <a:sysClr val="windowText" lastClr="000000"/>
                </a:solidFill>
              </a:rPr>
              <a:t>C</a:t>
            </a:r>
            <a:r>
              <a:rPr lang="en-US" altLang="ko-KR" sz="1400" dirty="0" smtClean="0">
                <a:solidFill>
                  <a:sysClr val="windowText" lastClr="000000"/>
                </a:solidFill>
              </a:rPr>
              <a:t/>
            </a:r>
            <a:br>
              <a:rPr lang="en-US" altLang="ko-KR" sz="1400" dirty="0" smtClean="0">
                <a:solidFill>
                  <a:sysClr val="windowText" lastClr="000000"/>
                </a:solidFill>
              </a:rPr>
            </a:b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항상 고정된 자리</a:t>
            </a:r>
            <a:r>
              <a:rPr lang="en-US" altLang="ko-KR" sz="1400" dirty="0" smtClean="0">
                <a:solidFill>
                  <a:sysClr val="windowText" lastClr="000000"/>
                </a:solidFill>
              </a:rPr>
              <a:t>(</a:t>
            </a:r>
            <a:r>
              <a:rPr lang="en-US" altLang="ko-KR" sz="1400" dirty="0">
                <a:solidFill>
                  <a:sysClr val="windowText" lastClr="000000"/>
                </a:solidFill>
              </a:rPr>
              <a:t>75, 100</a:t>
            </a:r>
            <a:r>
              <a:rPr lang="en-US" altLang="ko-KR" sz="1400" dirty="0" smtClean="0">
                <a:solidFill>
                  <a:sysClr val="windowText" lastClr="000000"/>
                </a:solidFill>
              </a:rPr>
              <a:t>)</a:t>
            </a:r>
            <a:r>
              <a:rPr lang="ko-KR" altLang="en-US" sz="1400" dirty="0" smtClean="0">
                <a:solidFill>
                  <a:sysClr val="windowText" lastClr="000000"/>
                </a:solidFill>
              </a:rPr>
              <a:t>에 위치해있으며 </a:t>
            </a:r>
            <a:r>
              <a:rPr lang="en-US" altLang="ko-KR" sz="1400" dirty="0" smtClean="0">
                <a:solidFill>
                  <a:sysClr val="windowText" lastClr="000000"/>
                </a:solidFill>
              </a:rPr>
              <a:t>HP, 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마우스 클릭으로 선택 시 하단에 원형이 그려져 선택되었음을 알림</a:t>
            </a:r>
            <a:endParaRPr lang="en-US" altLang="ko-KR" sz="1400" dirty="0" smtClean="0">
              <a:solidFill>
                <a:sysClr val="windowText" lastClr="000000"/>
              </a:solidFill>
            </a:endParaRPr>
          </a:p>
        </p:txBody>
      </p:sp>
    </p:spTree>
    <p:extLst>
      <p:ext uri="{BB962C8B-B14F-4D97-AF65-F5344CB8AC3E}">
        <p14:creationId xmlns:p14="http://schemas.microsoft.com/office/powerpoint/2010/main" val="19899553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29</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64119" y="947892"/>
            <a:ext cx="10234311" cy="5457199"/>
          </a:xfrm>
          <a:prstGeom prst="frame">
            <a:avLst>
              <a:gd name="adj1" fmla="val 110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8460926" y="1351472"/>
            <a:ext cx="3517564" cy="2688168"/>
          </a:xfrm>
          <a:prstGeom prst="wedgeRoundRectCallout">
            <a:avLst>
              <a:gd name="adj1" fmla="val -63616"/>
              <a:gd name="adj2" fmla="val -508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화면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- 300 x 150 unit</a:t>
            </a:r>
            <a:br>
              <a:rPr lang="en-US" altLang="ko-KR" sz="1400" dirty="0" smtClean="0">
                <a:solidFill>
                  <a:sysClr val="windowText" lastClr="000000"/>
                </a:solidFill>
              </a:rPr>
            </a:br>
            <a:r>
              <a:rPr lang="en-US" altLang="ko-KR" sz="1400" dirty="0" smtClean="0">
                <a:solidFill>
                  <a:sysClr val="windowText" lastClr="000000"/>
                </a:solidFill>
              </a:rPr>
              <a:t>( C*12 x C*6 )</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전투</a:t>
            </a:r>
            <a:r>
              <a:rPr lang="en-US" altLang="ko-KR" sz="1400" dirty="0">
                <a:solidFill>
                  <a:sysClr val="windowText" lastClr="000000"/>
                </a:solidFill>
              </a:rPr>
              <a:t>, </a:t>
            </a:r>
            <a:r>
              <a:rPr lang="ko-KR" altLang="en-US" sz="1400" dirty="0">
                <a:solidFill>
                  <a:sysClr val="windowText" lastClr="000000"/>
                </a:solidFill>
              </a:rPr>
              <a:t>상점</a:t>
            </a:r>
            <a:r>
              <a:rPr lang="en-US" altLang="ko-KR" sz="1400" dirty="0">
                <a:solidFill>
                  <a:sysClr val="windowText" lastClr="000000"/>
                </a:solidFill>
              </a:rPr>
              <a:t>, </a:t>
            </a:r>
            <a:r>
              <a:rPr lang="ko-KR" altLang="en-US" sz="1400" dirty="0" smtClean="0">
                <a:solidFill>
                  <a:sysClr val="windowText" lastClr="000000"/>
                </a:solidFill>
              </a:rPr>
              <a:t>이벤트</a:t>
            </a:r>
            <a:r>
              <a:rPr lang="en-US" altLang="ko-KR" sz="1400" dirty="0" smtClean="0">
                <a:solidFill>
                  <a:sysClr val="windowText" lastClr="000000"/>
                </a:solidFill>
              </a:rPr>
              <a:t> </a:t>
            </a:r>
            <a:r>
              <a:rPr lang="ko-KR" altLang="en-US" sz="1400" dirty="0" smtClean="0">
                <a:solidFill>
                  <a:sysClr val="windowText" lastClr="000000"/>
                </a:solidFill>
              </a:rPr>
              <a:t>등 에어리어에서 볼 수 있는 한 </a:t>
            </a:r>
            <a:r>
              <a:rPr lang="ko-KR" altLang="en-US" sz="1400" dirty="0">
                <a:solidFill>
                  <a:sysClr val="windowText" lastClr="000000"/>
                </a:solidFill>
              </a:rPr>
              <a:t>화면의 크기를 나타냄</a:t>
            </a:r>
            <a:endParaRPr lang="en-US" altLang="ko-KR" sz="1400" dirty="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좌측 하단을 원점</a:t>
            </a:r>
            <a:r>
              <a:rPr lang="en-US" altLang="ko-KR" sz="1400" dirty="0" smtClean="0">
                <a:solidFill>
                  <a:sysClr val="windowText" lastClr="000000"/>
                </a:solidFill>
              </a:rPr>
              <a:t>(0,0) </a:t>
            </a:r>
            <a:r>
              <a:rPr lang="ko-KR" altLang="en-US" sz="1400" dirty="0" smtClean="0">
                <a:solidFill>
                  <a:sysClr val="windowText" lastClr="000000"/>
                </a:solidFill>
              </a:rPr>
              <a:t>으로 하여</a:t>
            </a:r>
            <a:r>
              <a:rPr lang="en-US" altLang="ko-KR" sz="1400" dirty="0" smtClean="0">
                <a:solidFill>
                  <a:sysClr val="windowText" lastClr="000000"/>
                </a:solidFill>
              </a:rPr>
              <a:t>,</a:t>
            </a:r>
            <a:br>
              <a:rPr lang="en-US" altLang="ko-KR" sz="1400" dirty="0" smtClean="0">
                <a:solidFill>
                  <a:sysClr val="windowText" lastClr="000000"/>
                </a:solidFill>
              </a:rPr>
            </a:br>
            <a:r>
              <a:rPr lang="ko-KR" altLang="en-US" sz="1400" dirty="0" smtClean="0">
                <a:solidFill>
                  <a:sysClr val="windowText" lastClr="000000"/>
                </a:solidFill>
              </a:rPr>
              <a:t>오브젝트들의 중점을 기준으로 </a:t>
            </a:r>
            <a:r>
              <a:rPr lang="ko-KR" altLang="en-US" sz="1400" dirty="0" err="1" smtClean="0">
                <a:solidFill>
                  <a:sysClr val="windowText" lastClr="000000"/>
                </a:solidFill>
              </a:rPr>
              <a:t>좌표값을</a:t>
            </a:r>
            <a:r>
              <a:rPr lang="ko-KR" altLang="en-US" sz="1400" dirty="0" smtClean="0">
                <a:solidFill>
                  <a:sysClr val="windowText" lastClr="000000"/>
                </a:solidFill>
              </a:rPr>
              <a:t> 설정</a:t>
            </a:r>
            <a:endParaRPr lang="en-US" altLang="ko-KR" sz="1400" dirty="0" smtClean="0">
              <a:solidFill>
                <a:sysClr val="windowText" lastClr="000000"/>
              </a:solidFill>
            </a:endParaRPr>
          </a:p>
        </p:txBody>
      </p:sp>
      <p:cxnSp>
        <p:nvCxnSpPr>
          <p:cNvPr id="6" name="직선 화살표 연결선 5"/>
          <p:cNvCxnSpPr/>
          <p:nvPr/>
        </p:nvCxnSpPr>
        <p:spPr>
          <a:xfrm>
            <a:off x="783771" y="1094825"/>
            <a:ext cx="0" cy="3449338"/>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166386" y="2432157"/>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1 0 0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9" name="직선 화살표 연결선 78"/>
          <p:cNvCxnSpPr/>
          <p:nvPr/>
        </p:nvCxnSpPr>
        <p:spPr>
          <a:xfrm>
            <a:off x="783771" y="4544163"/>
            <a:ext cx="0" cy="1726736"/>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59876" y="5260912"/>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0</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97" name="직선 화살표 연결선 96"/>
          <p:cNvCxnSpPr/>
          <p:nvPr/>
        </p:nvCxnSpPr>
        <p:spPr>
          <a:xfrm flipH="1">
            <a:off x="1244980" y="4455740"/>
            <a:ext cx="4839842" cy="6112"/>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직선 화살표 연결선 97"/>
          <p:cNvCxnSpPr/>
          <p:nvPr/>
        </p:nvCxnSpPr>
        <p:spPr>
          <a:xfrm flipH="1" flipV="1">
            <a:off x="6084821" y="4450927"/>
            <a:ext cx="4876506" cy="829"/>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725275" y="4081595"/>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00" name="TextBox 99"/>
          <p:cNvSpPr txBox="1"/>
          <p:nvPr/>
        </p:nvSpPr>
        <p:spPr>
          <a:xfrm>
            <a:off x="9430710" y="4081595"/>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2" name="직선 화살표 연결선 101"/>
          <p:cNvCxnSpPr/>
          <p:nvPr/>
        </p:nvCxnSpPr>
        <p:spPr>
          <a:xfrm flipH="1">
            <a:off x="8624483" y="5305311"/>
            <a:ext cx="2421746" cy="0"/>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10393333" y="4960950"/>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4" name="직선 화살표 연결선 103"/>
          <p:cNvCxnSpPr/>
          <p:nvPr/>
        </p:nvCxnSpPr>
        <p:spPr>
          <a:xfrm flipV="1">
            <a:off x="8497498" y="4574750"/>
            <a:ext cx="8612" cy="808843"/>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7935981" y="4568997"/>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7" name="직선 화살표 연결선 106"/>
          <p:cNvCxnSpPr/>
          <p:nvPr/>
        </p:nvCxnSpPr>
        <p:spPr>
          <a:xfrm flipH="1">
            <a:off x="1219540" y="1222908"/>
            <a:ext cx="9753663" cy="10891"/>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30369" y="1288199"/>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rPr>
              <a:t>3 0 0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Tree>
    <p:extLst>
      <p:ext uri="{BB962C8B-B14F-4D97-AF65-F5344CB8AC3E}">
        <p14:creationId xmlns:p14="http://schemas.microsoft.com/office/powerpoint/2010/main" val="8189556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30</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C00000"/>
                  </a:solidFill>
                </a:ln>
                <a:solidFill>
                  <a:sysClr val="windowText" lastClr="000000"/>
                </a:solidFill>
              </a:rPr>
              <a:t>정예</a:t>
            </a:r>
            <a:endParaRPr lang="en-US" altLang="ko-KR" sz="1200" dirty="0" smtClean="0">
              <a:ln>
                <a:solidFill>
                  <a:srgbClr val="C00000"/>
                </a:solidFill>
              </a:ln>
              <a:solidFill>
                <a:sysClr val="windowText" lastClr="000000"/>
              </a:solidFill>
            </a:endParaRPr>
          </a:p>
          <a:p>
            <a:pPr algn="ctr"/>
            <a:r>
              <a:rPr lang="ko-KR" altLang="en-US" sz="1200" dirty="0" err="1" smtClean="0">
                <a:ln>
                  <a:solidFill>
                    <a:srgbClr val="C00000"/>
                  </a:solidFill>
                </a:ln>
                <a:solidFill>
                  <a:sysClr val="windowText" lastClr="000000"/>
                </a:solidFill>
              </a:rPr>
              <a:t>몬스터</a:t>
            </a:r>
            <a:endParaRPr lang="en-US" altLang="ko-KR" sz="1200"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3529937" y="1182889"/>
            <a:ext cx="1511256"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5528447" y="1816796"/>
            <a:ext cx="3021236" cy="3094879"/>
          </a:xfrm>
          <a:prstGeom prst="wedgeRoundRectCallout">
            <a:avLst>
              <a:gd name="adj1" fmla="val -63946"/>
              <a:gd name="adj2" fmla="val -3598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아군</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유저가 컨트롤하는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하단에 청색 원 표시</a:t>
            </a:r>
            <a:endParaRPr lang="en-US" altLang="ko-KR" sz="1400" dirty="0" smtClean="0">
              <a:solidFill>
                <a:sysClr val="windowText" lastClr="000000"/>
              </a:solidFill>
            </a:endParaRPr>
          </a:p>
        </p:txBody>
      </p:sp>
    </p:spTree>
    <p:extLst>
      <p:ext uri="{BB962C8B-B14F-4D97-AF65-F5344CB8AC3E}">
        <p14:creationId xmlns:p14="http://schemas.microsoft.com/office/powerpoint/2010/main" val="2327915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타원 21"/>
          <p:cNvSpPr/>
          <p:nvPr/>
        </p:nvSpPr>
        <p:spPr>
          <a:xfrm rot="1265973" flipH="1">
            <a:off x="10051179" y="512224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303732" y="36593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6103367" y="299551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군</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타원 24"/>
          <p:cNvSpPr/>
          <p:nvPr/>
        </p:nvSpPr>
        <p:spPr>
          <a:xfrm>
            <a:off x="6269829" y="24400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475087" y="31477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10221202" y="459318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32" name="TextBox 31"/>
          <p:cNvSpPr txBox="1"/>
          <p:nvPr/>
        </p:nvSpPr>
        <p:spPr>
          <a:xfrm>
            <a:off x="555572"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이등변 삼각형 32"/>
          <p:cNvSpPr/>
          <p:nvPr/>
        </p:nvSpPr>
        <p:spPr>
          <a:xfrm rot="19319858">
            <a:off x="582237"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p:cNvSpPr/>
          <p:nvPr/>
        </p:nvSpPr>
        <p:spPr>
          <a:xfrm>
            <a:off x="904866"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35" name="TextBox 34"/>
          <p:cNvSpPr txBox="1"/>
          <p:nvPr/>
        </p:nvSpPr>
        <p:spPr>
          <a:xfrm>
            <a:off x="4403069"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8205440" y="1403432"/>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타원 36"/>
          <p:cNvSpPr/>
          <p:nvPr/>
        </p:nvSpPr>
        <p:spPr>
          <a:xfrm rot="1265973" flipH="1">
            <a:off x="6098474" y="421533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6269829" y="370373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39" name="이등변 삼각형 38"/>
          <p:cNvSpPr/>
          <p:nvPr/>
        </p:nvSpPr>
        <p:spPr>
          <a:xfrm rot="19319858">
            <a:off x="4424479" y="3439113"/>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747108" y="3154107"/>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41" name="타원 40"/>
          <p:cNvSpPr/>
          <p:nvPr/>
        </p:nvSpPr>
        <p:spPr>
          <a:xfrm rot="1265973" flipH="1">
            <a:off x="10054740" y="243872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10221202" y="188330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43" name="타원 42"/>
          <p:cNvSpPr/>
          <p:nvPr/>
        </p:nvSpPr>
        <p:spPr>
          <a:xfrm rot="1265973" flipH="1">
            <a:off x="10049847" y="365854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10221202" y="314694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45" name="이등변 삼각형 44"/>
          <p:cNvSpPr/>
          <p:nvPr/>
        </p:nvSpPr>
        <p:spPr>
          <a:xfrm rot="19319858">
            <a:off x="8363503"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8686132"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Tree>
    <p:extLst>
      <p:ext uri="{BB962C8B-B14F-4D97-AF65-F5344CB8AC3E}">
        <p14:creationId xmlns:p14="http://schemas.microsoft.com/office/powerpoint/2010/main" val="31631041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32</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464467" y="1158585"/>
            <a:ext cx="4042164"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3050202" y="1451898"/>
            <a:ext cx="2896175" cy="3842230"/>
          </a:xfrm>
          <a:prstGeom prst="wedgeRoundRectCallout">
            <a:avLst>
              <a:gd name="adj1" fmla="val 63575"/>
              <a:gd name="adj2" fmla="val -377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적</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던전에서 적으로 출현하는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위</a:t>
            </a:r>
            <a:r>
              <a:rPr lang="en-US" altLang="ko-KR" sz="1400" dirty="0" smtClean="0">
                <a:solidFill>
                  <a:sysClr val="windowText" lastClr="000000"/>
                </a:solidFill>
              </a:rPr>
              <a:t>, </a:t>
            </a:r>
            <a:r>
              <a:rPr lang="ko-KR" altLang="en-US" sz="1400" dirty="0" smtClean="0">
                <a:solidFill>
                  <a:sysClr val="windowText" lastClr="000000"/>
                </a:solidFill>
              </a:rPr>
              <a:t>왼쪽부터 차례가 시작됨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차례 시 하단에 </a:t>
            </a:r>
            <a:r>
              <a:rPr lang="ko-KR" altLang="en-US" sz="1400" dirty="0" smtClean="0">
                <a:solidFill>
                  <a:sysClr val="windowText" lastClr="000000"/>
                </a:solidFill>
              </a:rPr>
              <a:t>적색 </a:t>
            </a:r>
            <a:r>
              <a:rPr lang="ko-KR" altLang="en-US" sz="1400" dirty="0" smtClean="0">
                <a:solidFill>
                  <a:sysClr val="windowText" lastClr="000000"/>
                </a:solidFill>
              </a:rPr>
              <a:t>원 표시</a:t>
            </a:r>
            <a:endParaRPr lang="en-US" altLang="ko-KR" sz="1400" dirty="0" smtClean="0">
              <a:solidFill>
                <a:sysClr val="windowText" lastClr="000000"/>
              </a:solidFill>
            </a:endParaRPr>
          </a:p>
        </p:txBody>
      </p:sp>
    </p:spTree>
    <p:extLst>
      <p:ext uri="{BB962C8B-B14F-4D97-AF65-F5344CB8AC3E}">
        <p14:creationId xmlns:p14="http://schemas.microsoft.com/office/powerpoint/2010/main" val="32108600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TextBox 31"/>
          <p:cNvSpPr txBox="1"/>
          <p:nvPr/>
        </p:nvSpPr>
        <p:spPr>
          <a:xfrm>
            <a:off x="1398720" y="1545840"/>
            <a:ext cx="179197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246217" y="1545840"/>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9048588" y="1545841"/>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2647915" y="33892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a:off x="1502501" y="309877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0" name="이등변 삼각형 29"/>
          <p:cNvSpPr/>
          <p:nvPr/>
        </p:nvSpPr>
        <p:spPr>
          <a:xfrm rot="2940484">
            <a:off x="6511168" y="278175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5365754" y="2491319"/>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6511168" y="389315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5365754" y="360272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10374421" y="260443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9229007" y="231400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10374421" y="354154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9229007" y="325111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10374421" y="44768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9229007" y="418638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Tree>
    <p:extLst>
      <p:ext uri="{BB962C8B-B14F-4D97-AF65-F5344CB8AC3E}">
        <p14:creationId xmlns:p14="http://schemas.microsoft.com/office/powerpoint/2010/main" val="253079022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2432260" y="1600316"/>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4</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7840684" y="1545840"/>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5</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0" name="이등변 삼각형 29"/>
          <p:cNvSpPr/>
          <p:nvPr/>
        </p:nvSpPr>
        <p:spPr>
          <a:xfrm rot="2940484">
            <a:off x="4690221"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3544807"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4690221"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3544807"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8365656" y="25691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7220242" y="227868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8365656" y="350622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7220242" y="321579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8365656" y="444150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7220242" y="415106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2" name="이등변 삼각형 21"/>
          <p:cNvSpPr/>
          <p:nvPr/>
        </p:nvSpPr>
        <p:spPr>
          <a:xfrm rot="2940484">
            <a:off x="2888888"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a:off x="1743474"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4" name="이등변 삼각형 23"/>
          <p:cNvSpPr/>
          <p:nvPr/>
        </p:nvSpPr>
        <p:spPr>
          <a:xfrm rot="2940484">
            <a:off x="2888888"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a:off x="1743474"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6" name="이등변 삼각형 25"/>
          <p:cNvSpPr/>
          <p:nvPr/>
        </p:nvSpPr>
        <p:spPr>
          <a:xfrm rot="2940484">
            <a:off x="10145117" y="296367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이등변 삼각형 26"/>
          <p:cNvSpPr/>
          <p:nvPr/>
        </p:nvSpPr>
        <p:spPr>
          <a:xfrm>
            <a:off x="8999703" y="26732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rot="2940484">
            <a:off x="10145117" y="390078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이등변 삼각형 33"/>
          <p:cNvSpPr/>
          <p:nvPr/>
        </p:nvSpPr>
        <p:spPr>
          <a:xfrm>
            <a:off x="8999703" y="361035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Tree>
    <p:extLst>
      <p:ext uri="{BB962C8B-B14F-4D97-AF65-F5344CB8AC3E}">
        <p14:creationId xmlns:p14="http://schemas.microsoft.com/office/powerpoint/2010/main" val="24968660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35</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93293" y="4421955"/>
            <a:ext cx="5251613" cy="1976845"/>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7082526" y="3051619"/>
            <a:ext cx="2896175" cy="2205661"/>
          </a:xfrm>
          <a:prstGeom prst="wedgeRoundRectCallout">
            <a:avLst>
              <a:gd name="adj1" fmla="val -75837"/>
              <a:gd name="adj2" fmla="val 373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정보창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플레이어가 마우스 클릭으로 선택한 아군</a:t>
            </a:r>
            <a:r>
              <a:rPr lang="en-US" altLang="ko-KR" sz="1400" dirty="0" smtClean="0">
                <a:solidFill>
                  <a:sysClr val="windowText" lastClr="000000"/>
                </a:solidFill>
              </a:rPr>
              <a:t>, </a:t>
            </a:r>
            <a:r>
              <a:rPr lang="ko-KR" altLang="en-US" sz="1400" dirty="0" smtClean="0">
                <a:solidFill>
                  <a:sysClr val="windowText" lastClr="000000"/>
                </a:solidFill>
              </a:rPr>
              <a:t>적군 혹은 사물의 정보와 상태를 표시함</a:t>
            </a:r>
            <a:endParaRPr lang="en-US" altLang="ko-KR" sz="1400" dirty="0" smtClean="0">
              <a:solidFill>
                <a:sysClr val="windowText" lastClr="000000"/>
              </a:solidFill>
            </a:endParaRPr>
          </a:p>
        </p:txBody>
      </p:sp>
    </p:spTree>
    <p:extLst>
      <p:ext uri="{BB962C8B-B14F-4D97-AF65-F5344CB8AC3E}">
        <p14:creationId xmlns:p14="http://schemas.microsoft.com/office/powerpoint/2010/main" val="30922399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36</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5551" y="4573915"/>
            <a:ext cx="1142550" cy="113662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47918" y="3004245"/>
            <a:ext cx="3081853" cy="2491318"/>
          </a:xfrm>
          <a:prstGeom prst="wedgeRoundRectCallout">
            <a:avLst>
              <a:gd name="adj1" fmla="val -63946"/>
              <a:gd name="adj2" fmla="val 2927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초상화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사물을 간략하게 그려낸 초상화를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바로 </a:t>
            </a:r>
            <a:r>
              <a:rPr lang="ko-KR" altLang="en-US" sz="1400" dirty="0" smtClean="0">
                <a:solidFill>
                  <a:sysClr val="windowText" lastClr="000000"/>
                </a:solidFill>
              </a:rPr>
              <a:t>밑에 해당 </a:t>
            </a:r>
            <a:r>
              <a:rPr lang="ko-KR" altLang="en-US" sz="1400" dirty="0" smtClean="0">
                <a:solidFill>
                  <a:sysClr val="windowText" lastClr="000000"/>
                </a:solidFill>
              </a:rPr>
              <a:t>개</a:t>
            </a:r>
            <a:r>
              <a:rPr lang="ko-KR" altLang="en-US" sz="1400" dirty="0" smtClean="0">
                <a:solidFill>
                  <a:sysClr val="windowText" lastClr="000000"/>
                </a:solidFill>
              </a:rPr>
              <a:t>체의 이름을 명시</a:t>
            </a:r>
            <a:endParaRPr lang="en-US" altLang="ko-KR" sz="1400" dirty="0" smtClean="0">
              <a:solidFill>
                <a:sysClr val="windowText" lastClr="000000"/>
              </a:solidFill>
            </a:endParaRPr>
          </a:p>
        </p:txBody>
      </p:sp>
    </p:spTree>
    <p:extLst>
      <p:ext uri="{BB962C8B-B14F-4D97-AF65-F5344CB8AC3E}">
        <p14:creationId xmlns:p14="http://schemas.microsoft.com/office/powerpoint/2010/main" val="34338819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37</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2354" y="5683697"/>
            <a:ext cx="1142550" cy="521046"/>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24804" y="3524747"/>
            <a:ext cx="3170128" cy="2491318"/>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게이지 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5 unit</a:t>
            </a:r>
            <a:br>
              <a:rPr lang="en-US" altLang="ko-KR" sz="1400" dirty="0" smtClean="0">
                <a:solidFill>
                  <a:sysClr val="windowText" lastClr="000000"/>
                </a:solidFill>
              </a:rPr>
            </a:br>
            <a:r>
              <a:rPr lang="en-US" altLang="ko-KR" sz="1400" dirty="0" smtClean="0">
                <a:solidFill>
                  <a:sysClr val="windowText" lastClr="000000"/>
                </a:solidFill>
              </a:rPr>
              <a:t>( C x C*0.2 )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사물이 체력을 가진 </a:t>
            </a:r>
            <a:r>
              <a:rPr lang="ko-KR" altLang="en-US" sz="1400" dirty="0" smtClean="0">
                <a:solidFill>
                  <a:sysClr val="windowText" lastClr="000000"/>
                </a:solidFill>
              </a:rPr>
              <a:t>개</a:t>
            </a:r>
            <a:r>
              <a:rPr lang="ko-KR" altLang="en-US" sz="1400" dirty="0" smtClean="0">
                <a:solidFill>
                  <a:sysClr val="windowText" lastClr="000000"/>
                </a:solidFill>
              </a:rPr>
              <a:t>체라면</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a:t>
            </a:r>
            <a:r>
              <a:rPr lang="ko-KR" altLang="en-US" sz="1400" dirty="0" smtClean="0">
                <a:solidFill>
                  <a:sysClr val="windowText" lastClr="000000"/>
                </a:solidFill>
              </a:rPr>
              <a:t>를 게이지 바 형태로</a:t>
            </a:r>
            <a:r>
              <a:rPr lang="ko-KR" altLang="en-US" sz="1400" dirty="0" smtClean="0">
                <a:solidFill>
                  <a:sysClr val="windowText" lastClr="000000"/>
                </a:solidFill>
              </a:rPr>
              <a:t>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우측에 구체적인 수치를 기입</a:t>
            </a:r>
            <a:endParaRPr lang="en-US" altLang="ko-KR" sz="1400" dirty="0" smtClean="0">
              <a:solidFill>
                <a:sysClr val="windowText" lastClr="000000"/>
              </a:solidFill>
            </a:endParaRPr>
          </a:p>
        </p:txBody>
      </p:sp>
    </p:spTree>
    <p:extLst>
      <p:ext uri="{BB962C8B-B14F-4D97-AF65-F5344CB8AC3E}">
        <p14:creationId xmlns:p14="http://schemas.microsoft.com/office/powerpoint/2010/main" val="27354048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38</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459216" y="4595720"/>
            <a:ext cx="184918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841306" y="2609721"/>
            <a:ext cx="3170128" cy="2964050"/>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스탯</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개체</a:t>
            </a:r>
            <a:r>
              <a:rPr lang="ko-KR" altLang="en-US" sz="1400" dirty="0" smtClean="0">
                <a:solidFill>
                  <a:sysClr val="windowText" lastClr="000000"/>
                </a:solidFill>
              </a:rPr>
              <a:t>의 </a:t>
            </a:r>
            <a:r>
              <a:rPr lang="ko-KR" altLang="en-US" sz="1400" dirty="0" err="1" smtClean="0">
                <a:solidFill>
                  <a:sysClr val="windowText" lastClr="000000"/>
                </a:solidFill>
              </a:rPr>
              <a:t>스탯을</a:t>
            </a:r>
            <a:r>
              <a:rPr lang="ko-KR" altLang="en-US" sz="1400" dirty="0" smtClean="0">
                <a:solidFill>
                  <a:sysClr val="windowText" lastClr="000000"/>
                </a:solidFill>
              </a:rPr>
              <a:t>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TYPE : Type, </a:t>
            </a:r>
            <a:r>
              <a:rPr lang="ko-KR" altLang="en-US" sz="1400" dirty="0" smtClean="0">
                <a:solidFill>
                  <a:sysClr val="windowText" lastClr="000000"/>
                </a:solidFill>
              </a:rPr>
              <a:t>속성</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CRT : Critical, </a:t>
            </a:r>
            <a:r>
              <a:rPr lang="ko-KR" altLang="en-US" sz="1400" dirty="0" smtClean="0">
                <a:solidFill>
                  <a:sysClr val="windowText" lastClr="000000"/>
                </a:solidFill>
              </a:rPr>
              <a:t>크리티컬 확률</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en-US" altLang="ko-KR" sz="1400" dirty="0" smtClean="0">
                <a:solidFill>
                  <a:sysClr val="windowText" lastClr="000000"/>
                </a:solidFill>
              </a:rPr>
              <a:t>ATK : Attack, </a:t>
            </a:r>
            <a:r>
              <a:rPr lang="ko-KR" altLang="en-US" sz="1400" dirty="0" smtClean="0">
                <a:solidFill>
                  <a:sysClr val="windowText" lastClr="000000"/>
                </a:solidFill>
              </a:rPr>
              <a:t>공격력</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DEF : Defense, </a:t>
            </a:r>
            <a:r>
              <a:rPr lang="ko-KR" altLang="en-US" sz="1400" dirty="0" smtClean="0">
                <a:solidFill>
                  <a:sysClr val="windowText" lastClr="000000"/>
                </a:solidFill>
              </a:rPr>
              <a:t>방어력</a:t>
            </a:r>
            <a:endParaRPr lang="en-US" altLang="ko-KR" sz="1400" dirty="0" smtClean="0">
              <a:solidFill>
                <a:sysClr val="windowText" lastClr="000000"/>
              </a:solidFill>
            </a:endParaRPr>
          </a:p>
          <a:p>
            <a:r>
              <a:rPr lang="en-US" altLang="ko-KR" sz="1400" dirty="0" smtClean="0">
                <a:solidFill>
                  <a:sysClr val="windowText" lastClr="000000"/>
                </a:solidFill>
              </a:rPr>
              <a:t>  AVD : Avoid, </a:t>
            </a:r>
            <a:r>
              <a:rPr lang="ko-KR" altLang="en-US" sz="1400" dirty="0" err="1" smtClean="0">
                <a:solidFill>
                  <a:sysClr val="windowText" lastClr="000000"/>
                </a:solidFill>
              </a:rPr>
              <a:t>회피율</a:t>
            </a:r>
            <a:endParaRPr lang="en-US" altLang="ko-KR" sz="1400" dirty="0" smtClean="0">
              <a:solidFill>
                <a:sysClr val="windowText" lastClr="000000"/>
              </a:solidFill>
            </a:endParaRPr>
          </a:p>
        </p:txBody>
      </p:sp>
    </p:spTree>
    <p:extLst>
      <p:ext uri="{BB962C8B-B14F-4D97-AF65-F5344CB8AC3E}">
        <p14:creationId xmlns:p14="http://schemas.microsoft.com/office/powerpoint/2010/main" val="322176561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39</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4444391" y="4595721"/>
            <a:ext cx="147939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6399784" y="2616908"/>
            <a:ext cx="3294183" cy="2624444"/>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상태</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상태이상</a:t>
            </a:r>
            <a:r>
              <a:rPr lang="en-US" altLang="ko-KR" sz="1400" dirty="0" smtClean="0">
                <a:solidFill>
                  <a:sysClr val="windowText" lastClr="000000"/>
                </a:solidFill>
              </a:rPr>
              <a:t>, </a:t>
            </a:r>
            <a:r>
              <a:rPr lang="ko-KR" altLang="en-US" sz="1400" dirty="0" smtClean="0">
                <a:solidFill>
                  <a:sysClr val="windowText" lastClr="000000"/>
                </a:solidFill>
              </a:rPr>
              <a:t>버프</a:t>
            </a:r>
            <a:r>
              <a:rPr lang="en-US" altLang="ko-KR" sz="1400" dirty="0" smtClean="0">
                <a:solidFill>
                  <a:sysClr val="windowText" lastClr="000000"/>
                </a:solidFill>
              </a:rPr>
              <a:t>, </a:t>
            </a:r>
            <a:r>
              <a:rPr lang="ko-KR" altLang="en-US" sz="1400" dirty="0" err="1" smtClean="0">
                <a:solidFill>
                  <a:sysClr val="windowText" lastClr="000000"/>
                </a:solidFill>
              </a:rPr>
              <a:t>디버프</a:t>
            </a:r>
            <a:r>
              <a:rPr lang="ko-KR" altLang="en-US" sz="1400" dirty="0" smtClean="0">
                <a:solidFill>
                  <a:sysClr val="windowText" lastClr="000000"/>
                </a:solidFill>
              </a:rPr>
              <a:t> 등 개체</a:t>
            </a:r>
            <a:r>
              <a:rPr lang="ko-KR" altLang="en-US" sz="1400" dirty="0" smtClean="0">
                <a:solidFill>
                  <a:sysClr val="windowText" lastClr="000000"/>
                </a:solidFill>
              </a:rPr>
              <a:t>의 </a:t>
            </a:r>
            <a:r>
              <a:rPr lang="ko-KR" altLang="en-US" sz="1400" dirty="0" smtClean="0">
                <a:solidFill>
                  <a:sysClr val="windowText" lastClr="000000"/>
                </a:solidFill>
              </a:rPr>
              <a:t>현재 상태를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직관성을</a:t>
            </a:r>
            <a:r>
              <a:rPr lang="ko-KR" altLang="en-US" sz="1400" dirty="0" smtClean="0">
                <a:solidFill>
                  <a:sysClr val="windowText" lastClr="000000"/>
                </a:solidFill>
              </a:rPr>
              <a:t> 높이기 위해</a:t>
            </a:r>
            <a:r>
              <a:rPr lang="en-US" altLang="ko-KR" sz="1400" dirty="0" smtClean="0">
                <a:solidFill>
                  <a:sysClr val="windowText" lastClr="000000"/>
                </a:solidFill>
              </a:rPr>
              <a:t>, </a:t>
            </a:r>
            <a:r>
              <a:rPr lang="ko-KR" altLang="en-US" sz="1400" dirty="0" smtClean="0">
                <a:solidFill>
                  <a:sysClr val="windowText" lastClr="000000"/>
                </a:solidFill>
              </a:rPr>
              <a:t>각 상태에 </a:t>
            </a:r>
            <a:r>
              <a:rPr lang="ko-KR" altLang="en-US" sz="1400" dirty="0" smtClean="0">
                <a:solidFill>
                  <a:sysClr val="windowText" lastClr="000000"/>
                </a:solidFill>
              </a:rPr>
              <a:t>해당하는 정사각형의 </a:t>
            </a:r>
            <a:r>
              <a:rPr lang="ko-KR" altLang="en-US" sz="1400" dirty="0" smtClean="0">
                <a:solidFill>
                  <a:sysClr val="windowText" lastClr="000000"/>
                </a:solidFill>
              </a:rPr>
              <a:t>아이콘을 통해 표시</a:t>
            </a:r>
            <a:endParaRPr lang="en-US" altLang="ko-KR" sz="1400" dirty="0" smtClean="0">
              <a:solidFill>
                <a:sysClr val="windowText" lastClr="000000"/>
              </a:solidFill>
            </a:endParaRPr>
          </a:p>
        </p:txBody>
      </p:sp>
    </p:spTree>
    <p:extLst>
      <p:ext uri="{BB962C8B-B14F-4D97-AF65-F5344CB8AC3E}">
        <p14:creationId xmlns:p14="http://schemas.microsoft.com/office/powerpoint/2010/main" val="172129824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40</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5973857" y="4469547"/>
            <a:ext cx="5150193" cy="1867617"/>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535786" y="1451898"/>
            <a:ext cx="3294183" cy="3243753"/>
          </a:xfrm>
          <a:prstGeom prst="wedgeRoundRectCallout">
            <a:avLst>
              <a:gd name="adj1" fmla="val 62662"/>
              <a:gd name="adj2" fmla="val 3599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행동창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아군 개체가 자신의 턴에 행동할 수 있는 옵션들을 나타냄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한 턴에 하나의 옵션만 택할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일부</a:t>
            </a:r>
            <a:r>
              <a:rPr lang="ko-KR" altLang="en-US" sz="1400" dirty="0" smtClean="0">
                <a:solidFill>
                  <a:sysClr val="windowText" lastClr="000000"/>
                </a:solidFill>
              </a:rPr>
              <a:t> 옵션은 선택 시 세부 옵션을 살펴볼 수 있음</a:t>
            </a:r>
            <a:endParaRPr lang="en-US" altLang="ko-KR" sz="1400" dirty="0" smtClean="0">
              <a:solidFill>
                <a:sysClr val="windowText" lastClr="000000"/>
              </a:solidFill>
            </a:endParaRPr>
          </a:p>
        </p:txBody>
      </p:sp>
    </p:spTree>
    <p:extLst>
      <p:ext uri="{BB962C8B-B14F-4D97-AF65-F5344CB8AC3E}">
        <p14:creationId xmlns:p14="http://schemas.microsoft.com/office/powerpoint/2010/main" val="386280553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41</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6376" y="4473815"/>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638085" y="3173865"/>
            <a:ext cx="2848234" cy="2161887"/>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공격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통상 공격을 명령하는 버튼</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적을 선택하여 공격 가능</a:t>
            </a:r>
            <a:endParaRPr lang="en-US" altLang="ko-KR" sz="1400" dirty="0" smtClean="0">
              <a:solidFill>
                <a:sysClr val="windowText" lastClr="000000"/>
              </a:solidFill>
            </a:endParaRPr>
          </a:p>
        </p:txBody>
      </p:sp>
    </p:spTree>
    <p:extLst>
      <p:ext uri="{BB962C8B-B14F-4D97-AF65-F5344CB8AC3E}">
        <p14:creationId xmlns:p14="http://schemas.microsoft.com/office/powerpoint/2010/main" val="259272814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42</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86141" y="447581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907920" y="3536642"/>
            <a:ext cx="3036677" cy="1701786"/>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방어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방어 태세를 </a:t>
            </a:r>
            <a:r>
              <a:rPr lang="ko-KR" altLang="en-US" sz="1400" dirty="0">
                <a:solidFill>
                  <a:sysClr val="windowText" lastClr="000000"/>
                </a:solidFill>
              </a:rPr>
              <a:t>명령하는 </a:t>
            </a:r>
            <a:r>
              <a:rPr lang="ko-KR" altLang="en-US" sz="1400" dirty="0" smtClean="0">
                <a:solidFill>
                  <a:sysClr val="windowText" lastClr="000000"/>
                </a:solidFill>
              </a:rPr>
              <a:t>버튼</a:t>
            </a:r>
            <a:endParaRPr lang="en-US" altLang="ko-KR" sz="1400" dirty="0">
              <a:solidFill>
                <a:sysClr val="windowText" lastClr="000000"/>
              </a:solidFill>
            </a:endParaRPr>
          </a:p>
        </p:txBody>
      </p:sp>
    </p:spTree>
    <p:extLst>
      <p:ext uri="{BB962C8B-B14F-4D97-AF65-F5344CB8AC3E}">
        <p14:creationId xmlns:p14="http://schemas.microsoft.com/office/powerpoint/2010/main" val="9333258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43</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9478" y="5331071"/>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478025" y="3507841"/>
            <a:ext cx="3036677" cy="2466048"/>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특수 기능</a:t>
            </a:r>
            <a:r>
              <a:rPr lang="ko-KR" altLang="en-US" sz="1400" dirty="0" smtClean="0">
                <a:solidFill>
                  <a:sysClr val="windowText" lastClr="000000"/>
                </a:solidFill>
              </a:rPr>
              <a:t>을</a:t>
            </a:r>
            <a:r>
              <a:rPr lang="ko-KR" altLang="en-US" sz="1400" dirty="0" smtClean="0">
                <a:solidFill>
                  <a:sysClr val="windowText" lastClr="000000"/>
                </a:solidFill>
              </a:rPr>
              <a:t> </a:t>
            </a:r>
            <a:r>
              <a:rPr lang="ko-KR" altLang="en-US" sz="1400" dirty="0">
                <a:solidFill>
                  <a:sysClr val="windowText" lastClr="000000"/>
                </a:solidFill>
              </a:rPr>
              <a:t>명령하는 </a:t>
            </a:r>
            <a:r>
              <a:rPr lang="ko-KR" altLang="en-US" sz="1400" dirty="0" smtClean="0">
                <a:solidFill>
                  <a:sysClr val="windowText" lastClr="000000"/>
                </a:solidFill>
              </a:rPr>
              <a:t>버튼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능력</a:t>
            </a:r>
            <a:r>
              <a:rPr lang="en-US" altLang="ko-KR" sz="1400" dirty="0" smtClean="0">
                <a:solidFill>
                  <a:sysClr val="windowText" lastClr="000000"/>
                </a:solidFill>
              </a:rPr>
              <a:t>, </a:t>
            </a:r>
            <a:r>
              <a:rPr lang="ko-KR" altLang="en-US" sz="1400" dirty="0" smtClean="0">
                <a:solidFill>
                  <a:sysClr val="windowText" lastClr="000000"/>
                </a:solidFill>
              </a:rPr>
              <a:t>기술들을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Tree>
    <p:extLst>
      <p:ext uri="{BB962C8B-B14F-4D97-AF65-F5344CB8AC3E}">
        <p14:creationId xmlns:p14="http://schemas.microsoft.com/office/powerpoint/2010/main" val="3449456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44</a:t>
            </a:fld>
            <a:endParaRPr lang="ko-KR" altLang="en-US" sz="1800" dirty="0"/>
          </a:p>
        </p:txBody>
      </p:sp>
      <p:sp>
        <p:nvSpPr>
          <p:cNvPr id="71" name="TextBox 70"/>
          <p:cNvSpPr txBox="1"/>
          <p:nvPr/>
        </p:nvSpPr>
        <p:spPr>
          <a:xfrm>
            <a:off x="72571" y="240087"/>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endParaRPr lang="en-US" altLang="ko-KR" sz="1200" spc="-300" dirty="0" smtClean="0">
              <a:solidFill>
                <a:schemeClr val="bg1"/>
              </a:solidFill>
              <a:ea typeface="돋움" panose="020B0600000101010101" pitchFamily="50" charset="-127"/>
            </a:endParaRP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91944" y="534336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701646" y="3494446"/>
            <a:ext cx="3283220" cy="2637002"/>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아이템 사용</a:t>
            </a:r>
            <a:r>
              <a:rPr lang="ko-KR" altLang="en-US" sz="1400" dirty="0" smtClean="0">
                <a:solidFill>
                  <a:sysClr val="windowText" lastClr="000000"/>
                </a:solidFill>
              </a:rPr>
              <a:t>을</a:t>
            </a:r>
            <a:r>
              <a:rPr lang="ko-KR" altLang="en-US" sz="1400" dirty="0" smtClean="0">
                <a:solidFill>
                  <a:sysClr val="windowText" lastClr="000000"/>
                </a:solidFill>
              </a:rPr>
              <a:t> </a:t>
            </a:r>
            <a:r>
              <a:rPr lang="ko-KR" altLang="en-US" sz="1400" dirty="0">
                <a:solidFill>
                  <a:sysClr val="windowText" lastClr="000000"/>
                </a:solidFill>
              </a:rPr>
              <a:t>명령하는 </a:t>
            </a:r>
            <a:r>
              <a:rPr lang="ko-KR" altLang="en-US" sz="1400" dirty="0" smtClean="0">
                <a:solidFill>
                  <a:sysClr val="windowText" lastClr="000000"/>
                </a:solidFill>
              </a:rPr>
              <a:t>버튼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가방을 살펴보아 원하는 아이템을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Tree>
    <p:extLst>
      <p:ext uri="{BB962C8B-B14F-4D97-AF65-F5344CB8AC3E}">
        <p14:creationId xmlns:p14="http://schemas.microsoft.com/office/powerpoint/2010/main" val="12363611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532315" y="190490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10904997" y="229643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532316" y="331750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10889712" y="4045998"/>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532314" y="474826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819737" y="31953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2835146" y="491034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833814" y="34218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2838707" y="2060988"/>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45</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16757"/>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935139"/>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3005169" y="150556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3005169" y="29102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3005169" y="438128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1142366" y="29102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7022248" y="150838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7022248" y="291759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n>
                  <a:solidFill>
                    <a:srgbClr val="C00000"/>
                  </a:solidFill>
                </a:ln>
                <a:solidFill>
                  <a:sysClr val="windowText" lastClr="000000"/>
                </a:solidFill>
              </a:rPr>
              <a:t>정예</a:t>
            </a:r>
            <a:endParaRPr lang="en-US" altLang="ko-KR" dirty="0" smtClean="0">
              <a:ln>
                <a:solidFill>
                  <a:srgbClr val="C00000"/>
                </a:solidFill>
              </a:ln>
              <a:solidFill>
                <a:sysClr val="windowText" lastClr="000000"/>
              </a:solidFill>
            </a:endParaRPr>
          </a:p>
          <a:p>
            <a:pPr algn="ctr"/>
            <a:r>
              <a:rPr lang="ko-KR" altLang="en-US" dirty="0" err="1" smtClean="0">
                <a:ln>
                  <a:solidFill>
                    <a:srgbClr val="C00000"/>
                  </a:solidFill>
                </a:ln>
                <a:solidFill>
                  <a:sysClr val="windowText" lastClr="000000"/>
                </a:solidFill>
              </a:rPr>
              <a:t>몬스터</a:t>
            </a:r>
            <a:endParaRPr lang="en-US" altLang="ko-KR"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7022248" y="435451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9379647" y="1902690"/>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9379646" y="3652247"/>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7560226" y="537865"/>
            <a:ext cx="3385860"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7457724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46</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a:t>
            </a:r>
            <a:r>
              <a:rPr lang="ko-KR" altLang="en-US" sz="2400"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포인트가 5개인 별 1"/>
          <p:cNvSpPr/>
          <p:nvPr/>
        </p:nvSpPr>
        <p:spPr>
          <a:xfrm>
            <a:off x="10177670" y="2650422"/>
            <a:ext cx="1868557" cy="1431235"/>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rgbClr val="FF0000"/>
                  </a:solidFill>
                </a:ln>
                <a:solidFill>
                  <a:sysClr val="windowText" lastClr="000000"/>
                </a:solidFill>
              </a:rPr>
              <a:t>보스</a:t>
            </a:r>
            <a:endParaRPr lang="en-US" altLang="ko-KR" sz="2000" dirty="0" smtClean="0">
              <a:ln>
                <a:solidFill>
                  <a:srgbClr val="FF0000"/>
                </a:solidFill>
              </a:ln>
              <a:solidFill>
                <a:sysClr val="windowText" lastClr="000000"/>
              </a:solidFill>
            </a:endParaRPr>
          </a:p>
        </p:txBody>
      </p:sp>
      <p:sp>
        <p:nvSpPr>
          <p:cNvPr id="18" name="TextBox 1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237103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47</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이벤트</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정오각형 4"/>
          <p:cNvSpPr/>
          <p:nvPr/>
        </p:nvSpPr>
        <p:spPr>
          <a:xfrm>
            <a:off x="9568069" y="2822711"/>
            <a:ext cx="1736035" cy="1470992"/>
          </a:xfrm>
          <a:prstGeom prst="pentagon">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rgbClr val="FFFF00"/>
                </a:solidFill>
              </a:rPr>
              <a:t>보물상자</a:t>
            </a:r>
            <a:endParaRPr lang="ko-KR" altLang="en-US" sz="2400" dirty="0">
              <a:solidFill>
                <a:srgbClr val="FFFF00"/>
              </a:solidFill>
            </a:endParaRPr>
          </a:p>
        </p:txBody>
      </p:sp>
      <p:sp>
        <p:nvSpPr>
          <p:cNvPr id="15" name="TextBox 14"/>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981620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48</a:t>
            </a:fld>
            <a:endParaRPr lang="ko-KR" altLang="en-US" sz="1800" dirty="0"/>
          </a:p>
        </p:txBody>
      </p:sp>
      <p:sp>
        <p:nvSpPr>
          <p:cNvPr id="7" name="타원 6"/>
          <p:cNvSpPr/>
          <p:nvPr/>
        </p:nvSpPr>
        <p:spPr>
          <a:xfrm>
            <a:off x="5499652" y="1378226"/>
            <a:ext cx="1192696" cy="1152939"/>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chemeClr val="tx1"/>
                </a:solidFill>
              </a:rPr>
              <a:t>상인</a:t>
            </a:r>
            <a:endParaRPr lang="ko-KR" altLang="en-US" sz="2400" dirty="0">
              <a:solidFill>
                <a:schemeClr val="tx1"/>
              </a:solidFill>
            </a:endParaRPr>
          </a:p>
        </p:txBody>
      </p:sp>
      <p:grpSp>
        <p:nvGrpSpPr>
          <p:cNvPr id="17" name="그룹 16"/>
          <p:cNvGrpSpPr/>
          <p:nvPr/>
        </p:nvGrpSpPr>
        <p:grpSpPr>
          <a:xfrm>
            <a:off x="1179567" y="1160151"/>
            <a:ext cx="9478462" cy="4737066"/>
            <a:chOff x="1258956" y="1160151"/>
            <a:chExt cx="9478462" cy="4737066"/>
          </a:xfrm>
        </p:grpSpPr>
        <p:cxnSp>
          <p:nvCxnSpPr>
            <p:cNvPr id="15" name="직선 연결선 14"/>
            <p:cNvCxnSpPr/>
            <p:nvPr/>
          </p:nvCxnSpPr>
          <p:spPr>
            <a:xfrm>
              <a:off x="1258956"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0737418"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flipH="1">
              <a:off x="1258956" y="5897217"/>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H="1">
              <a:off x="1258956" y="1160151"/>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타원 31"/>
          <p:cNvSpPr/>
          <p:nvPr/>
        </p:nvSpPr>
        <p:spPr>
          <a:xfrm>
            <a:off x="7583795" y="5027382"/>
            <a:ext cx="764839" cy="711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3" name="직사각형 32"/>
          <p:cNvSpPr/>
          <p:nvPr/>
        </p:nvSpPr>
        <p:spPr>
          <a:xfrm>
            <a:off x="2219549" y="4947033"/>
            <a:ext cx="671128" cy="6357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4" name="이등변 삼각형 33"/>
          <p:cNvSpPr/>
          <p:nvPr/>
        </p:nvSpPr>
        <p:spPr>
          <a:xfrm>
            <a:off x="4989442" y="4983653"/>
            <a:ext cx="1020419" cy="65599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아이템</a:t>
            </a:r>
          </a:p>
        </p:txBody>
      </p:sp>
      <p:sp>
        <p:nvSpPr>
          <p:cNvPr id="35" name="포인트가 5개인 별 34"/>
          <p:cNvSpPr/>
          <p:nvPr/>
        </p:nvSpPr>
        <p:spPr>
          <a:xfrm>
            <a:off x="3286849" y="3939810"/>
            <a:ext cx="1251047" cy="1043843"/>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8" name="십자형 17"/>
          <p:cNvSpPr/>
          <p:nvPr/>
        </p:nvSpPr>
        <p:spPr>
          <a:xfrm>
            <a:off x="8702349" y="4162211"/>
            <a:ext cx="715618" cy="655996"/>
          </a:xfrm>
          <a:prstGeom prst="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9" name="순서도: 판단 18"/>
          <p:cNvSpPr/>
          <p:nvPr/>
        </p:nvSpPr>
        <p:spPr>
          <a:xfrm>
            <a:off x="6098710" y="4162211"/>
            <a:ext cx="969301" cy="78482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tx1"/>
                </a:solidFill>
              </a:rPr>
              <a:t>아이템</a:t>
            </a:r>
            <a:endParaRPr lang="ko-KR" altLang="en-US" sz="1400" dirty="0">
              <a:solidFill>
                <a:schemeClr val="tx1"/>
              </a:solidFill>
            </a:endParaRPr>
          </a:p>
        </p:txBody>
      </p:sp>
      <p:cxnSp>
        <p:nvCxnSpPr>
          <p:cNvPr id="23" name="구부러진 연결선 22"/>
          <p:cNvCxnSpPr>
            <a:stCxn id="7" idx="2"/>
          </p:cNvCxnSpPr>
          <p:nvPr/>
        </p:nvCxnSpPr>
        <p:spPr>
          <a:xfrm rot="10800000" flipV="1">
            <a:off x="4678018" y="1954695"/>
            <a:ext cx="821635" cy="914399"/>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구부러진 연결선 42"/>
          <p:cNvCxnSpPr>
            <a:endCxn id="7" idx="6"/>
          </p:cNvCxnSpPr>
          <p:nvPr/>
        </p:nvCxnSpPr>
        <p:spPr>
          <a:xfrm rot="16200000" flipV="1">
            <a:off x="6610812" y="2036233"/>
            <a:ext cx="914399" cy="751326"/>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4537896" y="2869095"/>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2" name="타원 51"/>
          <p:cNvSpPr/>
          <p:nvPr/>
        </p:nvSpPr>
        <p:spPr>
          <a:xfrm>
            <a:off x="7303552" y="2869096"/>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4" name="TextBox 23"/>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60869103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49</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50</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51</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보조형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a16="http://schemas.microsoft.com/office/drawing/2014/main"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52</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a:t>
                      </a:r>
                      <a:r>
                        <a:rPr lang="en-US" altLang="ko-KR" baseline="0" dirty="0" smtClean="0"/>
                        <a:t> </a:t>
                      </a:r>
                      <a:r>
                        <a:rPr lang="ko-KR" altLang="en-US" baseline="0" dirty="0" smtClean="0"/>
                        <a:t>보조</a:t>
                      </a:r>
                      <a:r>
                        <a:rPr lang="ko-KR" altLang="en-US" dirty="0" smtClean="0"/>
                        <a:t>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a16="http://schemas.microsoft.com/office/drawing/2014/main"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53</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54</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전투 후 용사의 </a:t>
            </a:r>
            <a:r>
              <a:rPr lang="ko-KR" altLang="en-US" dirty="0"/>
              <a:t>것</a:t>
            </a:r>
            <a:r>
              <a:rPr lang="ko-KR" altLang="en-US" dirty="0" smtClean="0"/>
              <a:t>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재사용할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3</a:t>
            </a:r>
            <a:r>
              <a:rPr lang="ko-KR" altLang="en-US" dirty="0" smtClean="0"/>
              <a:t>마리까지 파티를 편성할 수 있다</a:t>
            </a:r>
            <a:r>
              <a:rPr lang="en-US" altLang="ko-KR" dirty="0" smtClean="0"/>
              <a:t>.</a:t>
            </a:r>
            <a:endParaRPr lang="en-US" altLang="ko-KR" dirty="0" smtClean="0">
              <a:latin typeface="+mn-ea"/>
            </a:endParaRPr>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55</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56</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기능형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57</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58</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
        <p:nvSpPr>
          <p:cNvPr id="9" name="TextBox 8"/>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59</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60</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61</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62</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a16="http://schemas.microsoft.com/office/drawing/2014/main" val="3321536260"/>
                    </a:ext>
                  </a:extLst>
                </a:gridCol>
                <a:gridCol w="6285865">
                  <a:extLst>
                    <a:ext uri="{9D8B030D-6E8A-4147-A177-3AD203B41FA5}">
                      <a16:colId xmlns:a16="http://schemas.microsoft.com/office/drawing/2014/main" val="2362139744"/>
                    </a:ext>
                  </a:extLst>
                </a:gridCol>
                <a:gridCol w="2451734">
                  <a:extLst>
                    <a:ext uri="{9D8B030D-6E8A-4147-A177-3AD203B41FA5}">
                      <a16:colId xmlns:a16="http://schemas.microsoft.com/office/drawing/2014/main"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a16="http://schemas.microsoft.com/office/drawing/2014/main"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a16="http://schemas.microsoft.com/office/drawing/2014/main"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a16="http://schemas.microsoft.com/office/drawing/2014/main"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a16="http://schemas.microsoft.com/office/drawing/2014/main"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a16="http://schemas.microsoft.com/office/drawing/2014/main"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a16="http://schemas.microsoft.com/office/drawing/2014/main"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63</a:t>
            </a:fld>
            <a:endParaRPr lang="ko-KR" altLang="en-US" sz="1800" dirty="0"/>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64</a:t>
            </a:fld>
            <a:endParaRPr lang="ko-KR" altLang="en-US" sz="1800" dirty="0"/>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있습니다</a:t>
            </a:r>
            <a:r>
              <a:rPr lang="en-US" altLang="ko-KR" sz="2400" dirty="0" smtClean="0"/>
              <a:t>.</a:t>
            </a:r>
          </a:p>
          <a:p>
            <a:endParaRPr lang="en-US" altLang="ko-KR" sz="2400" dirty="0" smtClean="0"/>
          </a:p>
          <a:p>
            <a:r>
              <a:rPr lang="en-US" altLang="ko-KR" sz="2400" dirty="0"/>
              <a:t>• </a:t>
            </a:r>
            <a:r>
              <a:rPr lang="ko-KR" altLang="en-US" sz="2400" dirty="0"/>
              <a:t>한번 클리어한 방을 다시 클리어할 수는 </a:t>
            </a:r>
            <a:r>
              <a:rPr lang="ko-KR" altLang="en-US" sz="2400" dirty="0" smtClean="0"/>
              <a:t>없습니다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목표입니다</a:t>
            </a:r>
            <a:r>
              <a:rPr lang="en-US" altLang="ko-KR" sz="2400"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65</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진행됩니다</a:t>
            </a:r>
            <a:r>
              <a:rPr lang="en-US" altLang="ko-KR" sz="2400" dirty="0" smtClean="0"/>
              <a:t>.</a:t>
            </a:r>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한 진영의 모든 캐릭터가 행동을 마치면 차례가 넘어갑니다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66</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67</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68</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539704"/>
          </a:xfrm>
          <a:prstGeom prst="rect">
            <a:avLst/>
          </a:prstGeom>
          <a:noFill/>
        </p:spPr>
        <p:txBody>
          <a:bodyPr wrap="square" rtlCol="0">
            <a:spAutoFit/>
          </a:bodyPr>
          <a:lstStyle/>
          <a:p>
            <a:r>
              <a:rPr lang="ko-KR" altLang="en-US" sz="2000" u="sng" dirty="0" smtClean="0"/>
              <a:t>전투 시스템</a:t>
            </a:r>
            <a:r>
              <a:rPr lang="en-US" altLang="ko-KR" sz="2000" u="sng" dirty="0" smtClean="0"/>
              <a:t>, </a:t>
            </a:r>
            <a:r>
              <a:rPr lang="ko-KR" altLang="en-US" sz="2000" u="sng" dirty="0" smtClean="0"/>
              <a:t>육성 시스템</a:t>
            </a:r>
            <a:r>
              <a:rPr lang="ko-KR" altLang="ko-KR" sz="2000" u="sng" dirty="0" smtClean="0"/>
              <a:t>을 </a:t>
            </a:r>
            <a:r>
              <a:rPr lang="ko-KR" altLang="ko-KR" sz="2000" u="sng" dirty="0"/>
              <a:t>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en-US" sz="2000" u="sng" dirty="0" smtClean="0"/>
              <a:t>상성과 능력에 관한 구체적인 시스템과 밸런스에</a:t>
            </a:r>
            <a:r>
              <a:rPr lang="ko-KR" altLang="ko-KR" sz="2000" u="sng" dirty="0" smtClean="0"/>
              <a:t> </a:t>
            </a:r>
            <a:r>
              <a:rPr lang="ko-KR" altLang="ko-KR" sz="2000" u="sng" dirty="0"/>
              <a:t>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smtClean="0"/>
              <a:t>• </a:t>
            </a:r>
            <a:r>
              <a:rPr lang="ko-KR" altLang="en-US" sz="2000" dirty="0" smtClean="0"/>
              <a:t>캐릭터와 </a:t>
            </a:r>
            <a:r>
              <a:rPr lang="ko-KR" altLang="en-US" sz="2000" dirty="0" err="1" smtClean="0"/>
              <a:t>몬스터</a:t>
            </a:r>
            <a:r>
              <a:rPr lang="ko-KR" altLang="en-US" sz="2000" dirty="0" smtClean="0"/>
              <a:t> 각각의 </a:t>
            </a:r>
            <a:r>
              <a:rPr lang="ko-KR" altLang="en-US" sz="2000" dirty="0" err="1" smtClean="0"/>
              <a:t>컨셉에</a:t>
            </a:r>
            <a:r>
              <a:rPr lang="ko-KR" altLang="en-US" sz="2000" dirty="0" smtClean="0"/>
              <a:t> 맞는 전투 방식과 능력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수치와 상성을 기반으로 공식을 설정하여 실질적인 전투 시스템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아이템과 </a:t>
            </a:r>
            <a:r>
              <a:rPr lang="ko-KR" altLang="en-US" sz="2000" dirty="0" err="1" smtClean="0"/>
              <a:t>레벨업을</a:t>
            </a:r>
            <a:r>
              <a:rPr lang="ko-KR" altLang="en-US" sz="2000" dirty="0" smtClean="0"/>
              <a:t> 고려한 </a:t>
            </a:r>
            <a:r>
              <a:rPr lang="ko-KR" altLang="en-US" sz="2000" dirty="0" err="1" smtClean="0"/>
              <a:t>스테이터스</a:t>
            </a:r>
            <a:r>
              <a:rPr lang="ko-KR" altLang="en-US" sz="2000" dirty="0" smtClean="0"/>
              <a:t> 밸런스 설정과 조정</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err="1" smtClean="0"/>
              <a:t>던전</a:t>
            </a:r>
            <a:r>
              <a:rPr lang="ko-KR" altLang="en-US" sz="2000" dirty="0" smtClean="0"/>
              <a:t> 내 세부 </a:t>
            </a:r>
            <a:r>
              <a:rPr lang="ko-KR" altLang="en-US" sz="2000" dirty="0" err="1" smtClean="0"/>
              <a:t>에어리어들</a:t>
            </a:r>
            <a:r>
              <a:rPr lang="ko-KR" altLang="en-US" sz="2000" dirty="0" smtClean="0"/>
              <a:t> 및 전투</a:t>
            </a:r>
            <a:r>
              <a:rPr lang="en-US" altLang="ko-KR" sz="2000" dirty="0" smtClean="0"/>
              <a:t>(</a:t>
            </a:r>
            <a:r>
              <a:rPr lang="ko-KR" altLang="en-US" sz="2000" dirty="0" err="1" smtClean="0"/>
              <a:t>던전</a:t>
            </a:r>
            <a:r>
              <a:rPr lang="en-US" altLang="ko-KR" sz="2000" dirty="0" smtClean="0"/>
              <a:t>)</a:t>
            </a:r>
            <a:r>
              <a:rPr lang="ko-KR" altLang="en-US" sz="2000" dirty="0" smtClean="0"/>
              <a:t> 레벨 디자인 기획</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a:t>• </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69</a:t>
            </a:fld>
            <a:endParaRPr lang="ko-KR" altLang="en-US" sz="1800" dirty="0"/>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70</a:t>
            </a:fld>
            <a:endParaRPr lang="ko-KR" altLang="en-US" sz="1800" dirty="0"/>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078313"/>
          </a:xfrm>
          <a:prstGeom prst="rect">
            <a:avLst/>
          </a:prstGeom>
          <a:noFill/>
        </p:spPr>
        <p:txBody>
          <a:bodyPr wrap="square" rtlCol="0">
            <a:spAutoFit/>
          </a:bodyPr>
          <a:lstStyle/>
          <a:p>
            <a:pPr>
              <a:lnSpc>
                <a:spcPct val="150000"/>
              </a:lnSpc>
            </a:pPr>
            <a:r>
              <a:rPr lang="en-US" altLang="ko-KR" dirty="0" smtClean="0"/>
              <a:t>1-1) </a:t>
            </a:r>
            <a:r>
              <a:rPr lang="ko-KR" altLang="en-US" dirty="0" smtClean="0"/>
              <a:t>포켓몬스터 모바일 게임 속 전투 화면</a:t>
            </a:r>
            <a:endParaRPr lang="en-US" altLang="ko-KR" dirty="0" smtClean="0"/>
          </a:p>
          <a:p>
            <a:pPr>
              <a:lnSpc>
                <a:spcPct val="150000"/>
              </a:lnSpc>
            </a:pPr>
            <a:r>
              <a:rPr lang="en-US" altLang="ko-KR" dirty="0" smtClean="0">
                <a:hlinkClick r:id="rId2"/>
              </a:rPr>
              <a:t>https</a:t>
            </a:r>
            <a:r>
              <a:rPr lang="en-US" altLang="ko-KR" dirty="0">
                <a:hlinkClick r:id="rId2"/>
              </a:rPr>
              <a:t>://</a:t>
            </a:r>
            <a:r>
              <a:rPr lang="en-US" altLang="ko-KR" dirty="0" smtClean="0">
                <a:hlinkClick r:id="rId2"/>
              </a:rPr>
              <a:t>www.clien.net/service/board/park/12754454</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ko-KR" altLang="en-US" dirty="0" err="1" smtClean="0"/>
              <a:t>서머너즈</a:t>
            </a:r>
            <a:r>
              <a:rPr lang="ko-KR" altLang="en-US" dirty="0" smtClean="0"/>
              <a:t> 워</a:t>
            </a:r>
            <a:r>
              <a:rPr lang="en-US" altLang="ko-KR" dirty="0" smtClean="0"/>
              <a:t>’, </a:t>
            </a:r>
            <a:r>
              <a:rPr lang="ko-KR" altLang="en-US" dirty="0" smtClean="0"/>
              <a:t>아레나 전투 화면</a:t>
            </a:r>
            <a:endParaRPr lang="en-US" altLang="ko-KR" dirty="0" smtClean="0"/>
          </a:p>
          <a:p>
            <a:pPr>
              <a:lnSpc>
                <a:spcPct val="150000"/>
              </a:lnSpc>
            </a:pPr>
            <a:r>
              <a:rPr lang="en-US" altLang="ko-KR" dirty="0" smtClean="0">
                <a:hlinkClick r:id="rId3"/>
              </a:rPr>
              <a:t>http</a:t>
            </a:r>
            <a:r>
              <a:rPr lang="en-US" altLang="ko-KR" dirty="0">
                <a:hlinkClick r:id="rId3"/>
              </a:rPr>
              <a:t>://</a:t>
            </a:r>
            <a:r>
              <a:rPr lang="en-US" altLang="ko-KR" dirty="0" smtClean="0">
                <a:hlinkClick r:id="rId3"/>
              </a:rPr>
              <a:t>www.kukinews.com/news/article.html?no=467851</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2-1) ‘</a:t>
            </a:r>
            <a:r>
              <a:rPr lang="ko-KR" altLang="en-US" dirty="0" err="1" smtClean="0"/>
              <a:t>던그리드</a:t>
            </a:r>
            <a:r>
              <a:rPr lang="en-US" altLang="ko-KR" dirty="0" smtClean="0"/>
              <a:t>’, </a:t>
            </a:r>
            <a:r>
              <a:rPr lang="ko-KR" altLang="en-US" dirty="0" err="1" smtClean="0"/>
              <a:t>튜토리얼</a:t>
            </a:r>
            <a:r>
              <a:rPr lang="ko-KR" altLang="en-US" dirty="0" smtClean="0"/>
              <a:t> 속 던전의 출현 화면</a:t>
            </a:r>
            <a:endParaRPr lang="en-US" altLang="ko-KR" dirty="0" smtClean="0"/>
          </a:p>
          <a:p>
            <a:pPr>
              <a:lnSpc>
                <a:spcPct val="150000"/>
              </a:lnSpc>
            </a:pPr>
            <a:r>
              <a:rPr lang="en-US" altLang="ko-KR" dirty="0" smtClean="0">
                <a:hlinkClick r:id="rId4"/>
              </a:rPr>
              <a:t>https</a:t>
            </a:r>
            <a:r>
              <a:rPr lang="en-US" altLang="ko-KR" dirty="0">
                <a:hlinkClick r:id="rId4"/>
              </a:rPr>
              <a:t>://</a:t>
            </a:r>
            <a:r>
              <a:rPr lang="en-US" altLang="ko-KR" dirty="0" smtClean="0">
                <a:hlinkClick r:id="rId4"/>
              </a:rPr>
              <a:t>www.vingle.net/posts/2320991</a:t>
            </a:r>
            <a:r>
              <a:rPr lang="en-US" altLang="ko-KR" dirty="0" smtClean="0"/>
              <a:t> (</a:t>
            </a:r>
            <a:r>
              <a:rPr lang="en-US" altLang="ko-KR" dirty="0"/>
              <a:t>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ko-KR" altLang="en-US" dirty="0" err="1" smtClean="0"/>
              <a:t>다키스트</a:t>
            </a:r>
            <a:r>
              <a:rPr lang="ko-KR" altLang="en-US" dirty="0" smtClean="0"/>
              <a:t> 던전</a:t>
            </a:r>
            <a:r>
              <a:rPr lang="en-US" altLang="ko-KR" dirty="0" smtClean="0"/>
              <a:t>’, </a:t>
            </a:r>
            <a:r>
              <a:rPr lang="ko-KR" altLang="en-US" dirty="0" smtClean="0"/>
              <a:t>던전 전투 화면</a:t>
            </a:r>
            <a:endParaRPr lang="en-US" altLang="ko-KR" dirty="0" smtClean="0"/>
          </a:p>
          <a:p>
            <a:pPr>
              <a:lnSpc>
                <a:spcPct val="150000"/>
              </a:lnSpc>
            </a:pPr>
            <a:r>
              <a:rPr lang="en-US" altLang="ko-KR" dirty="0" smtClean="0">
                <a:hlinkClick r:id="rId5"/>
              </a:rPr>
              <a:t>https</a:t>
            </a:r>
            <a:r>
              <a:rPr lang="en-US" altLang="ko-KR" dirty="0">
                <a:hlinkClick r:id="rId5"/>
              </a:rPr>
              <a:t>://steamcommunity.com/sharedfiles/filedetails/?</a:t>
            </a:r>
            <a:r>
              <a:rPr lang="en-US" altLang="ko-KR" dirty="0" smtClean="0">
                <a:hlinkClick r:id="rId5"/>
              </a:rPr>
              <a:t>id=396427946</a:t>
            </a:r>
            <a:r>
              <a:rPr lang="en-US" altLang="ko-KR" dirty="0" smtClean="0"/>
              <a:t> (11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ko-KR" altLang="en-US" dirty="0" err="1" smtClean="0"/>
              <a:t>아이작의</a:t>
            </a:r>
            <a:r>
              <a:rPr lang="ko-KR" altLang="en-US" dirty="0" smtClean="0"/>
              <a:t> </a:t>
            </a:r>
            <a:r>
              <a:rPr lang="ko-KR" altLang="en-US" dirty="0" err="1" smtClean="0"/>
              <a:t>번제</a:t>
            </a:r>
            <a:r>
              <a:rPr lang="en-US" altLang="ko-KR" dirty="0" smtClean="0"/>
              <a:t>‘, </a:t>
            </a:r>
            <a:r>
              <a:rPr lang="ko-KR" altLang="en-US" dirty="0" smtClean="0"/>
              <a:t>사망 결과 화면</a:t>
            </a:r>
            <a:endParaRPr lang="en-US" altLang="ko-KR" dirty="0" smtClean="0"/>
          </a:p>
          <a:p>
            <a:pPr>
              <a:lnSpc>
                <a:spcPct val="150000"/>
              </a:lnSpc>
            </a:pPr>
            <a:r>
              <a:rPr lang="en-US" altLang="ko-KR" dirty="0" smtClean="0">
                <a:hlinkClick r:id="rId6"/>
              </a:rPr>
              <a:t>https</a:t>
            </a:r>
            <a:r>
              <a:rPr lang="en-US" altLang="ko-KR" dirty="0">
                <a:hlinkClick r:id="rId6"/>
              </a:rPr>
              <a:t>://entropymag.org/hobby-horse-anatomy-bawdy-and-body-in-the-binding-of-isaac-ch-3</a:t>
            </a:r>
            <a:r>
              <a:rPr lang="en-US" altLang="ko-KR" dirty="0" smtClean="0">
                <a:hlinkClick r:id="rId6"/>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ko-KR" altLang="en-US" dirty="0" smtClean="0"/>
              <a:t>던전 메이커</a:t>
            </a:r>
            <a:r>
              <a:rPr lang="en-US" altLang="ko-KR" dirty="0" smtClean="0"/>
              <a:t>’, </a:t>
            </a:r>
            <a:r>
              <a:rPr lang="ko-KR" altLang="en-US" dirty="0" smtClean="0"/>
              <a:t>보유 몬스터 화면</a:t>
            </a:r>
            <a:endParaRPr lang="en-US" altLang="ko-KR" dirty="0" smtClean="0"/>
          </a:p>
          <a:p>
            <a:pPr>
              <a:lnSpc>
                <a:spcPct val="150000"/>
              </a:lnSpc>
            </a:pPr>
            <a:r>
              <a:rPr lang="en-US" altLang="ko-KR" dirty="0">
                <a:hlinkClick r:id="rId7"/>
              </a:rPr>
              <a:t>https://</a:t>
            </a:r>
            <a:r>
              <a:rPr lang="en-US" altLang="ko-KR" dirty="0" smtClean="0">
                <a:hlinkClick r:id="rId7"/>
              </a:rPr>
              <a:t>minimap.net/game/dungeon-maker/review</a:t>
            </a:r>
            <a:r>
              <a:rPr lang="en-US" altLang="ko-KR" dirty="0" smtClean="0"/>
              <a:t> (9</a:t>
            </a:r>
            <a:r>
              <a:rPr lang="ko-KR" altLang="en-US" dirty="0" smtClean="0"/>
              <a:t>번 </a:t>
            </a:r>
            <a:r>
              <a:rPr lang="ko-KR" altLang="en-US" dirty="0" err="1"/>
              <a:t>스크린샷</a:t>
            </a:r>
            <a:r>
              <a:rPr lang="en-US" altLang="ko-KR"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71</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5493812"/>
          </a:xfrm>
          <a:prstGeom prst="rect">
            <a:avLst/>
          </a:prstGeom>
          <a:noFill/>
        </p:spPr>
        <p:txBody>
          <a:bodyPr wrap="square" rtlCol="0">
            <a:spAutoFit/>
          </a:bodyPr>
          <a:lstStyle/>
          <a:p>
            <a:pPr>
              <a:lnSpc>
                <a:spcPct val="150000"/>
              </a:lnSpc>
            </a:pPr>
            <a:r>
              <a:rPr lang="en-US" altLang="ko-KR" dirty="0" smtClean="0"/>
              <a:t>2-5) ‘</a:t>
            </a:r>
            <a:r>
              <a:rPr lang="ko-KR" altLang="en-US" dirty="0" err="1" smtClean="0"/>
              <a:t>던그리드</a:t>
            </a:r>
            <a:r>
              <a:rPr lang="en-US" altLang="ko-KR" dirty="0" smtClean="0"/>
              <a:t>’, </a:t>
            </a:r>
            <a:r>
              <a:rPr lang="ko-KR" altLang="en-US" dirty="0" smtClean="0"/>
              <a:t>의상실 화면</a:t>
            </a:r>
            <a:endParaRPr lang="en-US" altLang="ko-KR" dirty="0" smtClean="0"/>
          </a:p>
          <a:p>
            <a:pPr>
              <a:lnSpc>
                <a:spcPct val="150000"/>
              </a:lnSpc>
            </a:pPr>
            <a:r>
              <a:rPr lang="en-US" altLang="ko-KR" dirty="0">
                <a:hlinkClick r:id="rId2"/>
              </a:rPr>
              <a:t>https://</a:t>
            </a:r>
            <a:r>
              <a:rPr lang="en-US" altLang="ko-KR" dirty="0" smtClean="0">
                <a:hlinkClick r:id="rId2"/>
              </a:rPr>
              <a:t>realust.tistory.com/506</a:t>
            </a:r>
            <a:r>
              <a:rPr lang="en-US" altLang="ko-KR" dirty="0" smtClean="0"/>
              <a:t> (4</a:t>
            </a:r>
            <a:r>
              <a:rPr lang="ko-KR" altLang="en-US" dirty="0" smtClean="0"/>
              <a:t>번 </a:t>
            </a:r>
            <a:r>
              <a:rPr lang="ko-KR" altLang="en-US" dirty="0" err="1"/>
              <a:t>스크린샷</a:t>
            </a:r>
            <a:r>
              <a:rPr lang="en-US" altLang="ko-KR" dirty="0"/>
              <a:t>)</a:t>
            </a:r>
          </a:p>
          <a:p>
            <a:pPr>
              <a:lnSpc>
                <a:spcPct val="150000"/>
              </a:lnSpc>
            </a:pPr>
            <a:r>
              <a:rPr lang="en-US" altLang="ko-KR" dirty="0" smtClean="0"/>
              <a:t>2-6) ‘</a:t>
            </a:r>
            <a:r>
              <a:rPr lang="ko-KR" altLang="en-US" dirty="0" smtClean="0"/>
              <a:t>몬스터슈퍼리그</a:t>
            </a:r>
            <a:r>
              <a:rPr lang="en-US" altLang="ko-KR" dirty="0" smtClean="0"/>
              <a:t>’, </a:t>
            </a:r>
            <a:r>
              <a:rPr lang="ko-KR" altLang="en-US" dirty="0" smtClean="0"/>
              <a:t>몬스터 획득 장면</a:t>
            </a:r>
            <a:endParaRPr lang="en-US" altLang="ko-KR" dirty="0" smtClean="0"/>
          </a:p>
          <a:p>
            <a:pPr>
              <a:lnSpc>
                <a:spcPct val="150000"/>
              </a:lnSpc>
            </a:pPr>
            <a:r>
              <a:rPr lang="en-US" altLang="ko-KR" dirty="0">
                <a:hlinkClick r:id="rId3"/>
              </a:rPr>
              <a:t>http://www.thisisgame.com/webzine/game/nboard/19/?</a:t>
            </a:r>
            <a:r>
              <a:rPr lang="en-US" altLang="ko-KR" dirty="0" smtClean="0">
                <a:hlinkClick r:id="rId3"/>
              </a:rPr>
              <a:t>page=13&amp;n=64534</a:t>
            </a:r>
            <a:r>
              <a:rPr lang="en-US" altLang="ko-KR" dirty="0" smtClean="0"/>
              <a:t> (</a:t>
            </a:r>
            <a:r>
              <a:rPr lang="en-US" altLang="ko-KR" dirty="0"/>
              <a:t>4</a:t>
            </a:r>
            <a:r>
              <a:rPr lang="ko-KR" altLang="en-US" dirty="0"/>
              <a:t>번 </a:t>
            </a:r>
            <a:r>
              <a:rPr lang="ko-KR" altLang="en-US" dirty="0" err="1"/>
              <a:t>스크린샷</a:t>
            </a:r>
            <a:r>
              <a:rPr lang="en-US" altLang="ko-KR" dirty="0"/>
              <a:t>)</a:t>
            </a:r>
          </a:p>
          <a:p>
            <a:pPr>
              <a:lnSpc>
                <a:spcPct val="150000"/>
              </a:lnSpc>
            </a:pPr>
            <a:r>
              <a:rPr lang="en-US" altLang="ko-KR" dirty="0" smtClean="0"/>
              <a:t>2-7) ‘</a:t>
            </a:r>
            <a:r>
              <a:rPr lang="ko-KR" altLang="en-US" dirty="0" err="1" smtClean="0"/>
              <a:t>마계전기</a:t>
            </a:r>
            <a:r>
              <a:rPr lang="ko-KR" altLang="en-US" dirty="0" smtClean="0"/>
              <a:t> </a:t>
            </a:r>
            <a:r>
              <a:rPr lang="ko-KR" altLang="en-US" dirty="0" err="1" smtClean="0"/>
              <a:t>디스가이아</a:t>
            </a:r>
            <a:r>
              <a:rPr lang="ko-KR" altLang="en-US" dirty="0" smtClean="0"/>
              <a:t> </a:t>
            </a:r>
            <a:r>
              <a:rPr lang="en-US" altLang="ko-KR" dirty="0" smtClean="0"/>
              <a:t>5’</a:t>
            </a:r>
          </a:p>
          <a:p>
            <a:pPr>
              <a:lnSpc>
                <a:spcPct val="150000"/>
              </a:lnSpc>
            </a:pPr>
            <a:r>
              <a:rPr lang="en-US" altLang="ko-KR" dirty="0">
                <a:hlinkClick r:id="rId4"/>
              </a:rPr>
              <a:t>http://www.thisisgame.com/pad/tboard/?</a:t>
            </a:r>
            <a:r>
              <a:rPr lang="en-US" altLang="ko-KR" dirty="0" smtClean="0">
                <a:hlinkClick r:id="rId4"/>
              </a:rPr>
              <a:t>board=37&amp;n=286482</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2-8) ‘</a:t>
            </a:r>
            <a:r>
              <a:rPr lang="ko-KR" altLang="en-US" dirty="0" err="1" smtClean="0"/>
              <a:t>미소스</a:t>
            </a:r>
            <a:r>
              <a:rPr lang="ko-KR" altLang="en-US" dirty="0" smtClean="0"/>
              <a:t> 영웅전 </a:t>
            </a:r>
            <a:r>
              <a:rPr lang="en-US" altLang="ko-KR" dirty="0" smtClean="0"/>
              <a:t>for </a:t>
            </a:r>
            <a:r>
              <a:rPr lang="en-US" altLang="ko-KR" dirty="0" err="1" smtClean="0"/>
              <a:t>kakao</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5"/>
              </a:rPr>
              <a:t>http://www.thisisgame.com/mobile/nboard/1/?</a:t>
            </a:r>
            <a:r>
              <a:rPr lang="en-US" altLang="ko-KR" dirty="0" smtClean="0">
                <a:hlinkClick r:id="rId5"/>
              </a:rPr>
              <a:t>n=55660&amp;mode=print</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2-9) ‘</a:t>
            </a:r>
            <a:r>
              <a:rPr lang="ko-KR" altLang="en-US" dirty="0" err="1" smtClean="0"/>
              <a:t>그랜드체이스</a:t>
            </a:r>
            <a:r>
              <a:rPr lang="ko-KR" altLang="en-US" dirty="0" smtClean="0"/>
              <a:t> 올스타</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6"/>
              </a:rPr>
              <a:t>http://www.thisisgame.com/mobile/nboard/1/?</a:t>
            </a:r>
            <a:r>
              <a:rPr lang="en-US" altLang="ko-KR" dirty="0" smtClean="0">
                <a:hlinkClick r:id="rId6"/>
              </a:rPr>
              <a:t>n=51285</a:t>
            </a:r>
            <a:r>
              <a:rPr lang="en-US" altLang="ko-KR" dirty="0" smtClean="0"/>
              <a:t> (2</a:t>
            </a:r>
            <a:r>
              <a:rPr lang="ko-KR" altLang="en-US" dirty="0" smtClean="0"/>
              <a:t>번 </a:t>
            </a:r>
            <a:r>
              <a:rPr lang="ko-KR" altLang="en-US" dirty="0" err="1"/>
              <a:t>스크린샷</a:t>
            </a:r>
            <a:r>
              <a:rPr lang="en-US" altLang="ko-KR" dirty="0"/>
              <a:t>)</a:t>
            </a:r>
          </a:p>
          <a:p>
            <a:pPr>
              <a:lnSpc>
                <a:spcPct val="150000"/>
              </a:lnSpc>
            </a:pPr>
            <a:r>
              <a:rPr lang="en-US" altLang="ko-KR" dirty="0"/>
              <a:t>2-10) </a:t>
            </a:r>
            <a:r>
              <a:rPr lang="en-US" altLang="ko-KR" dirty="0">
                <a:hlinkClick r:id="rId7"/>
              </a:rPr>
              <a:t>https://store.steampowered.com/app/785740/This_Is_the_Police_2/</a:t>
            </a:r>
            <a:r>
              <a:rPr lang="en-US" altLang="ko-KR" dirty="0"/>
              <a:t> (2</a:t>
            </a:r>
            <a:r>
              <a:rPr lang="ko-KR" altLang="en-US" dirty="0"/>
              <a:t>번 </a:t>
            </a:r>
            <a:r>
              <a:rPr lang="ko-KR" altLang="en-US" dirty="0" err="1"/>
              <a:t>스크린샷</a:t>
            </a:r>
            <a:r>
              <a:rPr lang="en-US" altLang="ko-KR" dirty="0"/>
              <a:t>)</a:t>
            </a:r>
          </a:p>
          <a:p>
            <a:pPr>
              <a:lnSpc>
                <a:spcPct val="150000"/>
              </a:lnSpc>
            </a:pPr>
            <a:r>
              <a:rPr lang="en-US" altLang="ko-KR" dirty="0"/>
              <a:t>2-11) </a:t>
            </a:r>
            <a:r>
              <a:rPr lang="en-US" altLang="ko-KR" dirty="0">
                <a:hlinkClick r:id="rId8"/>
              </a:rPr>
              <a:t>https://taskandpurpose.com/xcom2-war-chosen-review/</a:t>
            </a:r>
            <a:r>
              <a:rPr lang="en-US" altLang="ko-KR" dirty="0"/>
              <a:t> </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72</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73</a:t>
            </a:fld>
            <a:endParaRPr lang="ko-KR" altLang="en-US" dirty="0"/>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74</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6508</TotalTime>
  <Words>4244</Words>
  <Application>Microsoft Office PowerPoint</Application>
  <PresentationFormat>와이드스크린</PresentationFormat>
  <Paragraphs>1498</Paragraphs>
  <Slides>74</Slides>
  <Notes>2</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74</vt:i4>
      </vt:variant>
    </vt:vector>
  </HeadingPairs>
  <TitlesOfParts>
    <vt:vector size="81" baseType="lpstr">
      <vt:lpstr>HY견명조</vt:lpstr>
      <vt:lpstr>돋움</vt:lpstr>
      <vt:lpstr>210 앱굴림 R</vt:lpstr>
      <vt:lpstr>맑은 고딕</vt:lpstr>
      <vt:lpstr>Arial</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Windows 사용자</cp:lastModifiedBy>
  <cp:revision>469</cp:revision>
  <dcterms:created xsi:type="dcterms:W3CDTF">2017-06-15T12:10:59Z</dcterms:created>
  <dcterms:modified xsi:type="dcterms:W3CDTF">2019-01-10T18:06:30Z</dcterms:modified>
</cp:coreProperties>
</file>