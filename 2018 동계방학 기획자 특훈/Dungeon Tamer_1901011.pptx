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79"/>
  </p:notesMasterIdLst>
  <p:sldIdLst>
    <p:sldId id="273" r:id="rId3"/>
    <p:sldId id="260" r:id="rId4"/>
    <p:sldId id="288" r:id="rId5"/>
    <p:sldId id="289" r:id="rId6"/>
    <p:sldId id="341" r:id="rId7"/>
    <p:sldId id="266" r:id="rId8"/>
    <p:sldId id="290" r:id="rId9"/>
    <p:sldId id="342" r:id="rId10"/>
    <p:sldId id="276" r:id="rId11"/>
    <p:sldId id="339" r:id="rId12"/>
    <p:sldId id="332" r:id="rId13"/>
    <p:sldId id="291" r:id="rId14"/>
    <p:sldId id="333" r:id="rId15"/>
    <p:sldId id="334" r:id="rId16"/>
    <p:sldId id="343" r:id="rId17"/>
    <p:sldId id="329" r:id="rId18"/>
    <p:sldId id="353" r:id="rId19"/>
    <p:sldId id="347" r:id="rId20"/>
    <p:sldId id="348" r:id="rId21"/>
    <p:sldId id="349" r:id="rId22"/>
    <p:sldId id="351" r:id="rId23"/>
    <p:sldId id="350" r:id="rId24"/>
    <p:sldId id="352" r:id="rId25"/>
    <p:sldId id="355" r:id="rId26"/>
    <p:sldId id="330" r:id="rId27"/>
    <p:sldId id="340" r:id="rId28"/>
    <p:sldId id="335" r:id="rId29"/>
    <p:sldId id="356" r:id="rId30"/>
    <p:sldId id="357" r:id="rId31"/>
    <p:sldId id="358" r:id="rId32"/>
    <p:sldId id="359" r:id="rId33"/>
    <p:sldId id="360" r:id="rId34"/>
    <p:sldId id="361" r:id="rId35"/>
    <p:sldId id="362" r:id="rId36"/>
    <p:sldId id="363" r:id="rId37"/>
    <p:sldId id="364" r:id="rId38"/>
    <p:sldId id="365" r:id="rId39"/>
    <p:sldId id="366" r:id="rId40"/>
    <p:sldId id="367" r:id="rId41"/>
    <p:sldId id="368" r:id="rId42"/>
    <p:sldId id="370" r:id="rId43"/>
    <p:sldId id="369" r:id="rId44"/>
    <p:sldId id="371" r:id="rId45"/>
    <p:sldId id="373" r:id="rId46"/>
    <p:sldId id="372" r:id="rId47"/>
    <p:sldId id="374" r:id="rId48"/>
    <p:sldId id="354" r:id="rId49"/>
    <p:sldId id="336" r:id="rId50"/>
    <p:sldId id="338" r:id="rId51"/>
    <p:sldId id="337" r:id="rId52"/>
    <p:sldId id="315" r:id="rId53"/>
    <p:sldId id="325" r:id="rId54"/>
    <p:sldId id="316" r:id="rId55"/>
    <p:sldId id="317" r:id="rId56"/>
    <p:sldId id="318" r:id="rId57"/>
    <p:sldId id="324" r:id="rId58"/>
    <p:sldId id="323" r:id="rId59"/>
    <p:sldId id="327" r:id="rId60"/>
    <p:sldId id="328" r:id="rId61"/>
    <p:sldId id="319" r:id="rId62"/>
    <p:sldId id="320" r:id="rId63"/>
    <p:sldId id="321" r:id="rId64"/>
    <p:sldId id="326" r:id="rId65"/>
    <p:sldId id="322" r:id="rId66"/>
    <p:sldId id="294" r:id="rId67"/>
    <p:sldId id="293" r:id="rId68"/>
    <p:sldId id="295" r:id="rId69"/>
    <p:sldId id="308" r:id="rId70"/>
    <p:sldId id="296" r:id="rId71"/>
    <p:sldId id="309" r:id="rId72"/>
    <p:sldId id="302" r:id="rId73"/>
    <p:sldId id="303" r:id="rId74"/>
    <p:sldId id="306" r:id="rId75"/>
    <p:sldId id="314" r:id="rId76"/>
    <p:sldId id="307" r:id="rId77"/>
    <p:sldId id="275" r:id="rId78"/>
  </p:sldIdLst>
  <p:sldSz cx="12192000" cy="6858000"/>
  <p:notesSz cx="6858000" cy="9144000"/>
  <p:embeddedFontLst>
    <p:embeddedFont>
      <p:font typeface="맑은 고딕" pitchFamily="50" charset="-127"/>
      <p:regular r:id="rId80"/>
      <p:bold r:id="rId81"/>
    </p:embeddedFont>
    <p:embeddedFont>
      <p:font typeface="HY견명조" pitchFamily="18" charset="-127"/>
      <p:regular r:id="rId82"/>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사용자" initials="W사" lastIdx="1" clrIdx="0">
    <p:extLst>
      <p:ext uri="{19B8F6BF-5375-455C-9EA6-DF929625EA0E}">
        <p15:presenceInfo xmlns:p15="http://schemas.microsoft.com/office/powerpoint/2012/main" xmlns="" userId="Windows 사용자" providerId="None"/>
      </p:ext>
    </p:extLst>
  </p:cmAuthor>
  <p:cmAuthor id="2" name="user" initials="u" lastIdx="19"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C10F"/>
    <a:srgbClr val="88B6E0"/>
    <a:srgbClr val="8EBA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344D84-9AFB-497E-A393-DC336BA19D2E}" styleName="보통 스타일 3 - 강조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215" autoAdjust="0"/>
    <p:restoredTop sz="94660" autoAdjust="0"/>
  </p:normalViewPr>
  <p:slideViewPr>
    <p:cSldViewPr snapToGrid="0">
      <p:cViewPr varScale="1">
        <p:scale>
          <a:sx n="73" d="100"/>
          <a:sy n="73" d="100"/>
        </p:scale>
        <p:origin x="-816" y="-90"/>
      </p:cViewPr>
      <p:guideLst>
        <p:guide orient="horz" pos="2160"/>
        <p:guide pos="3840"/>
      </p:guideLst>
    </p:cSldViewPr>
  </p:slideViewPr>
  <p:outlineViewPr>
    <p:cViewPr>
      <p:scale>
        <a:sx n="33" d="100"/>
        <a:sy n="33" d="100"/>
      </p:scale>
      <p:origin x="0" y="14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slide" Target="slides/slide66.xml"/><Relationship Id="rId76" Type="http://schemas.openxmlformats.org/officeDocument/2006/relationships/slide" Target="slides/slide74.xml"/><Relationship Id="rId84"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79" Type="http://schemas.openxmlformats.org/officeDocument/2006/relationships/notesMaster" Target="notesMasters/notesMaster1.xml"/><Relationship Id="rId87"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font" Target="fonts/font3.fntdata"/><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font" Target="fonts/font1.fntdata"/><Relationship Id="rId85"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font" Target="fonts/font2.fntdata"/><Relationship Id="rId86"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EB80D-BC7F-423F-9B95-3633B0A8F55B}" type="datetimeFigureOut">
              <a:rPr lang="ko-KR" altLang="en-US" smtClean="0"/>
              <a:t>2019-01-11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4FA5D-5FE6-4026-B2CA-93DADBB0FBE6}" type="slidenum">
              <a:rPr lang="ko-KR" altLang="en-US" smtClean="0"/>
              <a:t>‹#›</a:t>
            </a:fld>
            <a:endParaRPr lang="ko-KR" altLang="en-US"/>
          </a:p>
        </p:txBody>
      </p:sp>
    </p:spTree>
    <p:extLst>
      <p:ext uri="{BB962C8B-B14F-4D97-AF65-F5344CB8AC3E}">
        <p14:creationId xmlns:p14="http://schemas.microsoft.com/office/powerpoint/2010/main" val="8263453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1</a:t>
            </a:fld>
            <a:endParaRPr lang="ko-KR" altLang="en-US"/>
          </a:p>
        </p:txBody>
      </p:sp>
    </p:spTree>
    <p:extLst>
      <p:ext uri="{BB962C8B-B14F-4D97-AF65-F5344CB8AC3E}">
        <p14:creationId xmlns:p14="http://schemas.microsoft.com/office/powerpoint/2010/main" val="8672180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2</a:t>
            </a:fld>
            <a:endParaRPr lang="ko-KR" altLang="en-US"/>
          </a:p>
        </p:txBody>
      </p:sp>
    </p:spTree>
    <p:extLst>
      <p:ext uri="{BB962C8B-B14F-4D97-AF65-F5344CB8AC3E}">
        <p14:creationId xmlns:p14="http://schemas.microsoft.com/office/powerpoint/2010/main" val="4076130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EC3AB0CA-3A26-4F16-8C8D-1B3625A31A00}" type="datetime1">
              <a:rPr lang="ko-KR" altLang="en-US" smtClean="0"/>
              <a:t>2019-01-11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473838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7685CB9-AAEC-4501-983B-23D9B3A40981}" type="datetime1">
              <a:rPr lang="ko-KR" altLang="en-US" smtClean="0"/>
              <a:t>2019-01-11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2911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1D2FE8F3-BBC3-4016-B12E-DEE91B8C70D1}" type="datetime1">
              <a:rPr lang="ko-KR" altLang="en-US" smtClean="0"/>
              <a:t>2019-01-11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4859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666A834B-F951-4846-895A-0477317BA5B4}" type="datetime1">
              <a:rPr lang="ko-KR" altLang="en-US" smtClean="0"/>
              <a:t>2019-01-11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52698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B85590D-5B44-4A15-A6FA-238D48DB53C8}" type="datetime1">
              <a:rPr lang="ko-KR" altLang="en-US" smtClean="0"/>
              <a:t>2019-01-11</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1492631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E312041-A6D6-4EAF-81C3-6AF3590D9B2E}" type="datetime1">
              <a:rPr lang="ko-KR" altLang="en-US" smtClean="0"/>
              <a:t>2019-01-11</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980559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BE6731DD-6728-4529-B4AC-150F5EA6CDA5}" type="datetime1">
              <a:rPr lang="ko-KR" altLang="en-US" smtClean="0"/>
              <a:t>2019-01-11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53436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412BC3E-02B2-4BA3-88C6-D876B9132BEE}" type="datetime1">
              <a:rPr lang="ko-KR" altLang="en-US" smtClean="0"/>
              <a:t>2019-01-11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124902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A791F1B8-4AB0-450E-BA30-A393CBEEE0B9}" type="datetime1">
              <a:rPr lang="ko-KR" altLang="en-US" smtClean="0"/>
              <a:t>2019-01-11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7861540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96B5077E-4D09-4D7F-AED2-3ECFB52B4B2F}" type="datetime1">
              <a:rPr lang="ko-KR" altLang="en-US" smtClean="0"/>
              <a:t>2019-01-11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07545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804BD64-D2A7-4DBC-9C22-C35FF2171F88}" type="datetime1">
              <a:rPr lang="ko-KR" altLang="en-US" smtClean="0"/>
              <a:t>2019-01-11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35919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09789B80-0F68-4808-8308-7E8CB701F80B}"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692701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38146DA0-A543-443B-9976-4C13D64EFF49}"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03436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04E0AC1A-42E2-4BCB-8C04-467EB6812828}"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6363861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78C9E740-A4F3-48E1-ADE5-C768671A5022}"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502852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FB71890C-30A4-4F38-AE2E-EDCBC5B32417}"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8" name="바닥글 개체 틀 7"/>
          <p:cNvSpPr>
            <a:spLocks noGrp="1"/>
          </p:cNvSpPr>
          <p:nvPr>
            <p:ph type="ftr" sz="quarter" idx="11"/>
          </p:nvPr>
        </p:nvSpPr>
        <p:spPr/>
        <p:txBody>
          <a:bodyPr/>
          <a:lstStyle/>
          <a:p>
            <a:endParaRPr lang="ko-KR" altLang="en-US">
              <a:solidFill>
                <a:prstClr val="black">
                  <a:tint val="75000"/>
                </a:prstClr>
              </a:solidFill>
            </a:endParaRPr>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424856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62C9AAE-3A71-4E68-B2DF-A4796799849E}"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4" name="바닥글 개체 틀 3"/>
          <p:cNvSpPr>
            <a:spLocks noGrp="1"/>
          </p:cNvSpPr>
          <p:nvPr>
            <p:ph type="ftr" sz="quarter" idx="11"/>
          </p:nvPr>
        </p:nvSpPr>
        <p:spPr/>
        <p:txBody>
          <a:bodyPr/>
          <a:lstStyle/>
          <a:p>
            <a:endParaRPr lang="ko-KR" altLang="en-US">
              <a:solidFill>
                <a:prstClr val="black">
                  <a:tint val="75000"/>
                </a:prstClr>
              </a:solidFill>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837593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1B4F376A-881F-4F83-8BAA-2452AC86BF07}"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3" name="바닥글 개체 틀 2"/>
          <p:cNvSpPr>
            <a:spLocks noGrp="1"/>
          </p:cNvSpPr>
          <p:nvPr>
            <p:ph type="ftr" sz="quarter" idx="11"/>
          </p:nvPr>
        </p:nvSpPr>
        <p:spPr/>
        <p:txBody>
          <a:bodyPr/>
          <a:lstStyle/>
          <a:p>
            <a:endParaRPr lang="ko-KR" altLang="en-US">
              <a:solidFill>
                <a:prstClr val="black">
                  <a:tint val="75000"/>
                </a:prstClr>
              </a:solidFill>
            </a:endParaRPr>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4911532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77745D6-926D-49A4-A0BD-75E92CE8DBD3}"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8934710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8B1A9945-754F-4F4C-BDBA-3A0C250A3228}"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587428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8DF61253-3998-40D1-84D1-14DDCA9B525D}"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2647052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DC893902-BCC8-459F-A9CB-F37808573195}"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345848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784D16-1F4A-4F5E-B3BB-0CA00F5D809F}" type="datetime1">
              <a:rPr lang="ko-KR" altLang="en-US" smtClean="0"/>
              <a:t>2019-01-11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830809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3CA10-B9BB-4BE8-B178-00EC3ABEC49F}" type="datetime1">
              <a:rPr lang="ko-KR" altLang="en-US" smtClean="0">
                <a:solidFill>
                  <a:prstClr val="black">
                    <a:tint val="75000"/>
                  </a:prstClr>
                </a:solidFill>
              </a:rPr>
              <a:t>2019-01-11</a:t>
            </a:fld>
            <a:endParaRPr lang="ko-KR" altLang="en-US">
              <a:solidFill>
                <a:prstClr val="black">
                  <a:tint val="75000"/>
                </a:prstClr>
              </a:solidFill>
            </a:endParaRPr>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solidFill>
                <a:prstClr val="black">
                  <a:tint val="75000"/>
                </a:prstClr>
              </a:solidFill>
            </a:endParaRPr>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7733858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www.kukinews.com/news/article.html?no=467851" TargetMode="External"/><Relationship Id="rId7" Type="http://schemas.openxmlformats.org/officeDocument/2006/relationships/hyperlink" Target="https://minimap.net/game/dungeon-maker/review" TargetMode="External"/><Relationship Id="rId2" Type="http://schemas.openxmlformats.org/officeDocument/2006/relationships/hyperlink" Target="https://www.clien.net/service/board/park/12754454" TargetMode="External"/><Relationship Id="rId1" Type="http://schemas.openxmlformats.org/officeDocument/2006/relationships/slideLayout" Target="../slideLayouts/slideLayout2.xml"/><Relationship Id="rId6" Type="http://schemas.openxmlformats.org/officeDocument/2006/relationships/hyperlink" Target="https://entropymag.org/hobby-horse-anatomy-bawdy-and-body-in-the-binding-of-isaac-ch-3/" TargetMode="External"/><Relationship Id="rId5" Type="http://schemas.openxmlformats.org/officeDocument/2006/relationships/hyperlink" Target="https://steamcommunity.com/sharedfiles/filedetails/?id=396427946" TargetMode="External"/><Relationship Id="rId4" Type="http://schemas.openxmlformats.org/officeDocument/2006/relationships/hyperlink" Target="https://www.vingle.net/posts/2320991" TargetMode="External"/></Relationships>
</file>

<file path=ppt/slides/_rels/slide74.xml.rels><?xml version="1.0" encoding="UTF-8" standalone="yes"?>
<Relationships xmlns="http://schemas.openxmlformats.org/package/2006/relationships"><Relationship Id="rId8" Type="http://schemas.openxmlformats.org/officeDocument/2006/relationships/hyperlink" Target="https://taskandpurpose.com/xcom2-war-chosen-review/" TargetMode="External"/><Relationship Id="rId3" Type="http://schemas.openxmlformats.org/officeDocument/2006/relationships/hyperlink" Target="http://www.thisisgame.com/webzine/game/nboard/19/?page=13&amp;n=64534" TargetMode="External"/><Relationship Id="rId7" Type="http://schemas.openxmlformats.org/officeDocument/2006/relationships/hyperlink" Target="https://store.steampowered.com/app/785740/This_Is_the_Police_2/" TargetMode="External"/><Relationship Id="rId2" Type="http://schemas.openxmlformats.org/officeDocument/2006/relationships/hyperlink" Target="https://realust.tistory.com/506" TargetMode="External"/><Relationship Id="rId1" Type="http://schemas.openxmlformats.org/officeDocument/2006/relationships/slideLayout" Target="../slideLayouts/slideLayout2.xml"/><Relationship Id="rId6" Type="http://schemas.openxmlformats.org/officeDocument/2006/relationships/hyperlink" Target="http://www.thisisgame.com/mobile/nboard/1/?n=51285" TargetMode="External"/><Relationship Id="rId5" Type="http://schemas.openxmlformats.org/officeDocument/2006/relationships/hyperlink" Target="http://www.thisisgame.com/mobile/nboard/1/?n=55660&amp;mode=print" TargetMode="External"/><Relationship Id="rId4" Type="http://schemas.openxmlformats.org/officeDocument/2006/relationships/hyperlink" Target="http://www.thisisgame.com/pad/tboard/?board=37&amp;n=286482"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7" name="직선 연결선 6"/>
          <p:cNvCxnSpPr/>
          <p:nvPr/>
        </p:nvCxnSpPr>
        <p:spPr>
          <a:xfrm flipH="1">
            <a:off x="0" y="580571"/>
            <a:ext cx="12467772" cy="627742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3066386" y="3090656"/>
            <a:ext cx="6716243" cy="2906180"/>
            <a:chOff x="3066386" y="3090656"/>
            <a:chExt cx="6716243" cy="2906180"/>
          </a:xfrm>
          <a:solidFill>
            <a:schemeClr val="tx1"/>
          </a:solidFill>
        </p:grpSpPr>
        <p:sp>
          <p:nvSpPr>
            <p:cNvPr id="11" name="TextBox 10"/>
            <p:cNvSpPr txBox="1"/>
            <p:nvPr/>
          </p:nvSpPr>
          <p:spPr>
            <a:xfrm>
              <a:off x="3066386" y="3090656"/>
              <a:ext cx="6059229" cy="830997"/>
            </a:xfrm>
            <a:prstGeom prst="rect">
              <a:avLst/>
            </a:prstGeom>
            <a:grpFill/>
          </p:spPr>
          <p:txBody>
            <a:bodyPr wrap="square" rtlCol="0">
              <a:spAutoFit/>
            </a:bodyPr>
            <a:lstStyle/>
            <a:p>
              <a:pPr algn="ctr"/>
              <a:r>
                <a:rPr lang="en-US" altLang="ko-KR" sz="4800" i="1" spc="-150" dirty="0" smtClean="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rPr>
                <a:t>Dungeon Tamer</a:t>
              </a:r>
              <a:endParaRPr lang="ko-KR" altLang="en-US" sz="4800" i="1" spc="-150" dirty="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endParaRPr>
            </a:p>
          </p:txBody>
        </p:sp>
        <p:sp>
          <p:nvSpPr>
            <p:cNvPr id="9" name="TextBox 8"/>
            <p:cNvSpPr txBox="1"/>
            <p:nvPr/>
          </p:nvSpPr>
          <p:spPr>
            <a:xfrm>
              <a:off x="3066386" y="5658282"/>
              <a:ext cx="6716243" cy="338554"/>
            </a:xfrm>
            <a:prstGeom prst="rect">
              <a:avLst/>
            </a:prstGeom>
            <a:grpFill/>
          </p:spPr>
          <p:txBody>
            <a:bodyPr wrap="square" rtlCol="0">
              <a:spAutoFit/>
            </a:bodyPr>
            <a:lstStyle/>
            <a:p>
              <a:endParaRPr lang="ko-KR" altLang="en-US" sz="1600" b="1" dirty="0">
                <a:gradFill>
                  <a:gsLst>
                    <a:gs pos="0">
                      <a:schemeClr val="bg1"/>
                    </a:gs>
                    <a:gs pos="100000">
                      <a:schemeClr val="bg1"/>
                    </a:gs>
                  </a:gsLst>
                  <a:lin ang="5400000" scaled="1"/>
                </a:gradFill>
                <a:latin typeface="+mj-ea"/>
                <a:ea typeface="+mj-ea"/>
              </a:endParaRPr>
            </a:p>
          </p:txBody>
        </p:sp>
      </p:grpSp>
      <p:sp>
        <p:nvSpPr>
          <p:cNvPr id="5" name="직사각형 4"/>
          <p:cNvSpPr/>
          <p:nvPr/>
        </p:nvSpPr>
        <p:spPr>
          <a:xfrm>
            <a:off x="5164487" y="4596452"/>
            <a:ext cx="5834440" cy="923330"/>
          </a:xfrm>
          <a:prstGeom prst="rect">
            <a:avLst/>
          </a:prstGeom>
        </p:spPr>
        <p:txBody>
          <a:bodyPr wrap="square">
            <a:spAutoFit/>
          </a:bodyPr>
          <a:lstStyle/>
          <a:p>
            <a:r>
              <a:rPr lang="ko-KR" altLang="ko-KR" dirty="0">
                <a:solidFill>
                  <a:schemeClr val="bg1"/>
                </a:solidFill>
                <a:latin typeface="+mn-ea"/>
              </a:rPr>
              <a:t>던전을 탐험하며 몬스터를 물리치고</a:t>
            </a:r>
            <a:r>
              <a:rPr lang="en-US" altLang="ko-KR" dirty="0">
                <a:solidFill>
                  <a:schemeClr val="bg1"/>
                </a:solidFill>
                <a:latin typeface="+mn-ea"/>
              </a:rPr>
              <a:t>, </a:t>
            </a:r>
            <a:r>
              <a:rPr lang="ko-KR" altLang="ko-KR" dirty="0">
                <a:solidFill>
                  <a:schemeClr val="bg1"/>
                </a:solidFill>
                <a:latin typeface="+mn-ea"/>
              </a:rPr>
              <a:t>처치한 </a:t>
            </a:r>
            <a:r>
              <a:rPr lang="ko-KR" altLang="ko-KR" dirty="0" smtClean="0">
                <a:solidFill>
                  <a:schemeClr val="bg1"/>
                </a:solidFill>
                <a:latin typeface="+mn-ea"/>
              </a:rPr>
              <a:t>몬스터를</a:t>
            </a:r>
            <a:endParaRPr lang="en-US" altLang="ko-KR" dirty="0" smtClean="0">
              <a:solidFill>
                <a:schemeClr val="bg1"/>
              </a:solidFill>
              <a:latin typeface="+mn-ea"/>
            </a:endParaRPr>
          </a:p>
          <a:p>
            <a:r>
              <a:rPr lang="ko-KR" altLang="ko-KR" dirty="0" smtClean="0">
                <a:solidFill>
                  <a:schemeClr val="bg1"/>
                </a:solidFill>
                <a:latin typeface="+mn-ea"/>
              </a:rPr>
              <a:t>자신의 </a:t>
            </a:r>
            <a:r>
              <a:rPr lang="ko-KR" altLang="ko-KR" dirty="0">
                <a:solidFill>
                  <a:schemeClr val="bg1"/>
                </a:solidFill>
                <a:latin typeface="+mn-ea"/>
              </a:rPr>
              <a:t>것으로 만들어 </a:t>
            </a:r>
            <a:r>
              <a:rPr lang="ko-KR" altLang="en-US" dirty="0" smtClean="0">
                <a:solidFill>
                  <a:schemeClr val="bg1"/>
                </a:solidFill>
                <a:latin typeface="+mn-ea"/>
              </a:rPr>
              <a:t>다양한 전략적 조합을 편성</a:t>
            </a:r>
            <a:r>
              <a:rPr lang="ko-KR" altLang="ko-KR" dirty="0" smtClean="0">
                <a:solidFill>
                  <a:schemeClr val="bg1"/>
                </a:solidFill>
                <a:latin typeface="+mn-ea"/>
              </a:rPr>
              <a:t>하여</a:t>
            </a:r>
            <a:endParaRPr lang="en-US" altLang="ko-KR" dirty="0" smtClean="0">
              <a:solidFill>
                <a:schemeClr val="bg1"/>
              </a:solidFill>
              <a:latin typeface="+mn-ea"/>
            </a:endParaRPr>
          </a:p>
          <a:p>
            <a:r>
              <a:rPr lang="ko-KR" altLang="ko-KR" dirty="0" err="1" smtClean="0">
                <a:solidFill>
                  <a:schemeClr val="bg1"/>
                </a:solidFill>
                <a:latin typeface="+mn-ea"/>
              </a:rPr>
              <a:t>던전</a:t>
            </a:r>
            <a:r>
              <a:rPr lang="ko-KR" altLang="ko-KR" dirty="0" smtClean="0">
                <a:solidFill>
                  <a:schemeClr val="bg1"/>
                </a:solidFill>
                <a:latin typeface="+mn-ea"/>
              </a:rPr>
              <a:t> </a:t>
            </a:r>
            <a:r>
              <a:rPr lang="ko-KR" altLang="ko-KR" dirty="0" err="1">
                <a:solidFill>
                  <a:schemeClr val="bg1"/>
                </a:solidFill>
                <a:latin typeface="+mn-ea"/>
              </a:rPr>
              <a:t>최심부까지</a:t>
            </a:r>
            <a:r>
              <a:rPr lang="ko-KR" altLang="ko-KR" dirty="0">
                <a:solidFill>
                  <a:schemeClr val="bg1"/>
                </a:solidFill>
                <a:latin typeface="+mn-ea"/>
              </a:rPr>
              <a:t> 정복하는 </a:t>
            </a:r>
            <a:r>
              <a:rPr lang="ko-KR" altLang="en-US" dirty="0" err="1" smtClean="0">
                <a:solidFill>
                  <a:schemeClr val="bg1"/>
                </a:solidFill>
                <a:latin typeface="+mn-ea"/>
              </a:rPr>
              <a:t>로그라이크</a:t>
            </a:r>
            <a:r>
              <a:rPr lang="ko-KR" altLang="ko-KR" dirty="0" smtClean="0">
                <a:solidFill>
                  <a:schemeClr val="bg1"/>
                </a:solidFill>
                <a:latin typeface="+mn-ea"/>
              </a:rPr>
              <a:t> </a:t>
            </a:r>
            <a:r>
              <a:rPr lang="ko-KR" altLang="en-US" dirty="0" err="1" smtClean="0">
                <a:solidFill>
                  <a:schemeClr val="bg1"/>
                </a:solidFill>
                <a:latin typeface="+mn-ea"/>
              </a:rPr>
              <a:t>턴제</a:t>
            </a:r>
            <a:r>
              <a:rPr lang="ko-KR" altLang="en-US" dirty="0" smtClean="0">
                <a:solidFill>
                  <a:schemeClr val="bg1"/>
                </a:solidFill>
                <a:latin typeface="+mn-ea"/>
              </a:rPr>
              <a:t> </a:t>
            </a:r>
            <a:r>
              <a:rPr lang="en-US" altLang="ko-KR" dirty="0" smtClean="0">
                <a:solidFill>
                  <a:schemeClr val="bg1"/>
                </a:solidFill>
                <a:latin typeface="+mn-ea"/>
              </a:rPr>
              <a:t>RPG </a:t>
            </a:r>
            <a:r>
              <a:rPr lang="ko-KR" altLang="ko-KR" dirty="0">
                <a:solidFill>
                  <a:schemeClr val="bg1"/>
                </a:solidFill>
                <a:latin typeface="+mn-ea"/>
              </a:rPr>
              <a:t>게임</a:t>
            </a: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a:t>
            </a:fld>
            <a:endParaRPr lang="ko-KR" altLang="en-US" sz="1800" dirty="0"/>
          </a:p>
        </p:txBody>
      </p:sp>
    </p:spTree>
    <p:extLst>
      <p:ext uri="{BB962C8B-B14F-4D97-AF65-F5344CB8AC3E}">
        <p14:creationId xmlns:p14="http://schemas.microsoft.com/office/powerpoint/2010/main" val="30321945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27868" y="628787"/>
            <a:ext cx="7599138"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   〮〮〮〮〮〮〮〮〮〮〮〮〮〮〮〮〮〮〮〮〮〮〮〮〮〮〮〮〮〮〮〮〮〮〮〮〮〮〮  </a:t>
            </a:r>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4127868" y="3024604"/>
            <a:ext cx="7599137"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TextBox 40"/>
          <p:cNvSpPr txBox="1"/>
          <p:nvPr/>
        </p:nvSpPr>
        <p:spPr>
          <a:xfrm>
            <a:off x="5470435" y="352959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4" name="TextBox 43"/>
          <p:cNvSpPr txBox="1"/>
          <p:nvPr/>
        </p:nvSpPr>
        <p:spPr>
          <a:xfrm>
            <a:off x="5470435" y="409263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2-2.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5" name="TextBox 44"/>
          <p:cNvSpPr txBox="1"/>
          <p:nvPr/>
        </p:nvSpPr>
        <p:spPr>
          <a:xfrm>
            <a:off x="5468973" y="465331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a:t>
            </a:r>
            <a:r>
              <a:rPr lang="ko-KR" altLang="en-US" sz="2200" b="1" dirty="0" smtClean="0">
                <a:gradFill>
                  <a:gsLst>
                    <a:gs pos="0">
                      <a:schemeClr val="tx1"/>
                    </a:gs>
                    <a:gs pos="100000">
                      <a:schemeClr val="tx1"/>
                    </a:gs>
                  </a:gsLst>
                  <a:lin ang="5400000" scaled="1"/>
                </a:gradFill>
                <a:latin typeface="맑은 고딕" panose="020B0503020000020004" pitchFamily="50" charset="-127"/>
              </a:rPr>
              <a:t>캐릭터와 몬스터</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a:t>
            </a:fld>
            <a:endParaRPr lang="ko-KR" altLang="en-US" sz="1800" dirty="0"/>
          </a:p>
        </p:txBody>
      </p:sp>
      <p:sp>
        <p:nvSpPr>
          <p:cNvPr id="18" name="TextBox 17"/>
          <p:cNvSpPr txBox="1"/>
          <p:nvPr/>
        </p:nvSpPr>
        <p:spPr>
          <a:xfrm>
            <a:off x="5470434" y="120081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70434" y="176385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68972" y="23245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5468971" y="5230874"/>
            <a:ext cx="4862402"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rPr>
              <a:t>2-4. </a:t>
            </a:r>
            <a:r>
              <a:rPr lang="ko-KR" altLang="en-US" sz="2200" b="1" dirty="0" err="1">
                <a:gradFill>
                  <a:gsLst>
                    <a:gs pos="0">
                      <a:schemeClr val="tx1"/>
                    </a:gs>
                    <a:gs pos="100000">
                      <a:schemeClr val="tx1"/>
                    </a:gs>
                  </a:gsLst>
                  <a:lin ang="5400000" scaled="1"/>
                </a:gradFill>
                <a:latin typeface="맑은 고딕" panose="020B0503020000020004" pitchFamily="50" charset="-127"/>
              </a:rPr>
              <a:t>테이밍과</a:t>
            </a:r>
            <a:r>
              <a:rPr lang="ko-KR" altLang="en-US" sz="2200" b="1" dirty="0">
                <a:gradFill>
                  <a:gsLst>
                    <a:gs pos="0">
                      <a:schemeClr val="tx1"/>
                    </a:gs>
                    <a:gs pos="100000">
                      <a:schemeClr val="tx1"/>
                    </a:gs>
                  </a:gsLst>
                  <a:lin ang="5400000" scaled="1"/>
                </a:gradFill>
                <a:latin typeface="맑은 고딕" panose="020B0503020000020004" pitchFamily="50" charset="-127"/>
              </a:rPr>
              <a:t> 육성 시스템</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4" name="TextBox 23"/>
          <p:cNvSpPr txBox="1"/>
          <p:nvPr/>
        </p:nvSpPr>
        <p:spPr>
          <a:xfrm>
            <a:off x="5468971" y="579113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58336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151583" y="4462788"/>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492688" y="503730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5492688" y="563494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5492687" y="115976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6" name="TextBox 25"/>
          <p:cNvSpPr txBox="1"/>
          <p:nvPr/>
        </p:nvSpPr>
        <p:spPr>
          <a:xfrm>
            <a:off x="5492687" y="173179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230935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9" name="TextBox 28"/>
          <p:cNvSpPr txBox="1"/>
          <p:nvPr/>
        </p:nvSpPr>
        <p:spPr>
          <a:xfrm>
            <a:off x="5492687" y="288392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92687" y="3455947"/>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3104110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218259" y="626716"/>
            <a:ext cx="751725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29p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TextBox 27"/>
          <p:cNvSpPr txBox="1"/>
          <p:nvPr/>
        </p:nvSpPr>
        <p:spPr>
          <a:xfrm>
            <a:off x="4218258" y="1934167"/>
            <a:ext cx="769467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a:t>
            </a:fld>
            <a:endParaRPr lang="ko-KR" altLang="en-US" sz="1800" dirty="0"/>
          </a:p>
        </p:txBody>
      </p:sp>
    </p:spTree>
    <p:extLst>
      <p:ext uri="{BB962C8B-B14F-4D97-AF65-F5344CB8AC3E}">
        <p14:creationId xmlns:p14="http://schemas.microsoft.com/office/powerpoint/2010/main" val="108121175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기획 컨셉 및 개요</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5</a:t>
            </a:fld>
            <a:endParaRPr lang="ko-KR" altLang="en-US" dirty="0">
              <a:solidFill>
                <a:prstClr val="black">
                  <a:tint val="75000"/>
                </a:prstClr>
              </a:solidFill>
            </a:endParaRPr>
          </a:p>
        </p:txBody>
      </p:sp>
    </p:spTree>
    <p:extLst>
      <p:ext uri="{BB962C8B-B14F-4D97-AF65-F5344CB8AC3E}">
        <p14:creationId xmlns:p14="http://schemas.microsoft.com/office/powerpoint/2010/main" val="7959230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5" name="TextBox 4"/>
          <p:cNvSpPr txBox="1"/>
          <p:nvPr/>
        </p:nvSpPr>
        <p:spPr>
          <a:xfrm>
            <a:off x="4699192" y="620053"/>
            <a:ext cx="23086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4949374" y="1151764"/>
            <a:ext cx="6924178" cy="1269578"/>
          </a:xfrm>
          <a:prstGeom prst="rect">
            <a:avLst/>
          </a:prstGeom>
          <a:noFill/>
        </p:spPr>
        <p:txBody>
          <a:bodyPr wrap="square" rtlCol="0">
            <a:spAutoFit/>
          </a:bodyPr>
          <a:lstStyle/>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플레이어가 선택할 캐릭터와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테이밍할</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수 있는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몬스터들을</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중심으로</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각각의 특징과 능력에 따른 다양한 조합과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임의 전략적 플레이에서 기인하는 재미를 구체적으로 제시하는 데에 중점을 둔다</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22991" y="2818021"/>
            <a:ext cx="24610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3" name="표 2"/>
          <p:cNvGraphicFramePr>
            <a:graphicFrameLocks noGrp="1"/>
          </p:cNvGraphicFramePr>
          <p:nvPr>
            <p:extLst>
              <p:ext uri="{D42A27DB-BD31-4B8C-83A1-F6EECF244321}">
                <p14:modId xmlns:p14="http://schemas.microsoft.com/office/powerpoint/2010/main" val="2555973262"/>
              </p:ext>
            </p:extLst>
          </p:nvPr>
        </p:nvGraphicFramePr>
        <p:xfrm>
          <a:off x="4949374" y="3443220"/>
          <a:ext cx="6995883" cy="2595880"/>
        </p:xfrm>
        <a:graphic>
          <a:graphicData uri="http://schemas.openxmlformats.org/drawingml/2006/table">
            <a:tbl>
              <a:tblPr firstRow="1" bandRow="1">
                <a:tableStyleId>{073A0DAA-6AF3-43AB-8588-CEC1D06C72B9}</a:tableStyleId>
              </a:tblPr>
              <a:tblGrid>
                <a:gridCol w="1804448">
                  <a:extLst>
                    <a:ext uri="{9D8B030D-6E8A-4147-A177-3AD203B41FA5}">
                      <a16:colId xmlns:a16="http://schemas.microsoft.com/office/drawing/2014/main" xmlns="" val="3475047078"/>
                    </a:ext>
                  </a:extLst>
                </a:gridCol>
                <a:gridCol w="5191435">
                  <a:extLst>
                    <a:ext uri="{9D8B030D-6E8A-4147-A177-3AD203B41FA5}">
                      <a16:colId xmlns:a16="http://schemas.microsoft.com/office/drawing/2014/main" xmlns="" val="1305153539"/>
                    </a:ext>
                  </a:extLst>
                </a:gridCol>
              </a:tblGrid>
              <a:tr h="370840">
                <a:tc gridSpan="2">
                  <a:txBody>
                    <a:bodyPr/>
                    <a:lstStyle/>
                    <a:p>
                      <a:pPr algn="ctr" latinLnBrk="1"/>
                      <a:r>
                        <a:rPr lang="ko-KR" altLang="en-US" dirty="0" smtClean="0"/>
                        <a:t>개요</a:t>
                      </a:r>
                      <a:endParaRPr lang="ko-KR" altLang="en-US" dirty="0"/>
                    </a:p>
                  </a:txBody>
                  <a:tcPr anchor="ctr"/>
                </a:tc>
                <a:tc hMerge="1">
                  <a:txBody>
                    <a:bodyPr/>
                    <a:lstStyle/>
                    <a:p>
                      <a:pPr latinLnBrk="1"/>
                      <a:endParaRPr lang="ko-KR" altLang="en-US" dirty="0"/>
                    </a:p>
                  </a:txBody>
                  <a:tcPr/>
                </a:tc>
                <a:extLst>
                  <a:ext uri="{0D108BD9-81ED-4DB2-BD59-A6C34878D82A}">
                    <a16:rowId xmlns:a16="http://schemas.microsoft.com/office/drawing/2014/main" xmlns="" val="1178596490"/>
                  </a:ext>
                </a:extLst>
              </a:tr>
              <a:tr h="370840">
                <a:tc>
                  <a:txBody>
                    <a:bodyPr/>
                    <a:lstStyle/>
                    <a:p>
                      <a:pPr algn="ctr" latinLnBrk="1"/>
                      <a:r>
                        <a:rPr lang="ko-KR" altLang="en-US" dirty="0" smtClean="0"/>
                        <a:t>제목</a:t>
                      </a:r>
                      <a:endParaRPr lang="ko-KR" altLang="en-US" dirty="0"/>
                    </a:p>
                  </a:txBody>
                  <a:tcPr anchor="ctr"/>
                </a:tc>
                <a:tc>
                  <a:txBody>
                    <a:bodyPr/>
                    <a:lstStyle/>
                    <a:p>
                      <a:pPr algn="ctr" latinLnBrk="1"/>
                      <a:r>
                        <a:rPr lang="en-US" altLang="ko-KR" dirty="0" smtClean="0"/>
                        <a:t>Dungeon</a:t>
                      </a:r>
                      <a:r>
                        <a:rPr lang="en-US" altLang="ko-KR" baseline="0" dirty="0" smtClean="0"/>
                        <a:t> Tamer</a:t>
                      </a:r>
                      <a:endParaRPr lang="ko-KR" altLang="en-US" dirty="0"/>
                    </a:p>
                  </a:txBody>
                  <a:tcPr anchor="ctr"/>
                </a:tc>
                <a:extLst>
                  <a:ext uri="{0D108BD9-81ED-4DB2-BD59-A6C34878D82A}">
                    <a16:rowId xmlns:a16="http://schemas.microsoft.com/office/drawing/2014/main" xmlns="" val="1039901684"/>
                  </a:ext>
                </a:extLst>
              </a:tr>
              <a:tr h="370840">
                <a:tc>
                  <a:txBody>
                    <a:bodyPr/>
                    <a:lstStyle/>
                    <a:p>
                      <a:pPr algn="ctr" latinLnBrk="1"/>
                      <a:r>
                        <a:rPr lang="ko-KR" altLang="en-US" dirty="0" smtClean="0"/>
                        <a:t>장르</a:t>
                      </a:r>
                      <a:endParaRPr lang="ko-KR" altLang="en-US" dirty="0"/>
                    </a:p>
                  </a:txBody>
                  <a:tcPr anchor="ctr"/>
                </a:tc>
                <a:tc>
                  <a:txBody>
                    <a:bodyPr/>
                    <a:lstStyle/>
                    <a:p>
                      <a:pPr algn="ctr" latinLnBrk="1"/>
                      <a:r>
                        <a:rPr lang="en-US" altLang="ko-KR" dirty="0" smtClean="0"/>
                        <a:t>2D TRPG</a:t>
                      </a:r>
                      <a:endParaRPr lang="ko-KR" altLang="en-US" dirty="0"/>
                    </a:p>
                  </a:txBody>
                  <a:tcPr anchor="ctr"/>
                </a:tc>
                <a:extLst>
                  <a:ext uri="{0D108BD9-81ED-4DB2-BD59-A6C34878D82A}">
                    <a16:rowId xmlns:a16="http://schemas.microsoft.com/office/drawing/2014/main" xmlns="" val="1243071007"/>
                  </a:ext>
                </a:extLst>
              </a:tr>
              <a:tr h="370840">
                <a:tc>
                  <a:txBody>
                    <a:bodyPr/>
                    <a:lstStyle/>
                    <a:p>
                      <a:pPr algn="ctr" latinLnBrk="1"/>
                      <a:r>
                        <a:rPr lang="ko-KR" altLang="en-US" dirty="0" smtClean="0"/>
                        <a:t>플랫폼</a:t>
                      </a:r>
                      <a:endParaRPr lang="ko-KR" altLang="en-US" dirty="0"/>
                    </a:p>
                  </a:txBody>
                  <a:tcPr anchor="ctr"/>
                </a:tc>
                <a:tc>
                  <a:txBody>
                    <a:bodyPr/>
                    <a:lstStyle/>
                    <a:p>
                      <a:pPr algn="ctr" latinLnBrk="1"/>
                      <a:r>
                        <a:rPr lang="en-US" altLang="ko-KR" dirty="0" smtClean="0"/>
                        <a:t>PC, PS4,</a:t>
                      </a:r>
                      <a:r>
                        <a:rPr lang="en-US" altLang="ko-KR" baseline="0" dirty="0" smtClean="0"/>
                        <a:t> XB1, NSW</a:t>
                      </a:r>
                      <a:endParaRPr lang="ko-KR" altLang="en-US" dirty="0"/>
                    </a:p>
                  </a:txBody>
                  <a:tcPr anchor="ctr"/>
                </a:tc>
                <a:extLst>
                  <a:ext uri="{0D108BD9-81ED-4DB2-BD59-A6C34878D82A}">
                    <a16:rowId xmlns:a16="http://schemas.microsoft.com/office/drawing/2014/main" xmlns="" val="3415024306"/>
                  </a:ext>
                </a:extLst>
              </a:tr>
              <a:tr h="370840">
                <a:tc>
                  <a:txBody>
                    <a:bodyPr/>
                    <a:lstStyle/>
                    <a:p>
                      <a:pPr algn="ctr" latinLnBrk="1"/>
                      <a:r>
                        <a:rPr lang="ko-KR" altLang="en-US" dirty="0" smtClean="0"/>
                        <a:t>플레이 유형</a:t>
                      </a:r>
                      <a:endParaRPr lang="ko-KR" altLang="en-US" dirty="0"/>
                    </a:p>
                  </a:txBody>
                  <a:tcPr anchor="ctr"/>
                </a:tc>
                <a:tc>
                  <a:txBody>
                    <a:bodyPr/>
                    <a:lstStyle/>
                    <a:p>
                      <a:pPr algn="ctr" latinLnBrk="1"/>
                      <a:r>
                        <a:rPr lang="ko-KR" altLang="en-US" dirty="0" smtClean="0"/>
                        <a:t>싱글 플레이</a:t>
                      </a:r>
                      <a:endParaRPr lang="ko-KR" altLang="en-US" dirty="0"/>
                    </a:p>
                  </a:txBody>
                  <a:tcPr anchor="ctr"/>
                </a:tc>
                <a:extLst>
                  <a:ext uri="{0D108BD9-81ED-4DB2-BD59-A6C34878D82A}">
                    <a16:rowId xmlns:a16="http://schemas.microsoft.com/office/drawing/2014/main" xmlns="" val="3365250972"/>
                  </a:ext>
                </a:extLst>
              </a:tr>
              <a:tr h="741680">
                <a:tc>
                  <a:txBody>
                    <a:bodyPr/>
                    <a:lstStyle/>
                    <a:p>
                      <a:pPr algn="ctr" latinLnBrk="1"/>
                      <a:r>
                        <a:rPr lang="ko-KR" altLang="en-US" dirty="0" smtClean="0"/>
                        <a:t>주 타겟 유저</a:t>
                      </a:r>
                      <a:endParaRPr lang="ko-KR" altLang="en-US" dirty="0"/>
                    </a:p>
                  </a:txBody>
                  <a:tcPr anchor="ctr"/>
                </a:tc>
                <a:tc>
                  <a:txBody>
                    <a:bodyPr/>
                    <a:lstStyle/>
                    <a:p>
                      <a:pPr algn="ctr" latinLnBrk="1"/>
                      <a:r>
                        <a:rPr lang="ko-KR" altLang="en-US" dirty="0" smtClean="0"/>
                        <a:t>턴 방식의 전략 게임과 </a:t>
                      </a:r>
                      <a:r>
                        <a:rPr lang="ko-KR" altLang="en-US" dirty="0" err="1" smtClean="0"/>
                        <a:t>로그라이크</a:t>
                      </a:r>
                      <a:r>
                        <a:rPr lang="ko-KR" altLang="en-US" dirty="0" smtClean="0"/>
                        <a:t> 장르를</a:t>
                      </a:r>
                      <a:r>
                        <a:rPr lang="ko-KR" altLang="en-US" baseline="0" dirty="0" smtClean="0"/>
                        <a:t> </a:t>
                      </a:r>
                      <a:endParaRPr lang="en-US" altLang="ko-KR" baseline="0" dirty="0" smtClean="0"/>
                    </a:p>
                    <a:p>
                      <a:pPr algn="ctr" latinLnBrk="1"/>
                      <a:r>
                        <a:rPr lang="ko-KR" altLang="en-US" baseline="0" dirty="0" smtClean="0"/>
                        <a:t>선호하는 </a:t>
                      </a:r>
                      <a:r>
                        <a:rPr lang="en-US" altLang="ko-KR" dirty="0" smtClean="0"/>
                        <a:t>10~30</a:t>
                      </a:r>
                      <a:r>
                        <a:rPr lang="ko-KR" altLang="en-US" dirty="0" smtClean="0"/>
                        <a:t>대 게이머</a:t>
                      </a:r>
                      <a:endParaRPr lang="ko-KR" altLang="en-US" dirty="0"/>
                    </a:p>
                  </a:txBody>
                  <a:tcPr anchor="ctr"/>
                </a:tc>
                <a:extLst>
                  <a:ext uri="{0D108BD9-81ED-4DB2-BD59-A6C34878D82A}">
                    <a16:rowId xmlns:a16="http://schemas.microsoft.com/office/drawing/2014/main" xmlns="" val="1780395460"/>
                  </a:ext>
                </a:extLst>
              </a:tr>
            </a:tbl>
          </a:graphicData>
        </a:graphic>
      </p:graphicFrame>
      <p:sp>
        <p:nvSpPr>
          <p:cNvPr id="7" name="슬라이드 번호 개체 틀 6"/>
          <p:cNvSpPr>
            <a:spLocks noGrp="1"/>
          </p:cNvSpPr>
          <p:nvPr>
            <p:ph type="sldNum" sz="quarter" idx="12"/>
          </p:nvPr>
        </p:nvSpPr>
        <p:spPr/>
        <p:txBody>
          <a:bodyPr/>
          <a:lstStyle/>
          <a:p>
            <a:fld id="{95F8FB6C-4300-4EF3-AEA9-23A98D8A74E1}" type="slidenum">
              <a:rPr lang="ko-KR" altLang="en-US" sz="1800" smtClean="0"/>
              <a:t>6</a:t>
            </a:fld>
            <a:endParaRPr lang="ko-KR" altLang="en-US" sz="1800"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0266" y="777408"/>
            <a:ext cx="4196874" cy="2362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1155469" y="3125709"/>
            <a:ext cx="294270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1 - 1)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턴제</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전투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1155469" y="6125918"/>
            <a:ext cx="294270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1 - 2)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조합과  상성이  있는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031" name="Picture 7"/>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339071" y="3640508"/>
            <a:ext cx="4199265" cy="2360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35706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a:gradFill>
                  <a:gsLst>
                    <a:gs pos="0">
                      <a:schemeClr val="tx1"/>
                    </a:gs>
                    <a:gs pos="100000">
                      <a:schemeClr val="tx1"/>
                    </a:gs>
                  </a:gsLst>
                  <a:lin ang="5400000" scaled="1"/>
                </a:gradFill>
                <a:latin typeface="맑은 고딕" panose="020B0503020000020004" pitchFamily="50" charset="-127"/>
              </a:rPr>
              <a:t>기획 컨셉 및 </a:t>
            </a:r>
            <a:r>
              <a:rPr lang="ko-KR" altLang="en-US" b="1" dirty="0" smtClean="0">
                <a:gradFill>
                  <a:gsLst>
                    <a:gs pos="0">
                      <a:schemeClr val="tx1"/>
                    </a:gs>
                    <a:gs pos="100000">
                      <a:schemeClr val="tx1"/>
                    </a:gs>
                  </a:gsLst>
                  <a:lin ang="5400000" scaled="1"/>
                </a:gradFill>
                <a:latin typeface="맑은 고딕" panose="020B0503020000020004" pitchFamily="50" charset="-127"/>
              </a:rPr>
              <a:t>개요</a:t>
            </a:r>
            <a:endParaRPr lang="ko-KR" altLang="en-US" b="1" dirty="0">
              <a:gradFill>
                <a:gsLst>
                  <a:gs pos="0">
                    <a:schemeClr val="tx1"/>
                  </a:gs>
                  <a:gs pos="100000">
                    <a:schemeClr val="tx1"/>
                  </a:gs>
                </a:gsLst>
                <a:lin ang="5400000" scaled="1"/>
              </a:gradFill>
              <a:latin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54747" y="1257383"/>
            <a:ext cx="2322282"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7" name="표 6"/>
          <p:cNvGraphicFramePr>
            <a:graphicFrameLocks noGrp="1"/>
          </p:cNvGraphicFramePr>
          <p:nvPr>
            <p:extLst>
              <p:ext uri="{D42A27DB-BD31-4B8C-83A1-F6EECF244321}">
                <p14:modId xmlns:p14="http://schemas.microsoft.com/office/powerpoint/2010/main" val="276476328"/>
              </p:ext>
            </p:extLst>
          </p:nvPr>
        </p:nvGraphicFramePr>
        <p:xfrm>
          <a:off x="754747" y="1894709"/>
          <a:ext cx="10609938" cy="3421728"/>
        </p:xfrm>
        <a:graphic>
          <a:graphicData uri="http://schemas.openxmlformats.org/drawingml/2006/table">
            <a:tbl>
              <a:tblPr firstRow="1" bandRow="1">
                <a:tableStyleId>{073A0DAA-6AF3-43AB-8588-CEC1D06C72B9}</a:tableStyleId>
              </a:tblPr>
              <a:tblGrid>
                <a:gridCol w="1712682">
                  <a:extLst>
                    <a:ext uri="{9D8B030D-6E8A-4147-A177-3AD203B41FA5}">
                      <a16:colId xmlns:a16="http://schemas.microsoft.com/office/drawing/2014/main" xmlns="" val="389885132"/>
                    </a:ext>
                  </a:extLst>
                </a:gridCol>
                <a:gridCol w="3991428">
                  <a:extLst>
                    <a:ext uri="{9D8B030D-6E8A-4147-A177-3AD203B41FA5}">
                      <a16:colId xmlns:a16="http://schemas.microsoft.com/office/drawing/2014/main" xmlns="" val="2257908711"/>
                    </a:ext>
                  </a:extLst>
                </a:gridCol>
                <a:gridCol w="4905828">
                  <a:extLst>
                    <a:ext uri="{9D8B030D-6E8A-4147-A177-3AD203B41FA5}">
                      <a16:colId xmlns:a16="http://schemas.microsoft.com/office/drawing/2014/main" xmlns="" val="4230724851"/>
                    </a:ext>
                  </a:extLst>
                </a:gridCol>
              </a:tblGrid>
              <a:tr h="570288">
                <a:tc>
                  <a:txBody>
                    <a:bodyPr/>
                    <a:lstStyle/>
                    <a:p>
                      <a:pPr algn="ctr" latinLnBrk="1"/>
                      <a:r>
                        <a:rPr lang="en-US" altLang="ko-KR" dirty="0" smtClean="0"/>
                        <a:t>Requirements</a:t>
                      </a:r>
                      <a:endParaRPr lang="ko-KR" altLang="en-US" dirty="0"/>
                    </a:p>
                  </a:txBody>
                  <a:tcPr anchor="ctr"/>
                </a:tc>
                <a:tc>
                  <a:txBody>
                    <a:bodyPr/>
                    <a:lstStyle/>
                    <a:p>
                      <a:pPr algn="ctr" latinLnBrk="1"/>
                      <a:r>
                        <a:rPr lang="en-US" altLang="ko-KR" dirty="0" smtClean="0"/>
                        <a:t>Minimum</a:t>
                      </a:r>
                      <a:endParaRPr lang="ko-KR" altLang="en-US" dirty="0"/>
                    </a:p>
                  </a:txBody>
                  <a:tcPr anchor="ctr"/>
                </a:tc>
                <a:tc>
                  <a:txBody>
                    <a:bodyPr/>
                    <a:lstStyle/>
                    <a:p>
                      <a:pPr algn="ctr" latinLnBrk="1"/>
                      <a:r>
                        <a:rPr lang="en-US" altLang="ko-KR" dirty="0" smtClean="0"/>
                        <a:t>Recommended</a:t>
                      </a:r>
                      <a:endParaRPr lang="ko-KR" altLang="en-US" dirty="0"/>
                    </a:p>
                  </a:txBody>
                  <a:tcPr anchor="ctr"/>
                </a:tc>
                <a:extLst>
                  <a:ext uri="{0D108BD9-81ED-4DB2-BD59-A6C34878D82A}">
                    <a16:rowId xmlns:a16="http://schemas.microsoft.com/office/drawing/2014/main" xmlns="" val="2153952193"/>
                  </a:ext>
                </a:extLst>
              </a:tr>
              <a:tr h="570288">
                <a:tc>
                  <a:txBody>
                    <a:bodyPr/>
                    <a:lstStyle/>
                    <a:p>
                      <a:pPr algn="ctr" latinLnBrk="1"/>
                      <a:r>
                        <a:rPr lang="en-US" altLang="ko-KR" dirty="0" smtClean="0"/>
                        <a:t>OS</a:t>
                      </a:r>
                      <a:endParaRPr lang="ko-KR" altLang="en-US" dirty="0"/>
                    </a:p>
                  </a:txBody>
                  <a:tcPr anchor="ctr"/>
                </a:tc>
                <a:tc>
                  <a:txBody>
                    <a:bodyPr/>
                    <a:lstStyle/>
                    <a:p>
                      <a:pPr algn="ctr" latinLnBrk="1"/>
                      <a:r>
                        <a:rPr lang="en-US" altLang="ko-KR" dirty="0" smtClean="0"/>
                        <a:t>Windows 7+</a:t>
                      </a:r>
                      <a:endParaRPr lang="ko-KR" altLang="en-US" dirty="0"/>
                    </a:p>
                  </a:txBody>
                  <a:tcPr anchor="ctr"/>
                </a:tc>
                <a:tc>
                  <a:txBody>
                    <a:bodyPr/>
                    <a:lstStyle/>
                    <a:p>
                      <a:pPr algn="ctr" latinLnBrk="1"/>
                      <a:r>
                        <a:rPr lang="en-US" altLang="ko-KR" dirty="0" smtClean="0"/>
                        <a:t>Windows 7+</a:t>
                      </a:r>
                      <a:endParaRPr lang="ko-KR" altLang="en-US" dirty="0"/>
                    </a:p>
                  </a:txBody>
                  <a:tcPr anchor="ctr"/>
                </a:tc>
                <a:extLst>
                  <a:ext uri="{0D108BD9-81ED-4DB2-BD59-A6C34878D82A}">
                    <a16:rowId xmlns:a16="http://schemas.microsoft.com/office/drawing/2014/main" xmlns="" val="1269054755"/>
                  </a:ext>
                </a:extLst>
              </a:tr>
              <a:tr h="570288">
                <a:tc>
                  <a:txBody>
                    <a:bodyPr/>
                    <a:lstStyle/>
                    <a:p>
                      <a:pPr algn="ctr" latinLnBrk="1"/>
                      <a:r>
                        <a:rPr lang="en-US" altLang="ko-KR" dirty="0" smtClean="0"/>
                        <a:t>Processor</a:t>
                      </a:r>
                      <a:endParaRPr lang="ko-KR" altLang="en-US" dirty="0"/>
                    </a:p>
                  </a:txBody>
                  <a:tcPr anchor="ctr"/>
                </a:tc>
                <a:tc>
                  <a:txBody>
                    <a:bodyPr/>
                    <a:lstStyle/>
                    <a:p>
                      <a:pPr algn="ctr" latinLnBrk="1"/>
                      <a:r>
                        <a:rPr lang="en-US" altLang="ko-KR" dirty="0" smtClean="0"/>
                        <a:t>Dual core</a:t>
                      </a:r>
                      <a:r>
                        <a:rPr lang="en-US" altLang="ko-KR" baseline="0" dirty="0" smtClean="0"/>
                        <a:t> </a:t>
                      </a:r>
                      <a:r>
                        <a:rPr lang="en-US" altLang="ko-KR" dirty="0" smtClean="0"/>
                        <a:t>2.6 </a:t>
                      </a:r>
                      <a:r>
                        <a:rPr lang="en-US" altLang="ko-KR" dirty="0" err="1" smtClean="0"/>
                        <a:t>ghz</a:t>
                      </a:r>
                      <a:r>
                        <a:rPr lang="en-US" altLang="ko-KR" dirty="0" smtClean="0"/>
                        <a:t> +</a:t>
                      </a:r>
                      <a:endParaRPr lang="ko-KR" altLang="en-US" dirty="0"/>
                    </a:p>
                  </a:txBody>
                  <a:tcPr anchor="ctr"/>
                </a:tc>
                <a:tc>
                  <a:txBody>
                    <a:bodyPr/>
                    <a:lstStyle/>
                    <a:p>
                      <a:pPr algn="ctr" latinLnBrk="1"/>
                      <a:r>
                        <a:rPr lang="en-US" altLang="ko-KR" dirty="0" smtClean="0"/>
                        <a:t>Intel core</a:t>
                      </a:r>
                      <a:r>
                        <a:rPr lang="en-US" altLang="ko-KR" baseline="0" dirty="0" smtClean="0"/>
                        <a:t> i5 series +</a:t>
                      </a:r>
                      <a:endParaRPr lang="ko-KR" altLang="en-US" dirty="0"/>
                    </a:p>
                  </a:txBody>
                  <a:tcPr anchor="ctr"/>
                </a:tc>
                <a:extLst>
                  <a:ext uri="{0D108BD9-81ED-4DB2-BD59-A6C34878D82A}">
                    <a16:rowId xmlns:a16="http://schemas.microsoft.com/office/drawing/2014/main" xmlns="" val="3493674192"/>
                  </a:ext>
                </a:extLst>
              </a:tr>
              <a:tr h="570288">
                <a:tc>
                  <a:txBody>
                    <a:bodyPr/>
                    <a:lstStyle/>
                    <a:p>
                      <a:pPr algn="ctr" latinLnBrk="1"/>
                      <a:r>
                        <a:rPr lang="en-US" altLang="ko-KR" dirty="0" smtClean="0"/>
                        <a:t>Memory</a:t>
                      </a:r>
                      <a:endParaRPr lang="ko-KR" altLang="en-US" dirty="0"/>
                    </a:p>
                  </a:txBody>
                  <a:tcPr anchor="ctr"/>
                </a:tc>
                <a:tc>
                  <a:txBody>
                    <a:bodyPr/>
                    <a:lstStyle/>
                    <a:p>
                      <a:pPr algn="ctr" latinLnBrk="1"/>
                      <a:r>
                        <a:rPr lang="en-US" altLang="ko-KR" dirty="0" smtClean="0"/>
                        <a:t>1 GB</a:t>
                      </a:r>
                      <a:endParaRPr lang="ko-KR" altLang="en-US" dirty="0"/>
                    </a:p>
                  </a:txBody>
                  <a:tcPr anchor="ctr"/>
                </a:tc>
                <a:tc>
                  <a:txBody>
                    <a:bodyPr/>
                    <a:lstStyle/>
                    <a:p>
                      <a:pPr algn="ctr" latinLnBrk="1"/>
                      <a:r>
                        <a:rPr lang="en-US" altLang="ko-KR" dirty="0" smtClean="0"/>
                        <a:t>2 GB</a:t>
                      </a:r>
                    </a:p>
                  </a:txBody>
                  <a:tcPr anchor="ctr"/>
                </a:tc>
                <a:extLst>
                  <a:ext uri="{0D108BD9-81ED-4DB2-BD59-A6C34878D82A}">
                    <a16:rowId xmlns:a16="http://schemas.microsoft.com/office/drawing/2014/main" xmlns="" val="2897240585"/>
                  </a:ext>
                </a:extLst>
              </a:tr>
              <a:tr h="570288">
                <a:tc>
                  <a:txBody>
                    <a:bodyPr/>
                    <a:lstStyle/>
                    <a:p>
                      <a:pPr algn="ctr" latinLnBrk="1"/>
                      <a:r>
                        <a:rPr lang="en-US" altLang="ko-KR" dirty="0" smtClean="0"/>
                        <a:t>Graphics</a:t>
                      </a:r>
                      <a:endParaRPr lang="ko-KR" altLang="en-US" dirty="0"/>
                    </a:p>
                  </a:txBody>
                  <a:tcPr anchor="ctr"/>
                </a:tc>
                <a:tc>
                  <a:txBody>
                    <a:bodyPr/>
                    <a:lstStyle/>
                    <a:p>
                      <a:pPr algn="ctr" latinLnBrk="1"/>
                      <a:r>
                        <a:rPr lang="en-US" altLang="ko-KR" dirty="0" err="1" smtClean="0"/>
                        <a:t>nVidia</a:t>
                      </a:r>
                      <a:r>
                        <a:rPr lang="en-US" altLang="ko-KR" dirty="0" smtClean="0"/>
                        <a:t> GTS 450 +</a:t>
                      </a:r>
                      <a:endParaRPr lang="ko-KR" altLang="en-US" dirty="0"/>
                    </a:p>
                  </a:txBody>
                  <a:tcPr anchor="ctr"/>
                </a:tc>
                <a:tc>
                  <a:txBody>
                    <a:bodyPr/>
                    <a:lstStyle/>
                    <a:p>
                      <a:pPr marL="0" indent="0" algn="ctr" latinLnBrk="1">
                        <a:buNone/>
                      </a:pPr>
                      <a:r>
                        <a:rPr lang="en-US" altLang="ko-KR" dirty="0" err="1" smtClean="0"/>
                        <a:t>nVidia</a:t>
                      </a:r>
                      <a:r>
                        <a:rPr lang="en-US" altLang="ko-KR" dirty="0" smtClean="0"/>
                        <a:t> GTS 450 +</a:t>
                      </a:r>
                      <a:endParaRPr lang="ko-KR" altLang="en-US" dirty="0"/>
                    </a:p>
                  </a:txBody>
                  <a:tcPr anchor="ctr"/>
                </a:tc>
                <a:extLst>
                  <a:ext uri="{0D108BD9-81ED-4DB2-BD59-A6C34878D82A}">
                    <a16:rowId xmlns:a16="http://schemas.microsoft.com/office/drawing/2014/main" xmlns="" val="2410361268"/>
                  </a:ext>
                </a:extLst>
              </a:tr>
              <a:tr h="570288">
                <a:tc>
                  <a:txBody>
                    <a:bodyPr/>
                    <a:lstStyle/>
                    <a:p>
                      <a:pPr algn="ctr" latinLnBrk="1"/>
                      <a:r>
                        <a:rPr lang="en-US" altLang="ko-KR" dirty="0" smtClean="0"/>
                        <a:t>Storage</a:t>
                      </a:r>
                      <a:endParaRPr lang="ko-KR" altLang="en-US" dirty="0"/>
                    </a:p>
                  </a:txBody>
                  <a:tcPr anchor="ctr"/>
                </a:tc>
                <a:tc>
                  <a:txBody>
                    <a:bodyPr/>
                    <a:lstStyle/>
                    <a:p>
                      <a:pPr algn="ctr" latinLnBrk="1"/>
                      <a:r>
                        <a:rPr lang="en-US" altLang="ko-KR" dirty="0" smtClean="0"/>
                        <a:t>400 MB</a:t>
                      </a:r>
                      <a:endParaRPr lang="ko-KR" altLang="en-US" dirty="0"/>
                    </a:p>
                  </a:txBody>
                  <a:tcPr anchor="ctr"/>
                </a:tc>
                <a:tc>
                  <a:txBody>
                    <a:bodyPr/>
                    <a:lstStyle/>
                    <a:p>
                      <a:pPr algn="ctr" latinLnBrk="1"/>
                      <a:r>
                        <a:rPr lang="en-US" altLang="ko-KR" dirty="0" smtClean="0"/>
                        <a:t>1 GB</a:t>
                      </a:r>
                      <a:endParaRPr lang="ko-KR" altLang="en-US" dirty="0"/>
                    </a:p>
                  </a:txBody>
                  <a:tcPr anchor="ctr"/>
                </a:tc>
                <a:extLst>
                  <a:ext uri="{0D108BD9-81ED-4DB2-BD59-A6C34878D82A}">
                    <a16:rowId xmlns:a16="http://schemas.microsoft.com/office/drawing/2014/main" xmlns="" val="1747673497"/>
                  </a:ext>
                </a:extLst>
              </a:tr>
            </a:tbl>
          </a:graphicData>
        </a:graphic>
      </p:graphicFrame>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a:t>
            </a:fld>
            <a:endParaRPr lang="ko-KR" altLang="en-US" sz="1800" dirty="0"/>
          </a:p>
        </p:txBody>
      </p:sp>
    </p:spTree>
    <p:extLst>
      <p:ext uri="{BB962C8B-B14F-4D97-AF65-F5344CB8AC3E}">
        <p14:creationId xmlns:p14="http://schemas.microsoft.com/office/powerpoint/2010/main" val="217776001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게임 소개</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8</a:t>
            </a:fld>
            <a:endParaRPr lang="ko-KR" altLang="en-US" dirty="0">
              <a:solidFill>
                <a:prstClr val="black">
                  <a:tint val="75000"/>
                </a:prstClr>
              </a:solidFill>
            </a:endParaRPr>
          </a:p>
        </p:txBody>
      </p:sp>
    </p:spTree>
    <p:extLst>
      <p:ext uri="{BB962C8B-B14F-4D97-AF65-F5344CB8AC3E}">
        <p14:creationId xmlns:p14="http://schemas.microsoft.com/office/powerpoint/2010/main" val="353907605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387590"/>
            <a:ext cx="5950972" cy="5078313"/>
          </a:xfrm>
          <a:prstGeom prst="rect">
            <a:avLst/>
          </a:prstGeom>
          <a:noFill/>
        </p:spPr>
        <p:txBody>
          <a:bodyPr wrap="square" rtlCol="0">
            <a:spAutoFit/>
          </a:bodyPr>
          <a:lstStyle/>
          <a:p>
            <a:pPr>
              <a:lnSpc>
                <a:spcPct val="150000"/>
              </a:lnSpc>
            </a:pPr>
            <a:r>
              <a:rPr lang="ko-KR" altLang="en-US" dirty="0" smtClean="0">
                <a:latin typeface="+mn-ea"/>
              </a:rPr>
              <a:t> 동부 왕국의 평화롭고 한적한 마을 </a:t>
            </a:r>
            <a:r>
              <a:rPr lang="en-US" altLang="ko-KR" dirty="0" smtClean="0">
                <a:latin typeface="+mn-ea"/>
              </a:rPr>
              <a:t>‘</a:t>
            </a:r>
            <a:r>
              <a:rPr lang="ko-KR" altLang="en-US" dirty="0" err="1" smtClean="0">
                <a:latin typeface="+mn-ea"/>
              </a:rPr>
              <a:t>리안</a:t>
            </a:r>
            <a:r>
              <a:rPr lang="en-US" altLang="ko-KR" dirty="0" smtClean="0">
                <a:latin typeface="+mn-ea"/>
              </a:rPr>
              <a:t>’.</a:t>
            </a:r>
          </a:p>
          <a:p>
            <a:pPr>
              <a:lnSpc>
                <a:spcPct val="150000"/>
              </a:lnSpc>
            </a:pPr>
            <a:endParaRPr lang="en-US" altLang="ko-KR" dirty="0" smtClean="0">
              <a:latin typeface="+mn-ea"/>
            </a:endParaRPr>
          </a:p>
          <a:p>
            <a:pPr>
              <a:lnSpc>
                <a:spcPct val="150000"/>
              </a:lnSpc>
            </a:pPr>
            <a:r>
              <a:rPr lang="ko-KR" altLang="en-US" dirty="0" smtClean="0">
                <a:latin typeface="+mn-ea"/>
              </a:rPr>
              <a:t>어느 날 돌연</a:t>
            </a:r>
            <a:r>
              <a:rPr lang="en-US" altLang="ko-KR" dirty="0" smtClean="0">
                <a:latin typeface="+mn-ea"/>
              </a:rPr>
              <a:t> </a:t>
            </a:r>
            <a:r>
              <a:rPr lang="ko-KR" altLang="en-US" dirty="0" smtClean="0">
                <a:latin typeface="+mn-ea"/>
              </a:rPr>
              <a:t>마을 주변에 정체불명의 던전이 출현한다</a:t>
            </a:r>
            <a:r>
              <a:rPr lang="en-US" altLang="ko-KR" dirty="0" smtClean="0">
                <a:latin typeface="+mn-ea"/>
              </a:rPr>
              <a:t>.</a:t>
            </a:r>
          </a:p>
          <a:p>
            <a:pPr>
              <a:lnSpc>
                <a:spcPct val="150000"/>
              </a:lnSpc>
            </a:pPr>
            <a:r>
              <a:rPr lang="ko-KR" altLang="en-US" dirty="0" smtClean="0">
                <a:latin typeface="+mn-ea"/>
              </a:rPr>
              <a:t>던전 안에는 수많은 다양한 </a:t>
            </a:r>
            <a:r>
              <a:rPr lang="ko-KR" altLang="en-US" dirty="0" err="1" smtClean="0">
                <a:latin typeface="+mn-ea"/>
              </a:rPr>
              <a:t>몬스터들이</a:t>
            </a:r>
            <a:r>
              <a:rPr lang="ko-KR" altLang="en-US" dirty="0" smtClean="0">
                <a:latin typeface="+mn-ea"/>
              </a:rPr>
              <a:t> 존재했고</a:t>
            </a:r>
            <a:r>
              <a:rPr lang="en-US" altLang="ko-KR" dirty="0" smtClean="0">
                <a:latin typeface="+mn-ea"/>
              </a:rPr>
              <a:t>, </a:t>
            </a:r>
          </a:p>
          <a:p>
            <a:pPr>
              <a:lnSpc>
                <a:spcPct val="150000"/>
              </a:lnSpc>
            </a:pPr>
            <a:r>
              <a:rPr lang="ko-KR" altLang="en-US" dirty="0" smtClean="0">
                <a:latin typeface="+mn-ea"/>
              </a:rPr>
              <a:t>그들은 점차 밖으로 나와 마을 주민들을 위협했다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왕국의 정예 토벌대가 </a:t>
            </a:r>
            <a:r>
              <a:rPr lang="ko-KR" altLang="en-US" dirty="0" err="1" smtClean="0">
                <a:latin typeface="+mn-ea"/>
              </a:rPr>
              <a:t>던전을</a:t>
            </a:r>
            <a:r>
              <a:rPr lang="ko-KR" altLang="en-US" dirty="0" smtClean="0">
                <a:latin typeface="+mn-ea"/>
              </a:rPr>
              <a:t> 공략하려 했지만</a:t>
            </a:r>
            <a:r>
              <a:rPr lang="en-US" altLang="ko-KR" dirty="0" smtClean="0">
                <a:latin typeface="+mn-ea"/>
              </a:rPr>
              <a:t>,</a:t>
            </a:r>
            <a:r>
              <a:rPr lang="ko-KR" altLang="en-US" dirty="0" smtClean="0">
                <a:latin typeface="+mn-ea"/>
              </a:rPr>
              <a:t> </a:t>
            </a:r>
            <a:r>
              <a:rPr lang="ko-KR" altLang="en-US" dirty="0" err="1" smtClean="0">
                <a:latin typeface="+mn-ea"/>
              </a:rPr>
              <a:t>던전의</a:t>
            </a:r>
            <a:r>
              <a:rPr lang="ko-KR" altLang="en-US" dirty="0" smtClean="0">
                <a:latin typeface="+mn-ea"/>
              </a:rPr>
              <a:t> 지배자이자 강력한 마물인 </a:t>
            </a:r>
            <a:r>
              <a:rPr lang="en-US" altLang="ko-KR" dirty="0" smtClean="0">
                <a:latin typeface="+mn-ea"/>
              </a:rPr>
              <a:t>‘</a:t>
            </a:r>
            <a:r>
              <a:rPr lang="ko-KR" altLang="en-US" dirty="0" smtClean="0">
                <a:latin typeface="+mn-ea"/>
              </a:rPr>
              <a:t>마왕</a:t>
            </a:r>
            <a:r>
              <a:rPr lang="en-US" altLang="ko-KR" dirty="0" smtClean="0">
                <a:latin typeface="+mn-ea"/>
              </a:rPr>
              <a:t>’</a:t>
            </a:r>
            <a:r>
              <a:rPr lang="ko-KR" altLang="en-US" dirty="0" smtClean="0">
                <a:latin typeface="+mn-ea"/>
              </a:rPr>
              <a:t>의 힘 앞에 속수무책으로 패배하고 만다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마왕은 </a:t>
            </a:r>
            <a:r>
              <a:rPr lang="ko-KR" altLang="en-US" dirty="0" err="1">
                <a:latin typeface="+mn-ea"/>
              </a:rPr>
              <a:t>던전의</a:t>
            </a:r>
            <a:r>
              <a:rPr lang="ko-KR" altLang="en-US" dirty="0">
                <a:latin typeface="+mn-ea"/>
              </a:rPr>
              <a:t> </a:t>
            </a:r>
            <a:r>
              <a:rPr lang="ko-KR" altLang="en-US" dirty="0" err="1">
                <a:latin typeface="+mn-ea"/>
              </a:rPr>
              <a:t>최심부에는</a:t>
            </a:r>
            <a:r>
              <a:rPr lang="ko-KR" altLang="en-US" dirty="0">
                <a:latin typeface="+mn-ea"/>
              </a:rPr>
              <a:t> 자리잡고 있으며</a:t>
            </a:r>
            <a:r>
              <a:rPr lang="en-US" altLang="ko-KR" dirty="0">
                <a:latin typeface="+mn-ea"/>
              </a:rPr>
              <a:t>, </a:t>
            </a:r>
            <a:r>
              <a:rPr lang="ko-KR" altLang="en-US" dirty="0" err="1">
                <a:latin typeface="+mn-ea"/>
              </a:rPr>
              <a:t>던전</a:t>
            </a:r>
            <a:r>
              <a:rPr lang="ko-KR" altLang="en-US" dirty="0">
                <a:latin typeface="+mn-ea"/>
              </a:rPr>
              <a:t> 안의</a:t>
            </a:r>
            <a:endParaRPr lang="en-US" altLang="ko-KR" dirty="0">
              <a:latin typeface="+mn-ea"/>
            </a:endParaRPr>
          </a:p>
          <a:p>
            <a:pPr>
              <a:lnSpc>
                <a:spcPct val="150000"/>
              </a:lnSpc>
            </a:pPr>
            <a:r>
              <a:rPr lang="ko-KR" altLang="en-US" dirty="0" err="1">
                <a:latin typeface="+mn-ea"/>
              </a:rPr>
              <a:t>몬스터들은</a:t>
            </a:r>
            <a:r>
              <a:rPr lang="ko-KR" altLang="en-US" dirty="0">
                <a:latin typeface="+mn-ea"/>
              </a:rPr>
              <a:t> 마왕의 저주를 받아 사악해진 존재들이었다</a:t>
            </a:r>
            <a:r>
              <a:rPr lang="en-US" altLang="ko-KR" dirty="0" smtClean="0">
                <a:latin typeface="+mn-ea"/>
              </a:rPr>
              <a:t>.</a:t>
            </a:r>
            <a:endParaRPr lang="en-US" altLang="ko-KR" dirty="0">
              <a:latin typeface="+mn-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2631438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465968"/>
            <a:ext cx="6250574" cy="4247317"/>
          </a:xfrm>
          <a:prstGeom prst="rect">
            <a:avLst/>
          </a:prstGeom>
          <a:noFill/>
        </p:spPr>
        <p:txBody>
          <a:bodyPr wrap="square" rtlCol="0">
            <a:spAutoFit/>
          </a:bodyPr>
          <a:lstStyle/>
          <a:p>
            <a:pPr>
              <a:lnSpc>
                <a:spcPct val="150000"/>
              </a:lnSpc>
            </a:pPr>
            <a:r>
              <a:rPr lang="en-US" altLang="ko-KR" dirty="0" smtClean="0">
                <a:latin typeface="+mn-ea"/>
              </a:rPr>
              <a:t> </a:t>
            </a:r>
            <a:r>
              <a:rPr lang="ko-KR" altLang="en-US" dirty="0" smtClean="0">
                <a:latin typeface="+mn-ea"/>
              </a:rPr>
              <a:t>이에 왕국은 정화의 능력을 지닌 전설의 용사를 불러 </a:t>
            </a:r>
            <a:r>
              <a:rPr lang="ko-KR" altLang="en-US" dirty="0" err="1" smtClean="0">
                <a:latin typeface="+mn-ea"/>
              </a:rPr>
              <a:t>던전을</a:t>
            </a:r>
            <a:r>
              <a:rPr lang="ko-KR" altLang="en-US" dirty="0" smtClean="0">
                <a:latin typeface="+mn-ea"/>
              </a:rPr>
              <a:t> 탐험하고 위험을 제거하라는 명을 내린다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용사는 재앙의 원흉인 마왕을 처치하기 위해 </a:t>
            </a:r>
            <a:r>
              <a:rPr lang="ko-KR" altLang="en-US" dirty="0" err="1" smtClean="0">
                <a:latin typeface="+mn-ea"/>
              </a:rPr>
              <a:t>던전을</a:t>
            </a:r>
            <a:r>
              <a:rPr lang="ko-KR" altLang="en-US" dirty="0" smtClean="0">
                <a:latin typeface="+mn-ea"/>
              </a:rPr>
              <a:t> 정복해나가며 저주받은 </a:t>
            </a:r>
            <a:r>
              <a:rPr lang="ko-KR" altLang="en-US" dirty="0" err="1" smtClean="0">
                <a:latin typeface="+mn-ea"/>
              </a:rPr>
              <a:t>몬스터들을</a:t>
            </a:r>
            <a:r>
              <a:rPr lang="ko-KR" altLang="en-US" dirty="0" smtClean="0">
                <a:latin typeface="+mn-ea"/>
              </a:rPr>
              <a:t> 정화해나갔고</a:t>
            </a:r>
            <a:r>
              <a:rPr lang="en-US" altLang="ko-KR" dirty="0" smtClean="0">
                <a:latin typeface="+mn-ea"/>
              </a:rPr>
              <a:t>, </a:t>
            </a:r>
            <a:r>
              <a:rPr lang="ko-KR" altLang="en-US" dirty="0" smtClean="0">
                <a:latin typeface="+mn-ea"/>
              </a:rPr>
              <a:t>마왕의 손길에서 벗어난 </a:t>
            </a:r>
            <a:r>
              <a:rPr lang="ko-KR" altLang="en-US" dirty="0" err="1" smtClean="0">
                <a:latin typeface="+mn-ea"/>
              </a:rPr>
              <a:t>몬스터들은</a:t>
            </a:r>
            <a:r>
              <a:rPr lang="ko-KR" altLang="en-US" dirty="0" smtClean="0">
                <a:latin typeface="+mn-ea"/>
              </a:rPr>
              <a:t> 용사를 도와 마왕을 처치하는 데에 앞장선다</a:t>
            </a:r>
            <a:r>
              <a:rPr lang="en-US" altLang="ko-KR" dirty="0" smtClean="0">
                <a:latin typeface="+mn-ea"/>
              </a:rPr>
              <a:t>.</a:t>
            </a:r>
            <a:br>
              <a:rPr lang="en-US" altLang="ko-KR" dirty="0" smtClean="0">
                <a:latin typeface="+mn-ea"/>
              </a:rPr>
            </a:br>
            <a:endParaRPr lang="en-US" altLang="ko-KR" dirty="0" smtClean="0">
              <a:latin typeface="+mn-ea"/>
            </a:endParaRPr>
          </a:p>
          <a:p>
            <a:pPr>
              <a:lnSpc>
                <a:spcPct val="150000"/>
              </a:lnSpc>
            </a:pPr>
            <a:r>
              <a:rPr lang="ko-KR" altLang="en-US" dirty="0" smtClean="0">
                <a:latin typeface="+mn-ea"/>
              </a:rPr>
              <a:t> 과연 용사는 무사히 마왕을 무찌르고 마을에 평화를</a:t>
            </a:r>
            <a:endParaRPr lang="en-US" altLang="ko-KR" dirty="0" smtClean="0">
              <a:latin typeface="+mn-ea"/>
            </a:endParaRPr>
          </a:p>
          <a:p>
            <a:pPr>
              <a:lnSpc>
                <a:spcPct val="150000"/>
              </a:lnSpc>
            </a:pPr>
            <a:r>
              <a:rPr lang="ko-KR" altLang="en-US" dirty="0" smtClean="0">
                <a:latin typeface="+mn-ea"/>
              </a:rPr>
              <a:t>가져다 줄 수 있을 것인가</a:t>
            </a:r>
            <a:r>
              <a:rPr lang="en-US" altLang="ko-KR" dirty="0" smtClean="0">
                <a:latin typeface="+mn-ea"/>
              </a:rPr>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10</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237739747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11</a:t>
            </a:fld>
            <a:endParaRPr lang="ko-KR" altLang="en-US" sz="1800" dirty="0"/>
          </a:p>
        </p:txBody>
      </p:sp>
      <p:sp>
        <p:nvSpPr>
          <p:cNvPr id="13" name="TextBox 12"/>
          <p:cNvSpPr txBox="1"/>
          <p:nvPr/>
        </p:nvSpPr>
        <p:spPr>
          <a:xfrm>
            <a:off x="5621868" y="1172029"/>
            <a:ext cx="6340148" cy="5078313"/>
          </a:xfrm>
          <a:prstGeom prst="rect">
            <a:avLst/>
          </a:prstGeom>
          <a:noFill/>
        </p:spPr>
        <p:txBody>
          <a:bodyPr wrap="square" rtlCol="0">
            <a:spAutoFit/>
          </a:bodyPr>
          <a:lstStyle/>
          <a:p>
            <a:pPr>
              <a:lnSpc>
                <a:spcPct val="150000"/>
              </a:lnSpc>
            </a:pPr>
            <a:r>
              <a:rPr lang="en-US" altLang="ko-KR" dirty="0"/>
              <a:t>• </a:t>
            </a:r>
            <a:r>
              <a:rPr lang="ko-KR" altLang="en-US" dirty="0" err="1" smtClean="0"/>
              <a:t>로그라이크</a:t>
            </a:r>
            <a:r>
              <a:rPr lang="ko-KR" altLang="en-US" dirty="0" smtClean="0"/>
              <a:t> 게임의 요소를 일부 채용한 </a:t>
            </a:r>
            <a:r>
              <a:rPr lang="en-US" altLang="ko-KR" dirty="0" smtClean="0"/>
              <a:t>‘</a:t>
            </a:r>
            <a:r>
              <a:rPr lang="ko-KR" altLang="en-US" b="1" dirty="0" err="1" smtClean="0"/>
              <a:t>로그라이트</a:t>
            </a:r>
            <a:r>
              <a:rPr lang="en-US" altLang="ko-KR" dirty="0" smtClean="0"/>
              <a:t>’</a:t>
            </a:r>
          </a:p>
          <a:p>
            <a:pPr>
              <a:lnSpc>
                <a:spcPct val="150000"/>
              </a:lnSpc>
            </a:pPr>
            <a:r>
              <a:rPr lang="en-US" altLang="ko-KR" dirty="0"/>
              <a:t> </a:t>
            </a:r>
            <a:r>
              <a:rPr lang="en-US" altLang="ko-KR" dirty="0" smtClean="0"/>
              <a:t> </a:t>
            </a:r>
            <a:r>
              <a:rPr lang="ko-KR" altLang="en-US" dirty="0" smtClean="0"/>
              <a:t>장르를 도입</a:t>
            </a:r>
            <a:r>
              <a:rPr lang="en-US" altLang="ko-KR" dirty="0" smtClean="0"/>
              <a:t>, </a:t>
            </a:r>
            <a:r>
              <a:rPr lang="ko-KR" altLang="en-US" dirty="0" smtClean="0"/>
              <a:t>기존의 장르에 익숙한 유저들의 높은 </a:t>
            </a:r>
            <a:endParaRPr lang="en-US" altLang="ko-KR" dirty="0" smtClean="0"/>
          </a:p>
          <a:p>
            <a:pPr>
              <a:lnSpc>
                <a:spcPct val="150000"/>
              </a:lnSpc>
            </a:pPr>
            <a:r>
              <a:rPr lang="en-US" altLang="ko-KR" dirty="0" smtClean="0"/>
              <a:t>  </a:t>
            </a:r>
            <a:r>
              <a:rPr lang="ko-KR" altLang="en-US" b="1" dirty="0" smtClean="0"/>
              <a:t>접근성과 홍보 효과</a:t>
            </a:r>
            <a:r>
              <a:rPr lang="ko-KR" altLang="en-US" dirty="0" smtClean="0"/>
              <a:t>를 기대할 수 있습니다</a:t>
            </a:r>
            <a:r>
              <a:rPr lang="en-US" altLang="ko-KR" dirty="0" smtClean="0"/>
              <a:t>.</a:t>
            </a:r>
          </a:p>
          <a:p>
            <a:pPr>
              <a:lnSpc>
                <a:spcPct val="150000"/>
              </a:lnSpc>
            </a:pPr>
            <a:endParaRPr lang="en-US" altLang="ko-KR" sz="1200" dirty="0" smtClean="0">
              <a:latin typeface="+mn-ea"/>
            </a:endParaRPr>
          </a:p>
          <a:p>
            <a:pPr>
              <a:lnSpc>
                <a:spcPct val="150000"/>
              </a:lnSpc>
            </a:pPr>
            <a:r>
              <a:rPr lang="en-US" altLang="ko-KR" dirty="0" smtClean="0"/>
              <a:t>• </a:t>
            </a:r>
            <a:r>
              <a:rPr lang="en-US" altLang="ko-KR" b="1" dirty="0" smtClean="0"/>
              <a:t>1</a:t>
            </a:r>
            <a:r>
              <a:rPr lang="ko-KR" altLang="en-US" b="1" dirty="0" smtClean="0"/>
              <a:t>번 뿐인 목숨</a:t>
            </a:r>
            <a:r>
              <a:rPr lang="ko-KR" altLang="en-US" dirty="0" smtClean="0"/>
              <a:t>과</a:t>
            </a:r>
            <a:r>
              <a:rPr lang="en-US" altLang="ko-KR" dirty="0" smtClean="0"/>
              <a:t>,</a:t>
            </a:r>
            <a:r>
              <a:rPr lang="ko-KR" altLang="en-US" dirty="0" smtClean="0"/>
              <a:t> </a:t>
            </a:r>
            <a:r>
              <a:rPr lang="ko-KR" altLang="en-US" b="1" dirty="0" smtClean="0"/>
              <a:t>랜덤</a:t>
            </a:r>
            <a:r>
              <a:rPr lang="ko-KR" altLang="en-US" dirty="0" smtClean="0"/>
              <a:t>으로 배치되는 던전의 구조를 </a:t>
            </a:r>
            <a:endParaRPr lang="en-US" altLang="ko-KR" dirty="0" smtClean="0"/>
          </a:p>
          <a:p>
            <a:pPr>
              <a:lnSpc>
                <a:spcPct val="150000"/>
              </a:lnSpc>
            </a:pPr>
            <a:r>
              <a:rPr lang="en-US" altLang="ko-KR" dirty="0"/>
              <a:t> </a:t>
            </a:r>
            <a:r>
              <a:rPr lang="en-US" altLang="ko-KR" dirty="0" smtClean="0"/>
              <a:t> </a:t>
            </a:r>
            <a:r>
              <a:rPr lang="ko-KR" altLang="en-US" dirty="0" smtClean="0"/>
              <a:t>통해 게임의 긴장감과 </a:t>
            </a:r>
            <a:r>
              <a:rPr lang="ko-KR" altLang="en-US" dirty="0" err="1" smtClean="0"/>
              <a:t>몰입감을</a:t>
            </a:r>
            <a:r>
              <a:rPr lang="ko-KR" altLang="en-US" dirty="0" smtClean="0"/>
              <a:t> 높이고</a:t>
            </a:r>
            <a:r>
              <a:rPr lang="en-US" altLang="ko-KR" dirty="0" smtClean="0"/>
              <a:t>, </a:t>
            </a:r>
            <a:r>
              <a:rPr lang="ko-KR" altLang="en-US" dirty="0" smtClean="0"/>
              <a:t>플레이의 </a:t>
            </a:r>
            <a:endParaRPr lang="en-US" altLang="ko-KR" dirty="0" smtClean="0"/>
          </a:p>
          <a:p>
            <a:pPr>
              <a:lnSpc>
                <a:spcPct val="150000"/>
              </a:lnSpc>
            </a:pPr>
            <a:r>
              <a:rPr lang="en-US" altLang="ko-KR" dirty="0"/>
              <a:t> </a:t>
            </a:r>
            <a:r>
              <a:rPr lang="en-US" altLang="ko-KR" dirty="0" smtClean="0"/>
              <a:t> </a:t>
            </a:r>
            <a:r>
              <a:rPr lang="ko-KR" altLang="en-US" dirty="0" smtClean="0"/>
              <a:t>신선함과 도전 정신을 고취시킬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임의 저장과 불러오기가 불가능하며</a:t>
            </a:r>
            <a:r>
              <a:rPr lang="en-US" altLang="ko-KR" dirty="0" smtClean="0"/>
              <a:t>, </a:t>
            </a:r>
            <a:r>
              <a:rPr lang="ko-KR" altLang="en-US" dirty="0" smtClean="0"/>
              <a:t>캐릭터 사망 시</a:t>
            </a:r>
            <a:endParaRPr lang="en-US" altLang="ko-KR" dirty="0" smtClean="0"/>
          </a:p>
          <a:p>
            <a:pPr>
              <a:lnSpc>
                <a:spcPct val="150000"/>
              </a:lnSpc>
            </a:pPr>
            <a:r>
              <a:rPr lang="en-US" altLang="ko-KR" dirty="0"/>
              <a:t> </a:t>
            </a:r>
            <a:r>
              <a:rPr lang="ko-KR" altLang="en-US" dirty="0" smtClean="0"/>
              <a:t> 레벨</a:t>
            </a:r>
            <a:r>
              <a:rPr lang="en-US" altLang="ko-KR" dirty="0" smtClean="0"/>
              <a:t>, </a:t>
            </a:r>
            <a:r>
              <a:rPr lang="ko-KR" altLang="en-US" dirty="0" smtClean="0"/>
              <a:t>아이템 등의 데이터를 잃고 </a:t>
            </a:r>
            <a:r>
              <a:rPr lang="ko-KR" altLang="en-US" b="1" dirty="0" smtClean="0"/>
              <a:t>게임이 </a:t>
            </a:r>
            <a:r>
              <a:rPr lang="ko-KR" altLang="en-US" b="1" dirty="0" err="1" smtClean="0"/>
              <a:t>리셋</a:t>
            </a:r>
            <a:r>
              <a:rPr lang="ko-KR" altLang="en-US" dirty="0" err="1" smtClean="0"/>
              <a:t>됩니다</a:t>
            </a:r>
            <a:r>
              <a:rPr lang="en-US" altLang="ko-KR" dirty="0" smtClean="0"/>
              <a:t>.</a:t>
            </a:r>
          </a:p>
          <a:p>
            <a:pPr>
              <a:lnSpc>
                <a:spcPct val="150000"/>
              </a:lnSpc>
            </a:pPr>
            <a:endParaRPr lang="en-US" altLang="ko-KR" sz="1200" dirty="0"/>
          </a:p>
          <a:p>
            <a:pPr>
              <a:lnSpc>
                <a:spcPct val="150000"/>
              </a:lnSpc>
            </a:pPr>
            <a:r>
              <a:rPr lang="en-US" altLang="ko-KR" dirty="0" smtClean="0"/>
              <a:t>• </a:t>
            </a:r>
            <a:r>
              <a:rPr lang="ko-KR" altLang="en-US" dirty="0" smtClean="0"/>
              <a:t>접근성과 성취감을 높이고 </a:t>
            </a:r>
            <a:r>
              <a:rPr lang="ko-KR" altLang="en-US" dirty="0" err="1" smtClean="0"/>
              <a:t>다회차</a:t>
            </a:r>
            <a:r>
              <a:rPr lang="ko-KR" altLang="en-US" dirty="0" smtClean="0"/>
              <a:t> 플레이어의 형평성을</a:t>
            </a:r>
            <a:endParaRPr lang="en-US" altLang="ko-KR" dirty="0" smtClean="0"/>
          </a:p>
          <a:p>
            <a:pPr>
              <a:lnSpc>
                <a:spcPct val="150000"/>
              </a:lnSpc>
            </a:pPr>
            <a:r>
              <a:rPr lang="en-US" altLang="ko-KR" dirty="0"/>
              <a:t> </a:t>
            </a:r>
            <a:r>
              <a:rPr lang="ko-KR" altLang="en-US" dirty="0" smtClean="0"/>
              <a:t> 위해</a:t>
            </a:r>
            <a:r>
              <a:rPr lang="en-US" altLang="ko-KR" dirty="0" smtClean="0"/>
              <a:t>, </a:t>
            </a:r>
            <a:r>
              <a:rPr lang="ko-KR" altLang="en-US" dirty="0" smtClean="0"/>
              <a:t>사망해도 </a:t>
            </a:r>
            <a:r>
              <a:rPr lang="ko-KR" altLang="en-US" b="1" dirty="0" smtClean="0"/>
              <a:t>잃지 않는 데이터가</a:t>
            </a:r>
            <a:r>
              <a:rPr lang="en-US" altLang="ko-KR" b="1" dirty="0" smtClean="0"/>
              <a:t> </a:t>
            </a:r>
            <a:r>
              <a:rPr lang="ko-KR" altLang="en-US" dirty="0" smtClean="0"/>
              <a:t>존재합니다</a:t>
            </a:r>
            <a:r>
              <a:rPr lang="en-US" altLang="ko-KR" dirty="0" smtClean="0"/>
              <a:t>.</a:t>
            </a:r>
            <a:endParaRPr lang="en-US" altLang="ko-KR" dirty="0"/>
          </a:p>
        </p:txBody>
      </p:sp>
      <p:pic>
        <p:nvPicPr>
          <p:cNvPr id="9" name="그림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1515" y="1087359"/>
            <a:ext cx="4014931" cy="2113595"/>
          </a:xfrm>
          <a:prstGeom prst="rect">
            <a:avLst/>
          </a:prstGeom>
        </p:spPr>
      </p:pic>
      <p:sp>
        <p:nvSpPr>
          <p:cNvPr id="12" name="TextBox 11"/>
          <p:cNvSpPr txBox="1"/>
          <p:nvPr/>
        </p:nvSpPr>
        <p:spPr>
          <a:xfrm>
            <a:off x="1430007" y="3196379"/>
            <a:ext cx="2497044"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2 )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다키스트</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던전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4" name="그림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1515" y="3921984"/>
            <a:ext cx="4203018" cy="1953932"/>
          </a:xfrm>
          <a:prstGeom prst="rect">
            <a:avLst/>
          </a:prstGeom>
        </p:spPr>
      </p:pic>
      <p:sp>
        <p:nvSpPr>
          <p:cNvPr id="15" name="TextBox 14"/>
          <p:cNvSpPr txBox="1"/>
          <p:nvPr/>
        </p:nvSpPr>
        <p:spPr>
          <a:xfrm>
            <a:off x="1473823" y="5875916"/>
            <a:ext cx="2409412"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3 )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아이작의</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번제</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00687629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4848564"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5962650" cy="584775"/>
          </a:xfrm>
          <a:prstGeom prst="rect">
            <a:avLst/>
          </a:prstGeom>
          <a:noFill/>
        </p:spPr>
        <p:txBody>
          <a:bodyPr wrap="square" rtlCol="0">
            <a:spAutoFit/>
          </a:bodyPr>
          <a:lstStyle/>
          <a:p>
            <a:pPr algn="ctr"/>
            <a:r>
              <a:rPr lang="en-US" altLang="ko-KR" sz="3200" b="1" spc="-30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12</a:t>
            </a:fld>
            <a:endParaRPr lang="ko-KR" altLang="en-US" sz="1800" dirty="0"/>
          </a:p>
        </p:txBody>
      </p:sp>
      <p:sp>
        <p:nvSpPr>
          <p:cNvPr id="13" name="TextBox 12"/>
          <p:cNvSpPr txBox="1"/>
          <p:nvPr/>
        </p:nvSpPr>
        <p:spPr>
          <a:xfrm>
            <a:off x="5276851" y="1099309"/>
            <a:ext cx="6467474" cy="5493812"/>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플레이어는 용사가 되어 던전을 탐험하게 됩니다</a:t>
            </a:r>
            <a:r>
              <a:rPr lang="en-US" altLang="ko-KR" dirty="0" smtClean="0">
                <a:latin typeface="+mn-ea"/>
              </a:rPr>
              <a:t>. </a:t>
            </a:r>
            <a:r>
              <a:rPr lang="ko-KR" altLang="en-US" dirty="0" smtClean="0">
                <a:latin typeface="+mn-ea"/>
              </a:rPr>
              <a:t>용사들은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각기 </a:t>
            </a:r>
            <a:r>
              <a:rPr lang="ko-KR" altLang="en-US" b="1" dirty="0" smtClean="0">
                <a:latin typeface="+mn-ea"/>
              </a:rPr>
              <a:t>다른 컨셉과 능력</a:t>
            </a:r>
            <a:r>
              <a:rPr lang="ko-KR" altLang="en-US" dirty="0" smtClean="0">
                <a:latin typeface="+mn-ea"/>
              </a:rPr>
              <a:t>을 보유하고 있으며</a:t>
            </a:r>
            <a:r>
              <a:rPr lang="en-US" altLang="ko-KR" dirty="0" smtClean="0">
                <a:latin typeface="+mn-ea"/>
              </a:rPr>
              <a:t>, </a:t>
            </a:r>
            <a:r>
              <a:rPr lang="ko-KR" altLang="en-US" dirty="0" err="1" smtClean="0">
                <a:latin typeface="+mn-ea"/>
              </a:rPr>
              <a:t>던전을</a:t>
            </a:r>
            <a:r>
              <a:rPr lang="ko-KR" altLang="en-US" dirty="0" smtClean="0">
                <a:latin typeface="+mn-ea"/>
              </a:rPr>
              <a:t> 탐험하며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아군 </a:t>
            </a:r>
            <a:r>
              <a:rPr lang="ko-KR" altLang="en-US" dirty="0" err="1" smtClean="0">
                <a:latin typeface="+mn-ea"/>
              </a:rPr>
              <a:t>몬스터들과</a:t>
            </a:r>
            <a:r>
              <a:rPr lang="ko-KR" altLang="en-US" dirty="0" smtClean="0">
                <a:latin typeface="+mn-ea"/>
              </a:rPr>
              <a:t> 함께 더욱 깊은</a:t>
            </a:r>
            <a:r>
              <a:rPr lang="en-US" altLang="ko-KR" dirty="0" smtClean="0">
                <a:latin typeface="+mn-ea"/>
              </a:rPr>
              <a:t> </a:t>
            </a:r>
            <a:r>
              <a:rPr lang="ko-KR" altLang="en-US" dirty="0" smtClean="0">
                <a:latin typeface="+mn-ea"/>
              </a:rPr>
              <a:t>곳을 향해 나아갑니다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캐릭터와 </a:t>
            </a:r>
            <a:r>
              <a:rPr lang="ko-KR" altLang="en-US" dirty="0" err="1" smtClean="0"/>
              <a:t>몬스터</a:t>
            </a:r>
            <a:r>
              <a:rPr lang="ko-KR" altLang="en-US" dirty="0" smtClean="0"/>
              <a:t> </a:t>
            </a:r>
            <a:r>
              <a:rPr lang="ko-KR" altLang="en-US" dirty="0" smtClean="0">
                <a:latin typeface="+mn-ea"/>
              </a:rPr>
              <a:t>각각의 독특하고 고유한 능력과 기술로</a:t>
            </a:r>
            <a:r>
              <a:rPr lang="en-US" altLang="ko-KR" dirty="0" smtClean="0">
                <a:latin typeface="+mn-ea"/>
              </a:rPr>
              <a:t>,</a:t>
            </a:r>
            <a:r>
              <a:rPr lang="ko-KR" altLang="en-US" dirty="0" smtClean="0">
                <a:latin typeface="+mn-ea"/>
              </a:rPr>
              <a:t> </a:t>
            </a:r>
            <a:endParaRPr lang="en-US" altLang="ko-KR" dirty="0" smtClean="0">
              <a:latin typeface="+mn-ea"/>
            </a:endParaRPr>
          </a:p>
          <a:p>
            <a:pPr>
              <a:lnSpc>
                <a:spcPct val="150000"/>
              </a:lnSpc>
            </a:pPr>
            <a:r>
              <a:rPr lang="en-US" altLang="ko-KR" dirty="0" smtClean="0">
                <a:latin typeface="+mn-ea"/>
              </a:rPr>
              <a:t>  </a:t>
            </a:r>
            <a:r>
              <a:rPr lang="ko-KR" altLang="en-US" dirty="0" smtClean="0">
                <a:latin typeface="+mn-ea"/>
              </a:rPr>
              <a:t>색다르고 </a:t>
            </a:r>
            <a:r>
              <a:rPr lang="ko-KR" altLang="en-US" dirty="0">
                <a:latin typeface="+mn-ea"/>
              </a:rPr>
              <a:t>강력한 </a:t>
            </a:r>
            <a:r>
              <a:rPr lang="ko-KR" altLang="en-US" b="1" dirty="0" smtClean="0">
                <a:latin typeface="+mn-ea"/>
              </a:rPr>
              <a:t>조합을 연구</a:t>
            </a:r>
            <a:r>
              <a:rPr lang="ko-KR" altLang="en-US" dirty="0" smtClean="0">
                <a:latin typeface="+mn-ea"/>
              </a:rPr>
              <a:t>하여</a:t>
            </a:r>
            <a:r>
              <a:rPr lang="en-US" altLang="ko-KR" dirty="0" smtClean="0">
                <a:latin typeface="+mn-ea"/>
              </a:rPr>
              <a:t> </a:t>
            </a:r>
            <a:r>
              <a:rPr lang="ko-KR" altLang="en-US" b="1" dirty="0">
                <a:latin typeface="+mn-ea"/>
              </a:rPr>
              <a:t>다채로운 </a:t>
            </a:r>
            <a:r>
              <a:rPr lang="ko-KR" altLang="en-US" b="1" dirty="0" smtClean="0">
                <a:latin typeface="+mn-ea"/>
              </a:rPr>
              <a:t>전략</a:t>
            </a:r>
            <a:r>
              <a:rPr lang="ko-KR" altLang="en-US" dirty="0" smtClean="0">
                <a:latin typeface="+mn-ea"/>
              </a:rPr>
              <a:t>을 펼칠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수 있습니다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err="1" smtClean="0"/>
              <a:t>던전을</a:t>
            </a:r>
            <a:r>
              <a:rPr lang="ko-KR" altLang="en-US" dirty="0" smtClean="0"/>
              <a:t> 탐험하며 획득할 수 있는 </a:t>
            </a:r>
            <a:r>
              <a:rPr lang="ko-KR" altLang="en-US" b="1" dirty="0" err="1" smtClean="0"/>
              <a:t>아티팩트</a:t>
            </a:r>
            <a:r>
              <a:rPr lang="ko-KR" altLang="en-US" dirty="0" err="1" smtClean="0"/>
              <a:t>를</a:t>
            </a:r>
            <a:r>
              <a:rPr lang="ko-KR" altLang="en-US" dirty="0" smtClean="0"/>
              <a:t> 통해 캐릭터와 </a:t>
            </a:r>
            <a:endParaRPr lang="en-US" altLang="ko-KR" dirty="0" smtClean="0"/>
          </a:p>
          <a:p>
            <a:pPr>
              <a:lnSpc>
                <a:spcPct val="150000"/>
              </a:lnSpc>
            </a:pPr>
            <a:r>
              <a:rPr lang="en-US" altLang="ko-KR" dirty="0"/>
              <a:t> </a:t>
            </a:r>
            <a:r>
              <a:rPr lang="en-US" altLang="ko-KR" dirty="0" smtClean="0"/>
              <a:t> </a:t>
            </a:r>
            <a:r>
              <a:rPr lang="ko-KR" altLang="en-US" dirty="0" err="1" smtClean="0"/>
              <a:t>몬스터를</a:t>
            </a:r>
            <a:r>
              <a:rPr lang="ko-KR" altLang="en-US" dirty="0" smtClean="0"/>
              <a:t> 더욱 강화할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이런 점을 통해 개인의 성향에 맞는 </a:t>
            </a:r>
            <a:r>
              <a:rPr lang="ko-KR" altLang="en-US" b="1" dirty="0" smtClean="0"/>
              <a:t>각양각색의 플레이</a:t>
            </a:r>
            <a:r>
              <a:rPr lang="ko-KR" altLang="en-US" dirty="0" smtClean="0"/>
              <a:t>를 </a:t>
            </a:r>
            <a:endParaRPr lang="en-US" altLang="ko-KR" dirty="0" smtClean="0"/>
          </a:p>
          <a:p>
            <a:pPr>
              <a:lnSpc>
                <a:spcPct val="150000"/>
              </a:lnSpc>
            </a:pPr>
            <a:r>
              <a:rPr lang="en-US" altLang="ko-KR" dirty="0"/>
              <a:t> </a:t>
            </a:r>
            <a:r>
              <a:rPr lang="en-US" altLang="ko-KR" dirty="0" smtClean="0"/>
              <a:t> </a:t>
            </a:r>
            <a:r>
              <a:rPr lang="ko-KR" altLang="en-US" dirty="0" smtClean="0"/>
              <a:t>제공하고</a:t>
            </a:r>
            <a:r>
              <a:rPr lang="en-US" altLang="ko-KR" dirty="0" smtClean="0"/>
              <a:t>, </a:t>
            </a:r>
            <a:r>
              <a:rPr lang="ko-KR" altLang="en-US" dirty="0" smtClean="0"/>
              <a:t>지속적인 </a:t>
            </a:r>
            <a:r>
              <a:rPr lang="ko-KR" altLang="en-US" dirty="0" err="1" smtClean="0"/>
              <a:t>컨텐츠을</a:t>
            </a:r>
            <a:r>
              <a:rPr lang="ko-KR" altLang="en-US" dirty="0" smtClean="0"/>
              <a:t> 확보하면서 유저로 하여금</a:t>
            </a:r>
            <a:endParaRPr lang="en-US" altLang="ko-KR" dirty="0" smtClean="0"/>
          </a:p>
          <a:p>
            <a:pPr>
              <a:lnSpc>
                <a:spcPct val="150000"/>
              </a:lnSpc>
            </a:pPr>
            <a:r>
              <a:rPr lang="en-US" altLang="ko-KR" dirty="0"/>
              <a:t> </a:t>
            </a:r>
            <a:r>
              <a:rPr lang="ko-KR" altLang="en-US" dirty="0" smtClean="0"/>
              <a:t> 게임에 더욱</a:t>
            </a:r>
            <a:r>
              <a:rPr lang="en-US" altLang="ko-KR" dirty="0" smtClean="0"/>
              <a:t> </a:t>
            </a:r>
            <a:r>
              <a:rPr lang="ko-KR" altLang="en-US" dirty="0" smtClean="0"/>
              <a:t>몰입할 수 있도록 유도합니다</a:t>
            </a:r>
            <a:r>
              <a:rPr lang="en-US" altLang="ko-KR" dirty="0" smtClean="0"/>
              <a:t>.</a:t>
            </a:r>
            <a:endParaRPr lang="en-US" altLang="ko-KR" dirty="0" smtClean="0">
              <a:latin typeface="+mn-ea"/>
            </a:endParaRPr>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515" y="1274142"/>
            <a:ext cx="4014931" cy="2160507"/>
          </a:xfrm>
          <a:prstGeom prst="rect">
            <a:avLst/>
          </a:prstGeom>
        </p:spPr>
      </p:pic>
      <p:sp>
        <p:nvSpPr>
          <p:cNvPr id="9" name="TextBox 8"/>
          <p:cNvSpPr txBox="1"/>
          <p:nvPr/>
        </p:nvSpPr>
        <p:spPr>
          <a:xfrm>
            <a:off x="1401192" y="343465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4</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5292" y="3864818"/>
            <a:ext cx="3840901" cy="2160507"/>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5 )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43533686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 정화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정화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13</a:t>
            </a:fld>
            <a:endParaRPr lang="ko-KR" altLang="en-US" sz="1800" dirty="0"/>
          </a:p>
        </p:txBody>
      </p:sp>
      <p:sp>
        <p:nvSpPr>
          <p:cNvPr id="13" name="TextBox 12"/>
          <p:cNvSpPr txBox="1"/>
          <p:nvPr/>
        </p:nvSpPr>
        <p:spPr>
          <a:xfrm>
            <a:off x="5280346" y="1347170"/>
            <a:ext cx="6789733" cy="5216813"/>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용사가 </a:t>
            </a:r>
            <a:r>
              <a:rPr lang="ko-KR" altLang="en-US" dirty="0" err="1" smtClean="0">
                <a:latin typeface="+mn-ea"/>
              </a:rPr>
              <a:t>던전을</a:t>
            </a:r>
            <a:r>
              <a:rPr lang="ko-KR" altLang="en-US" dirty="0" smtClean="0">
                <a:latin typeface="+mn-ea"/>
              </a:rPr>
              <a:t> 탐험하고 </a:t>
            </a:r>
            <a:r>
              <a:rPr lang="ko-KR" altLang="en-US" dirty="0" err="1" smtClean="0">
                <a:latin typeface="+mn-ea"/>
              </a:rPr>
              <a:t>몬스터를</a:t>
            </a:r>
            <a:r>
              <a:rPr lang="ko-KR" altLang="en-US" dirty="0" smtClean="0">
                <a:latin typeface="+mn-ea"/>
              </a:rPr>
              <a:t> 쓰러트린 후</a:t>
            </a:r>
            <a:r>
              <a:rPr lang="en-US" altLang="ko-KR" dirty="0" smtClean="0">
                <a:latin typeface="+mn-ea"/>
              </a:rPr>
              <a:t>, </a:t>
            </a:r>
            <a:r>
              <a:rPr lang="ko-KR" altLang="en-US" b="1" dirty="0" smtClean="0">
                <a:latin typeface="+mn-ea"/>
              </a:rPr>
              <a:t>정화</a:t>
            </a:r>
            <a:r>
              <a:rPr lang="ko-KR" altLang="en-US" dirty="0" smtClean="0">
                <a:latin typeface="+mn-ea"/>
              </a:rPr>
              <a:t>를 통해</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해당 </a:t>
            </a:r>
            <a:r>
              <a:rPr lang="ko-KR" altLang="en-US" dirty="0" err="1" smtClean="0">
                <a:latin typeface="+mn-ea"/>
              </a:rPr>
              <a:t>몬스터의</a:t>
            </a:r>
            <a:r>
              <a:rPr lang="ko-KR" altLang="en-US" dirty="0" smtClean="0">
                <a:latin typeface="+mn-ea"/>
              </a:rPr>
              <a:t> 저주를 해제하고 </a:t>
            </a:r>
            <a:r>
              <a:rPr lang="ko-KR" altLang="en-US" b="1" dirty="0" smtClean="0">
                <a:latin typeface="+mn-ea"/>
              </a:rPr>
              <a:t>자신의 편</a:t>
            </a:r>
            <a:r>
              <a:rPr lang="ko-KR" altLang="en-US" dirty="0" smtClean="0">
                <a:latin typeface="+mn-ea"/>
              </a:rPr>
              <a:t>으로 만들 수 </a:t>
            </a:r>
            <a:r>
              <a:rPr lang="ko-KR" altLang="en-US" dirty="0" err="1" smtClean="0">
                <a:latin typeface="+mn-ea"/>
              </a:rPr>
              <a:t>있습</a:t>
            </a:r>
            <a:endParaRPr lang="en-US" altLang="ko-KR" dirty="0" smtClean="0">
              <a:latin typeface="+mn-ea"/>
            </a:endParaRPr>
          </a:p>
          <a:p>
            <a:pPr>
              <a:lnSpc>
                <a:spcPct val="150000"/>
              </a:lnSpc>
            </a:pPr>
            <a:r>
              <a:rPr lang="en-US" altLang="ko-KR" dirty="0" smtClean="0">
                <a:latin typeface="+mn-ea"/>
              </a:rPr>
              <a:t>  </a:t>
            </a:r>
            <a:r>
              <a:rPr lang="ko-KR" altLang="en-US" dirty="0" err="1" smtClean="0">
                <a:latin typeface="+mn-ea"/>
              </a:rPr>
              <a:t>니다</a:t>
            </a:r>
            <a:r>
              <a:rPr lang="en-US" altLang="ko-KR" dirty="0" smtClean="0">
                <a:latin typeface="+mn-ea"/>
              </a:rPr>
              <a:t>. </a:t>
            </a:r>
            <a:r>
              <a:rPr lang="ko-KR" altLang="en-US" dirty="0"/>
              <a:t>정화한 </a:t>
            </a:r>
            <a:r>
              <a:rPr lang="ko-KR" altLang="en-US" dirty="0" err="1"/>
              <a:t>몬스터는</a:t>
            </a:r>
            <a:r>
              <a:rPr lang="ko-KR" altLang="en-US" dirty="0"/>
              <a:t> 플레이어의 편에 서서 함께 전투를 </a:t>
            </a:r>
            <a:endParaRPr lang="en-US" altLang="ko-KR" dirty="0" smtClean="0"/>
          </a:p>
          <a:p>
            <a:pPr>
              <a:lnSpc>
                <a:spcPct val="150000"/>
              </a:lnSpc>
            </a:pPr>
            <a:r>
              <a:rPr lang="en-US" altLang="ko-KR" dirty="0"/>
              <a:t> </a:t>
            </a:r>
            <a:r>
              <a:rPr lang="en-US" altLang="ko-KR" dirty="0" smtClean="0"/>
              <a:t> </a:t>
            </a:r>
            <a:r>
              <a:rPr lang="ko-KR" altLang="en-US" dirty="0" smtClean="0"/>
              <a:t>치를 것</a:t>
            </a:r>
            <a:r>
              <a:rPr lang="en-US" altLang="ko-KR" dirty="0" smtClean="0"/>
              <a:t> </a:t>
            </a:r>
            <a:r>
              <a:rPr lang="ko-KR" altLang="en-US" dirty="0"/>
              <a:t>입니다</a:t>
            </a:r>
            <a:r>
              <a:rPr lang="en-US" altLang="ko-KR" dirty="0"/>
              <a:t>. </a:t>
            </a:r>
            <a:endParaRPr lang="en-US" altLang="ko-KR" dirty="0" smtClean="0">
              <a:latin typeface="+mn-ea"/>
            </a:endParaRPr>
          </a:p>
          <a:p>
            <a:pPr>
              <a:lnSpc>
                <a:spcPct val="150000"/>
              </a:lnSpc>
            </a:pPr>
            <a:endParaRPr lang="en-US" altLang="ko-KR" sz="1200" dirty="0">
              <a:latin typeface="+mn-ea"/>
            </a:endParaRPr>
          </a:p>
          <a:p>
            <a:pPr>
              <a:lnSpc>
                <a:spcPct val="150000"/>
              </a:lnSpc>
            </a:pPr>
            <a:r>
              <a:rPr lang="en-US" altLang="ko-KR" dirty="0" smtClean="0"/>
              <a:t>• </a:t>
            </a:r>
            <a:r>
              <a:rPr lang="ko-KR" altLang="en-US" dirty="0" err="1" smtClean="0"/>
              <a:t>몬스터에</a:t>
            </a:r>
            <a:r>
              <a:rPr lang="ko-KR" altLang="en-US" dirty="0" smtClean="0"/>
              <a:t> 따라 정화 방법과 조</a:t>
            </a:r>
            <a:r>
              <a:rPr lang="ko-KR" altLang="en-US" dirty="0"/>
              <a:t>건</a:t>
            </a:r>
            <a:r>
              <a:rPr lang="ko-KR" altLang="en-US" dirty="0" smtClean="0"/>
              <a:t>이 상이하기 때문에</a:t>
            </a:r>
            <a:r>
              <a:rPr lang="en-US" altLang="ko-KR" dirty="0" smtClean="0"/>
              <a:t>, </a:t>
            </a:r>
            <a:r>
              <a:rPr lang="ko-KR" altLang="en-US" dirty="0" smtClean="0"/>
              <a:t>원하는 </a:t>
            </a:r>
            <a:endParaRPr lang="en-US" altLang="ko-KR" dirty="0" smtClean="0"/>
          </a:p>
          <a:p>
            <a:pPr>
              <a:lnSpc>
                <a:spcPct val="150000"/>
              </a:lnSpc>
            </a:pPr>
            <a:r>
              <a:rPr lang="en-US" altLang="ko-KR" dirty="0"/>
              <a:t> </a:t>
            </a:r>
            <a:r>
              <a:rPr lang="en-US" altLang="ko-KR" dirty="0" smtClean="0"/>
              <a:t> </a:t>
            </a:r>
            <a:r>
              <a:rPr lang="ko-KR" altLang="en-US" dirty="0" smtClean="0"/>
              <a:t>몬스터를 얻기</a:t>
            </a:r>
            <a:r>
              <a:rPr lang="en-US" altLang="ko-KR" dirty="0" smtClean="0"/>
              <a:t> </a:t>
            </a:r>
            <a:r>
              <a:rPr lang="ko-KR" altLang="en-US" dirty="0" smtClean="0"/>
              <a:t>위해선 특정한 방법에 따라 </a:t>
            </a:r>
            <a:r>
              <a:rPr lang="ko-KR" altLang="en-US" b="1" dirty="0" smtClean="0"/>
              <a:t>조건을 만족</a:t>
            </a:r>
            <a:r>
              <a:rPr lang="ko-KR" altLang="en-US" dirty="0" smtClean="0"/>
              <a:t>시켜야 </a:t>
            </a:r>
            <a:endParaRPr lang="en-US" altLang="ko-KR" dirty="0" smtClean="0"/>
          </a:p>
          <a:p>
            <a:pPr>
              <a:lnSpc>
                <a:spcPct val="150000"/>
              </a:lnSpc>
            </a:pPr>
            <a:r>
              <a:rPr lang="en-US" altLang="ko-KR" dirty="0"/>
              <a:t> </a:t>
            </a:r>
            <a:r>
              <a:rPr lang="en-US" altLang="ko-KR" dirty="0" smtClean="0"/>
              <a:t> </a:t>
            </a:r>
            <a:r>
              <a:rPr lang="ko-KR" altLang="en-US" dirty="0" smtClean="0"/>
              <a:t>합니다</a:t>
            </a:r>
            <a:r>
              <a:rPr lang="en-US" altLang="ko-KR" dirty="0" smtClean="0"/>
              <a:t>.</a:t>
            </a:r>
            <a:r>
              <a:rPr lang="ko-KR" altLang="en-US" dirty="0"/>
              <a:t> </a:t>
            </a:r>
            <a:r>
              <a:rPr lang="ko-KR" altLang="en-US" dirty="0" smtClean="0"/>
              <a:t>기본적으로 알 수 없으나</a:t>
            </a:r>
            <a:r>
              <a:rPr lang="en-US" altLang="ko-KR" dirty="0" smtClean="0"/>
              <a:t>, </a:t>
            </a:r>
            <a:r>
              <a:rPr lang="ko-KR" altLang="en-US" dirty="0" smtClean="0"/>
              <a:t>한번 획득하면 방법이 기록 </a:t>
            </a:r>
            <a:endParaRPr lang="en-US" altLang="ko-KR" dirty="0" smtClean="0"/>
          </a:p>
          <a:p>
            <a:pPr>
              <a:lnSpc>
                <a:spcPct val="150000"/>
              </a:lnSpc>
            </a:pPr>
            <a:r>
              <a:rPr lang="en-US" altLang="ko-KR" dirty="0"/>
              <a:t> </a:t>
            </a:r>
            <a:r>
              <a:rPr lang="en-US" altLang="ko-KR" dirty="0" smtClean="0"/>
              <a:t> </a:t>
            </a:r>
            <a:r>
              <a:rPr lang="ko-KR" altLang="en-US" dirty="0" smtClean="0"/>
              <a:t>으로 남습니다</a:t>
            </a:r>
            <a:r>
              <a:rPr lang="en-US" altLang="ko-KR" dirty="0" smtClean="0"/>
              <a:t>.</a:t>
            </a:r>
          </a:p>
          <a:p>
            <a:pPr>
              <a:lnSpc>
                <a:spcPct val="150000"/>
              </a:lnSpc>
            </a:pPr>
            <a:endParaRPr lang="en-US" altLang="ko-KR" sz="1200" dirty="0" smtClean="0"/>
          </a:p>
          <a:p>
            <a:pPr>
              <a:lnSpc>
                <a:spcPct val="150000"/>
              </a:lnSpc>
            </a:pPr>
            <a:r>
              <a:rPr lang="en-US" altLang="ko-KR" dirty="0" smtClean="0"/>
              <a:t>• </a:t>
            </a:r>
            <a:r>
              <a:rPr lang="ko-KR" altLang="en-US" dirty="0" err="1" smtClean="0"/>
              <a:t>몬스터의</a:t>
            </a:r>
            <a:r>
              <a:rPr lang="ko-KR" altLang="en-US" dirty="0" smtClean="0"/>
              <a:t> 입수 방법을 알아내기 위해 플레이어는 다양한 </a:t>
            </a:r>
            <a:r>
              <a:rPr lang="ko-KR" altLang="en-US" b="1" dirty="0" smtClean="0"/>
              <a:t>시행</a:t>
            </a:r>
            <a:endParaRPr lang="en-US" altLang="ko-KR" b="1" dirty="0" smtClean="0"/>
          </a:p>
          <a:p>
            <a:pPr>
              <a:lnSpc>
                <a:spcPct val="150000"/>
              </a:lnSpc>
            </a:pPr>
            <a:r>
              <a:rPr lang="en-US" altLang="ko-KR" b="1" dirty="0"/>
              <a:t> </a:t>
            </a:r>
            <a:r>
              <a:rPr lang="en-US" altLang="ko-KR" b="1" dirty="0" smtClean="0"/>
              <a:t> </a:t>
            </a:r>
            <a:r>
              <a:rPr lang="ko-KR" altLang="en-US" b="1" dirty="0" smtClean="0"/>
              <a:t>착오</a:t>
            </a:r>
            <a:r>
              <a:rPr lang="ko-KR" altLang="en-US" dirty="0" smtClean="0"/>
              <a:t>를 겪을 것이고</a:t>
            </a:r>
            <a:r>
              <a:rPr lang="en-US" altLang="ko-KR" dirty="0" smtClean="0"/>
              <a:t>, </a:t>
            </a:r>
            <a:r>
              <a:rPr lang="ko-KR" altLang="en-US" dirty="0" smtClean="0"/>
              <a:t>이를 통해 플레이의 </a:t>
            </a:r>
            <a:r>
              <a:rPr lang="ko-KR" altLang="en-US" dirty="0" err="1" smtClean="0"/>
              <a:t>몰입감을</a:t>
            </a:r>
            <a:r>
              <a:rPr lang="ko-KR" altLang="en-US" dirty="0" smtClean="0"/>
              <a:t> 향상시킬 수 </a:t>
            </a:r>
            <a:endParaRPr lang="en-US" altLang="ko-KR" dirty="0" smtClean="0"/>
          </a:p>
          <a:p>
            <a:pPr>
              <a:lnSpc>
                <a:spcPct val="150000"/>
              </a:lnSpc>
            </a:pPr>
            <a:r>
              <a:rPr lang="en-US" altLang="ko-KR" dirty="0"/>
              <a:t> </a:t>
            </a:r>
            <a:r>
              <a:rPr lang="en-US" altLang="ko-KR" dirty="0" smtClean="0"/>
              <a:t> </a:t>
            </a:r>
            <a:r>
              <a:rPr lang="ko-KR" altLang="en-US" dirty="0" smtClean="0"/>
              <a:t>있습니다</a:t>
            </a:r>
            <a:r>
              <a:rPr lang="en-US" altLang="ko-KR" dirty="0" smtClean="0"/>
              <a:t>.  </a:t>
            </a:r>
            <a:r>
              <a:rPr lang="ko-KR" altLang="en-US" dirty="0" smtClean="0"/>
              <a:t> </a:t>
            </a:r>
            <a:endParaRPr lang="en-US" altLang="ko-KR" dirty="0" smtClean="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2578" y="1255092"/>
            <a:ext cx="3892805"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578" y="3817287"/>
            <a:ext cx="3969447" cy="228794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7</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790598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err="1">
                <a:gradFill>
                  <a:gsLst>
                    <a:gs pos="0">
                      <a:schemeClr val="tx1"/>
                    </a:gs>
                    <a:gs pos="100000">
                      <a:schemeClr val="tx1"/>
                    </a:gs>
                  </a:gsLst>
                  <a:lin ang="5400000" scaled="1"/>
                </a:gradFill>
                <a:latin typeface="맑은 고딕" panose="020B0503020000020004" pitchFamily="50" charset="-127"/>
              </a:rPr>
              <a:t>턴방식</a:t>
            </a:r>
            <a:r>
              <a:rPr lang="ko-KR" altLang="en-US" sz="3200" b="1" dirty="0">
                <a:gradFill>
                  <a:gsLst>
                    <a:gs pos="0">
                      <a:schemeClr val="tx1"/>
                    </a:gs>
                    <a:gs pos="100000">
                      <a:schemeClr val="tx1"/>
                    </a:gs>
                  </a:gsLst>
                  <a:lin ang="5400000" scaled="1"/>
                </a:gradFill>
                <a:latin typeface="맑은 고딕" panose="020B0503020000020004" pitchFamily="50" charset="-127"/>
              </a:rPr>
              <a:t> 전략 </a:t>
            </a:r>
            <a:r>
              <a:rPr lang="ko-KR" altLang="en-US" sz="3200" b="1" dirty="0" smtClean="0">
                <a:gradFill>
                  <a:gsLst>
                    <a:gs pos="0">
                      <a:schemeClr val="tx1"/>
                    </a:gs>
                    <a:gs pos="100000">
                      <a:schemeClr val="tx1"/>
                    </a:gs>
                  </a:gsLst>
                  <a:lin ang="5400000" scaled="1"/>
                </a:gradFill>
                <a:latin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14</a:t>
            </a:fld>
            <a:endParaRPr lang="ko-KR" altLang="en-US" sz="1800" dirty="0"/>
          </a:p>
        </p:txBody>
      </p:sp>
      <p:sp>
        <p:nvSpPr>
          <p:cNvPr id="13" name="TextBox 12"/>
          <p:cNvSpPr txBox="1"/>
          <p:nvPr/>
        </p:nvSpPr>
        <p:spPr>
          <a:xfrm>
            <a:off x="5280347" y="1347170"/>
            <a:ext cx="6660506" cy="4662815"/>
          </a:xfrm>
          <a:prstGeom prst="rect">
            <a:avLst/>
          </a:prstGeom>
          <a:noFill/>
        </p:spPr>
        <p:txBody>
          <a:bodyPr wrap="square" rtlCol="0">
            <a:spAutoFit/>
          </a:bodyPr>
          <a:lstStyle/>
          <a:p>
            <a:pPr>
              <a:lnSpc>
                <a:spcPct val="150000"/>
              </a:lnSpc>
            </a:pPr>
            <a:r>
              <a:rPr lang="en-US" altLang="ko-KR" dirty="0"/>
              <a:t>• </a:t>
            </a:r>
            <a:r>
              <a:rPr lang="ko-KR" altLang="en-US" dirty="0" smtClean="0"/>
              <a:t>플레이어는 </a:t>
            </a:r>
            <a:r>
              <a:rPr lang="ko-KR" altLang="en-US" dirty="0" smtClean="0">
                <a:latin typeface="+mn-ea"/>
              </a:rPr>
              <a:t>다양한 개성을 지닌 </a:t>
            </a:r>
            <a:r>
              <a:rPr lang="ko-KR" altLang="en-US" b="1" dirty="0" smtClean="0">
                <a:latin typeface="+mn-ea"/>
              </a:rPr>
              <a:t>캐릭터와 몬스터를 조합</a:t>
            </a:r>
            <a:r>
              <a:rPr lang="ko-KR" altLang="en-US" dirty="0" smtClean="0">
                <a:latin typeface="+mn-ea"/>
              </a:rPr>
              <a:t>하여</a:t>
            </a:r>
            <a:r>
              <a:rPr lang="en-US" altLang="ko-KR" dirty="0" smtClean="0">
                <a:latin typeface="+mn-ea"/>
              </a:rPr>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던전 속</a:t>
            </a:r>
            <a:r>
              <a:rPr lang="en-US" altLang="ko-KR" dirty="0" smtClean="0">
                <a:latin typeface="+mn-ea"/>
              </a:rPr>
              <a:t> </a:t>
            </a:r>
            <a:r>
              <a:rPr lang="ko-KR" altLang="en-US" dirty="0" err="1" smtClean="0">
                <a:latin typeface="+mn-ea"/>
              </a:rPr>
              <a:t>몬스터들을</a:t>
            </a:r>
            <a:r>
              <a:rPr lang="ko-KR" altLang="en-US" dirty="0" smtClean="0">
                <a:latin typeface="+mn-ea"/>
              </a:rPr>
              <a:t> 최대한 피해 없이 쓰러트려야 합니다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a:t>아군과 적군의 </a:t>
            </a:r>
            <a:r>
              <a:rPr lang="ko-KR" altLang="en-US" dirty="0" smtClean="0"/>
              <a:t>기</a:t>
            </a:r>
            <a:r>
              <a:rPr lang="ko-KR" altLang="en-US" dirty="0"/>
              <a:t>술</a:t>
            </a:r>
            <a:r>
              <a:rPr lang="ko-KR" altLang="en-US" dirty="0" smtClean="0"/>
              <a:t> </a:t>
            </a:r>
            <a:r>
              <a:rPr lang="ko-KR" altLang="en-US" dirty="0"/>
              <a:t>차이</a:t>
            </a:r>
            <a:r>
              <a:rPr lang="en-US" altLang="ko-KR" dirty="0"/>
              <a:t>, </a:t>
            </a:r>
            <a:r>
              <a:rPr lang="ko-KR" altLang="en-US" dirty="0"/>
              <a:t>상성</a:t>
            </a:r>
            <a:r>
              <a:rPr lang="en-US" altLang="ko-KR" dirty="0"/>
              <a:t>, </a:t>
            </a:r>
            <a:r>
              <a:rPr lang="ko-KR" altLang="en-US" dirty="0" err="1" smtClean="0"/>
              <a:t>아티팩트</a:t>
            </a:r>
            <a:r>
              <a:rPr lang="ko-KR" altLang="en-US" dirty="0" smtClean="0"/>
              <a:t> 능력</a:t>
            </a:r>
            <a:r>
              <a:rPr lang="en-US" altLang="ko-KR" dirty="0" smtClean="0"/>
              <a:t>, </a:t>
            </a:r>
            <a:r>
              <a:rPr lang="ko-KR" altLang="en-US" dirty="0"/>
              <a:t>파티의 컨셉과 </a:t>
            </a:r>
            <a:endParaRPr lang="en-US" altLang="ko-KR" dirty="0"/>
          </a:p>
          <a:p>
            <a:pPr>
              <a:lnSpc>
                <a:spcPct val="150000"/>
              </a:lnSpc>
            </a:pPr>
            <a:r>
              <a:rPr lang="en-US" altLang="ko-KR" dirty="0"/>
              <a:t>  </a:t>
            </a:r>
            <a:r>
              <a:rPr lang="ko-KR" altLang="en-US" dirty="0"/>
              <a:t>장단점 등 </a:t>
            </a:r>
            <a:r>
              <a:rPr lang="ko-KR" altLang="en-US" b="1" dirty="0"/>
              <a:t>다양한 전략적 변수</a:t>
            </a:r>
            <a:r>
              <a:rPr lang="ko-KR" altLang="en-US" dirty="0"/>
              <a:t>들이 존재합니다</a:t>
            </a:r>
            <a:r>
              <a:rPr lang="en-US" altLang="ko-KR" dirty="0" smtClean="0"/>
              <a:t>. </a:t>
            </a:r>
          </a:p>
          <a:p>
            <a:pPr>
              <a:lnSpc>
                <a:spcPct val="150000"/>
              </a:lnSpc>
            </a:pPr>
            <a:endParaRPr lang="en-US" altLang="ko-KR" sz="1200" dirty="0"/>
          </a:p>
          <a:p>
            <a:pPr>
              <a:lnSpc>
                <a:spcPct val="150000"/>
              </a:lnSpc>
            </a:pPr>
            <a:r>
              <a:rPr lang="en-US" altLang="ko-KR" dirty="0" smtClean="0"/>
              <a:t>• </a:t>
            </a:r>
            <a:r>
              <a:rPr lang="ko-KR" altLang="en-US" dirty="0" smtClean="0">
                <a:latin typeface="+mn-ea"/>
              </a:rPr>
              <a:t>턴 방식을 통해 이러한 다양한 변수를 고려하며</a:t>
            </a:r>
            <a:r>
              <a:rPr lang="en-US" altLang="ko-KR" dirty="0" smtClean="0">
                <a:latin typeface="+mn-ea"/>
              </a:rPr>
              <a:t> </a:t>
            </a:r>
            <a:r>
              <a:rPr lang="ko-KR" altLang="en-US" b="1" dirty="0" smtClean="0">
                <a:latin typeface="+mn-ea"/>
              </a:rPr>
              <a:t>효율적이고</a:t>
            </a:r>
            <a:r>
              <a:rPr lang="en-US" altLang="ko-KR" dirty="0" smtClean="0"/>
              <a:t> </a:t>
            </a:r>
          </a:p>
          <a:p>
            <a:pPr>
              <a:lnSpc>
                <a:spcPct val="150000"/>
              </a:lnSpc>
            </a:pPr>
            <a:r>
              <a:rPr lang="en-US" altLang="ko-KR" dirty="0"/>
              <a:t> </a:t>
            </a:r>
            <a:r>
              <a:rPr lang="en-US" altLang="ko-KR" dirty="0" smtClean="0"/>
              <a:t> </a:t>
            </a:r>
            <a:r>
              <a:rPr lang="ko-KR" altLang="en-US" b="1" dirty="0" smtClean="0"/>
              <a:t>합리적인 선택</a:t>
            </a:r>
            <a:r>
              <a:rPr lang="ko-KR" altLang="en-US" dirty="0" smtClean="0"/>
              <a:t>을 내리게끔 하여</a:t>
            </a:r>
            <a:r>
              <a:rPr lang="en-US" altLang="ko-KR" dirty="0" smtClean="0"/>
              <a:t>, </a:t>
            </a:r>
            <a:r>
              <a:rPr lang="ko-KR" altLang="en-US" dirty="0" smtClean="0"/>
              <a:t>게임에 </a:t>
            </a:r>
            <a:r>
              <a:rPr lang="ko-KR" altLang="en-US" dirty="0" err="1" smtClean="0"/>
              <a:t>전략성을</a:t>
            </a:r>
            <a:r>
              <a:rPr lang="ko-KR" altLang="en-US" dirty="0" smtClean="0"/>
              <a:t> 부여합니다</a:t>
            </a:r>
            <a:r>
              <a:rPr lang="en-US" altLang="ko-KR" dirty="0" smtClean="0"/>
              <a:t>.</a:t>
            </a:r>
            <a:endParaRPr lang="en-US" altLang="ko-KR" dirty="0"/>
          </a:p>
          <a:p>
            <a:pPr>
              <a:lnSpc>
                <a:spcPct val="150000"/>
              </a:lnSpc>
            </a:pPr>
            <a:endParaRPr lang="en-US" altLang="ko-KR" sz="1200" dirty="0" smtClean="0"/>
          </a:p>
          <a:p>
            <a:pPr>
              <a:lnSpc>
                <a:spcPct val="150000"/>
              </a:lnSpc>
            </a:pPr>
            <a:r>
              <a:rPr lang="en-US" altLang="ko-KR" dirty="0" smtClean="0"/>
              <a:t>• </a:t>
            </a:r>
            <a:r>
              <a:rPr lang="ko-KR" altLang="en-US" dirty="0" smtClean="0"/>
              <a:t>실시간으로 플레이어의 컨트롤 능력을 요구하는 대신</a:t>
            </a:r>
            <a:r>
              <a:rPr lang="en-US" altLang="ko-KR" dirty="0" smtClean="0"/>
              <a:t> </a:t>
            </a:r>
            <a:r>
              <a:rPr lang="ko-KR" altLang="en-US" b="1" dirty="0" smtClean="0"/>
              <a:t>적절한   </a:t>
            </a:r>
            <a:endParaRPr lang="en-US" altLang="ko-KR" b="1" dirty="0" smtClean="0"/>
          </a:p>
          <a:p>
            <a:pPr>
              <a:lnSpc>
                <a:spcPct val="150000"/>
              </a:lnSpc>
            </a:pPr>
            <a:r>
              <a:rPr lang="en-US" altLang="ko-KR" b="1" dirty="0"/>
              <a:t> </a:t>
            </a:r>
            <a:r>
              <a:rPr lang="en-US" altLang="ko-KR" b="1" dirty="0" smtClean="0"/>
              <a:t> </a:t>
            </a:r>
            <a:r>
              <a:rPr lang="ko-KR" altLang="en-US" b="1" dirty="0" smtClean="0"/>
              <a:t>판단을 필요</a:t>
            </a:r>
            <a:r>
              <a:rPr lang="ko-KR" altLang="en-US" dirty="0" smtClean="0"/>
              <a:t>로 하기 때문에</a:t>
            </a:r>
            <a:r>
              <a:rPr lang="en-US" altLang="ko-KR" dirty="0" smtClean="0"/>
              <a:t>, </a:t>
            </a:r>
            <a:r>
              <a:rPr lang="ko-KR" altLang="en-US" dirty="0" smtClean="0"/>
              <a:t>누구나 손쉽게 접근할 수 있고</a:t>
            </a:r>
            <a:endParaRPr lang="en-US" altLang="ko-KR" dirty="0" smtClean="0"/>
          </a:p>
          <a:p>
            <a:pPr>
              <a:lnSpc>
                <a:spcPct val="150000"/>
              </a:lnSpc>
            </a:pPr>
            <a:r>
              <a:rPr lang="ko-KR" altLang="en-US" dirty="0" smtClean="0"/>
              <a:t>  게임의 기술적 구현에 있어서도 장점을 가지고 있습니다</a:t>
            </a:r>
            <a:r>
              <a:rPr lang="en-US" altLang="ko-KR" dirty="0" smtClean="0"/>
              <a:t>.</a:t>
            </a:r>
            <a:endParaRPr lang="en-US" altLang="ko-KR" dirty="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530" y="1255092"/>
            <a:ext cx="3840901"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8 )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530" y="3859452"/>
            <a:ext cx="3840901" cy="216050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4541366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게임 플레이</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15</a:t>
            </a:fld>
            <a:endParaRPr lang="ko-KR" altLang="en-US" dirty="0">
              <a:solidFill>
                <a:prstClr val="black">
                  <a:tint val="75000"/>
                </a:prstClr>
              </a:solidFill>
            </a:endParaRPr>
          </a:p>
        </p:txBody>
      </p:sp>
    </p:spTree>
    <p:extLst>
      <p:ext uri="{BB962C8B-B14F-4D97-AF65-F5344CB8AC3E}">
        <p14:creationId xmlns:p14="http://schemas.microsoft.com/office/powerpoint/2010/main" val="350178105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16</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6" name="TextBox 95"/>
          <p:cNvSpPr txBox="1"/>
          <p:nvPr/>
        </p:nvSpPr>
        <p:spPr>
          <a:xfrm>
            <a:off x="8900590" y="304142"/>
            <a:ext cx="3186882"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계층은 차후 추가될 수 있습니다</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모서리가 둥근 직사각형 1"/>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425941350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예상 경로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17</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1" name="직선 화살표 연결선 10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7" name="직선 화살표 연결선 10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8" name="직선 화살표 연결선 10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2" name="직선 화살표 연결선 111"/>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직선 화살표 연결선 113"/>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5" name="직선 화살표 연결선 114"/>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6" name="직선 화살표 연결선 115"/>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7" name="직선 화살표 연결선 116"/>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직선 화살표 연결선 117"/>
          <p:cNvCxnSpPr/>
          <p:nvPr/>
        </p:nvCxnSpPr>
        <p:spPr>
          <a:xfrm flipV="1">
            <a:off x="8045823" y="2812766"/>
            <a:ext cx="491695" cy="7395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9" name="직선 화살표 연결선 118"/>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0" name="직선 화살표 연결선 119"/>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1" name="직선 화살표 연결선 120"/>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직선 화살표 연결선 121"/>
          <p:cNvCxnSpPr/>
          <p:nvPr/>
        </p:nvCxnSpPr>
        <p:spPr>
          <a:xfrm flipH="1" flipV="1">
            <a:off x="9979507" y="3955767"/>
            <a:ext cx="75587" cy="203049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3" name="직선 화살표 연결선 12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96" name="모서리가 둥근 직사각형 95"/>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121639292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18</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도넛 76"/>
          <p:cNvSpPr/>
          <p:nvPr/>
        </p:nvSpPr>
        <p:spPr>
          <a:xfrm>
            <a:off x="349545" y="3112030"/>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1686139" y="1245339"/>
            <a:ext cx="2680605" cy="1978087"/>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입구</a:t>
            </a:r>
            <a:r>
              <a:rPr lang="en-US" altLang="ko-KR" sz="1600" b="1" dirty="0" smtClean="0">
                <a:solidFill>
                  <a:sysClr val="windowText" lastClr="000000"/>
                </a:solidFill>
              </a:rPr>
              <a:t>’</a:t>
            </a: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 탐험을 시작하는 장소</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전투가 발생하지 않음</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아티팩트를</a:t>
            </a:r>
            <a:r>
              <a:rPr lang="ko-KR" altLang="en-US" sz="1400" dirty="0" smtClean="0">
                <a:solidFill>
                  <a:sysClr val="windowText" lastClr="000000"/>
                </a:solidFill>
              </a:rPr>
              <a:t> 획득함</a:t>
            </a:r>
            <a:endParaRPr lang="ko-KR" altLang="en-US" sz="1400" dirty="0">
              <a:solidFill>
                <a:sysClr val="windowText" lastClr="000000"/>
              </a:solidFill>
            </a:endParaRPr>
          </a:p>
        </p:txBody>
      </p:sp>
      <p:sp>
        <p:nvSpPr>
          <p:cNvPr id="96" name="모서리가 둥근 직사각형 95"/>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392988273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19</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2173999" y="1268884"/>
            <a:ext cx="2804753" cy="2560868"/>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길</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던전을 탐험하는 길을 표시</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계층 내에서 왕복으로 이동 가능하며</a:t>
            </a:r>
            <a:r>
              <a:rPr lang="en-US" altLang="ko-KR" sz="1400" dirty="0" smtClean="0">
                <a:solidFill>
                  <a:sysClr val="windowText" lastClr="000000"/>
                </a:solidFill>
              </a:rPr>
              <a:t>, </a:t>
            </a:r>
            <a:r>
              <a:rPr lang="ko-KR" altLang="en-US" sz="1400" dirty="0" smtClean="0">
                <a:solidFill>
                  <a:sysClr val="windowText" lastClr="000000"/>
                </a:solidFill>
              </a:rPr>
              <a:t>한번에 하나의 길을 건널 수 있음</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계층 간 이동의 경우</a:t>
            </a:r>
            <a:r>
              <a:rPr lang="en-US" altLang="ko-KR" sz="1400" dirty="0" smtClean="0">
                <a:solidFill>
                  <a:sysClr val="windowText" lastClr="000000"/>
                </a:solidFill>
              </a:rPr>
              <a:t>, </a:t>
            </a:r>
            <a:r>
              <a:rPr lang="ko-KR" altLang="en-US" sz="1400" dirty="0" smtClean="0">
                <a:solidFill>
                  <a:sysClr val="windowText" lastClr="000000"/>
                </a:solidFill>
              </a:rPr>
              <a:t>이전 계층으로 되돌아갈 수 없음</a:t>
            </a:r>
            <a:endParaRPr lang="ko-KR" altLang="en-US" sz="1400" dirty="0">
              <a:solidFill>
                <a:sysClr val="windowText" lastClr="000000"/>
              </a:solidFill>
            </a:endParaRPr>
          </a:p>
        </p:txBody>
      </p:sp>
      <p:cxnSp>
        <p:nvCxnSpPr>
          <p:cNvPr id="96" name="직선 화살표 연결선 95"/>
          <p:cNvCxnSpPr/>
          <p:nvPr/>
        </p:nvCxnSpPr>
        <p:spPr>
          <a:xfrm>
            <a:off x="1662904" y="4037316"/>
            <a:ext cx="365072" cy="3803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1" name="모서리가 둥근 직사각형 100"/>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6" name="도넛 105"/>
          <p:cNvSpPr/>
          <p:nvPr/>
        </p:nvSpPr>
        <p:spPr>
          <a:xfrm>
            <a:off x="1476039" y="3787676"/>
            <a:ext cx="783158" cy="717722"/>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96793095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20</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3201414" y="1228619"/>
            <a:ext cx="3571267" cy="2549730"/>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계층</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에어리어들로 구성된</a:t>
            </a:r>
            <a:r>
              <a:rPr lang="en-US" altLang="ko-KR" sz="1400" dirty="0" smtClean="0">
                <a:solidFill>
                  <a:sysClr val="windowText" lastClr="000000"/>
                </a:solidFill>
              </a:rPr>
              <a:t>,</a:t>
            </a:r>
            <a:r>
              <a:rPr lang="ko-KR" altLang="en-US" sz="1400" dirty="0" smtClean="0">
                <a:solidFill>
                  <a:sysClr val="windowText" lastClr="000000"/>
                </a:solidFill>
              </a:rPr>
              <a:t> 던전의 층계</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가는 길이 이어져있는 </a:t>
            </a:r>
            <a:r>
              <a:rPr lang="en-US" altLang="ko-KR" sz="1400" dirty="0" smtClean="0">
                <a:solidFill>
                  <a:sysClr val="windowText" lastClr="000000"/>
                </a:solidFill>
              </a:rPr>
              <a:t>1</a:t>
            </a:r>
            <a:r>
              <a:rPr lang="ko-KR" altLang="en-US" sz="1400" dirty="0" smtClean="0">
                <a:solidFill>
                  <a:sysClr val="windowText" lastClr="000000"/>
                </a:solidFill>
              </a:rPr>
              <a:t>개의 </a:t>
            </a:r>
            <a:r>
              <a:rPr lang="ko-KR" altLang="en-US" sz="1400" dirty="0" err="1" smtClean="0">
                <a:solidFill>
                  <a:sysClr val="windowText" lastClr="000000"/>
                </a:solidFill>
              </a:rPr>
              <a:t>에어리어가</a:t>
            </a:r>
            <a:r>
              <a:rPr lang="ko-KR" altLang="en-US" sz="1400" dirty="0" smtClean="0">
                <a:solidFill>
                  <a:sysClr val="windowText" lastClr="000000"/>
                </a:solidFill>
              </a:rPr>
              <a:t> 존재</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넘어가면</a:t>
            </a:r>
            <a:r>
              <a:rPr lang="en-US" altLang="ko-KR" sz="1400" dirty="0" smtClean="0">
                <a:solidFill>
                  <a:sysClr val="windowText" lastClr="000000"/>
                </a:solidFill>
              </a:rPr>
              <a:t>, </a:t>
            </a:r>
            <a:r>
              <a:rPr lang="ko-KR" altLang="en-US" sz="1400" dirty="0" smtClean="0">
                <a:solidFill>
                  <a:sysClr val="windowText" lastClr="000000"/>
                </a:solidFill>
              </a:rPr>
              <a:t>이전의 계층으로 되돌아갈 수 없음</a:t>
            </a:r>
            <a:endParaRPr lang="en-US" altLang="ko-KR" sz="1400" dirty="0" smtClean="0">
              <a:solidFill>
                <a:sysClr val="windowText" lastClr="000000"/>
              </a:solidFill>
            </a:endParaRPr>
          </a:p>
        </p:txBody>
      </p:sp>
      <p:sp>
        <p:nvSpPr>
          <p:cNvPr id="96" name="모서리가 둥근 직사각형 95"/>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1" name="도넛 100"/>
          <p:cNvSpPr/>
          <p:nvPr/>
        </p:nvSpPr>
        <p:spPr>
          <a:xfrm>
            <a:off x="1787188" y="627372"/>
            <a:ext cx="1335591" cy="5752149"/>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94295887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21</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2730985" y="794865"/>
            <a:ext cx="3965534" cy="3309404"/>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에어리어</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몬스터와 이벤트가 존재하는</a:t>
            </a:r>
            <a:r>
              <a:rPr lang="en-US" altLang="ko-KR" sz="1400" dirty="0" smtClean="0">
                <a:solidFill>
                  <a:sysClr val="windowText" lastClr="000000"/>
                </a:solidFill>
              </a:rPr>
              <a:t>, </a:t>
            </a:r>
            <a:r>
              <a:rPr lang="ko-KR" altLang="en-US" sz="1400" dirty="0" smtClean="0">
                <a:solidFill>
                  <a:sysClr val="windowText" lastClr="000000"/>
                </a:solidFill>
              </a:rPr>
              <a:t>던전과 계층을 구성하는 단위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유무와 상관없이</a:t>
            </a:r>
            <a:r>
              <a:rPr lang="en-US" altLang="ko-KR" sz="1400" dirty="0" smtClean="0">
                <a:solidFill>
                  <a:sysClr val="windowText" lastClr="000000"/>
                </a:solidFill>
              </a:rPr>
              <a:t>, </a:t>
            </a:r>
            <a:r>
              <a:rPr lang="ko-KR" altLang="en-US" sz="1400" dirty="0" smtClean="0">
                <a:solidFill>
                  <a:sysClr val="windowText" lastClr="000000"/>
                </a:solidFill>
              </a:rPr>
              <a:t>길로 </a:t>
            </a:r>
            <a:r>
              <a:rPr lang="ko-KR" altLang="en-US" sz="1400" dirty="0" err="1" smtClean="0">
                <a:solidFill>
                  <a:sysClr val="windowText" lastClr="000000"/>
                </a:solidFill>
              </a:rPr>
              <a:t>이어져있는인접한</a:t>
            </a:r>
            <a:r>
              <a:rPr lang="ko-KR" altLang="en-US" sz="1400" dirty="0" smtClean="0">
                <a:solidFill>
                  <a:sysClr val="windowText" lastClr="000000"/>
                </a:solidFill>
              </a:rPr>
              <a:t> </a:t>
            </a:r>
            <a:r>
              <a:rPr lang="ko-KR" altLang="en-US" sz="1400" dirty="0" err="1" smtClean="0">
                <a:solidFill>
                  <a:sysClr val="windowText" lastClr="000000"/>
                </a:solidFill>
              </a:rPr>
              <a:t>에어리어</a:t>
            </a:r>
            <a:r>
              <a:rPr lang="ko-KR" altLang="en-US" sz="1400" dirty="0" smtClean="0">
                <a:solidFill>
                  <a:sysClr val="windowText" lastClr="000000"/>
                </a:solidFill>
              </a:rPr>
              <a:t> 간의 이동만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탐험하지 않은 지역은 회색</a:t>
            </a:r>
            <a:r>
              <a:rPr lang="en-US" altLang="ko-KR" sz="1400" dirty="0" smtClean="0">
                <a:solidFill>
                  <a:sysClr val="windowText" lastClr="000000"/>
                </a:solidFill>
              </a:rPr>
              <a:t>, </a:t>
            </a:r>
            <a:r>
              <a:rPr lang="ko-KR" altLang="en-US" sz="1400" dirty="0" smtClean="0">
                <a:solidFill>
                  <a:sysClr val="windowText" lastClr="000000"/>
                </a:solidFill>
              </a:rPr>
              <a:t>탐험한 지역은 백색으로 표시</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한번 클리어한 </a:t>
            </a:r>
            <a:r>
              <a:rPr lang="ko-KR" altLang="en-US" sz="1400" dirty="0" err="1" smtClean="0">
                <a:solidFill>
                  <a:sysClr val="windowText" lastClr="000000"/>
                </a:solidFill>
              </a:rPr>
              <a:t>에어리어는</a:t>
            </a:r>
            <a:r>
              <a:rPr lang="ko-KR" altLang="en-US" sz="1400" dirty="0" smtClean="0">
                <a:solidFill>
                  <a:sysClr val="windowText" lastClr="000000"/>
                </a:solidFill>
              </a:rPr>
              <a:t> 다시 방문해도 전투 및 이벤트가 발생하지 않음</a:t>
            </a:r>
            <a:endParaRPr lang="en-US" altLang="ko-KR" sz="1400" dirty="0" smtClean="0">
              <a:solidFill>
                <a:sysClr val="windowText" lastClr="000000"/>
              </a:solidFill>
            </a:endParaRPr>
          </a:p>
        </p:txBody>
      </p:sp>
      <p:sp>
        <p:nvSpPr>
          <p:cNvPr id="96" name="모서리가 둥근 직사각형 95"/>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1" name="도넛 100"/>
          <p:cNvSpPr/>
          <p:nvPr/>
        </p:nvSpPr>
        <p:spPr>
          <a:xfrm>
            <a:off x="2096169" y="4241515"/>
            <a:ext cx="720826" cy="66892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48726873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22</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4995893" y="1165145"/>
            <a:ext cx="2890089" cy="2035115"/>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중간보스</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강력한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보상으로 </a:t>
            </a:r>
            <a:r>
              <a:rPr lang="ko-KR" altLang="en-US" sz="1400" dirty="0" err="1" smtClean="0">
                <a:solidFill>
                  <a:sysClr val="windowText" lastClr="000000"/>
                </a:solidFill>
              </a:rPr>
              <a:t>아티팩트</a:t>
            </a:r>
            <a:r>
              <a:rPr lang="ko-KR" altLang="en-US" sz="1400" dirty="0" smtClean="0">
                <a:solidFill>
                  <a:sysClr val="windowText" lastClr="000000"/>
                </a:solidFill>
              </a:rPr>
              <a:t> 획득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a:t>
            </a:r>
            <a:r>
              <a:rPr lang="en-US" altLang="ko-KR" sz="1400" dirty="0" smtClean="0">
                <a:solidFill>
                  <a:sysClr val="windowText" lastClr="000000"/>
                </a:solidFill>
              </a:rPr>
              <a:t>X </a:t>
            </a:r>
            <a:r>
              <a:rPr lang="ko-KR" altLang="en-US" sz="1400" dirty="0" smtClean="0">
                <a:solidFill>
                  <a:sysClr val="windowText" lastClr="000000"/>
                </a:solidFill>
              </a:rPr>
              <a:t>표가 </a:t>
            </a:r>
            <a:r>
              <a:rPr lang="ko-KR" altLang="en-US" sz="1400" dirty="0" err="1" smtClean="0">
                <a:solidFill>
                  <a:sysClr val="windowText" lastClr="000000"/>
                </a:solidFill>
              </a:rPr>
              <a:t>그려짐</a:t>
            </a:r>
            <a:endParaRPr lang="en-US" altLang="ko-KR" sz="1400" dirty="0" smtClean="0">
              <a:solidFill>
                <a:sysClr val="windowText" lastClr="000000"/>
              </a:solidFill>
            </a:endParaRPr>
          </a:p>
        </p:txBody>
      </p:sp>
      <p:sp>
        <p:nvSpPr>
          <p:cNvPr id="96" name="모서리가 둥근 직사각형 95"/>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1" name="도넛 100"/>
          <p:cNvSpPr/>
          <p:nvPr/>
        </p:nvSpPr>
        <p:spPr>
          <a:xfrm>
            <a:off x="3956295" y="3225026"/>
            <a:ext cx="1195282" cy="1149724"/>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111466286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23</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8324563" y="1441928"/>
            <a:ext cx="2511056" cy="155715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최종보스</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최종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게임에서 승리</a:t>
            </a:r>
            <a:endParaRPr lang="en-US" altLang="ko-KR" sz="1400" dirty="0" smtClean="0">
              <a:solidFill>
                <a:sysClr val="windowText" lastClr="000000"/>
              </a:solidFill>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모서리가 둥근 직사각형 100"/>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5" name="도넛 104"/>
          <p:cNvSpPr/>
          <p:nvPr/>
        </p:nvSpPr>
        <p:spPr>
          <a:xfrm>
            <a:off x="10541498" y="3198865"/>
            <a:ext cx="1219963" cy="1164424"/>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257293999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24</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모서리가 둥근 직사각형 100"/>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78" name="모서리가 둥근 사각형 설명선 77"/>
          <p:cNvSpPr/>
          <p:nvPr/>
        </p:nvSpPr>
        <p:spPr>
          <a:xfrm>
            <a:off x="7125664" y="2501582"/>
            <a:ext cx="4084642" cy="257483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파티</a:t>
            </a:r>
            <a:r>
              <a:rPr lang="en-US" altLang="ko-KR" sz="1600" b="1" dirty="0" smtClean="0">
                <a:solidFill>
                  <a:sysClr val="windowText" lastClr="000000"/>
                </a:solidFill>
              </a:rPr>
              <a:t>’ </a:t>
            </a:r>
            <a:r>
              <a:rPr lang="ko-KR" altLang="en-US" sz="1600" b="1" dirty="0" smtClean="0">
                <a:solidFill>
                  <a:sysClr val="windowText" lastClr="000000"/>
                </a:solidFill>
              </a:rPr>
              <a:t>버튼</a:t>
            </a:r>
            <a:endParaRPr lang="en-US" altLang="ko-KR" sz="1600" b="1"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지도 상태에서 마우스 왼쪽 버튼 클릭으로 활성화</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플레이어 파티를 편성할 수 있는 창을 팝업</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파티창을</a:t>
            </a:r>
            <a:r>
              <a:rPr lang="ko-KR" altLang="en-US" sz="1400" dirty="0" smtClean="0">
                <a:solidFill>
                  <a:sysClr val="windowText" lastClr="000000"/>
                </a:solidFill>
              </a:rPr>
              <a:t> 통해 파티를 편성하고 캐릭터와 몬스터의 정보와 특성을 살펴볼 수 있음</a:t>
            </a:r>
            <a:endParaRPr lang="en-US" altLang="ko-KR" sz="1400" dirty="0" smtClean="0">
              <a:solidFill>
                <a:sysClr val="windowText" lastClr="000000"/>
              </a:solidFill>
            </a:endParaRPr>
          </a:p>
        </p:txBody>
      </p:sp>
      <p:sp>
        <p:nvSpPr>
          <p:cNvPr id="105" name="도넛 104"/>
          <p:cNvSpPr/>
          <p:nvPr/>
        </p:nvSpPr>
        <p:spPr>
          <a:xfrm>
            <a:off x="10654575" y="5137209"/>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85800066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25</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직선 화살표 연결선 7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5" name="직선 화살표 연결선 7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6" name="직선 화살표 연결선 7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7" name="직선 화살표 연결선 7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8" name="직선 화살표 연결선 7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직선 화살표 연결선 78"/>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1" name="직선 화살표 연결선 80"/>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2" name="직선 화살표 연결선 81"/>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3" name="직선 화살표 연결선 82"/>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5" name="직선 화살표 연결선 84"/>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 name="직선 화살표 연결선 90"/>
          <p:cNvCxnSpPr/>
          <p:nvPr/>
        </p:nvCxnSpPr>
        <p:spPr>
          <a:xfrm flipV="1">
            <a:off x="8045823" y="2812765"/>
            <a:ext cx="491695" cy="65085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5" name="직선 화살표 연결선 94"/>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1" name="직선 화살표 연결선 100"/>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flipH="1" flipV="1">
            <a:off x="9943966" y="3955766"/>
            <a:ext cx="151174" cy="203049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10374267" y="802896"/>
            <a:ext cx="1943240" cy="369332"/>
            <a:chOff x="10374267" y="802896"/>
            <a:chExt cx="1943240" cy="369332"/>
          </a:xfrm>
        </p:grpSpPr>
        <p:cxnSp>
          <p:nvCxnSpPr>
            <p:cNvPr id="114" name="직선 화살표 연결선 113"/>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grpSp>
      <p:sp>
        <p:nvSpPr>
          <p:cNvPr id="107" name="TextBox 106"/>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6" name="TextBox 115"/>
          <p:cNvSpPr txBox="1"/>
          <p:nvPr/>
        </p:nvSpPr>
        <p:spPr>
          <a:xfrm>
            <a:off x="4316878" y="392472"/>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TextBox 107"/>
          <p:cNvSpPr txBox="1"/>
          <p:nvPr/>
        </p:nvSpPr>
        <p:spPr>
          <a:xfrm>
            <a:off x="250992" y="5672576"/>
            <a:ext cx="1454041"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폐기</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1015570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26</a:t>
            </a:fld>
            <a:endParaRPr lang="ko-KR" altLang="en-US" sz="1800" dirty="0"/>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cxnSp>
        <p:nvCxnSpPr>
          <p:cNvPr id="130" name="직선 연결선 129"/>
          <p:cNvCxnSpPr/>
          <p:nvPr/>
        </p:nvCxnSpPr>
        <p:spPr>
          <a:xfrm rot="5400000" flipH="1">
            <a:off x="6324047" y="-254260"/>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타원 6"/>
          <p:cNvSpPr/>
          <p:nvPr/>
        </p:nvSpPr>
        <p:spPr>
          <a:xfrm rot="5400000">
            <a:off x="6142093" y="175058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rot="5400000">
            <a:off x="6922022" y="175607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rot="5400000">
            <a:off x="7715396" y="175607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rot="5400000">
            <a:off x="8495324" y="175688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5400000">
            <a:off x="3775416" y="174892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rot="5400000">
            <a:off x="4555343" y="174892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rot="5400000">
            <a:off x="5348718" y="17497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2" name="직선 연결선 141"/>
          <p:cNvCxnSpPr>
            <a:stCxn id="14" idx="6"/>
          </p:cNvCxnSpPr>
          <p:nvPr/>
        </p:nvCxnSpPr>
        <p:spPr>
          <a:xfrm rot="5400000">
            <a:off x="7164068" y="2051915"/>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endCxn id="24" idx="2"/>
          </p:cNvCxnSpPr>
          <p:nvPr/>
        </p:nvCxnSpPr>
        <p:spPr>
          <a:xfrm rot="5400000">
            <a:off x="5551220" y="963877"/>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2" name="그룹 1"/>
          <p:cNvGrpSpPr/>
          <p:nvPr/>
        </p:nvGrpSpPr>
        <p:grpSpPr>
          <a:xfrm>
            <a:off x="10374267" y="802896"/>
            <a:ext cx="1943240" cy="369332"/>
            <a:chOff x="10374267" y="802896"/>
            <a:chExt cx="1943240" cy="369332"/>
          </a:xfrm>
        </p:grpSpPr>
        <p:sp>
          <p:nvSpPr>
            <p:cNvPr id="75" name="TextBox 7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cxnSp>
          <p:nvCxnSpPr>
            <p:cNvPr id="76" name="직선 화살표 연결선 75"/>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
        <p:nvSpPr>
          <p:cNvPr id="77" name="TextBox 76"/>
          <p:cNvSpPr txBox="1"/>
          <p:nvPr/>
        </p:nvSpPr>
        <p:spPr>
          <a:xfrm>
            <a:off x="586462" y="1692907"/>
            <a:ext cx="1824307"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 지도</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타원 94"/>
          <p:cNvSpPr/>
          <p:nvPr/>
        </p:nvSpPr>
        <p:spPr>
          <a:xfrm rot="5400000">
            <a:off x="6166407" y="67824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p:cNvSpPr txBox="1"/>
          <p:nvPr/>
        </p:nvSpPr>
        <p:spPr>
          <a:xfrm>
            <a:off x="3714007"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6720246"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5" name="TextBox 104"/>
          <p:cNvSpPr txBox="1"/>
          <p:nvPr/>
        </p:nvSpPr>
        <p:spPr>
          <a:xfrm>
            <a:off x="2850190" y="73680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6" name="TextBox 105"/>
          <p:cNvSpPr txBox="1"/>
          <p:nvPr/>
        </p:nvSpPr>
        <p:spPr>
          <a:xfrm>
            <a:off x="2852951" y="176672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TextBox 106"/>
          <p:cNvSpPr txBox="1"/>
          <p:nvPr/>
        </p:nvSpPr>
        <p:spPr>
          <a:xfrm>
            <a:off x="2850190" y="279703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타원 107"/>
          <p:cNvSpPr/>
          <p:nvPr/>
        </p:nvSpPr>
        <p:spPr>
          <a:xfrm rot="5400000">
            <a:off x="6957556" y="277475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2" name="TextBox 111"/>
          <p:cNvSpPr txBox="1"/>
          <p:nvPr/>
        </p:nvSpPr>
        <p:spPr>
          <a:xfrm>
            <a:off x="4505156"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3" name="TextBox 112"/>
          <p:cNvSpPr txBox="1"/>
          <p:nvPr/>
        </p:nvSpPr>
        <p:spPr>
          <a:xfrm>
            <a:off x="7511395"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액자 31"/>
          <p:cNvSpPr/>
          <p:nvPr/>
        </p:nvSpPr>
        <p:spPr>
          <a:xfrm>
            <a:off x="8944960" y="1596946"/>
            <a:ext cx="1867339" cy="1820490"/>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3" name="모서리가 둥근 사각형 설명선 32"/>
          <p:cNvSpPr/>
          <p:nvPr/>
        </p:nvSpPr>
        <p:spPr>
          <a:xfrm>
            <a:off x="8284898" y="3530426"/>
            <a:ext cx="2713851" cy="2261498"/>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캐릭터</a:t>
            </a:r>
            <a:r>
              <a:rPr lang="en-US" altLang="ko-KR" sz="14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- 30x30 unit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 크기 제작의 기준</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a:t>
            </a:r>
          </a:p>
        </p:txBody>
      </p:sp>
      <p:sp>
        <p:nvSpPr>
          <p:cNvPr id="34" name="TextBox 33"/>
          <p:cNvSpPr txBox="1"/>
          <p:nvPr/>
        </p:nvSpPr>
        <p:spPr>
          <a:xfrm>
            <a:off x="250992" y="5672576"/>
            <a:ext cx="1454041"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폐기</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5652549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27</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331227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28</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2128569" y="2123288"/>
            <a:ext cx="1511256" cy="1437499"/>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407641" y="1531919"/>
            <a:ext cx="3274456" cy="3536600"/>
          </a:xfrm>
          <a:prstGeom prst="wedgeRoundRectCallout">
            <a:avLst>
              <a:gd name="adj1" fmla="val -66725"/>
              <a:gd name="adj2" fmla="val 401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캐릭터</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요소의 크기의 척도</a:t>
            </a:r>
            <a:r>
              <a:rPr lang="en-US" altLang="ko-KR" sz="1400" dirty="0" smtClean="0">
                <a:solidFill>
                  <a:sysClr val="windowText" lastClr="000000"/>
                </a:solidFill>
              </a:rPr>
              <a:t>, </a:t>
            </a:r>
            <a:r>
              <a:rPr lang="ko-KR" altLang="en-US" sz="1400" dirty="0" smtClean="0">
                <a:solidFill>
                  <a:sysClr val="windowText" lastClr="000000"/>
                </a:solidFill>
              </a:rPr>
              <a:t>기준 단위 </a:t>
            </a:r>
            <a:r>
              <a:rPr lang="en-US" altLang="ko-KR" sz="1400" dirty="0" smtClean="0">
                <a:solidFill>
                  <a:sysClr val="windowText" lastClr="000000"/>
                </a:solidFill>
              </a:rPr>
              <a:t>C</a:t>
            </a:r>
            <a:br>
              <a:rPr lang="en-US" altLang="ko-KR" sz="1400" dirty="0" smtClean="0">
                <a:solidFill>
                  <a:sysClr val="windowText" lastClr="000000"/>
                </a:solidFill>
              </a:rPr>
            </a:br>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항상 고정된 자리</a:t>
            </a:r>
            <a:r>
              <a:rPr lang="en-US" altLang="ko-KR" sz="1400" dirty="0" smtClean="0">
                <a:solidFill>
                  <a:sysClr val="windowText" lastClr="000000"/>
                </a:solidFill>
              </a:rPr>
              <a:t>(</a:t>
            </a:r>
            <a:r>
              <a:rPr lang="en-US" altLang="ko-KR" sz="1400" dirty="0">
                <a:solidFill>
                  <a:sysClr val="windowText" lastClr="000000"/>
                </a:solidFill>
              </a:rPr>
              <a:t>75, 100</a:t>
            </a:r>
            <a:r>
              <a:rPr lang="en-US" altLang="ko-KR" sz="1400" dirty="0" smtClean="0">
                <a:solidFill>
                  <a:sysClr val="windowText" lastClr="000000"/>
                </a:solidFill>
              </a:rPr>
              <a:t>)</a:t>
            </a:r>
            <a:r>
              <a:rPr lang="ko-KR" altLang="en-US" sz="1400" dirty="0" smtClean="0">
                <a:solidFill>
                  <a:sysClr val="windowText" lastClr="000000"/>
                </a:solidFill>
              </a:rPr>
              <a:t>에 위치해있으며 </a:t>
            </a:r>
            <a:r>
              <a:rPr lang="en-US" altLang="ko-KR" sz="1400" dirty="0" smtClean="0">
                <a:solidFill>
                  <a:sysClr val="windowText" lastClr="000000"/>
                </a:solidFill>
              </a:rPr>
              <a:t>HP, SP </a:t>
            </a:r>
            <a:r>
              <a:rPr lang="ko-KR" altLang="en-US" sz="1400" dirty="0" smtClean="0">
                <a:solidFill>
                  <a:sysClr val="windowText" lastClr="000000"/>
                </a:solidFill>
              </a:rPr>
              <a:t>게이지가 </a:t>
            </a:r>
            <a:r>
              <a:rPr lang="ko-KR" altLang="en-US" sz="1400" dirty="0" smtClean="0">
                <a:solidFill>
                  <a:sysClr val="windowText" lastClr="000000"/>
                </a:solidFill>
              </a:rPr>
              <a:t>표시됨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오른쪽</a:t>
            </a:r>
            <a:r>
              <a:rPr lang="en-US" altLang="ko-KR" sz="1400" dirty="0" smtClean="0">
                <a:solidFill>
                  <a:sysClr val="windowText" lastClr="000000"/>
                </a:solidFill>
              </a:rPr>
              <a:t>(</a:t>
            </a:r>
            <a:r>
              <a:rPr lang="ko-KR" altLang="en-US" sz="1400" dirty="0" smtClean="0">
                <a:solidFill>
                  <a:sysClr val="windowText" lastClr="000000"/>
                </a:solidFill>
              </a:rPr>
              <a:t>적</a:t>
            </a:r>
            <a:r>
              <a:rPr lang="en-US" altLang="ko-KR" sz="1400" dirty="0" smtClean="0">
                <a:solidFill>
                  <a:sysClr val="windowText" lastClr="000000"/>
                </a:solidFill>
              </a:rPr>
              <a:t>)</a:t>
            </a:r>
            <a:r>
              <a:rPr lang="ko-KR" altLang="en-US" sz="1400" dirty="0" smtClean="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마우스 클릭으로 선택 시 하단에 원형이 그려져 선택되었음을 알림</a:t>
            </a:r>
            <a:endParaRPr lang="en-US" altLang="ko-KR" sz="1400" dirty="0" smtClean="0">
              <a:solidFill>
                <a:sysClr val="windowText" lastClr="000000"/>
              </a:solidFill>
            </a:endParaRPr>
          </a:p>
        </p:txBody>
      </p:sp>
    </p:spTree>
    <p:extLst>
      <p:ext uri="{BB962C8B-B14F-4D97-AF65-F5344CB8AC3E}">
        <p14:creationId xmlns:p14="http://schemas.microsoft.com/office/powerpoint/2010/main" val="198995532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29</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964119" y="947892"/>
            <a:ext cx="10234311" cy="5457199"/>
          </a:xfrm>
          <a:prstGeom prst="frame">
            <a:avLst>
              <a:gd name="adj1" fmla="val 1106"/>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8460926" y="1351472"/>
            <a:ext cx="3517564" cy="2688168"/>
          </a:xfrm>
          <a:prstGeom prst="wedgeRoundRectCallout">
            <a:avLst>
              <a:gd name="adj1" fmla="val -63616"/>
              <a:gd name="adj2" fmla="val -50852"/>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화면</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- 300 x 150 unit</a:t>
            </a:r>
            <a:br>
              <a:rPr lang="en-US" altLang="ko-KR" sz="1400" dirty="0" smtClean="0">
                <a:solidFill>
                  <a:sysClr val="windowText" lastClr="000000"/>
                </a:solidFill>
              </a:rPr>
            </a:br>
            <a:r>
              <a:rPr lang="en-US" altLang="ko-KR" sz="1400" dirty="0" smtClean="0">
                <a:solidFill>
                  <a:sysClr val="windowText" lastClr="000000"/>
                </a:solidFill>
              </a:rPr>
              <a:t>( C*12 x C*6 )</a:t>
            </a: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t>
            </a:r>
            <a:r>
              <a:rPr lang="ko-KR" altLang="en-US" sz="1400" dirty="0">
                <a:solidFill>
                  <a:sysClr val="windowText" lastClr="000000"/>
                </a:solidFill>
              </a:rPr>
              <a:t>전투</a:t>
            </a:r>
            <a:r>
              <a:rPr lang="en-US" altLang="ko-KR" sz="1400" dirty="0">
                <a:solidFill>
                  <a:sysClr val="windowText" lastClr="000000"/>
                </a:solidFill>
              </a:rPr>
              <a:t>, </a:t>
            </a:r>
            <a:r>
              <a:rPr lang="ko-KR" altLang="en-US" sz="1400" dirty="0">
                <a:solidFill>
                  <a:sysClr val="windowText" lastClr="000000"/>
                </a:solidFill>
              </a:rPr>
              <a:t>상점</a:t>
            </a:r>
            <a:r>
              <a:rPr lang="en-US" altLang="ko-KR" sz="1400" dirty="0">
                <a:solidFill>
                  <a:sysClr val="windowText" lastClr="000000"/>
                </a:solidFill>
              </a:rPr>
              <a:t>, </a:t>
            </a:r>
            <a:r>
              <a:rPr lang="ko-KR" altLang="en-US" sz="1400" dirty="0" smtClean="0">
                <a:solidFill>
                  <a:sysClr val="windowText" lastClr="000000"/>
                </a:solidFill>
              </a:rPr>
              <a:t>이벤트</a:t>
            </a:r>
            <a:r>
              <a:rPr lang="en-US" altLang="ko-KR" sz="1400" dirty="0" smtClean="0">
                <a:solidFill>
                  <a:sysClr val="windowText" lastClr="000000"/>
                </a:solidFill>
              </a:rPr>
              <a:t> </a:t>
            </a:r>
            <a:r>
              <a:rPr lang="ko-KR" altLang="en-US" sz="1400" dirty="0" smtClean="0">
                <a:solidFill>
                  <a:sysClr val="windowText" lastClr="000000"/>
                </a:solidFill>
              </a:rPr>
              <a:t>등 에어리어에서 볼 수 있는 한 </a:t>
            </a:r>
            <a:r>
              <a:rPr lang="ko-KR" altLang="en-US" sz="1400" dirty="0">
                <a:solidFill>
                  <a:sysClr val="windowText" lastClr="000000"/>
                </a:solidFill>
              </a:rPr>
              <a:t>화면의 크기를 나타냄</a:t>
            </a:r>
            <a:endParaRPr lang="en-US" altLang="ko-KR" sz="1400" dirty="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좌측 하단을 원점</a:t>
            </a:r>
            <a:r>
              <a:rPr lang="en-US" altLang="ko-KR" sz="1400" dirty="0" smtClean="0">
                <a:solidFill>
                  <a:sysClr val="windowText" lastClr="000000"/>
                </a:solidFill>
              </a:rPr>
              <a:t>(0,0) </a:t>
            </a:r>
            <a:r>
              <a:rPr lang="ko-KR" altLang="en-US" sz="1400" dirty="0" smtClean="0">
                <a:solidFill>
                  <a:sysClr val="windowText" lastClr="000000"/>
                </a:solidFill>
              </a:rPr>
              <a:t>으로 하여</a:t>
            </a:r>
            <a:r>
              <a:rPr lang="en-US" altLang="ko-KR" sz="1400" dirty="0" smtClean="0">
                <a:solidFill>
                  <a:sysClr val="windowText" lastClr="000000"/>
                </a:solidFill>
              </a:rPr>
              <a:t>,</a:t>
            </a:r>
            <a:br>
              <a:rPr lang="en-US" altLang="ko-KR" sz="1400" dirty="0" smtClean="0">
                <a:solidFill>
                  <a:sysClr val="windowText" lastClr="000000"/>
                </a:solidFill>
              </a:rPr>
            </a:br>
            <a:r>
              <a:rPr lang="ko-KR" altLang="en-US" sz="1400" dirty="0" smtClean="0">
                <a:solidFill>
                  <a:sysClr val="windowText" lastClr="000000"/>
                </a:solidFill>
              </a:rPr>
              <a:t>오브젝트들의 중점을 기준으로 </a:t>
            </a:r>
            <a:r>
              <a:rPr lang="ko-KR" altLang="en-US" sz="1400" dirty="0" err="1" smtClean="0">
                <a:solidFill>
                  <a:sysClr val="windowText" lastClr="000000"/>
                </a:solidFill>
              </a:rPr>
              <a:t>좌표값을</a:t>
            </a:r>
            <a:r>
              <a:rPr lang="ko-KR" altLang="en-US" sz="1400" dirty="0" smtClean="0">
                <a:solidFill>
                  <a:sysClr val="windowText" lastClr="000000"/>
                </a:solidFill>
              </a:rPr>
              <a:t> 설정</a:t>
            </a:r>
            <a:endParaRPr lang="en-US" altLang="ko-KR" sz="1400" dirty="0" smtClean="0">
              <a:solidFill>
                <a:sysClr val="windowText" lastClr="000000"/>
              </a:solidFill>
            </a:endParaRPr>
          </a:p>
        </p:txBody>
      </p:sp>
      <p:cxnSp>
        <p:nvCxnSpPr>
          <p:cNvPr id="6" name="직선 화살표 연결선 5"/>
          <p:cNvCxnSpPr/>
          <p:nvPr/>
        </p:nvCxnSpPr>
        <p:spPr>
          <a:xfrm>
            <a:off x="783771" y="1094825"/>
            <a:ext cx="0" cy="3449338"/>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166386" y="2432157"/>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1 0 0 </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79" name="직선 화살표 연결선 78"/>
          <p:cNvCxnSpPr/>
          <p:nvPr/>
        </p:nvCxnSpPr>
        <p:spPr>
          <a:xfrm>
            <a:off x="783771" y="4544163"/>
            <a:ext cx="0" cy="1726736"/>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85" name="TextBox 84"/>
          <p:cNvSpPr txBox="1"/>
          <p:nvPr/>
        </p:nvSpPr>
        <p:spPr>
          <a:xfrm>
            <a:off x="159876" y="5260912"/>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0</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97" name="직선 화살표 연결선 96"/>
          <p:cNvCxnSpPr/>
          <p:nvPr/>
        </p:nvCxnSpPr>
        <p:spPr>
          <a:xfrm flipH="1">
            <a:off x="1244980" y="4455740"/>
            <a:ext cx="4839842" cy="6112"/>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8" name="직선 화살표 연결선 97"/>
          <p:cNvCxnSpPr/>
          <p:nvPr/>
        </p:nvCxnSpPr>
        <p:spPr>
          <a:xfrm flipH="1" flipV="1">
            <a:off x="6084821" y="4450927"/>
            <a:ext cx="4876506" cy="829"/>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2725275" y="4081595"/>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rPr>
              <a:t>1 5 0 </a:t>
            </a:r>
            <a:endParaRPr lang="ko-KR" altLang="en-US" spc="-300" dirty="0">
              <a:gradFill>
                <a:gsLst>
                  <a:gs pos="0">
                    <a:schemeClr val="tx1"/>
                  </a:gs>
                  <a:gs pos="100000">
                    <a:schemeClr val="tx1"/>
                  </a:gs>
                </a:gsLst>
                <a:lin ang="5400000" scaled="1"/>
              </a:gradFill>
              <a:latin typeface="맑은 고딕" panose="020B0503020000020004" pitchFamily="50" charset="-127"/>
            </a:endParaRPr>
          </a:p>
        </p:txBody>
      </p:sp>
      <p:sp>
        <p:nvSpPr>
          <p:cNvPr id="100" name="TextBox 99"/>
          <p:cNvSpPr txBox="1"/>
          <p:nvPr/>
        </p:nvSpPr>
        <p:spPr>
          <a:xfrm>
            <a:off x="9430710" y="4081595"/>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1 5 0 </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2" name="직선 화살표 연결선 101"/>
          <p:cNvCxnSpPr/>
          <p:nvPr/>
        </p:nvCxnSpPr>
        <p:spPr>
          <a:xfrm flipH="1">
            <a:off x="8624483" y="5305311"/>
            <a:ext cx="2421746" cy="0"/>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10393333" y="4960950"/>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7 5</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4" name="직선 화살표 연결선 103"/>
          <p:cNvCxnSpPr/>
          <p:nvPr/>
        </p:nvCxnSpPr>
        <p:spPr>
          <a:xfrm flipV="1">
            <a:off x="8497498" y="4574750"/>
            <a:ext cx="8612" cy="808843"/>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7935981" y="4568997"/>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5</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7" name="직선 화살표 연결선 106"/>
          <p:cNvCxnSpPr/>
          <p:nvPr/>
        </p:nvCxnSpPr>
        <p:spPr>
          <a:xfrm flipH="1">
            <a:off x="1219540" y="1222908"/>
            <a:ext cx="9753663" cy="10891"/>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9" name="TextBox 108"/>
          <p:cNvSpPr txBox="1"/>
          <p:nvPr/>
        </p:nvSpPr>
        <p:spPr>
          <a:xfrm>
            <a:off x="5630369" y="1288199"/>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rPr>
              <a:t>3 0 0 </a:t>
            </a:r>
            <a:endParaRPr lang="ko-KR" altLang="en-US" spc="-300" dirty="0">
              <a:gradFill>
                <a:gsLst>
                  <a:gs pos="0">
                    <a:schemeClr val="tx1"/>
                  </a:gs>
                  <a:gs pos="100000">
                    <a:schemeClr val="tx1"/>
                  </a:gs>
                </a:gsLst>
                <a:lin ang="5400000" scaled="1"/>
              </a:gradFill>
              <a:latin typeface="맑은 고딕" panose="020B0503020000020004" pitchFamily="50" charset="-127"/>
            </a:endParaRPr>
          </a:p>
        </p:txBody>
      </p:sp>
    </p:spTree>
    <p:extLst>
      <p:ext uri="{BB962C8B-B14F-4D97-AF65-F5344CB8AC3E}">
        <p14:creationId xmlns:p14="http://schemas.microsoft.com/office/powerpoint/2010/main" val="81895561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30</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C00000"/>
                  </a:solidFill>
                </a:ln>
                <a:solidFill>
                  <a:sysClr val="windowText" lastClr="000000"/>
                </a:solidFill>
              </a:rPr>
              <a:t>정예</a:t>
            </a:r>
            <a:endParaRPr lang="en-US" altLang="ko-KR" sz="1200" dirty="0" smtClean="0">
              <a:ln>
                <a:solidFill>
                  <a:srgbClr val="C00000"/>
                </a:solidFill>
              </a:ln>
              <a:solidFill>
                <a:sysClr val="windowText" lastClr="000000"/>
              </a:solidFill>
            </a:endParaRPr>
          </a:p>
          <a:p>
            <a:pPr algn="ctr"/>
            <a:r>
              <a:rPr lang="ko-KR" altLang="en-US" sz="1200" dirty="0" err="1" smtClean="0">
                <a:ln>
                  <a:solidFill>
                    <a:srgbClr val="C00000"/>
                  </a:solidFill>
                </a:ln>
                <a:solidFill>
                  <a:sysClr val="windowText" lastClr="000000"/>
                </a:solidFill>
              </a:rPr>
              <a:t>몬스터</a:t>
            </a:r>
            <a:endParaRPr lang="en-US" altLang="ko-KR" sz="1200" dirty="0" smtClean="0">
              <a:ln>
                <a:solidFill>
                  <a:srgbClr val="C0000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3529937" y="1182889"/>
            <a:ext cx="1511256" cy="3285808"/>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5528447" y="1816796"/>
            <a:ext cx="3021236" cy="3541498"/>
          </a:xfrm>
          <a:prstGeom prst="wedgeRoundRectCallout">
            <a:avLst>
              <a:gd name="adj1" fmla="val -63946"/>
              <a:gd name="adj2" fmla="val -35981"/>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몬스터 </a:t>
            </a:r>
            <a:r>
              <a:rPr lang="en-US" altLang="ko-KR" sz="1600" b="1" dirty="0" smtClean="0">
                <a:solidFill>
                  <a:sysClr val="windowText" lastClr="000000"/>
                </a:solidFill>
              </a:rPr>
              <a:t>(</a:t>
            </a:r>
            <a:r>
              <a:rPr lang="ko-KR" altLang="en-US" sz="1600" b="1" dirty="0" smtClean="0">
                <a:solidFill>
                  <a:sysClr val="windowText" lastClr="000000"/>
                </a:solidFill>
              </a:rPr>
              <a:t>아군</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유저가 컨트롤하는 몬스터로</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 </a:t>
            </a:r>
            <a:r>
              <a:rPr lang="ko-KR" altLang="en-US" sz="1400" dirty="0" smtClean="0">
                <a:solidFill>
                  <a:sysClr val="windowText" lastClr="000000"/>
                </a:solidFill>
              </a:rPr>
              <a:t>게이지가 </a:t>
            </a:r>
            <a:r>
              <a:rPr lang="ko-KR" altLang="en-US" sz="1400" dirty="0" smtClean="0">
                <a:solidFill>
                  <a:sysClr val="windowText" lastClr="000000"/>
                </a:solidFill>
              </a:rPr>
              <a:t>표시됨</a:t>
            </a: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t>
            </a:r>
            <a:r>
              <a:rPr lang="ko-KR" altLang="en-US" sz="1400" dirty="0">
                <a:solidFill>
                  <a:sysClr val="windowText" lastClr="000000"/>
                </a:solidFill>
              </a:rPr>
              <a:t>오른쪽</a:t>
            </a:r>
            <a:r>
              <a:rPr lang="en-US" altLang="ko-KR" sz="1400" dirty="0">
                <a:solidFill>
                  <a:sysClr val="windowText" lastClr="000000"/>
                </a:solidFill>
              </a:rPr>
              <a:t>(</a:t>
            </a:r>
            <a:r>
              <a:rPr lang="ko-KR" altLang="en-US" sz="1400" dirty="0">
                <a:solidFill>
                  <a:sysClr val="windowText" lastClr="000000"/>
                </a:solidFill>
              </a:rPr>
              <a:t>적</a:t>
            </a:r>
            <a:r>
              <a:rPr lang="en-US" altLang="ko-KR" sz="1400" dirty="0">
                <a:solidFill>
                  <a:sysClr val="windowText" lastClr="000000"/>
                </a:solidFill>
              </a:rPr>
              <a:t>)</a:t>
            </a:r>
            <a:r>
              <a:rPr lang="ko-KR" altLang="en-US" sz="1400" dirty="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파티 내 몬스터의 수에 따라 배치가 달라짐</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하단에 청색 원 표시</a:t>
            </a:r>
            <a:endParaRPr lang="en-US" altLang="ko-KR" sz="1400" dirty="0" smtClean="0">
              <a:solidFill>
                <a:sysClr val="windowText" lastClr="000000"/>
              </a:solidFill>
            </a:endParaRPr>
          </a:p>
        </p:txBody>
      </p:sp>
    </p:spTree>
    <p:extLst>
      <p:ext uri="{BB962C8B-B14F-4D97-AF65-F5344CB8AC3E}">
        <p14:creationId xmlns:p14="http://schemas.microsoft.com/office/powerpoint/2010/main" val="23279154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타원 21"/>
          <p:cNvSpPr/>
          <p:nvPr/>
        </p:nvSpPr>
        <p:spPr>
          <a:xfrm rot="1265973" flipH="1">
            <a:off x="10071741" y="4939497"/>
            <a:ext cx="1109922" cy="652908"/>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2303732" y="3659392"/>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6103367" y="2995519"/>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31</a:t>
            </a:fld>
            <a:endParaRPr lang="ko-KR" altLang="en-US" sz="1800" dirty="0"/>
          </a:p>
        </p:txBody>
      </p: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타원 24"/>
          <p:cNvSpPr/>
          <p:nvPr/>
        </p:nvSpPr>
        <p:spPr>
          <a:xfrm>
            <a:off x="6269829" y="24400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475087" y="31477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10241764" y="441043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32" name="TextBox 31"/>
          <p:cNvSpPr txBox="1"/>
          <p:nvPr/>
        </p:nvSpPr>
        <p:spPr>
          <a:xfrm>
            <a:off x="555572" y="1403431"/>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1</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3" name="이등변 삼각형 32"/>
          <p:cNvSpPr/>
          <p:nvPr/>
        </p:nvSpPr>
        <p:spPr>
          <a:xfrm rot="19319858">
            <a:off x="582237" y="34328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직사각형 33"/>
          <p:cNvSpPr/>
          <p:nvPr/>
        </p:nvSpPr>
        <p:spPr>
          <a:xfrm>
            <a:off x="904866" y="31477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35" name="TextBox 34"/>
          <p:cNvSpPr txBox="1"/>
          <p:nvPr/>
        </p:nvSpPr>
        <p:spPr>
          <a:xfrm>
            <a:off x="4403069" y="1403431"/>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2</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8205440" y="1403432"/>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3</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타원 36"/>
          <p:cNvSpPr/>
          <p:nvPr/>
        </p:nvSpPr>
        <p:spPr>
          <a:xfrm rot="1265973" flipH="1">
            <a:off x="6098474" y="4215334"/>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6269829" y="3703738"/>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39" name="이등변 삼각형 38"/>
          <p:cNvSpPr/>
          <p:nvPr/>
        </p:nvSpPr>
        <p:spPr>
          <a:xfrm rot="19319858">
            <a:off x="4424479" y="3439113"/>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4747108" y="3154107"/>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41" name="타원 40"/>
          <p:cNvSpPr/>
          <p:nvPr/>
        </p:nvSpPr>
        <p:spPr>
          <a:xfrm rot="1265973" flipH="1">
            <a:off x="10065021" y="2438729"/>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10231483" y="188330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43" name="타원 42"/>
          <p:cNvSpPr/>
          <p:nvPr/>
        </p:nvSpPr>
        <p:spPr>
          <a:xfrm rot="1265973" flipH="1">
            <a:off x="10060128" y="3658544"/>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10231483" y="3146948"/>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45" name="이등변 삼각형 44"/>
          <p:cNvSpPr/>
          <p:nvPr/>
        </p:nvSpPr>
        <p:spPr>
          <a:xfrm rot="19319858">
            <a:off x="8373784" y="34328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8696413" y="31477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Tree>
    <p:extLst>
      <p:ext uri="{BB962C8B-B14F-4D97-AF65-F5344CB8AC3E}">
        <p14:creationId xmlns:p14="http://schemas.microsoft.com/office/powerpoint/2010/main" val="316310413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32</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464467" y="1158585"/>
            <a:ext cx="4042164" cy="3285808"/>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3050202" y="1451897"/>
            <a:ext cx="2896175" cy="4048085"/>
          </a:xfrm>
          <a:prstGeom prst="wedgeRoundRectCallout">
            <a:avLst>
              <a:gd name="adj1" fmla="val 63575"/>
              <a:gd name="adj2" fmla="val -37752"/>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몬스터 </a:t>
            </a:r>
            <a:r>
              <a:rPr lang="en-US" altLang="ko-KR" sz="1600" b="1" dirty="0" smtClean="0">
                <a:solidFill>
                  <a:sysClr val="windowText" lastClr="000000"/>
                </a:solidFill>
              </a:rPr>
              <a:t>(</a:t>
            </a:r>
            <a:r>
              <a:rPr lang="ko-KR" altLang="en-US" sz="1600" b="1" dirty="0" smtClean="0">
                <a:solidFill>
                  <a:sysClr val="windowText" lastClr="000000"/>
                </a:solidFill>
              </a:rPr>
              <a:t>적</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던전에서 적으로 출현하는 몬스터로</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 </a:t>
            </a:r>
            <a:r>
              <a:rPr lang="ko-KR" altLang="en-US" sz="1400" dirty="0" smtClean="0">
                <a:solidFill>
                  <a:sysClr val="windowText" lastClr="000000"/>
                </a:solidFill>
              </a:rPr>
              <a:t>게이지가 </a:t>
            </a:r>
            <a:r>
              <a:rPr lang="ko-KR" altLang="en-US" sz="1400" dirty="0" smtClean="0">
                <a:solidFill>
                  <a:sysClr val="windowText" lastClr="000000"/>
                </a:solidFill>
              </a:rPr>
              <a:t>표시됨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왼쪽</a:t>
            </a:r>
            <a:r>
              <a:rPr lang="en-US" altLang="ko-KR" sz="1400" dirty="0" smtClean="0">
                <a:solidFill>
                  <a:sysClr val="windowText" lastClr="000000"/>
                </a:solidFill>
              </a:rPr>
              <a:t>(</a:t>
            </a:r>
            <a:r>
              <a:rPr lang="ko-KR" altLang="en-US" sz="1400" dirty="0" smtClean="0">
                <a:solidFill>
                  <a:sysClr val="windowText" lastClr="000000"/>
                </a:solidFill>
              </a:rPr>
              <a:t>아군</a:t>
            </a:r>
            <a:r>
              <a:rPr lang="en-US" altLang="ko-KR" sz="1400" dirty="0" smtClean="0">
                <a:solidFill>
                  <a:sysClr val="windowText" lastClr="000000"/>
                </a:solidFill>
              </a:rPr>
              <a:t>)</a:t>
            </a:r>
            <a:r>
              <a:rPr lang="ko-KR" altLang="en-US" sz="1400" dirty="0" smtClean="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위</a:t>
            </a:r>
            <a:r>
              <a:rPr lang="en-US" altLang="ko-KR" sz="1400" dirty="0" smtClean="0">
                <a:solidFill>
                  <a:sysClr val="windowText" lastClr="000000"/>
                </a:solidFill>
              </a:rPr>
              <a:t>, </a:t>
            </a:r>
            <a:r>
              <a:rPr lang="ko-KR" altLang="en-US" sz="1400" dirty="0" smtClean="0">
                <a:solidFill>
                  <a:sysClr val="windowText" lastClr="000000"/>
                </a:solidFill>
              </a:rPr>
              <a:t>왼쪽부터 차례가 시작됨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파티 내 몬스터의 수에 따라 배치가 달라짐</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차례 시 하단에 적색 원 표시</a:t>
            </a:r>
            <a:endParaRPr lang="en-US" altLang="ko-KR" sz="1400" dirty="0" smtClean="0">
              <a:solidFill>
                <a:sysClr val="windowText" lastClr="000000"/>
              </a:solidFill>
            </a:endParaRPr>
          </a:p>
        </p:txBody>
      </p:sp>
    </p:spTree>
    <p:extLst>
      <p:ext uri="{BB962C8B-B14F-4D97-AF65-F5344CB8AC3E}">
        <p14:creationId xmlns:p14="http://schemas.microsoft.com/office/powerpoint/2010/main" val="321086009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적군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33</a:t>
            </a:fld>
            <a:endParaRPr lang="ko-KR" altLang="en-US" sz="1800" dirty="0"/>
          </a:p>
        </p:txBody>
      </p: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TextBox 31"/>
          <p:cNvSpPr txBox="1"/>
          <p:nvPr/>
        </p:nvSpPr>
        <p:spPr>
          <a:xfrm>
            <a:off x="1398720" y="1545840"/>
            <a:ext cx="179197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1</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5" name="TextBox 34"/>
          <p:cNvSpPr txBox="1"/>
          <p:nvPr/>
        </p:nvSpPr>
        <p:spPr>
          <a:xfrm>
            <a:off x="5246217" y="1545840"/>
            <a:ext cx="180772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2</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9048588" y="1545841"/>
            <a:ext cx="1722331"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3</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2647915" y="33892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a:off x="1502501" y="309877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0" name="이등변 삼각형 29"/>
          <p:cNvSpPr/>
          <p:nvPr/>
        </p:nvSpPr>
        <p:spPr>
          <a:xfrm rot="2940484">
            <a:off x="6511168" y="2781751"/>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a:off x="5365754" y="2491319"/>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7" name="이등변 삼각형 46"/>
          <p:cNvSpPr/>
          <p:nvPr/>
        </p:nvSpPr>
        <p:spPr>
          <a:xfrm rot="2940484">
            <a:off x="6511168" y="389315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이등변 삼각형 47"/>
          <p:cNvSpPr/>
          <p:nvPr/>
        </p:nvSpPr>
        <p:spPr>
          <a:xfrm>
            <a:off x="5365754" y="360272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9" name="이등변 삼각형 48"/>
          <p:cNvSpPr/>
          <p:nvPr/>
        </p:nvSpPr>
        <p:spPr>
          <a:xfrm rot="2940484">
            <a:off x="10374421" y="260443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이등변 삼각형 49"/>
          <p:cNvSpPr/>
          <p:nvPr/>
        </p:nvSpPr>
        <p:spPr>
          <a:xfrm>
            <a:off x="9229007" y="231400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1" name="이등변 삼각형 50"/>
          <p:cNvSpPr/>
          <p:nvPr/>
        </p:nvSpPr>
        <p:spPr>
          <a:xfrm rot="2940484">
            <a:off x="10374421" y="3541546"/>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이등변 삼각형 51"/>
          <p:cNvSpPr/>
          <p:nvPr/>
        </p:nvSpPr>
        <p:spPr>
          <a:xfrm>
            <a:off x="9229007" y="325111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3" name="이등변 삼각형 52"/>
          <p:cNvSpPr/>
          <p:nvPr/>
        </p:nvSpPr>
        <p:spPr>
          <a:xfrm rot="2940484">
            <a:off x="10374421" y="447682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이등변 삼각형 53"/>
          <p:cNvSpPr/>
          <p:nvPr/>
        </p:nvSpPr>
        <p:spPr>
          <a:xfrm>
            <a:off x="9229007" y="418638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Tree>
    <p:extLst>
      <p:ext uri="{BB962C8B-B14F-4D97-AF65-F5344CB8AC3E}">
        <p14:creationId xmlns:p14="http://schemas.microsoft.com/office/powerpoint/2010/main" val="253079022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34</a:t>
            </a:fld>
            <a:endParaRPr lang="ko-KR" altLang="en-US" sz="1800" dirty="0"/>
          </a:p>
        </p:txBody>
      </p: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5" name="TextBox 34"/>
          <p:cNvSpPr txBox="1"/>
          <p:nvPr/>
        </p:nvSpPr>
        <p:spPr>
          <a:xfrm>
            <a:off x="2432260" y="1600316"/>
            <a:ext cx="180772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4</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7840684" y="1545840"/>
            <a:ext cx="1722331"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5</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0" name="이등변 삼각형 29"/>
          <p:cNvSpPr/>
          <p:nvPr/>
        </p:nvSpPr>
        <p:spPr>
          <a:xfrm rot="2940484">
            <a:off x="4690221" y="278674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a:off x="3544807" y="249630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7" name="이등변 삼각형 46"/>
          <p:cNvSpPr/>
          <p:nvPr/>
        </p:nvSpPr>
        <p:spPr>
          <a:xfrm rot="2940484">
            <a:off x="4690221" y="399294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이등변 삼각형 47"/>
          <p:cNvSpPr/>
          <p:nvPr/>
        </p:nvSpPr>
        <p:spPr>
          <a:xfrm>
            <a:off x="3544807" y="370251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9" name="이등변 삼각형 48"/>
          <p:cNvSpPr/>
          <p:nvPr/>
        </p:nvSpPr>
        <p:spPr>
          <a:xfrm rot="2940484">
            <a:off x="8365656" y="256911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이등변 삼각형 49"/>
          <p:cNvSpPr/>
          <p:nvPr/>
        </p:nvSpPr>
        <p:spPr>
          <a:xfrm>
            <a:off x="7220242" y="227868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1" name="이등변 삼각형 50"/>
          <p:cNvSpPr/>
          <p:nvPr/>
        </p:nvSpPr>
        <p:spPr>
          <a:xfrm rot="2940484">
            <a:off x="8365656" y="3506226"/>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이등변 삼각형 51"/>
          <p:cNvSpPr/>
          <p:nvPr/>
        </p:nvSpPr>
        <p:spPr>
          <a:xfrm>
            <a:off x="7220242" y="321579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3" name="이등변 삼각형 52"/>
          <p:cNvSpPr/>
          <p:nvPr/>
        </p:nvSpPr>
        <p:spPr>
          <a:xfrm rot="2940484">
            <a:off x="8365656" y="444150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이등변 삼각형 53"/>
          <p:cNvSpPr/>
          <p:nvPr/>
        </p:nvSpPr>
        <p:spPr>
          <a:xfrm>
            <a:off x="7220242" y="415106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2" name="이등변 삼각형 21"/>
          <p:cNvSpPr/>
          <p:nvPr/>
        </p:nvSpPr>
        <p:spPr>
          <a:xfrm rot="2940484">
            <a:off x="2888888" y="278674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이등변 삼각형 22"/>
          <p:cNvSpPr/>
          <p:nvPr/>
        </p:nvSpPr>
        <p:spPr>
          <a:xfrm>
            <a:off x="1743474" y="249630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4" name="이등변 삼각형 23"/>
          <p:cNvSpPr/>
          <p:nvPr/>
        </p:nvSpPr>
        <p:spPr>
          <a:xfrm rot="2940484">
            <a:off x="2888888" y="399294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이등변 삼각형 24"/>
          <p:cNvSpPr/>
          <p:nvPr/>
        </p:nvSpPr>
        <p:spPr>
          <a:xfrm>
            <a:off x="1743474" y="370251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6" name="이등변 삼각형 25"/>
          <p:cNvSpPr/>
          <p:nvPr/>
        </p:nvSpPr>
        <p:spPr>
          <a:xfrm rot="2940484">
            <a:off x="10145117" y="296367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이등변 삼각형 26"/>
          <p:cNvSpPr/>
          <p:nvPr/>
        </p:nvSpPr>
        <p:spPr>
          <a:xfrm>
            <a:off x="8999703" y="26732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3" name="이등변 삼각형 32"/>
          <p:cNvSpPr/>
          <p:nvPr/>
        </p:nvSpPr>
        <p:spPr>
          <a:xfrm rot="2940484">
            <a:off x="10145117" y="390078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이등변 삼각형 33"/>
          <p:cNvSpPr/>
          <p:nvPr/>
        </p:nvSpPr>
        <p:spPr>
          <a:xfrm>
            <a:off x="8999703" y="361035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Tree>
    <p:extLst>
      <p:ext uri="{BB962C8B-B14F-4D97-AF65-F5344CB8AC3E}">
        <p14:creationId xmlns:p14="http://schemas.microsoft.com/office/powerpoint/2010/main" val="249686600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35</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993293" y="4421955"/>
            <a:ext cx="5251613" cy="1976845"/>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7082526" y="3051619"/>
            <a:ext cx="2896175" cy="2205661"/>
          </a:xfrm>
          <a:prstGeom prst="wedgeRoundRectCallout">
            <a:avLst>
              <a:gd name="adj1" fmla="val -75837"/>
              <a:gd name="adj2" fmla="val 373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정보창</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- 150 x 50 unit</a:t>
            </a:r>
            <a:br>
              <a:rPr lang="en-US" altLang="ko-KR" sz="1400" dirty="0" smtClean="0">
                <a:solidFill>
                  <a:sysClr val="windowText" lastClr="000000"/>
                </a:solidFill>
              </a:rPr>
            </a:br>
            <a:r>
              <a:rPr lang="en-US" altLang="ko-KR" sz="1400" dirty="0" smtClean="0">
                <a:solidFill>
                  <a:sysClr val="windowText" lastClr="000000"/>
                </a:solidFill>
              </a:rPr>
              <a:t>( C*6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플레이어가 마우스 클릭으로 선택한 아군</a:t>
            </a:r>
            <a:r>
              <a:rPr lang="en-US" altLang="ko-KR" sz="1400" dirty="0" smtClean="0">
                <a:solidFill>
                  <a:sysClr val="windowText" lastClr="000000"/>
                </a:solidFill>
              </a:rPr>
              <a:t>, </a:t>
            </a:r>
            <a:r>
              <a:rPr lang="ko-KR" altLang="en-US" sz="1400" dirty="0" smtClean="0">
                <a:solidFill>
                  <a:sysClr val="windowText" lastClr="000000"/>
                </a:solidFill>
              </a:rPr>
              <a:t>적군 혹은 사물의 정보와 상태를 표시함</a:t>
            </a:r>
            <a:endParaRPr lang="en-US" altLang="ko-KR" sz="1400" dirty="0" smtClean="0">
              <a:solidFill>
                <a:sysClr val="windowText" lastClr="000000"/>
              </a:solidFill>
            </a:endParaRPr>
          </a:p>
        </p:txBody>
      </p:sp>
    </p:spTree>
    <p:extLst>
      <p:ext uri="{BB962C8B-B14F-4D97-AF65-F5344CB8AC3E}">
        <p14:creationId xmlns:p14="http://schemas.microsoft.com/office/powerpoint/2010/main" val="309223993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36</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1215551" y="4573915"/>
            <a:ext cx="1142550" cy="1136629"/>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847918" y="3004245"/>
            <a:ext cx="3081853" cy="2491318"/>
          </a:xfrm>
          <a:prstGeom prst="wedgeRoundRectCallout">
            <a:avLst>
              <a:gd name="adj1" fmla="val -63946"/>
              <a:gd name="adj2" fmla="val 2927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초상화</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사물을 간략하게 그려낸 초상화를 표시</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바로 밑에 해당 개체의 이름을 명시</a:t>
            </a:r>
            <a:endParaRPr lang="en-US" altLang="ko-KR" sz="1400" dirty="0" smtClean="0">
              <a:solidFill>
                <a:sysClr val="windowText" lastClr="000000"/>
              </a:solidFill>
            </a:endParaRPr>
          </a:p>
        </p:txBody>
      </p:sp>
    </p:spTree>
    <p:extLst>
      <p:ext uri="{BB962C8B-B14F-4D97-AF65-F5344CB8AC3E}">
        <p14:creationId xmlns:p14="http://schemas.microsoft.com/office/powerpoint/2010/main" val="343388198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37</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1212354" y="5683697"/>
            <a:ext cx="1142550" cy="521046"/>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824804" y="3524747"/>
            <a:ext cx="3170128" cy="2491318"/>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게이지 바</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5 unit</a:t>
            </a:r>
            <a:br>
              <a:rPr lang="en-US" altLang="ko-KR" sz="1400" dirty="0" smtClean="0">
                <a:solidFill>
                  <a:sysClr val="windowText" lastClr="000000"/>
                </a:solidFill>
              </a:rPr>
            </a:br>
            <a:r>
              <a:rPr lang="en-US" altLang="ko-KR" sz="1400" dirty="0" smtClean="0">
                <a:solidFill>
                  <a:sysClr val="windowText" lastClr="000000"/>
                </a:solidFill>
              </a:rPr>
              <a:t>( C x C*0.2 )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사물이 체력을 가진 개체라면</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a:t>
            </a:r>
            <a:r>
              <a:rPr lang="ko-KR" altLang="en-US" sz="1400" dirty="0" smtClean="0">
                <a:solidFill>
                  <a:sysClr val="windowText" lastClr="000000"/>
                </a:solidFill>
              </a:rPr>
              <a:t>를 게이지 바 형태로 표시</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우측에 구체적인 수치를 기입</a:t>
            </a:r>
            <a:endParaRPr lang="en-US" altLang="ko-KR" sz="1400" dirty="0" smtClean="0">
              <a:solidFill>
                <a:sysClr val="windowText" lastClr="000000"/>
              </a:solidFill>
            </a:endParaRPr>
          </a:p>
        </p:txBody>
      </p:sp>
    </p:spTree>
    <p:extLst>
      <p:ext uri="{BB962C8B-B14F-4D97-AF65-F5344CB8AC3E}">
        <p14:creationId xmlns:p14="http://schemas.microsoft.com/office/powerpoint/2010/main" val="273540480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38</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2459216" y="4595720"/>
            <a:ext cx="1849185" cy="15327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841306" y="2609721"/>
            <a:ext cx="3170128" cy="2964050"/>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스탯</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- 50 x 50 unit</a:t>
            </a:r>
            <a:br>
              <a:rPr lang="en-US" altLang="ko-KR" sz="1400" dirty="0" smtClean="0">
                <a:solidFill>
                  <a:sysClr val="windowText" lastClr="000000"/>
                </a:solidFill>
              </a:rPr>
            </a:br>
            <a:r>
              <a:rPr lang="en-US" altLang="ko-KR" sz="1400" dirty="0" smtClean="0">
                <a:solidFill>
                  <a:sysClr val="windowText" lastClr="000000"/>
                </a:solidFill>
              </a:rPr>
              <a:t>( C*2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개체의 </a:t>
            </a:r>
            <a:r>
              <a:rPr lang="ko-KR" altLang="en-US" sz="1400" dirty="0" err="1" smtClean="0">
                <a:solidFill>
                  <a:sysClr val="windowText" lastClr="000000"/>
                </a:solidFill>
              </a:rPr>
              <a:t>스탯을</a:t>
            </a:r>
            <a:r>
              <a:rPr lang="ko-KR" altLang="en-US" sz="1400" dirty="0" smtClean="0">
                <a:solidFill>
                  <a:sysClr val="windowText" lastClr="000000"/>
                </a:solidFill>
              </a:rPr>
              <a:t> 보여줌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TYPE : Type, </a:t>
            </a:r>
            <a:r>
              <a:rPr lang="ko-KR" altLang="en-US" sz="1400" dirty="0" smtClean="0">
                <a:solidFill>
                  <a:sysClr val="windowText" lastClr="000000"/>
                </a:solidFill>
              </a:rPr>
              <a:t>속성</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CRT : Critical, </a:t>
            </a:r>
            <a:r>
              <a:rPr lang="ko-KR" altLang="en-US" sz="1400" dirty="0" smtClean="0">
                <a:solidFill>
                  <a:sysClr val="windowText" lastClr="000000"/>
                </a:solidFill>
              </a:rPr>
              <a:t>크리티컬 확률</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ATK : Attack, </a:t>
            </a:r>
            <a:r>
              <a:rPr lang="ko-KR" altLang="en-US" sz="1400" dirty="0" smtClean="0">
                <a:solidFill>
                  <a:sysClr val="windowText" lastClr="000000"/>
                </a:solidFill>
              </a:rPr>
              <a:t>공격력</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DEF : Defense, </a:t>
            </a:r>
            <a:r>
              <a:rPr lang="ko-KR" altLang="en-US" sz="1400" dirty="0" smtClean="0">
                <a:solidFill>
                  <a:sysClr val="windowText" lastClr="000000"/>
                </a:solidFill>
              </a:rPr>
              <a:t>방어력</a:t>
            </a:r>
            <a:endParaRPr lang="en-US" altLang="ko-KR" sz="1400" dirty="0" smtClean="0">
              <a:solidFill>
                <a:sysClr val="windowText" lastClr="000000"/>
              </a:solidFill>
            </a:endParaRPr>
          </a:p>
          <a:p>
            <a:r>
              <a:rPr lang="en-US" altLang="ko-KR" sz="1400" dirty="0" smtClean="0">
                <a:solidFill>
                  <a:sysClr val="windowText" lastClr="000000"/>
                </a:solidFill>
              </a:rPr>
              <a:t>  AVD : Avoid, </a:t>
            </a:r>
            <a:r>
              <a:rPr lang="ko-KR" altLang="en-US" sz="1400" dirty="0" err="1" smtClean="0">
                <a:solidFill>
                  <a:sysClr val="windowText" lastClr="000000"/>
                </a:solidFill>
              </a:rPr>
              <a:t>회피율</a:t>
            </a:r>
            <a:endParaRPr lang="en-US" altLang="ko-KR" sz="1400" dirty="0" smtClean="0">
              <a:solidFill>
                <a:sysClr val="windowText" lastClr="000000"/>
              </a:solidFill>
            </a:endParaRPr>
          </a:p>
        </p:txBody>
      </p:sp>
    </p:spTree>
    <p:extLst>
      <p:ext uri="{BB962C8B-B14F-4D97-AF65-F5344CB8AC3E}">
        <p14:creationId xmlns:p14="http://schemas.microsoft.com/office/powerpoint/2010/main" val="322176561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39</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4444391" y="4595721"/>
            <a:ext cx="1479395" cy="15327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6399784" y="2616908"/>
            <a:ext cx="3294183" cy="2624444"/>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상태</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- 50 x 50 unit</a:t>
            </a:r>
            <a:br>
              <a:rPr lang="en-US" altLang="ko-KR" sz="1400" dirty="0" smtClean="0">
                <a:solidFill>
                  <a:sysClr val="windowText" lastClr="000000"/>
                </a:solidFill>
              </a:rPr>
            </a:br>
            <a:r>
              <a:rPr lang="en-US" altLang="ko-KR" sz="1400" dirty="0" smtClean="0">
                <a:solidFill>
                  <a:sysClr val="windowText" lastClr="000000"/>
                </a:solidFill>
              </a:rPr>
              <a:t>( C*2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능력</a:t>
            </a:r>
            <a:r>
              <a:rPr lang="en-US" altLang="ko-KR" sz="1400" dirty="0" smtClean="0">
                <a:solidFill>
                  <a:sysClr val="windowText" lastClr="000000"/>
                </a:solidFill>
              </a:rPr>
              <a:t>, </a:t>
            </a:r>
            <a:r>
              <a:rPr lang="ko-KR" altLang="en-US" sz="1400" dirty="0" smtClean="0">
                <a:solidFill>
                  <a:sysClr val="windowText" lastClr="000000"/>
                </a:solidFill>
              </a:rPr>
              <a:t>상태이상</a:t>
            </a:r>
            <a:r>
              <a:rPr lang="en-US" altLang="ko-KR" sz="1400" dirty="0" smtClean="0">
                <a:solidFill>
                  <a:sysClr val="windowText" lastClr="000000"/>
                </a:solidFill>
              </a:rPr>
              <a:t>, </a:t>
            </a:r>
            <a:r>
              <a:rPr lang="ko-KR" altLang="en-US" sz="1400" dirty="0" smtClean="0">
                <a:solidFill>
                  <a:sysClr val="windowText" lastClr="000000"/>
                </a:solidFill>
              </a:rPr>
              <a:t>버프</a:t>
            </a:r>
            <a:r>
              <a:rPr lang="en-US" altLang="ko-KR" sz="1400" dirty="0" smtClean="0">
                <a:solidFill>
                  <a:sysClr val="windowText" lastClr="000000"/>
                </a:solidFill>
              </a:rPr>
              <a:t>, </a:t>
            </a:r>
            <a:r>
              <a:rPr lang="ko-KR" altLang="en-US" sz="1400" dirty="0" err="1" smtClean="0">
                <a:solidFill>
                  <a:sysClr val="windowText" lastClr="000000"/>
                </a:solidFill>
              </a:rPr>
              <a:t>디버프</a:t>
            </a:r>
            <a:r>
              <a:rPr lang="ko-KR" altLang="en-US" sz="1400" dirty="0" smtClean="0">
                <a:solidFill>
                  <a:sysClr val="windowText" lastClr="000000"/>
                </a:solidFill>
              </a:rPr>
              <a:t> 등 개체의 현재 상태를 보여줌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직관성을</a:t>
            </a:r>
            <a:r>
              <a:rPr lang="ko-KR" altLang="en-US" sz="1400" dirty="0" smtClean="0">
                <a:solidFill>
                  <a:sysClr val="windowText" lastClr="000000"/>
                </a:solidFill>
              </a:rPr>
              <a:t> 높이기 위해</a:t>
            </a:r>
            <a:r>
              <a:rPr lang="en-US" altLang="ko-KR" sz="1400" dirty="0" smtClean="0">
                <a:solidFill>
                  <a:sysClr val="windowText" lastClr="000000"/>
                </a:solidFill>
              </a:rPr>
              <a:t>, </a:t>
            </a:r>
            <a:r>
              <a:rPr lang="ko-KR" altLang="en-US" sz="1400" dirty="0" smtClean="0">
                <a:solidFill>
                  <a:sysClr val="windowText" lastClr="000000"/>
                </a:solidFill>
              </a:rPr>
              <a:t>각 상태에 해당하는 정사각형의 아이콘을 통해 표시</a:t>
            </a:r>
            <a:endParaRPr lang="en-US" altLang="ko-KR" sz="1400" dirty="0" smtClean="0">
              <a:solidFill>
                <a:sysClr val="windowText" lastClr="000000"/>
              </a:solidFill>
            </a:endParaRPr>
          </a:p>
        </p:txBody>
      </p:sp>
    </p:spTree>
    <p:extLst>
      <p:ext uri="{BB962C8B-B14F-4D97-AF65-F5344CB8AC3E}">
        <p14:creationId xmlns:p14="http://schemas.microsoft.com/office/powerpoint/2010/main" val="172129824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40</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5973857" y="4469547"/>
            <a:ext cx="5150193" cy="1867617"/>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535786" y="1451898"/>
            <a:ext cx="3294183" cy="3514084"/>
          </a:xfrm>
          <a:prstGeom prst="wedgeRoundRectCallout">
            <a:avLst>
              <a:gd name="adj1" fmla="val 62662"/>
              <a:gd name="adj2" fmla="val 3599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행동창</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- 150 x 50 unit</a:t>
            </a:r>
            <a:br>
              <a:rPr lang="en-US" altLang="ko-KR" sz="1400" dirty="0" smtClean="0">
                <a:solidFill>
                  <a:sysClr val="windowText" lastClr="000000"/>
                </a:solidFill>
              </a:rPr>
            </a:br>
            <a:r>
              <a:rPr lang="en-US" altLang="ko-KR" sz="1400" dirty="0" smtClean="0">
                <a:solidFill>
                  <a:sysClr val="windowText" lastClr="000000"/>
                </a:solidFill>
              </a:rPr>
              <a:t>( C*6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아군 개체가 자신의 턴에 행동할 수 있는 옵션들을 나타냄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한 턴에 하나의 옵션만 </a:t>
            </a:r>
            <a:r>
              <a:rPr lang="ko-KR" altLang="en-US" sz="1400" dirty="0" smtClean="0">
                <a:solidFill>
                  <a:sysClr val="windowText" lastClr="000000"/>
                </a:solidFill>
              </a:rPr>
              <a:t>행할 </a:t>
            </a:r>
            <a:r>
              <a:rPr lang="ko-KR" altLang="en-US" sz="1400" dirty="0" smtClean="0">
                <a:solidFill>
                  <a:sysClr val="windowText" lastClr="000000"/>
                </a:solidFill>
              </a:rPr>
              <a:t>수 </a:t>
            </a:r>
            <a:r>
              <a:rPr lang="ko-KR" altLang="en-US" sz="1400" dirty="0" smtClean="0">
                <a:solidFill>
                  <a:sysClr val="windowText" lastClr="000000"/>
                </a:solidFill>
              </a:rPr>
              <a:t>있으며</a:t>
            </a:r>
            <a:r>
              <a:rPr lang="en-US" altLang="ko-KR" sz="1400" dirty="0" smtClean="0">
                <a:solidFill>
                  <a:sysClr val="windowText" lastClr="000000"/>
                </a:solidFill>
              </a:rPr>
              <a:t>, </a:t>
            </a:r>
            <a:r>
              <a:rPr lang="ko-KR" altLang="en-US" sz="1400" dirty="0" smtClean="0">
                <a:solidFill>
                  <a:sysClr val="windowText" lastClr="000000"/>
                </a:solidFill>
              </a:rPr>
              <a:t>확정하기 전까지 이전으로 되돌릴 수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일부 옵션은 선택 시 세부 옵션을 살펴볼 수 있음</a:t>
            </a:r>
            <a:endParaRPr lang="en-US" altLang="ko-KR" sz="1400" dirty="0" smtClean="0">
              <a:solidFill>
                <a:sysClr val="windowText" lastClr="000000"/>
              </a:solidFill>
            </a:endParaRPr>
          </a:p>
        </p:txBody>
      </p:sp>
    </p:spTree>
    <p:extLst>
      <p:ext uri="{BB962C8B-B14F-4D97-AF65-F5344CB8AC3E}">
        <p14:creationId xmlns:p14="http://schemas.microsoft.com/office/powerpoint/2010/main" val="386280553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41</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006376" y="4473815"/>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466590" y="2338121"/>
            <a:ext cx="3019729" cy="2997631"/>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공격</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통상 공격을 명령하는 버튼</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버튼 클릭 시</a:t>
            </a:r>
            <a:r>
              <a:rPr lang="en-US" altLang="ko-KR" sz="1400" dirty="0" smtClean="0">
                <a:solidFill>
                  <a:sysClr val="windowText" lastClr="000000"/>
                </a:solidFill>
              </a:rPr>
              <a:t>, </a:t>
            </a:r>
            <a:r>
              <a:rPr lang="ko-KR" altLang="en-US" sz="1400" dirty="0" smtClean="0">
                <a:solidFill>
                  <a:sysClr val="windowText" lastClr="000000"/>
                </a:solidFill>
              </a:rPr>
              <a:t>적 </a:t>
            </a:r>
            <a:r>
              <a:rPr lang="ko-KR" altLang="en-US" sz="1400" dirty="0" err="1" smtClean="0">
                <a:solidFill>
                  <a:sysClr val="windowText" lastClr="000000"/>
                </a:solidFill>
              </a:rPr>
              <a:t>몬스터</a:t>
            </a:r>
            <a:r>
              <a:rPr lang="ko-KR" altLang="en-US" sz="1400" dirty="0" smtClean="0">
                <a:solidFill>
                  <a:sysClr val="windowText" lastClr="000000"/>
                </a:solidFill>
              </a:rPr>
              <a:t> 위에 표시가 생김</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최종적으로 </a:t>
            </a:r>
            <a:r>
              <a:rPr lang="ko-KR" altLang="en-US" sz="1400" dirty="0" smtClean="0">
                <a:solidFill>
                  <a:sysClr val="windowText" lastClr="000000"/>
                </a:solidFill>
              </a:rPr>
              <a:t>공격할 적을 선택하면 공격을 실행함</a:t>
            </a:r>
            <a:endParaRPr lang="en-US" altLang="ko-KR" sz="1400" dirty="0" smtClean="0">
              <a:solidFill>
                <a:sysClr val="windowText" lastClr="000000"/>
              </a:solidFill>
            </a:endParaRPr>
          </a:p>
        </p:txBody>
      </p:sp>
      <p:sp>
        <p:nvSpPr>
          <p:cNvPr id="5" name="이등변 삼각형 4"/>
          <p:cNvSpPr/>
          <p:nvPr/>
        </p:nvSpPr>
        <p:spPr>
          <a:xfrm rot="10800000">
            <a:off x="9276637" y="1215960"/>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5" name="이등변 삼각형 84"/>
          <p:cNvSpPr/>
          <p:nvPr/>
        </p:nvSpPr>
        <p:spPr>
          <a:xfrm rot="10800000">
            <a:off x="9276637" y="2577737"/>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이등변 삼각형 96"/>
          <p:cNvSpPr/>
          <p:nvPr/>
        </p:nvSpPr>
        <p:spPr>
          <a:xfrm rot="10800000">
            <a:off x="7502113" y="3101058"/>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이등변 삼각형 97"/>
          <p:cNvSpPr/>
          <p:nvPr/>
        </p:nvSpPr>
        <p:spPr>
          <a:xfrm rot="10800000">
            <a:off x="7518567" y="996369"/>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이등변 삼각형 98"/>
          <p:cNvSpPr/>
          <p:nvPr/>
        </p:nvSpPr>
        <p:spPr>
          <a:xfrm rot="10800000">
            <a:off x="7518567" y="2042428"/>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도넛 99"/>
          <p:cNvSpPr/>
          <p:nvPr/>
        </p:nvSpPr>
        <p:spPr>
          <a:xfrm>
            <a:off x="7197689" y="2876540"/>
            <a:ext cx="694007" cy="648342"/>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cxnSp>
        <p:nvCxnSpPr>
          <p:cNvPr id="102" name="직선 화살표 연결선 101"/>
          <p:cNvCxnSpPr/>
          <p:nvPr/>
        </p:nvCxnSpPr>
        <p:spPr>
          <a:xfrm flipV="1">
            <a:off x="5285008" y="3395248"/>
            <a:ext cx="1834303" cy="73419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272814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42</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8486141" y="4475819"/>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907920" y="3536642"/>
            <a:ext cx="3036677" cy="1701786"/>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방어</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방어 태세를 </a:t>
            </a:r>
            <a:r>
              <a:rPr lang="ko-KR" altLang="en-US" sz="1400" dirty="0">
                <a:solidFill>
                  <a:sysClr val="windowText" lastClr="000000"/>
                </a:solidFill>
              </a:rPr>
              <a:t>명령하는 </a:t>
            </a:r>
            <a:r>
              <a:rPr lang="ko-KR" altLang="en-US" sz="1400" dirty="0" smtClean="0">
                <a:solidFill>
                  <a:sysClr val="windowText" lastClr="000000"/>
                </a:solidFill>
              </a:rPr>
              <a:t>버튼</a:t>
            </a:r>
            <a:endParaRPr lang="en-US" altLang="ko-KR" sz="1400" dirty="0">
              <a:solidFill>
                <a:sysClr val="windowText" lastClr="000000"/>
              </a:solidFill>
            </a:endParaRPr>
          </a:p>
        </p:txBody>
      </p:sp>
    </p:spTree>
    <p:extLst>
      <p:ext uri="{BB962C8B-B14F-4D97-AF65-F5344CB8AC3E}">
        <p14:creationId xmlns:p14="http://schemas.microsoft.com/office/powerpoint/2010/main" val="93332581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43</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009478" y="5331071"/>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312126" y="2953326"/>
            <a:ext cx="3202577" cy="3020563"/>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특수</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특수 기능을 </a:t>
            </a:r>
            <a:r>
              <a:rPr lang="ko-KR" altLang="en-US" sz="1400" dirty="0">
                <a:solidFill>
                  <a:sysClr val="windowText" lastClr="000000"/>
                </a:solidFill>
              </a:rPr>
              <a:t>명령하는 </a:t>
            </a:r>
            <a:r>
              <a:rPr lang="ko-KR" altLang="en-US" sz="1400" dirty="0" smtClean="0">
                <a:solidFill>
                  <a:sysClr val="windowText" lastClr="000000"/>
                </a:solidFill>
              </a:rPr>
              <a:t>버튼으로</a:t>
            </a:r>
            <a:r>
              <a:rPr lang="en-US" altLang="ko-KR" sz="1400" dirty="0" smtClean="0">
                <a:solidFill>
                  <a:sysClr val="windowText" lastClr="000000"/>
                </a:solidFill>
              </a:rPr>
              <a:t>, </a:t>
            </a:r>
            <a:r>
              <a:rPr lang="ko-KR" altLang="en-US" sz="1400" dirty="0" smtClean="0">
                <a:solidFill>
                  <a:sysClr val="windowText" lastClr="000000"/>
                </a:solidFill>
              </a:rPr>
              <a:t>기술들을 </a:t>
            </a:r>
            <a:r>
              <a:rPr lang="ko-KR" altLang="en-US" sz="1400" dirty="0" smtClean="0">
                <a:solidFill>
                  <a:sysClr val="windowText" lastClr="000000"/>
                </a:solidFill>
              </a:rPr>
              <a:t>사용할 수 </a:t>
            </a:r>
            <a:r>
              <a:rPr lang="ko-KR" altLang="en-US" sz="1400" dirty="0" smtClean="0">
                <a:solidFill>
                  <a:sysClr val="windowText" lastClr="000000"/>
                </a:solidFill>
              </a:rPr>
              <a:t>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최종적으로 사용 대상을 정한 뒤</a:t>
            </a:r>
            <a:r>
              <a:rPr lang="en-US" altLang="ko-KR" sz="1400" dirty="0" smtClean="0">
                <a:solidFill>
                  <a:sysClr val="windowText" lastClr="000000"/>
                </a:solidFill>
              </a:rPr>
              <a:t> </a:t>
            </a:r>
            <a:r>
              <a:rPr lang="ko-KR" altLang="en-US" sz="1400" dirty="0" smtClean="0">
                <a:solidFill>
                  <a:sysClr val="windowText" lastClr="000000"/>
                </a:solidFill>
              </a:rPr>
              <a:t>효과를 발휘함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세부 옵션을 표시함</a:t>
            </a:r>
            <a:endParaRPr lang="en-US" altLang="ko-KR" sz="1400" dirty="0">
              <a:solidFill>
                <a:sysClr val="windowText" lastClr="000000"/>
              </a:solidFill>
            </a:endParaRPr>
          </a:p>
        </p:txBody>
      </p:sp>
    </p:spTree>
    <p:extLst>
      <p:ext uri="{BB962C8B-B14F-4D97-AF65-F5344CB8AC3E}">
        <p14:creationId xmlns:p14="http://schemas.microsoft.com/office/powerpoint/2010/main" val="34494564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44</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sp>
        <p:nvSpPr>
          <p:cNvPr id="69" name="액자 68"/>
          <p:cNvSpPr/>
          <p:nvPr/>
        </p:nvSpPr>
        <p:spPr>
          <a:xfrm>
            <a:off x="5900053" y="4440782"/>
            <a:ext cx="5255625" cy="193389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5" name="TextBox 84"/>
          <p:cNvSpPr txBox="1"/>
          <p:nvPr/>
        </p:nvSpPr>
        <p:spPr>
          <a:xfrm>
            <a:off x="6109655" y="4765331"/>
            <a:ext cx="4936574" cy="1261884"/>
          </a:xfrm>
          <a:prstGeom prst="rect">
            <a:avLst/>
          </a:prstGeom>
          <a:noFill/>
        </p:spPr>
        <p:txBody>
          <a:bodyPr wrap="square" rtlCol="0">
            <a:spAutoFit/>
          </a:bodyPr>
          <a:lstStyle/>
          <a:p>
            <a:r>
              <a:rPr lang="en-US" altLang="ko-KR" sz="2000" dirty="0" smtClean="0"/>
              <a:t>•</a:t>
            </a:r>
            <a:r>
              <a:rPr lang="ko-KR" altLang="en-US" sz="2000" dirty="0" smtClean="0"/>
              <a:t>         기술이름</a:t>
            </a:r>
            <a:r>
              <a:rPr lang="en-US" altLang="ko-KR" sz="2000" dirty="0" smtClean="0"/>
              <a:t>1     •         </a:t>
            </a:r>
            <a:r>
              <a:rPr lang="ko-KR" altLang="en-US" sz="2000" dirty="0" smtClean="0"/>
              <a:t>기술이름</a:t>
            </a:r>
            <a:r>
              <a:rPr lang="en-US" altLang="ko-KR" sz="2000" dirty="0" smtClean="0"/>
              <a:t>2</a:t>
            </a:r>
            <a:endParaRPr lang="en-US" altLang="ko-KR" sz="2000" dirty="0"/>
          </a:p>
          <a:p>
            <a:endParaRPr lang="en-US" altLang="ko-KR" dirty="0" smtClean="0"/>
          </a:p>
          <a:p>
            <a:endParaRPr lang="en-US" altLang="ko-KR" dirty="0" smtClean="0"/>
          </a:p>
          <a:p>
            <a:r>
              <a:rPr lang="en-US" altLang="ko-KR" sz="2000" dirty="0" smtClean="0"/>
              <a:t>• </a:t>
            </a:r>
            <a:r>
              <a:rPr lang="en-US" altLang="ko-KR" sz="2000" dirty="0" smtClean="0"/>
              <a:t>        </a:t>
            </a:r>
            <a:r>
              <a:rPr lang="ko-KR" altLang="en-US" sz="2000" dirty="0" smtClean="0"/>
              <a:t>기술이름</a:t>
            </a:r>
            <a:r>
              <a:rPr lang="en-US" altLang="ko-KR" sz="2000" dirty="0" smtClean="0"/>
              <a:t>3</a:t>
            </a:r>
            <a:endParaRPr lang="en-US" altLang="ko-KR" sz="2000" spc="-300" dirty="0">
              <a:gradFill>
                <a:gsLst>
                  <a:gs pos="0">
                    <a:schemeClr val="tx1"/>
                  </a:gs>
                  <a:gs pos="100000">
                    <a:schemeClr val="tx1"/>
                  </a:gs>
                </a:gsLst>
                <a:lin ang="5400000" scaled="1"/>
              </a:gradFill>
              <a:ea typeface="돋움" panose="020B0600000101010101" pitchFamily="50" charset="-127"/>
            </a:endParaRPr>
          </a:p>
        </p:txBody>
      </p:sp>
      <p:sp>
        <p:nvSpPr>
          <p:cNvPr id="97" name="TextBox 96"/>
          <p:cNvSpPr txBox="1"/>
          <p:nvPr/>
        </p:nvSpPr>
        <p:spPr>
          <a:xfrm>
            <a:off x="9821219" y="5635409"/>
            <a:ext cx="990173"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취소</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8" name="액자 97"/>
          <p:cNvSpPr/>
          <p:nvPr/>
        </p:nvSpPr>
        <p:spPr>
          <a:xfrm>
            <a:off x="6366312" y="4683073"/>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99" name="액자 98"/>
          <p:cNvSpPr/>
          <p:nvPr/>
        </p:nvSpPr>
        <p:spPr>
          <a:xfrm>
            <a:off x="8877526" y="4670946"/>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0" name="액자 99"/>
          <p:cNvSpPr/>
          <p:nvPr/>
        </p:nvSpPr>
        <p:spPr>
          <a:xfrm>
            <a:off x="6366311" y="5537019"/>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 name="사각형 설명선 4"/>
          <p:cNvSpPr/>
          <p:nvPr/>
        </p:nvSpPr>
        <p:spPr>
          <a:xfrm>
            <a:off x="6449755" y="3907451"/>
            <a:ext cx="2360030" cy="624773"/>
          </a:xfrm>
          <a:prstGeom prst="wedgeRectCallout">
            <a:avLst>
              <a:gd name="adj1" fmla="val -35041"/>
              <a:gd name="adj2" fmla="val 91232"/>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기술 설명</a:t>
            </a:r>
            <a:r>
              <a:rPr lang="en-US" altLang="ko-KR" dirty="0" smtClean="0"/>
              <a:t>, </a:t>
            </a:r>
            <a:r>
              <a:rPr lang="ko-KR" altLang="en-US" dirty="0" smtClean="0"/>
              <a:t>소모</a:t>
            </a:r>
            <a:r>
              <a:rPr lang="en-US" altLang="ko-KR" dirty="0" smtClean="0"/>
              <a:t>SP </a:t>
            </a:r>
            <a:r>
              <a:rPr lang="ko-KR" altLang="en-US" dirty="0" smtClean="0"/>
              <a:t>등</a:t>
            </a:r>
            <a:endParaRPr lang="ko-KR" altLang="en-US" dirty="0"/>
          </a:p>
        </p:txBody>
      </p:sp>
      <p:sp>
        <p:nvSpPr>
          <p:cNvPr id="102" name="모서리가 둥근 사각형 설명선 101"/>
          <p:cNvSpPr/>
          <p:nvPr/>
        </p:nvSpPr>
        <p:spPr>
          <a:xfrm>
            <a:off x="2351314" y="1672954"/>
            <a:ext cx="3566162" cy="3798682"/>
          </a:xfrm>
          <a:prstGeom prst="wedgeRoundRectCallout">
            <a:avLst>
              <a:gd name="adj1" fmla="val 60619"/>
              <a:gd name="adj2" fmla="val 3106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특수 </a:t>
            </a:r>
            <a:r>
              <a:rPr lang="en-US" altLang="ko-KR" sz="1600" b="1" dirty="0" smtClean="0">
                <a:solidFill>
                  <a:sysClr val="windowText" lastClr="000000"/>
                </a:solidFill>
              </a:rPr>
              <a:t>- </a:t>
            </a:r>
            <a:r>
              <a:rPr lang="ko-KR" altLang="en-US" sz="1600" b="1" dirty="0" smtClean="0">
                <a:solidFill>
                  <a:sysClr val="windowText" lastClr="000000"/>
                </a:solidFill>
              </a:rPr>
              <a:t>세부</a:t>
            </a:r>
            <a:r>
              <a:rPr lang="en-US" altLang="ko-KR" sz="1600" b="1" dirty="0" smtClean="0">
                <a:solidFill>
                  <a:sysClr val="windowText" lastClr="000000"/>
                </a:solidFill>
              </a:rPr>
              <a:t>’</a:t>
            </a:r>
            <a:endParaRPr lang="en-US" altLang="ko-KR" sz="1600" b="1" dirty="0" smtClean="0">
              <a:solidFill>
                <a:sysClr val="windowText" lastClr="000000"/>
              </a:solidFill>
            </a:endParaRPr>
          </a:p>
          <a:p>
            <a:endParaRPr lang="en-US" altLang="ko-KR" sz="1400" b="1" dirty="0">
              <a:solidFill>
                <a:sysClr val="windowText" lastClr="000000"/>
              </a:solidFill>
            </a:endParaRPr>
          </a:p>
          <a:p>
            <a:r>
              <a:rPr lang="en-US" altLang="ko-KR" sz="1400" dirty="0" smtClean="0">
                <a:solidFill>
                  <a:sysClr val="windowText" lastClr="000000"/>
                </a:solidFill>
              </a:rPr>
              <a:t>- </a:t>
            </a:r>
            <a:r>
              <a:rPr lang="en-US" altLang="ko-KR" sz="1400" dirty="0" smtClean="0">
                <a:solidFill>
                  <a:sysClr val="windowText" lastClr="000000"/>
                </a:solidFill>
              </a:rPr>
              <a:t>(</a:t>
            </a:r>
            <a:r>
              <a:rPr lang="ko-KR" altLang="en-US" sz="1400" dirty="0" smtClean="0">
                <a:solidFill>
                  <a:sysClr val="windowText" lastClr="000000"/>
                </a:solidFill>
              </a:rPr>
              <a:t>미정</a:t>
            </a:r>
            <a:r>
              <a:rPr lang="en-US" altLang="ko-KR" sz="1400" dirty="0" smtClean="0">
                <a:solidFill>
                  <a:sysClr val="windowText" lastClr="000000"/>
                </a:solidFill>
              </a:rPr>
              <a:t>) 75 </a:t>
            </a:r>
            <a:r>
              <a:rPr lang="en-US" altLang="ko-KR" sz="1400" dirty="0" smtClean="0">
                <a:solidFill>
                  <a:sysClr val="windowText" lastClr="000000"/>
                </a:solidFill>
              </a:rPr>
              <a:t>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개체의 기술을 </a:t>
            </a:r>
            <a:r>
              <a:rPr lang="en-US" altLang="ko-KR" sz="1400" dirty="0" smtClean="0">
                <a:solidFill>
                  <a:sysClr val="windowText" lastClr="000000"/>
                </a:solidFill>
              </a:rPr>
              <a:t>3</a:t>
            </a:r>
            <a:r>
              <a:rPr lang="ko-KR" altLang="en-US" sz="1400" dirty="0" smtClean="0">
                <a:solidFill>
                  <a:sysClr val="windowText" lastClr="000000"/>
                </a:solidFill>
              </a:rPr>
              <a:t>개까지</a:t>
            </a:r>
            <a:r>
              <a:rPr lang="en-US" altLang="ko-KR" sz="1400" dirty="0" smtClean="0">
                <a:solidFill>
                  <a:sysClr val="windowText" lastClr="000000"/>
                </a:solidFill>
              </a:rPr>
              <a:t>, </a:t>
            </a:r>
            <a:r>
              <a:rPr lang="ko-KR" altLang="en-US" sz="1400" dirty="0" smtClean="0">
                <a:solidFill>
                  <a:sysClr val="windowText" lastClr="000000"/>
                </a:solidFill>
              </a:rPr>
              <a:t>기술의 초상화와 이름을 표시함</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기술 아이콘에 마우스를 </a:t>
            </a:r>
            <a:r>
              <a:rPr lang="ko-KR" altLang="en-US" sz="1400" dirty="0" err="1" smtClean="0">
                <a:solidFill>
                  <a:sysClr val="windowText" lastClr="000000"/>
                </a:solidFill>
              </a:rPr>
              <a:t>가져다놓고</a:t>
            </a:r>
            <a:r>
              <a:rPr lang="ko-KR" altLang="en-US" sz="1400" dirty="0" smtClean="0">
                <a:solidFill>
                  <a:sysClr val="windowText" lastClr="000000"/>
                </a:solidFill>
              </a:rPr>
              <a:t> </a:t>
            </a:r>
            <a:r>
              <a:rPr lang="en-US" altLang="ko-KR" sz="1400" dirty="0" smtClean="0">
                <a:solidFill>
                  <a:sysClr val="windowText" lastClr="000000"/>
                </a:solidFill>
              </a:rPr>
              <a:t>1</a:t>
            </a:r>
            <a:r>
              <a:rPr lang="ko-KR" altLang="en-US" sz="1400" dirty="0" smtClean="0">
                <a:solidFill>
                  <a:sysClr val="windowText" lastClr="000000"/>
                </a:solidFill>
              </a:rPr>
              <a:t>초 이상의 시간이 흐르면</a:t>
            </a:r>
            <a:r>
              <a:rPr lang="en-US" altLang="ko-KR" sz="1400" dirty="0" smtClean="0">
                <a:solidFill>
                  <a:sysClr val="windowText" lastClr="000000"/>
                </a:solidFill>
              </a:rPr>
              <a:t>, </a:t>
            </a:r>
            <a:r>
              <a:rPr lang="ko-KR" altLang="en-US" sz="1400" dirty="0" smtClean="0">
                <a:solidFill>
                  <a:sysClr val="windowText" lastClr="000000"/>
                </a:solidFill>
              </a:rPr>
              <a:t>해당 기술에 대한 설명</a:t>
            </a:r>
            <a:r>
              <a:rPr lang="en-US" altLang="ko-KR" sz="1400" dirty="0" smtClean="0">
                <a:solidFill>
                  <a:sysClr val="windowText" lastClr="000000"/>
                </a:solidFill>
              </a:rPr>
              <a:t>(</a:t>
            </a:r>
            <a:r>
              <a:rPr lang="ko-KR" altLang="en-US" sz="1400" dirty="0" err="1" smtClean="0">
                <a:solidFill>
                  <a:sysClr val="windowText" lastClr="000000"/>
                </a:solidFill>
              </a:rPr>
              <a:t>데미지</a:t>
            </a:r>
            <a:r>
              <a:rPr lang="en-US" altLang="ko-KR" sz="1400" dirty="0" smtClean="0">
                <a:solidFill>
                  <a:sysClr val="windowText" lastClr="000000"/>
                </a:solidFill>
              </a:rPr>
              <a:t>, </a:t>
            </a:r>
            <a:r>
              <a:rPr lang="ko-KR" altLang="en-US" sz="1400" dirty="0" err="1" smtClean="0">
                <a:solidFill>
                  <a:sysClr val="windowText" lastClr="000000"/>
                </a:solidFill>
              </a:rPr>
              <a:t>버프</a:t>
            </a:r>
            <a:r>
              <a:rPr lang="ko-KR" altLang="en-US" sz="1400" dirty="0" smtClean="0">
                <a:solidFill>
                  <a:sysClr val="windowText" lastClr="000000"/>
                </a:solidFill>
              </a:rPr>
              <a:t> 수치</a:t>
            </a:r>
            <a:r>
              <a:rPr lang="en-US" altLang="ko-KR" sz="1400" dirty="0" smtClean="0">
                <a:solidFill>
                  <a:sysClr val="windowText" lastClr="000000"/>
                </a:solidFill>
              </a:rPr>
              <a:t>, </a:t>
            </a:r>
            <a:r>
              <a:rPr lang="ko-KR" altLang="en-US" sz="1400" dirty="0" smtClean="0">
                <a:solidFill>
                  <a:sysClr val="windowText" lastClr="000000"/>
                </a:solidFill>
              </a:rPr>
              <a:t>속성</a:t>
            </a:r>
            <a:r>
              <a:rPr lang="en-US" altLang="ko-KR" sz="1400" dirty="0" smtClean="0">
                <a:solidFill>
                  <a:sysClr val="windowText" lastClr="000000"/>
                </a:solidFill>
              </a:rPr>
              <a:t>, </a:t>
            </a:r>
            <a:r>
              <a:rPr lang="ko-KR" altLang="en-US" sz="1400" dirty="0" err="1" smtClean="0">
                <a:solidFill>
                  <a:sysClr val="windowText" lastClr="000000"/>
                </a:solidFill>
              </a:rPr>
              <a:t>타겟범위</a:t>
            </a:r>
            <a:r>
              <a:rPr lang="ko-KR" altLang="en-US" sz="1400" dirty="0" smtClean="0">
                <a:solidFill>
                  <a:sysClr val="windowText" lastClr="000000"/>
                </a:solidFill>
              </a:rPr>
              <a:t> 등</a:t>
            </a:r>
            <a:r>
              <a:rPr lang="en-US" altLang="ko-KR" sz="1400" dirty="0" smtClean="0">
                <a:solidFill>
                  <a:sysClr val="windowText" lastClr="000000"/>
                </a:solidFill>
              </a:rPr>
              <a:t>)</a:t>
            </a:r>
            <a:r>
              <a:rPr lang="ko-KR" altLang="en-US" sz="1400" dirty="0" smtClean="0">
                <a:solidFill>
                  <a:sysClr val="windowText" lastClr="000000"/>
                </a:solidFill>
              </a:rPr>
              <a:t>과 사용에 필요한 </a:t>
            </a:r>
            <a:r>
              <a:rPr lang="en-US" altLang="ko-KR" sz="1400" dirty="0" smtClean="0">
                <a:solidFill>
                  <a:sysClr val="windowText" lastClr="000000"/>
                </a:solidFill>
              </a:rPr>
              <a:t>SP</a:t>
            </a:r>
            <a:r>
              <a:rPr lang="ko-KR" altLang="en-US" sz="1400" dirty="0" smtClean="0">
                <a:solidFill>
                  <a:sysClr val="windowText" lastClr="000000"/>
                </a:solidFill>
              </a:rPr>
              <a:t>에 관한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취소 버튼으로 초기 </a:t>
            </a:r>
            <a:r>
              <a:rPr lang="ko-KR" altLang="en-US" sz="1400" dirty="0" err="1" smtClean="0">
                <a:solidFill>
                  <a:sysClr val="windowText" lastClr="000000"/>
                </a:solidFill>
              </a:rPr>
              <a:t>행동창으로</a:t>
            </a:r>
            <a:r>
              <a:rPr lang="ko-KR" altLang="en-US" sz="1400" dirty="0" smtClean="0">
                <a:solidFill>
                  <a:sysClr val="windowText" lastClr="000000"/>
                </a:solidFill>
              </a:rPr>
              <a:t> 돌아갈 수 있음</a:t>
            </a:r>
            <a:endParaRPr lang="en-US" altLang="ko-KR" sz="1400" dirty="0">
              <a:solidFill>
                <a:sysClr val="windowText" lastClr="000000"/>
              </a:solidFill>
            </a:endParaRPr>
          </a:p>
        </p:txBody>
      </p:sp>
      <p:cxnSp>
        <p:nvCxnSpPr>
          <p:cNvPr id="103" name="직선 화살표 연결선 102"/>
          <p:cNvCxnSpPr/>
          <p:nvPr/>
        </p:nvCxnSpPr>
        <p:spPr>
          <a:xfrm flipV="1">
            <a:off x="5656287" y="4129440"/>
            <a:ext cx="710024" cy="13203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4113433"/>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45</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8491944" y="5343369"/>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701646" y="2649227"/>
            <a:ext cx="3283220" cy="3482222"/>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사용</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아이템 사용을 </a:t>
            </a:r>
            <a:r>
              <a:rPr lang="ko-KR" altLang="en-US" sz="1400" dirty="0">
                <a:solidFill>
                  <a:sysClr val="windowText" lastClr="000000"/>
                </a:solidFill>
              </a:rPr>
              <a:t>명령하는 </a:t>
            </a:r>
            <a:r>
              <a:rPr lang="ko-KR" altLang="en-US" sz="1400" dirty="0" smtClean="0">
                <a:solidFill>
                  <a:sysClr val="windowText" lastClr="000000"/>
                </a:solidFill>
              </a:rPr>
              <a:t>버튼</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가방을 살펴보아 원하는 아이템을 사용할 수 </a:t>
            </a:r>
            <a:r>
              <a:rPr lang="ko-KR" altLang="en-US" sz="1400" dirty="0" smtClean="0">
                <a:solidFill>
                  <a:sysClr val="windowText" lastClr="000000"/>
                </a:solidFill>
              </a:rPr>
              <a:t>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a:solidFill>
                  <a:sysClr val="windowText" lastClr="000000"/>
                </a:solidFill>
              </a:rPr>
              <a:t>최종적으로 사용 대상을 정한 뒤</a:t>
            </a:r>
            <a:r>
              <a:rPr lang="en-US" altLang="ko-KR" sz="1400" dirty="0">
                <a:solidFill>
                  <a:sysClr val="windowText" lastClr="000000"/>
                </a:solidFill>
              </a:rPr>
              <a:t> </a:t>
            </a:r>
            <a:r>
              <a:rPr lang="ko-KR" altLang="en-US" sz="1400" dirty="0">
                <a:solidFill>
                  <a:sysClr val="windowText" lastClr="000000"/>
                </a:solidFill>
              </a:rPr>
              <a:t>효과를 발휘함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세부 옵션을 표시함</a:t>
            </a:r>
            <a:endParaRPr lang="en-US" altLang="ko-KR" sz="1400" dirty="0">
              <a:solidFill>
                <a:sysClr val="windowText" lastClr="000000"/>
              </a:solidFill>
            </a:endParaRPr>
          </a:p>
        </p:txBody>
      </p:sp>
    </p:spTree>
    <p:extLst>
      <p:ext uri="{BB962C8B-B14F-4D97-AF65-F5344CB8AC3E}">
        <p14:creationId xmlns:p14="http://schemas.microsoft.com/office/powerpoint/2010/main" val="1236361139"/>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46</a:t>
            </a:fld>
            <a:endParaRPr lang="ko-KR" altLang="en-US" sz="1800" dirty="0"/>
          </a:p>
        </p:txBody>
      </p:sp>
      <p:sp>
        <p:nvSpPr>
          <p:cNvPr id="71" name="TextBox 70"/>
          <p:cNvSpPr txBox="1"/>
          <p:nvPr/>
        </p:nvSpPr>
        <p:spPr>
          <a:xfrm>
            <a:off x="72571" y="240087"/>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sp>
        <p:nvSpPr>
          <p:cNvPr id="69" name="액자 68"/>
          <p:cNvSpPr/>
          <p:nvPr/>
        </p:nvSpPr>
        <p:spPr>
          <a:xfrm>
            <a:off x="5900053" y="4440782"/>
            <a:ext cx="5255625" cy="193389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5" name="TextBox 84"/>
          <p:cNvSpPr txBox="1"/>
          <p:nvPr/>
        </p:nvSpPr>
        <p:spPr>
          <a:xfrm>
            <a:off x="6083529" y="4621638"/>
            <a:ext cx="4936574" cy="1477328"/>
          </a:xfrm>
          <a:prstGeom prst="rect">
            <a:avLst/>
          </a:prstGeom>
          <a:noFill/>
        </p:spPr>
        <p:txBody>
          <a:bodyPr wrap="square" rtlCol="0">
            <a:spAutoFit/>
          </a:bodyPr>
          <a:lstStyle/>
          <a:p>
            <a:r>
              <a:rPr lang="en-US" altLang="ko-KR" dirty="0" smtClean="0"/>
              <a:t>•</a:t>
            </a:r>
            <a:r>
              <a:rPr lang="ko-KR" altLang="en-US" dirty="0" smtClean="0"/>
              <a:t> </a:t>
            </a:r>
            <a:r>
              <a:rPr lang="en-US" altLang="ko-KR" dirty="0" smtClean="0"/>
              <a:t>ITEM</a:t>
            </a:r>
            <a:r>
              <a:rPr lang="ko-KR" altLang="en-US" dirty="0" smtClean="0"/>
              <a:t>이름</a:t>
            </a:r>
            <a:r>
              <a:rPr lang="en-US" altLang="ko-KR" dirty="0" smtClean="0"/>
              <a:t>1,</a:t>
            </a:r>
            <a:r>
              <a:rPr lang="ko-KR" altLang="en-US" dirty="0" smtClean="0"/>
              <a:t>개수</a:t>
            </a:r>
            <a:r>
              <a:rPr lang="en-US" altLang="ko-KR" dirty="0" smtClean="0"/>
              <a:t>     • ITEM</a:t>
            </a:r>
            <a:r>
              <a:rPr lang="ko-KR" altLang="en-US" dirty="0" smtClean="0"/>
              <a:t>이름</a:t>
            </a:r>
            <a:r>
              <a:rPr lang="en-US" altLang="ko-KR" dirty="0" smtClean="0"/>
              <a:t>2,</a:t>
            </a:r>
            <a:r>
              <a:rPr lang="ko-KR" altLang="en-US" dirty="0"/>
              <a:t>개수</a:t>
            </a:r>
            <a:endParaRPr lang="en-US" altLang="ko-KR" dirty="0" smtClean="0"/>
          </a:p>
          <a:p>
            <a:endParaRPr lang="en-US" altLang="ko-KR" spc="-300" dirty="0">
              <a:gradFill>
                <a:gsLst>
                  <a:gs pos="0">
                    <a:schemeClr val="tx1"/>
                  </a:gs>
                  <a:gs pos="100000">
                    <a:schemeClr val="tx1"/>
                  </a:gs>
                </a:gsLst>
                <a:lin ang="5400000" scaled="1"/>
              </a:gradFill>
              <a:ea typeface="돋움" panose="020B0600000101010101" pitchFamily="50" charset="-127"/>
            </a:endParaRPr>
          </a:p>
          <a:p>
            <a:r>
              <a:rPr lang="en-US" altLang="ko-KR" dirty="0"/>
              <a:t>•</a:t>
            </a:r>
            <a:r>
              <a:rPr lang="ko-KR" altLang="en-US" dirty="0"/>
              <a:t> </a:t>
            </a:r>
            <a:r>
              <a:rPr lang="en-US" altLang="ko-KR" dirty="0" smtClean="0"/>
              <a:t>ITEM</a:t>
            </a:r>
            <a:r>
              <a:rPr lang="ko-KR" altLang="en-US" dirty="0" smtClean="0"/>
              <a:t>이름</a:t>
            </a:r>
            <a:r>
              <a:rPr lang="en-US" altLang="ko-KR" dirty="0" smtClean="0"/>
              <a:t>3,</a:t>
            </a:r>
            <a:r>
              <a:rPr lang="ko-KR" altLang="en-US" dirty="0"/>
              <a:t>개수</a:t>
            </a:r>
            <a:r>
              <a:rPr lang="en-US" altLang="ko-KR" dirty="0" smtClean="0"/>
              <a:t>     • ITEM</a:t>
            </a:r>
            <a:r>
              <a:rPr lang="ko-KR" altLang="en-US" dirty="0" smtClean="0"/>
              <a:t>이름</a:t>
            </a:r>
            <a:r>
              <a:rPr lang="en-US" altLang="ko-KR" dirty="0" smtClean="0"/>
              <a:t>4,</a:t>
            </a:r>
            <a:r>
              <a:rPr lang="ko-KR" altLang="en-US" dirty="0"/>
              <a:t>개수</a:t>
            </a:r>
            <a:endParaRPr lang="en-US" altLang="ko-KR" dirty="0" smtClean="0"/>
          </a:p>
          <a:p>
            <a:endParaRPr lang="en-US" altLang="ko-KR" dirty="0" smtClean="0"/>
          </a:p>
          <a:p>
            <a:r>
              <a:rPr lang="en-US" altLang="ko-KR" dirty="0"/>
              <a:t>•</a:t>
            </a:r>
            <a:r>
              <a:rPr lang="ko-KR" altLang="en-US" dirty="0"/>
              <a:t> </a:t>
            </a:r>
            <a:r>
              <a:rPr lang="en-US" altLang="ko-KR" dirty="0" smtClean="0"/>
              <a:t>ITEM</a:t>
            </a:r>
            <a:r>
              <a:rPr lang="ko-KR" altLang="en-US" dirty="0" smtClean="0"/>
              <a:t>이름</a:t>
            </a:r>
            <a:r>
              <a:rPr lang="en-US" altLang="ko-KR" dirty="0" smtClean="0"/>
              <a:t>5,</a:t>
            </a:r>
            <a:r>
              <a:rPr lang="ko-KR" altLang="en-US" dirty="0"/>
              <a:t>개수</a:t>
            </a:r>
            <a:r>
              <a:rPr lang="en-US" altLang="ko-KR" dirty="0" smtClean="0"/>
              <a:t>     </a:t>
            </a:r>
            <a:r>
              <a:rPr lang="en-US" altLang="ko-KR" dirty="0"/>
              <a:t>• </a:t>
            </a:r>
            <a:r>
              <a:rPr lang="en-US" altLang="ko-KR" dirty="0" smtClean="0"/>
              <a:t>ITEM</a:t>
            </a:r>
            <a:r>
              <a:rPr lang="ko-KR" altLang="en-US" dirty="0" smtClean="0"/>
              <a:t>이름</a:t>
            </a:r>
            <a:r>
              <a:rPr lang="en-US" altLang="ko-KR" dirty="0" smtClean="0"/>
              <a:t>6</a:t>
            </a:r>
            <a:endParaRPr lang="en-US" altLang="ko-KR" spc="-300" dirty="0">
              <a:gradFill>
                <a:gsLst>
                  <a:gs pos="0">
                    <a:schemeClr val="tx1"/>
                  </a:gs>
                  <a:gs pos="100000">
                    <a:schemeClr val="tx1"/>
                  </a:gs>
                </a:gsLst>
                <a:lin ang="5400000" scaled="1"/>
              </a:gradFill>
              <a:ea typeface="돋움" panose="020B0600000101010101" pitchFamily="50" charset="-127"/>
            </a:endParaRPr>
          </a:p>
        </p:txBody>
      </p:sp>
      <p:sp>
        <p:nvSpPr>
          <p:cNvPr id="97" name="TextBox 96"/>
          <p:cNvSpPr txBox="1"/>
          <p:nvPr/>
        </p:nvSpPr>
        <p:spPr>
          <a:xfrm>
            <a:off x="9821219" y="5635409"/>
            <a:ext cx="990173"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취소</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사각형 설명선 4"/>
          <p:cNvSpPr/>
          <p:nvPr/>
        </p:nvSpPr>
        <p:spPr>
          <a:xfrm>
            <a:off x="6681241" y="3771464"/>
            <a:ext cx="1958331" cy="624773"/>
          </a:xfrm>
          <a:prstGeom prst="wedgeRectCallout">
            <a:avLst>
              <a:gd name="adj1" fmla="val -35041"/>
              <a:gd name="adj2" fmla="val 91232"/>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아이</a:t>
            </a:r>
            <a:r>
              <a:rPr lang="ko-KR" altLang="en-US" dirty="0"/>
              <a:t>템</a:t>
            </a:r>
            <a:r>
              <a:rPr lang="ko-KR" altLang="en-US" dirty="0" smtClean="0"/>
              <a:t> 설명</a:t>
            </a:r>
            <a:endParaRPr lang="ko-KR" altLang="en-US" dirty="0"/>
          </a:p>
        </p:txBody>
      </p:sp>
      <p:sp>
        <p:nvSpPr>
          <p:cNvPr id="102" name="모서리가 둥근 사각형 설명선 101"/>
          <p:cNvSpPr/>
          <p:nvPr/>
        </p:nvSpPr>
        <p:spPr>
          <a:xfrm>
            <a:off x="2129977" y="1786745"/>
            <a:ext cx="3566162" cy="3798682"/>
          </a:xfrm>
          <a:prstGeom prst="wedgeRoundRectCallout">
            <a:avLst>
              <a:gd name="adj1" fmla="val 60619"/>
              <a:gd name="adj2" fmla="val 3106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사용 </a:t>
            </a:r>
            <a:r>
              <a:rPr lang="en-US" altLang="ko-KR" sz="1600" b="1" dirty="0" smtClean="0">
                <a:solidFill>
                  <a:sysClr val="windowText" lastClr="000000"/>
                </a:solidFill>
              </a:rPr>
              <a:t>- </a:t>
            </a:r>
            <a:r>
              <a:rPr lang="ko-KR" altLang="en-US" sz="1600" b="1" dirty="0" smtClean="0">
                <a:solidFill>
                  <a:sysClr val="windowText" lastClr="000000"/>
                </a:solidFill>
              </a:rPr>
              <a:t>세부</a:t>
            </a:r>
            <a:r>
              <a:rPr lang="en-US" altLang="ko-KR" sz="1600" b="1" dirty="0" smtClean="0">
                <a:solidFill>
                  <a:sysClr val="windowText" lastClr="000000"/>
                </a:solidFill>
              </a:rPr>
              <a:t>’</a:t>
            </a:r>
            <a:endParaRPr lang="en-US" altLang="ko-KR" sz="1600" b="1" dirty="0" smtClean="0">
              <a:solidFill>
                <a:sysClr val="windowText" lastClr="000000"/>
              </a:solidFill>
            </a:endParaRPr>
          </a:p>
          <a:p>
            <a:endParaRPr lang="en-US" altLang="ko-KR" sz="1400" b="1" dirty="0">
              <a:solidFill>
                <a:sysClr val="windowText" lastClr="000000"/>
              </a:solidFill>
            </a:endParaRPr>
          </a:p>
          <a:p>
            <a:r>
              <a:rPr lang="en-US" altLang="ko-KR" sz="1400" dirty="0" smtClean="0">
                <a:solidFill>
                  <a:sysClr val="windowText" lastClr="000000"/>
                </a:solidFill>
              </a:rPr>
              <a:t>- </a:t>
            </a:r>
            <a:r>
              <a:rPr lang="en-US" altLang="ko-KR" sz="1400" dirty="0" smtClean="0">
                <a:solidFill>
                  <a:sysClr val="windowText" lastClr="000000"/>
                </a:solidFill>
              </a:rPr>
              <a:t>(</a:t>
            </a:r>
            <a:r>
              <a:rPr lang="ko-KR" altLang="en-US" sz="1400" dirty="0" smtClean="0">
                <a:solidFill>
                  <a:sysClr val="windowText" lastClr="000000"/>
                </a:solidFill>
              </a:rPr>
              <a:t>미정</a:t>
            </a:r>
            <a:r>
              <a:rPr lang="en-US" altLang="ko-KR" sz="1400" dirty="0" smtClean="0">
                <a:solidFill>
                  <a:sysClr val="windowText" lastClr="000000"/>
                </a:solidFill>
              </a:rPr>
              <a:t>) 75 </a:t>
            </a:r>
            <a:r>
              <a:rPr lang="en-US" altLang="ko-KR" sz="1400" dirty="0" smtClean="0">
                <a:solidFill>
                  <a:sysClr val="windowText" lastClr="000000"/>
                </a:solidFill>
              </a:rPr>
              <a:t>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보유한 아이템의 정보를 스크롤 바 창의 형식으로 표시함</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아이템 이름</a:t>
            </a:r>
            <a:r>
              <a:rPr lang="ko-KR" altLang="en-US" sz="1400" dirty="0" smtClean="0">
                <a:solidFill>
                  <a:sysClr val="windowText" lastClr="000000"/>
                </a:solidFill>
              </a:rPr>
              <a:t>에 마우스를 </a:t>
            </a:r>
            <a:r>
              <a:rPr lang="ko-KR" altLang="en-US" sz="1400" dirty="0" err="1" smtClean="0">
                <a:solidFill>
                  <a:sysClr val="windowText" lastClr="000000"/>
                </a:solidFill>
              </a:rPr>
              <a:t>가져다놓고</a:t>
            </a:r>
            <a:r>
              <a:rPr lang="ko-KR" altLang="en-US" sz="1400" dirty="0" smtClean="0">
                <a:solidFill>
                  <a:sysClr val="windowText" lastClr="000000"/>
                </a:solidFill>
              </a:rPr>
              <a:t> </a:t>
            </a:r>
            <a:r>
              <a:rPr lang="en-US" altLang="ko-KR" sz="1400" dirty="0" smtClean="0">
                <a:solidFill>
                  <a:sysClr val="windowText" lastClr="000000"/>
                </a:solidFill>
              </a:rPr>
              <a:t>1</a:t>
            </a:r>
            <a:r>
              <a:rPr lang="ko-KR" altLang="en-US" sz="1400" dirty="0" smtClean="0">
                <a:solidFill>
                  <a:sysClr val="windowText" lastClr="000000"/>
                </a:solidFill>
              </a:rPr>
              <a:t>초 이상의 시간이 흐르면</a:t>
            </a:r>
            <a:r>
              <a:rPr lang="en-US" altLang="ko-KR" sz="1400" dirty="0" smtClean="0">
                <a:solidFill>
                  <a:sysClr val="windowText" lastClr="000000"/>
                </a:solidFill>
              </a:rPr>
              <a:t>, </a:t>
            </a:r>
            <a:r>
              <a:rPr lang="ko-KR" altLang="en-US" sz="1400" dirty="0" smtClean="0">
                <a:solidFill>
                  <a:sysClr val="windowText" lastClr="000000"/>
                </a:solidFill>
              </a:rPr>
              <a:t>해당 아이템에 대한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취소 버튼으로 초기 </a:t>
            </a:r>
            <a:r>
              <a:rPr lang="ko-KR" altLang="en-US" sz="1400" dirty="0" err="1" smtClean="0">
                <a:solidFill>
                  <a:sysClr val="windowText" lastClr="000000"/>
                </a:solidFill>
              </a:rPr>
              <a:t>행동창으로</a:t>
            </a:r>
            <a:r>
              <a:rPr lang="ko-KR" altLang="en-US" sz="1400" dirty="0" smtClean="0">
                <a:solidFill>
                  <a:sysClr val="windowText" lastClr="000000"/>
                </a:solidFill>
              </a:rPr>
              <a:t> 돌아갈 수 있음</a:t>
            </a:r>
            <a:endParaRPr lang="en-US" altLang="ko-KR" sz="1400" dirty="0">
              <a:solidFill>
                <a:sysClr val="windowText" lastClr="000000"/>
              </a:solidFill>
            </a:endParaRPr>
          </a:p>
        </p:txBody>
      </p:sp>
      <p:cxnSp>
        <p:nvCxnSpPr>
          <p:cNvPr id="103" name="직선 화살표 연결선 102"/>
          <p:cNvCxnSpPr/>
          <p:nvPr/>
        </p:nvCxnSpPr>
        <p:spPr>
          <a:xfrm flipV="1">
            <a:off x="5656287" y="4129440"/>
            <a:ext cx="710024" cy="13203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72753531"/>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532315" y="1904905"/>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10904997" y="2296439"/>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532316" y="3317509"/>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10889712" y="4045998"/>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532314" y="4748265"/>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819737" y="31953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2835146" y="4910347"/>
            <a:ext cx="1109922" cy="652908"/>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2833814" y="3421892"/>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2838707" y="2060988"/>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47</a:t>
            </a:fld>
            <a:endParaRPr lang="ko-KR" altLang="en-US" sz="1800" dirty="0"/>
          </a:p>
        </p:txBody>
      </p: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6" name="직선 연결선 5"/>
          <p:cNvCxnSpPr/>
          <p:nvPr/>
        </p:nvCxnSpPr>
        <p:spPr>
          <a:xfrm flipV="1">
            <a:off x="0" y="1216757"/>
            <a:ext cx="12192000" cy="2"/>
          </a:xfrm>
          <a:prstGeom prst="line">
            <a:avLst/>
          </a:prstGeom>
          <a:ln w="571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935139"/>
            <a:ext cx="12192000" cy="2"/>
          </a:xfrm>
          <a:prstGeom prst="line">
            <a:avLst/>
          </a:prstGeom>
          <a:ln w="571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3005169" y="150556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3005169" y="29102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3005169" y="438128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1142366" y="29102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7022248" y="150838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7022248" y="291759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ln>
                  <a:solidFill>
                    <a:srgbClr val="C00000"/>
                  </a:solidFill>
                </a:ln>
                <a:solidFill>
                  <a:sysClr val="windowText" lastClr="000000"/>
                </a:solidFill>
              </a:rPr>
              <a:t>정예</a:t>
            </a:r>
            <a:endParaRPr lang="en-US" altLang="ko-KR" dirty="0" smtClean="0">
              <a:ln>
                <a:solidFill>
                  <a:srgbClr val="C00000"/>
                </a:solidFill>
              </a:ln>
              <a:solidFill>
                <a:sysClr val="windowText" lastClr="000000"/>
              </a:solidFill>
            </a:endParaRPr>
          </a:p>
          <a:p>
            <a:pPr algn="ctr"/>
            <a:r>
              <a:rPr lang="ko-KR" altLang="en-US" dirty="0" err="1" smtClean="0">
                <a:ln>
                  <a:solidFill>
                    <a:srgbClr val="C00000"/>
                  </a:solidFill>
                </a:ln>
                <a:solidFill>
                  <a:sysClr val="windowText" lastClr="000000"/>
                </a:solidFill>
              </a:rPr>
              <a:t>몬스터</a:t>
            </a:r>
            <a:endParaRPr lang="en-US" altLang="ko-KR" dirty="0" smtClean="0">
              <a:ln>
                <a:solidFill>
                  <a:srgbClr val="C0000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7022248" y="435451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9379647" y="1902690"/>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9379646" y="3652247"/>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7560226" y="537865"/>
            <a:ext cx="3385860"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74577244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48</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8322364" y="156375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8322364" y="283595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1" name="이등변 삼각형 100"/>
          <p:cNvSpPr/>
          <p:nvPr/>
        </p:nvSpPr>
        <p:spPr>
          <a:xfrm>
            <a:off x="8322364" y="414792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a:t>
            </a:r>
            <a:r>
              <a:rPr lang="ko-KR" altLang="en-US" sz="2400"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포인트가 5개인 별 1"/>
          <p:cNvSpPr/>
          <p:nvPr/>
        </p:nvSpPr>
        <p:spPr>
          <a:xfrm>
            <a:off x="10177670" y="2650422"/>
            <a:ext cx="1868557" cy="1431235"/>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rgbClr val="FF0000"/>
                  </a:solidFill>
                </a:ln>
                <a:solidFill>
                  <a:sysClr val="windowText" lastClr="000000"/>
                </a:solidFill>
              </a:rPr>
              <a:t>보스</a:t>
            </a:r>
            <a:endParaRPr lang="en-US" altLang="ko-KR" sz="2000" dirty="0" smtClean="0">
              <a:ln>
                <a:solidFill>
                  <a:srgbClr val="FF0000"/>
                </a:solidFill>
              </a:ln>
              <a:solidFill>
                <a:sysClr val="windowText" lastClr="000000"/>
              </a:solidFill>
            </a:endParaRPr>
          </a:p>
        </p:txBody>
      </p:sp>
      <p:sp>
        <p:nvSpPr>
          <p:cNvPr id="18" name="TextBox 1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23710322"/>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49</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 이벤트</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정오각형 4"/>
          <p:cNvSpPr/>
          <p:nvPr/>
        </p:nvSpPr>
        <p:spPr>
          <a:xfrm>
            <a:off x="9568069" y="2822711"/>
            <a:ext cx="1736035" cy="1470992"/>
          </a:xfrm>
          <a:prstGeom prst="pentagon">
            <a:avLst/>
          </a:prstGeom>
          <a:solidFill>
            <a:schemeClr val="accent2">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rgbClr val="FFFF00"/>
                </a:solidFill>
              </a:rPr>
              <a:t>보물상자</a:t>
            </a:r>
            <a:endParaRPr lang="ko-KR" altLang="en-US" sz="2400" dirty="0">
              <a:solidFill>
                <a:srgbClr val="FFFF00"/>
              </a:solidFill>
            </a:endParaRPr>
          </a:p>
        </p:txBody>
      </p:sp>
      <p:sp>
        <p:nvSpPr>
          <p:cNvPr id="15" name="TextBox 14"/>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98162002"/>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50</a:t>
            </a:fld>
            <a:endParaRPr lang="ko-KR" altLang="en-US" sz="1800" dirty="0"/>
          </a:p>
        </p:txBody>
      </p:sp>
      <p:sp>
        <p:nvSpPr>
          <p:cNvPr id="7" name="타원 6"/>
          <p:cNvSpPr/>
          <p:nvPr/>
        </p:nvSpPr>
        <p:spPr>
          <a:xfrm>
            <a:off x="5499652" y="1378226"/>
            <a:ext cx="1192696" cy="1152939"/>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chemeClr val="tx1"/>
                </a:solidFill>
              </a:rPr>
              <a:t>상인</a:t>
            </a:r>
            <a:endParaRPr lang="ko-KR" altLang="en-US" sz="2400" dirty="0">
              <a:solidFill>
                <a:schemeClr val="tx1"/>
              </a:solidFill>
            </a:endParaRPr>
          </a:p>
        </p:txBody>
      </p:sp>
      <p:grpSp>
        <p:nvGrpSpPr>
          <p:cNvPr id="17" name="그룹 16"/>
          <p:cNvGrpSpPr/>
          <p:nvPr/>
        </p:nvGrpSpPr>
        <p:grpSpPr>
          <a:xfrm>
            <a:off x="1179567" y="1160151"/>
            <a:ext cx="9478462" cy="4737066"/>
            <a:chOff x="1258956" y="1160151"/>
            <a:chExt cx="9478462" cy="4737066"/>
          </a:xfrm>
        </p:grpSpPr>
        <p:cxnSp>
          <p:nvCxnSpPr>
            <p:cNvPr id="15" name="직선 연결선 14"/>
            <p:cNvCxnSpPr/>
            <p:nvPr/>
          </p:nvCxnSpPr>
          <p:spPr>
            <a:xfrm>
              <a:off x="1258956"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10737418"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flipH="1">
              <a:off x="1258956" y="5897217"/>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flipH="1">
              <a:off x="1258956" y="1160151"/>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2" name="타원 31"/>
          <p:cNvSpPr/>
          <p:nvPr/>
        </p:nvSpPr>
        <p:spPr>
          <a:xfrm>
            <a:off x="7583795" y="5027382"/>
            <a:ext cx="764839" cy="71171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3" name="직사각형 32"/>
          <p:cNvSpPr/>
          <p:nvPr/>
        </p:nvSpPr>
        <p:spPr>
          <a:xfrm>
            <a:off x="2219549" y="4947033"/>
            <a:ext cx="671128" cy="635738"/>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4" name="이등변 삼각형 33"/>
          <p:cNvSpPr/>
          <p:nvPr/>
        </p:nvSpPr>
        <p:spPr>
          <a:xfrm>
            <a:off x="4989442" y="4983653"/>
            <a:ext cx="1020419" cy="655996"/>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아이템</a:t>
            </a:r>
          </a:p>
        </p:txBody>
      </p:sp>
      <p:sp>
        <p:nvSpPr>
          <p:cNvPr id="35" name="포인트가 5개인 별 34"/>
          <p:cNvSpPr/>
          <p:nvPr/>
        </p:nvSpPr>
        <p:spPr>
          <a:xfrm>
            <a:off x="3286849" y="3939810"/>
            <a:ext cx="1251047" cy="1043843"/>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8" name="십자형 17"/>
          <p:cNvSpPr/>
          <p:nvPr/>
        </p:nvSpPr>
        <p:spPr>
          <a:xfrm>
            <a:off x="8702349" y="4162211"/>
            <a:ext cx="715618" cy="655996"/>
          </a:xfrm>
          <a:prstGeom prst="plus">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9" name="순서도: 판단 18"/>
          <p:cNvSpPr/>
          <p:nvPr/>
        </p:nvSpPr>
        <p:spPr>
          <a:xfrm>
            <a:off x="6098710" y="4162211"/>
            <a:ext cx="969301" cy="78482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smtClean="0">
                <a:solidFill>
                  <a:schemeClr val="tx1"/>
                </a:solidFill>
              </a:rPr>
              <a:t>아이템</a:t>
            </a:r>
            <a:endParaRPr lang="ko-KR" altLang="en-US" sz="1400" dirty="0">
              <a:solidFill>
                <a:schemeClr val="tx1"/>
              </a:solidFill>
            </a:endParaRPr>
          </a:p>
        </p:txBody>
      </p:sp>
      <p:cxnSp>
        <p:nvCxnSpPr>
          <p:cNvPr id="23" name="구부러진 연결선 22"/>
          <p:cNvCxnSpPr>
            <a:stCxn id="7" idx="2"/>
          </p:cNvCxnSpPr>
          <p:nvPr/>
        </p:nvCxnSpPr>
        <p:spPr>
          <a:xfrm rot="10800000" flipV="1">
            <a:off x="4678018" y="1954695"/>
            <a:ext cx="821635" cy="914399"/>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구부러진 연결선 42"/>
          <p:cNvCxnSpPr>
            <a:endCxn id="7" idx="6"/>
          </p:cNvCxnSpPr>
          <p:nvPr/>
        </p:nvCxnSpPr>
        <p:spPr>
          <a:xfrm rot="16200000" flipV="1">
            <a:off x="6610812" y="2036233"/>
            <a:ext cx="914399" cy="751326"/>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타원 43"/>
          <p:cNvSpPr/>
          <p:nvPr/>
        </p:nvSpPr>
        <p:spPr>
          <a:xfrm>
            <a:off x="4537896" y="2869095"/>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2" name="타원 51"/>
          <p:cNvSpPr/>
          <p:nvPr/>
        </p:nvSpPr>
        <p:spPr>
          <a:xfrm>
            <a:off x="7303552" y="2869096"/>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4" name="TextBox 23"/>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608691039"/>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63300401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디엘</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화염</a:t>
                      </a:r>
                      <a:endParaRPr lang="ko-KR" altLang="en-US" dirty="0"/>
                    </a:p>
                  </a:txBody>
                  <a:tcPr anchor="ctr"/>
                </a:tc>
                <a:extLst>
                  <a:ext uri="{0D108BD9-81ED-4DB2-BD59-A6C34878D82A}">
                    <a16:rowId xmlns:a16="http://schemas.microsoft.com/office/drawing/2014/main" xmlns=""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불굴 </a:t>
                      </a:r>
                      <a:r>
                        <a:rPr lang="en-US" altLang="ko-KR" dirty="0" smtClean="0"/>
                        <a:t>(</a:t>
                      </a:r>
                      <a:r>
                        <a:rPr lang="ko-KR" altLang="en-US" dirty="0" smtClean="0"/>
                        <a:t>캐릭터가 죽음의 위기에 처했을 때</a:t>
                      </a:r>
                      <a:r>
                        <a:rPr lang="en-US" altLang="ko-KR" dirty="0" smtClean="0"/>
                        <a:t>, </a:t>
                      </a:r>
                      <a:r>
                        <a:rPr lang="ko-KR" altLang="en-US" dirty="0" err="1" smtClean="0"/>
                        <a:t>반피로</a:t>
                      </a:r>
                      <a:r>
                        <a:rPr lang="ko-KR" altLang="en-US" dirty="0" smtClean="0"/>
                        <a:t> 회복하고 그 </a:t>
                      </a:r>
                      <a:r>
                        <a:rPr lang="ko-KR" altLang="en-US" dirty="0" err="1" smtClean="0"/>
                        <a:t>턴동안</a:t>
                      </a:r>
                      <a:r>
                        <a:rPr lang="ko-KR" altLang="en-US" dirty="0" smtClean="0"/>
                        <a:t> 무적</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약점 포착</a:t>
                      </a:r>
                      <a:r>
                        <a:rPr lang="en-US" altLang="ko-KR" dirty="0" smtClean="0"/>
                        <a:t>(</a:t>
                      </a:r>
                      <a:r>
                        <a:rPr lang="ko-KR" altLang="en-US" dirty="0" smtClean="0"/>
                        <a:t>한 적 방 감소</a:t>
                      </a:r>
                      <a:r>
                        <a:rPr lang="en-US" altLang="ko-KR" baseline="0" dirty="0" smtClean="0"/>
                        <a:t> </a:t>
                      </a:r>
                      <a:r>
                        <a:rPr lang="ko-KR" altLang="en-US" baseline="0" dirty="0" smtClean="0"/>
                        <a:t>후 공격</a:t>
                      </a:r>
                      <a:r>
                        <a:rPr lang="en-US" altLang="ko-KR" baseline="0" dirty="0" smtClean="0"/>
                        <a:t>)</a:t>
                      </a:r>
                      <a:r>
                        <a:rPr lang="ko-KR" altLang="en-US" dirty="0" smtClean="0"/>
                        <a:t> </a:t>
                      </a:r>
                      <a:r>
                        <a:rPr lang="en-US" altLang="ko-KR" dirty="0" smtClean="0"/>
                        <a:t>/ </a:t>
                      </a:r>
                      <a:r>
                        <a:rPr lang="ko-KR" altLang="en-US" dirty="0" smtClean="0"/>
                        <a:t>정신 집중</a:t>
                      </a:r>
                      <a:r>
                        <a:rPr lang="en-US" altLang="ko-KR" dirty="0" smtClean="0"/>
                        <a:t>(HP,</a:t>
                      </a:r>
                      <a:r>
                        <a:rPr lang="ko-KR" altLang="en-US" dirty="0" smtClean="0"/>
                        <a:t>공</a:t>
                      </a:r>
                      <a:r>
                        <a:rPr lang="en-US" altLang="ko-KR" dirty="0" smtClean="0"/>
                        <a:t>,</a:t>
                      </a:r>
                      <a:r>
                        <a:rPr lang="ko-KR" altLang="en-US" dirty="0" smtClean="0"/>
                        <a:t>방 상승</a:t>
                      </a:r>
                      <a:r>
                        <a:rPr lang="en-US" altLang="ko-KR" dirty="0" smtClean="0"/>
                        <a:t>)</a:t>
                      </a:r>
                      <a:r>
                        <a:rPr lang="ko-KR" altLang="en-US" dirty="0" smtClean="0"/>
                        <a:t> </a:t>
                      </a:r>
                      <a:r>
                        <a:rPr lang="en-US" altLang="ko-KR" dirty="0" smtClean="0"/>
                        <a:t>/ </a:t>
                      </a:r>
                      <a:r>
                        <a:rPr lang="ko-KR" altLang="en-US" dirty="0" smtClean="0"/>
                        <a:t>분노의 일격</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51</a:t>
            </a:fld>
            <a:endParaRPr lang="ko-KR" altLang="en-US" sz="1800" dirty="0"/>
          </a:p>
        </p:txBody>
      </p:sp>
    </p:spTree>
    <p:extLst>
      <p:ext uri="{BB962C8B-B14F-4D97-AF65-F5344CB8AC3E}">
        <p14:creationId xmlns:p14="http://schemas.microsoft.com/office/powerpoint/2010/main" val="41956932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64066262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세실리아</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빙결</a:t>
                      </a:r>
                      <a:endParaRPr lang="ko-KR" altLang="en-US" dirty="0"/>
                    </a:p>
                  </a:txBody>
                  <a:tcPr anchor="ctr"/>
                </a:tc>
                <a:extLst>
                  <a:ext uri="{0D108BD9-81ED-4DB2-BD59-A6C34878D82A}">
                    <a16:rowId xmlns:a16="http://schemas.microsoft.com/office/drawing/2014/main" xmlns=""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마력 순환 </a:t>
                      </a:r>
                      <a:r>
                        <a:rPr lang="en-US" altLang="ko-KR" dirty="0" smtClean="0"/>
                        <a:t>(</a:t>
                      </a:r>
                      <a:r>
                        <a:rPr lang="ko-KR" altLang="en-US" dirty="0" smtClean="0"/>
                        <a:t>자신의 턴마다 아군</a:t>
                      </a:r>
                      <a:r>
                        <a:rPr lang="ko-KR" altLang="en-US" baseline="0" dirty="0" smtClean="0"/>
                        <a:t> </a:t>
                      </a:r>
                      <a:r>
                        <a:rPr lang="en-US" altLang="ko-KR" baseline="0" dirty="0" smtClean="0"/>
                        <a:t>SP </a:t>
                      </a:r>
                      <a:r>
                        <a:rPr lang="ko-KR" altLang="en-US" baseline="0" dirty="0" smtClean="0"/>
                        <a:t>상승</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물방울 폭탄</a:t>
                      </a:r>
                      <a:r>
                        <a:rPr lang="en-US" altLang="ko-KR" dirty="0" smtClean="0"/>
                        <a:t>(</a:t>
                      </a:r>
                      <a:r>
                        <a:rPr lang="ko-KR" altLang="en-US" dirty="0" smtClean="0"/>
                        <a:t>한 적 뎀</a:t>
                      </a:r>
                      <a:r>
                        <a:rPr lang="en-US" altLang="ko-KR" baseline="0" dirty="0" smtClean="0"/>
                        <a:t>)</a:t>
                      </a:r>
                      <a:r>
                        <a:rPr lang="ko-KR" altLang="en-US" dirty="0" smtClean="0"/>
                        <a:t> </a:t>
                      </a:r>
                      <a:r>
                        <a:rPr lang="en-US" altLang="ko-KR" dirty="0" smtClean="0"/>
                        <a:t>/ </a:t>
                      </a:r>
                      <a:r>
                        <a:rPr lang="ko-KR" altLang="en-US" dirty="0" err="1" smtClean="0"/>
                        <a:t>칼바람</a:t>
                      </a:r>
                      <a:r>
                        <a:rPr lang="en-US" altLang="ko-KR" dirty="0" smtClean="0"/>
                        <a:t>(</a:t>
                      </a:r>
                      <a:r>
                        <a:rPr lang="ko-KR" altLang="en-US" dirty="0" smtClean="0"/>
                        <a:t>모든 적 뎀</a:t>
                      </a:r>
                      <a:r>
                        <a:rPr lang="en-US" altLang="ko-KR" dirty="0" smtClean="0"/>
                        <a:t>)</a:t>
                      </a:r>
                      <a:r>
                        <a:rPr lang="ko-KR" altLang="en-US" dirty="0" smtClean="0"/>
                        <a:t> </a:t>
                      </a:r>
                      <a:r>
                        <a:rPr lang="en-US" altLang="ko-KR" dirty="0" smtClean="0"/>
                        <a:t>/ </a:t>
                      </a:r>
                      <a:r>
                        <a:rPr lang="ko-KR" altLang="en-US" dirty="0" smtClean="0"/>
                        <a:t>서리 폭풍</a:t>
                      </a:r>
                      <a:r>
                        <a:rPr lang="en-US" altLang="ko-KR" dirty="0" smtClean="0"/>
                        <a:t>(</a:t>
                      </a:r>
                      <a:r>
                        <a:rPr lang="ko-KR" altLang="en-US" dirty="0" smtClean="0"/>
                        <a:t>모든 적 뎀</a:t>
                      </a:r>
                      <a:r>
                        <a:rPr lang="en-US" altLang="ko-KR" dirty="0" smtClean="0"/>
                        <a:t>, </a:t>
                      </a:r>
                      <a:r>
                        <a:rPr lang="ko-KR" altLang="en-US" dirty="0" smtClean="0"/>
                        <a:t>빙결</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52</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962759470"/>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967430271"/>
              </p:ext>
            </p:extLst>
          </p:nvPr>
        </p:nvGraphicFramePr>
        <p:xfrm>
          <a:off x="277760" y="218627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프리스톤</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587654416"/>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800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xmlns="" val="318801916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85310263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363351160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난공불락 </a:t>
                      </a:r>
                      <a:r>
                        <a:rPr lang="en-US" altLang="ko-KR" dirty="0" smtClean="0"/>
                        <a:t>(</a:t>
                      </a:r>
                      <a:r>
                        <a:rPr lang="ko-KR" altLang="en-US" dirty="0" smtClean="0"/>
                        <a:t>잃은 체력에 비례하여 방어력 상승</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방패 돌격</a:t>
                      </a:r>
                      <a:r>
                        <a:rPr lang="en-US" altLang="ko-KR" dirty="0" smtClean="0"/>
                        <a:t>(</a:t>
                      </a:r>
                      <a:r>
                        <a:rPr lang="ko-KR" altLang="en-US" dirty="0" smtClean="0"/>
                        <a:t>적</a:t>
                      </a:r>
                      <a:r>
                        <a:rPr lang="en-US" altLang="ko-KR" dirty="0" smtClean="0"/>
                        <a:t>1</a:t>
                      </a:r>
                      <a:r>
                        <a:rPr lang="ko-KR" altLang="en-US" dirty="0" smtClean="0"/>
                        <a:t> </a:t>
                      </a:r>
                      <a:r>
                        <a:rPr lang="ko-KR" altLang="en-US" dirty="0" err="1" smtClean="0"/>
                        <a:t>방비례뎀</a:t>
                      </a:r>
                      <a:r>
                        <a:rPr lang="en-US" altLang="ko-KR" dirty="0" smtClean="0"/>
                        <a:t>)</a:t>
                      </a:r>
                      <a:r>
                        <a:rPr lang="ko-KR" altLang="en-US" dirty="0" smtClean="0"/>
                        <a:t> </a:t>
                      </a:r>
                      <a:r>
                        <a:rPr lang="en-US" altLang="ko-KR" dirty="0" smtClean="0"/>
                        <a:t>/ </a:t>
                      </a:r>
                      <a:r>
                        <a:rPr lang="ko-KR" altLang="en-US" dirty="0" smtClean="0"/>
                        <a:t>용기의 외침</a:t>
                      </a:r>
                      <a:r>
                        <a:rPr lang="en-US" altLang="ko-KR" dirty="0" smtClean="0"/>
                        <a:t>(</a:t>
                      </a:r>
                      <a:r>
                        <a:rPr lang="ko-KR" altLang="en-US" dirty="0" smtClean="0"/>
                        <a:t>체 회복</a:t>
                      </a:r>
                      <a:r>
                        <a:rPr lang="en-US" altLang="ko-KR" dirty="0" smtClean="0"/>
                        <a:t>, </a:t>
                      </a:r>
                      <a:r>
                        <a:rPr lang="ko-KR" altLang="en-US" dirty="0" smtClean="0"/>
                        <a:t>방 상승</a:t>
                      </a:r>
                      <a:r>
                        <a:rPr lang="en-US" altLang="ko-KR" baseline="0" dirty="0" smtClean="0"/>
                        <a:t>)</a:t>
                      </a:r>
                      <a:r>
                        <a:rPr lang="ko-KR" altLang="en-US" dirty="0" smtClean="0"/>
                        <a:t> </a:t>
                      </a:r>
                      <a:r>
                        <a:rPr lang="en-US" altLang="ko-KR" dirty="0" smtClean="0"/>
                        <a:t>/ </a:t>
                      </a:r>
                      <a:r>
                        <a:rPr lang="ko-KR" altLang="en-US" dirty="0" smtClean="0"/>
                        <a:t>수호의 방패</a:t>
                      </a:r>
                      <a:r>
                        <a:rPr lang="en-US" altLang="ko-KR" dirty="0" smtClean="0"/>
                        <a:t>(2</a:t>
                      </a:r>
                      <a:r>
                        <a:rPr lang="ko-KR" altLang="en-US" dirty="0" smtClean="0"/>
                        <a:t>턴 아군 체</a:t>
                      </a:r>
                      <a:r>
                        <a:rPr lang="en-US" altLang="ko-KR" dirty="0" smtClean="0"/>
                        <a:t>, </a:t>
                      </a:r>
                      <a:r>
                        <a:rPr lang="ko-KR" altLang="en-US" dirty="0" smtClean="0"/>
                        <a:t>방 </a:t>
                      </a:r>
                      <a:r>
                        <a:rPr lang="en-US" altLang="ko-KR" dirty="0" smtClean="0"/>
                        <a:t>2</a:t>
                      </a:r>
                      <a:r>
                        <a:rPr lang="ko-KR" altLang="en-US" dirty="0" smtClean="0"/>
                        <a:t>배</a:t>
                      </a:r>
                      <a:r>
                        <a:rPr lang="en-US" altLang="ko-KR" dirty="0" smtClean="0"/>
                        <a:t>, </a:t>
                      </a:r>
                      <a:r>
                        <a:rPr lang="ko-KR" altLang="en-US" dirty="0" err="1" smtClean="0"/>
                        <a:t>자석탱</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53</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18503578"/>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2403635941"/>
              </p:ext>
            </p:extLst>
          </p:nvPr>
        </p:nvGraphicFramePr>
        <p:xfrm>
          <a:off x="280219" y="2180963"/>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아이리스</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ko-KR" altLang="en-US" baseline="0" dirty="0" smtClean="0"/>
                        <a:t> </a:t>
                      </a:r>
                      <a:r>
                        <a:rPr lang="ko-KR" altLang="en-US" dirty="0" smtClean="0"/>
                        <a:t>중 보조형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빛</a:t>
                      </a:r>
                      <a:endParaRPr lang="ko-KR" altLang="en-US" dirty="0"/>
                    </a:p>
                  </a:txBody>
                  <a:tcPr anchor="ctr"/>
                </a:tc>
                <a:extLst>
                  <a:ext uri="{0D108BD9-81ED-4DB2-BD59-A6C34878D82A}">
                    <a16:rowId xmlns:a16="http://schemas.microsoft.com/office/drawing/2014/main" xmlns="" val="3140618441"/>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112046401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142927731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2869796385"/>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정화</a:t>
                      </a:r>
                      <a:r>
                        <a:rPr lang="en-US" altLang="ko-KR" dirty="0" smtClean="0"/>
                        <a:t>(</a:t>
                      </a:r>
                      <a:r>
                        <a:rPr lang="ko-KR" altLang="en-US" dirty="0" smtClean="0"/>
                        <a:t>자신의 턴에 랜덤으로 아군의 상태이상 중 하나를 해제</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축복</a:t>
                      </a:r>
                      <a:r>
                        <a:rPr lang="en-US" altLang="ko-KR" dirty="0" smtClean="0"/>
                        <a:t>(</a:t>
                      </a:r>
                      <a:r>
                        <a:rPr lang="ko-KR" altLang="en-US" dirty="0" smtClean="0"/>
                        <a:t>아군 방</a:t>
                      </a:r>
                      <a:r>
                        <a:rPr lang="en-US" altLang="ko-KR" dirty="0" smtClean="0"/>
                        <a:t>,</a:t>
                      </a:r>
                      <a:r>
                        <a:rPr lang="ko-KR" altLang="en-US" dirty="0" smtClean="0"/>
                        <a:t>공 상승</a:t>
                      </a:r>
                      <a:r>
                        <a:rPr lang="en-US" altLang="ko-KR" dirty="0" smtClean="0"/>
                        <a:t>)</a:t>
                      </a:r>
                      <a:r>
                        <a:rPr lang="ko-KR" altLang="en-US" dirty="0" smtClean="0"/>
                        <a:t> </a:t>
                      </a:r>
                      <a:r>
                        <a:rPr lang="en-US" altLang="ko-KR" dirty="0" smtClean="0"/>
                        <a:t>/ </a:t>
                      </a:r>
                      <a:r>
                        <a:rPr lang="ko-KR" altLang="en-US" dirty="0" smtClean="0"/>
                        <a:t>치유</a:t>
                      </a:r>
                      <a:r>
                        <a:rPr lang="en-US" altLang="ko-KR" dirty="0" smtClean="0"/>
                        <a:t>(</a:t>
                      </a:r>
                      <a:r>
                        <a:rPr lang="ko-KR" altLang="en-US" dirty="0" smtClean="0"/>
                        <a:t>아군 체 회복</a:t>
                      </a:r>
                      <a:r>
                        <a:rPr lang="en-US" altLang="ko-KR" baseline="0" dirty="0" smtClean="0"/>
                        <a:t>)</a:t>
                      </a:r>
                      <a:r>
                        <a:rPr lang="ko-KR" altLang="en-US" dirty="0" smtClean="0"/>
                        <a:t> </a:t>
                      </a:r>
                      <a:r>
                        <a:rPr lang="en-US" altLang="ko-KR" dirty="0" smtClean="0"/>
                        <a:t>/ </a:t>
                      </a:r>
                      <a:r>
                        <a:rPr lang="ko-KR" altLang="en-US" dirty="0" smtClean="0"/>
                        <a:t>빛의</a:t>
                      </a:r>
                      <a:r>
                        <a:rPr lang="ko-KR" altLang="en-US" baseline="0" dirty="0" smtClean="0"/>
                        <a:t> </a:t>
                      </a:r>
                      <a:r>
                        <a:rPr lang="ko-KR" altLang="en-US" dirty="0" smtClean="0"/>
                        <a:t>찬가</a:t>
                      </a:r>
                      <a:r>
                        <a:rPr lang="en-US" altLang="ko-KR" dirty="0" smtClean="0"/>
                        <a:t>(1</a:t>
                      </a:r>
                      <a:r>
                        <a:rPr lang="ko-KR" altLang="en-US" dirty="0" smtClean="0"/>
                        <a:t>턴 간 아군 상태이상 면역</a:t>
                      </a:r>
                      <a:r>
                        <a:rPr lang="en-US" altLang="ko-KR" dirty="0" smtClean="0"/>
                        <a:t>, </a:t>
                      </a:r>
                      <a:r>
                        <a:rPr lang="ko-KR" altLang="en-US" dirty="0" smtClean="0"/>
                        <a:t>방</a:t>
                      </a:r>
                      <a:r>
                        <a:rPr lang="en-US" altLang="ko-KR" dirty="0" smtClean="0"/>
                        <a:t>,</a:t>
                      </a:r>
                      <a:r>
                        <a:rPr lang="ko-KR" altLang="en-US" dirty="0" smtClean="0"/>
                        <a:t>공 상승</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54</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5086130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390373945"/>
              </p:ext>
            </p:extLst>
          </p:nvPr>
        </p:nvGraphicFramePr>
        <p:xfrm>
          <a:off x="280219" y="218096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메리</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a:t>
                      </a:r>
                      <a:r>
                        <a:rPr lang="en-US" altLang="ko-KR" baseline="0" dirty="0" smtClean="0"/>
                        <a:t> </a:t>
                      </a:r>
                      <a:r>
                        <a:rPr lang="ko-KR" altLang="en-US" baseline="0" dirty="0" smtClean="0"/>
                        <a:t>보조</a:t>
                      </a:r>
                      <a:r>
                        <a:rPr lang="ko-KR" altLang="en-US" dirty="0" smtClean="0"/>
                        <a:t>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endParaRPr lang="ko-KR" altLang="en-US" dirty="0"/>
                    </a:p>
                  </a:txBody>
                  <a:tcPr anchor="ctr"/>
                </a:tc>
                <a:extLst>
                  <a:ext uri="{0D108BD9-81ED-4DB2-BD59-A6C34878D82A}">
                    <a16:rowId xmlns:a16="http://schemas.microsoft.com/office/drawing/2014/main" xmlns="" val="202632424"/>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3439633105"/>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107853842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1225362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인형의 저주</a:t>
                      </a:r>
                      <a:r>
                        <a:rPr lang="en-US" altLang="ko-KR" dirty="0" smtClean="0"/>
                        <a:t>(</a:t>
                      </a:r>
                      <a:r>
                        <a:rPr lang="ko-KR" altLang="en-US" dirty="0" err="1" smtClean="0"/>
                        <a:t>랜덤한</a:t>
                      </a:r>
                      <a:r>
                        <a:rPr lang="ko-KR" altLang="en-US" dirty="0" smtClean="0"/>
                        <a:t> 적 몬스터 </a:t>
                      </a:r>
                      <a:r>
                        <a:rPr lang="en-US" altLang="ko-KR" dirty="0" smtClean="0"/>
                        <a:t>1</a:t>
                      </a:r>
                      <a:r>
                        <a:rPr lang="ko-KR" altLang="en-US" dirty="0" smtClean="0"/>
                        <a:t>체에 </a:t>
                      </a:r>
                      <a:r>
                        <a:rPr lang="ko-KR" altLang="en-US" dirty="0" err="1" smtClean="0"/>
                        <a:t>랜덤한</a:t>
                      </a:r>
                      <a:r>
                        <a:rPr lang="ko-KR" altLang="en-US" dirty="0" smtClean="0"/>
                        <a:t> 상태이상 부여</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검은 손</a:t>
                      </a:r>
                      <a:r>
                        <a:rPr lang="en-US" altLang="ko-KR" dirty="0" smtClean="0"/>
                        <a:t>(</a:t>
                      </a:r>
                      <a:r>
                        <a:rPr lang="ko-KR" altLang="en-US" dirty="0" smtClean="0"/>
                        <a:t>적 뎀</a:t>
                      </a:r>
                      <a:r>
                        <a:rPr lang="en-US" altLang="ko-KR" dirty="0" smtClean="0"/>
                        <a:t>, </a:t>
                      </a:r>
                      <a:r>
                        <a:rPr lang="ko-KR" altLang="en-US" dirty="0" smtClean="0"/>
                        <a:t>방 감소</a:t>
                      </a:r>
                      <a:r>
                        <a:rPr lang="en-US" altLang="ko-KR" dirty="0" smtClean="0"/>
                        <a:t>)</a:t>
                      </a:r>
                      <a:r>
                        <a:rPr lang="ko-KR" altLang="en-US" dirty="0" smtClean="0"/>
                        <a:t> </a:t>
                      </a:r>
                      <a:r>
                        <a:rPr lang="en-US" altLang="ko-KR" dirty="0" smtClean="0"/>
                        <a:t>/ </a:t>
                      </a:r>
                      <a:r>
                        <a:rPr lang="ko-KR" altLang="en-US" dirty="0" smtClean="0"/>
                        <a:t>유혹의 키스 </a:t>
                      </a:r>
                      <a:r>
                        <a:rPr lang="en-US" altLang="ko-KR" dirty="0" smtClean="0"/>
                        <a:t>(</a:t>
                      </a:r>
                      <a:r>
                        <a:rPr lang="ko-KR" altLang="en-US" dirty="0" smtClean="0"/>
                        <a:t>적 혼란</a:t>
                      </a:r>
                      <a:r>
                        <a:rPr lang="en-US" altLang="ko-KR" baseline="0" dirty="0" smtClean="0"/>
                        <a:t>)</a:t>
                      </a:r>
                      <a:r>
                        <a:rPr lang="ko-KR" altLang="en-US" dirty="0" smtClean="0"/>
                        <a:t> </a:t>
                      </a:r>
                      <a:r>
                        <a:rPr lang="en-US" altLang="ko-KR" dirty="0" smtClean="0"/>
                        <a:t>/ </a:t>
                      </a:r>
                      <a:r>
                        <a:rPr lang="ko-KR" altLang="en-US" dirty="0" err="1" smtClean="0"/>
                        <a:t>판데모니엄</a:t>
                      </a:r>
                      <a:r>
                        <a:rPr lang="en-US" altLang="ko-KR" dirty="0" smtClean="0"/>
                        <a:t>(</a:t>
                      </a:r>
                      <a:r>
                        <a:rPr lang="ko-KR" altLang="en-US" dirty="0" smtClean="0"/>
                        <a:t>적 전체 </a:t>
                      </a:r>
                      <a:r>
                        <a:rPr lang="ko-KR" altLang="en-US" dirty="0" err="1" smtClean="0"/>
                        <a:t>체비뎀</a:t>
                      </a:r>
                      <a:r>
                        <a:rPr lang="en-US" altLang="ko-KR" dirty="0" smtClean="0"/>
                        <a:t>, </a:t>
                      </a:r>
                      <a:r>
                        <a:rPr lang="ko-KR" altLang="en-US" dirty="0" smtClean="0"/>
                        <a:t>기절</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55</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21324414"/>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56</a:t>
            </a:fld>
            <a:endParaRPr lang="ko-KR" altLang="en-US" sz="1800" dirty="0"/>
          </a:p>
        </p:txBody>
      </p:sp>
      <p:sp>
        <p:nvSpPr>
          <p:cNvPr id="13" name="TextBox 12"/>
          <p:cNvSpPr txBox="1"/>
          <p:nvPr/>
        </p:nvSpPr>
        <p:spPr>
          <a:xfrm>
            <a:off x="766917" y="1348401"/>
            <a:ext cx="6577313" cy="3831818"/>
          </a:xfrm>
          <a:prstGeom prst="rect">
            <a:avLst/>
          </a:prstGeom>
          <a:noFill/>
        </p:spPr>
        <p:txBody>
          <a:bodyPr wrap="square" rtlCol="0">
            <a:spAutoFit/>
          </a:bodyPr>
          <a:lstStyle/>
          <a:p>
            <a:pPr>
              <a:lnSpc>
                <a:spcPct val="150000"/>
              </a:lnSpc>
            </a:pPr>
            <a:r>
              <a:rPr lang="en-US" altLang="ko-KR" dirty="0"/>
              <a:t>• </a:t>
            </a:r>
            <a:r>
              <a:rPr lang="ko-KR" altLang="en-US" dirty="0" err="1" smtClean="0">
                <a:latin typeface="+mn-ea"/>
              </a:rPr>
              <a:t>몬스터들은</a:t>
            </a:r>
            <a:r>
              <a:rPr lang="ko-KR" altLang="en-US" dirty="0" smtClean="0">
                <a:latin typeface="+mn-ea"/>
              </a:rPr>
              <a:t> 던전 안에 도사리고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각기 다른 특성과 능력을 지니고 있습니다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용사가 몬스터를 처치하면</a:t>
            </a:r>
            <a:r>
              <a:rPr lang="en-US" altLang="ko-KR" dirty="0" smtClean="0"/>
              <a:t>, </a:t>
            </a:r>
            <a:r>
              <a:rPr lang="ko-KR" altLang="en-US" dirty="0" smtClean="0"/>
              <a:t>전투 후 용사의 </a:t>
            </a:r>
            <a:r>
              <a:rPr lang="ko-KR" altLang="en-US" dirty="0"/>
              <a:t>것</a:t>
            </a:r>
            <a:r>
              <a:rPr lang="ko-KR" altLang="en-US" dirty="0" smtClean="0"/>
              <a:t>이 됩니다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한번 전투에서 사망하면 재사용할 수 없습니다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3</a:t>
            </a:r>
            <a:r>
              <a:rPr lang="ko-KR" altLang="en-US" dirty="0" smtClean="0"/>
              <a:t>마리까지 파티를 편성할 수 있다</a:t>
            </a:r>
            <a:r>
              <a:rPr lang="en-US" altLang="ko-KR" dirty="0" smtClean="0"/>
              <a:t>.</a:t>
            </a:r>
            <a:endParaRPr lang="en-US" altLang="ko-KR" dirty="0" smtClean="0">
              <a:latin typeface="+mn-ea"/>
            </a:endParaRPr>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446905001"/>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4268948201"/>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리치</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baseline="0"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r>
                        <a:rPr lang="en-US" altLang="ko-KR" dirty="0" smtClean="0"/>
                        <a:t>, </a:t>
                      </a:r>
                      <a:r>
                        <a:rPr lang="ko-KR" altLang="en-US" dirty="0" smtClean="0"/>
                        <a:t>빙결</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350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100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5</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불사</a:t>
                      </a:r>
                      <a:r>
                        <a:rPr lang="en-US" altLang="ko-KR" baseline="0" dirty="0" smtClean="0"/>
                        <a:t>(</a:t>
                      </a:r>
                      <a:r>
                        <a:rPr lang="ko-KR" altLang="en-US" baseline="0" dirty="0" smtClean="0"/>
                        <a:t>죽음의 위기를 </a:t>
                      </a:r>
                      <a:r>
                        <a:rPr lang="en-US" altLang="ko-KR" baseline="0" dirty="0" smtClean="0"/>
                        <a:t>1</a:t>
                      </a:r>
                      <a:r>
                        <a:rPr lang="ko-KR" altLang="en-US" baseline="0" dirty="0" smtClean="0"/>
                        <a:t>번 모면합니다</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부정한 손길</a:t>
                      </a:r>
                      <a:r>
                        <a:rPr lang="en-US" altLang="ko-KR" dirty="0" smtClean="0"/>
                        <a:t>(</a:t>
                      </a:r>
                      <a:r>
                        <a:rPr lang="ko-KR" altLang="en-US" dirty="0" smtClean="0"/>
                        <a:t>방 감</a:t>
                      </a:r>
                      <a:r>
                        <a:rPr lang="en-US" altLang="ko-KR" dirty="0" smtClean="0"/>
                        <a:t>, </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망자의 손길</a:t>
                      </a:r>
                      <a:r>
                        <a:rPr lang="en-US" altLang="ko-KR" dirty="0" smtClean="0"/>
                        <a:t>(</a:t>
                      </a:r>
                      <a:r>
                        <a:rPr lang="ko-KR" altLang="en-US" dirty="0" smtClean="0"/>
                        <a:t>뎀</a:t>
                      </a:r>
                      <a:r>
                        <a:rPr lang="en-US" altLang="ko-KR" dirty="0" smtClean="0"/>
                        <a:t>)</a:t>
                      </a:r>
                      <a:r>
                        <a:rPr lang="ko-KR" altLang="en-US" dirty="0" smtClean="0"/>
                        <a:t> </a:t>
                      </a:r>
                      <a:r>
                        <a:rPr lang="en-US" altLang="ko-KR" dirty="0" smtClean="0"/>
                        <a:t>/ </a:t>
                      </a:r>
                      <a:r>
                        <a:rPr lang="ko-KR" altLang="en-US" dirty="0" smtClean="0"/>
                        <a:t>서리 폭발</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57</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146911123"/>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530292396"/>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그리즐리</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두꺼운 피부</a:t>
                      </a:r>
                      <a:r>
                        <a:rPr lang="en-US" altLang="ko-KR" baseline="0" dirty="0" smtClean="0"/>
                        <a:t>(</a:t>
                      </a:r>
                      <a:r>
                        <a:rPr lang="ko-KR" altLang="en-US" baseline="0" dirty="0" smtClean="0"/>
                        <a:t>받는 </a:t>
                      </a:r>
                      <a:r>
                        <a:rPr lang="ko-KR" altLang="en-US" baseline="0" dirty="0" err="1" smtClean="0"/>
                        <a:t>데미지를</a:t>
                      </a:r>
                      <a:r>
                        <a:rPr lang="ko-KR" altLang="en-US" baseline="0" dirty="0" smtClean="0"/>
                        <a:t> </a:t>
                      </a:r>
                      <a:r>
                        <a:rPr lang="en-US" altLang="ko-KR" baseline="0" dirty="0" smtClean="0"/>
                        <a:t>10% </a:t>
                      </a:r>
                      <a:r>
                        <a:rPr lang="ko-KR" altLang="en-US" baseline="0" dirty="0" smtClean="0"/>
                        <a:t>감소시킵니다</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err="1" smtClean="0"/>
                        <a:t>휘둘러치기</a:t>
                      </a:r>
                      <a:r>
                        <a:rPr lang="en-US" altLang="ko-KR" dirty="0" smtClean="0"/>
                        <a:t>(</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웅크리기</a:t>
                      </a:r>
                      <a:r>
                        <a:rPr lang="en-US" altLang="ko-KR" dirty="0" smtClean="0"/>
                        <a:t>(</a:t>
                      </a:r>
                      <a:r>
                        <a:rPr lang="ko-KR" altLang="en-US" dirty="0" err="1" smtClean="0"/>
                        <a:t>체회복</a:t>
                      </a:r>
                      <a:r>
                        <a:rPr lang="en-US" altLang="ko-KR" dirty="0" smtClean="0"/>
                        <a:t>, </a:t>
                      </a:r>
                      <a:r>
                        <a:rPr lang="ko-KR" altLang="en-US" dirty="0" err="1" smtClean="0"/>
                        <a:t>방상승</a:t>
                      </a:r>
                      <a:r>
                        <a:rPr lang="en-US" altLang="ko-KR" dirty="0" smtClean="0"/>
                        <a:t>)</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58</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8575834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762461420"/>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피냐타</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기능형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선물꾸러미 </a:t>
                      </a:r>
                      <a:r>
                        <a:rPr lang="en-US" altLang="ko-KR" baseline="0" dirty="0" smtClean="0"/>
                        <a:t>(</a:t>
                      </a:r>
                      <a:r>
                        <a:rPr lang="ko-KR" altLang="en-US" baseline="0" dirty="0" smtClean="0"/>
                        <a:t>자신이 사망했을 때</a:t>
                      </a:r>
                      <a:r>
                        <a:rPr lang="en-US" altLang="ko-KR" baseline="0" dirty="0" smtClean="0"/>
                        <a:t>, </a:t>
                      </a:r>
                      <a:r>
                        <a:rPr lang="ko-KR" altLang="en-US" baseline="0" dirty="0" smtClean="0"/>
                        <a:t>아군 전체 체력 회복 </a:t>
                      </a:r>
                      <a:r>
                        <a:rPr lang="en-US" altLang="ko-KR" baseline="0" dirty="0" smtClean="0"/>
                        <a:t>+ </a:t>
                      </a:r>
                      <a:r>
                        <a:rPr lang="ko-KR" altLang="en-US" baseline="0" dirty="0" smtClean="0"/>
                        <a:t>방</a:t>
                      </a:r>
                      <a:r>
                        <a:rPr lang="en-US" altLang="ko-KR" baseline="0" dirty="0" smtClean="0"/>
                        <a:t>, </a:t>
                      </a:r>
                      <a:r>
                        <a:rPr lang="ko-KR" altLang="en-US" baseline="0" dirty="0" smtClean="0"/>
                        <a:t>공 상승</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en-US" altLang="ko-KR" dirty="0" smtClean="0"/>
                        <a:t>-</a:t>
                      </a:r>
                      <a:r>
                        <a:rPr lang="ko-KR" altLang="en-US" dirty="0" smtClean="0"/>
                        <a:t> </a:t>
                      </a:r>
                      <a:r>
                        <a:rPr lang="en-US" altLang="ko-KR" dirty="0" smtClean="0"/>
                        <a:t>/ -</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59</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99472374"/>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60</a:t>
            </a:fld>
            <a:endParaRPr lang="ko-KR" altLang="en-US" sz="1800" dirty="0"/>
          </a:p>
        </p:txBody>
      </p:sp>
      <p:sp>
        <p:nvSpPr>
          <p:cNvPr id="8" name="TextBox 7"/>
          <p:cNvSpPr txBox="1"/>
          <p:nvPr/>
        </p:nvSpPr>
        <p:spPr>
          <a:xfrm>
            <a:off x="766917" y="1348401"/>
            <a:ext cx="10058399" cy="3000821"/>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용사는 던전을 탐험하면서 다양한 아이템을 얻습니다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아이템은 용사 혹은 몬스터가 장비하거나 사용하여</a:t>
            </a:r>
            <a:r>
              <a:rPr lang="en-US" altLang="ko-KR" dirty="0" smtClean="0"/>
              <a:t>,</a:t>
            </a:r>
          </a:p>
          <a:p>
            <a:pPr>
              <a:lnSpc>
                <a:spcPct val="150000"/>
              </a:lnSpc>
            </a:pPr>
            <a:r>
              <a:rPr lang="ko-KR" altLang="en-US" dirty="0" smtClean="0"/>
              <a:t>  던전을 정복하는 데에 도움을 줍니다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던전 속 지하 상점에서 구입</a:t>
            </a:r>
            <a:r>
              <a:rPr lang="en-US" altLang="ko-KR" dirty="0" smtClean="0"/>
              <a:t>, </a:t>
            </a:r>
            <a:r>
              <a:rPr lang="ko-KR" altLang="en-US" dirty="0" smtClean="0"/>
              <a:t>몬스터의 </a:t>
            </a:r>
            <a:r>
              <a:rPr lang="ko-KR" altLang="en-US" dirty="0" err="1" smtClean="0"/>
              <a:t>드랍</a:t>
            </a:r>
            <a:r>
              <a:rPr lang="ko-KR" altLang="en-US" dirty="0" smtClean="0"/>
              <a:t> 등으로 </a:t>
            </a:r>
            <a:endParaRPr lang="en-US" altLang="ko-KR" dirty="0" smtClean="0"/>
          </a:p>
          <a:p>
            <a:pPr>
              <a:lnSpc>
                <a:spcPct val="150000"/>
              </a:lnSpc>
            </a:pPr>
            <a:r>
              <a:rPr lang="en-US" altLang="ko-KR" dirty="0"/>
              <a:t> </a:t>
            </a:r>
            <a:r>
              <a:rPr lang="en-US" altLang="ko-KR" dirty="0" smtClean="0"/>
              <a:t> </a:t>
            </a:r>
            <a:r>
              <a:rPr lang="ko-KR" altLang="en-US" dirty="0" smtClean="0"/>
              <a:t>획득할 수 있으며</a:t>
            </a:r>
            <a:r>
              <a:rPr lang="en-US" altLang="ko-KR" dirty="0" smtClean="0"/>
              <a:t>,</a:t>
            </a:r>
            <a:r>
              <a:rPr lang="en-US" altLang="ko-KR" dirty="0" smtClean="0">
                <a:latin typeface="+mn-ea"/>
              </a:rPr>
              <a:t> </a:t>
            </a:r>
            <a:r>
              <a:rPr lang="ko-KR" altLang="en-US" dirty="0" smtClean="0">
                <a:latin typeface="+mn-ea"/>
              </a:rPr>
              <a:t>소유자가 사망 시 모두 잃습니다</a:t>
            </a:r>
            <a:r>
              <a:rPr lang="en-US" altLang="ko-KR" dirty="0" smtClean="0">
                <a:latin typeface="+mn-ea"/>
              </a:rPr>
              <a:t>.</a:t>
            </a:r>
          </a:p>
        </p:txBody>
      </p:sp>
      <p:sp>
        <p:nvSpPr>
          <p:cNvPr id="9" name="TextBox 8"/>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2686086"/>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61</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432250167"/>
              </p:ext>
            </p:extLst>
          </p:nvPr>
        </p:nvGraphicFramePr>
        <p:xfrm>
          <a:off x="1076048" y="3538426"/>
          <a:ext cx="10029487" cy="210312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할아버지의 낡은 시계</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악세서리</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방어력</a:t>
                      </a:r>
                      <a:r>
                        <a:rPr lang="en-US" altLang="ko-KR" dirty="0" smtClean="0"/>
                        <a:t>+5</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전투에서 </a:t>
                      </a:r>
                      <a:r>
                        <a:rPr lang="en-US" altLang="ko-KR" dirty="0" smtClean="0"/>
                        <a:t>1</a:t>
                      </a:r>
                      <a:r>
                        <a:rPr lang="ko-KR" altLang="en-US" dirty="0" smtClean="0"/>
                        <a:t>번</a:t>
                      </a:r>
                      <a:r>
                        <a:rPr lang="en-US" altLang="ko-KR" dirty="0" smtClean="0"/>
                        <a:t>, </a:t>
                      </a:r>
                      <a:r>
                        <a:rPr lang="ko-KR" altLang="en-US" dirty="0" smtClean="0"/>
                        <a:t>몬스터 </a:t>
                      </a:r>
                      <a:r>
                        <a:rPr lang="en-US" altLang="ko-KR" dirty="0" smtClean="0"/>
                        <a:t>1</a:t>
                      </a:r>
                      <a:r>
                        <a:rPr lang="ko-KR" altLang="en-US" dirty="0" smtClean="0"/>
                        <a:t>체를 </a:t>
                      </a:r>
                      <a:r>
                        <a:rPr lang="en-US" altLang="ko-KR" dirty="0" smtClean="0"/>
                        <a:t>1</a:t>
                      </a:r>
                      <a:r>
                        <a:rPr lang="ko-KR" altLang="en-US" dirty="0" smtClean="0"/>
                        <a:t>턴 </a:t>
                      </a:r>
                      <a:r>
                        <a:rPr lang="ko-KR" altLang="en-US" baseline="0" dirty="0" smtClean="0"/>
                        <a:t>동안 상태이상 면역</a:t>
                      </a:r>
                      <a:r>
                        <a:rPr lang="en-US" altLang="ko-KR" baseline="0" dirty="0" smtClean="0"/>
                        <a:t>, </a:t>
                      </a:r>
                      <a:r>
                        <a:rPr lang="ko-KR" altLang="en-US" baseline="0" dirty="0" smtClean="0"/>
                        <a:t>무적이지만 행동 불가 상태로 만듭니다</a:t>
                      </a:r>
                      <a:r>
                        <a:rPr lang="en-US" altLang="ko-KR" baseline="0"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몬스터 </a:t>
                      </a:r>
                      <a:r>
                        <a:rPr lang="ko-KR" altLang="en-US" dirty="0" err="1" smtClean="0"/>
                        <a:t>드랍</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9645578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62</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676330391"/>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핏빛 대검</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smtClean="0"/>
                        <a:t>무기</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공격력</a:t>
                      </a:r>
                      <a:r>
                        <a:rPr lang="en-US" altLang="ko-KR" dirty="0" smtClean="0"/>
                        <a:t>+20,</a:t>
                      </a:r>
                      <a:r>
                        <a:rPr lang="en-US" altLang="ko-KR" baseline="0" dirty="0" smtClean="0"/>
                        <a:t> </a:t>
                      </a:r>
                      <a:r>
                        <a:rPr lang="ko-KR" altLang="en-US" baseline="0" dirty="0" smtClean="0"/>
                        <a:t>회피</a:t>
                      </a:r>
                      <a:r>
                        <a:rPr lang="en-US" altLang="ko-KR" baseline="0" dirty="0" smtClean="0"/>
                        <a:t>-5</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공격 시 일정 확률로 상대방을 상태이상 </a:t>
                      </a:r>
                      <a:r>
                        <a:rPr lang="en-US" altLang="ko-KR" dirty="0" smtClean="0"/>
                        <a:t>: </a:t>
                      </a:r>
                      <a:r>
                        <a:rPr lang="ko-KR" altLang="en-US" dirty="0" smtClean="0"/>
                        <a:t>출혈 상태로 만듭니다</a:t>
                      </a:r>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77999128"/>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63</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4438752"/>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가시갑옷</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방어구</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방어력 </a:t>
                      </a:r>
                      <a:r>
                        <a:rPr lang="en-US" altLang="ko-KR" baseline="0" dirty="0" smtClean="0"/>
                        <a:t>+ 10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피격 시 공격자에게 </a:t>
                      </a:r>
                      <a:r>
                        <a:rPr lang="ko-KR" altLang="en-US" dirty="0" err="1" smtClean="0"/>
                        <a:t>데미지의</a:t>
                      </a:r>
                      <a:r>
                        <a:rPr lang="ko-KR" altLang="en-US" dirty="0" smtClean="0"/>
                        <a:t> </a:t>
                      </a:r>
                      <a:r>
                        <a:rPr lang="en-US" altLang="ko-KR" dirty="0" smtClean="0"/>
                        <a:t>30%</a:t>
                      </a:r>
                      <a:r>
                        <a:rPr lang="ko-KR" altLang="en-US" dirty="0" smtClean="0"/>
                        <a:t>를 돌려줍니다</a:t>
                      </a:r>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01839905"/>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64</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79796133"/>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en-US" altLang="ko-KR" b="0" dirty="0" smtClean="0"/>
                        <a:t>V</a:t>
                      </a:r>
                      <a:r>
                        <a:rPr lang="ko-KR" altLang="en-US" b="0" dirty="0" smtClean="0"/>
                        <a:t>타 </a:t>
                      </a:r>
                      <a:r>
                        <a:rPr lang="en-US" altLang="ko-KR" b="0" dirty="0" smtClean="0"/>
                        <a:t>500</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소비형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en-US" altLang="ko-KR" dirty="0" smtClean="0"/>
                        <a:t>HP</a:t>
                      </a:r>
                      <a:r>
                        <a:rPr lang="ko-KR" altLang="en-US" dirty="0" smtClean="0"/>
                        <a:t> </a:t>
                      </a:r>
                      <a:r>
                        <a:rPr lang="en-US" altLang="ko-KR" dirty="0" smtClean="0"/>
                        <a:t>+ 50, SP + 50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79248981"/>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765193"/>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43357557"/>
              </p:ext>
            </p:extLst>
          </p:nvPr>
        </p:nvGraphicFramePr>
        <p:xfrm>
          <a:off x="1001485" y="1486485"/>
          <a:ext cx="10189028" cy="4793258"/>
        </p:xfrm>
        <a:graphic>
          <a:graphicData uri="http://schemas.openxmlformats.org/drawingml/2006/table">
            <a:tbl>
              <a:tblPr firstRow="1" bandRow="1">
                <a:tableStyleId>{073A0DAA-6AF3-43AB-8588-CEC1D06C72B9}</a:tableStyleId>
              </a:tblPr>
              <a:tblGrid>
                <a:gridCol w="1451429">
                  <a:extLst>
                    <a:ext uri="{9D8B030D-6E8A-4147-A177-3AD203B41FA5}">
                      <a16:colId xmlns:a16="http://schemas.microsoft.com/office/drawing/2014/main" xmlns="" val="3321536260"/>
                    </a:ext>
                  </a:extLst>
                </a:gridCol>
                <a:gridCol w="6285865">
                  <a:extLst>
                    <a:ext uri="{9D8B030D-6E8A-4147-A177-3AD203B41FA5}">
                      <a16:colId xmlns:a16="http://schemas.microsoft.com/office/drawing/2014/main" xmlns="" val="2362139744"/>
                    </a:ext>
                  </a:extLst>
                </a:gridCol>
                <a:gridCol w="2451734">
                  <a:extLst>
                    <a:ext uri="{9D8B030D-6E8A-4147-A177-3AD203B41FA5}">
                      <a16:colId xmlns:a16="http://schemas.microsoft.com/office/drawing/2014/main" xmlns="" val="431622231"/>
                    </a:ext>
                  </a:extLst>
                </a:gridCol>
              </a:tblGrid>
              <a:tr h="564759">
                <a:tc>
                  <a:txBody>
                    <a:bodyPr/>
                    <a:lstStyle/>
                    <a:p>
                      <a:pPr algn="ctr" latinLnBrk="1"/>
                      <a:r>
                        <a:rPr lang="ko-KR" altLang="en-US" dirty="0" smtClean="0"/>
                        <a:t>요소</a:t>
                      </a:r>
                      <a:endParaRPr lang="ko-KR" altLang="en-US" dirty="0"/>
                    </a:p>
                  </a:txBody>
                  <a:tcPr anchor="ctr"/>
                </a:tc>
                <a:tc>
                  <a:txBody>
                    <a:bodyPr/>
                    <a:lstStyle/>
                    <a:p>
                      <a:pPr algn="ctr" latinLnBrk="1"/>
                      <a:r>
                        <a:rPr lang="ko-KR" altLang="en-US" dirty="0" smtClean="0"/>
                        <a:t>설명</a:t>
                      </a:r>
                      <a:endParaRPr lang="ko-KR" altLang="en-US" dirty="0"/>
                    </a:p>
                  </a:txBody>
                  <a:tcPr anchor="ctr"/>
                </a:tc>
                <a:tc>
                  <a:txBody>
                    <a:bodyPr/>
                    <a:lstStyle/>
                    <a:p>
                      <a:pPr algn="ctr" latinLnBrk="1"/>
                      <a:r>
                        <a:rPr lang="ko-KR" altLang="en-US" dirty="0" smtClean="0"/>
                        <a:t>비고</a:t>
                      </a:r>
                      <a:endParaRPr lang="ko-KR" altLang="en-US" dirty="0"/>
                    </a:p>
                  </a:txBody>
                  <a:tcPr anchor="ctr"/>
                </a:tc>
                <a:extLst>
                  <a:ext uri="{0D108BD9-81ED-4DB2-BD59-A6C34878D82A}">
                    <a16:rowId xmlns:a16="http://schemas.microsoft.com/office/drawing/2014/main" xmlns="" val="4217640868"/>
                  </a:ext>
                </a:extLst>
              </a:tr>
              <a:tr h="612670">
                <a:tc>
                  <a:txBody>
                    <a:bodyPr/>
                    <a:lstStyle/>
                    <a:p>
                      <a:pPr algn="ctr" latinLnBrk="1"/>
                      <a:r>
                        <a:rPr lang="ko-KR" altLang="en-US" b="1" dirty="0" smtClean="0"/>
                        <a:t>시간</a:t>
                      </a:r>
                      <a:endParaRPr lang="ko-KR" altLang="en-US" b="1" dirty="0"/>
                    </a:p>
                  </a:txBody>
                  <a:tcPr anchor="ctr"/>
                </a:tc>
                <a:tc>
                  <a:txBody>
                    <a:bodyPr/>
                    <a:lstStyle/>
                    <a:p>
                      <a:pPr algn="l" latinLnBrk="1"/>
                      <a:r>
                        <a:rPr lang="en-US" altLang="ko-KR" sz="1700" dirty="0" smtClean="0"/>
                        <a:t>- </a:t>
                      </a:r>
                      <a:r>
                        <a:rPr lang="ko-KR" altLang="en-US" sz="1700" dirty="0" smtClean="0"/>
                        <a:t>게임은 하루를 기준으로 돌아간다</a:t>
                      </a:r>
                      <a:r>
                        <a:rPr lang="en-US" altLang="ko-KR" sz="1700" dirty="0" smtClean="0"/>
                        <a:t>.</a:t>
                      </a:r>
                      <a:endParaRPr lang="ko-KR" altLang="en-US" sz="1700" dirty="0"/>
                    </a:p>
                  </a:txBody>
                  <a:tcPr anchor="ctr"/>
                </a:tc>
                <a:tc>
                  <a:txBody>
                    <a:bodyPr/>
                    <a:lstStyle/>
                    <a:p>
                      <a:pPr algn="l" latinLnBrk="1"/>
                      <a:endParaRPr lang="ko-KR" altLang="en-US" dirty="0"/>
                    </a:p>
                  </a:txBody>
                  <a:tcPr anchor="ctr"/>
                </a:tc>
                <a:extLst>
                  <a:ext uri="{0D108BD9-81ED-4DB2-BD59-A6C34878D82A}">
                    <a16:rowId xmlns:a16="http://schemas.microsoft.com/office/drawing/2014/main" xmlns="" val="10001"/>
                  </a:ext>
                </a:extLst>
              </a:tr>
              <a:tr h="612670">
                <a:tc>
                  <a:txBody>
                    <a:bodyPr/>
                    <a:lstStyle/>
                    <a:p>
                      <a:pPr algn="ctr" latinLnBrk="1"/>
                      <a:r>
                        <a:rPr lang="ko-KR" altLang="en-US" b="1" dirty="0" err="1" smtClean="0"/>
                        <a:t>범죄율</a:t>
                      </a:r>
                      <a:endParaRPr lang="ko-KR" altLang="en-US" b="1" dirty="0"/>
                    </a:p>
                  </a:txBody>
                  <a:tcPr anchor="ctr"/>
                </a:tc>
                <a:tc>
                  <a:txBody>
                    <a:bodyPr/>
                    <a:lstStyle/>
                    <a:p>
                      <a:pPr algn="l" latinLnBrk="1"/>
                      <a:r>
                        <a:rPr lang="en-US" altLang="ko-KR" sz="1700" dirty="0" smtClean="0"/>
                        <a:t>- </a:t>
                      </a:r>
                      <a:r>
                        <a:rPr lang="ko-KR" altLang="en-US" sz="1700" dirty="0" smtClean="0"/>
                        <a:t>도시의 현재 </a:t>
                      </a:r>
                      <a:r>
                        <a:rPr lang="ko-KR" altLang="en-US" sz="1700" dirty="0" err="1" smtClean="0"/>
                        <a:t>범죄율을</a:t>
                      </a:r>
                      <a:r>
                        <a:rPr lang="ko-KR" altLang="en-US" sz="1700" dirty="0" smtClean="0"/>
                        <a:t> 나타내는 수치</a:t>
                      </a:r>
                      <a:endParaRPr lang="en-US" altLang="ko-KR" sz="1700" dirty="0" smtClean="0"/>
                    </a:p>
                    <a:p>
                      <a:pPr algn="l" latinLnBrk="1"/>
                      <a:r>
                        <a:rPr lang="en-US" altLang="ko-KR" sz="1700" dirty="0" smtClean="0"/>
                        <a:t>- </a:t>
                      </a:r>
                      <a:r>
                        <a:rPr lang="ko-KR" altLang="en-US" sz="1700" dirty="0" smtClean="0"/>
                        <a:t>각종 이벤트에 따라 증가</a:t>
                      </a:r>
                      <a:r>
                        <a:rPr lang="en-US" altLang="ko-KR" sz="1700" dirty="0" smtClean="0"/>
                        <a:t>, </a:t>
                      </a:r>
                      <a:r>
                        <a:rPr lang="ko-KR" altLang="en-US" sz="1700" dirty="0" smtClean="0"/>
                        <a:t>감소한다</a:t>
                      </a:r>
                      <a:endParaRPr lang="ko-KR" altLang="en-US" sz="1700" dirty="0"/>
                    </a:p>
                  </a:txBody>
                  <a:tcPr anchor="ctr"/>
                </a:tc>
                <a:tc>
                  <a:txBody>
                    <a:bodyPr/>
                    <a:lstStyle/>
                    <a:p>
                      <a:pPr algn="l" latinLnBrk="1"/>
                      <a:r>
                        <a:rPr lang="en-US" altLang="ko-KR" sz="1700" dirty="0" smtClean="0"/>
                        <a:t>0 </a:t>
                      </a:r>
                      <a:r>
                        <a:rPr lang="ko-KR" altLang="en-US" sz="1700" dirty="0" smtClean="0"/>
                        <a:t>이 되면 승리</a:t>
                      </a:r>
                      <a:endParaRPr lang="en-US" altLang="ko-KR" sz="1700" dirty="0" smtClean="0"/>
                    </a:p>
                    <a:p>
                      <a:pPr algn="l" latinLnBrk="1"/>
                      <a:r>
                        <a:rPr lang="en-US" altLang="ko-KR" sz="1700" dirty="0" smtClean="0"/>
                        <a:t>100 </a:t>
                      </a:r>
                      <a:r>
                        <a:rPr lang="ko-KR" altLang="en-US" sz="1700" dirty="0" smtClean="0"/>
                        <a:t>이 되면 패배</a:t>
                      </a:r>
                      <a:endParaRPr lang="ko-KR" altLang="en-US" sz="1700" dirty="0"/>
                    </a:p>
                  </a:txBody>
                  <a:tcPr anchor="ctr"/>
                </a:tc>
                <a:extLst>
                  <a:ext uri="{0D108BD9-81ED-4DB2-BD59-A6C34878D82A}">
                    <a16:rowId xmlns:a16="http://schemas.microsoft.com/office/drawing/2014/main" xmlns="" val="1447082540"/>
                  </a:ext>
                </a:extLst>
              </a:tr>
              <a:tr h="564802">
                <a:tc>
                  <a:txBody>
                    <a:bodyPr/>
                    <a:lstStyle/>
                    <a:p>
                      <a:pPr algn="ctr" latinLnBrk="1"/>
                      <a:r>
                        <a:rPr lang="ko-KR" altLang="en-US" b="1" dirty="0" smtClean="0"/>
                        <a:t>명성</a:t>
                      </a:r>
                      <a:endParaRPr lang="ko-KR" altLang="en-US" b="1" dirty="0"/>
                    </a:p>
                  </a:txBody>
                  <a:tcPr anchor="ctr"/>
                </a:tc>
                <a:tc>
                  <a:txBody>
                    <a:bodyPr/>
                    <a:lstStyle/>
                    <a:p>
                      <a:pPr algn="l" latinLnBrk="1"/>
                      <a:r>
                        <a:rPr lang="en-US" altLang="ko-KR" sz="1700" dirty="0" smtClean="0"/>
                        <a:t>- </a:t>
                      </a:r>
                      <a:r>
                        <a:rPr lang="ko-KR" altLang="en-US" sz="1700" dirty="0" smtClean="0"/>
                        <a:t>특수 경찰관으로서의 명성을 나타내는 수치</a:t>
                      </a:r>
                      <a:endParaRPr lang="en-US" altLang="ko-KR" sz="1700" dirty="0" smtClean="0"/>
                    </a:p>
                    <a:p>
                      <a:pPr algn="l" latinLnBrk="1"/>
                      <a:r>
                        <a:rPr lang="en-US" altLang="ko-KR" sz="1700" dirty="0" smtClean="0"/>
                        <a:t>- </a:t>
                      </a:r>
                      <a:r>
                        <a:rPr lang="ko-KR" altLang="en-US" sz="1700" dirty="0" smtClean="0"/>
                        <a:t>수치의 고저가 게임 플레이에 영향을 준다</a:t>
                      </a:r>
                      <a:endParaRPr lang="ko-KR" altLang="en-US" sz="1700" dirty="0"/>
                    </a:p>
                  </a:txBody>
                  <a:tcPr anchor="ctr"/>
                </a:tc>
                <a:tc>
                  <a:txBody>
                    <a:bodyPr/>
                    <a:lstStyle/>
                    <a:p>
                      <a:pPr algn="l" latinLnBrk="1"/>
                      <a:r>
                        <a:rPr lang="en-US" altLang="ko-KR" sz="1700" dirty="0" smtClean="0"/>
                        <a:t>0 </a:t>
                      </a:r>
                      <a:r>
                        <a:rPr lang="ko-KR" altLang="en-US" sz="1700" dirty="0" smtClean="0"/>
                        <a:t>이 되면 패배</a:t>
                      </a:r>
                      <a:endParaRPr lang="ko-KR" altLang="en-US" sz="1700" dirty="0"/>
                    </a:p>
                  </a:txBody>
                  <a:tcPr anchor="ctr"/>
                </a:tc>
                <a:extLst>
                  <a:ext uri="{0D108BD9-81ED-4DB2-BD59-A6C34878D82A}">
                    <a16:rowId xmlns:a16="http://schemas.microsoft.com/office/drawing/2014/main" xmlns="" val="1166069635"/>
                  </a:ext>
                </a:extLst>
              </a:tr>
              <a:tr h="564802">
                <a:tc>
                  <a:txBody>
                    <a:bodyPr/>
                    <a:lstStyle/>
                    <a:p>
                      <a:pPr algn="ctr" latinLnBrk="1"/>
                      <a:r>
                        <a:rPr lang="ko-KR" altLang="en-US" b="1" dirty="0" smtClean="0"/>
                        <a:t>자금</a:t>
                      </a:r>
                      <a:endParaRPr lang="ko-KR" altLang="en-US" b="1" dirty="0"/>
                    </a:p>
                  </a:txBody>
                  <a:tcPr anchor="ctr"/>
                </a:tc>
                <a:tc>
                  <a:txBody>
                    <a:bodyPr/>
                    <a:lstStyle/>
                    <a:p>
                      <a:pPr algn="l" latinLnBrk="1"/>
                      <a:r>
                        <a:rPr lang="en-US" altLang="ko-KR" sz="1700" dirty="0" smtClean="0"/>
                        <a:t>- </a:t>
                      </a:r>
                      <a:r>
                        <a:rPr lang="ko-KR" altLang="en-US" sz="1700" dirty="0" smtClean="0"/>
                        <a:t>플레이어가 사용 가능한 돈의 수치</a:t>
                      </a:r>
                      <a:endParaRPr lang="en-US" altLang="ko-KR" sz="1700" dirty="0" smtClean="0"/>
                    </a:p>
                    <a:p>
                      <a:pPr algn="l" latinLnBrk="1"/>
                      <a:r>
                        <a:rPr lang="en-US" altLang="ko-KR" sz="1700" dirty="0" smtClean="0"/>
                        <a:t>- </a:t>
                      </a:r>
                      <a:r>
                        <a:rPr lang="ko-KR" altLang="en-US" sz="1700" dirty="0" smtClean="0"/>
                        <a:t>각종 장비를 구입하거나 업그레이드 할 수 있다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xmlns="" val="2270031616"/>
                  </a:ext>
                </a:extLst>
              </a:tr>
              <a:tr h="564802">
                <a:tc>
                  <a:txBody>
                    <a:bodyPr/>
                    <a:lstStyle/>
                    <a:p>
                      <a:pPr algn="ctr" latinLnBrk="1"/>
                      <a:r>
                        <a:rPr lang="ko-KR" altLang="en-US" b="1" dirty="0" err="1" smtClean="0"/>
                        <a:t>행동력</a:t>
                      </a:r>
                      <a:endParaRPr lang="ko-KR" altLang="en-US" b="1" dirty="0"/>
                    </a:p>
                  </a:txBody>
                  <a:tcPr anchor="ctr"/>
                </a:tc>
                <a:tc>
                  <a:txBody>
                    <a:bodyPr/>
                    <a:lstStyle/>
                    <a:p>
                      <a:pPr algn="l" latinLnBrk="1"/>
                      <a:r>
                        <a:rPr lang="en-US" altLang="ko-KR" sz="1700" dirty="0" smtClean="0"/>
                        <a:t>- </a:t>
                      </a:r>
                      <a:r>
                        <a:rPr lang="ko-KR" altLang="en-US" sz="1700" dirty="0" smtClean="0"/>
                        <a:t>한 사건에서 행동</a:t>
                      </a:r>
                      <a:r>
                        <a:rPr lang="en-US" altLang="ko-KR" sz="1700" dirty="0" smtClean="0"/>
                        <a:t>(</a:t>
                      </a:r>
                      <a:r>
                        <a:rPr lang="ko-KR" altLang="en-US" sz="1700" dirty="0" smtClean="0"/>
                        <a:t>수사</a:t>
                      </a:r>
                      <a:r>
                        <a:rPr lang="en-US" altLang="ko-KR" sz="1700" dirty="0" smtClean="0"/>
                        <a:t>, </a:t>
                      </a:r>
                      <a:r>
                        <a:rPr lang="ko-KR" altLang="en-US" sz="1700" dirty="0" smtClean="0"/>
                        <a:t>탐색</a:t>
                      </a:r>
                      <a:r>
                        <a:rPr lang="en-US" altLang="ko-KR" sz="1700" dirty="0" smtClean="0"/>
                        <a:t>, </a:t>
                      </a:r>
                      <a:r>
                        <a:rPr lang="ko-KR" altLang="en-US" sz="1700" dirty="0" smtClean="0"/>
                        <a:t>설득 등</a:t>
                      </a:r>
                      <a:r>
                        <a:rPr lang="en-US" altLang="ko-KR" sz="1700" dirty="0" smtClean="0"/>
                        <a:t>) </a:t>
                      </a:r>
                      <a:r>
                        <a:rPr lang="ko-KR" altLang="en-US" sz="1700" dirty="0" smtClean="0"/>
                        <a:t>할 수 있는 한계치</a:t>
                      </a:r>
                      <a:endParaRPr lang="en-US" altLang="ko-KR" sz="1700" dirty="0" smtClean="0"/>
                    </a:p>
                    <a:p>
                      <a:pPr algn="l" latinLnBrk="1"/>
                      <a:r>
                        <a:rPr lang="en-US" altLang="ko-KR" sz="1700" dirty="0" smtClean="0"/>
                        <a:t>- </a:t>
                      </a:r>
                      <a:r>
                        <a:rPr lang="ko-KR" altLang="en-US" sz="1700" dirty="0" smtClean="0"/>
                        <a:t>매 행동 마다 </a:t>
                      </a:r>
                      <a:r>
                        <a:rPr lang="ko-KR" altLang="en-US" sz="1700" dirty="0" err="1" smtClean="0"/>
                        <a:t>행동력을</a:t>
                      </a:r>
                      <a:r>
                        <a:rPr lang="ko-KR" altLang="en-US" sz="1700" dirty="0" smtClean="0"/>
                        <a:t> 소모하여 실행된다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xmlns="" val="3714715161"/>
                  </a:ext>
                </a:extLst>
              </a:tr>
              <a:tr h="564802">
                <a:tc>
                  <a:txBody>
                    <a:bodyPr/>
                    <a:lstStyle/>
                    <a:p>
                      <a:pPr algn="ctr" latinLnBrk="1"/>
                      <a:r>
                        <a:rPr lang="ko-KR" altLang="en-US" b="1" dirty="0" smtClean="0"/>
                        <a:t>특성</a:t>
                      </a:r>
                      <a:endParaRPr lang="ko-KR" altLang="en-US" b="1" dirty="0"/>
                    </a:p>
                  </a:txBody>
                  <a:tcPr anchor="ctr"/>
                </a:tc>
                <a:tc>
                  <a:txBody>
                    <a:bodyPr/>
                    <a:lstStyle/>
                    <a:p>
                      <a:pPr algn="l" latinLnBrk="1"/>
                      <a:r>
                        <a:rPr lang="en-US" altLang="ko-KR" sz="1700" dirty="0" smtClean="0"/>
                        <a:t>- </a:t>
                      </a:r>
                      <a:r>
                        <a:rPr lang="ko-KR" altLang="en-US" sz="1700" dirty="0" smtClean="0"/>
                        <a:t>플레이를 통해 얻은 특성 포인트로 배울 수 있다</a:t>
                      </a:r>
                      <a:endParaRPr lang="en-US" altLang="ko-KR" sz="1700" dirty="0" smtClean="0"/>
                    </a:p>
                    <a:p>
                      <a:pPr algn="l" latinLnBrk="1"/>
                      <a:r>
                        <a:rPr lang="en-US" altLang="ko-KR" sz="1700" dirty="0" smtClean="0"/>
                        <a:t>- </a:t>
                      </a:r>
                      <a:r>
                        <a:rPr lang="ko-KR" altLang="en-US" sz="1700" dirty="0" smtClean="0"/>
                        <a:t>게임 플레이에 도움을 주는 효과를 가지고 있다</a:t>
                      </a:r>
                      <a:endParaRPr lang="ko-KR" altLang="en-US" sz="1700" dirty="0"/>
                    </a:p>
                  </a:txBody>
                  <a:tcPr anchor="ctr"/>
                </a:tc>
                <a:tc>
                  <a:txBody>
                    <a:bodyPr/>
                    <a:lstStyle/>
                    <a:p>
                      <a:pPr algn="l" latinLnBrk="1"/>
                      <a:r>
                        <a:rPr lang="ko-KR" altLang="en-US" sz="1700" dirty="0" smtClean="0"/>
                        <a:t>최대 </a:t>
                      </a:r>
                      <a:r>
                        <a:rPr lang="en-US" altLang="ko-KR" sz="1700" dirty="0" smtClean="0"/>
                        <a:t>3</a:t>
                      </a:r>
                      <a:r>
                        <a:rPr lang="ko-KR" altLang="en-US" sz="1700" dirty="0" smtClean="0"/>
                        <a:t>가지 사용 가능</a:t>
                      </a:r>
                      <a:endParaRPr lang="ko-KR" altLang="en-US" sz="1700" dirty="0"/>
                    </a:p>
                  </a:txBody>
                  <a:tcPr anchor="ctr"/>
                </a:tc>
                <a:extLst>
                  <a:ext uri="{0D108BD9-81ED-4DB2-BD59-A6C34878D82A}">
                    <a16:rowId xmlns:a16="http://schemas.microsoft.com/office/drawing/2014/main" xmlns="" val="1529809939"/>
                  </a:ext>
                </a:extLst>
              </a:tr>
              <a:tr h="564759">
                <a:tc>
                  <a:txBody>
                    <a:bodyPr/>
                    <a:lstStyle/>
                    <a:p>
                      <a:pPr algn="ctr" latinLnBrk="1"/>
                      <a:r>
                        <a:rPr lang="ko-KR" altLang="en-US" b="1" dirty="0" smtClean="0"/>
                        <a:t>스킬 체크</a:t>
                      </a:r>
                      <a:endParaRPr lang="ko-KR" altLang="en-US" b="1" dirty="0"/>
                    </a:p>
                  </a:txBody>
                  <a:tcPr anchor="ctr"/>
                </a:tc>
                <a:tc>
                  <a:txBody>
                    <a:bodyPr/>
                    <a:lstStyle/>
                    <a:p>
                      <a:pPr algn="l" latinLnBrk="1"/>
                      <a:r>
                        <a:rPr lang="en-US" altLang="ko-KR" sz="1700" dirty="0" smtClean="0"/>
                        <a:t>- </a:t>
                      </a:r>
                      <a:r>
                        <a:rPr lang="ko-KR" altLang="en-US" sz="1700" dirty="0" smtClean="0"/>
                        <a:t>수사</a:t>
                      </a:r>
                      <a:r>
                        <a:rPr lang="en-US" altLang="ko-KR" sz="1700" dirty="0" smtClean="0"/>
                        <a:t>, </a:t>
                      </a:r>
                      <a:r>
                        <a:rPr lang="ko-KR" altLang="en-US" sz="1700" dirty="0" smtClean="0"/>
                        <a:t>심문</a:t>
                      </a:r>
                      <a:r>
                        <a:rPr lang="en-US" altLang="ko-KR" sz="1700" dirty="0" smtClean="0"/>
                        <a:t>, </a:t>
                      </a:r>
                      <a:r>
                        <a:rPr lang="ko-KR" altLang="en-US" sz="1700" dirty="0" smtClean="0"/>
                        <a:t>탐색 등 행동 전반에 걸쳐 사용되는 기능</a:t>
                      </a:r>
                      <a:endParaRPr lang="en-US" altLang="ko-KR" sz="1700" dirty="0" smtClean="0"/>
                    </a:p>
                  </a:txBody>
                  <a:tcPr anchor="ctr"/>
                </a:tc>
                <a:tc>
                  <a:txBody>
                    <a:bodyPr/>
                    <a:lstStyle/>
                    <a:p>
                      <a:pPr algn="l" latinLnBrk="1"/>
                      <a:r>
                        <a:rPr lang="ko-KR" altLang="en-US" sz="1700" dirty="0" smtClean="0"/>
                        <a:t>성공</a:t>
                      </a:r>
                      <a:r>
                        <a:rPr lang="en-US" altLang="ko-KR" sz="1700" dirty="0" smtClean="0"/>
                        <a:t>, </a:t>
                      </a:r>
                      <a:r>
                        <a:rPr lang="ko-KR" altLang="en-US" sz="1700" dirty="0" smtClean="0"/>
                        <a:t>실패</a:t>
                      </a:r>
                      <a:r>
                        <a:rPr lang="en-US" altLang="ko-KR" sz="1700" dirty="0" smtClean="0"/>
                        <a:t>, </a:t>
                      </a:r>
                      <a:r>
                        <a:rPr lang="ko-KR" altLang="en-US" sz="1700" dirty="0" smtClean="0"/>
                        <a:t>대성공</a:t>
                      </a:r>
                      <a:endParaRPr lang="ko-KR" altLang="en-US" sz="1700" dirty="0"/>
                    </a:p>
                  </a:txBody>
                  <a:tcPr anchor="ctr"/>
                </a:tc>
                <a:extLst>
                  <a:ext uri="{0D108BD9-81ED-4DB2-BD59-A6C34878D82A}">
                    <a16:rowId xmlns:a16="http://schemas.microsoft.com/office/drawing/2014/main" xmlns="" val="2358325592"/>
                  </a:ext>
                </a:extLst>
              </a:tr>
            </a:tbl>
          </a:graphicData>
        </a:graphic>
      </p:graphicFrame>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65</a:t>
            </a:fld>
            <a:endParaRPr lang="ko-KR" altLang="en-US" sz="1800" dirty="0"/>
          </a:p>
        </p:txBody>
      </p:sp>
    </p:spTree>
    <p:extLst>
      <p:ext uri="{BB962C8B-B14F-4D97-AF65-F5344CB8AC3E}">
        <p14:creationId xmlns:p14="http://schemas.microsoft.com/office/powerpoint/2010/main" val="1648055852"/>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66</a:t>
            </a:fld>
            <a:endParaRPr lang="ko-KR" altLang="en-US" sz="1800" dirty="0"/>
          </a:p>
        </p:txBody>
      </p:sp>
    </p:spTree>
    <p:extLst>
      <p:ext uri="{BB962C8B-B14F-4D97-AF65-F5344CB8AC3E}">
        <p14:creationId xmlns:p14="http://schemas.microsoft.com/office/powerpoint/2010/main" val="2249400282"/>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03203" y="1596326"/>
            <a:ext cx="5604329" cy="4524315"/>
          </a:xfrm>
          <a:prstGeom prst="rect">
            <a:avLst/>
          </a:prstGeom>
          <a:noFill/>
        </p:spPr>
        <p:txBody>
          <a:bodyPr wrap="square" rtlCol="0">
            <a:spAutoFit/>
          </a:bodyPr>
          <a:lstStyle/>
          <a:p>
            <a:r>
              <a:rPr lang="en-US" altLang="ko-KR" sz="2400" dirty="0" smtClean="0"/>
              <a:t>• </a:t>
            </a:r>
            <a:r>
              <a:rPr lang="ko-KR" altLang="ko-KR" sz="2400" dirty="0" smtClean="0"/>
              <a:t>플레이</a:t>
            </a:r>
            <a:r>
              <a:rPr lang="ko-KR" altLang="en-US" sz="2400" dirty="0" smtClean="0"/>
              <a:t>어가 캐릭터를 선택하면 탐험이 시작됩니다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던전은 입구부터 </a:t>
            </a:r>
            <a:r>
              <a:rPr lang="ko-KR" altLang="en-US" sz="2400" dirty="0" err="1" smtClean="0"/>
              <a:t>최심부까지</a:t>
            </a:r>
            <a:r>
              <a:rPr lang="ko-KR" altLang="en-US" sz="2400" dirty="0" smtClean="0"/>
              <a:t> 이어져있으며</a:t>
            </a:r>
            <a:r>
              <a:rPr lang="en-US" altLang="ko-KR" sz="2400" dirty="0" smtClean="0"/>
              <a:t>, </a:t>
            </a:r>
            <a:r>
              <a:rPr lang="ko-KR" altLang="en-US" sz="2400" dirty="0" smtClean="0"/>
              <a:t>한 번에 하나의 방을 탐험할 수 있습니다</a:t>
            </a:r>
            <a:r>
              <a:rPr lang="en-US" altLang="ko-KR" sz="2400" dirty="0" smtClean="0"/>
              <a:t>.</a:t>
            </a:r>
          </a:p>
          <a:p>
            <a:endParaRPr lang="en-US" altLang="ko-KR" sz="2400" dirty="0" smtClean="0"/>
          </a:p>
          <a:p>
            <a:r>
              <a:rPr lang="en-US" altLang="ko-KR" sz="2400" dirty="0"/>
              <a:t>• </a:t>
            </a:r>
            <a:r>
              <a:rPr lang="ko-KR" altLang="en-US" sz="2400" dirty="0"/>
              <a:t>한번 클리어한 방을 다시 클리어할 수는 </a:t>
            </a:r>
            <a:r>
              <a:rPr lang="ko-KR" altLang="en-US" sz="2400" dirty="0" smtClean="0"/>
              <a:t>없습니다</a:t>
            </a:r>
            <a:r>
              <a:rPr lang="en-US" altLang="ko-KR" sz="2400" dirty="0" smtClean="0"/>
              <a:t>.</a:t>
            </a:r>
            <a:endParaRPr lang="en-US" altLang="ko-KR" sz="2400" dirty="0"/>
          </a:p>
          <a:p>
            <a:r>
              <a:rPr lang="en-US" altLang="ko-KR" sz="2400" dirty="0"/>
              <a:t/>
            </a:r>
            <a:br>
              <a:rPr lang="en-US" altLang="ko-KR" sz="2400" dirty="0"/>
            </a:br>
            <a:r>
              <a:rPr lang="en-US" altLang="ko-KR" sz="2400" dirty="0"/>
              <a:t>•</a:t>
            </a:r>
            <a:r>
              <a:rPr lang="en-US" altLang="ko-KR" sz="2400" dirty="0" smtClean="0"/>
              <a:t> </a:t>
            </a:r>
            <a:r>
              <a:rPr lang="ko-KR" altLang="en-US" sz="2400" dirty="0" smtClean="0"/>
              <a:t>던전의 </a:t>
            </a:r>
            <a:r>
              <a:rPr lang="ko-KR" altLang="en-US" sz="2400" dirty="0" err="1" smtClean="0"/>
              <a:t>최심부를</a:t>
            </a:r>
            <a:r>
              <a:rPr lang="ko-KR" altLang="en-US" sz="2400" dirty="0" smtClean="0"/>
              <a:t> 클리어하는 것이 목표입니다</a:t>
            </a:r>
            <a:r>
              <a:rPr lang="en-US" altLang="ko-KR" sz="2400"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67</a:t>
            </a:fld>
            <a:endParaRPr lang="ko-KR" altLang="en-US" sz="1800" dirty="0"/>
          </a:p>
        </p:txBody>
      </p:sp>
      <p:pic>
        <p:nvPicPr>
          <p:cNvPr id="3" name="그림 2"/>
          <p:cNvPicPr>
            <a:picLocks noChangeAspect="1"/>
          </p:cNvPicPr>
          <p:nvPr/>
        </p:nvPicPr>
        <p:blipFill>
          <a:blip r:embed="rId2"/>
          <a:stretch>
            <a:fillRect/>
          </a:stretch>
        </p:blipFill>
        <p:spPr>
          <a:xfrm>
            <a:off x="6095999" y="1849971"/>
            <a:ext cx="5836845" cy="3278361"/>
          </a:xfrm>
          <a:prstGeom prst="rect">
            <a:avLst/>
          </a:prstGeom>
        </p:spPr>
      </p:pic>
      <p:sp>
        <p:nvSpPr>
          <p:cNvPr id="9" name="TextBox 8"/>
          <p:cNvSpPr txBox="1"/>
          <p:nvPr/>
        </p:nvSpPr>
        <p:spPr>
          <a:xfrm>
            <a:off x="8075717" y="512833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81337042"/>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54909" y="1340223"/>
            <a:ext cx="5039181" cy="2677656"/>
          </a:xfrm>
          <a:prstGeom prst="rect">
            <a:avLst/>
          </a:prstGeom>
          <a:noFill/>
        </p:spPr>
        <p:txBody>
          <a:bodyPr wrap="square" rtlCol="0">
            <a:spAutoFit/>
          </a:bodyPr>
          <a:lstStyle/>
          <a:p>
            <a:r>
              <a:rPr lang="en-US" altLang="ko-KR" sz="2400" dirty="0"/>
              <a:t>• </a:t>
            </a:r>
            <a:r>
              <a:rPr lang="ko-KR" altLang="en-US" sz="2400" dirty="0" smtClean="0"/>
              <a:t>아군 캐릭터와 적 몬스터의 최대 </a:t>
            </a:r>
            <a:r>
              <a:rPr lang="en-US" altLang="ko-KR" sz="2400" dirty="0" smtClean="0"/>
              <a:t>4:4 </a:t>
            </a:r>
            <a:r>
              <a:rPr lang="ko-KR" altLang="en-US" sz="2400" dirty="0" smtClean="0"/>
              <a:t>전투로 진행됩니다</a:t>
            </a:r>
            <a:r>
              <a:rPr lang="en-US" altLang="ko-KR" sz="2400" dirty="0" smtClean="0"/>
              <a:t>.</a:t>
            </a:r>
          </a:p>
          <a:p>
            <a:r>
              <a:rPr lang="en-US" altLang="ko-KR" sz="2400" dirty="0" smtClean="0"/>
              <a:t/>
            </a:r>
            <a:br>
              <a:rPr lang="en-US" altLang="ko-KR" sz="2400" dirty="0" smtClean="0"/>
            </a:br>
            <a:r>
              <a:rPr lang="en-US" altLang="ko-KR" sz="2400" dirty="0"/>
              <a:t>• </a:t>
            </a:r>
            <a:r>
              <a:rPr lang="ko-KR" altLang="en-US" sz="2400" dirty="0" smtClean="0"/>
              <a:t>아군부터</a:t>
            </a:r>
            <a:r>
              <a:rPr lang="en-US" altLang="ko-KR" sz="2400" dirty="0" smtClean="0"/>
              <a:t>, </a:t>
            </a:r>
            <a:r>
              <a:rPr lang="ko-KR" altLang="en-US" sz="2400" dirty="0" smtClean="0"/>
              <a:t>가장 왼쪽 캐릭터부터  시작하여</a:t>
            </a:r>
            <a:r>
              <a:rPr lang="en-US" altLang="ko-KR" sz="2400" dirty="0" smtClean="0"/>
              <a:t>, </a:t>
            </a:r>
            <a:r>
              <a:rPr lang="ko-KR" altLang="en-US" sz="2400" dirty="0" smtClean="0"/>
              <a:t>차례대로 한 진영의 모든 캐릭터가 행동을 마치면 차례가 넘어갑니다</a:t>
            </a:r>
            <a:r>
              <a:rPr lang="en-US" altLang="ko-KR" sz="2400" dirty="0" smtClean="0"/>
              <a:t>.</a:t>
            </a:r>
            <a:endParaRPr lang="en-US"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68</a:t>
            </a:fld>
            <a:endParaRPr lang="ko-KR" altLang="en-US" sz="1800" dirty="0"/>
          </a:p>
        </p:txBody>
      </p:sp>
      <p:pic>
        <p:nvPicPr>
          <p:cNvPr id="1026" name="Picture 2" descr="https://steamcdn-a.akamaihd.net/steam/apps/503560/ss_ec620eea4998f7ad180bf5b762ea606830c1af2f.600x338.jpg?t=153184117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1812752"/>
            <a:ext cx="5715000" cy="320992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8014795" y="50256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7</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70079449"/>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35480" y="1559202"/>
            <a:ext cx="5642809" cy="3416320"/>
          </a:xfrm>
          <a:prstGeom prst="rect">
            <a:avLst/>
          </a:prstGeom>
          <a:noFill/>
        </p:spPr>
        <p:txBody>
          <a:bodyPr wrap="square" rtlCol="0">
            <a:spAutoFit/>
          </a:bodyPr>
          <a:lstStyle/>
          <a:p>
            <a:r>
              <a:rPr lang="en-US" altLang="ko-KR" sz="2400" dirty="0"/>
              <a:t>• </a:t>
            </a:r>
            <a:r>
              <a:rPr lang="ko-KR" altLang="en-US" sz="2400" dirty="0" smtClean="0"/>
              <a:t>아군 캐릭터들은 전투를 통해 경험치를 획득하고</a:t>
            </a:r>
            <a:r>
              <a:rPr lang="en-US" altLang="ko-KR" sz="2400" dirty="0" smtClean="0"/>
              <a:t>, </a:t>
            </a:r>
            <a:r>
              <a:rPr lang="ko-KR" altLang="en-US" sz="2400" dirty="0" smtClean="0"/>
              <a:t>일정한 경험치를 만족하면 </a:t>
            </a:r>
            <a:r>
              <a:rPr lang="ko-KR" altLang="en-US" sz="2400" dirty="0" err="1" smtClean="0"/>
              <a:t>레벨업</a:t>
            </a:r>
            <a:r>
              <a:rPr lang="ko-KR" altLang="en-US" sz="2400" dirty="0" smtClean="0"/>
              <a:t> 하여 성장합니다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동일한 몬스터를 재료로 사용하여 특정 몬스터를 강화할 수 있습니다</a:t>
            </a:r>
            <a:r>
              <a:rPr lang="en-US" altLang="ko-KR" sz="2400" dirty="0" smtClean="0"/>
              <a:t>.</a:t>
            </a:r>
          </a:p>
          <a:p>
            <a:endParaRPr lang="en-US" altLang="ko-KR" sz="2400" dirty="0"/>
          </a:p>
          <a:p>
            <a:r>
              <a:rPr lang="en-US" altLang="ko-KR" sz="2400" dirty="0"/>
              <a:t>• </a:t>
            </a:r>
            <a:r>
              <a:rPr lang="ko-KR" altLang="en-US" sz="2400" dirty="0" smtClean="0"/>
              <a:t>캐릭터에게 아이템을 </a:t>
            </a:r>
            <a:r>
              <a:rPr lang="ko-KR" altLang="en-US" sz="2400" dirty="0" err="1" smtClean="0"/>
              <a:t>장비시켜</a:t>
            </a:r>
            <a:r>
              <a:rPr lang="ko-KR" altLang="en-US" sz="2400" dirty="0" smtClean="0"/>
              <a:t> 능력을 향상시킬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69</a:t>
            </a:fld>
            <a:endParaRPr lang="ko-KR" altLang="en-US" sz="1800" dirty="0"/>
          </a:p>
        </p:txBody>
      </p:sp>
      <p:pic>
        <p:nvPicPr>
          <p:cNvPr id="5" name="그림 4"/>
          <p:cNvPicPr>
            <a:picLocks noChangeAspect="1"/>
          </p:cNvPicPr>
          <p:nvPr/>
        </p:nvPicPr>
        <p:blipFill>
          <a:blip r:embed="rId2"/>
          <a:stretch>
            <a:fillRect/>
          </a:stretch>
        </p:blipFill>
        <p:spPr>
          <a:xfrm>
            <a:off x="6076949" y="1844063"/>
            <a:ext cx="5715000" cy="3209925"/>
          </a:xfrm>
          <a:prstGeom prst="rect">
            <a:avLst/>
          </a:prstGeom>
        </p:spPr>
      </p:pic>
      <p:sp>
        <p:nvSpPr>
          <p:cNvPr id="12" name="TextBox 11"/>
          <p:cNvSpPr txBox="1"/>
          <p:nvPr/>
        </p:nvSpPr>
        <p:spPr>
          <a:xfrm>
            <a:off x="7995745" y="504129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91029537"/>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41305" y="1894220"/>
            <a:ext cx="4845051" cy="3785652"/>
          </a:xfrm>
          <a:prstGeom prst="rect">
            <a:avLst/>
          </a:prstGeom>
          <a:noFill/>
        </p:spPr>
        <p:txBody>
          <a:bodyPr wrap="square" rtlCol="0">
            <a:spAutoFit/>
          </a:bodyPr>
          <a:lstStyle/>
          <a:p>
            <a:r>
              <a:rPr lang="en-US" altLang="ko-KR" sz="2400" dirty="0"/>
              <a:t>•</a:t>
            </a:r>
            <a:r>
              <a:rPr lang="en-US" altLang="ko-KR" sz="2400" dirty="0" smtClean="0"/>
              <a:t> </a:t>
            </a:r>
            <a:r>
              <a:rPr lang="ko-KR" altLang="en-US" sz="2400" dirty="0" smtClean="0"/>
              <a:t>캐릭터와 몬스터가 가진 능력과 스킬을 활용하여 다양한 전략을 사용할 수 있습니다</a:t>
            </a:r>
            <a:r>
              <a:rPr lang="en-US" altLang="ko-KR" sz="2400" dirty="0" smtClean="0"/>
              <a:t>.</a:t>
            </a:r>
          </a:p>
          <a:p>
            <a:endParaRPr lang="en-US" altLang="ko-KR" sz="2400" dirty="0"/>
          </a:p>
          <a:p>
            <a:r>
              <a:rPr lang="en-US" altLang="ko-KR" sz="2400" dirty="0"/>
              <a:t>•</a:t>
            </a:r>
            <a:r>
              <a:rPr lang="en-US" altLang="ko-KR" sz="2400" dirty="0" smtClean="0"/>
              <a:t> </a:t>
            </a:r>
            <a:r>
              <a:rPr lang="ko-KR" altLang="en-US" sz="2400" dirty="0" smtClean="0"/>
              <a:t>아이템으로 아군의 장점을 살리고 약점을 커버할 수 있습니다</a:t>
            </a:r>
            <a:r>
              <a:rPr lang="en-US" altLang="ko-KR" sz="2400" dirty="0" smtClean="0"/>
              <a:t>.</a:t>
            </a:r>
            <a:endParaRPr lang="en-US" altLang="ko-KR" sz="2400" dirty="0"/>
          </a:p>
          <a:p>
            <a:pPr marL="285750" indent="-285750">
              <a:buFontTx/>
              <a:buChar char="-"/>
            </a:pPr>
            <a:endParaRPr lang="en-US" altLang="ko-KR" sz="2400" dirty="0"/>
          </a:p>
          <a:p>
            <a:r>
              <a:rPr lang="en-US" altLang="ko-KR" sz="2400" dirty="0" smtClean="0"/>
              <a:t>• </a:t>
            </a:r>
            <a:r>
              <a:rPr lang="ko-KR" altLang="en-US" sz="2400" dirty="0" smtClean="0"/>
              <a:t>아군과 적의 상성을 파악하여 원하는 조합을 편성하고 전술을 펼칠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70</a:t>
            </a:fld>
            <a:endParaRPr lang="ko-KR" altLang="en-US" sz="1800" dirty="0"/>
          </a:p>
        </p:txBody>
      </p:sp>
      <p:pic>
        <p:nvPicPr>
          <p:cNvPr id="3" name="그림 2"/>
          <p:cNvPicPr>
            <a:picLocks noChangeAspect="1"/>
          </p:cNvPicPr>
          <p:nvPr/>
        </p:nvPicPr>
        <p:blipFill>
          <a:blip r:embed="rId2"/>
          <a:stretch>
            <a:fillRect/>
          </a:stretch>
        </p:blipFill>
        <p:spPr>
          <a:xfrm>
            <a:off x="6000750" y="1850852"/>
            <a:ext cx="5715000" cy="3209925"/>
          </a:xfrm>
          <a:prstGeom prst="rect">
            <a:avLst/>
          </a:prstGeom>
        </p:spPr>
      </p:pic>
      <p:sp>
        <p:nvSpPr>
          <p:cNvPr id="9" name="TextBox 8"/>
          <p:cNvSpPr txBox="1"/>
          <p:nvPr/>
        </p:nvSpPr>
        <p:spPr>
          <a:xfrm>
            <a:off x="7919546" y="50637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4" name="TextBox 13"/>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1811414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990973" y="771996"/>
            <a:ext cx="4210049"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세부 </a:t>
            </a:r>
            <a:r>
              <a:rPr lang="ko-KR" altLang="en-US" sz="3200" b="1" dirty="0">
                <a:gradFill>
                  <a:gsLst>
                    <a:gs pos="0">
                      <a:schemeClr val="tx1"/>
                    </a:gs>
                    <a:gs pos="100000">
                      <a:schemeClr val="tx1"/>
                    </a:gs>
                  </a:gsLst>
                  <a:lin ang="5400000" scaled="1"/>
                </a:gradFill>
                <a:latin typeface="맑은 고딕" panose="020B0503020000020004" pitchFamily="50" charset="-127"/>
              </a:rPr>
              <a:t>기획 </a:t>
            </a:r>
            <a:r>
              <a:rPr lang="ko-KR" altLang="en-US" sz="3200" b="1" dirty="0" smtClean="0">
                <a:gradFill>
                  <a:gsLst>
                    <a:gs pos="0">
                      <a:schemeClr val="tx1"/>
                    </a:gs>
                    <a:gs pos="100000">
                      <a:schemeClr val="tx1"/>
                    </a:gs>
                  </a:gsLst>
                  <a:lin ang="5400000" scaled="1"/>
                </a:gradFill>
                <a:latin typeface="맑은 고딕" panose="020B0503020000020004" pitchFamily="50" charset="-127"/>
              </a:rPr>
              <a:t>컨텐츠</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4" y="1392603"/>
            <a:ext cx="10869388" cy="4539704"/>
          </a:xfrm>
          <a:prstGeom prst="rect">
            <a:avLst/>
          </a:prstGeom>
          <a:noFill/>
        </p:spPr>
        <p:txBody>
          <a:bodyPr wrap="square" rtlCol="0">
            <a:spAutoFit/>
          </a:bodyPr>
          <a:lstStyle/>
          <a:p>
            <a:r>
              <a:rPr lang="ko-KR" altLang="en-US" sz="2000" u="sng" dirty="0" smtClean="0"/>
              <a:t>전투 시스템</a:t>
            </a:r>
            <a:r>
              <a:rPr lang="en-US" altLang="ko-KR" sz="2000" u="sng" dirty="0" smtClean="0"/>
              <a:t>, </a:t>
            </a:r>
            <a:r>
              <a:rPr lang="ko-KR" altLang="en-US" sz="2000" u="sng" dirty="0" smtClean="0"/>
              <a:t>육성 시스템</a:t>
            </a:r>
            <a:r>
              <a:rPr lang="ko-KR" altLang="ko-KR" sz="2000" u="sng" dirty="0" smtClean="0"/>
              <a:t>을 </a:t>
            </a:r>
            <a:r>
              <a:rPr lang="ko-KR" altLang="ko-KR" sz="2000" u="sng" dirty="0"/>
              <a:t>세부 기획 컨텐츠로 설정한다</a:t>
            </a:r>
            <a:r>
              <a:rPr lang="en-US" altLang="ko-KR" sz="2000" u="sng" dirty="0" smtClean="0"/>
              <a:t>.</a:t>
            </a:r>
            <a:br>
              <a:rPr lang="en-US" altLang="ko-KR" sz="2000" u="sng" dirty="0" smtClean="0"/>
            </a:br>
            <a:r>
              <a:rPr lang="en-US" altLang="ko-KR" sz="1100" u="sng" dirty="0" smtClean="0"/>
              <a:t/>
            </a:r>
            <a:br>
              <a:rPr lang="en-US" altLang="ko-KR" sz="1100" u="sng" dirty="0" smtClean="0"/>
            </a:br>
            <a:r>
              <a:rPr lang="ko-KR" altLang="en-US" sz="2000" u="sng" dirty="0" smtClean="0"/>
              <a:t>상성과 능력에 관한 구체적인 시스템과 밸런스에</a:t>
            </a:r>
            <a:r>
              <a:rPr lang="ko-KR" altLang="ko-KR" sz="2000" u="sng" dirty="0" smtClean="0"/>
              <a:t> </a:t>
            </a:r>
            <a:r>
              <a:rPr lang="ko-KR" altLang="ko-KR" sz="2000" u="sng" dirty="0"/>
              <a:t>초점을 두어 기획한다</a:t>
            </a:r>
            <a:r>
              <a:rPr lang="en-US" altLang="ko-KR" sz="2000" dirty="0" smtClean="0"/>
              <a:t>.</a:t>
            </a:r>
            <a:r>
              <a:rPr lang="en-US" altLang="ko-KR" dirty="0" smtClean="0"/>
              <a:t/>
            </a:r>
            <a:br>
              <a:rPr lang="en-US" altLang="ko-KR" dirty="0" smtClean="0"/>
            </a:br>
            <a:r>
              <a:rPr lang="en-US" altLang="ko-KR" dirty="0" smtClean="0"/>
              <a:t/>
            </a:r>
            <a:br>
              <a:rPr lang="en-US" altLang="ko-KR" dirty="0" smtClean="0"/>
            </a:br>
            <a:r>
              <a:rPr lang="en-US" altLang="ko-KR" sz="2000" dirty="0" smtClean="0"/>
              <a:t>• </a:t>
            </a:r>
            <a:r>
              <a:rPr lang="ko-KR" altLang="en-US" sz="2000" dirty="0" smtClean="0"/>
              <a:t>캐릭터와 </a:t>
            </a:r>
            <a:r>
              <a:rPr lang="ko-KR" altLang="en-US" sz="2000" dirty="0" err="1" smtClean="0"/>
              <a:t>몬스터</a:t>
            </a:r>
            <a:r>
              <a:rPr lang="ko-KR" altLang="en-US" sz="2000" dirty="0" smtClean="0"/>
              <a:t> 각각의 </a:t>
            </a:r>
            <a:r>
              <a:rPr lang="ko-KR" altLang="en-US" sz="2000" dirty="0" err="1" smtClean="0"/>
              <a:t>컨셉에</a:t>
            </a:r>
            <a:r>
              <a:rPr lang="ko-KR" altLang="en-US" sz="2000" dirty="0" smtClean="0"/>
              <a:t> 맞는 전투 방식과 능력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수치와 상성을 기반으로 공식을 설정하여 실질적인 전투 시스템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아이템과 </a:t>
            </a:r>
            <a:r>
              <a:rPr lang="ko-KR" altLang="en-US" sz="2000" dirty="0" err="1" smtClean="0"/>
              <a:t>레벨업을</a:t>
            </a:r>
            <a:r>
              <a:rPr lang="ko-KR" altLang="en-US" sz="2000" dirty="0" smtClean="0"/>
              <a:t> 고려한 </a:t>
            </a:r>
            <a:r>
              <a:rPr lang="ko-KR" altLang="en-US" sz="2000" dirty="0" err="1" smtClean="0"/>
              <a:t>스테이터스</a:t>
            </a:r>
            <a:r>
              <a:rPr lang="ko-KR" altLang="en-US" sz="2000" dirty="0" smtClean="0"/>
              <a:t> 밸런스 설정과 조정</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err="1" smtClean="0"/>
              <a:t>던전</a:t>
            </a:r>
            <a:r>
              <a:rPr lang="ko-KR" altLang="en-US" sz="2000" dirty="0" smtClean="0"/>
              <a:t> 내 세부 </a:t>
            </a:r>
            <a:r>
              <a:rPr lang="ko-KR" altLang="en-US" sz="2000" dirty="0" err="1" smtClean="0"/>
              <a:t>에어리어들</a:t>
            </a:r>
            <a:r>
              <a:rPr lang="ko-KR" altLang="en-US" sz="2000" dirty="0" smtClean="0"/>
              <a:t> 및 전투</a:t>
            </a:r>
            <a:r>
              <a:rPr lang="en-US" altLang="ko-KR" sz="2000" dirty="0" smtClean="0"/>
              <a:t>(</a:t>
            </a:r>
            <a:r>
              <a:rPr lang="ko-KR" altLang="en-US" sz="2000" dirty="0" err="1" smtClean="0"/>
              <a:t>던전</a:t>
            </a:r>
            <a:r>
              <a:rPr lang="en-US" altLang="ko-KR" sz="2000" dirty="0" smtClean="0"/>
              <a:t>)</a:t>
            </a:r>
            <a:r>
              <a:rPr lang="ko-KR" altLang="en-US" sz="2000" dirty="0" smtClean="0"/>
              <a:t> 레벨 디자인 기획</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a:t>• </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71</a:t>
            </a:fld>
            <a:endParaRPr lang="ko-KR" altLang="en-US" sz="1800" dirty="0"/>
          </a:p>
        </p:txBody>
      </p:sp>
    </p:spTree>
    <p:extLst>
      <p:ext uri="{BB962C8B-B14F-4D97-AF65-F5344CB8AC3E}">
        <p14:creationId xmlns:p14="http://schemas.microsoft.com/office/powerpoint/2010/main" val="3653743636"/>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089296" y="797899"/>
            <a:ext cx="2127705"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보완점</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539074"/>
            <a:ext cx="10869388" cy="4462760"/>
          </a:xfrm>
          <a:prstGeom prst="rect">
            <a:avLst/>
          </a:prstGeom>
          <a:noFill/>
        </p:spPr>
        <p:txBody>
          <a:bodyPr wrap="square" rtlCol="0">
            <a:spAutoFit/>
          </a:bodyPr>
          <a:lstStyle/>
          <a:p>
            <a:r>
              <a:rPr lang="en-US" altLang="ko-KR" sz="2000" dirty="0"/>
              <a:t>• </a:t>
            </a:r>
            <a:r>
              <a:rPr lang="ko-KR" altLang="ko-KR" sz="2000" dirty="0" smtClean="0"/>
              <a:t>구체적인 </a:t>
            </a:r>
            <a:r>
              <a:rPr lang="ko-KR" altLang="en-US" sz="2000" dirty="0" smtClean="0"/>
              <a:t>그래픽 </a:t>
            </a:r>
            <a:r>
              <a:rPr lang="ko-KR" altLang="en-US" sz="2000" dirty="0" err="1" smtClean="0"/>
              <a:t>컨셉과</a:t>
            </a:r>
            <a:r>
              <a:rPr lang="ko-KR" altLang="en-US" sz="2000" dirty="0" smtClean="0"/>
              <a:t> </a:t>
            </a:r>
            <a:r>
              <a:rPr lang="ko-KR" altLang="ko-KR" sz="2000" dirty="0" smtClean="0"/>
              <a:t>레벨 디자인</a:t>
            </a:r>
            <a:r>
              <a:rPr lang="en-US" altLang="ko-KR" sz="2000" dirty="0"/>
              <a:t>,</a:t>
            </a:r>
            <a:r>
              <a:rPr lang="ko-KR" altLang="en-US" sz="2000" dirty="0" smtClean="0"/>
              <a:t> </a:t>
            </a:r>
            <a:r>
              <a:rPr lang="en-US" altLang="ko-KR" sz="2000" dirty="0" smtClean="0"/>
              <a:t>UI</a:t>
            </a:r>
            <a:r>
              <a:rPr lang="ko-KR" altLang="ko-KR" sz="2000" dirty="0" smtClean="0"/>
              <a:t>에 </a:t>
            </a:r>
            <a:r>
              <a:rPr lang="ko-KR" altLang="ko-KR" sz="2000" dirty="0"/>
              <a:t>대한 </a:t>
            </a:r>
            <a:r>
              <a:rPr lang="ko-KR" altLang="ko-KR" sz="2000" dirty="0" smtClean="0"/>
              <a:t>기획</a:t>
            </a:r>
            <a:r>
              <a:rPr lang="ko-KR" altLang="en-US" sz="2000" dirty="0" smtClean="0"/>
              <a:t>의 빈약함</a:t>
            </a:r>
            <a:endParaRPr lang="en-US" altLang="ko-KR" sz="2000" dirty="0" smtClean="0"/>
          </a:p>
          <a:p>
            <a:r>
              <a:rPr lang="en-US" altLang="ko-KR" sz="2000" dirty="0" smtClean="0"/>
              <a:t> └&gt; </a:t>
            </a:r>
            <a:r>
              <a:rPr lang="ko-KR" altLang="en-US" sz="2000" dirty="0" smtClean="0"/>
              <a:t>레벨 디자인과 </a:t>
            </a:r>
            <a:r>
              <a:rPr lang="en-US" altLang="ko-KR" sz="2000" dirty="0" smtClean="0"/>
              <a:t>UI</a:t>
            </a:r>
            <a:r>
              <a:rPr lang="ko-KR" altLang="en-US" sz="2000" dirty="0" smtClean="0"/>
              <a:t>에 대한 기획을 통해 그래픽 </a:t>
            </a:r>
            <a:r>
              <a:rPr lang="ko-KR" altLang="en-US" sz="2000" dirty="0" err="1" smtClean="0"/>
              <a:t>컨셉을</a:t>
            </a:r>
            <a:r>
              <a:rPr lang="ko-KR" altLang="en-US" sz="2000" dirty="0" smtClean="0"/>
              <a:t> 밝히고 </a:t>
            </a:r>
            <a:r>
              <a:rPr lang="ko-KR" altLang="en-US" sz="2000" dirty="0" err="1" smtClean="0"/>
              <a:t>직관성을</a:t>
            </a:r>
            <a:r>
              <a:rPr lang="ko-KR" altLang="en-US" sz="2000" dirty="0" smtClean="0"/>
              <a:t> 높여야 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ko-KR" sz="2000" dirty="0" smtClean="0"/>
              <a:t>수사 </a:t>
            </a:r>
            <a:r>
              <a:rPr lang="ko-KR" altLang="ko-KR" sz="2000" dirty="0"/>
              <a:t>과정을 표현한 것이 단순한 스킬 체크 방식이었던 </a:t>
            </a:r>
            <a:r>
              <a:rPr lang="ko-KR" altLang="en-US" sz="2000" dirty="0"/>
              <a:t>점</a:t>
            </a:r>
            <a:endParaRPr lang="en-US" altLang="ko-KR" sz="2000" dirty="0" smtClean="0"/>
          </a:p>
          <a:p>
            <a:r>
              <a:rPr lang="en-US" altLang="ko-KR" sz="2000" dirty="0" smtClean="0"/>
              <a:t> └&gt; </a:t>
            </a:r>
            <a:r>
              <a:rPr lang="ko-KR" altLang="en-US" sz="2000" dirty="0" smtClean="0"/>
              <a:t>너무 어렵지 않으면서도 긴장감을 줄 수 있는 다양한 미니게임 고안이 필요하다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시스템 요소들의 구체적인 수치에 대한 기획이 전무</a:t>
            </a:r>
            <a:endParaRPr lang="en-US" altLang="ko-KR" sz="2000" dirty="0" smtClean="0"/>
          </a:p>
          <a:p>
            <a:r>
              <a:rPr lang="en-US" altLang="ko-KR" sz="2000" dirty="0" smtClean="0"/>
              <a:t> </a:t>
            </a:r>
            <a:r>
              <a:rPr lang="en-US" altLang="ko-KR" sz="2000" dirty="0"/>
              <a:t>└</a:t>
            </a:r>
            <a:r>
              <a:rPr lang="en-US" altLang="ko-KR" sz="2000" dirty="0" smtClean="0"/>
              <a:t>&gt; </a:t>
            </a:r>
            <a:r>
              <a:rPr lang="ko-KR" altLang="en-US" sz="2000" dirty="0" err="1" smtClean="0"/>
              <a:t>범죄율</a:t>
            </a:r>
            <a:r>
              <a:rPr lang="en-US" altLang="ko-KR" sz="2000" dirty="0" smtClean="0"/>
              <a:t>, </a:t>
            </a:r>
            <a:r>
              <a:rPr lang="ko-KR" altLang="en-US" sz="2000" dirty="0" smtClean="0"/>
              <a:t>명성</a:t>
            </a:r>
            <a:r>
              <a:rPr lang="en-US" altLang="ko-KR" sz="2000" dirty="0" smtClean="0"/>
              <a:t>, </a:t>
            </a:r>
            <a:r>
              <a:rPr lang="ko-KR" altLang="en-US" sz="2000" dirty="0" smtClean="0"/>
              <a:t>자금</a:t>
            </a:r>
            <a:r>
              <a:rPr lang="en-US" altLang="ko-KR" sz="2000" dirty="0" smtClean="0"/>
              <a:t>(</a:t>
            </a:r>
            <a:r>
              <a:rPr lang="ko-KR" altLang="en-US" sz="2000" dirty="0" smtClean="0"/>
              <a:t>가격</a:t>
            </a:r>
            <a:r>
              <a:rPr lang="en-US" altLang="ko-KR" sz="2000" dirty="0" smtClean="0"/>
              <a:t>) </a:t>
            </a:r>
            <a:r>
              <a:rPr lang="ko-KR" altLang="en-US" sz="2000" dirty="0" smtClean="0"/>
              <a:t>등에 대한 밸런스 디자인이 요구된다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선택 요소들과 </a:t>
            </a:r>
            <a:r>
              <a:rPr lang="ko-KR" altLang="ko-KR" sz="2000" dirty="0" smtClean="0"/>
              <a:t>이벤트 소개</a:t>
            </a:r>
            <a:r>
              <a:rPr lang="ko-KR" altLang="en-US" sz="2000" dirty="0" smtClean="0"/>
              <a:t>의 모호함</a:t>
            </a:r>
            <a:endParaRPr lang="en-US" altLang="ko-KR" sz="2000" dirty="0" smtClean="0"/>
          </a:p>
          <a:p>
            <a:r>
              <a:rPr lang="en-US" altLang="ko-KR" sz="2000" dirty="0" smtClean="0"/>
              <a:t> └</a:t>
            </a:r>
            <a:r>
              <a:rPr lang="en-US" altLang="ko-KR" sz="2000" dirty="0"/>
              <a:t>&gt; </a:t>
            </a:r>
            <a:r>
              <a:rPr lang="ko-KR" altLang="en-US" sz="2000" dirty="0" smtClean="0"/>
              <a:t>핵심 선택 요소들과 특수 이벤트들을 간추려 구체적으로 제시할 필요가 있다</a:t>
            </a:r>
            <a:r>
              <a:rPr lang="en-US" altLang="ko-KR" sz="2000" dirty="0"/>
              <a:t>.</a:t>
            </a:r>
            <a:br>
              <a:rPr lang="en-US" altLang="ko-KR" sz="2000" dirty="0"/>
            </a:br>
            <a:r>
              <a:rPr lang="en-US" altLang="ko-KR" sz="2000" dirty="0"/>
              <a:t/>
            </a:r>
            <a:br>
              <a:rPr lang="en-US" altLang="ko-KR" sz="2000" dirty="0"/>
            </a:br>
            <a:r>
              <a:rPr lang="en-US" altLang="ko-KR" sz="2000" dirty="0"/>
              <a:t>• </a:t>
            </a:r>
            <a:r>
              <a:rPr lang="ko-KR" altLang="en-US" sz="2000" dirty="0" smtClean="0"/>
              <a:t>게임 플레이에 더욱 몰입할 수 있는 요소가 부족</a:t>
            </a:r>
            <a:endParaRPr lang="en-US" altLang="ko-KR" sz="2000" dirty="0"/>
          </a:p>
          <a:p>
            <a:r>
              <a:rPr lang="en-US" altLang="ko-KR" sz="2000" dirty="0"/>
              <a:t> └&gt; </a:t>
            </a:r>
            <a:r>
              <a:rPr lang="ko-KR" altLang="en-US" sz="2000" dirty="0" smtClean="0"/>
              <a:t>도전과제처럼 게이머의 도전 정신을 불러일으킬 수 있는 </a:t>
            </a:r>
            <a:r>
              <a:rPr lang="ko-KR" altLang="en-US" sz="2000" dirty="0" err="1" smtClean="0"/>
              <a:t>컨텐츠를</a:t>
            </a:r>
            <a:r>
              <a:rPr lang="ko-KR" altLang="en-US" sz="2000" dirty="0" smtClean="0"/>
              <a:t> 추가해야 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72</a:t>
            </a:fld>
            <a:endParaRPr lang="ko-KR" altLang="en-US" sz="1800" dirty="0"/>
          </a:p>
        </p:txBody>
      </p:sp>
    </p:spTree>
    <p:extLst>
      <p:ext uri="{BB962C8B-B14F-4D97-AF65-F5344CB8AC3E}">
        <p14:creationId xmlns:p14="http://schemas.microsoft.com/office/powerpoint/2010/main" val="239740876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1" y="1109945"/>
            <a:ext cx="11698516" cy="5078313"/>
          </a:xfrm>
          <a:prstGeom prst="rect">
            <a:avLst/>
          </a:prstGeom>
          <a:noFill/>
        </p:spPr>
        <p:txBody>
          <a:bodyPr wrap="square" rtlCol="0">
            <a:spAutoFit/>
          </a:bodyPr>
          <a:lstStyle/>
          <a:p>
            <a:pPr>
              <a:lnSpc>
                <a:spcPct val="150000"/>
              </a:lnSpc>
            </a:pPr>
            <a:r>
              <a:rPr lang="en-US" altLang="ko-KR" dirty="0" smtClean="0"/>
              <a:t>1-1) </a:t>
            </a:r>
            <a:r>
              <a:rPr lang="ko-KR" altLang="en-US" dirty="0" smtClean="0"/>
              <a:t>포켓몬스터 모바일 게임 속 전투 화면</a:t>
            </a:r>
            <a:endParaRPr lang="en-US" altLang="ko-KR" dirty="0" smtClean="0"/>
          </a:p>
          <a:p>
            <a:pPr>
              <a:lnSpc>
                <a:spcPct val="150000"/>
              </a:lnSpc>
            </a:pPr>
            <a:r>
              <a:rPr lang="en-US" altLang="ko-KR" dirty="0" smtClean="0">
                <a:hlinkClick r:id="rId2"/>
              </a:rPr>
              <a:t>https</a:t>
            </a:r>
            <a:r>
              <a:rPr lang="en-US" altLang="ko-KR" dirty="0">
                <a:hlinkClick r:id="rId2"/>
              </a:rPr>
              <a:t>://</a:t>
            </a:r>
            <a:r>
              <a:rPr lang="en-US" altLang="ko-KR" dirty="0" smtClean="0">
                <a:hlinkClick r:id="rId2"/>
              </a:rPr>
              <a:t>www.clien.net/service/board/park/12754454</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1-2</a:t>
            </a:r>
            <a:r>
              <a:rPr lang="en-US" altLang="ko-KR" dirty="0"/>
              <a:t>)</a:t>
            </a:r>
            <a:r>
              <a:rPr lang="en-US" altLang="ko-KR" dirty="0" smtClean="0"/>
              <a:t> ‘</a:t>
            </a:r>
            <a:r>
              <a:rPr lang="ko-KR" altLang="en-US" dirty="0" err="1" smtClean="0"/>
              <a:t>서머너즈</a:t>
            </a:r>
            <a:r>
              <a:rPr lang="ko-KR" altLang="en-US" dirty="0" smtClean="0"/>
              <a:t> 워</a:t>
            </a:r>
            <a:r>
              <a:rPr lang="en-US" altLang="ko-KR" dirty="0" smtClean="0"/>
              <a:t>’, </a:t>
            </a:r>
            <a:r>
              <a:rPr lang="ko-KR" altLang="en-US" dirty="0" smtClean="0"/>
              <a:t>아레나 전투 화면</a:t>
            </a:r>
            <a:endParaRPr lang="en-US" altLang="ko-KR" dirty="0" smtClean="0"/>
          </a:p>
          <a:p>
            <a:pPr>
              <a:lnSpc>
                <a:spcPct val="150000"/>
              </a:lnSpc>
            </a:pPr>
            <a:r>
              <a:rPr lang="en-US" altLang="ko-KR" dirty="0" smtClean="0">
                <a:hlinkClick r:id="rId3"/>
              </a:rPr>
              <a:t>http</a:t>
            </a:r>
            <a:r>
              <a:rPr lang="en-US" altLang="ko-KR" dirty="0">
                <a:hlinkClick r:id="rId3"/>
              </a:rPr>
              <a:t>://</a:t>
            </a:r>
            <a:r>
              <a:rPr lang="en-US" altLang="ko-KR" dirty="0" smtClean="0">
                <a:hlinkClick r:id="rId3"/>
              </a:rPr>
              <a:t>www.kukinews.com/news/article.html?no=467851</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2-1) ‘</a:t>
            </a:r>
            <a:r>
              <a:rPr lang="ko-KR" altLang="en-US" dirty="0" err="1" smtClean="0"/>
              <a:t>던그리드</a:t>
            </a:r>
            <a:r>
              <a:rPr lang="en-US" altLang="ko-KR" dirty="0" smtClean="0"/>
              <a:t>’, </a:t>
            </a:r>
            <a:r>
              <a:rPr lang="ko-KR" altLang="en-US" dirty="0" err="1" smtClean="0"/>
              <a:t>튜토리얼</a:t>
            </a:r>
            <a:r>
              <a:rPr lang="ko-KR" altLang="en-US" dirty="0" smtClean="0"/>
              <a:t> 속 던전의 출현 화면</a:t>
            </a:r>
            <a:endParaRPr lang="en-US" altLang="ko-KR" dirty="0" smtClean="0"/>
          </a:p>
          <a:p>
            <a:pPr>
              <a:lnSpc>
                <a:spcPct val="150000"/>
              </a:lnSpc>
            </a:pPr>
            <a:r>
              <a:rPr lang="en-US" altLang="ko-KR" dirty="0" smtClean="0">
                <a:hlinkClick r:id="rId4"/>
              </a:rPr>
              <a:t>https</a:t>
            </a:r>
            <a:r>
              <a:rPr lang="en-US" altLang="ko-KR" dirty="0">
                <a:hlinkClick r:id="rId4"/>
              </a:rPr>
              <a:t>://</a:t>
            </a:r>
            <a:r>
              <a:rPr lang="en-US" altLang="ko-KR" dirty="0" smtClean="0">
                <a:hlinkClick r:id="rId4"/>
              </a:rPr>
              <a:t>www.vingle.net/posts/2320991</a:t>
            </a:r>
            <a:r>
              <a:rPr lang="en-US" altLang="ko-KR" dirty="0" smtClean="0"/>
              <a:t> (</a:t>
            </a:r>
            <a:r>
              <a:rPr lang="en-US" altLang="ko-KR" dirty="0"/>
              <a:t>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-2) ‘</a:t>
            </a:r>
            <a:r>
              <a:rPr lang="ko-KR" altLang="en-US" dirty="0" err="1" smtClean="0"/>
              <a:t>다키스트</a:t>
            </a:r>
            <a:r>
              <a:rPr lang="ko-KR" altLang="en-US" dirty="0" smtClean="0"/>
              <a:t> 던전</a:t>
            </a:r>
            <a:r>
              <a:rPr lang="en-US" altLang="ko-KR" dirty="0" smtClean="0"/>
              <a:t>’, </a:t>
            </a:r>
            <a:r>
              <a:rPr lang="ko-KR" altLang="en-US" dirty="0" smtClean="0"/>
              <a:t>던전 전투 화면</a:t>
            </a:r>
            <a:endParaRPr lang="en-US" altLang="ko-KR" dirty="0" smtClean="0"/>
          </a:p>
          <a:p>
            <a:pPr>
              <a:lnSpc>
                <a:spcPct val="150000"/>
              </a:lnSpc>
            </a:pPr>
            <a:r>
              <a:rPr lang="en-US" altLang="ko-KR" dirty="0" smtClean="0">
                <a:hlinkClick r:id="rId5"/>
              </a:rPr>
              <a:t>https</a:t>
            </a:r>
            <a:r>
              <a:rPr lang="en-US" altLang="ko-KR" dirty="0">
                <a:hlinkClick r:id="rId5"/>
              </a:rPr>
              <a:t>://steamcommunity.com/sharedfiles/filedetails/?</a:t>
            </a:r>
            <a:r>
              <a:rPr lang="en-US" altLang="ko-KR" dirty="0" smtClean="0">
                <a:hlinkClick r:id="rId5"/>
              </a:rPr>
              <a:t>id=396427946</a:t>
            </a:r>
            <a:r>
              <a:rPr lang="en-US" altLang="ko-KR" dirty="0" smtClean="0"/>
              <a:t> (11</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-3) ‘</a:t>
            </a:r>
            <a:r>
              <a:rPr lang="ko-KR" altLang="en-US" dirty="0" err="1" smtClean="0"/>
              <a:t>아이작의</a:t>
            </a:r>
            <a:r>
              <a:rPr lang="ko-KR" altLang="en-US" dirty="0" smtClean="0"/>
              <a:t> </a:t>
            </a:r>
            <a:r>
              <a:rPr lang="ko-KR" altLang="en-US" dirty="0" err="1" smtClean="0"/>
              <a:t>번제</a:t>
            </a:r>
            <a:r>
              <a:rPr lang="en-US" altLang="ko-KR" dirty="0" smtClean="0"/>
              <a:t>‘, </a:t>
            </a:r>
            <a:r>
              <a:rPr lang="ko-KR" altLang="en-US" dirty="0" smtClean="0"/>
              <a:t>사망 결과 화면</a:t>
            </a:r>
            <a:endParaRPr lang="en-US" altLang="ko-KR" dirty="0" smtClean="0"/>
          </a:p>
          <a:p>
            <a:pPr>
              <a:lnSpc>
                <a:spcPct val="150000"/>
              </a:lnSpc>
            </a:pPr>
            <a:r>
              <a:rPr lang="en-US" altLang="ko-KR" dirty="0" smtClean="0">
                <a:hlinkClick r:id="rId6"/>
              </a:rPr>
              <a:t>https</a:t>
            </a:r>
            <a:r>
              <a:rPr lang="en-US" altLang="ko-KR" dirty="0">
                <a:hlinkClick r:id="rId6"/>
              </a:rPr>
              <a:t>://entropymag.org/hobby-horse-anatomy-bawdy-and-body-in-the-binding-of-isaac-ch-3</a:t>
            </a:r>
            <a:r>
              <a:rPr lang="en-US" altLang="ko-KR" dirty="0" smtClean="0">
                <a:hlinkClick r:id="rId6"/>
              </a:rPr>
              <a:t>/</a:t>
            </a:r>
            <a:r>
              <a:rPr lang="en-US" altLang="ko-KR" dirty="0" smtClean="0"/>
              <a:t> (2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-4) ‘</a:t>
            </a:r>
            <a:r>
              <a:rPr lang="ko-KR" altLang="en-US" dirty="0" smtClean="0"/>
              <a:t>던전 메이커</a:t>
            </a:r>
            <a:r>
              <a:rPr lang="en-US" altLang="ko-KR" dirty="0" smtClean="0"/>
              <a:t>’, </a:t>
            </a:r>
            <a:r>
              <a:rPr lang="ko-KR" altLang="en-US" dirty="0" smtClean="0"/>
              <a:t>보유 몬스터 화면</a:t>
            </a:r>
            <a:endParaRPr lang="en-US" altLang="ko-KR" dirty="0" smtClean="0"/>
          </a:p>
          <a:p>
            <a:pPr>
              <a:lnSpc>
                <a:spcPct val="150000"/>
              </a:lnSpc>
            </a:pPr>
            <a:r>
              <a:rPr lang="en-US" altLang="ko-KR" dirty="0">
                <a:hlinkClick r:id="rId7"/>
              </a:rPr>
              <a:t>https://</a:t>
            </a:r>
            <a:r>
              <a:rPr lang="en-US" altLang="ko-KR" dirty="0" smtClean="0">
                <a:hlinkClick r:id="rId7"/>
              </a:rPr>
              <a:t>minimap.net/game/dungeon-maker/review</a:t>
            </a:r>
            <a:r>
              <a:rPr lang="en-US" altLang="ko-KR" dirty="0" smtClean="0"/>
              <a:t> (9</a:t>
            </a:r>
            <a:r>
              <a:rPr lang="ko-KR" altLang="en-US" dirty="0" smtClean="0"/>
              <a:t>번 </a:t>
            </a:r>
            <a:r>
              <a:rPr lang="ko-KR" altLang="en-US" dirty="0" err="1"/>
              <a:t>스크린샷</a:t>
            </a:r>
            <a:r>
              <a:rPr lang="en-US" altLang="ko-KR"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73</a:t>
            </a:fld>
            <a:endParaRPr lang="ko-KR" altLang="en-US" sz="1800" dirty="0"/>
          </a:p>
        </p:txBody>
      </p:sp>
    </p:spTree>
    <p:extLst>
      <p:ext uri="{BB962C8B-B14F-4D97-AF65-F5344CB8AC3E}">
        <p14:creationId xmlns:p14="http://schemas.microsoft.com/office/powerpoint/2010/main" val="1038343422"/>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0" y="1217411"/>
            <a:ext cx="11698516" cy="5493812"/>
          </a:xfrm>
          <a:prstGeom prst="rect">
            <a:avLst/>
          </a:prstGeom>
          <a:noFill/>
        </p:spPr>
        <p:txBody>
          <a:bodyPr wrap="square" rtlCol="0">
            <a:spAutoFit/>
          </a:bodyPr>
          <a:lstStyle/>
          <a:p>
            <a:pPr>
              <a:lnSpc>
                <a:spcPct val="150000"/>
              </a:lnSpc>
            </a:pPr>
            <a:r>
              <a:rPr lang="en-US" altLang="ko-KR" dirty="0" smtClean="0"/>
              <a:t>2-5) ‘</a:t>
            </a:r>
            <a:r>
              <a:rPr lang="ko-KR" altLang="en-US" dirty="0" err="1" smtClean="0"/>
              <a:t>던그리드</a:t>
            </a:r>
            <a:r>
              <a:rPr lang="en-US" altLang="ko-KR" dirty="0" smtClean="0"/>
              <a:t>’, </a:t>
            </a:r>
            <a:r>
              <a:rPr lang="ko-KR" altLang="en-US" dirty="0" smtClean="0"/>
              <a:t>의상실 화면</a:t>
            </a:r>
            <a:endParaRPr lang="en-US" altLang="ko-KR" dirty="0" smtClean="0"/>
          </a:p>
          <a:p>
            <a:pPr>
              <a:lnSpc>
                <a:spcPct val="150000"/>
              </a:lnSpc>
            </a:pPr>
            <a:r>
              <a:rPr lang="en-US" altLang="ko-KR" dirty="0">
                <a:hlinkClick r:id="rId2"/>
              </a:rPr>
              <a:t>https://</a:t>
            </a:r>
            <a:r>
              <a:rPr lang="en-US" altLang="ko-KR" dirty="0" smtClean="0">
                <a:hlinkClick r:id="rId2"/>
              </a:rPr>
              <a:t>realust.tistory.com/506</a:t>
            </a:r>
            <a:r>
              <a:rPr lang="en-US" altLang="ko-KR" dirty="0" smtClean="0"/>
              <a:t> (4</a:t>
            </a:r>
            <a:r>
              <a:rPr lang="ko-KR" altLang="en-US" dirty="0" smtClean="0"/>
              <a:t>번 </a:t>
            </a:r>
            <a:r>
              <a:rPr lang="ko-KR" altLang="en-US" dirty="0" err="1"/>
              <a:t>스크린샷</a:t>
            </a:r>
            <a:r>
              <a:rPr lang="en-US" altLang="ko-KR" dirty="0"/>
              <a:t>)</a:t>
            </a:r>
          </a:p>
          <a:p>
            <a:pPr>
              <a:lnSpc>
                <a:spcPct val="150000"/>
              </a:lnSpc>
            </a:pPr>
            <a:r>
              <a:rPr lang="en-US" altLang="ko-KR" dirty="0" smtClean="0"/>
              <a:t>2-6) ‘</a:t>
            </a:r>
            <a:r>
              <a:rPr lang="ko-KR" altLang="en-US" dirty="0" smtClean="0"/>
              <a:t>몬스터슈퍼리그</a:t>
            </a:r>
            <a:r>
              <a:rPr lang="en-US" altLang="ko-KR" dirty="0" smtClean="0"/>
              <a:t>’, </a:t>
            </a:r>
            <a:r>
              <a:rPr lang="ko-KR" altLang="en-US" dirty="0" smtClean="0"/>
              <a:t>몬스터 획득 장면</a:t>
            </a:r>
            <a:endParaRPr lang="en-US" altLang="ko-KR" dirty="0" smtClean="0"/>
          </a:p>
          <a:p>
            <a:pPr>
              <a:lnSpc>
                <a:spcPct val="150000"/>
              </a:lnSpc>
            </a:pPr>
            <a:r>
              <a:rPr lang="en-US" altLang="ko-KR" dirty="0">
                <a:hlinkClick r:id="rId3"/>
              </a:rPr>
              <a:t>http://www.thisisgame.com/webzine/game/nboard/19/?</a:t>
            </a:r>
            <a:r>
              <a:rPr lang="en-US" altLang="ko-KR" dirty="0" smtClean="0">
                <a:hlinkClick r:id="rId3"/>
              </a:rPr>
              <a:t>page=13&amp;n=64534</a:t>
            </a:r>
            <a:r>
              <a:rPr lang="en-US" altLang="ko-KR" dirty="0" smtClean="0"/>
              <a:t> (</a:t>
            </a:r>
            <a:r>
              <a:rPr lang="en-US" altLang="ko-KR" dirty="0"/>
              <a:t>4</a:t>
            </a:r>
            <a:r>
              <a:rPr lang="ko-KR" altLang="en-US" dirty="0"/>
              <a:t>번 </a:t>
            </a:r>
            <a:r>
              <a:rPr lang="ko-KR" altLang="en-US" dirty="0" err="1"/>
              <a:t>스크린샷</a:t>
            </a:r>
            <a:r>
              <a:rPr lang="en-US" altLang="ko-KR" dirty="0"/>
              <a:t>)</a:t>
            </a:r>
          </a:p>
          <a:p>
            <a:pPr>
              <a:lnSpc>
                <a:spcPct val="150000"/>
              </a:lnSpc>
            </a:pPr>
            <a:r>
              <a:rPr lang="en-US" altLang="ko-KR" dirty="0" smtClean="0"/>
              <a:t>2-7) ‘</a:t>
            </a:r>
            <a:r>
              <a:rPr lang="ko-KR" altLang="en-US" dirty="0" err="1" smtClean="0"/>
              <a:t>마계전기</a:t>
            </a:r>
            <a:r>
              <a:rPr lang="ko-KR" altLang="en-US" dirty="0" smtClean="0"/>
              <a:t> </a:t>
            </a:r>
            <a:r>
              <a:rPr lang="ko-KR" altLang="en-US" dirty="0" err="1" smtClean="0"/>
              <a:t>디스가이아</a:t>
            </a:r>
            <a:r>
              <a:rPr lang="ko-KR" altLang="en-US" dirty="0" smtClean="0"/>
              <a:t> </a:t>
            </a:r>
            <a:r>
              <a:rPr lang="en-US" altLang="ko-KR" dirty="0" smtClean="0"/>
              <a:t>5’</a:t>
            </a:r>
          </a:p>
          <a:p>
            <a:pPr>
              <a:lnSpc>
                <a:spcPct val="150000"/>
              </a:lnSpc>
            </a:pPr>
            <a:r>
              <a:rPr lang="en-US" altLang="ko-KR" dirty="0">
                <a:hlinkClick r:id="rId4"/>
              </a:rPr>
              <a:t>http://www.thisisgame.com/pad/tboard/?</a:t>
            </a:r>
            <a:r>
              <a:rPr lang="en-US" altLang="ko-KR" dirty="0" smtClean="0">
                <a:hlinkClick r:id="rId4"/>
              </a:rPr>
              <a:t>board=37&amp;n=286482</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2-8) ‘</a:t>
            </a:r>
            <a:r>
              <a:rPr lang="ko-KR" altLang="en-US" dirty="0" err="1" smtClean="0"/>
              <a:t>미소스</a:t>
            </a:r>
            <a:r>
              <a:rPr lang="ko-KR" altLang="en-US" dirty="0" smtClean="0"/>
              <a:t> 영웅전 </a:t>
            </a:r>
            <a:r>
              <a:rPr lang="en-US" altLang="ko-KR" dirty="0" smtClean="0"/>
              <a:t>for </a:t>
            </a:r>
            <a:r>
              <a:rPr lang="en-US" altLang="ko-KR" dirty="0" err="1" smtClean="0"/>
              <a:t>kakao</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5"/>
              </a:rPr>
              <a:t>http://www.thisisgame.com/mobile/nboard/1/?</a:t>
            </a:r>
            <a:r>
              <a:rPr lang="en-US" altLang="ko-KR" dirty="0" smtClean="0">
                <a:hlinkClick r:id="rId5"/>
              </a:rPr>
              <a:t>n=55660&amp;mode=print</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2-9) ‘</a:t>
            </a:r>
            <a:r>
              <a:rPr lang="ko-KR" altLang="en-US" dirty="0" err="1" smtClean="0"/>
              <a:t>그랜드체이스</a:t>
            </a:r>
            <a:r>
              <a:rPr lang="ko-KR" altLang="en-US" dirty="0" smtClean="0"/>
              <a:t> 올스타</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6"/>
              </a:rPr>
              <a:t>http://www.thisisgame.com/mobile/nboard/1/?</a:t>
            </a:r>
            <a:r>
              <a:rPr lang="en-US" altLang="ko-KR" dirty="0" smtClean="0">
                <a:hlinkClick r:id="rId6"/>
              </a:rPr>
              <a:t>n=51285</a:t>
            </a:r>
            <a:r>
              <a:rPr lang="en-US" altLang="ko-KR" dirty="0" smtClean="0"/>
              <a:t> (2</a:t>
            </a:r>
            <a:r>
              <a:rPr lang="ko-KR" altLang="en-US" dirty="0" smtClean="0"/>
              <a:t>번 </a:t>
            </a:r>
            <a:r>
              <a:rPr lang="ko-KR" altLang="en-US" dirty="0" err="1"/>
              <a:t>스크린샷</a:t>
            </a:r>
            <a:r>
              <a:rPr lang="en-US" altLang="ko-KR" dirty="0"/>
              <a:t>)</a:t>
            </a:r>
          </a:p>
          <a:p>
            <a:pPr>
              <a:lnSpc>
                <a:spcPct val="150000"/>
              </a:lnSpc>
            </a:pPr>
            <a:r>
              <a:rPr lang="en-US" altLang="ko-KR" dirty="0"/>
              <a:t>2-10) </a:t>
            </a:r>
            <a:r>
              <a:rPr lang="en-US" altLang="ko-KR" dirty="0">
                <a:hlinkClick r:id="rId7"/>
              </a:rPr>
              <a:t>https://store.steampowered.com/app/785740/This_Is_the_Police_2/</a:t>
            </a:r>
            <a:r>
              <a:rPr lang="en-US" altLang="ko-KR" dirty="0"/>
              <a:t> (2</a:t>
            </a:r>
            <a:r>
              <a:rPr lang="ko-KR" altLang="en-US" dirty="0"/>
              <a:t>번 </a:t>
            </a:r>
            <a:r>
              <a:rPr lang="ko-KR" altLang="en-US" dirty="0" err="1"/>
              <a:t>스크린샷</a:t>
            </a:r>
            <a:r>
              <a:rPr lang="en-US" altLang="ko-KR" dirty="0"/>
              <a:t>)</a:t>
            </a:r>
          </a:p>
          <a:p>
            <a:pPr>
              <a:lnSpc>
                <a:spcPct val="150000"/>
              </a:lnSpc>
            </a:pPr>
            <a:r>
              <a:rPr lang="en-US" altLang="ko-KR" dirty="0"/>
              <a:t>2-11) </a:t>
            </a:r>
            <a:r>
              <a:rPr lang="en-US" altLang="ko-KR" dirty="0">
                <a:hlinkClick r:id="rId8"/>
              </a:rPr>
              <a:t>https://taskandpurpose.com/xcom2-war-chosen-review/</a:t>
            </a:r>
            <a:r>
              <a:rPr lang="en-US" altLang="ko-KR" dirty="0"/>
              <a:t> </a:t>
            </a:r>
          </a:p>
          <a:p>
            <a:pPr>
              <a:lnSpc>
                <a:spcPct val="150000"/>
              </a:lnSpc>
            </a:pP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74</a:t>
            </a:fld>
            <a:endParaRPr lang="ko-KR" altLang="en-US" dirty="0"/>
          </a:p>
        </p:txBody>
      </p:sp>
    </p:spTree>
    <p:extLst>
      <p:ext uri="{BB962C8B-B14F-4D97-AF65-F5344CB8AC3E}">
        <p14:creationId xmlns:p14="http://schemas.microsoft.com/office/powerpoint/2010/main" val="336750069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97713" y="892460"/>
            <a:ext cx="1436915" cy="523220"/>
          </a:xfrm>
          <a:prstGeom prst="rect">
            <a:avLst/>
          </a:prstGeom>
          <a:noFill/>
        </p:spPr>
        <p:txBody>
          <a:bodyPr wrap="square" rtlCol="0">
            <a:spAutoFit/>
          </a:bodyPr>
          <a:lstStyle/>
          <a:p>
            <a:r>
              <a:rPr lang="en-US" altLang="ko-KR" sz="2800" b="1" dirty="0">
                <a:gradFill>
                  <a:gsLst>
                    <a:gs pos="0">
                      <a:schemeClr val="tx1"/>
                    </a:gs>
                    <a:gs pos="100000">
                      <a:schemeClr val="tx1"/>
                    </a:gs>
                  </a:gsLst>
                  <a:lin ang="5400000" scaled="1"/>
                </a:gradFill>
                <a:latin typeface="맑은 고딕" panose="020B0503020000020004" pitchFamily="50" charset="-127"/>
              </a:rPr>
              <a:t>&lt;</a:t>
            </a:r>
            <a:r>
              <a:rPr lang="ko-KR" altLang="en-US" sz="2800" b="1" dirty="0" smtClean="0">
                <a:gradFill>
                  <a:gsLst>
                    <a:gs pos="0">
                      <a:schemeClr val="tx1"/>
                    </a:gs>
                    <a:gs pos="100000">
                      <a:schemeClr val="tx1"/>
                    </a:gs>
                  </a:gsLst>
                  <a:lin ang="5400000" scaled="1"/>
                </a:gradFill>
                <a:latin typeface="맑은 고딕" panose="020B0503020000020004" pitchFamily="50" charset="-127"/>
              </a:rPr>
              <a:t>부록</a:t>
            </a:r>
            <a:r>
              <a:rPr lang="en-US" altLang="ko-KR" sz="2800" b="1" dirty="0" smtClean="0">
                <a:gradFill>
                  <a:gsLst>
                    <a:gs pos="0">
                      <a:schemeClr val="tx1"/>
                    </a:gs>
                    <a:gs pos="100000">
                      <a:schemeClr val="tx1"/>
                    </a:gs>
                  </a:gsLst>
                  <a:lin ang="5400000" scaled="1"/>
                </a:gradFill>
                <a:latin typeface="맑은 고딕" panose="020B0503020000020004" pitchFamily="50" charset="-127"/>
              </a:rPr>
              <a:t>&gt;</a:t>
            </a:r>
            <a:endParaRPr lang="ko-KR" altLang="en-US" sz="2800" b="1" dirty="0">
              <a:gradFill>
                <a:gsLst>
                  <a:gs pos="0">
                    <a:schemeClr val="tx1"/>
                  </a:gs>
                  <a:gs pos="100000">
                    <a:schemeClr val="tx1"/>
                  </a:gs>
                </a:gsLst>
                <a:lin ang="5400000" scaled="1"/>
              </a:gradFill>
              <a:latin typeface="맑은 고딕" panose="020B0503020000020004" pitchFamily="50" charset="-127"/>
            </a:endParaRPr>
          </a:p>
        </p:txBody>
      </p:sp>
      <p:sp>
        <p:nvSpPr>
          <p:cNvPr id="8" name="TextBox 7"/>
          <p:cNvSpPr txBox="1"/>
          <p:nvPr/>
        </p:nvSpPr>
        <p:spPr>
          <a:xfrm>
            <a:off x="1235927" y="1763768"/>
            <a:ext cx="8403373" cy="830997"/>
          </a:xfrm>
          <a:prstGeom prst="rect">
            <a:avLst/>
          </a:prstGeom>
          <a:noFill/>
        </p:spPr>
        <p:txBody>
          <a:bodyPr wrap="square" rtlCol="0">
            <a:spAutoFit/>
          </a:bodyPr>
          <a:lstStyle/>
          <a:p>
            <a:r>
              <a:rPr lang="en-US" altLang="ko-KR" sz="2400" dirty="0"/>
              <a:t>• </a:t>
            </a:r>
            <a:r>
              <a:rPr lang="ko-KR" altLang="en-US" sz="2400" dirty="0" err="1" smtClean="0"/>
              <a:t>별첨문서</a:t>
            </a:r>
            <a:r>
              <a:rPr lang="ko-KR" altLang="en-US" sz="2400" dirty="0" smtClean="0"/>
              <a:t> </a:t>
            </a:r>
            <a:r>
              <a:rPr lang="en-US" altLang="ko-KR" sz="2400" dirty="0" smtClean="0"/>
              <a:t>‘I AM THE LAW.docx’</a:t>
            </a:r>
            <a:br>
              <a:rPr lang="en-US" altLang="ko-KR" sz="2400" dirty="0" smtClean="0"/>
            </a:br>
            <a:r>
              <a:rPr lang="en-US" altLang="ko-KR" sz="2400" dirty="0" smtClean="0"/>
              <a:t>  (PPT </a:t>
            </a:r>
            <a:r>
              <a:rPr lang="ko-KR" altLang="en-US" sz="2400" dirty="0" smtClean="0"/>
              <a:t>제작 전</a:t>
            </a:r>
            <a:r>
              <a:rPr lang="en-US" altLang="ko-KR" sz="2400" dirty="0" smtClean="0"/>
              <a:t>, </a:t>
            </a:r>
            <a:r>
              <a:rPr lang="ko-KR" altLang="en-US" sz="2400" dirty="0" smtClean="0"/>
              <a:t>기획 내용 작성 및 정리를 위한 워드 문서</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75</a:t>
            </a:fld>
            <a:endParaRPr lang="ko-KR" altLang="en-US" dirty="0"/>
          </a:p>
        </p:txBody>
      </p:sp>
    </p:spTree>
    <p:extLst>
      <p:ext uri="{BB962C8B-B14F-4D97-AF65-F5344CB8AC3E}">
        <p14:creationId xmlns:p14="http://schemas.microsoft.com/office/powerpoint/2010/main" val="3234959608"/>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감사합니다</a:t>
            </a:r>
            <a:r>
              <a:rPr lang="en-US" altLang="ko-KR" sz="4800" b="1" spc="-150" dirty="0" smtClean="0">
                <a:gradFill>
                  <a:gsLst>
                    <a:gs pos="0">
                      <a:prstClr val="white"/>
                    </a:gs>
                    <a:gs pos="100000">
                      <a:prstClr val="white"/>
                    </a:gs>
                  </a:gsLst>
                  <a:lin ang="5400000" scaled="1"/>
                </a:gradFill>
                <a:latin typeface="+mj-ea"/>
                <a:ea typeface="+mj-ea"/>
              </a:rPr>
              <a:t>.</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76</a:t>
            </a:fld>
            <a:endParaRPr lang="ko-KR" altLang="en-US" dirty="0">
              <a:solidFill>
                <a:prstClr val="black">
                  <a:tint val="75000"/>
                </a:prstClr>
              </a:solidFill>
            </a:endParaRPr>
          </a:p>
        </p:txBody>
      </p:sp>
    </p:spTree>
    <p:extLst>
      <p:ext uri="{BB962C8B-B14F-4D97-AF65-F5344CB8AC3E}">
        <p14:creationId xmlns:p14="http://schemas.microsoft.com/office/powerpoint/2010/main" val="340783957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6851</TotalTime>
  <Words>4445</Words>
  <Application>Microsoft Office PowerPoint</Application>
  <PresentationFormat>사용자 지정</PresentationFormat>
  <Paragraphs>1579</Paragraphs>
  <Slides>76</Slides>
  <Notes>2</Notes>
  <HiddenSlides>0</HiddenSlides>
  <MMClips>0</MMClips>
  <ScaleCrop>false</ScaleCrop>
  <HeadingPairs>
    <vt:vector size="6" baseType="variant">
      <vt:variant>
        <vt:lpstr>사용한 글꼴</vt:lpstr>
      </vt:variant>
      <vt:variant>
        <vt:i4>6</vt:i4>
      </vt:variant>
      <vt:variant>
        <vt:lpstr>테마</vt:lpstr>
      </vt:variant>
      <vt:variant>
        <vt:i4>2</vt:i4>
      </vt:variant>
      <vt:variant>
        <vt:lpstr>슬라이드 제목</vt:lpstr>
      </vt:variant>
      <vt:variant>
        <vt:i4>76</vt:i4>
      </vt:variant>
    </vt:vector>
  </HeadingPairs>
  <TitlesOfParts>
    <vt:vector size="84" baseType="lpstr">
      <vt:lpstr>굴림</vt:lpstr>
      <vt:lpstr>Arial</vt:lpstr>
      <vt:lpstr>맑은 고딕</vt:lpstr>
      <vt:lpstr>210 앱굴림 R</vt:lpstr>
      <vt:lpstr>HY견명조</vt:lpstr>
      <vt:lpstr>돋움</vt:lpstr>
      <vt:lpstr>Office 테마</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YEONGBEOM KIM</dc:creator>
  <cp:lastModifiedBy>user</cp:lastModifiedBy>
  <cp:revision>478</cp:revision>
  <dcterms:created xsi:type="dcterms:W3CDTF">2017-06-15T12:10:59Z</dcterms:created>
  <dcterms:modified xsi:type="dcterms:W3CDTF">2019-01-11T08:23:33Z</dcterms:modified>
</cp:coreProperties>
</file>