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48" r:id="rId1"/>
    <p:sldMasterId id="2147483660" r:id="rId2"/>
  </p:sldMasterIdLst>
  <p:notesMasterIdLst>
    <p:notesMasterId r:id="rId93"/>
  </p:notesMasterIdLst>
  <p:sldIdLst>
    <p:sldId id="273" r:id="rId3"/>
    <p:sldId id="260" r:id="rId4"/>
    <p:sldId id="375" r:id="rId5"/>
    <p:sldId id="288" r:id="rId6"/>
    <p:sldId id="289" r:id="rId7"/>
    <p:sldId id="341" r:id="rId8"/>
    <p:sldId id="266" r:id="rId9"/>
    <p:sldId id="290" r:id="rId10"/>
    <p:sldId id="342" r:id="rId11"/>
    <p:sldId id="276" r:id="rId12"/>
    <p:sldId id="339" r:id="rId13"/>
    <p:sldId id="332" r:id="rId14"/>
    <p:sldId id="291" r:id="rId15"/>
    <p:sldId id="333" r:id="rId16"/>
    <p:sldId id="334" r:id="rId17"/>
    <p:sldId id="343" r:id="rId18"/>
    <p:sldId id="329" r:id="rId19"/>
    <p:sldId id="353" r:id="rId20"/>
    <p:sldId id="347" r:id="rId21"/>
    <p:sldId id="348" r:id="rId22"/>
    <p:sldId id="349" r:id="rId23"/>
    <p:sldId id="351" r:id="rId24"/>
    <p:sldId id="350" r:id="rId25"/>
    <p:sldId id="352" r:id="rId26"/>
    <p:sldId id="355" r:id="rId27"/>
    <p:sldId id="382" r:id="rId28"/>
    <p:sldId id="381" r:id="rId29"/>
    <p:sldId id="380" r:id="rId30"/>
    <p:sldId id="384" r:id="rId31"/>
    <p:sldId id="385" r:id="rId32"/>
    <p:sldId id="388" r:id="rId33"/>
    <p:sldId id="386" r:id="rId34"/>
    <p:sldId id="387" r:id="rId35"/>
    <p:sldId id="379" r:id="rId36"/>
    <p:sldId id="383" r:id="rId37"/>
    <p:sldId id="378" r:id="rId38"/>
    <p:sldId id="330" r:id="rId39"/>
    <p:sldId id="340" r:id="rId40"/>
    <p:sldId id="335" r:id="rId41"/>
    <p:sldId id="356" r:id="rId42"/>
    <p:sldId id="357" r:id="rId43"/>
    <p:sldId id="358" r:id="rId44"/>
    <p:sldId id="359" r:id="rId45"/>
    <p:sldId id="360" r:id="rId46"/>
    <p:sldId id="376" r:id="rId47"/>
    <p:sldId id="361" r:id="rId48"/>
    <p:sldId id="362" r:id="rId49"/>
    <p:sldId id="363" r:id="rId50"/>
    <p:sldId id="364" r:id="rId51"/>
    <p:sldId id="365" r:id="rId52"/>
    <p:sldId id="366" r:id="rId53"/>
    <p:sldId id="367" r:id="rId54"/>
    <p:sldId id="368" r:id="rId55"/>
    <p:sldId id="370" r:id="rId56"/>
    <p:sldId id="369" r:id="rId57"/>
    <p:sldId id="371" r:id="rId58"/>
    <p:sldId id="373" r:id="rId59"/>
    <p:sldId id="372" r:id="rId60"/>
    <p:sldId id="374" r:id="rId61"/>
    <p:sldId id="377" r:id="rId62"/>
    <p:sldId id="354" r:id="rId63"/>
    <p:sldId id="336" r:id="rId64"/>
    <p:sldId id="338" r:id="rId65"/>
    <p:sldId id="337" r:id="rId66"/>
    <p:sldId id="315" r:id="rId67"/>
    <p:sldId id="325" r:id="rId68"/>
    <p:sldId id="316" r:id="rId69"/>
    <p:sldId id="317" r:id="rId70"/>
    <p:sldId id="318" r:id="rId71"/>
    <p:sldId id="324" r:id="rId72"/>
    <p:sldId id="323" r:id="rId73"/>
    <p:sldId id="327" r:id="rId74"/>
    <p:sldId id="328" r:id="rId75"/>
    <p:sldId id="319" r:id="rId76"/>
    <p:sldId id="320" r:id="rId77"/>
    <p:sldId id="321" r:id="rId78"/>
    <p:sldId id="326" r:id="rId79"/>
    <p:sldId id="322" r:id="rId80"/>
    <p:sldId id="294" r:id="rId81"/>
    <p:sldId id="293" r:id="rId82"/>
    <p:sldId id="295" r:id="rId83"/>
    <p:sldId id="308" r:id="rId84"/>
    <p:sldId id="296" r:id="rId85"/>
    <p:sldId id="309" r:id="rId86"/>
    <p:sldId id="302" r:id="rId87"/>
    <p:sldId id="303" r:id="rId88"/>
    <p:sldId id="306" r:id="rId89"/>
    <p:sldId id="314" r:id="rId90"/>
    <p:sldId id="307" r:id="rId91"/>
    <p:sldId id="275" r:id="rId92"/>
  </p:sldIdLst>
  <p:sldSz cx="12192000" cy="6858000"/>
  <p:notesSz cx="6858000" cy="9144000"/>
  <p:embeddedFontLst>
    <p:embeddedFont>
      <p:font typeface="맑은 고딕" panose="020B0503020000020004" pitchFamily="50" charset="-127"/>
      <p:regular r:id="rId94"/>
      <p:bold r:id="rId95"/>
    </p:embeddedFont>
    <p:embeddedFont>
      <p:font typeface="HY견명조" panose="02030600000101010101" pitchFamily="18" charset="-127"/>
      <p:regular r:id="rId96"/>
    </p:embeddedFont>
    <p:embeddedFont>
      <p:font typeface="210 앱굴림 R" panose="02020603020101020101" pitchFamily="18" charset="-127"/>
      <p:regular r:id="rId97"/>
    </p:embeddedFont>
  </p:embeddedFontLst>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indows 사용자" initials="W사" lastIdx="1" clrIdx="0">
    <p:extLst>
      <p:ext uri="{19B8F6BF-5375-455C-9EA6-DF929625EA0E}">
        <p15:presenceInfo xmlns:p15="http://schemas.microsoft.com/office/powerpoint/2012/main" userId="Windows 사용자" providerId="None"/>
      </p:ext>
    </p:extLst>
  </p:cmAuthor>
  <p:cmAuthor id="2" name="user" initials="u" lastIdx="19"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BC10F"/>
    <a:srgbClr val="88B6E0"/>
    <a:srgbClr val="8EBAE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505E3EF-67EA-436B-97B2-0124C06EBD24}" styleName="보통 스타일 4 - 강조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EB344D84-9AFB-497E-A393-DC336BA19D2E}" styleName="보통 스타일 3 - 강조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661" autoAdjust="0"/>
    <p:restoredTop sz="94660" autoAdjust="0"/>
  </p:normalViewPr>
  <p:slideViewPr>
    <p:cSldViewPr snapToGrid="0">
      <p:cViewPr varScale="1">
        <p:scale>
          <a:sx n="76" d="100"/>
          <a:sy n="76" d="100"/>
        </p:scale>
        <p:origin x="102" y="960"/>
      </p:cViewPr>
      <p:guideLst>
        <p:guide orient="horz" pos="2160"/>
        <p:guide pos="3840"/>
      </p:guideLst>
    </p:cSldViewPr>
  </p:slideViewPr>
  <p:outlineViewPr>
    <p:cViewPr>
      <p:scale>
        <a:sx n="33" d="100"/>
        <a:sy n="33" d="100"/>
      </p:scale>
      <p:origin x="0" y="142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slide" Target="slides/slide82.xml"/><Relationship Id="rId89" Type="http://schemas.openxmlformats.org/officeDocument/2006/relationships/slide" Target="slides/slide87.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102" Type="http://schemas.openxmlformats.org/officeDocument/2006/relationships/tableStyles" Target="tableStyles.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font" Target="fonts/font2.fntdata"/><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openxmlformats.org/officeDocument/2006/relationships/slide" Target="slides/slide81.xml"/><Relationship Id="rId88" Type="http://schemas.openxmlformats.org/officeDocument/2006/relationships/slide" Target="slides/slide86.xml"/><Relationship Id="rId91" Type="http://schemas.openxmlformats.org/officeDocument/2006/relationships/slide" Target="slides/slide89.xml"/><Relationship Id="rId96"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slide" Target="slides/slide79.xml"/><Relationship Id="rId86" Type="http://schemas.openxmlformats.org/officeDocument/2006/relationships/slide" Target="slides/slide84.xml"/><Relationship Id="rId94" Type="http://schemas.openxmlformats.org/officeDocument/2006/relationships/font" Target="fonts/font1.fntdata"/><Relationship Id="rId99" Type="http://schemas.openxmlformats.org/officeDocument/2006/relationships/presProps" Target="presProps.xml"/><Relationship Id="rId101"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font" Target="fonts/font4.fntdata"/><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viewProps" Target="viewProps.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notesMaster" Target="notesMasters/notesMaster1.xml"/><Relationship Id="rId98" Type="http://schemas.openxmlformats.org/officeDocument/2006/relationships/commentAuthors" Target="commentAuthors.xml"/><Relationship Id="rId3"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3DEB80D-BC7F-423F-9B95-3633B0A8F55B}" type="datetimeFigureOut">
              <a:rPr lang="ko-KR" altLang="en-US" smtClean="0"/>
              <a:t>2019-01-12</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smtClean="0"/>
              <a:t>마스터 텍스트 스타일 편집</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894FA5D-5FE6-4026-B2CA-93DADBB0FBE6}" type="slidenum">
              <a:rPr lang="ko-KR" altLang="en-US" smtClean="0"/>
              <a:t>‹#›</a:t>
            </a:fld>
            <a:endParaRPr lang="ko-KR" altLang="en-US"/>
          </a:p>
        </p:txBody>
      </p:sp>
    </p:spTree>
    <p:extLst>
      <p:ext uri="{BB962C8B-B14F-4D97-AF65-F5344CB8AC3E}">
        <p14:creationId xmlns:p14="http://schemas.microsoft.com/office/powerpoint/2010/main" val="826345389"/>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B894FA5D-5FE6-4026-B2CA-93DADBB0FBE6}" type="slidenum">
              <a:rPr lang="ko-KR" altLang="en-US" smtClean="0"/>
              <a:t>1</a:t>
            </a:fld>
            <a:endParaRPr lang="ko-KR" altLang="en-US"/>
          </a:p>
        </p:txBody>
      </p:sp>
    </p:spTree>
    <p:extLst>
      <p:ext uri="{BB962C8B-B14F-4D97-AF65-F5344CB8AC3E}">
        <p14:creationId xmlns:p14="http://schemas.microsoft.com/office/powerpoint/2010/main" val="8672180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B894FA5D-5FE6-4026-B2CA-93DADBB0FBE6}" type="slidenum">
              <a:rPr lang="ko-KR" altLang="en-US" smtClean="0"/>
              <a:t>2</a:t>
            </a:fld>
            <a:endParaRPr lang="ko-KR" altLang="en-US"/>
          </a:p>
        </p:txBody>
      </p:sp>
    </p:spTree>
    <p:extLst>
      <p:ext uri="{BB962C8B-B14F-4D97-AF65-F5344CB8AC3E}">
        <p14:creationId xmlns:p14="http://schemas.microsoft.com/office/powerpoint/2010/main" val="40761300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p:cNvSpPr>
            <a:spLocks noGrp="1"/>
          </p:cNvSpPr>
          <p:nvPr>
            <p:ph type="dt" sz="half" idx="10"/>
          </p:nvPr>
        </p:nvSpPr>
        <p:spPr/>
        <p:txBody>
          <a:bodyPr/>
          <a:lstStyle/>
          <a:p>
            <a:fld id="{EC3AB0CA-3A26-4F16-8C8D-1B3625A31A00}" type="datetime1">
              <a:rPr lang="ko-KR" altLang="en-US" smtClean="0"/>
              <a:t>2019-01-12</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24738389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F7685CB9-AAEC-4501-983B-23D9B3A40981}" type="datetime1">
              <a:rPr lang="ko-KR" altLang="en-US" smtClean="0"/>
              <a:t>2019-01-12</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29291150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 편집</a:t>
            </a:r>
          </a:p>
        </p:txBody>
      </p:sp>
      <p:sp>
        <p:nvSpPr>
          <p:cNvPr id="4" name="날짜 개체 틀 3"/>
          <p:cNvSpPr>
            <a:spLocks noGrp="1"/>
          </p:cNvSpPr>
          <p:nvPr>
            <p:ph type="dt" sz="half" idx="10"/>
          </p:nvPr>
        </p:nvSpPr>
        <p:spPr/>
        <p:txBody>
          <a:bodyPr/>
          <a:lstStyle/>
          <a:p>
            <a:fld id="{1D2FE8F3-BBC3-4016-B12E-DEE91B8C70D1}" type="datetime1">
              <a:rPr lang="ko-KR" altLang="en-US" smtClean="0"/>
              <a:t>2019-01-12</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4485902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838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6172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4"/>
          <p:cNvSpPr>
            <a:spLocks noGrp="1"/>
          </p:cNvSpPr>
          <p:nvPr>
            <p:ph type="dt" sz="half" idx="10"/>
          </p:nvPr>
        </p:nvSpPr>
        <p:spPr/>
        <p:txBody>
          <a:bodyPr/>
          <a:lstStyle/>
          <a:p>
            <a:fld id="{666A834B-F951-4846-895A-0477317BA5B4}" type="datetime1">
              <a:rPr lang="ko-KR" altLang="en-US" smtClean="0"/>
              <a:t>2019-01-12</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5269813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4" name="내용 개체 틀 3"/>
          <p:cNvSpPr>
            <a:spLocks noGrp="1"/>
          </p:cNvSpPr>
          <p:nvPr>
            <p:ph sz="half" idx="2"/>
          </p:nvPr>
        </p:nvSpPr>
        <p:spPr>
          <a:xfrm>
            <a:off x="839788" y="2505075"/>
            <a:ext cx="5157787"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6" name="내용 개체 틀 5"/>
          <p:cNvSpPr>
            <a:spLocks noGrp="1"/>
          </p:cNvSpPr>
          <p:nvPr>
            <p:ph sz="quarter" idx="4"/>
          </p:nvPr>
        </p:nvSpPr>
        <p:spPr>
          <a:xfrm>
            <a:off x="6172200" y="2505075"/>
            <a:ext cx="5183188"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6"/>
          <p:cNvSpPr>
            <a:spLocks noGrp="1"/>
          </p:cNvSpPr>
          <p:nvPr>
            <p:ph type="dt" sz="half" idx="10"/>
          </p:nvPr>
        </p:nvSpPr>
        <p:spPr/>
        <p:txBody>
          <a:bodyPr/>
          <a:lstStyle/>
          <a:p>
            <a:fld id="{5B85590D-5B44-4A15-A6FA-238D48DB53C8}" type="datetime1">
              <a:rPr lang="ko-KR" altLang="en-US" smtClean="0"/>
              <a:t>2019-01-12</a:t>
            </a:fld>
            <a:endParaRPr lang="ko-KR" altLang="en-US"/>
          </a:p>
        </p:txBody>
      </p:sp>
      <p:sp>
        <p:nvSpPr>
          <p:cNvPr id="8" name="바닥글 개체 틀 7"/>
          <p:cNvSpPr>
            <a:spLocks noGrp="1"/>
          </p:cNvSpPr>
          <p:nvPr>
            <p:ph type="ftr" sz="quarter" idx="11"/>
          </p:nvPr>
        </p:nvSpPr>
        <p:spPr/>
        <p:txBody>
          <a:bodyPr/>
          <a:lstStyle/>
          <a:p>
            <a:endParaRPr lang="ko-KR" altLang="en-US"/>
          </a:p>
        </p:txBody>
      </p:sp>
      <p:sp>
        <p:nvSpPr>
          <p:cNvPr id="9" name="슬라이드 번호 개체 틀 8"/>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41492631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2"/>
          <p:cNvSpPr>
            <a:spLocks noGrp="1"/>
          </p:cNvSpPr>
          <p:nvPr>
            <p:ph type="dt" sz="half" idx="10"/>
          </p:nvPr>
        </p:nvSpPr>
        <p:spPr/>
        <p:txBody>
          <a:bodyPr/>
          <a:lstStyle/>
          <a:p>
            <a:fld id="{5E312041-A6D6-4EAF-81C3-6AF3590D9B2E}" type="datetime1">
              <a:rPr lang="ko-KR" altLang="en-US" smtClean="0"/>
              <a:t>2019-01-12</a:t>
            </a:fld>
            <a:endParaRPr lang="ko-KR" altLang="en-US"/>
          </a:p>
        </p:txBody>
      </p:sp>
      <p:sp>
        <p:nvSpPr>
          <p:cNvPr id="4" name="바닥글 개체 틀 3"/>
          <p:cNvSpPr>
            <a:spLocks noGrp="1"/>
          </p:cNvSpPr>
          <p:nvPr>
            <p:ph type="ftr" sz="quarter" idx="11"/>
          </p:nvPr>
        </p:nvSpPr>
        <p:spPr/>
        <p:txBody>
          <a:bodyPr/>
          <a:lstStyle/>
          <a:p>
            <a:endParaRPr lang="ko-KR" altLang="en-US"/>
          </a:p>
        </p:txBody>
      </p:sp>
      <p:sp>
        <p:nvSpPr>
          <p:cNvPr id="5" name="슬라이드 번호 개체 틀 4"/>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9805592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p:cNvSpPr>
            <a:spLocks noGrp="1"/>
          </p:cNvSpPr>
          <p:nvPr>
            <p:ph type="dt" sz="half" idx="10"/>
          </p:nvPr>
        </p:nvSpPr>
        <p:spPr/>
        <p:txBody>
          <a:bodyPr/>
          <a:lstStyle/>
          <a:p>
            <a:fld id="{BE6731DD-6728-4529-B4AC-150F5EA6CDA5}" type="datetime1">
              <a:rPr lang="ko-KR" altLang="en-US" smtClean="0"/>
              <a:t>2019-01-12</a:t>
            </a:fld>
            <a:endParaRPr lang="ko-KR" altLang="en-US"/>
          </a:p>
        </p:txBody>
      </p:sp>
      <p:sp>
        <p:nvSpPr>
          <p:cNvPr id="3" name="바닥글 개체 틀 2"/>
          <p:cNvSpPr>
            <a:spLocks noGrp="1"/>
          </p:cNvSpPr>
          <p:nvPr>
            <p:ph type="ftr" sz="quarter" idx="11"/>
          </p:nvPr>
        </p:nvSpPr>
        <p:spPr/>
        <p:txBody>
          <a:bodyPr/>
          <a:lstStyle/>
          <a:p>
            <a:endParaRPr lang="ko-KR" altLang="en-US"/>
          </a:p>
        </p:txBody>
      </p:sp>
      <p:sp>
        <p:nvSpPr>
          <p:cNvPr id="4" name="슬라이드 번호 개체 틀 3"/>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29534369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p:cNvSpPr>
            <a:spLocks noGrp="1"/>
          </p:cNvSpPr>
          <p:nvPr>
            <p:ph type="dt" sz="half" idx="10"/>
          </p:nvPr>
        </p:nvSpPr>
        <p:spPr/>
        <p:txBody>
          <a:bodyPr/>
          <a:lstStyle/>
          <a:p>
            <a:fld id="{2412BC3E-02B2-4BA3-88C6-D876B9132BEE}" type="datetime1">
              <a:rPr lang="ko-KR" altLang="en-US" smtClean="0"/>
              <a:t>2019-01-12</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3124902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p:cNvSpPr>
            <a:spLocks noGrp="1"/>
          </p:cNvSpPr>
          <p:nvPr>
            <p:ph type="dt" sz="half" idx="10"/>
          </p:nvPr>
        </p:nvSpPr>
        <p:spPr/>
        <p:txBody>
          <a:bodyPr/>
          <a:lstStyle/>
          <a:p>
            <a:fld id="{A791F1B8-4AB0-450E-BA30-A393CBEEE0B9}" type="datetime1">
              <a:rPr lang="ko-KR" altLang="en-US" smtClean="0"/>
              <a:t>2019-01-12</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7861540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96B5077E-4D09-4D7F-AED2-3ECFB52B4B2F}" type="datetime1">
              <a:rPr lang="ko-KR" altLang="en-US" smtClean="0"/>
              <a:t>2019-01-12</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30754554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838200" y="365125"/>
            <a:ext cx="7734300" cy="5811838"/>
          </a:xfrm>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F804BD64-D2A7-4DBC-9C22-C35FF2171F88}" type="datetime1">
              <a:rPr lang="ko-KR" altLang="en-US" smtClean="0"/>
              <a:t>2019-01-12</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33591916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p:cNvSpPr>
            <a:spLocks noGrp="1"/>
          </p:cNvSpPr>
          <p:nvPr>
            <p:ph type="dt" sz="half" idx="10"/>
          </p:nvPr>
        </p:nvSpPr>
        <p:spPr/>
        <p:txBody>
          <a:bodyPr/>
          <a:lstStyle/>
          <a:p>
            <a:fld id="{09789B80-0F68-4808-8308-7E8CB701F80B}" type="datetime1">
              <a:rPr lang="ko-KR" altLang="en-US" smtClean="0">
                <a:solidFill>
                  <a:prstClr val="black">
                    <a:tint val="75000"/>
                  </a:prstClr>
                </a:solidFill>
              </a:rPr>
              <a:t>2019-01-12</a:t>
            </a:fld>
            <a:endParaRPr lang="ko-KR" altLang="en-US">
              <a:solidFill>
                <a:prstClr val="black">
                  <a:tint val="75000"/>
                </a:prstClr>
              </a:solidFill>
            </a:endParaRPr>
          </a:p>
        </p:txBody>
      </p:sp>
      <p:sp>
        <p:nvSpPr>
          <p:cNvPr id="5" name="바닥글 개체 틀 4"/>
          <p:cNvSpPr>
            <a:spLocks noGrp="1"/>
          </p:cNvSpPr>
          <p:nvPr>
            <p:ph type="ftr" sz="quarter" idx="11"/>
          </p:nvPr>
        </p:nvSpPr>
        <p:spPr/>
        <p:txBody>
          <a:bodyPr/>
          <a:lstStyle/>
          <a:p>
            <a:endParaRPr lang="ko-KR" altLang="en-US">
              <a:solidFill>
                <a:prstClr val="black">
                  <a:tint val="75000"/>
                </a:prstClr>
              </a:solidFill>
            </a:endParaRPr>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6927013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38146DA0-A543-443B-9976-4C13D64EFF49}" type="datetime1">
              <a:rPr lang="ko-KR" altLang="en-US" smtClean="0">
                <a:solidFill>
                  <a:prstClr val="black">
                    <a:tint val="75000"/>
                  </a:prstClr>
                </a:solidFill>
              </a:rPr>
              <a:t>2019-01-12</a:t>
            </a:fld>
            <a:endParaRPr lang="ko-KR" altLang="en-US">
              <a:solidFill>
                <a:prstClr val="black">
                  <a:tint val="75000"/>
                </a:prstClr>
              </a:solidFill>
            </a:endParaRPr>
          </a:p>
        </p:txBody>
      </p:sp>
      <p:sp>
        <p:nvSpPr>
          <p:cNvPr id="5" name="바닥글 개체 틀 4"/>
          <p:cNvSpPr>
            <a:spLocks noGrp="1"/>
          </p:cNvSpPr>
          <p:nvPr>
            <p:ph type="ftr" sz="quarter" idx="11"/>
          </p:nvPr>
        </p:nvSpPr>
        <p:spPr/>
        <p:txBody>
          <a:bodyPr/>
          <a:lstStyle/>
          <a:p>
            <a:endParaRPr lang="ko-KR" altLang="en-US">
              <a:solidFill>
                <a:prstClr val="black">
                  <a:tint val="75000"/>
                </a:prstClr>
              </a:solidFill>
            </a:endParaRPr>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8034367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 편집</a:t>
            </a:r>
          </a:p>
        </p:txBody>
      </p:sp>
      <p:sp>
        <p:nvSpPr>
          <p:cNvPr id="4" name="날짜 개체 틀 3"/>
          <p:cNvSpPr>
            <a:spLocks noGrp="1"/>
          </p:cNvSpPr>
          <p:nvPr>
            <p:ph type="dt" sz="half" idx="10"/>
          </p:nvPr>
        </p:nvSpPr>
        <p:spPr/>
        <p:txBody>
          <a:bodyPr/>
          <a:lstStyle/>
          <a:p>
            <a:fld id="{04E0AC1A-42E2-4BCB-8C04-467EB6812828}" type="datetime1">
              <a:rPr lang="ko-KR" altLang="en-US" smtClean="0">
                <a:solidFill>
                  <a:prstClr val="black">
                    <a:tint val="75000"/>
                  </a:prstClr>
                </a:solidFill>
              </a:rPr>
              <a:t>2019-01-12</a:t>
            </a:fld>
            <a:endParaRPr lang="ko-KR" altLang="en-US">
              <a:solidFill>
                <a:prstClr val="black">
                  <a:tint val="75000"/>
                </a:prstClr>
              </a:solidFill>
            </a:endParaRPr>
          </a:p>
        </p:txBody>
      </p:sp>
      <p:sp>
        <p:nvSpPr>
          <p:cNvPr id="5" name="바닥글 개체 틀 4"/>
          <p:cNvSpPr>
            <a:spLocks noGrp="1"/>
          </p:cNvSpPr>
          <p:nvPr>
            <p:ph type="ftr" sz="quarter" idx="11"/>
          </p:nvPr>
        </p:nvSpPr>
        <p:spPr/>
        <p:txBody>
          <a:bodyPr/>
          <a:lstStyle/>
          <a:p>
            <a:endParaRPr lang="ko-KR" altLang="en-US">
              <a:solidFill>
                <a:prstClr val="black">
                  <a:tint val="75000"/>
                </a:prstClr>
              </a:solidFill>
            </a:endParaRPr>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163638617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838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6172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4"/>
          <p:cNvSpPr>
            <a:spLocks noGrp="1"/>
          </p:cNvSpPr>
          <p:nvPr>
            <p:ph type="dt" sz="half" idx="10"/>
          </p:nvPr>
        </p:nvSpPr>
        <p:spPr/>
        <p:txBody>
          <a:bodyPr/>
          <a:lstStyle/>
          <a:p>
            <a:fld id="{78C9E740-A4F3-48E1-ADE5-C768671A5022}" type="datetime1">
              <a:rPr lang="ko-KR" altLang="en-US" smtClean="0">
                <a:solidFill>
                  <a:prstClr val="black">
                    <a:tint val="75000"/>
                  </a:prstClr>
                </a:solidFill>
              </a:rPr>
              <a:t>2019-01-12</a:t>
            </a:fld>
            <a:endParaRPr lang="ko-KR" altLang="en-US">
              <a:solidFill>
                <a:prstClr val="black">
                  <a:tint val="75000"/>
                </a:prstClr>
              </a:solidFill>
            </a:endParaRPr>
          </a:p>
        </p:txBody>
      </p:sp>
      <p:sp>
        <p:nvSpPr>
          <p:cNvPr id="6" name="바닥글 개체 틀 5"/>
          <p:cNvSpPr>
            <a:spLocks noGrp="1"/>
          </p:cNvSpPr>
          <p:nvPr>
            <p:ph type="ftr" sz="quarter" idx="11"/>
          </p:nvPr>
        </p:nvSpPr>
        <p:spPr/>
        <p:txBody>
          <a:bodyPr/>
          <a:lstStyle/>
          <a:p>
            <a:endParaRPr lang="ko-KR" altLang="en-US">
              <a:solidFill>
                <a:prstClr val="black">
                  <a:tint val="75000"/>
                </a:prstClr>
              </a:solidFill>
            </a:endParaRPr>
          </a:p>
        </p:txBody>
      </p:sp>
      <p:sp>
        <p:nvSpPr>
          <p:cNvPr id="7" name="슬라이드 번호 개체 틀 6"/>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350285278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4" name="내용 개체 틀 3"/>
          <p:cNvSpPr>
            <a:spLocks noGrp="1"/>
          </p:cNvSpPr>
          <p:nvPr>
            <p:ph sz="half" idx="2"/>
          </p:nvPr>
        </p:nvSpPr>
        <p:spPr>
          <a:xfrm>
            <a:off x="839788" y="2505075"/>
            <a:ext cx="5157787"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6" name="내용 개체 틀 5"/>
          <p:cNvSpPr>
            <a:spLocks noGrp="1"/>
          </p:cNvSpPr>
          <p:nvPr>
            <p:ph sz="quarter" idx="4"/>
          </p:nvPr>
        </p:nvSpPr>
        <p:spPr>
          <a:xfrm>
            <a:off x="6172200" y="2505075"/>
            <a:ext cx="5183188"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6"/>
          <p:cNvSpPr>
            <a:spLocks noGrp="1"/>
          </p:cNvSpPr>
          <p:nvPr>
            <p:ph type="dt" sz="half" idx="10"/>
          </p:nvPr>
        </p:nvSpPr>
        <p:spPr/>
        <p:txBody>
          <a:bodyPr/>
          <a:lstStyle/>
          <a:p>
            <a:fld id="{FB71890C-30A4-4F38-AE2E-EDCBC5B32417}" type="datetime1">
              <a:rPr lang="ko-KR" altLang="en-US" smtClean="0">
                <a:solidFill>
                  <a:prstClr val="black">
                    <a:tint val="75000"/>
                  </a:prstClr>
                </a:solidFill>
              </a:rPr>
              <a:t>2019-01-12</a:t>
            </a:fld>
            <a:endParaRPr lang="ko-KR" altLang="en-US">
              <a:solidFill>
                <a:prstClr val="black">
                  <a:tint val="75000"/>
                </a:prstClr>
              </a:solidFill>
            </a:endParaRPr>
          </a:p>
        </p:txBody>
      </p:sp>
      <p:sp>
        <p:nvSpPr>
          <p:cNvPr id="8" name="바닥글 개체 틀 7"/>
          <p:cNvSpPr>
            <a:spLocks noGrp="1"/>
          </p:cNvSpPr>
          <p:nvPr>
            <p:ph type="ftr" sz="quarter" idx="11"/>
          </p:nvPr>
        </p:nvSpPr>
        <p:spPr/>
        <p:txBody>
          <a:bodyPr/>
          <a:lstStyle/>
          <a:p>
            <a:endParaRPr lang="ko-KR" altLang="en-US">
              <a:solidFill>
                <a:prstClr val="black">
                  <a:tint val="75000"/>
                </a:prstClr>
              </a:solidFill>
            </a:endParaRPr>
          </a:p>
        </p:txBody>
      </p:sp>
      <p:sp>
        <p:nvSpPr>
          <p:cNvPr id="9" name="슬라이드 번호 개체 틀 8"/>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424856477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2"/>
          <p:cNvSpPr>
            <a:spLocks noGrp="1"/>
          </p:cNvSpPr>
          <p:nvPr>
            <p:ph type="dt" sz="half" idx="10"/>
          </p:nvPr>
        </p:nvSpPr>
        <p:spPr/>
        <p:txBody>
          <a:bodyPr/>
          <a:lstStyle/>
          <a:p>
            <a:fld id="{562C9AAE-3A71-4E68-B2DF-A4796799849E}" type="datetime1">
              <a:rPr lang="ko-KR" altLang="en-US" smtClean="0">
                <a:solidFill>
                  <a:prstClr val="black">
                    <a:tint val="75000"/>
                  </a:prstClr>
                </a:solidFill>
              </a:rPr>
              <a:t>2019-01-12</a:t>
            </a:fld>
            <a:endParaRPr lang="ko-KR" altLang="en-US">
              <a:solidFill>
                <a:prstClr val="black">
                  <a:tint val="75000"/>
                </a:prstClr>
              </a:solidFill>
            </a:endParaRPr>
          </a:p>
        </p:txBody>
      </p:sp>
      <p:sp>
        <p:nvSpPr>
          <p:cNvPr id="4" name="바닥글 개체 틀 3"/>
          <p:cNvSpPr>
            <a:spLocks noGrp="1"/>
          </p:cNvSpPr>
          <p:nvPr>
            <p:ph type="ftr" sz="quarter" idx="11"/>
          </p:nvPr>
        </p:nvSpPr>
        <p:spPr/>
        <p:txBody>
          <a:bodyPr/>
          <a:lstStyle/>
          <a:p>
            <a:endParaRPr lang="ko-KR" altLang="en-US">
              <a:solidFill>
                <a:prstClr val="black">
                  <a:tint val="75000"/>
                </a:prstClr>
              </a:solidFill>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283759307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p:cNvSpPr>
            <a:spLocks noGrp="1"/>
          </p:cNvSpPr>
          <p:nvPr>
            <p:ph type="dt" sz="half" idx="10"/>
          </p:nvPr>
        </p:nvSpPr>
        <p:spPr/>
        <p:txBody>
          <a:bodyPr/>
          <a:lstStyle/>
          <a:p>
            <a:fld id="{1B4F376A-881F-4F83-8BAA-2452AC86BF07}" type="datetime1">
              <a:rPr lang="ko-KR" altLang="en-US" smtClean="0">
                <a:solidFill>
                  <a:prstClr val="black">
                    <a:tint val="75000"/>
                  </a:prstClr>
                </a:solidFill>
              </a:rPr>
              <a:t>2019-01-12</a:t>
            </a:fld>
            <a:endParaRPr lang="ko-KR" altLang="en-US">
              <a:solidFill>
                <a:prstClr val="black">
                  <a:tint val="75000"/>
                </a:prstClr>
              </a:solidFill>
            </a:endParaRPr>
          </a:p>
        </p:txBody>
      </p:sp>
      <p:sp>
        <p:nvSpPr>
          <p:cNvPr id="3" name="바닥글 개체 틀 2"/>
          <p:cNvSpPr>
            <a:spLocks noGrp="1"/>
          </p:cNvSpPr>
          <p:nvPr>
            <p:ph type="ftr" sz="quarter" idx="11"/>
          </p:nvPr>
        </p:nvSpPr>
        <p:spPr/>
        <p:txBody>
          <a:bodyPr/>
          <a:lstStyle/>
          <a:p>
            <a:endParaRPr lang="ko-KR" altLang="en-US">
              <a:solidFill>
                <a:prstClr val="black">
                  <a:tint val="75000"/>
                </a:prstClr>
              </a:solidFill>
            </a:endParaRPr>
          </a:p>
        </p:txBody>
      </p:sp>
      <p:sp>
        <p:nvSpPr>
          <p:cNvPr id="4" name="슬라이드 번호 개체 틀 3"/>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349115324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p:cNvSpPr>
            <a:spLocks noGrp="1"/>
          </p:cNvSpPr>
          <p:nvPr>
            <p:ph type="dt" sz="half" idx="10"/>
          </p:nvPr>
        </p:nvSpPr>
        <p:spPr/>
        <p:txBody>
          <a:bodyPr/>
          <a:lstStyle/>
          <a:p>
            <a:fld id="{277745D6-926D-49A4-A0BD-75E92CE8DBD3}" type="datetime1">
              <a:rPr lang="ko-KR" altLang="en-US" smtClean="0">
                <a:solidFill>
                  <a:prstClr val="black">
                    <a:tint val="75000"/>
                  </a:prstClr>
                </a:solidFill>
              </a:rPr>
              <a:t>2019-01-12</a:t>
            </a:fld>
            <a:endParaRPr lang="ko-KR" altLang="en-US">
              <a:solidFill>
                <a:prstClr val="black">
                  <a:tint val="75000"/>
                </a:prstClr>
              </a:solidFill>
            </a:endParaRPr>
          </a:p>
        </p:txBody>
      </p:sp>
      <p:sp>
        <p:nvSpPr>
          <p:cNvPr id="6" name="바닥글 개체 틀 5"/>
          <p:cNvSpPr>
            <a:spLocks noGrp="1"/>
          </p:cNvSpPr>
          <p:nvPr>
            <p:ph type="ftr" sz="quarter" idx="11"/>
          </p:nvPr>
        </p:nvSpPr>
        <p:spPr/>
        <p:txBody>
          <a:bodyPr/>
          <a:lstStyle/>
          <a:p>
            <a:endParaRPr lang="ko-KR" altLang="en-US">
              <a:solidFill>
                <a:prstClr val="black">
                  <a:tint val="75000"/>
                </a:prstClr>
              </a:solidFill>
            </a:endParaRPr>
          </a:p>
        </p:txBody>
      </p:sp>
      <p:sp>
        <p:nvSpPr>
          <p:cNvPr id="7" name="슬라이드 번호 개체 틀 6"/>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189347107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p:cNvSpPr>
            <a:spLocks noGrp="1"/>
          </p:cNvSpPr>
          <p:nvPr>
            <p:ph type="dt" sz="half" idx="10"/>
          </p:nvPr>
        </p:nvSpPr>
        <p:spPr/>
        <p:txBody>
          <a:bodyPr/>
          <a:lstStyle/>
          <a:p>
            <a:fld id="{8B1A9945-754F-4F4C-BDBA-3A0C250A3228}" type="datetime1">
              <a:rPr lang="ko-KR" altLang="en-US" smtClean="0">
                <a:solidFill>
                  <a:prstClr val="black">
                    <a:tint val="75000"/>
                  </a:prstClr>
                </a:solidFill>
              </a:rPr>
              <a:t>2019-01-12</a:t>
            </a:fld>
            <a:endParaRPr lang="ko-KR" altLang="en-US">
              <a:solidFill>
                <a:prstClr val="black">
                  <a:tint val="75000"/>
                </a:prstClr>
              </a:solidFill>
            </a:endParaRPr>
          </a:p>
        </p:txBody>
      </p:sp>
      <p:sp>
        <p:nvSpPr>
          <p:cNvPr id="6" name="바닥글 개체 틀 5"/>
          <p:cNvSpPr>
            <a:spLocks noGrp="1"/>
          </p:cNvSpPr>
          <p:nvPr>
            <p:ph type="ftr" sz="quarter" idx="11"/>
          </p:nvPr>
        </p:nvSpPr>
        <p:spPr/>
        <p:txBody>
          <a:bodyPr/>
          <a:lstStyle/>
          <a:p>
            <a:endParaRPr lang="ko-KR" altLang="en-US">
              <a:solidFill>
                <a:prstClr val="black">
                  <a:tint val="75000"/>
                </a:prstClr>
              </a:solidFill>
            </a:endParaRPr>
          </a:p>
        </p:txBody>
      </p:sp>
      <p:sp>
        <p:nvSpPr>
          <p:cNvPr id="7" name="슬라이드 번호 개체 틀 6"/>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258742890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8DF61253-3998-40D1-84D1-14DDCA9B525D}" type="datetime1">
              <a:rPr lang="ko-KR" altLang="en-US" smtClean="0">
                <a:solidFill>
                  <a:prstClr val="black">
                    <a:tint val="75000"/>
                  </a:prstClr>
                </a:solidFill>
              </a:rPr>
              <a:t>2019-01-12</a:t>
            </a:fld>
            <a:endParaRPr lang="ko-KR" altLang="en-US">
              <a:solidFill>
                <a:prstClr val="black">
                  <a:tint val="75000"/>
                </a:prstClr>
              </a:solidFill>
            </a:endParaRPr>
          </a:p>
        </p:txBody>
      </p:sp>
      <p:sp>
        <p:nvSpPr>
          <p:cNvPr id="5" name="바닥글 개체 틀 4"/>
          <p:cNvSpPr>
            <a:spLocks noGrp="1"/>
          </p:cNvSpPr>
          <p:nvPr>
            <p:ph type="ftr" sz="quarter" idx="11"/>
          </p:nvPr>
        </p:nvSpPr>
        <p:spPr/>
        <p:txBody>
          <a:bodyPr/>
          <a:lstStyle/>
          <a:p>
            <a:endParaRPr lang="ko-KR" altLang="en-US">
              <a:solidFill>
                <a:prstClr val="black">
                  <a:tint val="75000"/>
                </a:prstClr>
              </a:solidFill>
            </a:endParaRPr>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126470526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838200" y="365125"/>
            <a:ext cx="7734300" cy="5811838"/>
          </a:xfrm>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DC893902-BCC8-459F-A9CB-F37808573195}" type="datetime1">
              <a:rPr lang="ko-KR" altLang="en-US" smtClean="0">
                <a:solidFill>
                  <a:prstClr val="black">
                    <a:tint val="75000"/>
                  </a:prstClr>
                </a:solidFill>
              </a:rPr>
              <a:t>2019-01-12</a:t>
            </a:fld>
            <a:endParaRPr lang="ko-KR" altLang="en-US">
              <a:solidFill>
                <a:prstClr val="black">
                  <a:tint val="75000"/>
                </a:prstClr>
              </a:solidFill>
            </a:endParaRPr>
          </a:p>
        </p:txBody>
      </p:sp>
      <p:sp>
        <p:nvSpPr>
          <p:cNvPr id="5" name="바닥글 개체 틀 4"/>
          <p:cNvSpPr>
            <a:spLocks noGrp="1"/>
          </p:cNvSpPr>
          <p:nvPr>
            <p:ph type="ftr" sz="quarter" idx="11"/>
          </p:nvPr>
        </p:nvSpPr>
        <p:spPr/>
        <p:txBody>
          <a:bodyPr/>
          <a:lstStyle/>
          <a:p>
            <a:endParaRPr lang="ko-KR" altLang="en-US">
              <a:solidFill>
                <a:prstClr val="black">
                  <a:tint val="75000"/>
                </a:prstClr>
              </a:solidFill>
            </a:endParaRPr>
          </a:p>
        </p:txBody>
      </p:sp>
      <p:sp>
        <p:nvSpPr>
          <p:cNvPr id="6" name="슬라이드 번호 개체 틀 5"/>
          <p:cNvSpPr>
            <a:spLocks noGrp="1"/>
          </p:cNvSpPr>
          <p:nvPr>
            <p:ph type="sldNum" sz="quarter" idx="12"/>
          </p:nvPr>
        </p:nvSpPr>
        <p:spPr/>
        <p:txBody>
          <a:body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13458482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E784D16-1F4A-4F5E-B3BB-0CA00F5D809F}" type="datetime1">
              <a:rPr lang="ko-KR" altLang="en-US" smtClean="0"/>
              <a:t>2019-01-12</a:t>
            </a:fld>
            <a:endParaRPr lang="ko-KR" altLang="en-US"/>
          </a:p>
        </p:txBody>
      </p:sp>
      <p:sp>
        <p:nvSpPr>
          <p:cNvPr id="5" name="바닥글 개체 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5F8FB6C-4300-4EF3-AEA9-23A98D8A74E1}" type="slidenum">
              <a:rPr lang="ko-KR" altLang="en-US" smtClean="0"/>
              <a:t>‹#›</a:t>
            </a:fld>
            <a:endParaRPr lang="ko-KR" altLang="en-US"/>
          </a:p>
        </p:txBody>
      </p:sp>
    </p:spTree>
    <p:extLst>
      <p:ext uri="{BB962C8B-B14F-4D97-AF65-F5344CB8AC3E}">
        <p14:creationId xmlns:p14="http://schemas.microsoft.com/office/powerpoint/2010/main" val="283080903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463CA10-B9BB-4BE8-B178-00EC3ABEC49F}" type="datetime1">
              <a:rPr lang="ko-KR" altLang="en-US" smtClean="0">
                <a:solidFill>
                  <a:prstClr val="black">
                    <a:tint val="75000"/>
                  </a:prstClr>
                </a:solidFill>
              </a:rPr>
              <a:t>2019-01-12</a:t>
            </a:fld>
            <a:endParaRPr lang="ko-KR" altLang="en-US">
              <a:solidFill>
                <a:prstClr val="black">
                  <a:tint val="75000"/>
                </a:prstClr>
              </a:solidFill>
            </a:endParaRPr>
          </a:p>
        </p:txBody>
      </p:sp>
      <p:sp>
        <p:nvSpPr>
          <p:cNvPr id="5" name="바닥글 개체 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solidFill>
                <a:prstClr val="black">
                  <a:tint val="75000"/>
                </a:prstClr>
              </a:solidFill>
            </a:endParaRPr>
          </a:p>
        </p:txBody>
      </p:sp>
      <p:sp>
        <p:nvSpPr>
          <p:cNvPr id="6" name="슬라이드 번호 개체 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5F8FB6C-4300-4EF3-AEA9-23A98D8A74E1}" type="slidenum">
              <a:rPr lang="ko-KR" altLang="en-US" smtClean="0">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377338588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image" Target="../media/image8.jp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4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4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4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4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4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5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5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5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5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5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5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hyperlink" Target="http://www.kukinews.com/news/article.html?no=467851" TargetMode="External"/><Relationship Id="rId7" Type="http://schemas.openxmlformats.org/officeDocument/2006/relationships/hyperlink" Target="https://minimap.net/game/dungeon-maker/review" TargetMode="External"/><Relationship Id="rId2" Type="http://schemas.openxmlformats.org/officeDocument/2006/relationships/hyperlink" Target="https://www.clien.net/service/board/park/12754454" TargetMode="External"/><Relationship Id="rId1" Type="http://schemas.openxmlformats.org/officeDocument/2006/relationships/slideLayout" Target="../slideLayouts/slideLayout2.xml"/><Relationship Id="rId6" Type="http://schemas.openxmlformats.org/officeDocument/2006/relationships/hyperlink" Target="https://entropymag.org/hobby-horse-anatomy-bawdy-and-body-in-the-binding-of-isaac-ch-3/" TargetMode="External"/><Relationship Id="rId5" Type="http://schemas.openxmlformats.org/officeDocument/2006/relationships/hyperlink" Target="https://steamcommunity.com/sharedfiles/filedetails/?id=396427946" TargetMode="External"/><Relationship Id="rId4" Type="http://schemas.openxmlformats.org/officeDocument/2006/relationships/hyperlink" Target="https://www.vingle.net/posts/2320991" TargetMode="External"/></Relationships>
</file>

<file path=ppt/slides/_rels/slide88.xml.rels><?xml version="1.0" encoding="UTF-8" standalone="yes"?>
<Relationships xmlns="http://schemas.openxmlformats.org/package/2006/relationships"><Relationship Id="rId8" Type="http://schemas.openxmlformats.org/officeDocument/2006/relationships/hyperlink" Target="https://taskandpurpose.com/xcom2-war-chosen-review/" TargetMode="External"/><Relationship Id="rId3" Type="http://schemas.openxmlformats.org/officeDocument/2006/relationships/hyperlink" Target="http://www.thisisgame.com/webzine/game/nboard/19/?page=13&amp;n=64534" TargetMode="External"/><Relationship Id="rId7" Type="http://schemas.openxmlformats.org/officeDocument/2006/relationships/hyperlink" Target="https://store.steampowered.com/app/785740/This_Is_the_Police_2/" TargetMode="External"/><Relationship Id="rId2" Type="http://schemas.openxmlformats.org/officeDocument/2006/relationships/hyperlink" Target="https://realust.tistory.com/506" TargetMode="External"/><Relationship Id="rId1" Type="http://schemas.openxmlformats.org/officeDocument/2006/relationships/slideLayout" Target="../slideLayouts/slideLayout2.xml"/><Relationship Id="rId6" Type="http://schemas.openxmlformats.org/officeDocument/2006/relationships/hyperlink" Target="http://www.thisisgame.com/mobile/nboard/1/?n=51285" TargetMode="External"/><Relationship Id="rId5" Type="http://schemas.openxmlformats.org/officeDocument/2006/relationships/hyperlink" Target="http://www.thisisgame.com/mobile/nboard/1/?n=55660&amp;mode=print" TargetMode="External"/><Relationship Id="rId4" Type="http://schemas.openxmlformats.org/officeDocument/2006/relationships/hyperlink" Target="http://www.thisisgame.com/pad/tboard/?board=37&amp;n=286482" TargetMode="Externa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cxnSp>
        <p:nvCxnSpPr>
          <p:cNvPr id="7" name="직선 연결선 6"/>
          <p:cNvCxnSpPr/>
          <p:nvPr/>
        </p:nvCxnSpPr>
        <p:spPr>
          <a:xfrm flipH="1">
            <a:off x="0" y="580571"/>
            <a:ext cx="12467772" cy="6277429"/>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grpSp>
        <p:nvGrpSpPr>
          <p:cNvPr id="2" name="그룹 1"/>
          <p:cNvGrpSpPr/>
          <p:nvPr/>
        </p:nvGrpSpPr>
        <p:grpSpPr>
          <a:xfrm>
            <a:off x="3066386" y="3090656"/>
            <a:ext cx="6716243" cy="2906180"/>
            <a:chOff x="3066386" y="3090656"/>
            <a:chExt cx="6716243" cy="2906180"/>
          </a:xfrm>
          <a:solidFill>
            <a:schemeClr val="tx1"/>
          </a:solidFill>
        </p:grpSpPr>
        <p:sp>
          <p:nvSpPr>
            <p:cNvPr id="11" name="TextBox 10"/>
            <p:cNvSpPr txBox="1"/>
            <p:nvPr/>
          </p:nvSpPr>
          <p:spPr>
            <a:xfrm>
              <a:off x="3066386" y="3090656"/>
              <a:ext cx="6059229" cy="830997"/>
            </a:xfrm>
            <a:prstGeom prst="rect">
              <a:avLst/>
            </a:prstGeom>
            <a:grpFill/>
          </p:spPr>
          <p:txBody>
            <a:bodyPr wrap="square" rtlCol="0">
              <a:spAutoFit/>
            </a:bodyPr>
            <a:lstStyle/>
            <a:p>
              <a:pPr algn="ctr"/>
              <a:r>
                <a:rPr lang="en-US" altLang="ko-KR" sz="4800" i="1" spc="-150" dirty="0" smtClean="0">
                  <a:gradFill>
                    <a:gsLst>
                      <a:gs pos="0">
                        <a:prstClr val="white"/>
                      </a:gs>
                      <a:gs pos="100000">
                        <a:prstClr val="white"/>
                      </a:gs>
                    </a:gsLst>
                    <a:lin ang="5400000" scaled="1"/>
                  </a:gradFill>
                  <a:effectLst>
                    <a:glow rad="139700">
                      <a:schemeClr val="bg1">
                        <a:alpha val="20000"/>
                      </a:schemeClr>
                    </a:glow>
                  </a:effectLst>
                  <a:latin typeface="HY견명조" panose="02030600000101010101" pitchFamily="18" charset="-127"/>
                  <a:ea typeface="HY견명조" panose="02030600000101010101" pitchFamily="18" charset="-127"/>
                </a:rPr>
                <a:t>Dungeon Tamer</a:t>
              </a:r>
              <a:endParaRPr lang="ko-KR" altLang="en-US" sz="4800" i="1" spc="-150" dirty="0">
                <a:gradFill>
                  <a:gsLst>
                    <a:gs pos="0">
                      <a:prstClr val="white"/>
                    </a:gs>
                    <a:gs pos="100000">
                      <a:prstClr val="white"/>
                    </a:gs>
                  </a:gsLst>
                  <a:lin ang="5400000" scaled="1"/>
                </a:gradFill>
                <a:effectLst>
                  <a:glow rad="139700">
                    <a:schemeClr val="bg1">
                      <a:alpha val="20000"/>
                    </a:schemeClr>
                  </a:glow>
                </a:effectLst>
                <a:latin typeface="HY견명조" panose="02030600000101010101" pitchFamily="18" charset="-127"/>
                <a:ea typeface="HY견명조" panose="02030600000101010101" pitchFamily="18" charset="-127"/>
              </a:endParaRPr>
            </a:p>
          </p:txBody>
        </p:sp>
        <p:sp>
          <p:nvSpPr>
            <p:cNvPr id="9" name="TextBox 8"/>
            <p:cNvSpPr txBox="1"/>
            <p:nvPr/>
          </p:nvSpPr>
          <p:spPr>
            <a:xfrm>
              <a:off x="3066386" y="5658282"/>
              <a:ext cx="6716243" cy="338554"/>
            </a:xfrm>
            <a:prstGeom prst="rect">
              <a:avLst/>
            </a:prstGeom>
            <a:grpFill/>
          </p:spPr>
          <p:txBody>
            <a:bodyPr wrap="square" rtlCol="0">
              <a:spAutoFit/>
            </a:bodyPr>
            <a:lstStyle/>
            <a:p>
              <a:endParaRPr lang="ko-KR" altLang="en-US" sz="1600" b="1" dirty="0">
                <a:gradFill>
                  <a:gsLst>
                    <a:gs pos="0">
                      <a:schemeClr val="bg1"/>
                    </a:gs>
                    <a:gs pos="100000">
                      <a:schemeClr val="bg1"/>
                    </a:gs>
                  </a:gsLst>
                  <a:lin ang="5400000" scaled="1"/>
                </a:gradFill>
                <a:latin typeface="+mj-ea"/>
                <a:ea typeface="+mj-ea"/>
              </a:endParaRPr>
            </a:p>
          </p:txBody>
        </p:sp>
      </p:grpSp>
      <p:sp>
        <p:nvSpPr>
          <p:cNvPr id="5" name="직사각형 4"/>
          <p:cNvSpPr/>
          <p:nvPr/>
        </p:nvSpPr>
        <p:spPr>
          <a:xfrm>
            <a:off x="5164487" y="4596452"/>
            <a:ext cx="5834440" cy="923330"/>
          </a:xfrm>
          <a:prstGeom prst="rect">
            <a:avLst/>
          </a:prstGeom>
        </p:spPr>
        <p:txBody>
          <a:bodyPr wrap="square">
            <a:spAutoFit/>
          </a:bodyPr>
          <a:lstStyle/>
          <a:p>
            <a:r>
              <a:rPr lang="ko-KR" altLang="ko-KR" dirty="0">
                <a:solidFill>
                  <a:schemeClr val="bg1"/>
                </a:solidFill>
                <a:latin typeface="+mn-ea"/>
              </a:rPr>
              <a:t>던전을 탐험하며 몬스터를 물리치고</a:t>
            </a:r>
            <a:r>
              <a:rPr lang="en-US" altLang="ko-KR" dirty="0">
                <a:solidFill>
                  <a:schemeClr val="bg1"/>
                </a:solidFill>
                <a:latin typeface="+mn-ea"/>
              </a:rPr>
              <a:t>, </a:t>
            </a:r>
            <a:r>
              <a:rPr lang="ko-KR" altLang="ko-KR" dirty="0">
                <a:solidFill>
                  <a:schemeClr val="bg1"/>
                </a:solidFill>
                <a:latin typeface="+mn-ea"/>
              </a:rPr>
              <a:t>처치한 </a:t>
            </a:r>
            <a:r>
              <a:rPr lang="ko-KR" altLang="ko-KR" dirty="0" smtClean="0">
                <a:solidFill>
                  <a:schemeClr val="bg1"/>
                </a:solidFill>
                <a:latin typeface="+mn-ea"/>
              </a:rPr>
              <a:t>몬스터를</a:t>
            </a:r>
            <a:endParaRPr lang="en-US" altLang="ko-KR" dirty="0" smtClean="0">
              <a:solidFill>
                <a:schemeClr val="bg1"/>
              </a:solidFill>
              <a:latin typeface="+mn-ea"/>
            </a:endParaRPr>
          </a:p>
          <a:p>
            <a:r>
              <a:rPr lang="ko-KR" altLang="ko-KR" dirty="0" smtClean="0">
                <a:solidFill>
                  <a:schemeClr val="bg1"/>
                </a:solidFill>
                <a:latin typeface="+mn-ea"/>
              </a:rPr>
              <a:t>자신의 </a:t>
            </a:r>
            <a:r>
              <a:rPr lang="ko-KR" altLang="ko-KR" dirty="0">
                <a:solidFill>
                  <a:schemeClr val="bg1"/>
                </a:solidFill>
                <a:latin typeface="+mn-ea"/>
              </a:rPr>
              <a:t>것으로 만들어 </a:t>
            </a:r>
            <a:r>
              <a:rPr lang="ko-KR" altLang="en-US" dirty="0" smtClean="0">
                <a:solidFill>
                  <a:schemeClr val="bg1"/>
                </a:solidFill>
                <a:latin typeface="+mn-ea"/>
              </a:rPr>
              <a:t>다양한 전략적 조합을 편성</a:t>
            </a:r>
            <a:r>
              <a:rPr lang="ko-KR" altLang="ko-KR" dirty="0" smtClean="0">
                <a:solidFill>
                  <a:schemeClr val="bg1"/>
                </a:solidFill>
                <a:latin typeface="+mn-ea"/>
              </a:rPr>
              <a:t>하여</a:t>
            </a:r>
            <a:endParaRPr lang="en-US" altLang="ko-KR" dirty="0" smtClean="0">
              <a:solidFill>
                <a:schemeClr val="bg1"/>
              </a:solidFill>
              <a:latin typeface="+mn-ea"/>
            </a:endParaRPr>
          </a:p>
          <a:p>
            <a:r>
              <a:rPr lang="ko-KR" altLang="ko-KR" dirty="0" err="1" smtClean="0">
                <a:solidFill>
                  <a:schemeClr val="bg1"/>
                </a:solidFill>
                <a:latin typeface="+mn-ea"/>
              </a:rPr>
              <a:t>던전</a:t>
            </a:r>
            <a:r>
              <a:rPr lang="ko-KR" altLang="ko-KR" dirty="0" smtClean="0">
                <a:solidFill>
                  <a:schemeClr val="bg1"/>
                </a:solidFill>
                <a:latin typeface="+mn-ea"/>
              </a:rPr>
              <a:t> </a:t>
            </a:r>
            <a:r>
              <a:rPr lang="ko-KR" altLang="ko-KR" dirty="0" err="1">
                <a:solidFill>
                  <a:schemeClr val="bg1"/>
                </a:solidFill>
                <a:latin typeface="+mn-ea"/>
              </a:rPr>
              <a:t>최심부까지</a:t>
            </a:r>
            <a:r>
              <a:rPr lang="ko-KR" altLang="ko-KR" dirty="0">
                <a:solidFill>
                  <a:schemeClr val="bg1"/>
                </a:solidFill>
                <a:latin typeface="+mn-ea"/>
              </a:rPr>
              <a:t> 정복하는 </a:t>
            </a:r>
            <a:r>
              <a:rPr lang="ko-KR" altLang="en-US" dirty="0" err="1" smtClean="0">
                <a:solidFill>
                  <a:schemeClr val="bg1"/>
                </a:solidFill>
                <a:latin typeface="+mn-ea"/>
              </a:rPr>
              <a:t>로그라이크</a:t>
            </a:r>
            <a:r>
              <a:rPr lang="ko-KR" altLang="ko-KR" dirty="0" smtClean="0">
                <a:solidFill>
                  <a:schemeClr val="bg1"/>
                </a:solidFill>
                <a:latin typeface="+mn-ea"/>
              </a:rPr>
              <a:t> </a:t>
            </a:r>
            <a:r>
              <a:rPr lang="ko-KR" altLang="en-US" dirty="0" err="1" smtClean="0">
                <a:solidFill>
                  <a:schemeClr val="bg1"/>
                </a:solidFill>
                <a:latin typeface="+mn-ea"/>
              </a:rPr>
              <a:t>턴제</a:t>
            </a:r>
            <a:r>
              <a:rPr lang="ko-KR" altLang="en-US" dirty="0" smtClean="0">
                <a:solidFill>
                  <a:schemeClr val="bg1"/>
                </a:solidFill>
                <a:latin typeface="+mn-ea"/>
              </a:rPr>
              <a:t> </a:t>
            </a:r>
            <a:r>
              <a:rPr lang="en-US" altLang="ko-KR" dirty="0" smtClean="0">
                <a:solidFill>
                  <a:schemeClr val="bg1"/>
                </a:solidFill>
                <a:latin typeface="+mn-ea"/>
              </a:rPr>
              <a:t>RPG </a:t>
            </a:r>
            <a:r>
              <a:rPr lang="ko-KR" altLang="ko-KR" dirty="0">
                <a:solidFill>
                  <a:schemeClr val="bg1"/>
                </a:solidFill>
                <a:latin typeface="+mn-ea"/>
              </a:rPr>
              <a:t>게임</a:t>
            </a: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1</a:t>
            </a:fld>
            <a:endParaRPr lang="ko-KR" altLang="en-US" sz="1800" dirty="0"/>
          </a:p>
        </p:txBody>
      </p:sp>
    </p:spTree>
    <p:extLst>
      <p:ext uri="{BB962C8B-B14F-4D97-AF65-F5344CB8AC3E}">
        <p14:creationId xmlns:p14="http://schemas.microsoft.com/office/powerpoint/2010/main" val="3032194565"/>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4" name="직사각형 33"/>
          <p:cNvSpPr/>
          <p:nvPr/>
        </p:nvSpPr>
        <p:spPr>
          <a:xfrm>
            <a:off x="2944830" y="209989"/>
            <a:ext cx="9082006" cy="6431797"/>
          </a:xfrm>
          <a:prstGeom prst="rect">
            <a:avLst/>
          </a:prstGeom>
          <a:solidFill>
            <a:schemeClr val="bg1"/>
          </a:solidFill>
          <a:ln w="635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p:cNvSpPr/>
          <p:nvPr/>
        </p:nvSpPr>
        <p:spPr>
          <a:xfrm>
            <a:off x="123871" y="0"/>
            <a:ext cx="323914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TextBox 4"/>
          <p:cNvSpPr txBox="1"/>
          <p:nvPr/>
        </p:nvSpPr>
        <p:spPr>
          <a:xfrm>
            <a:off x="123871" y="626716"/>
            <a:ext cx="3239146" cy="584775"/>
          </a:xfrm>
          <a:prstGeom prst="rect">
            <a:avLst/>
          </a:prstGeom>
          <a:noFill/>
        </p:spPr>
        <p:txBody>
          <a:bodyPr wrap="square" rtlCol="0">
            <a:spAutoFit/>
          </a:bodyPr>
          <a:lstStyle/>
          <a:p>
            <a:pPr algn="ctr"/>
            <a:r>
              <a:rPr lang="ko-KR" altLang="en-US" sz="3200" b="1" dirty="0" smtClean="0">
                <a:gradFill>
                  <a:gsLst>
                    <a:gs pos="0">
                      <a:schemeClr val="bg1"/>
                    </a:gs>
                    <a:gs pos="100000">
                      <a:schemeClr val="bg1"/>
                    </a:gs>
                  </a:gsLst>
                  <a:lin ang="5400000" scaled="1"/>
                </a:gradFill>
                <a:latin typeface="+mj-ea"/>
                <a:ea typeface="+mj-ea"/>
              </a:rPr>
              <a:t>목차</a:t>
            </a:r>
            <a:endParaRPr lang="ko-KR" altLang="en-US" sz="3200" b="1" dirty="0">
              <a:gradFill>
                <a:gsLst>
                  <a:gs pos="0">
                    <a:schemeClr val="bg1"/>
                  </a:gs>
                  <a:gs pos="100000">
                    <a:schemeClr val="bg1"/>
                  </a:gs>
                </a:gsLst>
                <a:lin ang="5400000" scaled="1"/>
              </a:gradFill>
              <a:latin typeface="+mj-ea"/>
              <a:ea typeface="+mj-ea"/>
            </a:endParaRPr>
          </a:p>
        </p:txBody>
      </p:sp>
      <p:cxnSp>
        <p:nvCxnSpPr>
          <p:cNvPr id="7" name="직선 연결선 6"/>
          <p:cNvCxnSpPr/>
          <p:nvPr/>
        </p:nvCxnSpPr>
        <p:spPr>
          <a:xfrm flipH="1">
            <a:off x="123871" y="1244817"/>
            <a:ext cx="1183038" cy="713219"/>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직선 연결선 10"/>
          <p:cNvCxnSpPr/>
          <p:nvPr/>
        </p:nvCxnSpPr>
        <p:spPr>
          <a:xfrm flipH="1">
            <a:off x="2393154" y="9034"/>
            <a:ext cx="975566" cy="588140"/>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직선 연결선 11"/>
          <p:cNvCxnSpPr>
            <a:endCxn id="4" idx="3"/>
          </p:cNvCxnSpPr>
          <p:nvPr/>
        </p:nvCxnSpPr>
        <p:spPr>
          <a:xfrm>
            <a:off x="123871" y="1952786"/>
            <a:ext cx="3239146" cy="1476214"/>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4127868" y="628787"/>
            <a:ext cx="7599138"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 컨셉 및 개요   〮〮〮〮〮〮〮〮〮〮〮〮〮〮〮〮〮〮〮〮〮〮〮〮〮〮〮〮〮〮〮〮〮〮〮〮〮〮〮  </a:t>
            </a:r>
            <a:r>
              <a:rPr lang="en-US" altLang="ko-KR"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3" name="TextBox 22"/>
          <p:cNvSpPr txBox="1"/>
          <p:nvPr/>
        </p:nvSpPr>
        <p:spPr>
          <a:xfrm>
            <a:off x="4127868" y="3024604"/>
            <a:ext cx="7599137"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   〮〮〮〮〮〮〮〮〮〮〮〮〮〮〮〮〮〮〮〮〮〮〮〮〮〮〮〮〮〮〮〮〮〮〮〮〮〮〮〮〮〮〮〮〮〮〮〮〮〮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41" name="TextBox 40"/>
          <p:cNvSpPr txBox="1"/>
          <p:nvPr/>
        </p:nvSpPr>
        <p:spPr>
          <a:xfrm>
            <a:off x="5470435" y="3529592"/>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2-1.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세계관</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44" name="TextBox 43"/>
          <p:cNvSpPr txBox="1"/>
          <p:nvPr/>
        </p:nvSpPr>
        <p:spPr>
          <a:xfrm>
            <a:off x="5470435" y="4092636"/>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2-2. </a:t>
            </a:r>
            <a:r>
              <a:rPr lang="ko-KR" altLang="en-US" sz="2200"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로그라이트</a:t>
            </a:r>
            <a:endPar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45" name="TextBox 44"/>
          <p:cNvSpPr txBox="1"/>
          <p:nvPr/>
        </p:nvSpPr>
        <p:spPr>
          <a:xfrm>
            <a:off x="5468973" y="4653316"/>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2-3.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개성 있는 </a:t>
            </a:r>
            <a:r>
              <a:rPr lang="ko-KR" altLang="en-US" sz="2200" b="1" dirty="0" smtClean="0">
                <a:gradFill>
                  <a:gsLst>
                    <a:gs pos="0">
                      <a:schemeClr val="tx1"/>
                    </a:gs>
                    <a:gs pos="100000">
                      <a:schemeClr val="tx1"/>
                    </a:gs>
                  </a:gsLst>
                  <a:lin ang="5400000" scaled="1"/>
                </a:gradFill>
                <a:latin typeface="맑은 고딕" panose="020B0503020000020004" pitchFamily="50" charset="-127"/>
              </a:rPr>
              <a:t>캐릭터와 몬스터</a:t>
            </a:r>
            <a:endParaRPr lang="en-US" altLang="ko-KR" sz="2200" b="1" dirty="0">
              <a:gradFill>
                <a:gsLst>
                  <a:gs pos="0">
                    <a:schemeClr val="tx1"/>
                  </a:gs>
                  <a:gs pos="100000">
                    <a:schemeClr val="tx1"/>
                  </a:gs>
                </a:gsLst>
                <a:lin ang="5400000" scaled="1"/>
              </a:gradFill>
              <a:latin typeface="맑은 고딕" panose="020B0503020000020004" pitchFamily="50" charset="-127"/>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2</a:t>
            </a:fld>
            <a:endParaRPr lang="ko-KR" altLang="en-US" sz="1800" dirty="0"/>
          </a:p>
        </p:txBody>
      </p:sp>
      <p:sp>
        <p:nvSpPr>
          <p:cNvPr id="18" name="TextBox 17"/>
          <p:cNvSpPr txBox="1"/>
          <p:nvPr/>
        </p:nvSpPr>
        <p:spPr>
          <a:xfrm>
            <a:off x="5470434" y="1200814"/>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1-1.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 컨셉</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0" name="TextBox 19"/>
          <p:cNvSpPr txBox="1"/>
          <p:nvPr/>
        </p:nvSpPr>
        <p:spPr>
          <a:xfrm>
            <a:off x="5470434" y="1763858"/>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1-2.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개요</a:t>
            </a:r>
            <a:endPar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1" name="TextBox 20"/>
          <p:cNvSpPr txBox="1"/>
          <p:nvPr/>
        </p:nvSpPr>
        <p:spPr>
          <a:xfrm>
            <a:off x="5468972" y="2324538"/>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1-3.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필요 사양</a:t>
            </a:r>
            <a:endPar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2" name="TextBox 21"/>
          <p:cNvSpPr txBox="1"/>
          <p:nvPr/>
        </p:nvSpPr>
        <p:spPr>
          <a:xfrm>
            <a:off x="5468971" y="5230874"/>
            <a:ext cx="4862402" cy="430887"/>
          </a:xfrm>
          <a:prstGeom prst="rect">
            <a:avLst/>
          </a:prstGeom>
          <a:noFill/>
        </p:spPr>
        <p:txBody>
          <a:bodyPr wrap="square" rtlCol="0">
            <a:spAutoFit/>
          </a:bodyPr>
          <a:lstStyle/>
          <a:p>
            <a:r>
              <a:rPr lang="en-US" altLang="ko-KR" sz="2200" b="1" dirty="0">
                <a:gradFill>
                  <a:gsLst>
                    <a:gs pos="0">
                      <a:schemeClr val="tx1"/>
                    </a:gs>
                    <a:gs pos="100000">
                      <a:schemeClr val="tx1"/>
                    </a:gs>
                  </a:gsLst>
                  <a:lin ang="5400000" scaled="1"/>
                </a:gradFill>
                <a:latin typeface="맑은 고딕" panose="020B0503020000020004" pitchFamily="50" charset="-127"/>
              </a:rPr>
              <a:t>2-4. </a:t>
            </a:r>
            <a:r>
              <a:rPr lang="ko-KR" altLang="en-US" sz="2200" b="1" dirty="0" err="1">
                <a:gradFill>
                  <a:gsLst>
                    <a:gs pos="0">
                      <a:schemeClr val="tx1"/>
                    </a:gs>
                    <a:gs pos="100000">
                      <a:schemeClr val="tx1"/>
                    </a:gs>
                  </a:gsLst>
                  <a:lin ang="5400000" scaled="1"/>
                </a:gradFill>
                <a:latin typeface="맑은 고딕" panose="020B0503020000020004" pitchFamily="50" charset="-127"/>
              </a:rPr>
              <a:t>테이밍과</a:t>
            </a:r>
            <a:r>
              <a:rPr lang="ko-KR" altLang="en-US" sz="2200" b="1" dirty="0">
                <a:gradFill>
                  <a:gsLst>
                    <a:gs pos="0">
                      <a:schemeClr val="tx1"/>
                    </a:gs>
                    <a:gs pos="100000">
                      <a:schemeClr val="tx1"/>
                    </a:gs>
                  </a:gsLst>
                  <a:lin ang="5400000" scaled="1"/>
                </a:gradFill>
                <a:latin typeface="맑은 고딕" panose="020B0503020000020004" pitchFamily="50" charset="-127"/>
              </a:rPr>
              <a:t> 육성 시스템</a:t>
            </a:r>
            <a:endParaRPr lang="en-US" altLang="ko-KR" sz="2200" b="1" dirty="0">
              <a:gradFill>
                <a:gsLst>
                  <a:gs pos="0">
                    <a:schemeClr val="tx1"/>
                  </a:gs>
                  <a:gs pos="100000">
                    <a:schemeClr val="tx1"/>
                  </a:gs>
                </a:gsLst>
                <a:lin ang="5400000" scaled="1"/>
              </a:gradFill>
              <a:latin typeface="맑은 고딕" panose="020B0503020000020004" pitchFamily="50" charset="-127"/>
            </a:endParaRPr>
          </a:p>
        </p:txBody>
      </p:sp>
      <p:sp>
        <p:nvSpPr>
          <p:cNvPr id="24" name="TextBox 23"/>
          <p:cNvSpPr txBox="1"/>
          <p:nvPr/>
        </p:nvSpPr>
        <p:spPr>
          <a:xfrm>
            <a:off x="5468971" y="5791134"/>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2-5. </a:t>
            </a:r>
            <a:r>
              <a:rPr lang="ko-KR" altLang="en-US" sz="2200"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턴방식</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전략 전투</a:t>
            </a:r>
            <a:endPar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355833621"/>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4" name="직사각형 33"/>
          <p:cNvSpPr/>
          <p:nvPr/>
        </p:nvSpPr>
        <p:spPr>
          <a:xfrm>
            <a:off x="2944830" y="209989"/>
            <a:ext cx="9082006" cy="6431797"/>
          </a:xfrm>
          <a:prstGeom prst="rect">
            <a:avLst/>
          </a:prstGeom>
          <a:solidFill>
            <a:schemeClr val="bg1"/>
          </a:solidFill>
          <a:ln w="635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p:cNvSpPr/>
          <p:nvPr/>
        </p:nvSpPr>
        <p:spPr>
          <a:xfrm>
            <a:off x="123871" y="0"/>
            <a:ext cx="323914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TextBox 4"/>
          <p:cNvSpPr txBox="1"/>
          <p:nvPr/>
        </p:nvSpPr>
        <p:spPr>
          <a:xfrm>
            <a:off x="123871" y="626716"/>
            <a:ext cx="3239146" cy="584775"/>
          </a:xfrm>
          <a:prstGeom prst="rect">
            <a:avLst/>
          </a:prstGeom>
          <a:noFill/>
        </p:spPr>
        <p:txBody>
          <a:bodyPr wrap="square" rtlCol="0">
            <a:spAutoFit/>
          </a:bodyPr>
          <a:lstStyle/>
          <a:p>
            <a:pPr algn="ctr"/>
            <a:r>
              <a:rPr lang="ko-KR" altLang="en-US" sz="3200" b="1" dirty="0" smtClean="0">
                <a:gradFill>
                  <a:gsLst>
                    <a:gs pos="0">
                      <a:schemeClr val="bg1"/>
                    </a:gs>
                    <a:gs pos="100000">
                      <a:schemeClr val="bg1"/>
                    </a:gs>
                  </a:gsLst>
                  <a:lin ang="5400000" scaled="1"/>
                </a:gradFill>
                <a:latin typeface="+mj-ea"/>
                <a:ea typeface="+mj-ea"/>
              </a:rPr>
              <a:t>목차</a:t>
            </a:r>
            <a:endParaRPr lang="ko-KR" altLang="en-US" sz="3200" b="1" dirty="0">
              <a:gradFill>
                <a:gsLst>
                  <a:gs pos="0">
                    <a:schemeClr val="bg1"/>
                  </a:gs>
                  <a:gs pos="100000">
                    <a:schemeClr val="bg1"/>
                  </a:gs>
                </a:gsLst>
                <a:lin ang="5400000" scaled="1"/>
              </a:gradFill>
              <a:latin typeface="+mj-ea"/>
              <a:ea typeface="+mj-ea"/>
            </a:endParaRPr>
          </a:p>
        </p:txBody>
      </p:sp>
      <p:cxnSp>
        <p:nvCxnSpPr>
          <p:cNvPr id="7" name="직선 연결선 6"/>
          <p:cNvCxnSpPr/>
          <p:nvPr/>
        </p:nvCxnSpPr>
        <p:spPr>
          <a:xfrm flipH="1">
            <a:off x="123871" y="1244817"/>
            <a:ext cx="1183038" cy="713219"/>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직선 연결선 10"/>
          <p:cNvCxnSpPr/>
          <p:nvPr/>
        </p:nvCxnSpPr>
        <p:spPr>
          <a:xfrm flipH="1">
            <a:off x="2393154" y="9034"/>
            <a:ext cx="975566" cy="588140"/>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직선 연결선 11"/>
          <p:cNvCxnSpPr>
            <a:endCxn id="4" idx="3"/>
          </p:cNvCxnSpPr>
          <p:nvPr/>
        </p:nvCxnSpPr>
        <p:spPr>
          <a:xfrm>
            <a:off x="123871" y="1952786"/>
            <a:ext cx="3239146" cy="1476214"/>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4151583" y="4462788"/>
            <a:ext cx="7558195" cy="430887"/>
          </a:xfrm>
          <a:prstGeom prst="rect">
            <a:avLst/>
          </a:prstGeom>
          <a:noFill/>
        </p:spPr>
        <p:txBody>
          <a:bodyPr wrap="square" rtlCol="0">
            <a:spAutoFit/>
          </a:bodyPr>
          <a:lstStyle/>
          <a:p>
            <a:r>
              <a:rPr lang="en-US" altLang="ko-KR"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기획서 제작 계획   〮〮〮〮〮〮〮〮〮〮〮〮〮〮〮〮〮〮〮〮〮〮〮〮〮〮〮〮</a:t>
            </a:r>
            <a:r>
              <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25p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4" name="TextBox 23"/>
          <p:cNvSpPr txBox="1"/>
          <p:nvPr/>
        </p:nvSpPr>
        <p:spPr>
          <a:xfrm>
            <a:off x="5492688" y="5037306"/>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4-1.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세부 기획 컨텐츠</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5" name="TextBox 24"/>
          <p:cNvSpPr txBox="1"/>
          <p:nvPr/>
        </p:nvSpPr>
        <p:spPr>
          <a:xfrm>
            <a:off x="5492688" y="5634945"/>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4-2.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보완점</a:t>
            </a:r>
            <a:endPar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3</a:t>
            </a:fld>
            <a:endParaRPr lang="ko-KR" altLang="en-US" sz="1800" dirty="0"/>
          </a:p>
        </p:txBody>
      </p:sp>
      <p:sp>
        <p:nvSpPr>
          <p:cNvPr id="18" name="TextBox 17"/>
          <p:cNvSpPr txBox="1"/>
          <p:nvPr/>
        </p:nvSpPr>
        <p:spPr>
          <a:xfrm>
            <a:off x="4151583" y="626716"/>
            <a:ext cx="7708320"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a:t>
            </a:r>
            <a:r>
              <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12p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3" name="TextBox 22"/>
          <p:cNvSpPr txBox="1"/>
          <p:nvPr/>
        </p:nvSpPr>
        <p:spPr>
          <a:xfrm>
            <a:off x="5492687" y="1159766"/>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3-1.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6" name="TextBox 25"/>
          <p:cNvSpPr txBox="1"/>
          <p:nvPr/>
        </p:nvSpPr>
        <p:spPr>
          <a:xfrm>
            <a:off x="5492687" y="1731793"/>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3-2.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7" name="TextBox 26"/>
          <p:cNvSpPr txBox="1"/>
          <p:nvPr/>
        </p:nvSpPr>
        <p:spPr>
          <a:xfrm>
            <a:off x="5492687" y="2309351"/>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3-3.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9" name="TextBox 28"/>
          <p:cNvSpPr txBox="1"/>
          <p:nvPr/>
        </p:nvSpPr>
        <p:spPr>
          <a:xfrm>
            <a:off x="5492687" y="2883920"/>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3-4. </a:t>
            </a:r>
            <a:r>
              <a:rPr lang="ko-KR" altLang="en-US" sz="2200"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아티팩트</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0" name="TextBox 19"/>
          <p:cNvSpPr txBox="1"/>
          <p:nvPr/>
        </p:nvSpPr>
        <p:spPr>
          <a:xfrm>
            <a:off x="5492687" y="3455947"/>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3-5.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전투</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9" name="곱셈 기호 18"/>
          <p:cNvSpPr/>
          <p:nvPr/>
        </p:nvSpPr>
        <p:spPr>
          <a:xfrm>
            <a:off x="2224597" y="-304210"/>
            <a:ext cx="9129203" cy="7238034"/>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594742351"/>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4" name="직사각형 33"/>
          <p:cNvSpPr/>
          <p:nvPr/>
        </p:nvSpPr>
        <p:spPr>
          <a:xfrm>
            <a:off x="2944830" y="209989"/>
            <a:ext cx="9082006" cy="6431797"/>
          </a:xfrm>
          <a:prstGeom prst="rect">
            <a:avLst/>
          </a:prstGeom>
          <a:solidFill>
            <a:schemeClr val="bg1"/>
          </a:solidFill>
          <a:ln w="635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p:cNvSpPr/>
          <p:nvPr/>
        </p:nvSpPr>
        <p:spPr>
          <a:xfrm>
            <a:off x="123871" y="0"/>
            <a:ext cx="323914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TextBox 4"/>
          <p:cNvSpPr txBox="1"/>
          <p:nvPr/>
        </p:nvSpPr>
        <p:spPr>
          <a:xfrm>
            <a:off x="123871" y="626716"/>
            <a:ext cx="3239146" cy="584775"/>
          </a:xfrm>
          <a:prstGeom prst="rect">
            <a:avLst/>
          </a:prstGeom>
          <a:noFill/>
        </p:spPr>
        <p:txBody>
          <a:bodyPr wrap="square" rtlCol="0">
            <a:spAutoFit/>
          </a:bodyPr>
          <a:lstStyle/>
          <a:p>
            <a:pPr algn="ctr"/>
            <a:r>
              <a:rPr lang="ko-KR" altLang="en-US" sz="3200" b="1" dirty="0" smtClean="0">
                <a:gradFill>
                  <a:gsLst>
                    <a:gs pos="0">
                      <a:schemeClr val="bg1"/>
                    </a:gs>
                    <a:gs pos="100000">
                      <a:schemeClr val="bg1"/>
                    </a:gs>
                  </a:gsLst>
                  <a:lin ang="5400000" scaled="1"/>
                </a:gradFill>
                <a:latin typeface="+mj-ea"/>
                <a:ea typeface="+mj-ea"/>
              </a:rPr>
              <a:t>목차</a:t>
            </a:r>
            <a:endParaRPr lang="ko-KR" altLang="en-US" sz="3200" b="1" dirty="0">
              <a:gradFill>
                <a:gsLst>
                  <a:gs pos="0">
                    <a:schemeClr val="bg1"/>
                  </a:gs>
                  <a:gs pos="100000">
                    <a:schemeClr val="bg1"/>
                  </a:gs>
                </a:gsLst>
                <a:lin ang="5400000" scaled="1"/>
              </a:gradFill>
              <a:latin typeface="+mj-ea"/>
              <a:ea typeface="+mj-ea"/>
            </a:endParaRPr>
          </a:p>
        </p:txBody>
      </p:sp>
      <p:cxnSp>
        <p:nvCxnSpPr>
          <p:cNvPr id="7" name="직선 연결선 6"/>
          <p:cNvCxnSpPr/>
          <p:nvPr/>
        </p:nvCxnSpPr>
        <p:spPr>
          <a:xfrm flipH="1">
            <a:off x="123871" y="1244817"/>
            <a:ext cx="1183038" cy="713219"/>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직선 연결선 10"/>
          <p:cNvCxnSpPr/>
          <p:nvPr/>
        </p:nvCxnSpPr>
        <p:spPr>
          <a:xfrm flipH="1">
            <a:off x="2393154" y="9034"/>
            <a:ext cx="975566" cy="588140"/>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직선 연결선 11"/>
          <p:cNvCxnSpPr>
            <a:endCxn id="4" idx="3"/>
          </p:cNvCxnSpPr>
          <p:nvPr/>
        </p:nvCxnSpPr>
        <p:spPr>
          <a:xfrm>
            <a:off x="123871" y="1952786"/>
            <a:ext cx="3239146" cy="1476214"/>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4</a:t>
            </a:fld>
            <a:endParaRPr lang="ko-KR" altLang="en-US" sz="1800" dirty="0"/>
          </a:p>
        </p:txBody>
      </p:sp>
      <p:sp>
        <p:nvSpPr>
          <p:cNvPr id="18" name="TextBox 17"/>
          <p:cNvSpPr txBox="1"/>
          <p:nvPr/>
        </p:nvSpPr>
        <p:spPr>
          <a:xfrm>
            <a:off x="4151583" y="626716"/>
            <a:ext cx="7708320"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디자인</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12p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7" name="TextBox 26"/>
          <p:cNvSpPr txBox="1"/>
          <p:nvPr/>
        </p:nvSpPr>
        <p:spPr>
          <a:xfrm>
            <a:off x="5492687" y="1798505"/>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3-2. </a:t>
            </a:r>
            <a:r>
              <a:rPr lang="ko-KR" altLang="en-US" sz="2200" b="1" dirty="0">
                <a:gradFill>
                  <a:gsLst>
                    <a:gs pos="0">
                      <a:schemeClr val="tx1"/>
                    </a:gs>
                    <a:gs pos="100000">
                      <a:schemeClr val="tx1"/>
                    </a:gs>
                  </a:gsLst>
                  <a:lin ang="5400000" scaled="1"/>
                </a:gradFill>
                <a:latin typeface="맑은 고딕" panose="020B0503020000020004" pitchFamily="50" charset="-127"/>
              </a:rPr>
              <a:t>맵 디자인 </a:t>
            </a:r>
            <a:r>
              <a:rPr lang="ko-KR" altLang="en-US" sz="2200" b="1" dirty="0" smtClean="0">
                <a:gradFill>
                  <a:gsLst>
                    <a:gs pos="0">
                      <a:schemeClr val="tx1"/>
                    </a:gs>
                    <a:gs pos="100000">
                      <a:schemeClr val="tx1"/>
                    </a:gs>
                  </a:gsLst>
                  <a:lin ang="5400000" scaled="1"/>
                </a:gradFill>
                <a:latin typeface="맑은 고딕" panose="020B0503020000020004" pitchFamily="50" charset="-127"/>
              </a:rPr>
              <a:t>규칙</a:t>
            </a:r>
            <a:endParaRPr lang="ko-KR" altLang="en-US" sz="2200" b="1" dirty="0">
              <a:gradFill>
                <a:gsLst>
                  <a:gs pos="0">
                    <a:schemeClr val="tx1"/>
                  </a:gs>
                  <a:gs pos="100000">
                    <a:schemeClr val="tx1"/>
                  </a:gs>
                </a:gsLst>
                <a:lin ang="5400000" scaled="1"/>
              </a:gradFill>
              <a:latin typeface="맑은 고딕" panose="020B0503020000020004" pitchFamily="50" charset="-127"/>
            </a:endParaRPr>
          </a:p>
        </p:txBody>
      </p:sp>
      <p:sp>
        <p:nvSpPr>
          <p:cNvPr id="29" name="TextBox 28"/>
          <p:cNvSpPr txBox="1"/>
          <p:nvPr/>
        </p:nvSpPr>
        <p:spPr>
          <a:xfrm>
            <a:off x="5492687" y="2402524"/>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3-3. </a:t>
            </a:r>
            <a:r>
              <a:rPr lang="ko-KR" altLang="en-US" sz="2200"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2200"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비전투</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화면</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0" name="TextBox 19"/>
          <p:cNvSpPr txBox="1"/>
          <p:nvPr/>
        </p:nvSpPr>
        <p:spPr>
          <a:xfrm>
            <a:off x="5492687" y="3002286"/>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3-4. </a:t>
            </a:r>
            <a:r>
              <a:rPr lang="ko-KR" altLang="en-US" sz="2200" b="1" dirty="0" err="1">
                <a:gradFill>
                  <a:gsLst>
                    <a:gs pos="0">
                      <a:schemeClr val="tx1"/>
                    </a:gs>
                    <a:gs pos="100000">
                      <a:schemeClr val="tx1"/>
                    </a:gs>
                  </a:gsLst>
                  <a:lin ang="5400000" scaled="1"/>
                </a:gradFill>
                <a:latin typeface="맑은 고딕" panose="020B0503020000020004" pitchFamily="50" charset="-127"/>
              </a:rPr>
              <a:t>에어리어</a:t>
            </a:r>
            <a:r>
              <a:rPr lang="ko-KR" altLang="en-US" sz="2200" b="1" dirty="0">
                <a:gradFill>
                  <a:gsLst>
                    <a:gs pos="0">
                      <a:schemeClr val="tx1"/>
                    </a:gs>
                    <a:gs pos="100000">
                      <a:schemeClr val="tx1"/>
                    </a:gs>
                  </a:gsLst>
                  <a:lin ang="5400000" scaled="1"/>
                </a:gradFill>
                <a:latin typeface="맑은 고딕" panose="020B0503020000020004" pitchFamily="50" charset="-127"/>
              </a:rPr>
              <a:t> 전투 </a:t>
            </a:r>
            <a:r>
              <a:rPr lang="ko-KR" altLang="en-US" sz="2200" b="1" dirty="0" smtClean="0">
                <a:gradFill>
                  <a:gsLst>
                    <a:gs pos="0">
                      <a:schemeClr val="tx1"/>
                    </a:gs>
                    <a:gs pos="100000">
                      <a:schemeClr val="tx1"/>
                    </a:gs>
                  </a:gsLst>
                  <a:lin ang="5400000" scaled="1"/>
                </a:gradFill>
                <a:latin typeface="맑은 고딕" panose="020B0503020000020004" pitchFamily="50" charset="-127"/>
              </a:rPr>
              <a:t>화면</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9" name="TextBox 18"/>
          <p:cNvSpPr txBox="1"/>
          <p:nvPr/>
        </p:nvSpPr>
        <p:spPr>
          <a:xfrm>
            <a:off x="4151583" y="628263"/>
            <a:ext cx="7708320"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디자인</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12p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1" name="TextBox 20"/>
          <p:cNvSpPr txBox="1"/>
          <p:nvPr/>
        </p:nvSpPr>
        <p:spPr>
          <a:xfrm>
            <a:off x="5492687" y="1198743"/>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3-1.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전체 지도 및 요소</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3" name="TextBox 32"/>
          <p:cNvSpPr txBox="1"/>
          <p:nvPr/>
        </p:nvSpPr>
        <p:spPr>
          <a:xfrm>
            <a:off x="4151583" y="3695700"/>
            <a:ext cx="7708320"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시스템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디자인</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12p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5" name="TextBox 34"/>
          <p:cNvSpPr txBox="1"/>
          <p:nvPr/>
        </p:nvSpPr>
        <p:spPr>
          <a:xfrm>
            <a:off x="5492687" y="4266180"/>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4-1</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턴 전투 방식</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6" name="TextBox 35"/>
          <p:cNvSpPr txBox="1"/>
          <p:nvPr/>
        </p:nvSpPr>
        <p:spPr>
          <a:xfrm>
            <a:off x="5492687" y="4836660"/>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4-2</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정화 시스템</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7" name="TextBox 36"/>
          <p:cNvSpPr txBox="1"/>
          <p:nvPr/>
        </p:nvSpPr>
        <p:spPr>
          <a:xfrm>
            <a:off x="5492687" y="5407140"/>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4-3</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2200"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스탯</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기본 설정</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40" name="TextBox 39"/>
          <p:cNvSpPr txBox="1"/>
          <p:nvPr/>
        </p:nvSpPr>
        <p:spPr>
          <a:xfrm>
            <a:off x="5492687" y="5971726"/>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4-4.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유지 데이터</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331041106"/>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4" name="직사각형 33"/>
          <p:cNvSpPr/>
          <p:nvPr/>
        </p:nvSpPr>
        <p:spPr>
          <a:xfrm>
            <a:off x="2944830" y="209989"/>
            <a:ext cx="9082006" cy="6431797"/>
          </a:xfrm>
          <a:prstGeom prst="rect">
            <a:avLst/>
          </a:prstGeom>
          <a:solidFill>
            <a:schemeClr val="bg1"/>
          </a:solidFill>
          <a:ln w="635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p:cNvSpPr/>
          <p:nvPr/>
        </p:nvSpPr>
        <p:spPr>
          <a:xfrm>
            <a:off x="123871" y="0"/>
            <a:ext cx="323914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 name="TextBox 4"/>
          <p:cNvSpPr txBox="1"/>
          <p:nvPr/>
        </p:nvSpPr>
        <p:spPr>
          <a:xfrm>
            <a:off x="123871" y="626716"/>
            <a:ext cx="3239146" cy="584775"/>
          </a:xfrm>
          <a:prstGeom prst="rect">
            <a:avLst/>
          </a:prstGeom>
          <a:noFill/>
        </p:spPr>
        <p:txBody>
          <a:bodyPr wrap="square" rtlCol="0">
            <a:spAutoFit/>
          </a:bodyPr>
          <a:lstStyle/>
          <a:p>
            <a:pPr algn="ctr"/>
            <a:r>
              <a:rPr lang="ko-KR" altLang="en-US" sz="3200" b="1" dirty="0" smtClean="0">
                <a:gradFill>
                  <a:gsLst>
                    <a:gs pos="0">
                      <a:schemeClr val="bg1"/>
                    </a:gs>
                    <a:gs pos="100000">
                      <a:schemeClr val="bg1"/>
                    </a:gs>
                  </a:gsLst>
                  <a:lin ang="5400000" scaled="1"/>
                </a:gradFill>
                <a:latin typeface="+mj-ea"/>
                <a:ea typeface="+mj-ea"/>
              </a:rPr>
              <a:t>목차</a:t>
            </a:r>
            <a:endParaRPr lang="ko-KR" altLang="en-US" sz="3200" b="1" dirty="0">
              <a:gradFill>
                <a:gsLst>
                  <a:gs pos="0">
                    <a:schemeClr val="bg1"/>
                  </a:gs>
                  <a:gs pos="100000">
                    <a:schemeClr val="bg1"/>
                  </a:gs>
                </a:gsLst>
                <a:lin ang="5400000" scaled="1"/>
              </a:gradFill>
              <a:latin typeface="+mj-ea"/>
              <a:ea typeface="+mj-ea"/>
            </a:endParaRPr>
          </a:p>
        </p:txBody>
      </p:sp>
      <p:cxnSp>
        <p:nvCxnSpPr>
          <p:cNvPr id="7" name="직선 연결선 6"/>
          <p:cNvCxnSpPr/>
          <p:nvPr/>
        </p:nvCxnSpPr>
        <p:spPr>
          <a:xfrm flipH="1">
            <a:off x="123871" y="1244817"/>
            <a:ext cx="1183038" cy="713219"/>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직선 연결선 10"/>
          <p:cNvCxnSpPr/>
          <p:nvPr/>
        </p:nvCxnSpPr>
        <p:spPr>
          <a:xfrm flipH="1">
            <a:off x="2393154" y="9034"/>
            <a:ext cx="975566" cy="588140"/>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직선 연결선 11"/>
          <p:cNvCxnSpPr>
            <a:endCxn id="4" idx="3"/>
          </p:cNvCxnSpPr>
          <p:nvPr/>
        </p:nvCxnSpPr>
        <p:spPr>
          <a:xfrm>
            <a:off x="123871" y="1952786"/>
            <a:ext cx="3239146" cy="1476214"/>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4218259" y="4635852"/>
            <a:ext cx="751725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 </a:t>
            </a:r>
            <a:r>
              <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참고문헌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29p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8" name="TextBox 27"/>
          <p:cNvSpPr txBox="1"/>
          <p:nvPr/>
        </p:nvSpPr>
        <p:spPr>
          <a:xfrm>
            <a:off x="4218258" y="5943303"/>
            <a:ext cx="7694673"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 </a:t>
            </a:r>
            <a:r>
              <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부록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31p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5</a:t>
            </a:fld>
            <a:endParaRPr lang="ko-KR" altLang="en-US" sz="1800" dirty="0"/>
          </a:p>
        </p:txBody>
      </p:sp>
      <p:sp>
        <p:nvSpPr>
          <p:cNvPr id="13" name="TextBox 12"/>
          <p:cNvSpPr txBox="1"/>
          <p:nvPr/>
        </p:nvSpPr>
        <p:spPr>
          <a:xfrm>
            <a:off x="4218258" y="2781781"/>
            <a:ext cx="7558195" cy="430887"/>
          </a:xfrm>
          <a:prstGeom prst="rect">
            <a:avLst/>
          </a:prstGeom>
          <a:noFill/>
        </p:spPr>
        <p:txBody>
          <a:bodyPr wrap="square" rtlCol="0">
            <a:spAutoFit/>
          </a:bodyPr>
          <a:lstStyle/>
          <a:p>
            <a:r>
              <a:rPr lang="en-US" altLang="ko-KR"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기획서 제작 계획   〮〮〮〮〮〮〮〮〮〮〮〮〮〮〮〮〮〮〮〮〮〮〮〮〮〮〮〮</a:t>
            </a:r>
            <a:r>
              <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25p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4" name="TextBox 13"/>
          <p:cNvSpPr txBox="1"/>
          <p:nvPr/>
        </p:nvSpPr>
        <p:spPr>
          <a:xfrm>
            <a:off x="5559363" y="3356299"/>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4-1.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세부 기획 컨텐츠</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5" name="TextBox 14"/>
          <p:cNvSpPr txBox="1"/>
          <p:nvPr/>
        </p:nvSpPr>
        <p:spPr>
          <a:xfrm>
            <a:off x="5559363" y="3953938"/>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4-2.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보완점</a:t>
            </a:r>
            <a:endPar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6" name="TextBox 15"/>
          <p:cNvSpPr txBox="1"/>
          <p:nvPr/>
        </p:nvSpPr>
        <p:spPr>
          <a:xfrm>
            <a:off x="4218259" y="211491"/>
            <a:ext cx="7708320" cy="430887"/>
          </a:xfrm>
          <a:prstGeom prst="rect">
            <a:avLst/>
          </a:prstGeom>
          <a:noFill/>
        </p:spPr>
        <p:txBody>
          <a:bodyPr wrap="square" rtlCol="0">
            <a:spAutoFit/>
          </a:bodyPr>
          <a:lstStyle/>
          <a:p>
            <a:r>
              <a:rPr lang="en-US" altLang="ko-KR"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12p</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7" name="TextBox 16"/>
          <p:cNvSpPr txBox="1"/>
          <p:nvPr/>
        </p:nvSpPr>
        <p:spPr>
          <a:xfrm>
            <a:off x="5559363" y="744541"/>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5-1</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8" name="TextBox 17"/>
          <p:cNvSpPr txBox="1"/>
          <p:nvPr/>
        </p:nvSpPr>
        <p:spPr>
          <a:xfrm>
            <a:off x="5559363" y="1316568"/>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5-2</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9" name="TextBox 18"/>
          <p:cNvSpPr txBox="1"/>
          <p:nvPr/>
        </p:nvSpPr>
        <p:spPr>
          <a:xfrm>
            <a:off x="5559363" y="1894126"/>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5-3</a:t>
            </a:r>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아이템</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4" name="TextBox 23"/>
          <p:cNvSpPr txBox="1"/>
          <p:nvPr/>
        </p:nvSpPr>
        <p:spPr>
          <a:xfrm>
            <a:off x="5559363" y="2399959"/>
            <a:ext cx="4862402" cy="430887"/>
          </a:xfrm>
          <a:prstGeom prst="rect">
            <a:avLst/>
          </a:prstGeom>
          <a:noFill/>
        </p:spPr>
        <p:txBody>
          <a:bodyPr wrap="square" rtlCol="0">
            <a:spAutoFit/>
          </a:bodyPr>
          <a:lstStyle/>
          <a:p>
            <a:r>
              <a:rPr lang="en-US" altLang="ko-KR" sz="2200"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5-4. </a:t>
            </a:r>
            <a:r>
              <a:rPr lang="ko-KR" altLang="en-US" sz="2200"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아티팩트</a:t>
            </a:r>
            <a:endParaRPr lang="ko-KR" altLang="en-US" sz="2200"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081211756"/>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cxnSp>
        <p:nvCxnSpPr>
          <p:cNvPr id="9" name="직선 연결선 8"/>
          <p:cNvCxnSpPr/>
          <p:nvPr/>
        </p:nvCxnSpPr>
        <p:spPr>
          <a:xfrm flipH="1">
            <a:off x="-124046" y="0"/>
            <a:ext cx="12316046" cy="6949263"/>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3066386" y="3126868"/>
            <a:ext cx="6059229" cy="830997"/>
          </a:xfrm>
          <a:prstGeom prst="rect">
            <a:avLst/>
          </a:prstGeom>
          <a:solidFill>
            <a:schemeClr val="tx1"/>
          </a:solidFill>
        </p:spPr>
        <p:txBody>
          <a:bodyPr wrap="square" rtlCol="0">
            <a:spAutoFit/>
          </a:bodyPr>
          <a:lstStyle/>
          <a:p>
            <a:pPr algn="ctr"/>
            <a:r>
              <a:rPr lang="ko-KR" altLang="en-US" sz="4800" b="1" spc="-150" dirty="0" smtClean="0">
                <a:gradFill>
                  <a:gsLst>
                    <a:gs pos="0">
                      <a:prstClr val="white"/>
                    </a:gs>
                    <a:gs pos="100000">
                      <a:prstClr val="white"/>
                    </a:gs>
                  </a:gsLst>
                  <a:lin ang="5400000" scaled="1"/>
                </a:gradFill>
                <a:latin typeface="+mj-ea"/>
                <a:ea typeface="+mj-ea"/>
              </a:rPr>
              <a:t>기획 컨셉 및 개요</a:t>
            </a:r>
            <a:endParaRPr lang="ko-KR" altLang="en-US" sz="4800" b="1" spc="-150" dirty="0">
              <a:gradFill>
                <a:gsLst>
                  <a:gs pos="0">
                    <a:prstClr val="white"/>
                  </a:gs>
                  <a:gs pos="100000">
                    <a:prstClr val="white"/>
                  </a:gs>
                </a:gsLst>
                <a:lin ang="5400000" scaled="1"/>
              </a:gradFill>
              <a:latin typeface="+mj-ea"/>
              <a:ea typeface="+mj-ea"/>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solidFill>
                  <a:prstClr val="black">
                    <a:tint val="75000"/>
                  </a:prstClr>
                </a:solidFill>
              </a:rPr>
              <a:pPr/>
              <a:t>6</a:t>
            </a:fld>
            <a:endParaRPr lang="ko-KR" altLang="en-US" dirty="0">
              <a:solidFill>
                <a:prstClr val="black">
                  <a:tint val="75000"/>
                </a:prstClr>
              </a:solidFill>
            </a:endParaRPr>
          </a:p>
        </p:txBody>
      </p:sp>
    </p:spTree>
    <p:extLst>
      <p:ext uri="{BB962C8B-B14F-4D97-AF65-F5344CB8AC3E}">
        <p14:creationId xmlns:p14="http://schemas.microsoft.com/office/powerpoint/2010/main" val="79592303"/>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210 앱굴림 R" panose="02020603020101020101" pitchFamily="18" charset="-127"/>
              <a:ea typeface="210 앱굴림 R" panose="02020603020101020101" pitchFamily="18" charset="-127"/>
            </a:endParaRPr>
          </a:p>
        </p:txBody>
      </p:sp>
      <p:sp>
        <p:nvSpPr>
          <p:cNvPr id="5" name="TextBox 4"/>
          <p:cNvSpPr txBox="1"/>
          <p:nvPr/>
        </p:nvSpPr>
        <p:spPr>
          <a:xfrm>
            <a:off x="4699192" y="620053"/>
            <a:ext cx="230867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 컨셉</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 name="TextBox 5"/>
          <p:cNvSpPr txBox="1"/>
          <p:nvPr/>
        </p:nvSpPr>
        <p:spPr>
          <a:xfrm>
            <a:off x="72570" y="250721"/>
            <a:ext cx="6935297"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 컨셉 및 개요</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7" name="TextBox 36"/>
          <p:cNvSpPr txBox="1"/>
          <p:nvPr/>
        </p:nvSpPr>
        <p:spPr>
          <a:xfrm>
            <a:off x="4949374" y="1151764"/>
            <a:ext cx="6924178" cy="1269578"/>
          </a:xfrm>
          <a:prstGeom prst="rect">
            <a:avLst/>
          </a:prstGeom>
          <a:noFill/>
        </p:spPr>
        <p:txBody>
          <a:bodyPr wrap="square" rtlCol="0">
            <a:spAutoFit/>
          </a:bodyPr>
          <a:lstStyle/>
          <a:p>
            <a:pPr>
              <a:lnSpc>
                <a:spcPct val="150000"/>
              </a:lnSpc>
            </a:pP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플레이어가 선택할 캐릭터와 </a:t>
            </a:r>
            <a:r>
              <a:rPr lang="ko-KR" altLang="en-US" sz="1700" spc="-15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테이밍할</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수 있는 </a:t>
            </a:r>
            <a:r>
              <a:rPr lang="ko-KR" altLang="en-US" sz="1700" spc="-15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몬스터들을</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중심으로</a:t>
            </a:r>
            <a:r>
              <a:rPr lang="en-US" altLang="ko-KR"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각각의 특징과 능력에 따른 다양한 조합과 </a:t>
            </a:r>
            <a:r>
              <a:rPr lang="ko-KR" altLang="en-US" sz="1700" spc="-15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턴제</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1700" spc="-15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임의 전략적 플레이에서 기인하는 재미를 구체적으로 제시하는 데에 중점을 둔다</a:t>
            </a:r>
            <a:r>
              <a:rPr lang="en-US" altLang="ko-KR"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a:t>
            </a:r>
            <a:r>
              <a:rPr lang="ko-KR" altLang="en-US" sz="1700"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endParaRPr lang="en-US" altLang="ko-KR" sz="1700" spc="-15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22991" y="2818021"/>
            <a:ext cx="246107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개요</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3" name="표 2"/>
          <p:cNvGraphicFramePr>
            <a:graphicFrameLocks noGrp="1"/>
          </p:cNvGraphicFramePr>
          <p:nvPr>
            <p:extLst>
              <p:ext uri="{D42A27DB-BD31-4B8C-83A1-F6EECF244321}">
                <p14:modId xmlns:p14="http://schemas.microsoft.com/office/powerpoint/2010/main" val="2555973262"/>
              </p:ext>
            </p:extLst>
          </p:nvPr>
        </p:nvGraphicFramePr>
        <p:xfrm>
          <a:off x="4949374" y="3443220"/>
          <a:ext cx="6995883" cy="2595880"/>
        </p:xfrm>
        <a:graphic>
          <a:graphicData uri="http://schemas.openxmlformats.org/drawingml/2006/table">
            <a:tbl>
              <a:tblPr firstRow="1" bandRow="1">
                <a:tableStyleId>{073A0DAA-6AF3-43AB-8588-CEC1D06C72B9}</a:tableStyleId>
              </a:tblPr>
              <a:tblGrid>
                <a:gridCol w="1804448">
                  <a:extLst>
                    <a:ext uri="{9D8B030D-6E8A-4147-A177-3AD203B41FA5}">
                      <a16:colId xmlns:a16="http://schemas.microsoft.com/office/drawing/2014/main" val="3475047078"/>
                    </a:ext>
                  </a:extLst>
                </a:gridCol>
                <a:gridCol w="5191435">
                  <a:extLst>
                    <a:ext uri="{9D8B030D-6E8A-4147-A177-3AD203B41FA5}">
                      <a16:colId xmlns:a16="http://schemas.microsoft.com/office/drawing/2014/main" val="1305153539"/>
                    </a:ext>
                  </a:extLst>
                </a:gridCol>
              </a:tblGrid>
              <a:tr h="370840">
                <a:tc gridSpan="2">
                  <a:txBody>
                    <a:bodyPr/>
                    <a:lstStyle/>
                    <a:p>
                      <a:pPr algn="ctr" latinLnBrk="1"/>
                      <a:r>
                        <a:rPr lang="ko-KR" altLang="en-US" dirty="0" smtClean="0"/>
                        <a:t>개요</a:t>
                      </a:r>
                      <a:endParaRPr lang="ko-KR" altLang="en-US" dirty="0"/>
                    </a:p>
                  </a:txBody>
                  <a:tcPr anchor="ctr"/>
                </a:tc>
                <a:tc hMerge="1">
                  <a:txBody>
                    <a:bodyPr/>
                    <a:lstStyle/>
                    <a:p>
                      <a:pPr latinLnBrk="1"/>
                      <a:endParaRPr lang="ko-KR" altLang="en-US" dirty="0"/>
                    </a:p>
                  </a:txBody>
                  <a:tcPr/>
                </a:tc>
                <a:extLst>
                  <a:ext uri="{0D108BD9-81ED-4DB2-BD59-A6C34878D82A}">
                    <a16:rowId xmlns:a16="http://schemas.microsoft.com/office/drawing/2014/main" val="1178596490"/>
                  </a:ext>
                </a:extLst>
              </a:tr>
              <a:tr h="370840">
                <a:tc>
                  <a:txBody>
                    <a:bodyPr/>
                    <a:lstStyle/>
                    <a:p>
                      <a:pPr algn="ctr" latinLnBrk="1"/>
                      <a:r>
                        <a:rPr lang="ko-KR" altLang="en-US" dirty="0" smtClean="0"/>
                        <a:t>제목</a:t>
                      </a:r>
                      <a:endParaRPr lang="ko-KR" altLang="en-US" dirty="0"/>
                    </a:p>
                  </a:txBody>
                  <a:tcPr anchor="ctr"/>
                </a:tc>
                <a:tc>
                  <a:txBody>
                    <a:bodyPr/>
                    <a:lstStyle/>
                    <a:p>
                      <a:pPr algn="ctr" latinLnBrk="1"/>
                      <a:r>
                        <a:rPr lang="en-US" altLang="ko-KR" dirty="0" smtClean="0"/>
                        <a:t>Dungeon</a:t>
                      </a:r>
                      <a:r>
                        <a:rPr lang="en-US" altLang="ko-KR" baseline="0" dirty="0" smtClean="0"/>
                        <a:t> Tamer</a:t>
                      </a:r>
                      <a:endParaRPr lang="ko-KR" altLang="en-US" dirty="0"/>
                    </a:p>
                  </a:txBody>
                  <a:tcPr anchor="ctr"/>
                </a:tc>
                <a:extLst>
                  <a:ext uri="{0D108BD9-81ED-4DB2-BD59-A6C34878D82A}">
                    <a16:rowId xmlns:a16="http://schemas.microsoft.com/office/drawing/2014/main" val="1039901684"/>
                  </a:ext>
                </a:extLst>
              </a:tr>
              <a:tr h="370840">
                <a:tc>
                  <a:txBody>
                    <a:bodyPr/>
                    <a:lstStyle/>
                    <a:p>
                      <a:pPr algn="ctr" latinLnBrk="1"/>
                      <a:r>
                        <a:rPr lang="ko-KR" altLang="en-US" dirty="0" smtClean="0"/>
                        <a:t>장르</a:t>
                      </a:r>
                      <a:endParaRPr lang="ko-KR" altLang="en-US" dirty="0"/>
                    </a:p>
                  </a:txBody>
                  <a:tcPr anchor="ctr"/>
                </a:tc>
                <a:tc>
                  <a:txBody>
                    <a:bodyPr/>
                    <a:lstStyle/>
                    <a:p>
                      <a:pPr algn="ctr" latinLnBrk="1"/>
                      <a:r>
                        <a:rPr lang="en-US" altLang="ko-KR" dirty="0" smtClean="0"/>
                        <a:t>2D TRPG</a:t>
                      </a:r>
                      <a:endParaRPr lang="ko-KR" altLang="en-US" dirty="0"/>
                    </a:p>
                  </a:txBody>
                  <a:tcPr anchor="ctr"/>
                </a:tc>
                <a:extLst>
                  <a:ext uri="{0D108BD9-81ED-4DB2-BD59-A6C34878D82A}">
                    <a16:rowId xmlns:a16="http://schemas.microsoft.com/office/drawing/2014/main" val="1243071007"/>
                  </a:ext>
                </a:extLst>
              </a:tr>
              <a:tr h="370840">
                <a:tc>
                  <a:txBody>
                    <a:bodyPr/>
                    <a:lstStyle/>
                    <a:p>
                      <a:pPr algn="ctr" latinLnBrk="1"/>
                      <a:r>
                        <a:rPr lang="ko-KR" altLang="en-US" dirty="0" smtClean="0"/>
                        <a:t>플랫폼</a:t>
                      </a:r>
                      <a:endParaRPr lang="ko-KR" altLang="en-US" dirty="0"/>
                    </a:p>
                  </a:txBody>
                  <a:tcPr anchor="ctr"/>
                </a:tc>
                <a:tc>
                  <a:txBody>
                    <a:bodyPr/>
                    <a:lstStyle/>
                    <a:p>
                      <a:pPr algn="ctr" latinLnBrk="1"/>
                      <a:r>
                        <a:rPr lang="en-US" altLang="ko-KR" dirty="0" smtClean="0"/>
                        <a:t>PC, PS4,</a:t>
                      </a:r>
                      <a:r>
                        <a:rPr lang="en-US" altLang="ko-KR" baseline="0" dirty="0" smtClean="0"/>
                        <a:t> XB1, NSW</a:t>
                      </a:r>
                      <a:endParaRPr lang="ko-KR" altLang="en-US" dirty="0"/>
                    </a:p>
                  </a:txBody>
                  <a:tcPr anchor="ctr"/>
                </a:tc>
                <a:extLst>
                  <a:ext uri="{0D108BD9-81ED-4DB2-BD59-A6C34878D82A}">
                    <a16:rowId xmlns:a16="http://schemas.microsoft.com/office/drawing/2014/main" val="3415024306"/>
                  </a:ext>
                </a:extLst>
              </a:tr>
              <a:tr h="370840">
                <a:tc>
                  <a:txBody>
                    <a:bodyPr/>
                    <a:lstStyle/>
                    <a:p>
                      <a:pPr algn="ctr" latinLnBrk="1"/>
                      <a:r>
                        <a:rPr lang="ko-KR" altLang="en-US" dirty="0" smtClean="0"/>
                        <a:t>플레이 유형</a:t>
                      </a:r>
                      <a:endParaRPr lang="ko-KR" altLang="en-US" dirty="0"/>
                    </a:p>
                  </a:txBody>
                  <a:tcPr anchor="ctr"/>
                </a:tc>
                <a:tc>
                  <a:txBody>
                    <a:bodyPr/>
                    <a:lstStyle/>
                    <a:p>
                      <a:pPr algn="ctr" latinLnBrk="1"/>
                      <a:r>
                        <a:rPr lang="ko-KR" altLang="en-US" dirty="0" smtClean="0"/>
                        <a:t>싱글 플레이</a:t>
                      </a:r>
                      <a:endParaRPr lang="ko-KR" altLang="en-US" dirty="0"/>
                    </a:p>
                  </a:txBody>
                  <a:tcPr anchor="ctr"/>
                </a:tc>
                <a:extLst>
                  <a:ext uri="{0D108BD9-81ED-4DB2-BD59-A6C34878D82A}">
                    <a16:rowId xmlns:a16="http://schemas.microsoft.com/office/drawing/2014/main" val="3365250972"/>
                  </a:ext>
                </a:extLst>
              </a:tr>
              <a:tr h="741680">
                <a:tc>
                  <a:txBody>
                    <a:bodyPr/>
                    <a:lstStyle/>
                    <a:p>
                      <a:pPr algn="ctr" latinLnBrk="1"/>
                      <a:r>
                        <a:rPr lang="ko-KR" altLang="en-US" dirty="0" smtClean="0"/>
                        <a:t>주 타겟 유저</a:t>
                      </a:r>
                      <a:endParaRPr lang="ko-KR" altLang="en-US" dirty="0"/>
                    </a:p>
                  </a:txBody>
                  <a:tcPr anchor="ctr"/>
                </a:tc>
                <a:tc>
                  <a:txBody>
                    <a:bodyPr/>
                    <a:lstStyle/>
                    <a:p>
                      <a:pPr algn="ctr" latinLnBrk="1"/>
                      <a:r>
                        <a:rPr lang="ko-KR" altLang="en-US" dirty="0" smtClean="0"/>
                        <a:t>턴 방식의 전략 게임과 </a:t>
                      </a:r>
                      <a:r>
                        <a:rPr lang="ko-KR" altLang="en-US" dirty="0" err="1" smtClean="0"/>
                        <a:t>로그라이크</a:t>
                      </a:r>
                      <a:r>
                        <a:rPr lang="ko-KR" altLang="en-US" dirty="0" smtClean="0"/>
                        <a:t> 장르를</a:t>
                      </a:r>
                      <a:r>
                        <a:rPr lang="ko-KR" altLang="en-US" baseline="0" dirty="0" smtClean="0"/>
                        <a:t> </a:t>
                      </a:r>
                      <a:endParaRPr lang="en-US" altLang="ko-KR" baseline="0" dirty="0" smtClean="0"/>
                    </a:p>
                    <a:p>
                      <a:pPr algn="ctr" latinLnBrk="1"/>
                      <a:r>
                        <a:rPr lang="ko-KR" altLang="en-US" baseline="0" dirty="0" smtClean="0"/>
                        <a:t>선호하는 </a:t>
                      </a:r>
                      <a:r>
                        <a:rPr lang="en-US" altLang="ko-KR" dirty="0" smtClean="0"/>
                        <a:t>10~30</a:t>
                      </a:r>
                      <a:r>
                        <a:rPr lang="ko-KR" altLang="en-US" dirty="0" smtClean="0"/>
                        <a:t>대 게이머</a:t>
                      </a:r>
                      <a:endParaRPr lang="ko-KR" altLang="en-US" dirty="0"/>
                    </a:p>
                  </a:txBody>
                  <a:tcPr anchor="ctr"/>
                </a:tc>
                <a:extLst>
                  <a:ext uri="{0D108BD9-81ED-4DB2-BD59-A6C34878D82A}">
                    <a16:rowId xmlns:a16="http://schemas.microsoft.com/office/drawing/2014/main" val="1780395460"/>
                  </a:ext>
                </a:extLst>
              </a:tr>
            </a:tbl>
          </a:graphicData>
        </a:graphic>
      </p:graphicFrame>
      <p:sp>
        <p:nvSpPr>
          <p:cNvPr id="7" name="슬라이드 번호 개체 틀 6"/>
          <p:cNvSpPr>
            <a:spLocks noGrp="1"/>
          </p:cNvSpPr>
          <p:nvPr>
            <p:ph type="sldNum" sz="quarter" idx="12"/>
          </p:nvPr>
        </p:nvSpPr>
        <p:spPr/>
        <p:txBody>
          <a:bodyPr/>
          <a:lstStyle/>
          <a:p>
            <a:fld id="{95F8FB6C-4300-4EF3-AEA9-23A98D8A74E1}" type="slidenum">
              <a:rPr lang="ko-KR" altLang="en-US" sz="1800" smtClean="0"/>
              <a:t>7</a:t>
            </a:fld>
            <a:endParaRPr lang="ko-KR" altLang="en-US" sz="1800" dirty="0"/>
          </a:p>
        </p:txBody>
      </p:sp>
      <p:pic>
        <p:nvPicPr>
          <p:cNvPr id="1027" name="Picture 3"/>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340266" y="777408"/>
            <a:ext cx="4196874" cy="23620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5" name="TextBox 14"/>
          <p:cNvSpPr txBox="1"/>
          <p:nvPr/>
        </p:nvSpPr>
        <p:spPr>
          <a:xfrm>
            <a:off x="1155469" y="3125709"/>
            <a:ext cx="2942705"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1 - 1)   </a:t>
            </a:r>
            <a:r>
              <a:rPr lang="ko-KR" altLang="en-US" sz="1600" spc="-300" dirty="0" err="1"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턴제</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전투 </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1</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
        <p:nvSpPr>
          <p:cNvPr id="16" name="TextBox 15"/>
          <p:cNvSpPr txBox="1"/>
          <p:nvPr/>
        </p:nvSpPr>
        <p:spPr>
          <a:xfrm>
            <a:off x="1155469" y="6125918"/>
            <a:ext cx="294270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1 - 2)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조합과  상성이  있는  전투</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pic>
        <p:nvPicPr>
          <p:cNvPr id="1031" name="Picture 7"/>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339071" y="3640508"/>
            <a:ext cx="4199265" cy="23602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56357066"/>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210 앱굴림 R" panose="02020603020101020101" pitchFamily="18" charset="-127"/>
              <a:ea typeface="210 앱굴림 R" panose="02020603020101020101" pitchFamily="18" charset="-127"/>
            </a:endParaRPr>
          </a:p>
        </p:txBody>
      </p:sp>
      <p:sp>
        <p:nvSpPr>
          <p:cNvPr id="6" name="TextBox 5"/>
          <p:cNvSpPr txBox="1"/>
          <p:nvPr/>
        </p:nvSpPr>
        <p:spPr>
          <a:xfrm>
            <a:off x="72570" y="250721"/>
            <a:ext cx="6935297" cy="369332"/>
          </a:xfrm>
          <a:prstGeom prst="rect">
            <a:avLst/>
          </a:prstGeom>
          <a:noFill/>
        </p:spPr>
        <p:txBody>
          <a:bodyPr wrap="square" rtlCol="0">
            <a:spAutoFit/>
          </a:bodyPr>
          <a:lstStyle/>
          <a:p>
            <a:r>
              <a:rPr lang="en-US" altLang="ko-KR" spc="-300" dirty="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a:gradFill>
                  <a:gsLst>
                    <a:gs pos="0">
                      <a:schemeClr val="tx1"/>
                    </a:gs>
                    <a:gs pos="100000">
                      <a:schemeClr val="tx1"/>
                    </a:gs>
                  </a:gsLst>
                  <a:lin ang="5400000" scaled="1"/>
                </a:gradFill>
                <a:latin typeface="맑은 고딕" panose="020B0503020000020004" pitchFamily="50" charset="-127"/>
              </a:rPr>
              <a:t>기획 컨셉 및 </a:t>
            </a:r>
            <a:r>
              <a:rPr lang="ko-KR" altLang="en-US" b="1" dirty="0" smtClean="0">
                <a:gradFill>
                  <a:gsLst>
                    <a:gs pos="0">
                      <a:schemeClr val="tx1"/>
                    </a:gs>
                    <a:gs pos="100000">
                      <a:schemeClr val="tx1"/>
                    </a:gs>
                  </a:gsLst>
                  <a:lin ang="5400000" scaled="1"/>
                </a:gradFill>
                <a:latin typeface="맑은 고딕" panose="020B0503020000020004" pitchFamily="50" charset="-127"/>
              </a:rPr>
              <a:t>개요</a:t>
            </a:r>
            <a:endParaRPr lang="ko-KR" altLang="en-US" b="1" dirty="0">
              <a:gradFill>
                <a:gsLst>
                  <a:gs pos="0">
                    <a:schemeClr val="tx1"/>
                  </a:gs>
                  <a:gs pos="100000">
                    <a:schemeClr val="tx1"/>
                  </a:gs>
                </a:gsLst>
                <a:lin ang="5400000" scaled="1"/>
              </a:gradFill>
              <a:latin typeface="맑은 고딕" panose="020B0503020000020004" pitchFamily="50" charset="-127"/>
            </a:endParaRPr>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754747" y="1257383"/>
            <a:ext cx="2322282"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필요 사양</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7" name="표 6"/>
          <p:cNvGraphicFramePr>
            <a:graphicFrameLocks noGrp="1"/>
          </p:cNvGraphicFramePr>
          <p:nvPr>
            <p:extLst>
              <p:ext uri="{D42A27DB-BD31-4B8C-83A1-F6EECF244321}">
                <p14:modId xmlns:p14="http://schemas.microsoft.com/office/powerpoint/2010/main" val="276476328"/>
              </p:ext>
            </p:extLst>
          </p:nvPr>
        </p:nvGraphicFramePr>
        <p:xfrm>
          <a:off x="754747" y="1894709"/>
          <a:ext cx="10609938" cy="3421728"/>
        </p:xfrm>
        <a:graphic>
          <a:graphicData uri="http://schemas.openxmlformats.org/drawingml/2006/table">
            <a:tbl>
              <a:tblPr firstRow="1" bandRow="1">
                <a:tableStyleId>{073A0DAA-6AF3-43AB-8588-CEC1D06C72B9}</a:tableStyleId>
              </a:tblPr>
              <a:tblGrid>
                <a:gridCol w="1712682">
                  <a:extLst>
                    <a:ext uri="{9D8B030D-6E8A-4147-A177-3AD203B41FA5}">
                      <a16:colId xmlns:a16="http://schemas.microsoft.com/office/drawing/2014/main" val="389885132"/>
                    </a:ext>
                  </a:extLst>
                </a:gridCol>
                <a:gridCol w="3991428">
                  <a:extLst>
                    <a:ext uri="{9D8B030D-6E8A-4147-A177-3AD203B41FA5}">
                      <a16:colId xmlns:a16="http://schemas.microsoft.com/office/drawing/2014/main" val="2257908711"/>
                    </a:ext>
                  </a:extLst>
                </a:gridCol>
                <a:gridCol w="4905828">
                  <a:extLst>
                    <a:ext uri="{9D8B030D-6E8A-4147-A177-3AD203B41FA5}">
                      <a16:colId xmlns:a16="http://schemas.microsoft.com/office/drawing/2014/main" val="4230724851"/>
                    </a:ext>
                  </a:extLst>
                </a:gridCol>
              </a:tblGrid>
              <a:tr h="570288">
                <a:tc>
                  <a:txBody>
                    <a:bodyPr/>
                    <a:lstStyle/>
                    <a:p>
                      <a:pPr algn="ctr" latinLnBrk="1"/>
                      <a:r>
                        <a:rPr lang="en-US" altLang="ko-KR" dirty="0" smtClean="0"/>
                        <a:t>Requirements</a:t>
                      </a:r>
                      <a:endParaRPr lang="ko-KR" altLang="en-US" dirty="0"/>
                    </a:p>
                  </a:txBody>
                  <a:tcPr anchor="ctr"/>
                </a:tc>
                <a:tc>
                  <a:txBody>
                    <a:bodyPr/>
                    <a:lstStyle/>
                    <a:p>
                      <a:pPr algn="ctr" latinLnBrk="1"/>
                      <a:r>
                        <a:rPr lang="en-US" altLang="ko-KR" dirty="0" smtClean="0"/>
                        <a:t>Minimum</a:t>
                      </a:r>
                      <a:endParaRPr lang="ko-KR" altLang="en-US" dirty="0"/>
                    </a:p>
                  </a:txBody>
                  <a:tcPr anchor="ctr"/>
                </a:tc>
                <a:tc>
                  <a:txBody>
                    <a:bodyPr/>
                    <a:lstStyle/>
                    <a:p>
                      <a:pPr algn="ctr" latinLnBrk="1"/>
                      <a:r>
                        <a:rPr lang="en-US" altLang="ko-KR" dirty="0" smtClean="0"/>
                        <a:t>Recommended</a:t>
                      </a:r>
                      <a:endParaRPr lang="ko-KR" altLang="en-US" dirty="0"/>
                    </a:p>
                  </a:txBody>
                  <a:tcPr anchor="ctr"/>
                </a:tc>
                <a:extLst>
                  <a:ext uri="{0D108BD9-81ED-4DB2-BD59-A6C34878D82A}">
                    <a16:rowId xmlns:a16="http://schemas.microsoft.com/office/drawing/2014/main" val="2153952193"/>
                  </a:ext>
                </a:extLst>
              </a:tr>
              <a:tr h="570288">
                <a:tc>
                  <a:txBody>
                    <a:bodyPr/>
                    <a:lstStyle/>
                    <a:p>
                      <a:pPr algn="ctr" latinLnBrk="1"/>
                      <a:r>
                        <a:rPr lang="en-US" altLang="ko-KR" dirty="0" smtClean="0"/>
                        <a:t>OS</a:t>
                      </a:r>
                      <a:endParaRPr lang="ko-KR" altLang="en-US" dirty="0"/>
                    </a:p>
                  </a:txBody>
                  <a:tcPr anchor="ctr"/>
                </a:tc>
                <a:tc>
                  <a:txBody>
                    <a:bodyPr/>
                    <a:lstStyle/>
                    <a:p>
                      <a:pPr algn="ctr" latinLnBrk="1"/>
                      <a:r>
                        <a:rPr lang="en-US" altLang="ko-KR" dirty="0" smtClean="0"/>
                        <a:t>Windows 7+</a:t>
                      </a:r>
                      <a:endParaRPr lang="ko-KR" altLang="en-US" dirty="0"/>
                    </a:p>
                  </a:txBody>
                  <a:tcPr anchor="ctr"/>
                </a:tc>
                <a:tc>
                  <a:txBody>
                    <a:bodyPr/>
                    <a:lstStyle/>
                    <a:p>
                      <a:pPr algn="ctr" latinLnBrk="1"/>
                      <a:r>
                        <a:rPr lang="en-US" altLang="ko-KR" dirty="0" smtClean="0"/>
                        <a:t>Windows 7+</a:t>
                      </a:r>
                      <a:endParaRPr lang="ko-KR" altLang="en-US" dirty="0"/>
                    </a:p>
                  </a:txBody>
                  <a:tcPr anchor="ctr"/>
                </a:tc>
                <a:extLst>
                  <a:ext uri="{0D108BD9-81ED-4DB2-BD59-A6C34878D82A}">
                    <a16:rowId xmlns:a16="http://schemas.microsoft.com/office/drawing/2014/main" val="1269054755"/>
                  </a:ext>
                </a:extLst>
              </a:tr>
              <a:tr h="570288">
                <a:tc>
                  <a:txBody>
                    <a:bodyPr/>
                    <a:lstStyle/>
                    <a:p>
                      <a:pPr algn="ctr" latinLnBrk="1"/>
                      <a:r>
                        <a:rPr lang="en-US" altLang="ko-KR" dirty="0" smtClean="0"/>
                        <a:t>Processor</a:t>
                      </a:r>
                      <a:endParaRPr lang="ko-KR" altLang="en-US" dirty="0"/>
                    </a:p>
                  </a:txBody>
                  <a:tcPr anchor="ctr"/>
                </a:tc>
                <a:tc>
                  <a:txBody>
                    <a:bodyPr/>
                    <a:lstStyle/>
                    <a:p>
                      <a:pPr algn="ctr" latinLnBrk="1"/>
                      <a:r>
                        <a:rPr lang="en-US" altLang="ko-KR" dirty="0" smtClean="0"/>
                        <a:t>Dual core</a:t>
                      </a:r>
                      <a:r>
                        <a:rPr lang="en-US" altLang="ko-KR" baseline="0" dirty="0" smtClean="0"/>
                        <a:t> </a:t>
                      </a:r>
                      <a:r>
                        <a:rPr lang="en-US" altLang="ko-KR" dirty="0" smtClean="0"/>
                        <a:t>2.6 </a:t>
                      </a:r>
                      <a:r>
                        <a:rPr lang="en-US" altLang="ko-KR" dirty="0" err="1" smtClean="0"/>
                        <a:t>ghz</a:t>
                      </a:r>
                      <a:r>
                        <a:rPr lang="en-US" altLang="ko-KR" dirty="0" smtClean="0"/>
                        <a:t> +</a:t>
                      </a:r>
                      <a:endParaRPr lang="ko-KR" altLang="en-US" dirty="0"/>
                    </a:p>
                  </a:txBody>
                  <a:tcPr anchor="ctr"/>
                </a:tc>
                <a:tc>
                  <a:txBody>
                    <a:bodyPr/>
                    <a:lstStyle/>
                    <a:p>
                      <a:pPr algn="ctr" latinLnBrk="1"/>
                      <a:r>
                        <a:rPr lang="en-US" altLang="ko-KR" dirty="0" smtClean="0"/>
                        <a:t>Intel core</a:t>
                      </a:r>
                      <a:r>
                        <a:rPr lang="en-US" altLang="ko-KR" baseline="0" dirty="0" smtClean="0"/>
                        <a:t> i5 series +</a:t>
                      </a:r>
                      <a:endParaRPr lang="ko-KR" altLang="en-US" dirty="0"/>
                    </a:p>
                  </a:txBody>
                  <a:tcPr anchor="ctr"/>
                </a:tc>
                <a:extLst>
                  <a:ext uri="{0D108BD9-81ED-4DB2-BD59-A6C34878D82A}">
                    <a16:rowId xmlns:a16="http://schemas.microsoft.com/office/drawing/2014/main" val="3493674192"/>
                  </a:ext>
                </a:extLst>
              </a:tr>
              <a:tr h="570288">
                <a:tc>
                  <a:txBody>
                    <a:bodyPr/>
                    <a:lstStyle/>
                    <a:p>
                      <a:pPr algn="ctr" latinLnBrk="1"/>
                      <a:r>
                        <a:rPr lang="en-US" altLang="ko-KR" dirty="0" smtClean="0"/>
                        <a:t>Memory</a:t>
                      </a:r>
                      <a:endParaRPr lang="ko-KR" altLang="en-US" dirty="0"/>
                    </a:p>
                  </a:txBody>
                  <a:tcPr anchor="ctr"/>
                </a:tc>
                <a:tc>
                  <a:txBody>
                    <a:bodyPr/>
                    <a:lstStyle/>
                    <a:p>
                      <a:pPr algn="ctr" latinLnBrk="1"/>
                      <a:r>
                        <a:rPr lang="en-US" altLang="ko-KR" dirty="0" smtClean="0"/>
                        <a:t>1 GB</a:t>
                      </a:r>
                      <a:endParaRPr lang="ko-KR" altLang="en-US" dirty="0"/>
                    </a:p>
                  </a:txBody>
                  <a:tcPr anchor="ctr"/>
                </a:tc>
                <a:tc>
                  <a:txBody>
                    <a:bodyPr/>
                    <a:lstStyle/>
                    <a:p>
                      <a:pPr algn="ctr" latinLnBrk="1"/>
                      <a:r>
                        <a:rPr lang="en-US" altLang="ko-KR" dirty="0" smtClean="0"/>
                        <a:t>2 GB</a:t>
                      </a:r>
                    </a:p>
                  </a:txBody>
                  <a:tcPr anchor="ctr"/>
                </a:tc>
                <a:extLst>
                  <a:ext uri="{0D108BD9-81ED-4DB2-BD59-A6C34878D82A}">
                    <a16:rowId xmlns:a16="http://schemas.microsoft.com/office/drawing/2014/main" val="2897240585"/>
                  </a:ext>
                </a:extLst>
              </a:tr>
              <a:tr h="570288">
                <a:tc>
                  <a:txBody>
                    <a:bodyPr/>
                    <a:lstStyle/>
                    <a:p>
                      <a:pPr algn="ctr" latinLnBrk="1"/>
                      <a:r>
                        <a:rPr lang="en-US" altLang="ko-KR" dirty="0" smtClean="0"/>
                        <a:t>Graphics</a:t>
                      </a:r>
                      <a:endParaRPr lang="ko-KR" altLang="en-US" dirty="0"/>
                    </a:p>
                  </a:txBody>
                  <a:tcPr anchor="ctr"/>
                </a:tc>
                <a:tc>
                  <a:txBody>
                    <a:bodyPr/>
                    <a:lstStyle/>
                    <a:p>
                      <a:pPr algn="ctr" latinLnBrk="1"/>
                      <a:r>
                        <a:rPr lang="en-US" altLang="ko-KR" dirty="0" err="1" smtClean="0"/>
                        <a:t>nVidia</a:t>
                      </a:r>
                      <a:r>
                        <a:rPr lang="en-US" altLang="ko-KR" dirty="0" smtClean="0"/>
                        <a:t> GTS 450 +</a:t>
                      </a:r>
                      <a:endParaRPr lang="ko-KR" altLang="en-US" dirty="0"/>
                    </a:p>
                  </a:txBody>
                  <a:tcPr anchor="ctr"/>
                </a:tc>
                <a:tc>
                  <a:txBody>
                    <a:bodyPr/>
                    <a:lstStyle/>
                    <a:p>
                      <a:pPr marL="0" indent="0" algn="ctr" latinLnBrk="1">
                        <a:buNone/>
                      </a:pPr>
                      <a:r>
                        <a:rPr lang="en-US" altLang="ko-KR" dirty="0" err="1" smtClean="0"/>
                        <a:t>nVidia</a:t>
                      </a:r>
                      <a:r>
                        <a:rPr lang="en-US" altLang="ko-KR" dirty="0" smtClean="0"/>
                        <a:t> GTS 450 +</a:t>
                      </a:r>
                      <a:endParaRPr lang="ko-KR" altLang="en-US" dirty="0"/>
                    </a:p>
                  </a:txBody>
                  <a:tcPr anchor="ctr"/>
                </a:tc>
                <a:extLst>
                  <a:ext uri="{0D108BD9-81ED-4DB2-BD59-A6C34878D82A}">
                    <a16:rowId xmlns:a16="http://schemas.microsoft.com/office/drawing/2014/main" val="2410361268"/>
                  </a:ext>
                </a:extLst>
              </a:tr>
              <a:tr h="570288">
                <a:tc>
                  <a:txBody>
                    <a:bodyPr/>
                    <a:lstStyle/>
                    <a:p>
                      <a:pPr algn="ctr" latinLnBrk="1"/>
                      <a:r>
                        <a:rPr lang="en-US" altLang="ko-KR" dirty="0" smtClean="0"/>
                        <a:t>Storage</a:t>
                      </a:r>
                      <a:endParaRPr lang="ko-KR" altLang="en-US" dirty="0"/>
                    </a:p>
                  </a:txBody>
                  <a:tcPr anchor="ctr"/>
                </a:tc>
                <a:tc>
                  <a:txBody>
                    <a:bodyPr/>
                    <a:lstStyle/>
                    <a:p>
                      <a:pPr algn="ctr" latinLnBrk="1"/>
                      <a:r>
                        <a:rPr lang="en-US" altLang="ko-KR" dirty="0" smtClean="0"/>
                        <a:t>400 MB</a:t>
                      </a:r>
                      <a:endParaRPr lang="ko-KR" altLang="en-US" dirty="0"/>
                    </a:p>
                  </a:txBody>
                  <a:tcPr anchor="ctr"/>
                </a:tc>
                <a:tc>
                  <a:txBody>
                    <a:bodyPr/>
                    <a:lstStyle/>
                    <a:p>
                      <a:pPr algn="ctr" latinLnBrk="1"/>
                      <a:r>
                        <a:rPr lang="en-US" altLang="ko-KR" dirty="0" smtClean="0"/>
                        <a:t>1 GB</a:t>
                      </a:r>
                      <a:endParaRPr lang="ko-KR" altLang="en-US" dirty="0"/>
                    </a:p>
                  </a:txBody>
                  <a:tcPr anchor="ctr"/>
                </a:tc>
                <a:extLst>
                  <a:ext uri="{0D108BD9-81ED-4DB2-BD59-A6C34878D82A}">
                    <a16:rowId xmlns:a16="http://schemas.microsoft.com/office/drawing/2014/main" val="1747673497"/>
                  </a:ext>
                </a:extLst>
              </a:tr>
            </a:tbl>
          </a:graphicData>
        </a:graphic>
      </p:graphicFrame>
      <p:sp>
        <p:nvSpPr>
          <p:cNvPr id="2" name="슬라이드 번호 개체 틀 1"/>
          <p:cNvSpPr>
            <a:spLocks noGrp="1"/>
          </p:cNvSpPr>
          <p:nvPr>
            <p:ph type="sldNum" sz="quarter" idx="12"/>
          </p:nvPr>
        </p:nvSpPr>
        <p:spPr/>
        <p:txBody>
          <a:bodyPr/>
          <a:lstStyle/>
          <a:p>
            <a:fld id="{95F8FB6C-4300-4EF3-AEA9-23A98D8A74E1}" type="slidenum">
              <a:rPr lang="ko-KR" altLang="en-US" sz="1800" smtClean="0"/>
              <a:t>8</a:t>
            </a:fld>
            <a:endParaRPr lang="ko-KR" altLang="en-US" sz="1800" dirty="0"/>
          </a:p>
        </p:txBody>
      </p:sp>
    </p:spTree>
    <p:extLst>
      <p:ext uri="{BB962C8B-B14F-4D97-AF65-F5344CB8AC3E}">
        <p14:creationId xmlns:p14="http://schemas.microsoft.com/office/powerpoint/2010/main" val="2177760011"/>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cxnSp>
        <p:nvCxnSpPr>
          <p:cNvPr id="9" name="직선 연결선 8"/>
          <p:cNvCxnSpPr/>
          <p:nvPr/>
        </p:nvCxnSpPr>
        <p:spPr>
          <a:xfrm flipH="1">
            <a:off x="-124046" y="0"/>
            <a:ext cx="12316046" cy="6949263"/>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3066386" y="3126868"/>
            <a:ext cx="6059229" cy="830997"/>
          </a:xfrm>
          <a:prstGeom prst="rect">
            <a:avLst/>
          </a:prstGeom>
          <a:solidFill>
            <a:schemeClr val="tx1"/>
          </a:solidFill>
        </p:spPr>
        <p:txBody>
          <a:bodyPr wrap="square" rtlCol="0">
            <a:spAutoFit/>
          </a:bodyPr>
          <a:lstStyle/>
          <a:p>
            <a:pPr algn="ctr"/>
            <a:r>
              <a:rPr lang="ko-KR" altLang="en-US" sz="4800" b="1" spc="-150" dirty="0" smtClean="0">
                <a:gradFill>
                  <a:gsLst>
                    <a:gs pos="0">
                      <a:prstClr val="white"/>
                    </a:gs>
                    <a:gs pos="100000">
                      <a:prstClr val="white"/>
                    </a:gs>
                  </a:gsLst>
                  <a:lin ang="5400000" scaled="1"/>
                </a:gradFill>
                <a:latin typeface="+mj-ea"/>
                <a:ea typeface="+mj-ea"/>
              </a:rPr>
              <a:t>게임 소개</a:t>
            </a:r>
            <a:endParaRPr lang="ko-KR" altLang="en-US" sz="4800" b="1" spc="-150" dirty="0">
              <a:gradFill>
                <a:gsLst>
                  <a:gs pos="0">
                    <a:prstClr val="white"/>
                  </a:gs>
                  <a:gs pos="100000">
                    <a:prstClr val="white"/>
                  </a:gs>
                </a:gsLst>
                <a:lin ang="5400000" scaled="1"/>
              </a:gradFill>
              <a:latin typeface="+mj-ea"/>
              <a:ea typeface="+mj-ea"/>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solidFill>
                  <a:prstClr val="black">
                    <a:tint val="75000"/>
                  </a:prstClr>
                </a:solidFill>
              </a:rPr>
              <a:pPr/>
              <a:t>9</a:t>
            </a:fld>
            <a:endParaRPr lang="ko-KR" altLang="en-US" dirty="0">
              <a:solidFill>
                <a:prstClr val="black">
                  <a:tint val="75000"/>
                </a:prstClr>
              </a:solidFill>
            </a:endParaRPr>
          </a:p>
        </p:txBody>
      </p:sp>
    </p:spTree>
    <p:extLst>
      <p:ext uri="{BB962C8B-B14F-4D97-AF65-F5344CB8AC3E}">
        <p14:creationId xmlns:p14="http://schemas.microsoft.com/office/powerpoint/2010/main" val="3539076050"/>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세계관</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5257802" y="719382"/>
            <a:ext cx="192439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세계관</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2" name="TextBox 11"/>
          <p:cNvSpPr txBox="1"/>
          <p:nvPr/>
        </p:nvSpPr>
        <p:spPr>
          <a:xfrm>
            <a:off x="5257803" y="1387590"/>
            <a:ext cx="5950972" cy="5078313"/>
          </a:xfrm>
          <a:prstGeom prst="rect">
            <a:avLst/>
          </a:prstGeom>
          <a:noFill/>
        </p:spPr>
        <p:txBody>
          <a:bodyPr wrap="square" rtlCol="0">
            <a:spAutoFit/>
          </a:bodyPr>
          <a:lstStyle/>
          <a:p>
            <a:pPr>
              <a:lnSpc>
                <a:spcPct val="150000"/>
              </a:lnSpc>
            </a:pPr>
            <a:r>
              <a:rPr lang="ko-KR" altLang="en-US" dirty="0" smtClean="0">
                <a:latin typeface="+mn-ea"/>
              </a:rPr>
              <a:t> 동부 왕국의 평화롭고 한적한 마을 </a:t>
            </a:r>
            <a:r>
              <a:rPr lang="en-US" altLang="ko-KR" dirty="0" smtClean="0">
                <a:latin typeface="+mn-ea"/>
              </a:rPr>
              <a:t>‘</a:t>
            </a:r>
            <a:r>
              <a:rPr lang="ko-KR" altLang="en-US" dirty="0" err="1" smtClean="0">
                <a:latin typeface="+mn-ea"/>
              </a:rPr>
              <a:t>리안</a:t>
            </a:r>
            <a:r>
              <a:rPr lang="en-US" altLang="ko-KR" dirty="0" smtClean="0">
                <a:latin typeface="+mn-ea"/>
              </a:rPr>
              <a:t>’.</a:t>
            </a:r>
          </a:p>
          <a:p>
            <a:pPr>
              <a:lnSpc>
                <a:spcPct val="150000"/>
              </a:lnSpc>
            </a:pPr>
            <a:endParaRPr lang="en-US" altLang="ko-KR" dirty="0" smtClean="0">
              <a:latin typeface="+mn-ea"/>
            </a:endParaRPr>
          </a:p>
          <a:p>
            <a:pPr>
              <a:lnSpc>
                <a:spcPct val="150000"/>
              </a:lnSpc>
            </a:pPr>
            <a:r>
              <a:rPr lang="ko-KR" altLang="en-US" dirty="0" smtClean="0">
                <a:latin typeface="+mn-ea"/>
              </a:rPr>
              <a:t>어느 날 돌연</a:t>
            </a:r>
            <a:r>
              <a:rPr lang="en-US" altLang="ko-KR" dirty="0" smtClean="0">
                <a:latin typeface="+mn-ea"/>
              </a:rPr>
              <a:t> </a:t>
            </a:r>
            <a:r>
              <a:rPr lang="ko-KR" altLang="en-US" dirty="0" smtClean="0">
                <a:latin typeface="+mn-ea"/>
              </a:rPr>
              <a:t>마을 주변에 정체불명의 던전이 출현한다</a:t>
            </a:r>
            <a:r>
              <a:rPr lang="en-US" altLang="ko-KR" dirty="0" smtClean="0">
                <a:latin typeface="+mn-ea"/>
              </a:rPr>
              <a:t>.</a:t>
            </a:r>
          </a:p>
          <a:p>
            <a:pPr>
              <a:lnSpc>
                <a:spcPct val="150000"/>
              </a:lnSpc>
            </a:pPr>
            <a:r>
              <a:rPr lang="ko-KR" altLang="en-US" dirty="0" smtClean="0">
                <a:latin typeface="+mn-ea"/>
              </a:rPr>
              <a:t>던전 안에는 수많은 다양한 </a:t>
            </a:r>
            <a:r>
              <a:rPr lang="ko-KR" altLang="en-US" dirty="0" err="1" smtClean="0">
                <a:latin typeface="+mn-ea"/>
              </a:rPr>
              <a:t>몬스터들이</a:t>
            </a:r>
            <a:r>
              <a:rPr lang="ko-KR" altLang="en-US" dirty="0" smtClean="0">
                <a:latin typeface="+mn-ea"/>
              </a:rPr>
              <a:t> 존재했고</a:t>
            </a:r>
            <a:r>
              <a:rPr lang="en-US" altLang="ko-KR" dirty="0" smtClean="0">
                <a:latin typeface="+mn-ea"/>
              </a:rPr>
              <a:t>, </a:t>
            </a:r>
          </a:p>
          <a:p>
            <a:pPr>
              <a:lnSpc>
                <a:spcPct val="150000"/>
              </a:lnSpc>
            </a:pPr>
            <a:r>
              <a:rPr lang="ko-KR" altLang="en-US" dirty="0" smtClean="0">
                <a:latin typeface="+mn-ea"/>
              </a:rPr>
              <a:t>그들은 점차 밖으로 나와 마을 주민들을 위협했다</a:t>
            </a:r>
            <a:r>
              <a:rPr lang="en-US" altLang="ko-KR" dirty="0" smtClean="0">
                <a:latin typeface="+mn-ea"/>
              </a:rPr>
              <a:t>.</a:t>
            </a:r>
          </a:p>
          <a:p>
            <a:pPr>
              <a:lnSpc>
                <a:spcPct val="150000"/>
              </a:lnSpc>
            </a:pPr>
            <a:endParaRPr lang="en-US" altLang="ko-KR" dirty="0">
              <a:latin typeface="+mn-ea"/>
            </a:endParaRPr>
          </a:p>
          <a:p>
            <a:pPr>
              <a:lnSpc>
                <a:spcPct val="150000"/>
              </a:lnSpc>
            </a:pPr>
            <a:r>
              <a:rPr lang="ko-KR" altLang="en-US" dirty="0" smtClean="0">
                <a:latin typeface="+mn-ea"/>
              </a:rPr>
              <a:t> 왕국의 정예 토벌대가 </a:t>
            </a:r>
            <a:r>
              <a:rPr lang="ko-KR" altLang="en-US" dirty="0" err="1" smtClean="0">
                <a:latin typeface="+mn-ea"/>
              </a:rPr>
              <a:t>던전을</a:t>
            </a:r>
            <a:r>
              <a:rPr lang="ko-KR" altLang="en-US" dirty="0" smtClean="0">
                <a:latin typeface="+mn-ea"/>
              </a:rPr>
              <a:t> 공략하려 했지만</a:t>
            </a:r>
            <a:r>
              <a:rPr lang="en-US" altLang="ko-KR" dirty="0" smtClean="0">
                <a:latin typeface="+mn-ea"/>
              </a:rPr>
              <a:t>,</a:t>
            </a:r>
            <a:r>
              <a:rPr lang="ko-KR" altLang="en-US" dirty="0" smtClean="0">
                <a:latin typeface="+mn-ea"/>
              </a:rPr>
              <a:t> </a:t>
            </a:r>
            <a:r>
              <a:rPr lang="ko-KR" altLang="en-US" dirty="0" err="1" smtClean="0">
                <a:latin typeface="+mn-ea"/>
              </a:rPr>
              <a:t>던전의</a:t>
            </a:r>
            <a:r>
              <a:rPr lang="ko-KR" altLang="en-US" dirty="0" smtClean="0">
                <a:latin typeface="+mn-ea"/>
              </a:rPr>
              <a:t> 지배자이자 강력한 마물인 </a:t>
            </a:r>
            <a:r>
              <a:rPr lang="en-US" altLang="ko-KR" dirty="0" smtClean="0">
                <a:latin typeface="+mn-ea"/>
              </a:rPr>
              <a:t>‘</a:t>
            </a:r>
            <a:r>
              <a:rPr lang="ko-KR" altLang="en-US" dirty="0" smtClean="0">
                <a:latin typeface="+mn-ea"/>
              </a:rPr>
              <a:t>마왕</a:t>
            </a:r>
            <a:r>
              <a:rPr lang="en-US" altLang="ko-KR" dirty="0" smtClean="0">
                <a:latin typeface="+mn-ea"/>
              </a:rPr>
              <a:t>’</a:t>
            </a:r>
            <a:r>
              <a:rPr lang="ko-KR" altLang="en-US" dirty="0" smtClean="0">
                <a:latin typeface="+mn-ea"/>
              </a:rPr>
              <a:t>의 힘 앞에 속수무책으로 패배하고 만다</a:t>
            </a:r>
            <a:r>
              <a:rPr lang="en-US" altLang="ko-KR" dirty="0" smtClean="0">
                <a:latin typeface="+mn-ea"/>
              </a:rPr>
              <a:t>.</a:t>
            </a:r>
          </a:p>
          <a:p>
            <a:pPr>
              <a:lnSpc>
                <a:spcPct val="150000"/>
              </a:lnSpc>
            </a:pPr>
            <a:endParaRPr lang="en-US" altLang="ko-KR" dirty="0">
              <a:latin typeface="+mn-ea"/>
            </a:endParaRPr>
          </a:p>
          <a:p>
            <a:pPr>
              <a:lnSpc>
                <a:spcPct val="150000"/>
              </a:lnSpc>
            </a:pPr>
            <a:r>
              <a:rPr lang="ko-KR" altLang="en-US" dirty="0" smtClean="0">
                <a:latin typeface="+mn-ea"/>
              </a:rPr>
              <a:t> 마왕은 </a:t>
            </a:r>
            <a:r>
              <a:rPr lang="ko-KR" altLang="en-US" dirty="0" err="1">
                <a:latin typeface="+mn-ea"/>
              </a:rPr>
              <a:t>던전의</a:t>
            </a:r>
            <a:r>
              <a:rPr lang="ko-KR" altLang="en-US" dirty="0">
                <a:latin typeface="+mn-ea"/>
              </a:rPr>
              <a:t> </a:t>
            </a:r>
            <a:r>
              <a:rPr lang="ko-KR" altLang="en-US" dirty="0" err="1">
                <a:latin typeface="+mn-ea"/>
              </a:rPr>
              <a:t>최심부에는</a:t>
            </a:r>
            <a:r>
              <a:rPr lang="ko-KR" altLang="en-US" dirty="0">
                <a:latin typeface="+mn-ea"/>
              </a:rPr>
              <a:t> 자리잡고 있으며</a:t>
            </a:r>
            <a:r>
              <a:rPr lang="en-US" altLang="ko-KR" dirty="0">
                <a:latin typeface="+mn-ea"/>
              </a:rPr>
              <a:t>, </a:t>
            </a:r>
            <a:r>
              <a:rPr lang="ko-KR" altLang="en-US" dirty="0" err="1">
                <a:latin typeface="+mn-ea"/>
              </a:rPr>
              <a:t>던전</a:t>
            </a:r>
            <a:r>
              <a:rPr lang="ko-KR" altLang="en-US" dirty="0">
                <a:latin typeface="+mn-ea"/>
              </a:rPr>
              <a:t> 안의</a:t>
            </a:r>
            <a:endParaRPr lang="en-US" altLang="ko-KR" dirty="0">
              <a:latin typeface="+mn-ea"/>
            </a:endParaRPr>
          </a:p>
          <a:p>
            <a:pPr>
              <a:lnSpc>
                <a:spcPct val="150000"/>
              </a:lnSpc>
            </a:pPr>
            <a:r>
              <a:rPr lang="ko-KR" altLang="en-US" dirty="0" err="1">
                <a:latin typeface="+mn-ea"/>
              </a:rPr>
              <a:t>몬스터들은</a:t>
            </a:r>
            <a:r>
              <a:rPr lang="ko-KR" altLang="en-US" dirty="0">
                <a:latin typeface="+mn-ea"/>
              </a:rPr>
              <a:t> 마왕의 저주를 받아 사악해진 존재들이었다</a:t>
            </a:r>
            <a:r>
              <a:rPr lang="en-US" altLang="ko-KR" dirty="0" smtClean="0">
                <a:latin typeface="+mn-ea"/>
              </a:rPr>
              <a:t>.</a:t>
            </a:r>
            <a:endParaRPr lang="en-US" altLang="ko-KR" dirty="0">
              <a:latin typeface="+mn-ea"/>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10</a:t>
            </a:fld>
            <a:endParaRPr lang="ko-KR" altLang="en-US" sz="1800" dirty="0"/>
          </a:p>
        </p:txBody>
      </p:sp>
      <p:pic>
        <p:nvPicPr>
          <p:cNvPr id="6" name="그림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3746" y="1931553"/>
            <a:ext cx="4849360" cy="3123306"/>
          </a:xfrm>
          <a:prstGeom prst="rect">
            <a:avLst/>
          </a:prstGeom>
        </p:spPr>
      </p:pic>
      <p:sp>
        <p:nvSpPr>
          <p:cNvPr id="13" name="TextBox 12"/>
          <p:cNvSpPr txBox="1"/>
          <p:nvPr/>
        </p:nvSpPr>
        <p:spPr>
          <a:xfrm>
            <a:off x="1767579" y="5054859"/>
            <a:ext cx="214771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1)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던전의 출현</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Tree>
    <p:extLst>
      <p:ext uri="{BB962C8B-B14F-4D97-AF65-F5344CB8AC3E}">
        <p14:creationId xmlns:p14="http://schemas.microsoft.com/office/powerpoint/2010/main" val="3626314383"/>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세계관</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5257802" y="719382"/>
            <a:ext cx="192439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세계관</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2" name="TextBox 11"/>
          <p:cNvSpPr txBox="1"/>
          <p:nvPr/>
        </p:nvSpPr>
        <p:spPr>
          <a:xfrm>
            <a:off x="5257803" y="1465968"/>
            <a:ext cx="6250574" cy="4247317"/>
          </a:xfrm>
          <a:prstGeom prst="rect">
            <a:avLst/>
          </a:prstGeom>
          <a:noFill/>
        </p:spPr>
        <p:txBody>
          <a:bodyPr wrap="square" rtlCol="0">
            <a:spAutoFit/>
          </a:bodyPr>
          <a:lstStyle/>
          <a:p>
            <a:pPr>
              <a:lnSpc>
                <a:spcPct val="150000"/>
              </a:lnSpc>
            </a:pPr>
            <a:r>
              <a:rPr lang="en-US" altLang="ko-KR" dirty="0" smtClean="0">
                <a:latin typeface="+mn-ea"/>
              </a:rPr>
              <a:t> </a:t>
            </a:r>
            <a:r>
              <a:rPr lang="ko-KR" altLang="en-US" dirty="0" smtClean="0">
                <a:latin typeface="+mn-ea"/>
              </a:rPr>
              <a:t>이에 왕국은 정화의 능력을 지닌 전설의 용사를 불러 </a:t>
            </a:r>
            <a:r>
              <a:rPr lang="ko-KR" altLang="en-US" dirty="0" err="1" smtClean="0">
                <a:latin typeface="+mn-ea"/>
              </a:rPr>
              <a:t>던전을</a:t>
            </a:r>
            <a:r>
              <a:rPr lang="ko-KR" altLang="en-US" dirty="0" smtClean="0">
                <a:latin typeface="+mn-ea"/>
              </a:rPr>
              <a:t> 탐험하고 위험을 제거하라는 명을 내린다</a:t>
            </a:r>
            <a:r>
              <a:rPr lang="en-US" altLang="ko-KR" dirty="0" smtClean="0">
                <a:latin typeface="+mn-ea"/>
              </a:rPr>
              <a:t>.</a:t>
            </a:r>
          </a:p>
          <a:p>
            <a:pPr>
              <a:lnSpc>
                <a:spcPct val="150000"/>
              </a:lnSpc>
            </a:pPr>
            <a:endParaRPr lang="en-US" altLang="ko-KR" dirty="0">
              <a:latin typeface="+mn-ea"/>
            </a:endParaRPr>
          </a:p>
          <a:p>
            <a:pPr>
              <a:lnSpc>
                <a:spcPct val="150000"/>
              </a:lnSpc>
            </a:pPr>
            <a:r>
              <a:rPr lang="ko-KR" altLang="en-US" dirty="0" smtClean="0">
                <a:latin typeface="+mn-ea"/>
              </a:rPr>
              <a:t> 용사는 재앙의 원흉인 마왕을 처치하기 위해 </a:t>
            </a:r>
            <a:r>
              <a:rPr lang="ko-KR" altLang="en-US" dirty="0" err="1" smtClean="0">
                <a:latin typeface="+mn-ea"/>
              </a:rPr>
              <a:t>던전을</a:t>
            </a:r>
            <a:r>
              <a:rPr lang="ko-KR" altLang="en-US" dirty="0" smtClean="0">
                <a:latin typeface="+mn-ea"/>
              </a:rPr>
              <a:t> 정복해나가며 저주받은 </a:t>
            </a:r>
            <a:r>
              <a:rPr lang="ko-KR" altLang="en-US" dirty="0" err="1" smtClean="0">
                <a:latin typeface="+mn-ea"/>
              </a:rPr>
              <a:t>몬스터들을</a:t>
            </a:r>
            <a:r>
              <a:rPr lang="ko-KR" altLang="en-US" dirty="0" smtClean="0">
                <a:latin typeface="+mn-ea"/>
              </a:rPr>
              <a:t> 정화해나갔고</a:t>
            </a:r>
            <a:r>
              <a:rPr lang="en-US" altLang="ko-KR" dirty="0" smtClean="0">
                <a:latin typeface="+mn-ea"/>
              </a:rPr>
              <a:t>, </a:t>
            </a:r>
            <a:r>
              <a:rPr lang="ko-KR" altLang="en-US" dirty="0" smtClean="0">
                <a:latin typeface="+mn-ea"/>
              </a:rPr>
              <a:t>마왕의 손길에서 벗어난 </a:t>
            </a:r>
            <a:r>
              <a:rPr lang="ko-KR" altLang="en-US" dirty="0" err="1" smtClean="0">
                <a:latin typeface="+mn-ea"/>
              </a:rPr>
              <a:t>몬스터들은</a:t>
            </a:r>
            <a:r>
              <a:rPr lang="ko-KR" altLang="en-US" dirty="0" smtClean="0">
                <a:latin typeface="+mn-ea"/>
              </a:rPr>
              <a:t> 용사를 도와 마왕을 처치하는 데에 앞장선다</a:t>
            </a:r>
            <a:r>
              <a:rPr lang="en-US" altLang="ko-KR" dirty="0" smtClean="0">
                <a:latin typeface="+mn-ea"/>
              </a:rPr>
              <a:t>.</a:t>
            </a:r>
            <a:br>
              <a:rPr lang="en-US" altLang="ko-KR" dirty="0" smtClean="0">
                <a:latin typeface="+mn-ea"/>
              </a:rPr>
            </a:br>
            <a:endParaRPr lang="en-US" altLang="ko-KR" dirty="0" smtClean="0">
              <a:latin typeface="+mn-ea"/>
            </a:endParaRPr>
          </a:p>
          <a:p>
            <a:pPr>
              <a:lnSpc>
                <a:spcPct val="150000"/>
              </a:lnSpc>
            </a:pPr>
            <a:r>
              <a:rPr lang="ko-KR" altLang="en-US" dirty="0" smtClean="0">
                <a:latin typeface="+mn-ea"/>
              </a:rPr>
              <a:t> 과연 용사는 무사히 마왕을 무찌르고 마을에 평화를</a:t>
            </a:r>
            <a:endParaRPr lang="en-US" altLang="ko-KR" dirty="0" smtClean="0">
              <a:latin typeface="+mn-ea"/>
            </a:endParaRPr>
          </a:p>
          <a:p>
            <a:pPr>
              <a:lnSpc>
                <a:spcPct val="150000"/>
              </a:lnSpc>
            </a:pPr>
            <a:r>
              <a:rPr lang="ko-KR" altLang="en-US" dirty="0" smtClean="0">
                <a:latin typeface="+mn-ea"/>
              </a:rPr>
              <a:t>가져다 줄 수 있을 것인가</a:t>
            </a:r>
            <a:r>
              <a:rPr lang="en-US" altLang="ko-KR" dirty="0" smtClean="0">
                <a:latin typeface="+mn-ea"/>
              </a:rPr>
              <a:t>?</a:t>
            </a: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11</a:t>
            </a:fld>
            <a:endParaRPr lang="ko-KR" altLang="en-US" sz="1800" dirty="0"/>
          </a:p>
        </p:txBody>
      </p:sp>
      <p:pic>
        <p:nvPicPr>
          <p:cNvPr id="6" name="그림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3746" y="1931553"/>
            <a:ext cx="4849360" cy="3123306"/>
          </a:xfrm>
          <a:prstGeom prst="rect">
            <a:avLst/>
          </a:prstGeom>
        </p:spPr>
      </p:pic>
      <p:sp>
        <p:nvSpPr>
          <p:cNvPr id="13" name="TextBox 12"/>
          <p:cNvSpPr txBox="1"/>
          <p:nvPr/>
        </p:nvSpPr>
        <p:spPr>
          <a:xfrm>
            <a:off x="1767579" y="5054859"/>
            <a:ext cx="214771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1)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던전의 출현</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Tree>
    <p:extLst>
      <p:ext uri="{BB962C8B-B14F-4D97-AF65-F5344CB8AC3E}">
        <p14:creationId xmlns:p14="http://schemas.microsoft.com/office/powerpoint/2010/main" val="2377397473"/>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로그라이트</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로그라이트</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12</a:t>
            </a:fld>
            <a:endParaRPr lang="ko-KR" altLang="en-US" sz="1800" dirty="0"/>
          </a:p>
        </p:txBody>
      </p:sp>
      <p:sp>
        <p:nvSpPr>
          <p:cNvPr id="13" name="TextBox 12"/>
          <p:cNvSpPr txBox="1"/>
          <p:nvPr/>
        </p:nvSpPr>
        <p:spPr>
          <a:xfrm>
            <a:off x="5621868" y="1172029"/>
            <a:ext cx="6340148" cy="5078313"/>
          </a:xfrm>
          <a:prstGeom prst="rect">
            <a:avLst/>
          </a:prstGeom>
          <a:noFill/>
        </p:spPr>
        <p:txBody>
          <a:bodyPr wrap="square" rtlCol="0">
            <a:spAutoFit/>
          </a:bodyPr>
          <a:lstStyle/>
          <a:p>
            <a:pPr>
              <a:lnSpc>
                <a:spcPct val="150000"/>
              </a:lnSpc>
            </a:pPr>
            <a:r>
              <a:rPr lang="en-US" altLang="ko-KR" dirty="0"/>
              <a:t>• </a:t>
            </a:r>
            <a:r>
              <a:rPr lang="ko-KR" altLang="en-US" dirty="0" err="1" smtClean="0"/>
              <a:t>로그라이크</a:t>
            </a:r>
            <a:r>
              <a:rPr lang="ko-KR" altLang="en-US" dirty="0" smtClean="0"/>
              <a:t> 게임의 요소를 일부 채용한 </a:t>
            </a:r>
            <a:r>
              <a:rPr lang="en-US" altLang="ko-KR" dirty="0" smtClean="0"/>
              <a:t>‘</a:t>
            </a:r>
            <a:r>
              <a:rPr lang="ko-KR" altLang="en-US" b="1" dirty="0" err="1" smtClean="0"/>
              <a:t>로그라이트</a:t>
            </a:r>
            <a:r>
              <a:rPr lang="en-US" altLang="ko-KR" dirty="0" smtClean="0"/>
              <a:t>’</a:t>
            </a:r>
          </a:p>
          <a:p>
            <a:pPr>
              <a:lnSpc>
                <a:spcPct val="150000"/>
              </a:lnSpc>
            </a:pPr>
            <a:r>
              <a:rPr lang="en-US" altLang="ko-KR" dirty="0"/>
              <a:t> </a:t>
            </a:r>
            <a:r>
              <a:rPr lang="en-US" altLang="ko-KR" dirty="0" smtClean="0"/>
              <a:t> </a:t>
            </a:r>
            <a:r>
              <a:rPr lang="ko-KR" altLang="en-US" dirty="0" smtClean="0"/>
              <a:t>장르를 도입</a:t>
            </a:r>
            <a:r>
              <a:rPr lang="en-US" altLang="ko-KR" dirty="0" smtClean="0"/>
              <a:t>, </a:t>
            </a:r>
            <a:r>
              <a:rPr lang="ko-KR" altLang="en-US" dirty="0" smtClean="0"/>
              <a:t>기존의 장르에 익숙한 유저들의 높은 </a:t>
            </a:r>
            <a:endParaRPr lang="en-US" altLang="ko-KR" dirty="0" smtClean="0"/>
          </a:p>
          <a:p>
            <a:pPr>
              <a:lnSpc>
                <a:spcPct val="150000"/>
              </a:lnSpc>
            </a:pPr>
            <a:r>
              <a:rPr lang="en-US" altLang="ko-KR" dirty="0" smtClean="0"/>
              <a:t>  </a:t>
            </a:r>
            <a:r>
              <a:rPr lang="ko-KR" altLang="en-US" b="1" dirty="0" smtClean="0"/>
              <a:t>접근성과 홍보 효과</a:t>
            </a:r>
            <a:r>
              <a:rPr lang="ko-KR" altLang="en-US" dirty="0" smtClean="0"/>
              <a:t>를 기대할 수 있습니다</a:t>
            </a:r>
            <a:r>
              <a:rPr lang="en-US" altLang="ko-KR" dirty="0" smtClean="0"/>
              <a:t>.</a:t>
            </a:r>
          </a:p>
          <a:p>
            <a:pPr>
              <a:lnSpc>
                <a:spcPct val="150000"/>
              </a:lnSpc>
            </a:pPr>
            <a:endParaRPr lang="en-US" altLang="ko-KR" sz="1200" dirty="0" smtClean="0">
              <a:latin typeface="+mn-ea"/>
            </a:endParaRPr>
          </a:p>
          <a:p>
            <a:pPr>
              <a:lnSpc>
                <a:spcPct val="150000"/>
              </a:lnSpc>
            </a:pPr>
            <a:r>
              <a:rPr lang="en-US" altLang="ko-KR" dirty="0" smtClean="0"/>
              <a:t>• </a:t>
            </a:r>
            <a:r>
              <a:rPr lang="en-US" altLang="ko-KR" b="1" dirty="0" smtClean="0"/>
              <a:t>1</a:t>
            </a:r>
            <a:r>
              <a:rPr lang="ko-KR" altLang="en-US" b="1" dirty="0" smtClean="0"/>
              <a:t>번 뿐인 목숨</a:t>
            </a:r>
            <a:r>
              <a:rPr lang="ko-KR" altLang="en-US" dirty="0" smtClean="0"/>
              <a:t>과</a:t>
            </a:r>
            <a:r>
              <a:rPr lang="en-US" altLang="ko-KR" dirty="0" smtClean="0"/>
              <a:t>,</a:t>
            </a:r>
            <a:r>
              <a:rPr lang="ko-KR" altLang="en-US" dirty="0" smtClean="0"/>
              <a:t> </a:t>
            </a:r>
            <a:r>
              <a:rPr lang="ko-KR" altLang="en-US" b="1" dirty="0" smtClean="0"/>
              <a:t>랜덤</a:t>
            </a:r>
            <a:r>
              <a:rPr lang="ko-KR" altLang="en-US" dirty="0" smtClean="0"/>
              <a:t>으로 배치되는 던전의 구조를 </a:t>
            </a:r>
            <a:endParaRPr lang="en-US" altLang="ko-KR" dirty="0" smtClean="0"/>
          </a:p>
          <a:p>
            <a:pPr>
              <a:lnSpc>
                <a:spcPct val="150000"/>
              </a:lnSpc>
            </a:pPr>
            <a:r>
              <a:rPr lang="en-US" altLang="ko-KR" dirty="0"/>
              <a:t> </a:t>
            </a:r>
            <a:r>
              <a:rPr lang="en-US" altLang="ko-KR" dirty="0" smtClean="0"/>
              <a:t> </a:t>
            </a:r>
            <a:r>
              <a:rPr lang="ko-KR" altLang="en-US" dirty="0" smtClean="0"/>
              <a:t>통해 게임의 긴장감과 </a:t>
            </a:r>
            <a:r>
              <a:rPr lang="ko-KR" altLang="en-US" dirty="0" err="1" smtClean="0"/>
              <a:t>몰입감을</a:t>
            </a:r>
            <a:r>
              <a:rPr lang="ko-KR" altLang="en-US" dirty="0" smtClean="0"/>
              <a:t> 높이고</a:t>
            </a:r>
            <a:r>
              <a:rPr lang="en-US" altLang="ko-KR" dirty="0" smtClean="0"/>
              <a:t>, </a:t>
            </a:r>
            <a:r>
              <a:rPr lang="ko-KR" altLang="en-US" dirty="0" smtClean="0"/>
              <a:t>플레이의 </a:t>
            </a:r>
            <a:endParaRPr lang="en-US" altLang="ko-KR" dirty="0" smtClean="0"/>
          </a:p>
          <a:p>
            <a:pPr>
              <a:lnSpc>
                <a:spcPct val="150000"/>
              </a:lnSpc>
            </a:pPr>
            <a:r>
              <a:rPr lang="en-US" altLang="ko-KR" dirty="0"/>
              <a:t> </a:t>
            </a:r>
            <a:r>
              <a:rPr lang="en-US" altLang="ko-KR" dirty="0" smtClean="0"/>
              <a:t> </a:t>
            </a:r>
            <a:r>
              <a:rPr lang="ko-KR" altLang="en-US" dirty="0" smtClean="0"/>
              <a:t>신선함과 도전 정신을 고취시킬 수 있습니다</a:t>
            </a:r>
            <a:r>
              <a:rPr lang="en-US" altLang="ko-KR" dirty="0" smtClean="0"/>
              <a:t>.</a:t>
            </a:r>
          </a:p>
          <a:p>
            <a:pPr>
              <a:lnSpc>
                <a:spcPct val="150000"/>
              </a:lnSpc>
            </a:pPr>
            <a:endParaRPr lang="en-US" altLang="ko-KR" sz="1200" dirty="0">
              <a:latin typeface="+mn-ea"/>
            </a:endParaRPr>
          </a:p>
          <a:p>
            <a:pPr>
              <a:lnSpc>
                <a:spcPct val="150000"/>
              </a:lnSpc>
            </a:pPr>
            <a:r>
              <a:rPr lang="en-US" altLang="ko-KR" dirty="0" smtClean="0"/>
              <a:t>• </a:t>
            </a:r>
            <a:r>
              <a:rPr lang="ko-KR" altLang="en-US" dirty="0" smtClean="0"/>
              <a:t>임의 저장과 불러오기가 불가능하며</a:t>
            </a:r>
            <a:r>
              <a:rPr lang="en-US" altLang="ko-KR" dirty="0" smtClean="0"/>
              <a:t>, </a:t>
            </a:r>
            <a:r>
              <a:rPr lang="ko-KR" altLang="en-US" dirty="0" smtClean="0"/>
              <a:t>캐릭터 사망 시</a:t>
            </a:r>
            <a:endParaRPr lang="en-US" altLang="ko-KR" dirty="0" smtClean="0"/>
          </a:p>
          <a:p>
            <a:pPr>
              <a:lnSpc>
                <a:spcPct val="150000"/>
              </a:lnSpc>
            </a:pPr>
            <a:r>
              <a:rPr lang="en-US" altLang="ko-KR" dirty="0"/>
              <a:t> </a:t>
            </a:r>
            <a:r>
              <a:rPr lang="ko-KR" altLang="en-US" dirty="0" smtClean="0"/>
              <a:t> 레벨</a:t>
            </a:r>
            <a:r>
              <a:rPr lang="en-US" altLang="ko-KR" dirty="0" smtClean="0"/>
              <a:t>, </a:t>
            </a:r>
            <a:r>
              <a:rPr lang="ko-KR" altLang="en-US" dirty="0" smtClean="0"/>
              <a:t>아이템 등의 데이터를 잃고 </a:t>
            </a:r>
            <a:r>
              <a:rPr lang="ko-KR" altLang="en-US" b="1" dirty="0" smtClean="0"/>
              <a:t>게임이 </a:t>
            </a:r>
            <a:r>
              <a:rPr lang="ko-KR" altLang="en-US" b="1" dirty="0" err="1" smtClean="0"/>
              <a:t>리셋</a:t>
            </a:r>
            <a:r>
              <a:rPr lang="ko-KR" altLang="en-US" dirty="0" err="1" smtClean="0"/>
              <a:t>됩니다</a:t>
            </a:r>
            <a:r>
              <a:rPr lang="en-US" altLang="ko-KR" dirty="0" smtClean="0"/>
              <a:t>.</a:t>
            </a:r>
          </a:p>
          <a:p>
            <a:pPr>
              <a:lnSpc>
                <a:spcPct val="150000"/>
              </a:lnSpc>
            </a:pPr>
            <a:endParaRPr lang="en-US" altLang="ko-KR" sz="1200" dirty="0"/>
          </a:p>
          <a:p>
            <a:pPr>
              <a:lnSpc>
                <a:spcPct val="150000"/>
              </a:lnSpc>
            </a:pPr>
            <a:r>
              <a:rPr lang="en-US" altLang="ko-KR" dirty="0" smtClean="0"/>
              <a:t>• </a:t>
            </a:r>
            <a:r>
              <a:rPr lang="ko-KR" altLang="en-US" dirty="0" smtClean="0"/>
              <a:t>접근성과 성취감을 높이고 </a:t>
            </a:r>
            <a:r>
              <a:rPr lang="ko-KR" altLang="en-US" dirty="0" err="1" smtClean="0"/>
              <a:t>다회차</a:t>
            </a:r>
            <a:r>
              <a:rPr lang="ko-KR" altLang="en-US" dirty="0" smtClean="0"/>
              <a:t> 플레이어의 형평성을</a:t>
            </a:r>
            <a:endParaRPr lang="en-US" altLang="ko-KR" dirty="0" smtClean="0"/>
          </a:p>
          <a:p>
            <a:pPr>
              <a:lnSpc>
                <a:spcPct val="150000"/>
              </a:lnSpc>
            </a:pPr>
            <a:r>
              <a:rPr lang="en-US" altLang="ko-KR" dirty="0"/>
              <a:t> </a:t>
            </a:r>
            <a:r>
              <a:rPr lang="ko-KR" altLang="en-US" dirty="0" smtClean="0"/>
              <a:t> 위해</a:t>
            </a:r>
            <a:r>
              <a:rPr lang="en-US" altLang="ko-KR" dirty="0" smtClean="0"/>
              <a:t>, </a:t>
            </a:r>
            <a:r>
              <a:rPr lang="ko-KR" altLang="en-US" dirty="0" smtClean="0"/>
              <a:t>사망해도 </a:t>
            </a:r>
            <a:r>
              <a:rPr lang="ko-KR" altLang="en-US" b="1" dirty="0" smtClean="0"/>
              <a:t>잃지 않는 데이터가</a:t>
            </a:r>
            <a:r>
              <a:rPr lang="en-US" altLang="ko-KR" b="1" dirty="0" smtClean="0"/>
              <a:t> </a:t>
            </a:r>
            <a:r>
              <a:rPr lang="ko-KR" altLang="en-US" dirty="0" smtClean="0"/>
              <a:t>존재합니다</a:t>
            </a:r>
            <a:r>
              <a:rPr lang="en-US" altLang="ko-KR" dirty="0" smtClean="0"/>
              <a:t>.</a:t>
            </a:r>
            <a:endParaRPr lang="en-US" altLang="ko-KR" dirty="0"/>
          </a:p>
        </p:txBody>
      </p:sp>
      <p:pic>
        <p:nvPicPr>
          <p:cNvPr id="9" name="그림 8"/>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41515" y="1087359"/>
            <a:ext cx="4014931" cy="2113595"/>
          </a:xfrm>
          <a:prstGeom prst="rect">
            <a:avLst/>
          </a:prstGeom>
        </p:spPr>
      </p:pic>
      <p:sp>
        <p:nvSpPr>
          <p:cNvPr id="12" name="TextBox 11"/>
          <p:cNvSpPr txBox="1"/>
          <p:nvPr/>
        </p:nvSpPr>
        <p:spPr>
          <a:xfrm>
            <a:off x="1430007" y="3196379"/>
            <a:ext cx="2497044" cy="584775"/>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2 )     </a:t>
            </a:r>
            <a:r>
              <a:rPr lang="ko-KR" altLang="en-US" sz="1600" spc="-300" dirty="0" err="1"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로그라이트</a:t>
            </a:r>
            <a:r>
              <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게임</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a:t>
            </a:r>
            <a:r>
              <a:rPr lang="ko-KR" altLang="en-US" sz="1600" spc="-300" dirty="0" err="1"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다키스트</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던전</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pic>
        <p:nvPicPr>
          <p:cNvPr id="14" name="그림 1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1515" y="3921984"/>
            <a:ext cx="4203018" cy="1953932"/>
          </a:xfrm>
          <a:prstGeom prst="rect">
            <a:avLst/>
          </a:prstGeom>
        </p:spPr>
      </p:pic>
      <p:sp>
        <p:nvSpPr>
          <p:cNvPr id="15" name="TextBox 14"/>
          <p:cNvSpPr txBox="1"/>
          <p:nvPr/>
        </p:nvSpPr>
        <p:spPr>
          <a:xfrm>
            <a:off x="1473823" y="5875916"/>
            <a:ext cx="2409412" cy="584775"/>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3 )     </a:t>
            </a:r>
            <a:r>
              <a:rPr lang="ko-KR" altLang="en-US" sz="1600" spc="-300" dirty="0" err="1"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로그라이트</a:t>
            </a:r>
            <a:r>
              <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게임</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a:t>
            </a:r>
            <a:r>
              <a:rPr lang="ko-KR" altLang="en-US" sz="1600" spc="-300" dirty="0" err="1"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아이작의</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a:t>
            </a:r>
            <a:r>
              <a:rPr lang="ko-KR" altLang="en-US" sz="1600" spc="-300" dirty="0" err="1"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번제</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Tree>
    <p:extLst>
      <p:ext uri="{BB962C8B-B14F-4D97-AF65-F5344CB8AC3E}">
        <p14:creationId xmlns:p14="http://schemas.microsoft.com/office/powerpoint/2010/main" val="1006876299"/>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4848564"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개성 있는 캐릭터와 몬스터</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3009900" y="517669"/>
            <a:ext cx="5962650" cy="584775"/>
          </a:xfrm>
          <a:prstGeom prst="rect">
            <a:avLst/>
          </a:prstGeom>
          <a:noFill/>
        </p:spPr>
        <p:txBody>
          <a:bodyPr wrap="square" rtlCol="0">
            <a:spAutoFit/>
          </a:bodyPr>
          <a:lstStyle/>
          <a:p>
            <a:pPr algn="ctr"/>
            <a:r>
              <a:rPr lang="en-US" altLang="ko-KR" sz="3200" b="1" spc="-30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개성 있는 캐릭터와 몬스터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13</a:t>
            </a:fld>
            <a:endParaRPr lang="ko-KR" altLang="en-US" sz="1800" dirty="0"/>
          </a:p>
        </p:txBody>
      </p:sp>
      <p:sp>
        <p:nvSpPr>
          <p:cNvPr id="13" name="TextBox 12"/>
          <p:cNvSpPr txBox="1"/>
          <p:nvPr/>
        </p:nvSpPr>
        <p:spPr>
          <a:xfrm>
            <a:off x="5276851" y="1099309"/>
            <a:ext cx="6467474" cy="5493812"/>
          </a:xfrm>
          <a:prstGeom prst="rect">
            <a:avLst/>
          </a:prstGeom>
          <a:noFill/>
        </p:spPr>
        <p:txBody>
          <a:bodyPr wrap="square" rtlCol="0">
            <a:spAutoFit/>
          </a:bodyPr>
          <a:lstStyle/>
          <a:p>
            <a:pPr>
              <a:lnSpc>
                <a:spcPct val="150000"/>
              </a:lnSpc>
            </a:pPr>
            <a:r>
              <a:rPr lang="en-US" altLang="ko-KR" dirty="0"/>
              <a:t>• </a:t>
            </a:r>
            <a:r>
              <a:rPr lang="ko-KR" altLang="en-US" dirty="0" smtClean="0">
                <a:latin typeface="+mn-ea"/>
              </a:rPr>
              <a:t>플레이어는 용사가 되어 던전을 탐험하게 됩니다</a:t>
            </a:r>
            <a:r>
              <a:rPr lang="en-US" altLang="ko-KR" dirty="0" smtClean="0">
                <a:latin typeface="+mn-ea"/>
              </a:rPr>
              <a:t>. </a:t>
            </a:r>
            <a:r>
              <a:rPr lang="ko-KR" altLang="en-US" dirty="0" smtClean="0">
                <a:latin typeface="+mn-ea"/>
              </a:rPr>
              <a:t>용사들은 </a:t>
            </a:r>
            <a:endParaRPr lang="en-US" altLang="ko-KR" dirty="0" smtClean="0">
              <a:latin typeface="+mn-ea"/>
            </a:endParaRPr>
          </a:p>
          <a:p>
            <a:pPr>
              <a:lnSpc>
                <a:spcPct val="150000"/>
              </a:lnSpc>
            </a:pPr>
            <a:r>
              <a:rPr lang="en-US" altLang="ko-KR" dirty="0">
                <a:latin typeface="+mn-ea"/>
              </a:rPr>
              <a:t> </a:t>
            </a:r>
            <a:r>
              <a:rPr lang="en-US" altLang="ko-KR" dirty="0" smtClean="0">
                <a:latin typeface="+mn-ea"/>
              </a:rPr>
              <a:t> </a:t>
            </a:r>
            <a:r>
              <a:rPr lang="ko-KR" altLang="en-US" dirty="0" smtClean="0">
                <a:latin typeface="+mn-ea"/>
              </a:rPr>
              <a:t>각기 </a:t>
            </a:r>
            <a:r>
              <a:rPr lang="ko-KR" altLang="en-US" b="1" dirty="0" smtClean="0">
                <a:latin typeface="+mn-ea"/>
              </a:rPr>
              <a:t>다른 컨셉과 능력</a:t>
            </a:r>
            <a:r>
              <a:rPr lang="ko-KR" altLang="en-US" dirty="0" smtClean="0">
                <a:latin typeface="+mn-ea"/>
              </a:rPr>
              <a:t>을 보유하고 있으며</a:t>
            </a:r>
            <a:r>
              <a:rPr lang="en-US" altLang="ko-KR" dirty="0" smtClean="0">
                <a:latin typeface="+mn-ea"/>
              </a:rPr>
              <a:t>, </a:t>
            </a:r>
            <a:r>
              <a:rPr lang="ko-KR" altLang="en-US" dirty="0" err="1" smtClean="0">
                <a:latin typeface="+mn-ea"/>
              </a:rPr>
              <a:t>던전을</a:t>
            </a:r>
            <a:r>
              <a:rPr lang="ko-KR" altLang="en-US" dirty="0" smtClean="0">
                <a:latin typeface="+mn-ea"/>
              </a:rPr>
              <a:t> 탐험하며 </a:t>
            </a:r>
            <a:endParaRPr lang="en-US" altLang="ko-KR" dirty="0" smtClean="0">
              <a:latin typeface="+mn-ea"/>
            </a:endParaRPr>
          </a:p>
          <a:p>
            <a:pPr>
              <a:lnSpc>
                <a:spcPct val="150000"/>
              </a:lnSpc>
            </a:pPr>
            <a:r>
              <a:rPr lang="en-US" altLang="ko-KR" dirty="0">
                <a:latin typeface="+mn-ea"/>
              </a:rPr>
              <a:t> </a:t>
            </a:r>
            <a:r>
              <a:rPr lang="en-US" altLang="ko-KR" dirty="0" smtClean="0">
                <a:latin typeface="+mn-ea"/>
              </a:rPr>
              <a:t> </a:t>
            </a:r>
            <a:r>
              <a:rPr lang="ko-KR" altLang="en-US" dirty="0" smtClean="0">
                <a:latin typeface="+mn-ea"/>
              </a:rPr>
              <a:t>아군 </a:t>
            </a:r>
            <a:r>
              <a:rPr lang="ko-KR" altLang="en-US" dirty="0" err="1" smtClean="0">
                <a:latin typeface="+mn-ea"/>
              </a:rPr>
              <a:t>몬스터들과</a:t>
            </a:r>
            <a:r>
              <a:rPr lang="ko-KR" altLang="en-US" dirty="0" smtClean="0">
                <a:latin typeface="+mn-ea"/>
              </a:rPr>
              <a:t> 함께 더욱 깊은</a:t>
            </a:r>
            <a:r>
              <a:rPr lang="en-US" altLang="ko-KR" dirty="0" smtClean="0">
                <a:latin typeface="+mn-ea"/>
              </a:rPr>
              <a:t> </a:t>
            </a:r>
            <a:r>
              <a:rPr lang="ko-KR" altLang="en-US" dirty="0" smtClean="0">
                <a:latin typeface="+mn-ea"/>
              </a:rPr>
              <a:t>곳을 향해 나아갑니다</a:t>
            </a:r>
            <a:r>
              <a:rPr lang="en-US" altLang="ko-KR" dirty="0" smtClean="0">
                <a:latin typeface="+mn-ea"/>
              </a:rPr>
              <a:t>.</a:t>
            </a:r>
          </a:p>
          <a:p>
            <a:pPr>
              <a:lnSpc>
                <a:spcPct val="150000"/>
              </a:lnSpc>
            </a:pPr>
            <a:endParaRPr lang="en-US" altLang="ko-KR" sz="1200" dirty="0">
              <a:latin typeface="+mn-ea"/>
            </a:endParaRPr>
          </a:p>
          <a:p>
            <a:pPr>
              <a:lnSpc>
                <a:spcPct val="150000"/>
              </a:lnSpc>
            </a:pPr>
            <a:r>
              <a:rPr lang="en-US" altLang="ko-KR" dirty="0" smtClean="0"/>
              <a:t>• </a:t>
            </a:r>
            <a:r>
              <a:rPr lang="ko-KR" altLang="en-US" dirty="0" smtClean="0"/>
              <a:t>캐릭터와 </a:t>
            </a:r>
            <a:r>
              <a:rPr lang="ko-KR" altLang="en-US" dirty="0" err="1" smtClean="0"/>
              <a:t>몬스터</a:t>
            </a:r>
            <a:r>
              <a:rPr lang="ko-KR" altLang="en-US" dirty="0" smtClean="0"/>
              <a:t> </a:t>
            </a:r>
            <a:r>
              <a:rPr lang="ko-KR" altLang="en-US" dirty="0" smtClean="0">
                <a:latin typeface="+mn-ea"/>
              </a:rPr>
              <a:t>각각의 독특하고 고유한 능력과 기술로</a:t>
            </a:r>
            <a:r>
              <a:rPr lang="en-US" altLang="ko-KR" dirty="0" smtClean="0">
                <a:latin typeface="+mn-ea"/>
              </a:rPr>
              <a:t>,</a:t>
            </a:r>
            <a:r>
              <a:rPr lang="ko-KR" altLang="en-US" dirty="0" smtClean="0">
                <a:latin typeface="+mn-ea"/>
              </a:rPr>
              <a:t> </a:t>
            </a:r>
            <a:endParaRPr lang="en-US" altLang="ko-KR" dirty="0" smtClean="0">
              <a:latin typeface="+mn-ea"/>
            </a:endParaRPr>
          </a:p>
          <a:p>
            <a:pPr>
              <a:lnSpc>
                <a:spcPct val="150000"/>
              </a:lnSpc>
            </a:pPr>
            <a:r>
              <a:rPr lang="en-US" altLang="ko-KR" dirty="0" smtClean="0">
                <a:latin typeface="+mn-ea"/>
              </a:rPr>
              <a:t>  </a:t>
            </a:r>
            <a:r>
              <a:rPr lang="ko-KR" altLang="en-US" dirty="0" smtClean="0">
                <a:latin typeface="+mn-ea"/>
              </a:rPr>
              <a:t>색다르고 </a:t>
            </a:r>
            <a:r>
              <a:rPr lang="ko-KR" altLang="en-US" dirty="0">
                <a:latin typeface="+mn-ea"/>
              </a:rPr>
              <a:t>강력한 </a:t>
            </a:r>
            <a:r>
              <a:rPr lang="ko-KR" altLang="en-US" b="1" dirty="0" smtClean="0">
                <a:latin typeface="+mn-ea"/>
              </a:rPr>
              <a:t>조합을 연구</a:t>
            </a:r>
            <a:r>
              <a:rPr lang="ko-KR" altLang="en-US" dirty="0" smtClean="0">
                <a:latin typeface="+mn-ea"/>
              </a:rPr>
              <a:t>하여</a:t>
            </a:r>
            <a:r>
              <a:rPr lang="en-US" altLang="ko-KR" dirty="0" smtClean="0">
                <a:latin typeface="+mn-ea"/>
              </a:rPr>
              <a:t> </a:t>
            </a:r>
            <a:r>
              <a:rPr lang="ko-KR" altLang="en-US" b="1" dirty="0">
                <a:latin typeface="+mn-ea"/>
              </a:rPr>
              <a:t>다채로운 </a:t>
            </a:r>
            <a:r>
              <a:rPr lang="ko-KR" altLang="en-US" b="1" dirty="0" smtClean="0">
                <a:latin typeface="+mn-ea"/>
              </a:rPr>
              <a:t>전략</a:t>
            </a:r>
            <a:r>
              <a:rPr lang="ko-KR" altLang="en-US" dirty="0" smtClean="0">
                <a:latin typeface="+mn-ea"/>
              </a:rPr>
              <a:t>을 펼칠 </a:t>
            </a:r>
            <a:endParaRPr lang="en-US" altLang="ko-KR" dirty="0" smtClean="0">
              <a:latin typeface="+mn-ea"/>
            </a:endParaRPr>
          </a:p>
          <a:p>
            <a:pPr>
              <a:lnSpc>
                <a:spcPct val="150000"/>
              </a:lnSpc>
            </a:pPr>
            <a:r>
              <a:rPr lang="en-US" altLang="ko-KR" dirty="0">
                <a:latin typeface="+mn-ea"/>
              </a:rPr>
              <a:t> </a:t>
            </a:r>
            <a:r>
              <a:rPr lang="en-US" altLang="ko-KR" dirty="0" smtClean="0">
                <a:latin typeface="+mn-ea"/>
              </a:rPr>
              <a:t> </a:t>
            </a:r>
            <a:r>
              <a:rPr lang="ko-KR" altLang="en-US" dirty="0" smtClean="0">
                <a:latin typeface="+mn-ea"/>
              </a:rPr>
              <a:t>수 있습니다</a:t>
            </a:r>
            <a:r>
              <a:rPr lang="en-US" altLang="ko-KR" dirty="0" smtClean="0">
                <a:latin typeface="+mn-ea"/>
              </a:rPr>
              <a:t>.</a:t>
            </a:r>
          </a:p>
          <a:p>
            <a:pPr>
              <a:lnSpc>
                <a:spcPct val="150000"/>
              </a:lnSpc>
            </a:pPr>
            <a:endParaRPr lang="en-US" altLang="ko-KR" sz="1200" dirty="0">
              <a:latin typeface="+mn-ea"/>
            </a:endParaRPr>
          </a:p>
          <a:p>
            <a:pPr>
              <a:lnSpc>
                <a:spcPct val="150000"/>
              </a:lnSpc>
            </a:pPr>
            <a:r>
              <a:rPr lang="en-US" altLang="ko-KR" dirty="0"/>
              <a:t>• </a:t>
            </a:r>
            <a:r>
              <a:rPr lang="ko-KR" altLang="en-US" dirty="0" err="1" smtClean="0"/>
              <a:t>던전을</a:t>
            </a:r>
            <a:r>
              <a:rPr lang="ko-KR" altLang="en-US" dirty="0" smtClean="0"/>
              <a:t> 탐험하며 획득할 수 있는 </a:t>
            </a:r>
            <a:r>
              <a:rPr lang="ko-KR" altLang="en-US" b="1" dirty="0" err="1" smtClean="0"/>
              <a:t>아티팩트</a:t>
            </a:r>
            <a:r>
              <a:rPr lang="ko-KR" altLang="en-US" dirty="0" err="1" smtClean="0"/>
              <a:t>를</a:t>
            </a:r>
            <a:r>
              <a:rPr lang="ko-KR" altLang="en-US" dirty="0" smtClean="0"/>
              <a:t> 통해 캐릭터와 </a:t>
            </a:r>
            <a:endParaRPr lang="en-US" altLang="ko-KR" dirty="0" smtClean="0"/>
          </a:p>
          <a:p>
            <a:pPr>
              <a:lnSpc>
                <a:spcPct val="150000"/>
              </a:lnSpc>
            </a:pPr>
            <a:r>
              <a:rPr lang="en-US" altLang="ko-KR" dirty="0"/>
              <a:t> </a:t>
            </a:r>
            <a:r>
              <a:rPr lang="en-US" altLang="ko-KR" dirty="0" smtClean="0"/>
              <a:t> </a:t>
            </a:r>
            <a:r>
              <a:rPr lang="ko-KR" altLang="en-US" dirty="0" err="1" smtClean="0"/>
              <a:t>몬스터를</a:t>
            </a:r>
            <a:r>
              <a:rPr lang="ko-KR" altLang="en-US" dirty="0" smtClean="0"/>
              <a:t> 더욱 강화할 수 있습니다</a:t>
            </a:r>
            <a:r>
              <a:rPr lang="en-US" altLang="ko-KR" dirty="0" smtClean="0"/>
              <a:t>.</a:t>
            </a:r>
          </a:p>
          <a:p>
            <a:pPr>
              <a:lnSpc>
                <a:spcPct val="150000"/>
              </a:lnSpc>
            </a:pPr>
            <a:endParaRPr lang="en-US" altLang="ko-KR" sz="1200" dirty="0">
              <a:latin typeface="+mn-ea"/>
            </a:endParaRPr>
          </a:p>
          <a:p>
            <a:pPr>
              <a:lnSpc>
                <a:spcPct val="150000"/>
              </a:lnSpc>
            </a:pPr>
            <a:r>
              <a:rPr lang="en-US" altLang="ko-KR" dirty="0" smtClean="0"/>
              <a:t>• </a:t>
            </a:r>
            <a:r>
              <a:rPr lang="ko-KR" altLang="en-US" dirty="0" smtClean="0"/>
              <a:t>이런 점을 통해 개인의 성향에 맞는 </a:t>
            </a:r>
            <a:r>
              <a:rPr lang="ko-KR" altLang="en-US" b="1" dirty="0" smtClean="0"/>
              <a:t>각양각색의 플레이</a:t>
            </a:r>
            <a:r>
              <a:rPr lang="ko-KR" altLang="en-US" dirty="0" smtClean="0"/>
              <a:t>를 </a:t>
            </a:r>
            <a:endParaRPr lang="en-US" altLang="ko-KR" dirty="0" smtClean="0"/>
          </a:p>
          <a:p>
            <a:pPr>
              <a:lnSpc>
                <a:spcPct val="150000"/>
              </a:lnSpc>
            </a:pPr>
            <a:r>
              <a:rPr lang="en-US" altLang="ko-KR" dirty="0"/>
              <a:t> </a:t>
            </a:r>
            <a:r>
              <a:rPr lang="en-US" altLang="ko-KR" dirty="0" smtClean="0"/>
              <a:t> </a:t>
            </a:r>
            <a:r>
              <a:rPr lang="ko-KR" altLang="en-US" dirty="0" smtClean="0"/>
              <a:t>제공하고</a:t>
            </a:r>
            <a:r>
              <a:rPr lang="en-US" altLang="ko-KR" dirty="0" smtClean="0"/>
              <a:t>, </a:t>
            </a:r>
            <a:r>
              <a:rPr lang="ko-KR" altLang="en-US" dirty="0" smtClean="0"/>
              <a:t>지속적인 </a:t>
            </a:r>
            <a:r>
              <a:rPr lang="ko-KR" altLang="en-US" dirty="0" err="1" smtClean="0"/>
              <a:t>컨텐츠을</a:t>
            </a:r>
            <a:r>
              <a:rPr lang="ko-KR" altLang="en-US" dirty="0" smtClean="0"/>
              <a:t> 확보하면서 유저로 하여금</a:t>
            </a:r>
            <a:endParaRPr lang="en-US" altLang="ko-KR" dirty="0" smtClean="0"/>
          </a:p>
          <a:p>
            <a:pPr>
              <a:lnSpc>
                <a:spcPct val="150000"/>
              </a:lnSpc>
            </a:pPr>
            <a:r>
              <a:rPr lang="en-US" altLang="ko-KR" dirty="0"/>
              <a:t> </a:t>
            </a:r>
            <a:r>
              <a:rPr lang="ko-KR" altLang="en-US" dirty="0" smtClean="0"/>
              <a:t> 게임에 더욱</a:t>
            </a:r>
            <a:r>
              <a:rPr lang="en-US" altLang="ko-KR" dirty="0" smtClean="0"/>
              <a:t> </a:t>
            </a:r>
            <a:r>
              <a:rPr lang="ko-KR" altLang="en-US" dirty="0" smtClean="0"/>
              <a:t>몰입할 수 있도록 유도합니다</a:t>
            </a:r>
            <a:r>
              <a:rPr lang="en-US" altLang="ko-KR" dirty="0" smtClean="0"/>
              <a:t>.</a:t>
            </a:r>
            <a:endParaRPr lang="en-US" altLang="ko-KR" dirty="0" smtClean="0">
              <a:latin typeface="+mn-ea"/>
            </a:endParaRPr>
          </a:p>
        </p:txBody>
      </p:sp>
      <p:pic>
        <p:nvPicPr>
          <p:cNvPr id="8" name="그림 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1515" y="1274142"/>
            <a:ext cx="4014931" cy="2160507"/>
          </a:xfrm>
          <a:prstGeom prst="rect">
            <a:avLst/>
          </a:prstGeom>
        </p:spPr>
      </p:pic>
      <p:sp>
        <p:nvSpPr>
          <p:cNvPr id="9" name="TextBox 8"/>
          <p:cNvSpPr txBox="1"/>
          <p:nvPr/>
        </p:nvSpPr>
        <p:spPr>
          <a:xfrm>
            <a:off x="1401192" y="3434650"/>
            <a:ext cx="2695575"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4</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다채로운   </a:t>
            </a:r>
            <a:r>
              <a:rPr lang="ko-KR" altLang="en-US" sz="1600" spc="-300" dirty="0" err="1"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몬스터들</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pic>
        <p:nvPicPr>
          <p:cNvPr id="12" name="그림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55292" y="3864818"/>
            <a:ext cx="3840901" cy="2160507"/>
          </a:xfrm>
          <a:prstGeom prst="rect">
            <a:avLst/>
          </a:prstGeom>
        </p:spPr>
      </p:pic>
      <p:sp>
        <p:nvSpPr>
          <p:cNvPr id="14" name="TextBox 13"/>
          <p:cNvSpPr txBox="1"/>
          <p:nvPr/>
        </p:nvSpPr>
        <p:spPr>
          <a:xfrm>
            <a:off x="1246581" y="6025325"/>
            <a:ext cx="3058321"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5 )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다른 </a:t>
            </a:r>
            <a:r>
              <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컨셉의 용사  캐릭터</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Tree>
    <p:extLst>
      <p:ext uri="{BB962C8B-B14F-4D97-AF65-F5344CB8AC3E}">
        <p14:creationId xmlns:p14="http://schemas.microsoft.com/office/powerpoint/2010/main" val="1435336868"/>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몬스터의 정화</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3009900" y="517669"/>
            <a:ext cx="623887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몬스터의</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정화</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14</a:t>
            </a:fld>
            <a:endParaRPr lang="ko-KR" altLang="en-US" sz="1800" dirty="0"/>
          </a:p>
        </p:txBody>
      </p:sp>
      <p:sp>
        <p:nvSpPr>
          <p:cNvPr id="13" name="TextBox 12"/>
          <p:cNvSpPr txBox="1"/>
          <p:nvPr/>
        </p:nvSpPr>
        <p:spPr>
          <a:xfrm>
            <a:off x="5280346" y="1347170"/>
            <a:ext cx="6789733" cy="5216813"/>
          </a:xfrm>
          <a:prstGeom prst="rect">
            <a:avLst/>
          </a:prstGeom>
          <a:noFill/>
        </p:spPr>
        <p:txBody>
          <a:bodyPr wrap="square" rtlCol="0">
            <a:spAutoFit/>
          </a:bodyPr>
          <a:lstStyle/>
          <a:p>
            <a:pPr>
              <a:lnSpc>
                <a:spcPct val="150000"/>
              </a:lnSpc>
            </a:pPr>
            <a:r>
              <a:rPr lang="en-US" altLang="ko-KR" dirty="0"/>
              <a:t>• </a:t>
            </a:r>
            <a:r>
              <a:rPr lang="ko-KR" altLang="en-US" dirty="0" smtClean="0">
                <a:latin typeface="+mn-ea"/>
              </a:rPr>
              <a:t>용사가 </a:t>
            </a:r>
            <a:r>
              <a:rPr lang="ko-KR" altLang="en-US" dirty="0" err="1" smtClean="0">
                <a:latin typeface="+mn-ea"/>
              </a:rPr>
              <a:t>던전을</a:t>
            </a:r>
            <a:r>
              <a:rPr lang="ko-KR" altLang="en-US" dirty="0" smtClean="0">
                <a:latin typeface="+mn-ea"/>
              </a:rPr>
              <a:t> 탐험하고 </a:t>
            </a:r>
            <a:r>
              <a:rPr lang="ko-KR" altLang="en-US" dirty="0" err="1" smtClean="0">
                <a:latin typeface="+mn-ea"/>
              </a:rPr>
              <a:t>몬스터를</a:t>
            </a:r>
            <a:r>
              <a:rPr lang="ko-KR" altLang="en-US" dirty="0" smtClean="0">
                <a:latin typeface="+mn-ea"/>
              </a:rPr>
              <a:t> 쓰러트린 후</a:t>
            </a:r>
            <a:r>
              <a:rPr lang="en-US" altLang="ko-KR" dirty="0" smtClean="0">
                <a:latin typeface="+mn-ea"/>
              </a:rPr>
              <a:t>, </a:t>
            </a:r>
            <a:r>
              <a:rPr lang="ko-KR" altLang="en-US" b="1" dirty="0" smtClean="0">
                <a:latin typeface="+mn-ea"/>
              </a:rPr>
              <a:t>정화</a:t>
            </a:r>
            <a:r>
              <a:rPr lang="ko-KR" altLang="en-US" dirty="0" smtClean="0">
                <a:latin typeface="+mn-ea"/>
              </a:rPr>
              <a:t>를 통해</a:t>
            </a:r>
            <a:endParaRPr lang="en-US" altLang="ko-KR" dirty="0" smtClean="0">
              <a:latin typeface="+mn-ea"/>
            </a:endParaRPr>
          </a:p>
          <a:p>
            <a:pPr>
              <a:lnSpc>
                <a:spcPct val="150000"/>
              </a:lnSpc>
            </a:pPr>
            <a:r>
              <a:rPr lang="en-US" altLang="ko-KR" dirty="0">
                <a:latin typeface="+mn-ea"/>
              </a:rPr>
              <a:t> </a:t>
            </a:r>
            <a:r>
              <a:rPr lang="en-US" altLang="ko-KR" dirty="0" smtClean="0">
                <a:latin typeface="+mn-ea"/>
              </a:rPr>
              <a:t> </a:t>
            </a:r>
            <a:r>
              <a:rPr lang="ko-KR" altLang="en-US" dirty="0" smtClean="0">
                <a:latin typeface="+mn-ea"/>
              </a:rPr>
              <a:t>해당 </a:t>
            </a:r>
            <a:r>
              <a:rPr lang="ko-KR" altLang="en-US" dirty="0" err="1" smtClean="0">
                <a:latin typeface="+mn-ea"/>
              </a:rPr>
              <a:t>몬스터의</a:t>
            </a:r>
            <a:r>
              <a:rPr lang="ko-KR" altLang="en-US" dirty="0" smtClean="0">
                <a:latin typeface="+mn-ea"/>
              </a:rPr>
              <a:t> 저주를 해제하고 </a:t>
            </a:r>
            <a:r>
              <a:rPr lang="ko-KR" altLang="en-US" b="1" dirty="0" smtClean="0">
                <a:latin typeface="+mn-ea"/>
              </a:rPr>
              <a:t>자신의 편</a:t>
            </a:r>
            <a:r>
              <a:rPr lang="ko-KR" altLang="en-US" dirty="0" smtClean="0">
                <a:latin typeface="+mn-ea"/>
              </a:rPr>
              <a:t>으로 만들 수 </a:t>
            </a:r>
            <a:r>
              <a:rPr lang="ko-KR" altLang="en-US" dirty="0" err="1" smtClean="0">
                <a:latin typeface="+mn-ea"/>
              </a:rPr>
              <a:t>있습</a:t>
            </a:r>
            <a:endParaRPr lang="en-US" altLang="ko-KR" dirty="0" smtClean="0">
              <a:latin typeface="+mn-ea"/>
            </a:endParaRPr>
          </a:p>
          <a:p>
            <a:pPr>
              <a:lnSpc>
                <a:spcPct val="150000"/>
              </a:lnSpc>
            </a:pPr>
            <a:r>
              <a:rPr lang="en-US" altLang="ko-KR" dirty="0" smtClean="0">
                <a:latin typeface="+mn-ea"/>
              </a:rPr>
              <a:t>  </a:t>
            </a:r>
            <a:r>
              <a:rPr lang="ko-KR" altLang="en-US" dirty="0" err="1" smtClean="0">
                <a:latin typeface="+mn-ea"/>
              </a:rPr>
              <a:t>니다</a:t>
            </a:r>
            <a:r>
              <a:rPr lang="en-US" altLang="ko-KR" dirty="0" smtClean="0">
                <a:latin typeface="+mn-ea"/>
              </a:rPr>
              <a:t>. </a:t>
            </a:r>
            <a:r>
              <a:rPr lang="ko-KR" altLang="en-US" dirty="0"/>
              <a:t>정화한 </a:t>
            </a:r>
            <a:r>
              <a:rPr lang="ko-KR" altLang="en-US" dirty="0" err="1"/>
              <a:t>몬스터는</a:t>
            </a:r>
            <a:r>
              <a:rPr lang="ko-KR" altLang="en-US" dirty="0"/>
              <a:t> 플레이어의 편에 서서 함께 전투를 </a:t>
            </a:r>
            <a:endParaRPr lang="en-US" altLang="ko-KR" dirty="0" smtClean="0"/>
          </a:p>
          <a:p>
            <a:pPr>
              <a:lnSpc>
                <a:spcPct val="150000"/>
              </a:lnSpc>
            </a:pPr>
            <a:r>
              <a:rPr lang="en-US" altLang="ko-KR" dirty="0"/>
              <a:t> </a:t>
            </a:r>
            <a:r>
              <a:rPr lang="en-US" altLang="ko-KR" dirty="0" smtClean="0"/>
              <a:t> </a:t>
            </a:r>
            <a:r>
              <a:rPr lang="ko-KR" altLang="en-US" dirty="0" smtClean="0"/>
              <a:t>치를 것</a:t>
            </a:r>
            <a:r>
              <a:rPr lang="en-US" altLang="ko-KR" dirty="0" smtClean="0"/>
              <a:t> </a:t>
            </a:r>
            <a:r>
              <a:rPr lang="ko-KR" altLang="en-US" dirty="0"/>
              <a:t>입니다</a:t>
            </a:r>
            <a:r>
              <a:rPr lang="en-US" altLang="ko-KR" dirty="0"/>
              <a:t>. </a:t>
            </a:r>
            <a:endParaRPr lang="en-US" altLang="ko-KR" dirty="0" smtClean="0">
              <a:latin typeface="+mn-ea"/>
            </a:endParaRPr>
          </a:p>
          <a:p>
            <a:pPr>
              <a:lnSpc>
                <a:spcPct val="150000"/>
              </a:lnSpc>
            </a:pPr>
            <a:endParaRPr lang="en-US" altLang="ko-KR" sz="1200" dirty="0">
              <a:latin typeface="+mn-ea"/>
            </a:endParaRPr>
          </a:p>
          <a:p>
            <a:pPr>
              <a:lnSpc>
                <a:spcPct val="150000"/>
              </a:lnSpc>
            </a:pPr>
            <a:r>
              <a:rPr lang="en-US" altLang="ko-KR" dirty="0" smtClean="0"/>
              <a:t>• </a:t>
            </a:r>
            <a:r>
              <a:rPr lang="ko-KR" altLang="en-US" dirty="0" err="1" smtClean="0"/>
              <a:t>몬스터에</a:t>
            </a:r>
            <a:r>
              <a:rPr lang="ko-KR" altLang="en-US" dirty="0" smtClean="0"/>
              <a:t> 따라 정화 방법과 조</a:t>
            </a:r>
            <a:r>
              <a:rPr lang="ko-KR" altLang="en-US" dirty="0"/>
              <a:t>건</a:t>
            </a:r>
            <a:r>
              <a:rPr lang="ko-KR" altLang="en-US" dirty="0" smtClean="0"/>
              <a:t>이 상이하기 때문에</a:t>
            </a:r>
            <a:r>
              <a:rPr lang="en-US" altLang="ko-KR" dirty="0" smtClean="0"/>
              <a:t>, </a:t>
            </a:r>
            <a:r>
              <a:rPr lang="ko-KR" altLang="en-US" dirty="0" smtClean="0"/>
              <a:t>원하는 </a:t>
            </a:r>
            <a:endParaRPr lang="en-US" altLang="ko-KR" dirty="0" smtClean="0"/>
          </a:p>
          <a:p>
            <a:pPr>
              <a:lnSpc>
                <a:spcPct val="150000"/>
              </a:lnSpc>
            </a:pPr>
            <a:r>
              <a:rPr lang="en-US" altLang="ko-KR" dirty="0"/>
              <a:t> </a:t>
            </a:r>
            <a:r>
              <a:rPr lang="en-US" altLang="ko-KR" dirty="0" smtClean="0"/>
              <a:t> </a:t>
            </a:r>
            <a:r>
              <a:rPr lang="ko-KR" altLang="en-US" dirty="0" smtClean="0"/>
              <a:t>몬스터를 얻기</a:t>
            </a:r>
            <a:r>
              <a:rPr lang="en-US" altLang="ko-KR" dirty="0" smtClean="0"/>
              <a:t> </a:t>
            </a:r>
            <a:r>
              <a:rPr lang="ko-KR" altLang="en-US" dirty="0" smtClean="0"/>
              <a:t>위해선 특정한 방법에 따라 </a:t>
            </a:r>
            <a:r>
              <a:rPr lang="ko-KR" altLang="en-US" b="1" dirty="0" smtClean="0"/>
              <a:t>조건을 만족</a:t>
            </a:r>
            <a:r>
              <a:rPr lang="ko-KR" altLang="en-US" dirty="0" smtClean="0"/>
              <a:t>시켜야 </a:t>
            </a:r>
            <a:endParaRPr lang="en-US" altLang="ko-KR" dirty="0" smtClean="0"/>
          </a:p>
          <a:p>
            <a:pPr>
              <a:lnSpc>
                <a:spcPct val="150000"/>
              </a:lnSpc>
            </a:pPr>
            <a:r>
              <a:rPr lang="en-US" altLang="ko-KR" dirty="0"/>
              <a:t> </a:t>
            </a:r>
            <a:r>
              <a:rPr lang="en-US" altLang="ko-KR" dirty="0" smtClean="0"/>
              <a:t> </a:t>
            </a:r>
            <a:r>
              <a:rPr lang="ko-KR" altLang="en-US" dirty="0" smtClean="0"/>
              <a:t>합니다</a:t>
            </a:r>
            <a:r>
              <a:rPr lang="en-US" altLang="ko-KR" dirty="0" smtClean="0"/>
              <a:t>.</a:t>
            </a:r>
            <a:r>
              <a:rPr lang="ko-KR" altLang="en-US" dirty="0"/>
              <a:t> </a:t>
            </a:r>
            <a:r>
              <a:rPr lang="ko-KR" altLang="en-US" dirty="0" smtClean="0"/>
              <a:t>기본적으로 알 수 없으나</a:t>
            </a:r>
            <a:r>
              <a:rPr lang="en-US" altLang="ko-KR" dirty="0" smtClean="0"/>
              <a:t>, </a:t>
            </a:r>
            <a:r>
              <a:rPr lang="ko-KR" altLang="en-US" dirty="0" smtClean="0"/>
              <a:t>한번 획득하면 방법이 기록 </a:t>
            </a:r>
            <a:endParaRPr lang="en-US" altLang="ko-KR" dirty="0" smtClean="0"/>
          </a:p>
          <a:p>
            <a:pPr>
              <a:lnSpc>
                <a:spcPct val="150000"/>
              </a:lnSpc>
            </a:pPr>
            <a:r>
              <a:rPr lang="en-US" altLang="ko-KR" dirty="0"/>
              <a:t> </a:t>
            </a:r>
            <a:r>
              <a:rPr lang="en-US" altLang="ko-KR" dirty="0" smtClean="0"/>
              <a:t> </a:t>
            </a:r>
            <a:r>
              <a:rPr lang="ko-KR" altLang="en-US" dirty="0" smtClean="0"/>
              <a:t>으로 남습니다</a:t>
            </a:r>
            <a:r>
              <a:rPr lang="en-US" altLang="ko-KR" dirty="0" smtClean="0"/>
              <a:t>.</a:t>
            </a:r>
          </a:p>
          <a:p>
            <a:pPr>
              <a:lnSpc>
                <a:spcPct val="150000"/>
              </a:lnSpc>
            </a:pPr>
            <a:endParaRPr lang="en-US" altLang="ko-KR" sz="1200" dirty="0" smtClean="0"/>
          </a:p>
          <a:p>
            <a:pPr>
              <a:lnSpc>
                <a:spcPct val="150000"/>
              </a:lnSpc>
            </a:pPr>
            <a:r>
              <a:rPr lang="en-US" altLang="ko-KR" dirty="0" smtClean="0"/>
              <a:t>• </a:t>
            </a:r>
            <a:r>
              <a:rPr lang="ko-KR" altLang="en-US" dirty="0" err="1" smtClean="0"/>
              <a:t>몬스터의</a:t>
            </a:r>
            <a:r>
              <a:rPr lang="ko-KR" altLang="en-US" dirty="0" smtClean="0"/>
              <a:t> 입수 방법을 알아내기 위해 플레이어는 다양한 </a:t>
            </a:r>
            <a:r>
              <a:rPr lang="ko-KR" altLang="en-US" b="1" dirty="0" smtClean="0"/>
              <a:t>시행</a:t>
            </a:r>
            <a:endParaRPr lang="en-US" altLang="ko-KR" b="1" dirty="0" smtClean="0"/>
          </a:p>
          <a:p>
            <a:pPr>
              <a:lnSpc>
                <a:spcPct val="150000"/>
              </a:lnSpc>
            </a:pPr>
            <a:r>
              <a:rPr lang="en-US" altLang="ko-KR" b="1" dirty="0"/>
              <a:t> </a:t>
            </a:r>
            <a:r>
              <a:rPr lang="en-US" altLang="ko-KR" b="1" dirty="0" smtClean="0"/>
              <a:t> </a:t>
            </a:r>
            <a:r>
              <a:rPr lang="ko-KR" altLang="en-US" b="1" dirty="0" smtClean="0"/>
              <a:t>착오</a:t>
            </a:r>
            <a:r>
              <a:rPr lang="ko-KR" altLang="en-US" dirty="0" smtClean="0"/>
              <a:t>를 겪을 것이고</a:t>
            </a:r>
            <a:r>
              <a:rPr lang="en-US" altLang="ko-KR" dirty="0" smtClean="0"/>
              <a:t>, </a:t>
            </a:r>
            <a:r>
              <a:rPr lang="ko-KR" altLang="en-US" dirty="0" smtClean="0"/>
              <a:t>이를 통해 플레이의 </a:t>
            </a:r>
            <a:r>
              <a:rPr lang="ko-KR" altLang="en-US" dirty="0" err="1" smtClean="0"/>
              <a:t>몰입감을</a:t>
            </a:r>
            <a:r>
              <a:rPr lang="ko-KR" altLang="en-US" dirty="0" smtClean="0"/>
              <a:t> 향상시킬 수 </a:t>
            </a:r>
            <a:endParaRPr lang="en-US" altLang="ko-KR" dirty="0" smtClean="0"/>
          </a:p>
          <a:p>
            <a:pPr>
              <a:lnSpc>
                <a:spcPct val="150000"/>
              </a:lnSpc>
            </a:pPr>
            <a:r>
              <a:rPr lang="en-US" altLang="ko-KR" dirty="0"/>
              <a:t> </a:t>
            </a:r>
            <a:r>
              <a:rPr lang="en-US" altLang="ko-KR" dirty="0" smtClean="0"/>
              <a:t> </a:t>
            </a:r>
            <a:r>
              <a:rPr lang="ko-KR" altLang="en-US" dirty="0" smtClean="0"/>
              <a:t>있습니다</a:t>
            </a:r>
            <a:r>
              <a:rPr lang="en-US" altLang="ko-KR" dirty="0" smtClean="0"/>
              <a:t>.  </a:t>
            </a:r>
            <a:r>
              <a:rPr lang="ko-KR" altLang="en-US" dirty="0" smtClean="0"/>
              <a:t> </a:t>
            </a:r>
            <a:endParaRPr lang="en-US" altLang="ko-KR" dirty="0" smtClean="0"/>
          </a:p>
        </p:txBody>
      </p:sp>
      <p:pic>
        <p:nvPicPr>
          <p:cNvPr id="8" name="그림 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02578" y="1255092"/>
            <a:ext cx="3892805" cy="2160507"/>
          </a:xfrm>
          <a:prstGeom prst="rect">
            <a:avLst/>
          </a:prstGeom>
        </p:spPr>
      </p:pic>
      <p:sp>
        <p:nvSpPr>
          <p:cNvPr id="9" name="TextBox 8"/>
          <p:cNvSpPr txBox="1"/>
          <p:nvPr/>
        </p:nvSpPr>
        <p:spPr>
          <a:xfrm>
            <a:off x="1401192" y="3415600"/>
            <a:ext cx="2695575"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6 )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다채로운   </a:t>
            </a:r>
            <a:r>
              <a:rPr lang="ko-KR" altLang="en-US" sz="1600" spc="-300" dirty="0" err="1"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몬스터들</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pic>
        <p:nvPicPr>
          <p:cNvPr id="12" name="그림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578" y="3817287"/>
            <a:ext cx="3969447" cy="2287946"/>
          </a:xfrm>
          <a:prstGeom prst="rect">
            <a:avLst/>
          </a:prstGeom>
        </p:spPr>
      </p:pic>
      <p:sp>
        <p:nvSpPr>
          <p:cNvPr id="14" name="TextBox 13"/>
          <p:cNvSpPr txBox="1"/>
          <p:nvPr/>
        </p:nvSpPr>
        <p:spPr>
          <a:xfrm>
            <a:off x="1246581" y="6025325"/>
            <a:ext cx="3058321"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7</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다른 </a:t>
            </a:r>
            <a:r>
              <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컨셉의 용사  캐릭터</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Tree>
    <p:extLst>
      <p:ext uri="{BB962C8B-B14F-4D97-AF65-F5344CB8AC3E}">
        <p14:creationId xmlns:p14="http://schemas.microsoft.com/office/powerpoint/2010/main" val="790598682"/>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턴방식</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전략 전투</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3009900" y="517669"/>
            <a:ext cx="623887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dirty="0" err="1">
                <a:gradFill>
                  <a:gsLst>
                    <a:gs pos="0">
                      <a:schemeClr val="tx1"/>
                    </a:gs>
                    <a:gs pos="100000">
                      <a:schemeClr val="tx1"/>
                    </a:gs>
                  </a:gsLst>
                  <a:lin ang="5400000" scaled="1"/>
                </a:gradFill>
                <a:latin typeface="맑은 고딕" panose="020B0503020000020004" pitchFamily="50" charset="-127"/>
              </a:rPr>
              <a:t>턴방식</a:t>
            </a:r>
            <a:r>
              <a:rPr lang="ko-KR" altLang="en-US" sz="3200" b="1" dirty="0">
                <a:gradFill>
                  <a:gsLst>
                    <a:gs pos="0">
                      <a:schemeClr val="tx1"/>
                    </a:gs>
                    <a:gs pos="100000">
                      <a:schemeClr val="tx1"/>
                    </a:gs>
                  </a:gsLst>
                  <a:lin ang="5400000" scaled="1"/>
                </a:gradFill>
                <a:latin typeface="맑은 고딕" panose="020B0503020000020004" pitchFamily="50" charset="-127"/>
              </a:rPr>
              <a:t> 전략 </a:t>
            </a:r>
            <a:r>
              <a:rPr lang="ko-KR" altLang="en-US" sz="3200" b="1" dirty="0" smtClean="0">
                <a:gradFill>
                  <a:gsLst>
                    <a:gs pos="0">
                      <a:schemeClr val="tx1"/>
                    </a:gs>
                    <a:gs pos="100000">
                      <a:schemeClr val="tx1"/>
                    </a:gs>
                  </a:gsLst>
                  <a:lin ang="5400000" scaled="1"/>
                </a:gradFill>
                <a:latin typeface="맑은 고딕" panose="020B0503020000020004" pitchFamily="50" charset="-127"/>
              </a:rPr>
              <a:t>전투</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15</a:t>
            </a:fld>
            <a:endParaRPr lang="ko-KR" altLang="en-US" sz="1800" dirty="0"/>
          </a:p>
        </p:txBody>
      </p:sp>
      <p:sp>
        <p:nvSpPr>
          <p:cNvPr id="13" name="TextBox 12"/>
          <p:cNvSpPr txBox="1"/>
          <p:nvPr/>
        </p:nvSpPr>
        <p:spPr>
          <a:xfrm>
            <a:off x="5280347" y="1347170"/>
            <a:ext cx="6660506" cy="4662815"/>
          </a:xfrm>
          <a:prstGeom prst="rect">
            <a:avLst/>
          </a:prstGeom>
          <a:noFill/>
        </p:spPr>
        <p:txBody>
          <a:bodyPr wrap="square" rtlCol="0">
            <a:spAutoFit/>
          </a:bodyPr>
          <a:lstStyle/>
          <a:p>
            <a:pPr>
              <a:lnSpc>
                <a:spcPct val="150000"/>
              </a:lnSpc>
            </a:pPr>
            <a:r>
              <a:rPr lang="en-US" altLang="ko-KR" dirty="0"/>
              <a:t>• </a:t>
            </a:r>
            <a:r>
              <a:rPr lang="ko-KR" altLang="en-US" dirty="0" smtClean="0"/>
              <a:t>플레이어는 </a:t>
            </a:r>
            <a:r>
              <a:rPr lang="ko-KR" altLang="en-US" dirty="0" smtClean="0">
                <a:latin typeface="+mn-ea"/>
              </a:rPr>
              <a:t>다양한 개성을 지닌 </a:t>
            </a:r>
            <a:r>
              <a:rPr lang="ko-KR" altLang="en-US" b="1" dirty="0" smtClean="0">
                <a:latin typeface="+mn-ea"/>
              </a:rPr>
              <a:t>캐릭터와 몬스터를 조합</a:t>
            </a:r>
            <a:r>
              <a:rPr lang="ko-KR" altLang="en-US" dirty="0" smtClean="0">
                <a:latin typeface="+mn-ea"/>
              </a:rPr>
              <a:t>하여</a:t>
            </a:r>
            <a:r>
              <a:rPr lang="en-US" altLang="ko-KR" dirty="0" smtClean="0">
                <a:latin typeface="+mn-ea"/>
              </a:rPr>
              <a:t>, </a:t>
            </a:r>
          </a:p>
          <a:p>
            <a:pPr>
              <a:lnSpc>
                <a:spcPct val="150000"/>
              </a:lnSpc>
            </a:pPr>
            <a:r>
              <a:rPr lang="en-US" altLang="ko-KR" dirty="0">
                <a:latin typeface="+mn-ea"/>
              </a:rPr>
              <a:t> </a:t>
            </a:r>
            <a:r>
              <a:rPr lang="en-US" altLang="ko-KR" dirty="0" smtClean="0">
                <a:latin typeface="+mn-ea"/>
              </a:rPr>
              <a:t> </a:t>
            </a:r>
            <a:r>
              <a:rPr lang="ko-KR" altLang="en-US" dirty="0" smtClean="0">
                <a:latin typeface="+mn-ea"/>
              </a:rPr>
              <a:t>던전 속</a:t>
            </a:r>
            <a:r>
              <a:rPr lang="en-US" altLang="ko-KR" dirty="0" smtClean="0">
                <a:latin typeface="+mn-ea"/>
              </a:rPr>
              <a:t> </a:t>
            </a:r>
            <a:r>
              <a:rPr lang="ko-KR" altLang="en-US" dirty="0" err="1" smtClean="0">
                <a:latin typeface="+mn-ea"/>
              </a:rPr>
              <a:t>몬스터들을</a:t>
            </a:r>
            <a:r>
              <a:rPr lang="ko-KR" altLang="en-US" dirty="0" smtClean="0">
                <a:latin typeface="+mn-ea"/>
              </a:rPr>
              <a:t> 최대한 피해 없이 쓰러트려야 합니다</a:t>
            </a:r>
            <a:r>
              <a:rPr lang="en-US" altLang="ko-KR" dirty="0" smtClean="0">
                <a:latin typeface="+mn-ea"/>
              </a:rPr>
              <a:t>.</a:t>
            </a:r>
          </a:p>
          <a:p>
            <a:pPr>
              <a:lnSpc>
                <a:spcPct val="150000"/>
              </a:lnSpc>
            </a:pPr>
            <a:endParaRPr lang="en-US" altLang="ko-KR" sz="1200" dirty="0">
              <a:latin typeface="+mn-ea"/>
            </a:endParaRPr>
          </a:p>
          <a:p>
            <a:pPr>
              <a:lnSpc>
                <a:spcPct val="150000"/>
              </a:lnSpc>
            </a:pPr>
            <a:r>
              <a:rPr lang="en-US" altLang="ko-KR" dirty="0"/>
              <a:t>• </a:t>
            </a:r>
            <a:r>
              <a:rPr lang="ko-KR" altLang="en-US" dirty="0"/>
              <a:t>아군과 적군의 </a:t>
            </a:r>
            <a:r>
              <a:rPr lang="ko-KR" altLang="en-US" dirty="0" smtClean="0"/>
              <a:t>기</a:t>
            </a:r>
            <a:r>
              <a:rPr lang="ko-KR" altLang="en-US" dirty="0"/>
              <a:t>술</a:t>
            </a:r>
            <a:r>
              <a:rPr lang="ko-KR" altLang="en-US" dirty="0" smtClean="0"/>
              <a:t> </a:t>
            </a:r>
            <a:r>
              <a:rPr lang="ko-KR" altLang="en-US" dirty="0"/>
              <a:t>차이</a:t>
            </a:r>
            <a:r>
              <a:rPr lang="en-US" altLang="ko-KR" dirty="0"/>
              <a:t>, </a:t>
            </a:r>
            <a:r>
              <a:rPr lang="ko-KR" altLang="en-US" dirty="0"/>
              <a:t>상성</a:t>
            </a:r>
            <a:r>
              <a:rPr lang="en-US" altLang="ko-KR" dirty="0"/>
              <a:t>, </a:t>
            </a:r>
            <a:r>
              <a:rPr lang="ko-KR" altLang="en-US" dirty="0" err="1" smtClean="0"/>
              <a:t>아티팩트</a:t>
            </a:r>
            <a:r>
              <a:rPr lang="ko-KR" altLang="en-US" dirty="0" smtClean="0"/>
              <a:t> 능력</a:t>
            </a:r>
            <a:r>
              <a:rPr lang="en-US" altLang="ko-KR" dirty="0" smtClean="0"/>
              <a:t>, </a:t>
            </a:r>
            <a:r>
              <a:rPr lang="ko-KR" altLang="en-US" dirty="0"/>
              <a:t>파티의 컨셉과 </a:t>
            </a:r>
            <a:endParaRPr lang="en-US" altLang="ko-KR" dirty="0"/>
          </a:p>
          <a:p>
            <a:pPr>
              <a:lnSpc>
                <a:spcPct val="150000"/>
              </a:lnSpc>
            </a:pPr>
            <a:r>
              <a:rPr lang="en-US" altLang="ko-KR" dirty="0"/>
              <a:t>  </a:t>
            </a:r>
            <a:r>
              <a:rPr lang="ko-KR" altLang="en-US" dirty="0"/>
              <a:t>장단점 등 </a:t>
            </a:r>
            <a:r>
              <a:rPr lang="ko-KR" altLang="en-US" b="1" dirty="0"/>
              <a:t>다양한 전략적 변수</a:t>
            </a:r>
            <a:r>
              <a:rPr lang="ko-KR" altLang="en-US" dirty="0"/>
              <a:t>들이 존재합니다</a:t>
            </a:r>
            <a:r>
              <a:rPr lang="en-US" altLang="ko-KR" dirty="0" smtClean="0"/>
              <a:t>. </a:t>
            </a:r>
          </a:p>
          <a:p>
            <a:pPr>
              <a:lnSpc>
                <a:spcPct val="150000"/>
              </a:lnSpc>
            </a:pPr>
            <a:endParaRPr lang="en-US" altLang="ko-KR" sz="1200" dirty="0"/>
          </a:p>
          <a:p>
            <a:pPr>
              <a:lnSpc>
                <a:spcPct val="150000"/>
              </a:lnSpc>
            </a:pPr>
            <a:r>
              <a:rPr lang="en-US" altLang="ko-KR" dirty="0" smtClean="0"/>
              <a:t>• </a:t>
            </a:r>
            <a:r>
              <a:rPr lang="ko-KR" altLang="en-US" dirty="0" smtClean="0">
                <a:latin typeface="+mn-ea"/>
              </a:rPr>
              <a:t>턴 방식을 통해 이러한 다양한 변수를 고려하며</a:t>
            </a:r>
            <a:r>
              <a:rPr lang="en-US" altLang="ko-KR" dirty="0" smtClean="0">
                <a:latin typeface="+mn-ea"/>
              </a:rPr>
              <a:t> </a:t>
            </a:r>
            <a:r>
              <a:rPr lang="ko-KR" altLang="en-US" b="1" dirty="0" smtClean="0">
                <a:latin typeface="+mn-ea"/>
              </a:rPr>
              <a:t>효율적이고</a:t>
            </a:r>
            <a:r>
              <a:rPr lang="en-US" altLang="ko-KR" dirty="0" smtClean="0"/>
              <a:t> </a:t>
            </a:r>
          </a:p>
          <a:p>
            <a:pPr>
              <a:lnSpc>
                <a:spcPct val="150000"/>
              </a:lnSpc>
            </a:pPr>
            <a:r>
              <a:rPr lang="en-US" altLang="ko-KR" dirty="0"/>
              <a:t> </a:t>
            </a:r>
            <a:r>
              <a:rPr lang="en-US" altLang="ko-KR" dirty="0" smtClean="0"/>
              <a:t> </a:t>
            </a:r>
            <a:r>
              <a:rPr lang="ko-KR" altLang="en-US" b="1" dirty="0" smtClean="0"/>
              <a:t>합리적인 선택</a:t>
            </a:r>
            <a:r>
              <a:rPr lang="ko-KR" altLang="en-US" dirty="0" smtClean="0"/>
              <a:t>을 내리게끔 하여</a:t>
            </a:r>
            <a:r>
              <a:rPr lang="en-US" altLang="ko-KR" dirty="0" smtClean="0"/>
              <a:t>, </a:t>
            </a:r>
            <a:r>
              <a:rPr lang="ko-KR" altLang="en-US" dirty="0" smtClean="0"/>
              <a:t>게임에 </a:t>
            </a:r>
            <a:r>
              <a:rPr lang="ko-KR" altLang="en-US" dirty="0" err="1" smtClean="0"/>
              <a:t>전략성을</a:t>
            </a:r>
            <a:r>
              <a:rPr lang="ko-KR" altLang="en-US" dirty="0" smtClean="0"/>
              <a:t> 부여합니다</a:t>
            </a:r>
            <a:r>
              <a:rPr lang="en-US" altLang="ko-KR" dirty="0" smtClean="0"/>
              <a:t>.</a:t>
            </a:r>
            <a:endParaRPr lang="en-US" altLang="ko-KR" dirty="0"/>
          </a:p>
          <a:p>
            <a:pPr>
              <a:lnSpc>
                <a:spcPct val="150000"/>
              </a:lnSpc>
            </a:pPr>
            <a:endParaRPr lang="en-US" altLang="ko-KR" sz="1200" dirty="0" smtClean="0"/>
          </a:p>
          <a:p>
            <a:pPr>
              <a:lnSpc>
                <a:spcPct val="150000"/>
              </a:lnSpc>
            </a:pPr>
            <a:r>
              <a:rPr lang="en-US" altLang="ko-KR" dirty="0" smtClean="0"/>
              <a:t>• </a:t>
            </a:r>
            <a:r>
              <a:rPr lang="ko-KR" altLang="en-US" dirty="0" smtClean="0"/>
              <a:t>실시간으로 플레이어의 컨트롤 능력을 요구하는 대신</a:t>
            </a:r>
            <a:r>
              <a:rPr lang="en-US" altLang="ko-KR" dirty="0" smtClean="0"/>
              <a:t> </a:t>
            </a:r>
            <a:r>
              <a:rPr lang="ko-KR" altLang="en-US" b="1" dirty="0" smtClean="0"/>
              <a:t>적절한   </a:t>
            </a:r>
            <a:endParaRPr lang="en-US" altLang="ko-KR" b="1" dirty="0" smtClean="0"/>
          </a:p>
          <a:p>
            <a:pPr>
              <a:lnSpc>
                <a:spcPct val="150000"/>
              </a:lnSpc>
            </a:pPr>
            <a:r>
              <a:rPr lang="en-US" altLang="ko-KR" b="1" dirty="0"/>
              <a:t> </a:t>
            </a:r>
            <a:r>
              <a:rPr lang="en-US" altLang="ko-KR" b="1" dirty="0" smtClean="0"/>
              <a:t> </a:t>
            </a:r>
            <a:r>
              <a:rPr lang="ko-KR" altLang="en-US" b="1" dirty="0" smtClean="0"/>
              <a:t>판단을 필요</a:t>
            </a:r>
            <a:r>
              <a:rPr lang="ko-KR" altLang="en-US" dirty="0" smtClean="0"/>
              <a:t>로 하기 때문에</a:t>
            </a:r>
            <a:r>
              <a:rPr lang="en-US" altLang="ko-KR" dirty="0" smtClean="0"/>
              <a:t>, </a:t>
            </a:r>
            <a:r>
              <a:rPr lang="ko-KR" altLang="en-US" dirty="0" smtClean="0"/>
              <a:t>누구나 손쉽게 접근할 수 있고</a:t>
            </a:r>
            <a:endParaRPr lang="en-US" altLang="ko-KR" dirty="0" smtClean="0"/>
          </a:p>
          <a:p>
            <a:pPr>
              <a:lnSpc>
                <a:spcPct val="150000"/>
              </a:lnSpc>
            </a:pPr>
            <a:r>
              <a:rPr lang="ko-KR" altLang="en-US" dirty="0" smtClean="0"/>
              <a:t>  게임의 기술적 구현에 있어서도 장점을 가지고 있습니다</a:t>
            </a:r>
            <a:r>
              <a:rPr lang="en-US" altLang="ko-KR" dirty="0" smtClean="0"/>
              <a:t>.</a:t>
            </a:r>
            <a:endParaRPr lang="en-US" altLang="ko-KR" dirty="0"/>
          </a:p>
        </p:txBody>
      </p:sp>
      <p:pic>
        <p:nvPicPr>
          <p:cNvPr id="8" name="그림 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28530" y="1255092"/>
            <a:ext cx="3840901" cy="2160507"/>
          </a:xfrm>
          <a:prstGeom prst="rect">
            <a:avLst/>
          </a:prstGeom>
        </p:spPr>
      </p:pic>
      <p:sp>
        <p:nvSpPr>
          <p:cNvPr id="9" name="TextBox 8"/>
          <p:cNvSpPr txBox="1"/>
          <p:nvPr/>
        </p:nvSpPr>
        <p:spPr>
          <a:xfrm>
            <a:off x="1401192" y="3415600"/>
            <a:ext cx="2695575"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8 )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턴  방식의  전투</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pic>
        <p:nvPicPr>
          <p:cNvPr id="12" name="그림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8530" y="3859452"/>
            <a:ext cx="3840901" cy="2160506"/>
          </a:xfrm>
          <a:prstGeom prst="rect">
            <a:avLst/>
          </a:prstGeom>
        </p:spPr>
      </p:pic>
      <p:sp>
        <p:nvSpPr>
          <p:cNvPr id="14" name="TextBox 13"/>
          <p:cNvSpPr txBox="1"/>
          <p:nvPr/>
        </p:nvSpPr>
        <p:spPr>
          <a:xfrm>
            <a:off x="1246581" y="6025325"/>
            <a:ext cx="3058321"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9 )     </a:t>
            </a: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턴  방식의  전투</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Tree>
    <p:extLst>
      <p:ext uri="{BB962C8B-B14F-4D97-AF65-F5344CB8AC3E}">
        <p14:creationId xmlns:p14="http://schemas.microsoft.com/office/powerpoint/2010/main" val="345413664"/>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cxnSp>
        <p:nvCxnSpPr>
          <p:cNvPr id="9" name="직선 연결선 8"/>
          <p:cNvCxnSpPr/>
          <p:nvPr/>
        </p:nvCxnSpPr>
        <p:spPr>
          <a:xfrm flipH="1">
            <a:off x="-124046" y="0"/>
            <a:ext cx="12316046" cy="6949263"/>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3066386" y="3126868"/>
            <a:ext cx="6059229" cy="830997"/>
          </a:xfrm>
          <a:prstGeom prst="rect">
            <a:avLst/>
          </a:prstGeom>
          <a:solidFill>
            <a:schemeClr val="tx1"/>
          </a:solidFill>
        </p:spPr>
        <p:txBody>
          <a:bodyPr wrap="square" rtlCol="0">
            <a:spAutoFit/>
          </a:bodyPr>
          <a:lstStyle/>
          <a:p>
            <a:pPr algn="ctr"/>
            <a:r>
              <a:rPr lang="ko-KR" altLang="en-US" sz="4800" b="1" spc="-150" dirty="0" smtClean="0">
                <a:gradFill>
                  <a:gsLst>
                    <a:gs pos="0">
                      <a:prstClr val="white"/>
                    </a:gs>
                    <a:gs pos="100000">
                      <a:prstClr val="white"/>
                    </a:gs>
                  </a:gsLst>
                  <a:lin ang="5400000" scaled="1"/>
                </a:gradFill>
                <a:latin typeface="+mj-ea"/>
                <a:ea typeface="+mj-ea"/>
              </a:rPr>
              <a:t>레벨 디자인</a:t>
            </a:r>
            <a:endParaRPr lang="ko-KR" altLang="en-US" sz="4800" b="1" spc="-150" dirty="0">
              <a:gradFill>
                <a:gsLst>
                  <a:gs pos="0">
                    <a:prstClr val="white"/>
                  </a:gs>
                  <a:gs pos="100000">
                    <a:prstClr val="white"/>
                  </a:gs>
                </a:gsLst>
                <a:lin ang="5400000" scaled="1"/>
              </a:gradFill>
              <a:latin typeface="+mj-ea"/>
              <a:ea typeface="+mj-ea"/>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solidFill>
                  <a:prstClr val="black">
                    <a:tint val="75000"/>
                  </a:prstClr>
                </a:solidFill>
              </a:rPr>
              <a:pPr/>
              <a:t>16</a:t>
            </a:fld>
            <a:endParaRPr lang="ko-KR" altLang="en-US" dirty="0">
              <a:solidFill>
                <a:prstClr val="black">
                  <a:tint val="75000"/>
                </a:prstClr>
              </a:solidFill>
            </a:endParaRPr>
          </a:p>
        </p:txBody>
      </p:sp>
    </p:spTree>
    <p:extLst>
      <p:ext uri="{BB962C8B-B14F-4D97-AF65-F5344CB8AC3E}">
        <p14:creationId xmlns:p14="http://schemas.microsoft.com/office/powerpoint/2010/main" val="3501781058"/>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327739" y="2343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 전체 지도</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17</a:t>
            </a:fld>
            <a:endParaRPr lang="ko-KR" altLang="en-US" sz="1800" dirty="0"/>
          </a:p>
        </p:txBody>
      </p:sp>
      <p:sp>
        <p:nvSpPr>
          <p:cNvPr id="7" name="타원 6"/>
          <p:cNvSpPr/>
          <p:nvPr/>
        </p:nvSpPr>
        <p:spPr>
          <a:xfrm>
            <a:off x="2280935"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3" name="타원 12"/>
          <p:cNvSpPr/>
          <p:nvPr/>
        </p:nvSpPr>
        <p:spPr>
          <a:xfrm>
            <a:off x="2286428"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4" name="타원 13"/>
          <p:cNvSpPr/>
          <p:nvPr/>
        </p:nvSpPr>
        <p:spPr>
          <a:xfrm>
            <a:off x="2286429"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5" name="타원 14"/>
          <p:cNvSpPr/>
          <p:nvPr/>
        </p:nvSpPr>
        <p:spPr>
          <a:xfrm>
            <a:off x="2287232"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2" name="타원 21"/>
          <p:cNvSpPr/>
          <p:nvPr/>
        </p:nvSpPr>
        <p:spPr>
          <a:xfrm>
            <a:off x="2279278"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3" name="타원 22"/>
          <p:cNvSpPr/>
          <p:nvPr/>
        </p:nvSpPr>
        <p:spPr>
          <a:xfrm>
            <a:off x="2279279"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4" name="타원 23"/>
          <p:cNvSpPr/>
          <p:nvPr/>
        </p:nvSpPr>
        <p:spPr>
          <a:xfrm>
            <a:off x="2280082"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7" name="타원 36"/>
          <p:cNvSpPr/>
          <p:nvPr/>
        </p:nvSpPr>
        <p:spPr>
          <a:xfrm>
            <a:off x="3316359"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8" name="타원 37"/>
          <p:cNvSpPr/>
          <p:nvPr/>
        </p:nvSpPr>
        <p:spPr>
          <a:xfrm>
            <a:off x="3321852"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9" name="타원 38"/>
          <p:cNvSpPr/>
          <p:nvPr/>
        </p:nvSpPr>
        <p:spPr>
          <a:xfrm>
            <a:off x="3321853"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0" name="타원 39"/>
          <p:cNvSpPr/>
          <p:nvPr/>
        </p:nvSpPr>
        <p:spPr>
          <a:xfrm>
            <a:off x="3322656"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2" name="타원 41"/>
          <p:cNvSpPr/>
          <p:nvPr/>
        </p:nvSpPr>
        <p:spPr>
          <a:xfrm>
            <a:off x="3314702"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3" name="타원 42"/>
          <p:cNvSpPr/>
          <p:nvPr/>
        </p:nvSpPr>
        <p:spPr>
          <a:xfrm>
            <a:off x="3314703"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4" name="타원 43"/>
          <p:cNvSpPr/>
          <p:nvPr/>
        </p:nvSpPr>
        <p:spPr>
          <a:xfrm>
            <a:off x="3328953"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7" name="타원 56"/>
          <p:cNvSpPr/>
          <p:nvPr/>
        </p:nvSpPr>
        <p:spPr>
          <a:xfrm>
            <a:off x="540254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8" name="타원 57"/>
          <p:cNvSpPr/>
          <p:nvPr/>
        </p:nvSpPr>
        <p:spPr>
          <a:xfrm>
            <a:off x="540804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9" name="타원 58"/>
          <p:cNvSpPr/>
          <p:nvPr/>
        </p:nvSpPr>
        <p:spPr>
          <a:xfrm>
            <a:off x="5408041" y="203283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0" name="타원 59"/>
          <p:cNvSpPr/>
          <p:nvPr/>
        </p:nvSpPr>
        <p:spPr>
          <a:xfrm>
            <a:off x="5408844"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2" name="타원 61"/>
          <p:cNvSpPr/>
          <p:nvPr/>
        </p:nvSpPr>
        <p:spPr>
          <a:xfrm>
            <a:off x="540089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3" name="타원 62"/>
          <p:cNvSpPr/>
          <p:nvPr/>
        </p:nvSpPr>
        <p:spPr>
          <a:xfrm>
            <a:off x="5400891"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4" name="타원 63"/>
          <p:cNvSpPr/>
          <p:nvPr/>
        </p:nvSpPr>
        <p:spPr>
          <a:xfrm>
            <a:off x="5401694"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7" name="타원 66"/>
          <p:cNvSpPr/>
          <p:nvPr/>
        </p:nvSpPr>
        <p:spPr>
          <a:xfrm>
            <a:off x="645141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74" name="타원 73"/>
          <p:cNvSpPr/>
          <p:nvPr/>
        </p:nvSpPr>
        <p:spPr>
          <a:xfrm>
            <a:off x="6450564" y="43995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sp>
        <p:nvSpPr>
          <p:cNvPr id="134" name="직사각형 133"/>
          <p:cNvSpPr/>
          <p:nvPr/>
        </p:nvSpPr>
        <p:spPr>
          <a:xfrm>
            <a:off x="4195481" y="3394351"/>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5" name="직사각형 134"/>
          <p:cNvSpPr/>
          <p:nvPr/>
        </p:nvSpPr>
        <p:spPr>
          <a:xfrm>
            <a:off x="7346576" y="3380904"/>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6" name="직사각형 135"/>
          <p:cNvSpPr/>
          <p:nvPr/>
        </p:nvSpPr>
        <p:spPr>
          <a:xfrm>
            <a:off x="10765240" y="3380903"/>
            <a:ext cx="699247" cy="781371"/>
          </a:xfrm>
          <a:prstGeom prst="rect">
            <a:avLst/>
          </a:prstGeom>
          <a:solidFill>
            <a:srgbClr val="C00000"/>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최종</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80" name="TextBox 79"/>
          <p:cNvSpPr txBox="1"/>
          <p:nvPr/>
        </p:nvSpPr>
        <p:spPr>
          <a:xfrm>
            <a:off x="2023967"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1" name="TextBox 80"/>
          <p:cNvSpPr txBox="1"/>
          <p:nvPr/>
        </p:nvSpPr>
        <p:spPr>
          <a:xfrm>
            <a:off x="3078714"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TextBox 81"/>
          <p:cNvSpPr txBox="1"/>
          <p:nvPr/>
        </p:nvSpPr>
        <p:spPr>
          <a:xfrm>
            <a:off x="515940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3" name="TextBox 82"/>
          <p:cNvSpPr txBox="1"/>
          <p:nvPr/>
        </p:nvSpPr>
        <p:spPr>
          <a:xfrm>
            <a:off x="620827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4" name="TextBox 83"/>
          <p:cNvSpPr txBox="1"/>
          <p:nvPr/>
        </p:nvSpPr>
        <p:spPr>
          <a:xfrm>
            <a:off x="8301530"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5" name="TextBox 84"/>
          <p:cNvSpPr txBox="1"/>
          <p:nvPr/>
        </p:nvSpPr>
        <p:spPr>
          <a:xfrm>
            <a:off x="9337898"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6" name="TextBox 85"/>
          <p:cNvSpPr txBox="1"/>
          <p:nvPr/>
        </p:nvSpPr>
        <p:spPr>
          <a:xfrm>
            <a:off x="4122593" y="2990068"/>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1" name="TextBox 90"/>
          <p:cNvSpPr txBox="1"/>
          <p:nvPr/>
        </p:nvSpPr>
        <p:spPr>
          <a:xfrm>
            <a:off x="7271527" y="2973313"/>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6</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5" name="TextBox 94"/>
          <p:cNvSpPr txBox="1"/>
          <p:nvPr/>
        </p:nvSpPr>
        <p:spPr>
          <a:xfrm>
            <a:off x="10687739" y="2981557"/>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9</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6" name="TextBox 95"/>
          <p:cNvSpPr txBox="1"/>
          <p:nvPr/>
        </p:nvSpPr>
        <p:spPr>
          <a:xfrm>
            <a:off x="8900590" y="304142"/>
            <a:ext cx="3186882" cy="338554"/>
          </a:xfrm>
          <a:prstGeom prst="rect">
            <a:avLst/>
          </a:prstGeom>
          <a:noFill/>
        </p:spPr>
        <p:txBody>
          <a:bodyPr wrap="square" rtlCol="0">
            <a:spAutoFit/>
          </a:bodyPr>
          <a:lstStyle/>
          <a:p>
            <a:pPr algn="ct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계층은 차후 추가될 수 있습니다</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 name="모서리가 둥근 직사각형 1"/>
          <p:cNvSpPr/>
          <p:nvPr/>
        </p:nvSpPr>
        <p:spPr>
          <a:xfrm>
            <a:off x="10876211" y="5520884"/>
            <a:ext cx="967581" cy="629074"/>
          </a:xfrm>
          <a:prstGeom prst="round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가방</a:t>
            </a:r>
            <a:endParaRPr lang="ko-KR" altLang="en-US" sz="2000" dirty="0">
              <a:ln>
                <a:solidFill>
                  <a:schemeClr val="tx1"/>
                </a:solidFill>
              </a:ln>
              <a:solidFill>
                <a:sysClr val="windowText" lastClr="000000"/>
              </a:solidFill>
            </a:endParaRPr>
          </a:p>
        </p:txBody>
      </p:sp>
      <p:sp>
        <p:nvSpPr>
          <p:cNvPr id="79" name="TextBox 78"/>
          <p:cNvSpPr txBox="1"/>
          <p:nvPr/>
        </p:nvSpPr>
        <p:spPr>
          <a:xfrm>
            <a:off x="72571" y="250721"/>
            <a:ext cx="4255168"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전체 지도 및 요소</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1" name="타원 100"/>
          <p:cNvSpPr/>
          <p:nvPr/>
        </p:nvSpPr>
        <p:spPr>
          <a:xfrm>
            <a:off x="259781"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05" name="타원 104"/>
          <p:cNvSpPr/>
          <p:nvPr/>
        </p:nvSpPr>
        <p:spPr>
          <a:xfrm>
            <a:off x="767084"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06" name="타원 105"/>
          <p:cNvSpPr/>
          <p:nvPr/>
        </p:nvSpPr>
        <p:spPr>
          <a:xfrm>
            <a:off x="1272986"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07" name="모서리가 둥근 직사각형 106"/>
          <p:cNvSpPr/>
          <p:nvPr/>
        </p:nvSpPr>
        <p:spPr>
          <a:xfrm>
            <a:off x="10876211" y="4758451"/>
            <a:ext cx="967581" cy="629074"/>
          </a:xfrm>
          <a:prstGeom prst="roundRect">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파티</a:t>
            </a:r>
            <a:endParaRPr lang="ko-KR" altLang="en-US" sz="2000" dirty="0">
              <a:ln>
                <a:solidFill>
                  <a:schemeClr val="tx1"/>
                </a:solidFill>
              </a:ln>
              <a:solidFill>
                <a:sysClr val="windowText" lastClr="000000"/>
              </a:solidFill>
            </a:endParaRPr>
          </a:p>
        </p:txBody>
      </p:sp>
    </p:spTree>
    <p:extLst>
      <p:ext uri="{BB962C8B-B14F-4D97-AF65-F5344CB8AC3E}">
        <p14:creationId xmlns:p14="http://schemas.microsoft.com/office/powerpoint/2010/main" val="4259413503"/>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327739" y="2343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예상 경로</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18</a:t>
            </a:fld>
            <a:endParaRPr lang="ko-KR" altLang="en-US" sz="1800" dirty="0"/>
          </a:p>
        </p:txBody>
      </p:sp>
      <p:sp>
        <p:nvSpPr>
          <p:cNvPr id="7" name="타원 6"/>
          <p:cNvSpPr/>
          <p:nvPr/>
        </p:nvSpPr>
        <p:spPr>
          <a:xfrm>
            <a:off x="2280935"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3" name="타원 12"/>
          <p:cNvSpPr/>
          <p:nvPr/>
        </p:nvSpPr>
        <p:spPr>
          <a:xfrm>
            <a:off x="2286428"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4" name="타원 13"/>
          <p:cNvSpPr/>
          <p:nvPr/>
        </p:nvSpPr>
        <p:spPr>
          <a:xfrm>
            <a:off x="2286429"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5" name="타원 14"/>
          <p:cNvSpPr/>
          <p:nvPr/>
        </p:nvSpPr>
        <p:spPr>
          <a:xfrm>
            <a:off x="2287232"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2" name="타원 21"/>
          <p:cNvSpPr/>
          <p:nvPr/>
        </p:nvSpPr>
        <p:spPr>
          <a:xfrm>
            <a:off x="2279278"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3" name="타원 22"/>
          <p:cNvSpPr/>
          <p:nvPr/>
        </p:nvSpPr>
        <p:spPr>
          <a:xfrm>
            <a:off x="2279279"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4" name="타원 23"/>
          <p:cNvSpPr/>
          <p:nvPr/>
        </p:nvSpPr>
        <p:spPr>
          <a:xfrm>
            <a:off x="2280082"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7" name="타원 36"/>
          <p:cNvSpPr/>
          <p:nvPr/>
        </p:nvSpPr>
        <p:spPr>
          <a:xfrm>
            <a:off x="3316359"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8" name="타원 37"/>
          <p:cNvSpPr/>
          <p:nvPr/>
        </p:nvSpPr>
        <p:spPr>
          <a:xfrm>
            <a:off x="3321852"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9" name="타원 38"/>
          <p:cNvSpPr/>
          <p:nvPr/>
        </p:nvSpPr>
        <p:spPr>
          <a:xfrm>
            <a:off x="3321853"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0" name="타원 39"/>
          <p:cNvSpPr/>
          <p:nvPr/>
        </p:nvSpPr>
        <p:spPr>
          <a:xfrm>
            <a:off x="3322656"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2" name="타원 41"/>
          <p:cNvSpPr/>
          <p:nvPr/>
        </p:nvSpPr>
        <p:spPr>
          <a:xfrm>
            <a:off x="3314702"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3" name="타원 42"/>
          <p:cNvSpPr/>
          <p:nvPr/>
        </p:nvSpPr>
        <p:spPr>
          <a:xfrm>
            <a:off x="3314703"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4" name="타원 43"/>
          <p:cNvSpPr/>
          <p:nvPr/>
        </p:nvSpPr>
        <p:spPr>
          <a:xfrm>
            <a:off x="3328953"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7" name="타원 56"/>
          <p:cNvSpPr/>
          <p:nvPr/>
        </p:nvSpPr>
        <p:spPr>
          <a:xfrm>
            <a:off x="540254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8" name="타원 57"/>
          <p:cNvSpPr/>
          <p:nvPr/>
        </p:nvSpPr>
        <p:spPr>
          <a:xfrm>
            <a:off x="540804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9" name="타원 58"/>
          <p:cNvSpPr/>
          <p:nvPr/>
        </p:nvSpPr>
        <p:spPr>
          <a:xfrm>
            <a:off x="5408041" y="203283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0" name="타원 59"/>
          <p:cNvSpPr/>
          <p:nvPr/>
        </p:nvSpPr>
        <p:spPr>
          <a:xfrm>
            <a:off x="5408844"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2" name="타원 61"/>
          <p:cNvSpPr/>
          <p:nvPr/>
        </p:nvSpPr>
        <p:spPr>
          <a:xfrm>
            <a:off x="540089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3" name="타원 62"/>
          <p:cNvSpPr/>
          <p:nvPr/>
        </p:nvSpPr>
        <p:spPr>
          <a:xfrm>
            <a:off x="5400891"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4" name="타원 63"/>
          <p:cNvSpPr/>
          <p:nvPr/>
        </p:nvSpPr>
        <p:spPr>
          <a:xfrm>
            <a:off x="5401694"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7" name="타원 66"/>
          <p:cNvSpPr/>
          <p:nvPr/>
        </p:nvSpPr>
        <p:spPr>
          <a:xfrm>
            <a:off x="645141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74" name="타원 73"/>
          <p:cNvSpPr/>
          <p:nvPr/>
        </p:nvSpPr>
        <p:spPr>
          <a:xfrm>
            <a:off x="6450564" y="43995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sp>
        <p:nvSpPr>
          <p:cNvPr id="134" name="직사각형 133"/>
          <p:cNvSpPr/>
          <p:nvPr/>
        </p:nvSpPr>
        <p:spPr>
          <a:xfrm>
            <a:off x="4195481" y="3394351"/>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5" name="직사각형 134"/>
          <p:cNvSpPr/>
          <p:nvPr/>
        </p:nvSpPr>
        <p:spPr>
          <a:xfrm>
            <a:off x="7346576" y="3380904"/>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6" name="직사각형 135"/>
          <p:cNvSpPr/>
          <p:nvPr/>
        </p:nvSpPr>
        <p:spPr>
          <a:xfrm>
            <a:off x="10765240" y="3380903"/>
            <a:ext cx="699247" cy="781371"/>
          </a:xfrm>
          <a:prstGeom prst="rect">
            <a:avLst/>
          </a:prstGeom>
          <a:solidFill>
            <a:srgbClr val="C00000"/>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최종</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80" name="TextBox 79"/>
          <p:cNvSpPr txBox="1"/>
          <p:nvPr/>
        </p:nvSpPr>
        <p:spPr>
          <a:xfrm>
            <a:off x="2023967"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1" name="TextBox 80"/>
          <p:cNvSpPr txBox="1"/>
          <p:nvPr/>
        </p:nvSpPr>
        <p:spPr>
          <a:xfrm>
            <a:off x="3078714"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TextBox 81"/>
          <p:cNvSpPr txBox="1"/>
          <p:nvPr/>
        </p:nvSpPr>
        <p:spPr>
          <a:xfrm>
            <a:off x="515940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3" name="TextBox 82"/>
          <p:cNvSpPr txBox="1"/>
          <p:nvPr/>
        </p:nvSpPr>
        <p:spPr>
          <a:xfrm>
            <a:off x="620827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4" name="TextBox 83"/>
          <p:cNvSpPr txBox="1"/>
          <p:nvPr/>
        </p:nvSpPr>
        <p:spPr>
          <a:xfrm>
            <a:off x="8301530"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5" name="TextBox 84"/>
          <p:cNvSpPr txBox="1"/>
          <p:nvPr/>
        </p:nvSpPr>
        <p:spPr>
          <a:xfrm>
            <a:off x="9337898"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6" name="TextBox 85"/>
          <p:cNvSpPr txBox="1"/>
          <p:nvPr/>
        </p:nvSpPr>
        <p:spPr>
          <a:xfrm>
            <a:off x="4122593" y="2990068"/>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1" name="TextBox 90"/>
          <p:cNvSpPr txBox="1"/>
          <p:nvPr/>
        </p:nvSpPr>
        <p:spPr>
          <a:xfrm>
            <a:off x="7271527" y="2973313"/>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6</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5" name="TextBox 94"/>
          <p:cNvSpPr txBox="1"/>
          <p:nvPr/>
        </p:nvSpPr>
        <p:spPr>
          <a:xfrm>
            <a:off x="10687739" y="2981557"/>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9</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101" name="직선 화살표 연결선 100"/>
          <p:cNvCxnSpPr/>
          <p:nvPr/>
        </p:nvCxnSpPr>
        <p:spPr>
          <a:xfrm>
            <a:off x="1521917" y="3942318"/>
            <a:ext cx="757361" cy="79337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05" name="직선 화살표 연결선 104"/>
          <p:cNvCxnSpPr/>
          <p:nvPr/>
        </p:nvCxnSpPr>
        <p:spPr>
          <a:xfrm flipH="1" flipV="1">
            <a:off x="2705753" y="2422643"/>
            <a:ext cx="104682" cy="2081958"/>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06" name="직선 화살표 연결선 105"/>
          <p:cNvCxnSpPr/>
          <p:nvPr/>
        </p:nvCxnSpPr>
        <p:spPr>
          <a:xfrm>
            <a:off x="2606995" y="1958880"/>
            <a:ext cx="757361" cy="79337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07" name="직선 화살표 연결선 106"/>
          <p:cNvCxnSpPr/>
          <p:nvPr/>
        </p:nvCxnSpPr>
        <p:spPr>
          <a:xfrm>
            <a:off x="3747969" y="2961121"/>
            <a:ext cx="14251" cy="146053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08" name="직선 화살표 연결선 107"/>
          <p:cNvCxnSpPr/>
          <p:nvPr/>
        </p:nvCxnSpPr>
        <p:spPr>
          <a:xfrm flipV="1">
            <a:off x="3621384" y="4176696"/>
            <a:ext cx="466522" cy="795264"/>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2" name="직선 화살표 연결선 111"/>
          <p:cNvCxnSpPr/>
          <p:nvPr/>
        </p:nvCxnSpPr>
        <p:spPr>
          <a:xfrm>
            <a:off x="4942322" y="3677956"/>
            <a:ext cx="466522" cy="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3" name="직선 화살표 연결선 112"/>
          <p:cNvCxnSpPr/>
          <p:nvPr/>
        </p:nvCxnSpPr>
        <p:spPr>
          <a:xfrm flipV="1">
            <a:off x="5252976" y="1694329"/>
            <a:ext cx="155064" cy="185802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4" name="직선 화살표 연결선 113"/>
          <p:cNvCxnSpPr/>
          <p:nvPr/>
        </p:nvCxnSpPr>
        <p:spPr>
          <a:xfrm>
            <a:off x="5875515" y="1360487"/>
            <a:ext cx="0" cy="458460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5" name="직선 화살표 연결선 114"/>
          <p:cNvCxnSpPr/>
          <p:nvPr/>
        </p:nvCxnSpPr>
        <p:spPr>
          <a:xfrm flipV="1">
            <a:off x="5862737" y="5542516"/>
            <a:ext cx="594173" cy="766479"/>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6" name="직선 화살표 연결선 115"/>
          <p:cNvCxnSpPr/>
          <p:nvPr/>
        </p:nvCxnSpPr>
        <p:spPr>
          <a:xfrm flipV="1">
            <a:off x="6369078" y="3154206"/>
            <a:ext cx="0" cy="203868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7" name="직선 화살표 연결선 116"/>
          <p:cNvCxnSpPr/>
          <p:nvPr/>
        </p:nvCxnSpPr>
        <p:spPr>
          <a:xfrm>
            <a:off x="6820785" y="2752256"/>
            <a:ext cx="525791" cy="711366"/>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8" name="직선 화살표 연결선 117"/>
          <p:cNvCxnSpPr/>
          <p:nvPr/>
        </p:nvCxnSpPr>
        <p:spPr>
          <a:xfrm flipV="1">
            <a:off x="8045823" y="2812766"/>
            <a:ext cx="491695" cy="739588"/>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9" name="직선 화살표 연결선 118"/>
          <p:cNvCxnSpPr/>
          <p:nvPr/>
        </p:nvCxnSpPr>
        <p:spPr>
          <a:xfrm>
            <a:off x="8991721" y="2961121"/>
            <a:ext cx="0" cy="146053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20" name="직선 화살표 연결선 119"/>
          <p:cNvCxnSpPr/>
          <p:nvPr/>
        </p:nvCxnSpPr>
        <p:spPr>
          <a:xfrm>
            <a:off x="8908543" y="4733620"/>
            <a:ext cx="664398" cy="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21" name="직선 화살표 연결선 120"/>
          <p:cNvCxnSpPr/>
          <p:nvPr/>
        </p:nvCxnSpPr>
        <p:spPr>
          <a:xfrm>
            <a:off x="9519835" y="4971960"/>
            <a:ext cx="53106" cy="95379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22" name="직선 화살표 연결선 121"/>
          <p:cNvCxnSpPr/>
          <p:nvPr/>
        </p:nvCxnSpPr>
        <p:spPr>
          <a:xfrm flipH="1" flipV="1">
            <a:off x="9979507" y="3955767"/>
            <a:ext cx="75587" cy="2030498"/>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23" name="직선 화살표 연결선 122"/>
          <p:cNvCxnSpPr/>
          <p:nvPr/>
        </p:nvCxnSpPr>
        <p:spPr>
          <a:xfrm>
            <a:off x="10019553" y="3652787"/>
            <a:ext cx="664398" cy="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10" name="TextBox 109"/>
          <p:cNvSpPr txBox="1"/>
          <p:nvPr/>
        </p:nvSpPr>
        <p:spPr>
          <a:xfrm>
            <a:off x="72571" y="250721"/>
            <a:ext cx="4255168"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전체 지도 및 요소</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1" name="모서리가 둥근 직사각형 110"/>
          <p:cNvSpPr/>
          <p:nvPr/>
        </p:nvSpPr>
        <p:spPr>
          <a:xfrm>
            <a:off x="10876211" y="5520884"/>
            <a:ext cx="967581" cy="629074"/>
          </a:xfrm>
          <a:prstGeom prst="round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가방</a:t>
            </a:r>
            <a:endParaRPr lang="ko-KR" altLang="en-US" sz="2000" dirty="0">
              <a:ln>
                <a:solidFill>
                  <a:schemeClr val="tx1"/>
                </a:solidFill>
              </a:ln>
              <a:solidFill>
                <a:sysClr val="windowText" lastClr="000000"/>
              </a:solidFill>
            </a:endParaRPr>
          </a:p>
        </p:txBody>
      </p:sp>
      <p:sp>
        <p:nvSpPr>
          <p:cNvPr id="124" name="타원 123"/>
          <p:cNvSpPr/>
          <p:nvPr/>
        </p:nvSpPr>
        <p:spPr>
          <a:xfrm>
            <a:off x="259781"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25" name="타원 124"/>
          <p:cNvSpPr/>
          <p:nvPr/>
        </p:nvSpPr>
        <p:spPr>
          <a:xfrm>
            <a:off x="767084"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26" name="타원 125"/>
          <p:cNvSpPr/>
          <p:nvPr/>
        </p:nvSpPr>
        <p:spPr>
          <a:xfrm>
            <a:off x="1272986"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27" name="모서리가 둥근 직사각형 126"/>
          <p:cNvSpPr/>
          <p:nvPr/>
        </p:nvSpPr>
        <p:spPr>
          <a:xfrm>
            <a:off x="10876211" y="4758451"/>
            <a:ext cx="967581" cy="629074"/>
          </a:xfrm>
          <a:prstGeom prst="roundRect">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파티</a:t>
            </a:r>
            <a:endParaRPr lang="ko-KR" altLang="en-US" sz="2000" dirty="0">
              <a:ln>
                <a:solidFill>
                  <a:schemeClr val="tx1"/>
                </a:solidFill>
              </a:ln>
              <a:solidFill>
                <a:sysClr val="windowText" lastClr="000000"/>
              </a:solidFill>
            </a:endParaRPr>
          </a:p>
        </p:txBody>
      </p:sp>
    </p:spTree>
    <p:extLst>
      <p:ext uri="{BB962C8B-B14F-4D97-AF65-F5344CB8AC3E}">
        <p14:creationId xmlns:p14="http://schemas.microsoft.com/office/powerpoint/2010/main" val="1216392924"/>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19</a:t>
            </a:fld>
            <a:endParaRPr lang="ko-KR" altLang="en-US" sz="1800" dirty="0"/>
          </a:p>
        </p:txBody>
      </p:sp>
      <p:sp>
        <p:nvSpPr>
          <p:cNvPr id="7" name="타원 6"/>
          <p:cNvSpPr/>
          <p:nvPr/>
        </p:nvSpPr>
        <p:spPr>
          <a:xfrm>
            <a:off x="2280935"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3" name="타원 12"/>
          <p:cNvSpPr/>
          <p:nvPr/>
        </p:nvSpPr>
        <p:spPr>
          <a:xfrm>
            <a:off x="2286428"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4" name="타원 13"/>
          <p:cNvSpPr/>
          <p:nvPr/>
        </p:nvSpPr>
        <p:spPr>
          <a:xfrm>
            <a:off x="2286429"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5" name="타원 14"/>
          <p:cNvSpPr/>
          <p:nvPr/>
        </p:nvSpPr>
        <p:spPr>
          <a:xfrm>
            <a:off x="2287232"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2" name="타원 21"/>
          <p:cNvSpPr/>
          <p:nvPr/>
        </p:nvSpPr>
        <p:spPr>
          <a:xfrm>
            <a:off x="2279278"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3" name="타원 22"/>
          <p:cNvSpPr/>
          <p:nvPr/>
        </p:nvSpPr>
        <p:spPr>
          <a:xfrm>
            <a:off x="2279279"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4" name="타원 23"/>
          <p:cNvSpPr/>
          <p:nvPr/>
        </p:nvSpPr>
        <p:spPr>
          <a:xfrm>
            <a:off x="2280082"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7" name="타원 36"/>
          <p:cNvSpPr/>
          <p:nvPr/>
        </p:nvSpPr>
        <p:spPr>
          <a:xfrm>
            <a:off x="3316359"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8" name="타원 37"/>
          <p:cNvSpPr/>
          <p:nvPr/>
        </p:nvSpPr>
        <p:spPr>
          <a:xfrm>
            <a:off x="3321852"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9" name="타원 38"/>
          <p:cNvSpPr/>
          <p:nvPr/>
        </p:nvSpPr>
        <p:spPr>
          <a:xfrm>
            <a:off x="3321853"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0" name="타원 39"/>
          <p:cNvSpPr/>
          <p:nvPr/>
        </p:nvSpPr>
        <p:spPr>
          <a:xfrm>
            <a:off x="3322656"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2" name="타원 41"/>
          <p:cNvSpPr/>
          <p:nvPr/>
        </p:nvSpPr>
        <p:spPr>
          <a:xfrm>
            <a:off x="3314702"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3" name="타원 42"/>
          <p:cNvSpPr/>
          <p:nvPr/>
        </p:nvSpPr>
        <p:spPr>
          <a:xfrm>
            <a:off x="3314703"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4" name="타원 43"/>
          <p:cNvSpPr/>
          <p:nvPr/>
        </p:nvSpPr>
        <p:spPr>
          <a:xfrm>
            <a:off x="3328953"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7" name="타원 56"/>
          <p:cNvSpPr/>
          <p:nvPr/>
        </p:nvSpPr>
        <p:spPr>
          <a:xfrm>
            <a:off x="540254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8" name="타원 57"/>
          <p:cNvSpPr/>
          <p:nvPr/>
        </p:nvSpPr>
        <p:spPr>
          <a:xfrm>
            <a:off x="540804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9" name="타원 58"/>
          <p:cNvSpPr/>
          <p:nvPr/>
        </p:nvSpPr>
        <p:spPr>
          <a:xfrm>
            <a:off x="5408041" y="203283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0" name="타원 59"/>
          <p:cNvSpPr/>
          <p:nvPr/>
        </p:nvSpPr>
        <p:spPr>
          <a:xfrm>
            <a:off x="5408844"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2" name="타원 61"/>
          <p:cNvSpPr/>
          <p:nvPr/>
        </p:nvSpPr>
        <p:spPr>
          <a:xfrm>
            <a:off x="540089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3" name="타원 62"/>
          <p:cNvSpPr/>
          <p:nvPr/>
        </p:nvSpPr>
        <p:spPr>
          <a:xfrm>
            <a:off x="5400891"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4" name="타원 63"/>
          <p:cNvSpPr/>
          <p:nvPr/>
        </p:nvSpPr>
        <p:spPr>
          <a:xfrm>
            <a:off x="5401694"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7" name="타원 66"/>
          <p:cNvSpPr/>
          <p:nvPr/>
        </p:nvSpPr>
        <p:spPr>
          <a:xfrm>
            <a:off x="645141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74" name="타원 73"/>
          <p:cNvSpPr/>
          <p:nvPr/>
        </p:nvSpPr>
        <p:spPr>
          <a:xfrm>
            <a:off x="6450564" y="43995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sp>
        <p:nvSpPr>
          <p:cNvPr id="134" name="직사각형 133"/>
          <p:cNvSpPr/>
          <p:nvPr/>
        </p:nvSpPr>
        <p:spPr>
          <a:xfrm>
            <a:off x="4195481" y="3394351"/>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5" name="직사각형 134"/>
          <p:cNvSpPr/>
          <p:nvPr/>
        </p:nvSpPr>
        <p:spPr>
          <a:xfrm>
            <a:off x="7346576" y="3380904"/>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6" name="직사각형 135"/>
          <p:cNvSpPr/>
          <p:nvPr/>
        </p:nvSpPr>
        <p:spPr>
          <a:xfrm>
            <a:off x="10765240" y="3380903"/>
            <a:ext cx="699247" cy="781371"/>
          </a:xfrm>
          <a:prstGeom prst="rect">
            <a:avLst/>
          </a:prstGeom>
          <a:solidFill>
            <a:srgbClr val="C00000"/>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최종</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77" name="도넛 76"/>
          <p:cNvSpPr/>
          <p:nvPr/>
        </p:nvSpPr>
        <p:spPr>
          <a:xfrm>
            <a:off x="349545" y="3112030"/>
            <a:ext cx="1398449" cy="1297503"/>
          </a:xfrm>
          <a:prstGeom prst="donut">
            <a:avLst>
              <a:gd name="adj" fmla="val 1822"/>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TextBox 78"/>
          <p:cNvSpPr txBox="1"/>
          <p:nvPr/>
        </p:nvSpPr>
        <p:spPr>
          <a:xfrm>
            <a:off x="2023967"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0" name="TextBox 79"/>
          <p:cNvSpPr txBox="1"/>
          <p:nvPr/>
        </p:nvSpPr>
        <p:spPr>
          <a:xfrm>
            <a:off x="3078714"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1" name="TextBox 80"/>
          <p:cNvSpPr txBox="1"/>
          <p:nvPr/>
        </p:nvSpPr>
        <p:spPr>
          <a:xfrm>
            <a:off x="515940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TextBox 81"/>
          <p:cNvSpPr txBox="1"/>
          <p:nvPr/>
        </p:nvSpPr>
        <p:spPr>
          <a:xfrm>
            <a:off x="620827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3" name="TextBox 82"/>
          <p:cNvSpPr txBox="1"/>
          <p:nvPr/>
        </p:nvSpPr>
        <p:spPr>
          <a:xfrm>
            <a:off x="8301530"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4" name="TextBox 83"/>
          <p:cNvSpPr txBox="1"/>
          <p:nvPr/>
        </p:nvSpPr>
        <p:spPr>
          <a:xfrm>
            <a:off x="9337898"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5" name="TextBox 84"/>
          <p:cNvSpPr txBox="1"/>
          <p:nvPr/>
        </p:nvSpPr>
        <p:spPr>
          <a:xfrm>
            <a:off x="4122593" y="2990068"/>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6" name="TextBox 85"/>
          <p:cNvSpPr txBox="1"/>
          <p:nvPr/>
        </p:nvSpPr>
        <p:spPr>
          <a:xfrm>
            <a:off x="7271527" y="2973313"/>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6</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1" name="TextBox 90"/>
          <p:cNvSpPr txBox="1"/>
          <p:nvPr/>
        </p:nvSpPr>
        <p:spPr>
          <a:xfrm>
            <a:off x="10687739" y="2981557"/>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9</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5" name="TextBox 94"/>
          <p:cNvSpPr txBox="1"/>
          <p:nvPr/>
        </p:nvSpPr>
        <p:spPr>
          <a:xfrm>
            <a:off x="4327739" y="2343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입구</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모서리가 둥근 사각형 설명선 77"/>
          <p:cNvSpPr/>
          <p:nvPr/>
        </p:nvSpPr>
        <p:spPr>
          <a:xfrm>
            <a:off x="1582663" y="1424275"/>
            <a:ext cx="2238073" cy="1773483"/>
          </a:xfrm>
          <a:prstGeom prst="wedgeRoundRectCallout">
            <a:avLst>
              <a:gd name="adj1" fmla="val -42825"/>
              <a:gd name="adj2" fmla="val 61853"/>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입구</a:t>
            </a:r>
            <a:r>
              <a:rPr lang="en-US" altLang="ko-KR" sz="1600" b="1" dirty="0" smtClean="0">
                <a:solidFill>
                  <a:sysClr val="windowText" lastClr="000000"/>
                </a:solidFill>
              </a:rPr>
              <a:t>’</a:t>
            </a:r>
          </a:p>
          <a:p>
            <a:endParaRPr lang="en-US" altLang="ko-KR" sz="1400" dirty="0" smtClean="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던전 </a:t>
            </a:r>
            <a:r>
              <a:rPr lang="ko-KR" altLang="en-US" sz="1400" dirty="0" smtClean="0">
                <a:solidFill>
                  <a:sysClr val="windowText" lastClr="000000"/>
                </a:solidFill>
              </a:rPr>
              <a:t>탐험의 시작점</a:t>
            </a:r>
            <a:endParaRPr lang="en-US" altLang="ko-KR" sz="1400" dirty="0" smtClean="0">
              <a:solidFill>
                <a:sysClr val="windowText" lastClr="000000"/>
              </a:solidFill>
            </a:endParaRPr>
          </a:p>
          <a:p>
            <a:endParaRPr lang="en-US" altLang="ko-KR" sz="1400" dirty="0" smtClean="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전투가 발생하지 </a:t>
            </a:r>
            <a:r>
              <a:rPr lang="ko-KR" altLang="en-US" sz="1400" dirty="0" smtClean="0">
                <a:solidFill>
                  <a:sysClr val="windowText" lastClr="000000"/>
                </a:solidFill>
              </a:rPr>
              <a:t>않음</a:t>
            </a:r>
            <a:endParaRPr lang="en-US" altLang="ko-KR" sz="1400" dirty="0" smtClean="0">
              <a:solidFill>
                <a:sysClr val="windowText" lastClr="000000"/>
              </a:solidFill>
            </a:endParaRPr>
          </a:p>
        </p:txBody>
      </p:sp>
      <p:sp>
        <p:nvSpPr>
          <p:cNvPr id="105" name="TextBox 104"/>
          <p:cNvSpPr txBox="1"/>
          <p:nvPr/>
        </p:nvSpPr>
        <p:spPr>
          <a:xfrm>
            <a:off x="72571" y="250721"/>
            <a:ext cx="4255168"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전체 지도 및 요소</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6" name="모서리가 둥근 직사각형 105"/>
          <p:cNvSpPr/>
          <p:nvPr/>
        </p:nvSpPr>
        <p:spPr>
          <a:xfrm>
            <a:off x="10876211" y="5520884"/>
            <a:ext cx="967581" cy="629074"/>
          </a:xfrm>
          <a:prstGeom prst="round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가방</a:t>
            </a:r>
            <a:endParaRPr lang="ko-KR" altLang="en-US" sz="2000" dirty="0">
              <a:ln>
                <a:solidFill>
                  <a:schemeClr val="tx1"/>
                </a:solidFill>
              </a:ln>
              <a:solidFill>
                <a:sysClr val="windowText" lastClr="000000"/>
              </a:solidFill>
            </a:endParaRPr>
          </a:p>
        </p:txBody>
      </p:sp>
      <p:sp>
        <p:nvSpPr>
          <p:cNvPr id="107" name="타원 106"/>
          <p:cNvSpPr/>
          <p:nvPr/>
        </p:nvSpPr>
        <p:spPr>
          <a:xfrm>
            <a:off x="259781"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08" name="타원 107"/>
          <p:cNvSpPr/>
          <p:nvPr/>
        </p:nvSpPr>
        <p:spPr>
          <a:xfrm>
            <a:off x="767084"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09" name="타원 108"/>
          <p:cNvSpPr/>
          <p:nvPr/>
        </p:nvSpPr>
        <p:spPr>
          <a:xfrm>
            <a:off x="1272986"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10" name="모서리가 둥근 직사각형 109"/>
          <p:cNvSpPr/>
          <p:nvPr/>
        </p:nvSpPr>
        <p:spPr>
          <a:xfrm>
            <a:off x="10876211" y="4758451"/>
            <a:ext cx="967581" cy="629074"/>
          </a:xfrm>
          <a:prstGeom prst="roundRect">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파티</a:t>
            </a:r>
            <a:endParaRPr lang="ko-KR" altLang="en-US" sz="2000" dirty="0">
              <a:ln>
                <a:solidFill>
                  <a:schemeClr val="tx1"/>
                </a:solidFill>
              </a:ln>
              <a:solidFill>
                <a:sysClr val="windowText" lastClr="000000"/>
              </a:solidFill>
            </a:endParaRPr>
          </a:p>
        </p:txBody>
      </p:sp>
    </p:spTree>
    <p:extLst>
      <p:ext uri="{BB962C8B-B14F-4D97-AF65-F5344CB8AC3E}">
        <p14:creationId xmlns:p14="http://schemas.microsoft.com/office/powerpoint/2010/main" val="3929882731"/>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20</a:t>
            </a:fld>
            <a:endParaRPr lang="ko-KR" altLang="en-US" sz="1800" dirty="0"/>
          </a:p>
        </p:txBody>
      </p:sp>
      <p:sp>
        <p:nvSpPr>
          <p:cNvPr id="7" name="타원 6"/>
          <p:cNvSpPr/>
          <p:nvPr/>
        </p:nvSpPr>
        <p:spPr>
          <a:xfrm>
            <a:off x="2280935"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3" name="타원 12"/>
          <p:cNvSpPr/>
          <p:nvPr/>
        </p:nvSpPr>
        <p:spPr>
          <a:xfrm>
            <a:off x="2286428"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4" name="타원 13"/>
          <p:cNvSpPr/>
          <p:nvPr/>
        </p:nvSpPr>
        <p:spPr>
          <a:xfrm>
            <a:off x="2286429"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5" name="타원 14"/>
          <p:cNvSpPr/>
          <p:nvPr/>
        </p:nvSpPr>
        <p:spPr>
          <a:xfrm>
            <a:off x="2287232"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2" name="타원 21"/>
          <p:cNvSpPr/>
          <p:nvPr/>
        </p:nvSpPr>
        <p:spPr>
          <a:xfrm>
            <a:off x="2279278"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3" name="타원 22"/>
          <p:cNvSpPr/>
          <p:nvPr/>
        </p:nvSpPr>
        <p:spPr>
          <a:xfrm>
            <a:off x="2279279"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4" name="타원 23"/>
          <p:cNvSpPr/>
          <p:nvPr/>
        </p:nvSpPr>
        <p:spPr>
          <a:xfrm>
            <a:off x="2280082"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7" name="타원 36"/>
          <p:cNvSpPr/>
          <p:nvPr/>
        </p:nvSpPr>
        <p:spPr>
          <a:xfrm>
            <a:off x="3316359"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8" name="타원 37"/>
          <p:cNvSpPr/>
          <p:nvPr/>
        </p:nvSpPr>
        <p:spPr>
          <a:xfrm>
            <a:off x="3321852"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9" name="타원 38"/>
          <p:cNvSpPr/>
          <p:nvPr/>
        </p:nvSpPr>
        <p:spPr>
          <a:xfrm>
            <a:off x="3321853"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0" name="타원 39"/>
          <p:cNvSpPr/>
          <p:nvPr/>
        </p:nvSpPr>
        <p:spPr>
          <a:xfrm>
            <a:off x="3322656"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2" name="타원 41"/>
          <p:cNvSpPr/>
          <p:nvPr/>
        </p:nvSpPr>
        <p:spPr>
          <a:xfrm>
            <a:off x="3314702"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3" name="타원 42"/>
          <p:cNvSpPr/>
          <p:nvPr/>
        </p:nvSpPr>
        <p:spPr>
          <a:xfrm>
            <a:off x="3314703"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4" name="타원 43"/>
          <p:cNvSpPr/>
          <p:nvPr/>
        </p:nvSpPr>
        <p:spPr>
          <a:xfrm>
            <a:off x="3328953"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7" name="타원 56"/>
          <p:cNvSpPr/>
          <p:nvPr/>
        </p:nvSpPr>
        <p:spPr>
          <a:xfrm>
            <a:off x="540254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8" name="타원 57"/>
          <p:cNvSpPr/>
          <p:nvPr/>
        </p:nvSpPr>
        <p:spPr>
          <a:xfrm>
            <a:off x="540804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9" name="타원 58"/>
          <p:cNvSpPr/>
          <p:nvPr/>
        </p:nvSpPr>
        <p:spPr>
          <a:xfrm>
            <a:off x="5408041" y="203283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0" name="타원 59"/>
          <p:cNvSpPr/>
          <p:nvPr/>
        </p:nvSpPr>
        <p:spPr>
          <a:xfrm>
            <a:off x="5408844"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2" name="타원 61"/>
          <p:cNvSpPr/>
          <p:nvPr/>
        </p:nvSpPr>
        <p:spPr>
          <a:xfrm>
            <a:off x="540089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3" name="타원 62"/>
          <p:cNvSpPr/>
          <p:nvPr/>
        </p:nvSpPr>
        <p:spPr>
          <a:xfrm>
            <a:off x="5400891"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4" name="타원 63"/>
          <p:cNvSpPr/>
          <p:nvPr/>
        </p:nvSpPr>
        <p:spPr>
          <a:xfrm>
            <a:off x="5401694"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7" name="타원 66"/>
          <p:cNvSpPr/>
          <p:nvPr/>
        </p:nvSpPr>
        <p:spPr>
          <a:xfrm>
            <a:off x="645141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74" name="타원 73"/>
          <p:cNvSpPr/>
          <p:nvPr/>
        </p:nvSpPr>
        <p:spPr>
          <a:xfrm>
            <a:off x="6450564" y="43995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sp>
        <p:nvSpPr>
          <p:cNvPr id="134" name="직사각형 133"/>
          <p:cNvSpPr/>
          <p:nvPr/>
        </p:nvSpPr>
        <p:spPr>
          <a:xfrm>
            <a:off x="4195481" y="3394351"/>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5" name="직사각형 134"/>
          <p:cNvSpPr/>
          <p:nvPr/>
        </p:nvSpPr>
        <p:spPr>
          <a:xfrm>
            <a:off x="7346576" y="3380904"/>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6" name="직사각형 135"/>
          <p:cNvSpPr/>
          <p:nvPr/>
        </p:nvSpPr>
        <p:spPr>
          <a:xfrm>
            <a:off x="10765240" y="3380903"/>
            <a:ext cx="699247" cy="781371"/>
          </a:xfrm>
          <a:prstGeom prst="rect">
            <a:avLst/>
          </a:prstGeom>
          <a:solidFill>
            <a:srgbClr val="C00000"/>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최종</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79" name="TextBox 78"/>
          <p:cNvSpPr txBox="1"/>
          <p:nvPr/>
        </p:nvSpPr>
        <p:spPr>
          <a:xfrm>
            <a:off x="2023967"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0" name="TextBox 79"/>
          <p:cNvSpPr txBox="1"/>
          <p:nvPr/>
        </p:nvSpPr>
        <p:spPr>
          <a:xfrm>
            <a:off x="3078714"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1" name="TextBox 80"/>
          <p:cNvSpPr txBox="1"/>
          <p:nvPr/>
        </p:nvSpPr>
        <p:spPr>
          <a:xfrm>
            <a:off x="515940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TextBox 81"/>
          <p:cNvSpPr txBox="1"/>
          <p:nvPr/>
        </p:nvSpPr>
        <p:spPr>
          <a:xfrm>
            <a:off x="620827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3" name="TextBox 82"/>
          <p:cNvSpPr txBox="1"/>
          <p:nvPr/>
        </p:nvSpPr>
        <p:spPr>
          <a:xfrm>
            <a:off x="8301530"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4" name="TextBox 83"/>
          <p:cNvSpPr txBox="1"/>
          <p:nvPr/>
        </p:nvSpPr>
        <p:spPr>
          <a:xfrm>
            <a:off x="9337898"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5" name="TextBox 84"/>
          <p:cNvSpPr txBox="1"/>
          <p:nvPr/>
        </p:nvSpPr>
        <p:spPr>
          <a:xfrm>
            <a:off x="4122593" y="2990068"/>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6" name="TextBox 85"/>
          <p:cNvSpPr txBox="1"/>
          <p:nvPr/>
        </p:nvSpPr>
        <p:spPr>
          <a:xfrm>
            <a:off x="7271527" y="2973313"/>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6</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1" name="TextBox 90"/>
          <p:cNvSpPr txBox="1"/>
          <p:nvPr/>
        </p:nvSpPr>
        <p:spPr>
          <a:xfrm>
            <a:off x="10687739" y="2981557"/>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9</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5" name="TextBox 94"/>
          <p:cNvSpPr txBox="1"/>
          <p:nvPr/>
        </p:nvSpPr>
        <p:spPr>
          <a:xfrm>
            <a:off x="4327739" y="2343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rPr>
              <a:t>길</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모서리가 둥근 사각형 설명선 77"/>
          <p:cNvSpPr/>
          <p:nvPr/>
        </p:nvSpPr>
        <p:spPr>
          <a:xfrm>
            <a:off x="1973463" y="765394"/>
            <a:ext cx="4462518" cy="2782479"/>
          </a:xfrm>
          <a:prstGeom prst="wedgeRoundRectCallout">
            <a:avLst>
              <a:gd name="adj1" fmla="val -42825"/>
              <a:gd name="adj2" fmla="val 61853"/>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길</a:t>
            </a:r>
            <a:r>
              <a:rPr lang="en-US" altLang="ko-KR" sz="1600" b="1" dirty="0" smtClean="0">
                <a:solidFill>
                  <a:sysClr val="windowText" lastClr="000000"/>
                </a:solidFill>
              </a:rPr>
              <a:t>’</a:t>
            </a:r>
          </a:p>
          <a:p>
            <a:endParaRPr lang="en-US" altLang="ko-KR" sz="1400" dirty="0">
              <a:solidFill>
                <a:sysClr val="windowText" lastClr="000000"/>
              </a:solidFill>
            </a:endParaRPr>
          </a:p>
          <a:p>
            <a:pPr>
              <a:lnSpc>
                <a:spcPct val="150000"/>
              </a:lnSpc>
            </a:pPr>
            <a:r>
              <a:rPr lang="en-US" altLang="ko-KR" sz="1400" dirty="0" smtClean="0">
                <a:solidFill>
                  <a:sysClr val="windowText" lastClr="000000"/>
                </a:solidFill>
              </a:rPr>
              <a:t>- </a:t>
            </a:r>
            <a:r>
              <a:rPr lang="ko-KR" altLang="en-US" sz="1400" dirty="0" err="1">
                <a:solidFill>
                  <a:schemeClr val="tx1"/>
                </a:solidFill>
              </a:rPr>
              <a:t>에어리어와</a:t>
            </a:r>
            <a:r>
              <a:rPr lang="ko-KR" altLang="en-US" sz="1400" dirty="0">
                <a:solidFill>
                  <a:schemeClr val="tx1"/>
                </a:solidFill>
              </a:rPr>
              <a:t> </a:t>
            </a:r>
            <a:r>
              <a:rPr lang="ko-KR" altLang="en-US" sz="1400" dirty="0" err="1">
                <a:solidFill>
                  <a:schemeClr val="tx1"/>
                </a:solidFill>
              </a:rPr>
              <a:t>에어리어</a:t>
            </a:r>
            <a:r>
              <a:rPr lang="en-US" altLang="ko-KR" sz="1400" dirty="0">
                <a:solidFill>
                  <a:schemeClr val="tx1"/>
                </a:solidFill>
              </a:rPr>
              <a:t>, </a:t>
            </a:r>
            <a:r>
              <a:rPr lang="ko-KR" altLang="en-US" sz="1400" dirty="0">
                <a:solidFill>
                  <a:schemeClr val="tx1"/>
                </a:solidFill>
              </a:rPr>
              <a:t>계층과 계층을 잇는 </a:t>
            </a:r>
            <a:r>
              <a:rPr lang="ko-KR" altLang="en-US" sz="1400" dirty="0" smtClean="0">
                <a:solidFill>
                  <a:schemeClr val="tx1"/>
                </a:solidFill>
              </a:rPr>
              <a:t>선분 </a:t>
            </a:r>
            <a:endParaRPr lang="en-US" altLang="ko-KR" sz="1400" dirty="0" smtClean="0">
              <a:solidFill>
                <a:schemeClr val="tx1"/>
              </a:solidFill>
            </a:endParaRPr>
          </a:p>
          <a:p>
            <a:pPr>
              <a:lnSpc>
                <a:spcPct val="150000"/>
              </a:lnSpc>
            </a:pPr>
            <a:r>
              <a:rPr lang="en-US" altLang="ko-KR" sz="1400" dirty="0">
                <a:solidFill>
                  <a:schemeClr val="tx1"/>
                </a:solidFill>
              </a:rPr>
              <a:t> </a:t>
            </a:r>
            <a:r>
              <a:rPr lang="en-US" altLang="ko-KR" sz="1400" dirty="0" smtClean="0">
                <a:solidFill>
                  <a:schemeClr val="tx1"/>
                </a:solidFill>
              </a:rPr>
              <a:t> </a:t>
            </a:r>
            <a:r>
              <a:rPr lang="ko-KR" altLang="en-US" sz="1400" dirty="0" smtClean="0">
                <a:solidFill>
                  <a:schemeClr val="tx1"/>
                </a:solidFill>
              </a:rPr>
              <a:t>으로</a:t>
            </a:r>
            <a:r>
              <a:rPr lang="en-US" altLang="ko-KR" sz="1400" dirty="0">
                <a:solidFill>
                  <a:schemeClr val="tx1"/>
                </a:solidFill>
              </a:rPr>
              <a:t>, </a:t>
            </a:r>
            <a:r>
              <a:rPr lang="ko-KR" altLang="en-US" sz="1400" dirty="0">
                <a:solidFill>
                  <a:schemeClr val="tx1"/>
                </a:solidFill>
              </a:rPr>
              <a:t>플레이어가 이동할 수 있는 </a:t>
            </a:r>
            <a:r>
              <a:rPr lang="ko-KR" altLang="en-US" sz="1400" dirty="0" smtClean="0">
                <a:solidFill>
                  <a:schemeClr val="tx1"/>
                </a:solidFill>
              </a:rPr>
              <a:t>경로를 나타냄</a:t>
            </a:r>
            <a:r>
              <a:rPr lang="en-US" altLang="ko-KR" sz="1400" dirty="0" smtClean="0">
                <a:solidFill>
                  <a:schemeClr val="tx1"/>
                </a:solidFill>
              </a:rPr>
              <a:t>.</a:t>
            </a:r>
            <a:endParaRPr lang="en-US" altLang="ko-KR" sz="1400" dirty="0">
              <a:solidFill>
                <a:schemeClr val="tx1"/>
              </a:solidFill>
            </a:endParaRPr>
          </a:p>
          <a:p>
            <a:endParaRPr lang="en-US" altLang="ko-KR" sz="1400" dirty="0" smtClean="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에어리어에서 </a:t>
            </a:r>
            <a:r>
              <a:rPr lang="ko-KR" altLang="en-US" sz="1400" dirty="0" err="1" smtClean="0">
                <a:solidFill>
                  <a:sysClr val="windowText" lastClr="000000"/>
                </a:solidFill>
              </a:rPr>
              <a:t>에어리어로</a:t>
            </a:r>
            <a:r>
              <a:rPr lang="ko-KR" altLang="en-US" sz="1400" dirty="0" smtClean="0">
                <a:solidFill>
                  <a:sysClr val="windowText" lastClr="000000"/>
                </a:solidFill>
              </a:rPr>
              <a:t> 한번에 하나의 길을</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건널 수 있으며 방향은 왕복으로 이동 가능</a:t>
            </a:r>
            <a:endParaRPr lang="en-US" altLang="ko-KR" sz="1400" dirty="0" smtClean="0">
              <a:solidFill>
                <a:sysClr val="windowText" lastClr="000000"/>
              </a:solidFill>
            </a:endParaRP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단</a:t>
            </a:r>
            <a:r>
              <a:rPr lang="en-US" altLang="ko-KR" sz="1400" dirty="0" smtClean="0">
                <a:solidFill>
                  <a:sysClr val="windowText" lastClr="000000"/>
                </a:solidFill>
              </a:rPr>
              <a:t>, </a:t>
            </a:r>
            <a:r>
              <a:rPr lang="ko-KR" altLang="en-US" sz="1400" dirty="0" smtClean="0">
                <a:solidFill>
                  <a:sysClr val="windowText" lastClr="000000"/>
                </a:solidFill>
              </a:rPr>
              <a:t>계층 </a:t>
            </a:r>
            <a:r>
              <a:rPr lang="ko-KR" altLang="en-US" sz="1400" dirty="0" smtClean="0">
                <a:solidFill>
                  <a:sysClr val="windowText" lastClr="000000"/>
                </a:solidFill>
              </a:rPr>
              <a:t>간 이동의 경우</a:t>
            </a:r>
            <a:r>
              <a:rPr lang="en-US" altLang="ko-KR" sz="1400" dirty="0" smtClean="0">
                <a:solidFill>
                  <a:sysClr val="windowText" lastClr="000000"/>
                </a:solidFill>
              </a:rPr>
              <a:t>, </a:t>
            </a:r>
            <a:r>
              <a:rPr lang="ko-KR" altLang="en-US" sz="1400" dirty="0" smtClean="0">
                <a:solidFill>
                  <a:sysClr val="windowText" lastClr="000000"/>
                </a:solidFill>
              </a:rPr>
              <a:t>다음 계층으로 넘어간 </a:t>
            </a:r>
            <a:endParaRPr lang="en-US" altLang="ko-KR" sz="1400" dirty="0" smtClean="0">
              <a:solidFill>
                <a:sysClr val="windowText" lastClr="000000"/>
              </a:solidFill>
            </a:endParaRPr>
          </a:p>
          <a:p>
            <a:r>
              <a:rPr lang="en-US" altLang="ko-KR" sz="1400" dirty="0">
                <a:solidFill>
                  <a:sysClr val="windowText" lastClr="000000"/>
                </a:solidFill>
              </a:rPr>
              <a:t> </a:t>
            </a:r>
            <a:r>
              <a:rPr lang="en-US" altLang="ko-KR" sz="1400" dirty="0" smtClean="0">
                <a:solidFill>
                  <a:sysClr val="windowText" lastClr="000000"/>
                </a:solidFill>
              </a:rPr>
              <a:t> </a:t>
            </a:r>
            <a:r>
              <a:rPr lang="ko-KR" altLang="en-US" sz="1400" dirty="0" smtClean="0">
                <a:solidFill>
                  <a:sysClr val="windowText" lastClr="000000"/>
                </a:solidFill>
              </a:rPr>
              <a:t>후에는 이전 </a:t>
            </a:r>
            <a:r>
              <a:rPr lang="ko-KR" altLang="en-US" sz="1400" dirty="0" smtClean="0">
                <a:solidFill>
                  <a:sysClr val="windowText" lastClr="000000"/>
                </a:solidFill>
              </a:rPr>
              <a:t>계층으로 되돌아갈 수 </a:t>
            </a:r>
            <a:r>
              <a:rPr lang="ko-KR" altLang="en-US" sz="1400" dirty="0" smtClean="0">
                <a:solidFill>
                  <a:sysClr val="windowText" lastClr="000000"/>
                </a:solidFill>
              </a:rPr>
              <a:t>없음</a:t>
            </a:r>
            <a:endParaRPr lang="en-US" altLang="ko-KR" sz="1400" dirty="0" smtClean="0">
              <a:solidFill>
                <a:sysClr val="windowText" lastClr="000000"/>
              </a:solidFill>
            </a:endParaRPr>
          </a:p>
        </p:txBody>
      </p:sp>
      <p:cxnSp>
        <p:nvCxnSpPr>
          <p:cNvPr id="96" name="직선 화살표 연결선 95"/>
          <p:cNvCxnSpPr/>
          <p:nvPr/>
        </p:nvCxnSpPr>
        <p:spPr>
          <a:xfrm>
            <a:off x="1662904" y="4037316"/>
            <a:ext cx="365072" cy="38030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06" name="도넛 105"/>
          <p:cNvSpPr/>
          <p:nvPr/>
        </p:nvSpPr>
        <p:spPr>
          <a:xfrm>
            <a:off x="1476039" y="3787676"/>
            <a:ext cx="783158" cy="717722"/>
          </a:xfrm>
          <a:prstGeom prst="donut">
            <a:avLst>
              <a:gd name="adj" fmla="val 1822"/>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108" name="TextBox 107"/>
          <p:cNvSpPr txBox="1"/>
          <p:nvPr/>
        </p:nvSpPr>
        <p:spPr>
          <a:xfrm>
            <a:off x="72571" y="250721"/>
            <a:ext cx="4255168"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전체 지도 및 요소</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9" name="모서리가 둥근 직사각형 108"/>
          <p:cNvSpPr/>
          <p:nvPr/>
        </p:nvSpPr>
        <p:spPr>
          <a:xfrm>
            <a:off x="10876211" y="5520884"/>
            <a:ext cx="967581" cy="629074"/>
          </a:xfrm>
          <a:prstGeom prst="round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가방</a:t>
            </a:r>
            <a:endParaRPr lang="ko-KR" altLang="en-US" sz="2000" dirty="0">
              <a:ln>
                <a:solidFill>
                  <a:schemeClr val="tx1"/>
                </a:solidFill>
              </a:ln>
              <a:solidFill>
                <a:sysClr val="windowText" lastClr="000000"/>
              </a:solidFill>
            </a:endParaRPr>
          </a:p>
        </p:txBody>
      </p:sp>
      <p:sp>
        <p:nvSpPr>
          <p:cNvPr id="110" name="타원 109"/>
          <p:cNvSpPr/>
          <p:nvPr/>
        </p:nvSpPr>
        <p:spPr>
          <a:xfrm>
            <a:off x="259781"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11" name="타원 110"/>
          <p:cNvSpPr/>
          <p:nvPr/>
        </p:nvSpPr>
        <p:spPr>
          <a:xfrm>
            <a:off x="767084"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12" name="타원 111"/>
          <p:cNvSpPr/>
          <p:nvPr/>
        </p:nvSpPr>
        <p:spPr>
          <a:xfrm>
            <a:off x="1272986"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13" name="모서리가 둥근 직사각형 112"/>
          <p:cNvSpPr/>
          <p:nvPr/>
        </p:nvSpPr>
        <p:spPr>
          <a:xfrm>
            <a:off x="10876211" y="4758451"/>
            <a:ext cx="967581" cy="629074"/>
          </a:xfrm>
          <a:prstGeom prst="roundRect">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파티</a:t>
            </a:r>
            <a:endParaRPr lang="ko-KR" altLang="en-US" sz="2000" dirty="0">
              <a:ln>
                <a:solidFill>
                  <a:schemeClr val="tx1"/>
                </a:solidFill>
              </a:ln>
              <a:solidFill>
                <a:sysClr val="windowText" lastClr="000000"/>
              </a:solidFill>
            </a:endParaRPr>
          </a:p>
        </p:txBody>
      </p:sp>
    </p:spTree>
    <p:extLst>
      <p:ext uri="{BB962C8B-B14F-4D97-AF65-F5344CB8AC3E}">
        <p14:creationId xmlns:p14="http://schemas.microsoft.com/office/powerpoint/2010/main" val="967930956"/>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21</a:t>
            </a:fld>
            <a:endParaRPr lang="ko-KR" altLang="en-US" sz="1800" dirty="0"/>
          </a:p>
        </p:txBody>
      </p:sp>
      <p:sp>
        <p:nvSpPr>
          <p:cNvPr id="7" name="타원 6"/>
          <p:cNvSpPr/>
          <p:nvPr/>
        </p:nvSpPr>
        <p:spPr>
          <a:xfrm>
            <a:off x="2280935"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3" name="타원 12"/>
          <p:cNvSpPr/>
          <p:nvPr/>
        </p:nvSpPr>
        <p:spPr>
          <a:xfrm>
            <a:off x="2286428"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4" name="타원 13"/>
          <p:cNvSpPr/>
          <p:nvPr/>
        </p:nvSpPr>
        <p:spPr>
          <a:xfrm>
            <a:off x="2286429"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5" name="타원 14"/>
          <p:cNvSpPr/>
          <p:nvPr/>
        </p:nvSpPr>
        <p:spPr>
          <a:xfrm>
            <a:off x="2287232"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2" name="타원 21"/>
          <p:cNvSpPr/>
          <p:nvPr/>
        </p:nvSpPr>
        <p:spPr>
          <a:xfrm>
            <a:off x="2279278"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3" name="타원 22"/>
          <p:cNvSpPr/>
          <p:nvPr/>
        </p:nvSpPr>
        <p:spPr>
          <a:xfrm>
            <a:off x="2279279"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4" name="타원 23"/>
          <p:cNvSpPr/>
          <p:nvPr/>
        </p:nvSpPr>
        <p:spPr>
          <a:xfrm>
            <a:off x="2280082"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7" name="타원 36"/>
          <p:cNvSpPr/>
          <p:nvPr/>
        </p:nvSpPr>
        <p:spPr>
          <a:xfrm>
            <a:off x="3316359"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8" name="타원 37"/>
          <p:cNvSpPr/>
          <p:nvPr/>
        </p:nvSpPr>
        <p:spPr>
          <a:xfrm>
            <a:off x="3321852"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9" name="타원 38"/>
          <p:cNvSpPr/>
          <p:nvPr/>
        </p:nvSpPr>
        <p:spPr>
          <a:xfrm>
            <a:off x="3321853"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0" name="타원 39"/>
          <p:cNvSpPr/>
          <p:nvPr/>
        </p:nvSpPr>
        <p:spPr>
          <a:xfrm>
            <a:off x="3322656"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2" name="타원 41"/>
          <p:cNvSpPr/>
          <p:nvPr/>
        </p:nvSpPr>
        <p:spPr>
          <a:xfrm>
            <a:off x="3314702"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3" name="타원 42"/>
          <p:cNvSpPr/>
          <p:nvPr/>
        </p:nvSpPr>
        <p:spPr>
          <a:xfrm>
            <a:off x="3314703"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4" name="타원 43"/>
          <p:cNvSpPr/>
          <p:nvPr/>
        </p:nvSpPr>
        <p:spPr>
          <a:xfrm>
            <a:off x="3328953"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7" name="타원 56"/>
          <p:cNvSpPr/>
          <p:nvPr/>
        </p:nvSpPr>
        <p:spPr>
          <a:xfrm>
            <a:off x="540254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8" name="타원 57"/>
          <p:cNvSpPr/>
          <p:nvPr/>
        </p:nvSpPr>
        <p:spPr>
          <a:xfrm>
            <a:off x="540804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9" name="타원 58"/>
          <p:cNvSpPr/>
          <p:nvPr/>
        </p:nvSpPr>
        <p:spPr>
          <a:xfrm>
            <a:off x="5408041" y="203283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0" name="타원 59"/>
          <p:cNvSpPr/>
          <p:nvPr/>
        </p:nvSpPr>
        <p:spPr>
          <a:xfrm>
            <a:off x="5408844"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2" name="타원 61"/>
          <p:cNvSpPr/>
          <p:nvPr/>
        </p:nvSpPr>
        <p:spPr>
          <a:xfrm>
            <a:off x="540089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3" name="타원 62"/>
          <p:cNvSpPr/>
          <p:nvPr/>
        </p:nvSpPr>
        <p:spPr>
          <a:xfrm>
            <a:off x="5400891"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4" name="타원 63"/>
          <p:cNvSpPr/>
          <p:nvPr/>
        </p:nvSpPr>
        <p:spPr>
          <a:xfrm>
            <a:off x="5401694"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7" name="타원 66"/>
          <p:cNvSpPr/>
          <p:nvPr/>
        </p:nvSpPr>
        <p:spPr>
          <a:xfrm>
            <a:off x="645141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74" name="타원 73"/>
          <p:cNvSpPr/>
          <p:nvPr/>
        </p:nvSpPr>
        <p:spPr>
          <a:xfrm>
            <a:off x="6450564" y="43995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sp>
        <p:nvSpPr>
          <p:cNvPr id="134" name="직사각형 133"/>
          <p:cNvSpPr/>
          <p:nvPr/>
        </p:nvSpPr>
        <p:spPr>
          <a:xfrm>
            <a:off x="4195481" y="3394351"/>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5" name="직사각형 134"/>
          <p:cNvSpPr/>
          <p:nvPr/>
        </p:nvSpPr>
        <p:spPr>
          <a:xfrm>
            <a:off x="7346576" y="3380904"/>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6" name="직사각형 135"/>
          <p:cNvSpPr/>
          <p:nvPr/>
        </p:nvSpPr>
        <p:spPr>
          <a:xfrm>
            <a:off x="10765240" y="3380903"/>
            <a:ext cx="699247" cy="781371"/>
          </a:xfrm>
          <a:prstGeom prst="rect">
            <a:avLst/>
          </a:prstGeom>
          <a:solidFill>
            <a:srgbClr val="C00000"/>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최종</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79" name="TextBox 78"/>
          <p:cNvSpPr txBox="1"/>
          <p:nvPr/>
        </p:nvSpPr>
        <p:spPr>
          <a:xfrm>
            <a:off x="2023967"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0" name="TextBox 79"/>
          <p:cNvSpPr txBox="1"/>
          <p:nvPr/>
        </p:nvSpPr>
        <p:spPr>
          <a:xfrm>
            <a:off x="3078714"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1" name="TextBox 80"/>
          <p:cNvSpPr txBox="1"/>
          <p:nvPr/>
        </p:nvSpPr>
        <p:spPr>
          <a:xfrm>
            <a:off x="515940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TextBox 81"/>
          <p:cNvSpPr txBox="1"/>
          <p:nvPr/>
        </p:nvSpPr>
        <p:spPr>
          <a:xfrm>
            <a:off x="620827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3" name="TextBox 82"/>
          <p:cNvSpPr txBox="1"/>
          <p:nvPr/>
        </p:nvSpPr>
        <p:spPr>
          <a:xfrm>
            <a:off x="8301530"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4" name="TextBox 83"/>
          <p:cNvSpPr txBox="1"/>
          <p:nvPr/>
        </p:nvSpPr>
        <p:spPr>
          <a:xfrm>
            <a:off x="9337898"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5" name="TextBox 84"/>
          <p:cNvSpPr txBox="1"/>
          <p:nvPr/>
        </p:nvSpPr>
        <p:spPr>
          <a:xfrm>
            <a:off x="4122593" y="2990068"/>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6" name="TextBox 85"/>
          <p:cNvSpPr txBox="1"/>
          <p:nvPr/>
        </p:nvSpPr>
        <p:spPr>
          <a:xfrm>
            <a:off x="7271527" y="2973313"/>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6</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1" name="TextBox 90"/>
          <p:cNvSpPr txBox="1"/>
          <p:nvPr/>
        </p:nvSpPr>
        <p:spPr>
          <a:xfrm>
            <a:off x="10687739" y="2981557"/>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9</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5" name="TextBox 94"/>
          <p:cNvSpPr txBox="1"/>
          <p:nvPr/>
        </p:nvSpPr>
        <p:spPr>
          <a:xfrm>
            <a:off x="4327739" y="2343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rPr>
              <a:t>계</a:t>
            </a:r>
            <a:r>
              <a:rPr lang="ko-KR" altLang="en-US" sz="3200" b="1" spc="-300" dirty="0" smtClean="0">
                <a:gradFill>
                  <a:gsLst>
                    <a:gs pos="0">
                      <a:schemeClr val="tx1"/>
                    </a:gs>
                    <a:gs pos="100000">
                      <a:schemeClr val="tx1"/>
                    </a:gs>
                  </a:gsLst>
                  <a:lin ang="5400000" scaled="1"/>
                </a:gradFill>
                <a:latin typeface="맑은 고딕" panose="020B0503020000020004" pitchFamily="50" charset="-127"/>
              </a:rPr>
              <a:t>층</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모서리가 둥근 사각형 설명선 77"/>
          <p:cNvSpPr/>
          <p:nvPr/>
        </p:nvSpPr>
        <p:spPr>
          <a:xfrm>
            <a:off x="3201414" y="1228619"/>
            <a:ext cx="3571267" cy="2549730"/>
          </a:xfrm>
          <a:prstGeom prst="wedgeRoundRectCallout">
            <a:avLst>
              <a:gd name="adj1" fmla="val -42825"/>
              <a:gd name="adj2" fmla="val 61853"/>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계층</a:t>
            </a:r>
            <a:r>
              <a:rPr lang="en-US" altLang="ko-KR" sz="1600" b="1" dirty="0" smtClean="0">
                <a:solidFill>
                  <a:sysClr val="windowText" lastClr="000000"/>
                </a:solidFill>
              </a:rPr>
              <a:t>’</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에어리어들로 구성된</a:t>
            </a:r>
            <a:r>
              <a:rPr lang="en-US" altLang="ko-KR" sz="1400" dirty="0" smtClean="0">
                <a:solidFill>
                  <a:sysClr val="windowText" lastClr="000000"/>
                </a:solidFill>
              </a:rPr>
              <a:t>,</a:t>
            </a:r>
            <a:r>
              <a:rPr lang="ko-KR" altLang="en-US" sz="1400" dirty="0" smtClean="0">
                <a:solidFill>
                  <a:sysClr val="windowText" lastClr="000000"/>
                </a:solidFill>
              </a:rPr>
              <a:t> 던전의 층계</a:t>
            </a:r>
            <a:endParaRPr lang="en-US" altLang="ko-KR" sz="1400" dirty="0" smtClean="0">
              <a:solidFill>
                <a:sysClr val="windowText" lastClr="000000"/>
              </a:solidFill>
            </a:endParaRPr>
          </a:p>
          <a:p>
            <a:endParaRPr lang="en-US" altLang="ko-KR" sz="1400" dirty="0" smtClean="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다음 계층으로 가는 길이 이어져있는 </a:t>
            </a:r>
            <a:r>
              <a:rPr lang="en-US" altLang="ko-KR" sz="1400" dirty="0" smtClean="0">
                <a:solidFill>
                  <a:sysClr val="windowText" lastClr="000000"/>
                </a:solidFill>
              </a:rPr>
              <a:t>1</a:t>
            </a:r>
            <a:r>
              <a:rPr lang="ko-KR" altLang="en-US" sz="1400" dirty="0" smtClean="0">
                <a:solidFill>
                  <a:sysClr val="windowText" lastClr="000000"/>
                </a:solidFill>
              </a:rPr>
              <a:t>개의 </a:t>
            </a:r>
            <a:r>
              <a:rPr lang="ko-KR" altLang="en-US" sz="1400" dirty="0" err="1" smtClean="0">
                <a:solidFill>
                  <a:sysClr val="windowText" lastClr="000000"/>
                </a:solidFill>
              </a:rPr>
              <a:t>에어리어가</a:t>
            </a:r>
            <a:r>
              <a:rPr lang="ko-KR" altLang="en-US" sz="1400" dirty="0" smtClean="0">
                <a:solidFill>
                  <a:sysClr val="windowText" lastClr="000000"/>
                </a:solidFill>
              </a:rPr>
              <a:t> 존재</a:t>
            </a:r>
            <a:endParaRPr lang="en-US" altLang="ko-KR" sz="1400" dirty="0" smtClean="0">
              <a:solidFill>
                <a:sysClr val="windowText" lastClr="000000"/>
              </a:solidFill>
            </a:endParaRP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다음 계층으로 넘어가면</a:t>
            </a:r>
            <a:r>
              <a:rPr lang="en-US" altLang="ko-KR" sz="1400" dirty="0" smtClean="0">
                <a:solidFill>
                  <a:sysClr val="windowText" lastClr="000000"/>
                </a:solidFill>
              </a:rPr>
              <a:t>, </a:t>
            </a:r>
            <a:r>
              <a:rPr lang="ko-KR" altLang="en-US" sz="1400" dirty="0" smtClean="0">
                <a:solidFill>
                  <a:sysClr val="windowText" lastClr="000000"/>
                </a:solidFill>
              </a:rPr>
              <a:t>이전의 계층으로 되돌아갈 수 없음</a:t>
            </a:r>
            <a:endParaRPr lang="en-US" altLang="ko-KR" sz="1400" dirty="0" smtClean="0">
              <a:solidFill>
                <a:sysClr val="windowText" lastClr="000000"/>
              </a:solidFill>
            </a:endParaRPr>
          </a:p>
        </p:txBody>
      </p:sp>
      <p:sp>
        <p:nvSpPr>
          <p:cNvPr id="101" name="도넛 100"/>
          <p:cNvSpPr/>
          <p:nvPr/>
        </p:nvSpPr>
        <p:spPr>
          <a:xfrm>
            <a:off x="1787188" y="627372"/>
            <a:ext cx="1335591" cy="5752149"/>
          </a:xfrm>
          <a:prstGeom prst="donut">
            <a:avLst>
              <a:gd name="adj" fmla="val 1822"/>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106" name="TextBox 105"/>
          <p:cNvSpPr txBox="1"/>
          <p:nvPr/>
        </p:nvSpPr>
        <p:spPr>
          <a:xfrm>
            <a:off x="72571" y="250721"/>
            <a:ext cx="4255168"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전체 지도 및 요소</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7" name="모서리가 둥근 직사각형 106"/>
          <p:cNvSpPr/>
          <p:nvPr/>
        </p:nvSpPr>
        <p:spPr>
          <a:xfrm>
            <a:off x="10876211" y="5520884"/>
            <a:ext cx="967581" cy="629074"/>
          </a:xfrm>
          <a:prstGeom prst="round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가방</a:t>
            </a:r>
            <a:endParaRPr lang="ko-KR" altLang="en-US" sz="2000" dirty="0">
              <a:ln>
                <a:solidFill>
                  <a:schemeClr val="tx1"/>
                </a:solidFill>
              </a:ln>
              <a:solidFill>
                <a:sysClr val="windowText" lastClr="000000"/>
              </a:solidFill>
            </a:endParaRPr>
          </a:p>
        </p:txBody>
      </p:sp>
      <p:sp>
        <p:nvSpPr>
          <p:cNvPr id="108" name="타원 107"/>
          <p:cNvSpPr/>
          <p:nvPr/>
        </p:nvSpPr>
        <p:spPr>
          <a:xfrm>
            <a:off x="259781"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09" name="타원 108"/>
          <p:cNvSpPr/>
          <p:nvPr/>
        </p:nvSpPr>
        <p:spPr>
          <a:xfrm>
            <a:off x="767084"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10" name="타원 109"/>
          <p:cNvSpPr/>
          <p:nvPr/>
        </p:nvSpPr>
        <p:spPr>
          <a:xfrm>
            <a:off x="1272986"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11" name="모서리가 둥근 직사각형 110"/>
          <p:cNvSpPr/>
          <p:nvPr/>
        </p:nvSpPr>
        <p:spPr>
          <a:xfrm>
            <a:off x="10876211" y="4758451"/>
            <a:ext cx="967581" cy="629074"/>
          </a:xfrm>
          <a:prstGeom prst="roundRect">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파티</a:t>
            </a:r>
            <a:endParaRPr lang="ko-KR" altLang="en-US" sz="2000" dirty="0">
              <a:ln>
                <a:solidFill>
                  <a:schemeClr val="tx1"/>
                </a:solidFill>
              </a:ln>
              <a:solidFill>
                <a:sysClr val="windowText" lastClr="000000"/>
              </a:solidFill>
            </a:endParaRPr>
          </a:p>
        </p:txBody>
      </p:sp>
    </p:spTree>
    <p:extLst>
      <p:ext uri="{BB962C8B-B14F-4D97-AF65-F5344CB8AC3E}">
        <p14:creationId xmlns:p14="http://schemas.microsoft.com/office/powerpoint/2010/main" val="942958873"/>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22</a:t>
            </a:fld>
            <a:endParaRPr lang="ko-KR" altLang="en-US" sz="1800" dirty="0"/>
          </a:p>
        </p:txBody>
      </p:sp>
      <p:sp>
        <p:nvSpPr>
          <p:cNvPr id="7" name="타원 6"/>
          <p:cNvSpPr/>
          <p:nvPr/>
        </p:nvSpPr>
        <p:spPr>
          <a:xfrm>
            <a:off x="2280935"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3" name="타원 12"/>
          <p:cNvSpPr/>
          <p:nvPr/>
        </p:nvSpPr>
        <p:spPr>
          <a:xfrm>
            <a:off x="2286428"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4" name="타원 13"/>
          <p:cNvSpPr/>
          <p:nvPr/>
        </p:nvSpPr>
        <p:spPr>
          <a:xfrm>
            <a:off x="2286429"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5" name="타원 14"/>
          <p:cNvSpPr/>
          <p:nvPr/>
        </p:nvSpPr>
        <p:spPr>
          <a:xfrm>
            <a:off x="2287232"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2" name="타원 21"/>
          <p:cNvSpPr/>
          <p:nvPr/>
        </p:nvSpPr>
        <p:spPr>
          <a:xfrm>
            <a:off x="2279278"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3" name="타원 22"/>
          <p:cNvSpPr/>
          <p:nvPr/>
        </p:nvSpPr>
        <p:spPr>
          <a:xfrm>
            <a:off x="2279279"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4" name="타원 23"/>
          <p:cNvSpPr/>
          <p:nvPr/>
        </p:nvSpPr>
        <p:spPr>
          <a:xfrm>
            <a:off x="2280082"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7" name="타원 36"/>
          <p:cNvSpPr/>
          <p:nvPr/>
        </p:nvSpPr>
        <p:spPr>
          <a:xfrm>
            <a:off x="3316359"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8" name="타원 37"/>
          <p:cNvSpPr/>
          <p:nvPr/>
        </p:nvSpPr>
        <p:spPr>
          <a:xfrm>
            <a:off x="3321852"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9" name="타원 38"/>
          <p:cNvSpPr/>
          <p:nvPr/>
        </p:nvSpPr>
        <p:spPr>
          <a:xfrm>
            <a:off x="3321853"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0" name="타원 39"/>
          <p:cNvSpPr/>
          <p:nvPr/>
        </p:nvSpPr>
        <p:spPr>
          <a:xfrm>
            <a:off x="3322656"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2" name="타원 41"/>
          <p:cNvSpPr/>
          <p:nvPr/>
        </p:nvSpPr>
        <p:spPr>
          <a:xfrm>
            <a:off x="3314702"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3" name="타원 42"/>
          <p:cNvSpPr/>
          <p:nvPr/>
        </p:nvSpPr>
        <p:spPr>
          <a:xfrm>
            <a:off x="3314703"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4" name="타원 43"/>
          <p:cNvSpPr/>
          <p:nvPr/>
        </p:nvSpPr>
        <p:spPr>
          <a:xfrm>
            <a:off x="3328953"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7" name="타원 56"/>
          <p:cNvSpPr/>
          <p:nvPr/>
        </p:nvSpPr>
        <p:spPr>
          <a:xfrm>
            <a:off x="540254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8" name="타원 57"/>
          <p:cNvSpPr/>
          <p:nvPr/>
        </p:nvSpPr>
        <p:spPr>
          <a:xfrm>
            <a:off x="540804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9" name="타원 58"/>
          <p:cNvSpPr/>
          <p:nvPr/>
        </p:nvSpPr>
        <p:spPr>
          <a:xfrm>
            <a:off x="5408041" y="203283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0" name="타원 59"/>
          <p:cNvSpPr/>
          <p:nvPr/>
        </p:nvSpPr>
        <p:spPr>
          <a:xfrm>
            <a:off x="5408844"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2" name="타원 61"/>
          <p:cNvSpPr/>
          <p:nvPr/>
        </p:nvSpPr>
        <p:spPr>
          <a:xfrm>
            <a:off x="540089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3" name="타원 62"/>
          <p:cNvSpPr/>
          <p:nvPr/>
        </p:nvSpPr>
        <p:spPr>
          <a:xfrm>
            <a:off x="5400891"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4" name="타원 63"/>
          <p:cNvSpPr/>
          <p:nvPr/>
        </p:nvSpPr>
        <p:spPr>
          <a:xfrm>
            <a:off x="5401694"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7" name="타원 66"/>
          <p:cNvSpPr/>
          <p:nvPr/>
        </p:nvSpPr>
        <p:spPr>
          <a:xfrm>
            <a:off x="645141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74" name="타원 73"/>
          <p:cNvSpPr/>
          <p:nvPr/>
        </p:nvSpPr>
        <p:spPr>
          <a:xfrm>
            <a:off x="6450564" y="43995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sp>
        <p:nvSpPr>
          <p:cNvPr id="134" name="직사각형 133"/>
          <p:cNvSpPr/>
          <p:nvPr/>
        </p:nvSpPr>
        <p:spPr>
          <a:xfrm>
            <a:off x="4195481" y="3394351"/>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5" name="직사각형 134"/>
          <p:cNvSpPr/>
          <p:nvPr/>
        </p:nvSpPr>
        <p:spPr>
          <a:xfrm>
            <a:off x="7346576" y="3380904"/>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6" name="직사각형 135"/>
          <p:cNvSpPr/>
          <p:nvPr/>
        </p:nvSpPr>
        <p:spPr>
          <a:xfrm>
            <a:off x="10765240" y="3380903"/>
            <a:ext cx="699247" cy="781371"/>
          </a:xfrm>
          <a:prstGeom prst="rect">
            <a:avLst/>
          </a:prstGeom>
          <a:solidFill>
            <a:srgbClr val="C00000"/>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최종</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79" name="TextBox 78"/>
          <p:cNvSpPr txBox="1"/>
          <p:nvPr/>
        </p:nvSpPr>
        <p:spPr>
          <a:xfrm>
            <a:off x="2023967"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0" name="TextBox 79"/>
          <p:cNvSpPr txBox="1"/>
          <p:nvPr/>
        </p:nvSpPr>
        <p:spPr>
          <a:xfrm>
            <a:off x="3078714"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1" name="TextBox 80"/>
          <p:cNvSpPr txBox="1"/>
          <p:nvPr/>
        </p:nvSpPr>
        <p:spPr>
          <a:xfrm>
            <a:off x="515940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TextBox 81"/>
          <p:cNvSpPr txBox="1"/>
          <p:nvPr/>
        </p:nvSpPr>
        <p:spPr>
          <a:xfrm>
            <a:off x="620827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3" name="TextBox 82"/>
          <p:cNvSpPr txBox="1"/>
          <p:nvPr/>
        </p:nvSpPr>
        <p:spPr>
          <a:xfrm>
            <a:off x="8301530"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4" name="TextBox 83"/>
          <p:cNvSpPr txBox="1"/>
          <p:nvPr/>
        </p:nvSpPr>
        <p:spPr>
          <a:xfrm>
            <a:off x="9337898"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5" name="TextBox 84"/>
          <p:cNvSpPr txBox="1"/>
          <p:nvPr/>
        </p:nvSpPr>
        <p:spPr>
          <a:xfrm>
            <a:off x="4122593" y="2990068"/>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6" name="TextBox 85"/>
          <p:cNvSpPr txBox="1"/>
          <p:nvPr/>
        </p:nvSpPr>
        <p:spPr>
          <a:xfrm>
            <a:off x="7271527" y="2973313"/>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6</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1" name="TextBox 90"/>
          <p:cNvSpPr txBox="1"/>
          <p:nvPr/>
        </p:nvSpPr>
        <p:spPr>
          <a:xfrm>
            <a:off x="10687739" y="2981557"/>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9</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5" name="TextBox 94"/>
          <p:cNvSpPr txBox="1"/>
          <p:nvPr/>
        </p:nvSpPr>
        <p:spPr>
          <a:xfrm>
            <a:off x="4327739" y="2343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rPr>
              <a:t>에어리</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rPr>
              <a:t>어</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모서리가 둥근 사각형 설명선 77"/>
          <p:cNvSpPr/>
          <p:nvPr/>
        </p:nvSpPr>
        <p:spPr>
          <a:xfrm>
            <a:off x="2730984" y="703774"/>
            <a:ext cx="4041697" cy="3400495"/>
          </a:xfrm>
          <a:prstGeom prst="wedgeRoundRectCallout">
            <a:avLst>
              <a:gd name="adj1" fmla="val -42825"/>
              <a:gd name="adj2" fmla="val 61853"/>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err="1" smtClean="0">
                <a:solidFill>
                  <a:sysClr val="windowText" lastClr="000000"/>
                </a:solidFill>
              </a:rPr>
              <a:t>에어리어</a:t>
            </a:r>
            <a:r>
              <a:rPr lang="en-US" altLang="ko-KR" sz="1600" b="1" dirty="0" smtClean="0">
                <a:solidFill>
                  <a:sysClr val="windowText" lastClr="000000"/>
                </a:solidFill>
              </a:rPr>
              <a:t>’</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이벤트를 품고 있으며</a:t>
            </a:r>
            <a:r>
              <a:rPr lang="en-US" altLang="ko-KR" sz="1400" dirty="0" smtClean="0">
                <a:solidFill>
                  <a:sysClr val="windowText" lastClr="000000"/>
                </a:solidFill>
              </a:rPr>
              <a:t>, </a:t>
            </a:r>
            <a:r>
              <a:rPr lang="ko-KR" altLang="en-US" sz="1400" dirty="0" smtClean="0">
                <a:solidFill>
                  <a:sysClr val="windowText" lastClr="000000"/>
                </a:solidFill>
              </a:rPr>
              <a:t>던전과 계층을 구성하는 </a:t>
            </a:r>
            <a:r>
              <a:rPr lang="ko-KR" altLang="en-US" sz="1400" dirty="0" smtClean="0">
                <a:solidFill>
                  <a:sysClr val="windowText" lastClr="000000"/>
                </a:solidFill>
              </a:rPr>
              <a:t>단위</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err="1" smtClean="0">
                <a:solidFill>
                  <a:sysClr val="windowText" lastClr="000000"/>
                </a:solidFill>
              </a:rPr>
              <a:t>클리어</a:t>
            </a:r>
            <a:r>
              <a:rPr lang="ko-KR" altLang="en-US" sz="1400" dirty="0" smtClean="0">
                <a:solidFill>
                  <a:sysClr val="windowText" lastClr="000000"/>
                </a:solidFill>
              </a:rPr>
              <a:t> 유무와 상관없이</a:t>
            </a:r>
            <a:r>
              <a:rPr lang="en-US" altLang="ko-KR" sz="1400" dirty="0" smtClean="0">
                <a:solidFill>
                  <a:sysClr val="windowText" lastClr="000000"/>
                </a:solidFill>
              </a:rPr>
              <a:t>, </a:t>
            </a:r>
            <a:r>
              <a:rPr lang="ko-KR" altLang="en-US" sz="1400" dirty="0" smtClean="0">
                <a:solidFill>
                  <a:sysClr val="windowText" lastClr="000000"/>
                </a:solidFill>
              </a:rPr>
              <a:t>길로 </a:t>
            </a:r>
            <a:r>
              <a:rPr lang="ko-KR" altLang="en-US" sz="1400" dirty="0" err="1" smtClean="0">
                <a:solidFill>
                  <a:sysClr val="windowText" lastClr="000000"/>
                </a:solidFill>
              </a:rPr>
              <a:t>이어져있는인접한</a:t>
            </a:r>
            <a:r>
              <a:rPr lang="ko-KR" altLang="en-US" sz="1400" dirty="0" smtClean="0">
                <a:solidFill>
                  <a:sysClr val="windowText" lastClr="000000"/>
                </a:solidFill>
              </a:rPr>
              <a:t> </a:t>
            </a:r>
            <a:r>
              <a:rPr lang="ko-KR" altLang="en-US" sz="1400" dirty="0" err="1" smtClean="0">
                <a:solidFill>
                  <a:sysClr val="windowText" lastClr="000000"/>
                </a:solidFill>
              </a:rPr>
              <a:t>에어리어</a:t>
            </a:r>
            <a:r>
              <a:rPr lang="ko-KR" altLang="en-US" sz="1400" dirty="0" smtClean="0">
                <a:solidFill>
                  <a:sysClr val="windowText" lastClr="000000"/>
                </a:solidFill>
              </a:rPr>
              <a:t> 간의 이동만 가능</a:t>
            </a:r>
            <a:endParaRPr lang="en-US" altLang="ko-KR" sz="1400" dirty="0" smtClean="0">
              <a:solidFill>
                <a:sysClr val="windowText" lastClr="000000"/>
              </a:solidFill>
            </a:endParaRP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탐험하지 않은 지역은 회색</a:t>
            </a:r>
            <a:r>
              <a:rPr lang="en-US" altLang="ko-KR" sz="1400" dirty="0" smtClean="0">
                <a:solidFill>
                  <a:sysClr val="windowText" lastClr="000000"/>
                </a:solidFill>
              </a:rPr>
              <a:t>, </a:t>
            </a:r>
            <a:r>
              <a:rPr lang="ko-KR" altLang="en-US" sz="1400" dirty="0" smtClean="0">
                <a:solidFill>
                  <a:sysClr val="windowText" lastClr="000000"/>
                </a:solidFill>
              </a:rPr>
              <a:t>탐험한 지역은 백색으로 표시</a:t>
            </a:r>
            <a:endParaRPr lang="en-US" altLang="ko-KR" sz="1400" dirty="0" smtClean="0">
              <a:solidFill>
                <a:sysClr val="windowText" lastClr="000000"/>
              </a:solidFill>
            </a:endParaRPr>
          </a:p>
          <a:p>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한번 클리어한 </a:t>
            </a:r>
            <a:r>
              <a:rPr lang="ko-KR" altLang="en-US" sz="1400" dirty="0" err="1" smtClean="0">
                <a:solidFill>
                  <a:sysClr val="windowText" lastClr="000000"/>
                </a:solidFill>
              </a:rPr>
              <a:t>에어리어는</a:t>
            </a:r>
            <a:r>
              <a:rPr lang="ko-KR" altLang="en-US" sz="1400" dirty="0" smtClean="0">
                <a:solidFill>
                  <a:sysClr val="windowText" lastClr="000000"/>
                </a:solidFill>
              </a:rPr>
              <a:t> 다시 방문해도 전투 및 이벤트가 발생하지 않음</a:t>
            </a:r>
            <a:endParaRPr lang="en-US" altLang="ko-KR" sz="1400" dirty="0" smtClean="0">
              <a:solidFill>
                <a:sysClr val="windowText" lastClr="000000"/>
              </a:solidFill>
            </a:endParaRPr>
          </a:p>
        </p:txBody>
      </p:sp>
      <p:sp>
        <p:nvSpPr>
          <p:cNvPr id="101" name="도넛 100"/>
          <p:cNvSpPr/>
          <p:nvPr/>
        </p:nvSpPr>
        <p:spPr>
          <a:xfrm>
            <a:off x="2096169" y="4241515"/>
            <a:ext cx="720826" cy="668923"/>
          </a:xfrm>
          <a:prstGeom prst="donut">
            <a:avLst>
              <a:gd name="adj" fmla="val 1822"/>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106" name="TextBox 105"/>
          <p:cNvSpPr txBox="1"/>
          <p:nvPr/>
        </p:nvSpPr>
        <p:spPr>
          <a:xfrm>
            <a:off x="72571" y="250721"/>
            <a:ext cx="4255168"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전체 지도 및 요소</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7" name="모서리가 둥근 직사각형 106"/>
          <p:cNvSpPr/>
          <p:nvPr/>
        </p:nvSpPr>
        <p:spPr>
          <a:xfrm>
            <a:off x="10876211" y="5520884"/>
            <a:ext cx="967581" cy="629074"/>
          </a:xfrm>
          <a:prstGeom prst="round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가방</a:t>
            </a:r>
            <a:endParaRPr lang="ko-KR" altLang="en-US" sz="2000" dirty="0">
              <a:ln>
                <a:solidFill>
                  <a:schemeClr val="tx1"/>
                </a:solidFill>
              </a:ln>
              <a:solidFill>
                <a:sysClr val="windowText" lastClr="000000"/>
              </a:solidFill>
            </a:endParaRPr>
          </a:p>
        </p:txBody>
      </p:sp>
      <p:sp>
        <p:nvSpPr>
          <p:cNvPr id="108" name="타원 107"/>
          <p:cNvSpPr/>
          <p:nvPr/>
        </p:nvSpPr>
        <p:spPr>
          <a:xfrm>
            <a:off x="259781"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09" name="타원 108"/>
          <p:cNvSpPr/>
          <p:nvPr/>
        </p:nvSpPr>
        <p:spPr>
          <a:xfrm>
            <a:off x="767084"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10" name="타원 109"/>
          <p:cNvSpPr/>
          <p:nvPr/>
        </p:nvSpPr>
        <p:spPr>
          <a:xfrm>
            <a:off x="1272986"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11" name="모서리가 둥근 직사각형 110"/>
          <p:cNvSpPr/>
          <p:nvPr/>
        </p:nvSpPr>
        <p:spPr>
          <a:xfrm>
            <a:off x="10876211" y="4758451"/>
            <a:ext cx="967581" cy="629074"/>
          </a:xfrm>
          <a:prstGeom prst="roundRect">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파티</a:t>
            </a:r>
            <a:endParaRPr lang="ko-KR" altLang="en-US" sz="2000" dirty="0">
              <a:ln>
                <a:solidFill>
                  <a:schemeClr val="tx1"/>
                </a:solidFill>
              </a:ln>
              <a:solidFill>
                <a:sysClr val="windowText" lastClr="000000"/>
              </a:solidFill>
            </a:endParaRPr>
          </a:p>
        </p:txBody>
      </p:sp>
    </p:spTree>
    <p:extLst>
      <p:ext uri="{BB962C8B-B14F-4D97-AF65-F5344CB8AC3E}">
        <p14:creationId xmlns:p14="http://schemas.microsoft.com/office/powerpoint/2010/main" val="3487268736"/>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23</a:t>
            </a:fld>
            <a:endParaRPr lang="ko-KR" altLang="en-US" sz="1800" dirty="0"/>
          </a:p>
        </p:txBody>
      </p:sp>
      <p:sp>
        <p:nvSpPr>
          <p:cNvPr id="7" name="타원 6"/>
          <p:cNvSpPr/>
          <p:nvPr/>
        </p:nvSpPr>
        <p:spPr>
          <a:xfrm>
            <a:off x="2280935"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3" name="타원 12"/>
          <p:cNvSpPr/>
          <p:nvPr/>
        </p:nvSpPr>
        <p:spPr>
          <a:xfrm>
            <a:off x="2286428"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4" name="타원 13"/>
          <p:cNvSpPr/>
          <p:nvPr/>
        </p:nvSpPr>
        <p:spPr>
          <a:xfrm>
            <a:off x="2286429" y="20193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5" name="타원 14"/>
          <p:cNvSpPr/>
          <p:nvPr/>
        </p:nvSpPr>
        <p:spPr>
          <a:xfrm>
            <a:off x="2287232"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2" name="타원 21"/>
          <p:cNvSpPr/>
          <p:nvPr/>
        </p:nvSpPr>
        <p:spPr>
          <a:xfrm>
            <a:off x="2279278"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3" name="타원 22"/>
          <p:cNvSpPr/>
          <p:nvPr/>
        </p:nvSpPr>
        <p:spPr>
          <a:xfrm>
            <a:off x="2279279"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4" name="타원 23"/>
          <p:cNvSpPr/>
          <p:nvPr/>
        </p:nvSpPr>
        <p:spPr>
          <a:xfrm>
            <a:off x="2280082"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7" name="타원 36"/>
          <p:cNvSpPr/>
          <p:nvPr/>
        </p:nvSpPr>
        <p:spPr>
          <a:xfrm>
            <a:off x="3316359"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8" name="타원 37"/>
          <p:cNvSpPr/>
          <p:nvPr/>
        </p:nvSpPr>
        <p:spPr>
          <a:xfrm>
            <a:off x="3321852"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9" name="타원 38"/>
          <p:cNvSpPr/>
          <p:nvPr/>
        </p:nvSpPr>
        <p:spPr>
          <a:xfrm>
            <a:off x="3321853"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0" name="타원 39"/>
          <p:cNvSpPr/>
          <p:nvPr/>
        </p:nvSpPr>
        <p:spPr>
          <a:xfrm>
            <a:off x="3322656"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2" name="타원 41"/>
          <p:cNvSpPr/>
          <p:nvPr/>
        </p:nvSpPr>
        <p:spPr>
          <a:xfrm>
            <a:off x="3314702"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3" name="타원 42"/>
          <p:cNvSpPr/>
          <p:nvPr/>
        </p:nvSpPr>
        <p:spPr>
          <a:xfrm>
            <a:off x="3314703"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4" name="타원 43"/>
          <p:cNvSpPr/>
          <p:nvPr/>
        </p:nvSpPr>
        <p:spPr>
          <a:xfrm>
            <a:off x="3328953"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7" name="타원 56"/>
          <p:cNvSpPr/>
          <p:nvPr/>
        </p:nvSpPr>
        <p:spPr>
          <a:xfrm>
            <a:off x="540254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8" name="타원 57"/>
          <p:cNvSpPr/>
          <p:nvPr/>
        </p:nvSpPr>
        <p:spPr>
          <a:xfrm>
            <a:off x="540804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9" name="타원 58"/>
          <p:cNvSpPr/>
          <p:nvPr/>
        </p:nvSpPr>
        <p:spPr>
          <a:xfrm>
            <a:off x="5408041" y="203283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0" name="타원 59"/>
          <p:cNvSpPr/>
          <p:nvPr/>
        </p:nvSpPr>
        <p:spPr>
          <a:xfrm>
            <a:off x="5408844"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2" name="타원 61"/>
          <p:cNvSpPr/>
          <p:nvPr/>
        </p:nvSpPr>
        <p:spPr>
          <a:xfrm>
            <a:off x="540089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3" name="타원 62"/>
          <p:cNvSpPr/>
          <p:nvPr/>
        </p:nvSpPr>
        <p:spPr>
          <a:xfrm>
            <a:off x="5400891"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4" name="타원 63"/>
          <p:cNvSpPr/>
          <p:nvPr/>
        </p:nvSpPr>
        <p:spPr>
          <a:xfrm>
            <a:off x="5401694"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7" name="타원 66"/>
          <p:cNvSpPr/>
          <p:nvPr/>
        </p:nvSpPr>
        <p:spPr>
          <a:xfrm>
            <a:off x="645141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74" name="타원 73"/>
          <p:cNvSpPr/>
          <p:nvPr/>
        </p:nvSpPr>
        <p:spPr>
          <a:xfrm>
            <a:off x="6450564" y="43995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sp>
        <p:nvSpPr>
          <p:cNvPr id="134" name="직사각형 133"/>
          <p:cNvSpPr/>
          <p:nvPr/>
        </p:nvSpPr>
        <p:spPr>
          <a:xfrm>
            <a:off x="4195481" y="3394351"/>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5" name="직사각형 134"/>
          <p:cNvSpPr/>
          <p:nvPr/>
        </p:nvSpPr>
        <p:spPr>
          <a:xfrm>
            <a:off x="7346576" y="3380904"/>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6" name="직사각형 135"/>
          <p:cNvSpPr/>
          <p:nvPr/>
        </p:nvSpPr>
        <p:spPr>
          <a:xfrm>
            <a:off x="10765240" y="3380903"/>
            <a:ext cx="699247" cy="781371"/>
          </a:xfrm>
          <a:prstGeom prst="rect">
            <a:avLst/>
          </a:prstGeom>
          <a:solidFill>
            <a:srgbClr val="C00000"/>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최종</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79" name="TextBox 78"/>
          <p:cNvSpPr txBox="1"/>
          <p:nvPr/>
        </p:nvSpPr>
        <p:spPr>
          <a:xfrm>
            <a:off x="2023967"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0" name="TextBox 79"/>
          <p:cNvSpPr txBox="1"/>
          <p:nvPr/>
        </p:nvSpPr>
        <p:spPr>
          <a:xfrm>
            <a:off x="3078714"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1" name="TextBox 80"/>
          <p:cNvSpPr txBox="1"/>
          <p:nvPr/>
        </p:nvSpPr>
        <p:spPr>
          <a:xfrm>
            <a:off x="515940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TextBox 81"/>
          <p:cNvSpPr txBox="1"/>
          <p:nvPr/>
        </p:nvSpPr>
        <p:spPr>
          <a:xfrm>
            <a:off x="620827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3" name="TextBox 82"/>
          <p:cNvSpPr txBox="1"/>
          <p:nvPr/>
        </p:nvSpPr>
        <p:spPr>
          <a:xfrm>
            <a:off x="8301530"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4" name="TextBox 83"/>
          <p:cNvSpPr txBox="1"/>
          <p:nvPr/>
        </p:nvSpPr>
        <p:spPr>
          <a:xfrm>
            <a:off x="9337898"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5" name="TextBox 84"/>
          <p:cNvSpPr txBox="1"/>
          <p:nvPr/>
        </p:nvSpPr>
        <p:spPr>
          <a:xfrm>
            <a:off x="4122593" y="2990068"/>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6" name="TextBox 85"/>
          <p:cNvSpPr txBox="1"/>
          <p:nvPr/>
        </p:nvSpPr>
        <p:spPr>
          <a:xfrm>
            <a:off x="7271527" y="2973313"/>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6</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1" name="TextBox 90"/>
          <p:cNvSpPr txBox="1"/>
          <p:nvPr/>
        </p:nvSpPr>
        <p:spPr>
          <a:xfrm>
            <a:off x="10687739" y="2981557"/>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9</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5" name="TextBox 94"/>
          <p:cNvSpPr txBox="1"/>
          <p:nvPr/>
        </p:nvSpPr>
        <p:spPr>
          <a:xfrm>
            <a:off x="4327739" y="2343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중간보</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스</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모서리가 둥근 사각형 설명선 77"/>
          <p:cNvSpPr/>
          <p:nvPr/>
        </p:nvSpPr>
        <p:spPr>
          <a:xfrm>
            <a:off x="4995893" y="1165145"/>
            <a:ext cx="2890089" cy="2035115"/>
          </a:xfrm>
          <a:prstGeom prst="wedgeRoundRectCallout">
            <a:avLst>
              <a:gd name="adj1" fmla="val -42825"/>
              <a:gd name="adj2" fmla="val 61853"/>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중간보스</a:t>
            </a:r>
            <a:r>
              <a:rPr lang="en-US" altLang="ko-KR" sz="1600" b="1" dirty="0" smtClean="0">
                <a:solidFill>
                  <a:sysClr val="windowText" lastClr="000000"/>
                </a:solidFill>
              </a:rPr>
              <a:t>’</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강력한 보스 몬스터가 등장</a:t>
            </a:r>
            <a:endParaRPr lang="en-US" altLang="ko-KR" sz="1400" dirty="0" smtClean="0">
              <a:solidFill>
                <a:sysClr val="windowText" lastClr="000000"/>
              </a:solidFill>
            </a:endParaRPr>
          </a:p>
          <a:p>
            <a:endParaRPr lang="en-US" altLang="ko-KR" sz="1400" dirty="0" smtClean="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보상으로 </a:t>
            </a:r>
            <a:r>
              <a:rPr lang="ko-KR" altLang="en-US" sz="1400" dirty="0" err="1" smtClean="0">
                <a:solidFill>
                  <a:sysClr val="windowText" lastClr="000000"/>
                </a:solidFill>
              </a:rPr>
              <a:t>아티팩트</a:t>
            </a:r>
            <a:r>
              <a:rPr lang="ko-KR" altLang="en-US" sz="1400" dirty="0" smtClean="0">
                <a:solidFill>
                  <a:sysClr val="windowText" lastClr="000000"/>
                </a:solidFill>
              </a:rPr>
              <a:t> 획득 가능</a:t>
            </a:r>
            <a:endParaRPr lang="en-US" altLang="ko-KR" sz="1400" dirty="0" smtClean="0">
              <a:solidFill>
                <a:sysClr val="windowText" lastClr="000000"/>
              </a:solidFill>
            </a:endParaRP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err="1" smtClean="0">
                <a:solidFill>
                  <a:sysClr val="windowText" lastClr="000000"/>
                </a:solidFill>
              </a:rPr>
              <a:t>클리어</a:t>
            </a:r>
            <a:r>
              <a:rPr lang="ko-KR" altLang="en-US" sz="1400" dirty="0" smtClean="0">
                <a:solidFill>
                  <a:sysClr val="windowText" lastClr="000000"/>
                </a:solidFill>
              </a:rPr>
              <a:t> 시 </a:t>
            </a:r>
            <a:r>
              <a:rPr lang="en-US" altLang="ko-KR" sz="1400" dirty="0" smtClean="0">
                <a:solidFill>
                  <a:sysClr val="windowText" lastClr="000000"/>
                </a:solidFill>
              </a:rPr>
              <a:t>X </a:t>
            </a:r>
            <a:r>
              <a:rPr lang="ko-KR" altLang="en-US" sz="1400" dirty="0" smtClean="0">
                <a:solidFill>
                  <a:sysClr val="windowText" lastClr="000000"/>
                </a:solidFill>
              </a:rPr>
              <a:t>표가 </a:t>
            </a:r>
            <a:r>
              <a:rPr lang="ko-KR" altLang="en-US" sz="1400" dirty="0" err="1" smtClean="0">
                <a:solidFill>
                  <a:sysClr val="windowText" lastClr="000000"/>
                </a:solidFill>
              </a:rPr>
              <a:t>그려짐</a:t>
            </a:r>
            <a:endParaRPr lang="en-US" altLang="ko-KR" sz="1400" dirty="0" smtClean="0">
              <a:solidFill>
                <a:sysClr val="windowText" lastClr="000000"/>
              </a:solidFill>
            </a:endParaRPr>
          </a:p>
        </p:txBody>
      </p:sp>
      <p:sp>
        <p:nvSpPr>
          <p:cNvPr id="101" name="도넛 100"/>
          <p:cNvSpPr/>
          <p:nvPr/>
        </p:nvSpPr>
        <p:spPr>
          <a:xfrm>
            <a:off x="3956295" y="3225026"/>
            <a:ext cx="1195282" cy="1149724"/>
          </a:xfrm>
          <a:prstGeom prst="donut">
            <a:avLst>
              <a:gd name="adj" fmla="val 1822"/>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106" name="TextBox 105"/>
          <p:cNvSpPr txBox="1"/>
          <p:nvPr/>
        </p:nvSpPr>
        <p:spPr>
          <a:xfrm>
            <a:off x="72571" y="250721"/>
            <a:ext cx="4255168"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전체 지도 및 요소</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7" name="모서리가 둥근 직사각형 106"/>
          <p:cNvSpPr/>
          <p:nvPr/>
        </p:nvSpPr>
        <p:spPr>
          <a:xfrm>
            <a:off x="10876211" y="5520884"/>
            <a:ext cx="967581" cy="629074"/>
          </a:xfrm>
          <a:prstGeom prst="round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가방</a:t>
            </a:r>
            <a:endParaRPr lang="ko-KR" altLang="en-US" sz="2000" dirty="0">
              <a:ln>
                <a:solidFill>
                  <a:schemeClr val="tx1"/>
                </a:solidFill>
              </a:ln>
              <a:solidFill>
                <a:sysClr val="windowText" lastClr="000000"/>
              </a:solidFill>
            </a:endParaRPr>
          </a:p>
        </p:txBody>
      </p:sp>
      <p:sp>
        <p:nvSpPr>
          <p:cNvPr id="108" name="타원 107"/>
          <p:cNvSpPr/>
          <p:nvPr/>
        </p:nvSpPr>
        <p:spPr>
          <a:xfrm>
            <a:off x="259781"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09" name="타원 108"/>
          <p:cNvSpPr/>
          <p:nvPr/>
        </p:nvSpPr>
        <p:spPr>
          <a:xfrm>
            <a:off x="767084"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10" name="타원 109"/>
          <p:cNvSpPr/>
          <p:nvPr/>
        </p:nvSpPr>
        <p:spPr>
          <a:xfrm>
            <a:off x="1272986"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11" name="모서리가 둥근 직사각형 110"/>
          <p:cNvSpPr/>
          <p:nvPr/>
        </p:nvSpPr>
        <p:spPr>
          <a:xfrm>
            <a:off x="10876211" y="4758451"/>
            <a:ext cx="967581" cy="629074"/>
          </a:xfrm>
          <a:prstGeom prst="roundRect">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파티</a:t>
            </a:r>
            <a:endParaRPr lang="ko-KR" altLang="en-US" sz="2000" dirty="0">
              <a:ln>
                <a:solidFill>
                  <a:schemeClr val="tx1"/>
                </a:solidFill>
              </a:ln>
              <a:solidFill>
                <a:sysClr val="windowText" lastClr="000000"/>
              </a:solidFill>
            </a:endParaRPr>
          </a:p>
        </p:txBody>
      </p:sp>
    </p:spTree>
    <p:extLst>
      <p:ext uri="{BB962C8B-B14F-4D97-AF65-F5344CB8AC3E}">
        <p14:creationId xmlns:p14="http://schemas.microsoft.com/office/powerpoint/2010/main" val="1114662869"/>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24</a:t>
            </a:fld>
            <a:endParaRPr lang="ko-KR" altLang="en-US" sz="1800" dirty="0"/>
          </a:p>
        </p:txBody>
      </p:sp>
      <p:sp>
        <p:nvSpPr>
          <p:cNvPr id="7" name="타원 6"/>
          <p:cNvSpPr/>
          <p:nvPr/>
        </p:nvSpPr>
        <p:spPr>
          <a:xfrm>
            <a:off x="2280935"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3" name="타원 12"/>
          <p:cNvSpPr/>
          <p:nvPr/>
        </p:nvSpPr>
        <p:spPr>
          <a:xfrm>
            <a:off x="2286428"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4" name="타원 13"/>
          <p:cNvSpPr/>
          <p:nvPr/>
        </p:nvSpPr>
        <p:spPr>
          <a:xfrm>
            <a:off x="2286429" y="20193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5" name="타원 14"/>
          <p:cNvSpPr/>
          <p:nvPr/>
        </p:nvSpPr>
        <p:spPr>
          <a:xfrm>
            <a:off x="2287232"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2" name="타원 21"/>
          <p:cNvSpPr/>
          <p:nvPr/>
        </p:nvSpPr>
        <p:spPr>
          <a:xfrm>
            <a:off x="2279278"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3" name="타원 22"/>
          <p:cNvSpPr/>
          <p:nvPr/>
        </p:nvSpPr>
        <p:spPr>
          <a:xfrm>
            <a:off x="2279279"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4" name="타원 23"/>
          <p:cNvSpPr/>
          <p:nvPr/>
        </p:nvSpPr>
        <p:spPr>
          <a:xfrm>
            <a:off x="2280082"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7" name="타원 36"/>
          <p:cNvSpPr/>
          <p:nvPr/>
        </p:nvSpPr>
        <p:spPr>
          <a:xfrm>
            <a:off x="3316359"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8" name="타원 37"/>
          <p:cNvSpPr/>
          <p:nvPr/>
        </p:nvSpPr>
        <p:spPr>
          <a:xfrm>
            <a:off x="3321852"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9" name="타원 38"/>
          <p:cNvSpPr/>
          <p:nvPr/>
        </p:nvSpPr>
        <p:spPr>
          <a:xfrm>
            <a:off x="3321853"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0" name="타원 39"/>
          <p:cNvSpPr/>
          <p:nvPr/>
        </p:nvSpPr>
        <p:spPr>
          <a:xfrm>
            <a:off x="3322656"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2" name="타원 41"/>
          <p:cNvSpPr/>
          <p:nvPr/>
        </p:nvSpPr>
        <p:spPr>
          <a:xfrm>
            <a:off x="3314702"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3" name="타원 42"/>
          <p:cNvSpPr/>
          <p:nvPr/>
        </p:nvSpPr>
        <p:spPr>
          <a:xfrm>
            <a:off x="3314703"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4" name="타원 43"/>
          <p:cNvSpPr/>
          <p:nvPr/>
        </p:nvSpPr>
        <p:spPr>
          <a:xfrm>
            <a:off x="3328953"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7" name="타원 56"/>
          <p:cNvSpPr/>
          <p:nvPr/>
        </p:nvSpPr>
        <p:spPr>
          <a:xfrm>
            <a:off x="5402547" y="360614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8" name="타원 57"/>
          <p:cNvSpPr/>
          <p:nvPr/>
        </p:nvSpPr>
        <p:spPr>
          <a:xfrm>
            <a:off x="540804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9" name="타원 58"/>
          <p:cNvSpPr/>
          <p:nvPr/>
        </p:nvSpPr>
        <p:spPr>
          <a:xfrm>
            <a:off x="5408041" y="203283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0" name="타원 59"/>
          <p:cNvSpPr/>
          <p:nvPr/>
        </p:nvSpPr>
        <p:spPr>
          <a:xfrm>
            <a:off x="5408844"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2" name="타원 61"/>
          <p:cNvSpPr/>
          <p:nvPr/>
        </p:nvSpPr>
        <p:spPr>
          <a:xfrm>
            <a:off x="5400890" y="597281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3" name="타원 62"/>
          <p:cNvSpPr/>
          <p:nvPr/>
        </p:nvSpPr>
        <p:spPr>
          <a:xfrm>
            <a:off x="5400891" y="51794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4" name="타원 63"/>
          <p:cNvSpPr/>
          <p:nvPr/>
        </p:nvSpPr>
        <p:spPr>
          <a:xfrm>
            <a:off x="5401694"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7" name="타원 66"/>
          <p:cNvSpPr/>
          <p:nvPr/>
        </p:nvSpPr>
        <p:spPr>
          <a:xfrm>
            <a:off x="6451417" y="360614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74" name="타원 73"/>
          <p:cNvSpPr/>
          <p:nvPr/>
        </p:nvSpPr>
        <p:spPr>
          <a:xfrm>
            <a:off x="6450564" y="4399516"/>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sp>
        <p:nvSpPr>
          <p:cNvPr id="134" name="직사각형 133"/>
          <p:cNvSpPr/>
          <p:nvPr/>
        </p:nvSpPr>
        <p:spPr>
          <a:xfrm>
            <a:off x="4195481" y="3394351"/>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5" name="직사각형 134"/>
          <p:cNvSpPr/>
          <p:nvPr/>
        </p:nvSpPr>
        <p:spPr>
          <a:xfrm>
            <a:off x="7346576" y="3380904"/>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6" name="직사각형 135"/>
          <p:cNvSpPr/>
          <p:nvPr/>
        </p:nvSpPr>
        <p:spPr>
          <a:xfrm>
            <a:off x="10765240" y="3380903"/>
            <a:ext cx="699247" cy="781371"/>
          </a:xfrm>
          <a:prstGeom prst="rect">
            <a:avLst/>
          </a:prstGeom>
          <a:solidFill>
            <a:srgbClr val="C00000"/>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최종</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79" name="TextBox 78"/>
          <p:cNvSpPr txBox="1"/>
          <p:nvPr/>
        </p:nvSpPr>
        <p:spPr>
          <a:xfrm>
            <a:off x="2023967"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0" name="TextBox 79"/>
          <p:cNvSpPr txBox="1"/>
          <p:nvPr/>
        </p:nvSpPr>
        <p:spPr>
          <a:xfrm>
            <a:off x="3078714"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1" name="TextBox 80"/>
          <p:cNvSpPr txBox="1"/>
          <p:nvPr/>
        </p:nvSpPr>
        <p:spPr>
          <a:xfrm>
            <a:off x="515940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TextBox 81"/>
          <p:cNvSpPr txBox="1"/>
          <p:nvPr/>
        </p:nvSpPr>
        <p:spPr>
          <a:xfrm>
            <a:off x="620827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3" name="TextBox 82"/>
          <p:cNvSpPr txBox="1"/>
          <p:nvPr/>
        </p:nvSpPr>
        <p:spPr>
          <a:xfrm>
            <a:off x="8301530"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4" name="TextBox 83"/>
          <p:cNvSpPr txBox="1"/>
          <p:nvPr/>
        </p:nvSpPr>
        <p:spPr>
          <a:xfrm>
            <a:off x="9337898"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5" name="TextBox 84"/>
          <p:cNvSpPr txBox="1"/>
          <p:nvPr/>
        </p:nvSpPr>
        <p:spPr>
          <a:xfrm>
            <a:off x="4122593" y="2990068"/>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6" name="TextBox 85"/>
          <p:cNvSpPr txBox="1"/>
          <p:nvPr/>
        </p:nvSpPr>
        <p:spPr>
          <a:xfrm>
            <a:off x="7271527" y="2973313"/>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6</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1" name="TextBox 90"/>
          <p:cNvSpPr txBox="1"/>
          <p:nvPr/>
        </p:nvSpPr>
        <p:spPr>
          <a:xfrm>
            <a:off x="10687739" y="2981557"/>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9</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5" name="TextBox 94"/>
          <p:cNvSpPr txBox="1"/>
          <p:nvPr/>
        </p:nvSpPr>
        <p:spPr>
          <a:xfrm>
            <a:off x="4327739" y="2343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최종보</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스</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모서리가 둥근 사각형 설명선 77"/>
          <p:cNvSpPr/>
          <p:nvPr/>
        </p:nvSpPr>
        <p:spPr>
          <a:xfrm>
            <a:off x="8324563" y="1441928"/>
            <a:ext cx="2511056" cy="1557155"/>
          </a:xfrm>
          <a:prstGeom prst="wedgeRoundRectCallout">
            <a:avLst>
              <a:gd name="adj1" fmla="val 37174"/>
              <a:gd name="adj2" fmla="val 65028"/>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최종보스</a:t>
            </a:r>
            <a:r>
              <a:rPr lang="en-US" altLang="ko-KR" sz="1600" b="1" dirty="0" smtClean="0">
                <a:solidFill>
                  <a:sysClr val="windowText" lastClr="000000"/>
                </a:solidFill>
              </a:rPr>
              <a:t>’</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최종 보스 몬스터가 등장</a:t>
            </a:r>
            <a:endParaRPr lang="en-US" altLang="ko-KR" sz="1400" dirty="0" smtClean="0">
              <a:solidFill>
                <a:sysClr val="windowText" lastClr="000000"/>
              </a:solidFill>
            </a:endParaRPr>
          </a:p>
          <a:p>
            <a:endParaRPr lang="en-US" altLang="ko-KR" sz="1400" dirty="0" smtClean="0">
              <a:solidFill>
                <a:sysClr val="windowText" lastClr="000000"/>
              </a:solidFill>
            </a:endParaRPr>
          </a:p>
          <a:p>
            <a:r>
              <a:rPr lang="en-US" altLang="ko-KR" sz="1400" dirty="0" smtClean="0">
                <a:solidFill>
                  <a:sysClr val="windowText" lastClr="000000"/>
                </a:solidFill>
              </a:rPr>
              <a:t>- </a:t>
            </a:r>
            <a:r>
              <a:rPr lang="ko-KR" altLang="en-US" sz="1400" dirty="0" err="1" smtClean="0">
                <a:solidFill>
                  <a:sysClr val="windowText" lastClr="000000"/>
                </a:solidFill>
              </a:rPr>
              <a:t>클리어</a:t>
            </a:r>
            <a:r>
              <a:rPr lang="ko-KR" altLang="en-US" sz="1400" dirty="0" smtClean="0">
                <a:solidFill>
                  <a:sysClr val="windowText" lastClr="000000"/>
                </a:solidFill>
              </a:rPr>
              <a:t> 시 게임에서 승리</a:t>
            </a:r>
            <a:endParaRPr lang="en-US" altLang="ko-KR" sz="1400" dirty="0" smtClean="0">
              <a:solidFill>
                <a:sysClr val="windowText" lastClr="000000"/>
              </a:solidFill>
            </a:endParaRPr>
          </a:p>
        </p:txBody>
      </p:sp>
      <p:sp>
        <p:nvSpPr>
          <p:cNvPr id="5" name="곱셈 기호 4"/>
          <p:cNvSpPr/>
          <p:nvPr/>
        </p:nvSpPr>
        <p:spPr>
          <a:xfrm>
            <a:off x="3705189" y="2990068"/>
            <a:ext cx="1655230" cy="1580417"/>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6" name="곱셈 기호 95"/>
          <p:cNvSpPr/>
          <p:nvPr/>
        </p:nvSpPr>
        <p:spPr>
          <a:xfrm>
            <a:off x="6868584" y="2970573"/>
            <a:ext cx="1655230" cy="1580417"/>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5" name="도넛 104"/>
          <p:cNvSpPr/>
          <p:nvPr/>
        </p:nvSpPr>
        <p:spPr>
          <a:xfrm>
            <a:off x="10541498" y="3198865"/>
            <a:ext cx="1219963" cy="1164424"/>
          </a:xfrm>
          <a:prstGeom prst="donut">
            <a:avLst>
              <a:gd name="adj" fmla="val 1822"/>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107" name="TextBox 106"/>
          <p:cNvSpPr txBox="1"/>
          <p:nvPr/>
        </p:nvSpPr>
        <p:spPr>
          <a:xfrm>
            <a:off x="72571" y="250721"/>
            <a:ext cx="4255168"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전체 지도 및 요소</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8" name="모서리가 둥근 직사각형 107"/>
          <p:cNvSpPr/>
          <p:nvPr/>
        </p:nvSpPr>
        <p:spPr>
          <a:xfrm>
            <a:off x="10876211" y="5520884"/>
            <a:ext cx="967581" cy="629074"/>
          </a:xfrm>
          <a:prstGeom prst="round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가방</a:t>
            </a:r>
            <a:endParaRPr lang="ko-KR" altLang="en-US" sz="2000" dirty="0">
              <a:ln>
                <a:solidFill>
                  <a:schemeClr val="tx1"/>
                </a:solidFill>
              </a:ln>
              <a:solidFill>
                <a:sysClr val="windowText" lastClr="000000"/>
              </a:solidFill>
            </a:endParaRPr>
          </a:p>
        </p:txBody>
      </p:sp>
      <p:sp>
        <p:nvSpPr>
          <p:cNvPr id="109" name="타원 108"/>
          <p:cNvSpPr/>
          <p:nvPr/>
        </p:nvSpPr>
        <p:spPr>
          <a:xfrm>
            <a:off x="259781"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10" name="타원 109"/>
          <p:cNvSpPr/>
          <p:nvPr/>
        </p:nvSpPr>
        <p:spPr>
          <a:xfrm>
            <a:off x="767084"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11" name="타원 110"/>
          <p:cNvSpPr/>
          <p:nvPr/>
        </p:nvSpPr>
        <p:spPr>
          <a:xfrm>
            <a:off x="1272986"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12" name="모서리가 둥근 직사각형 111"/>
          <p:cNvSpPr/>
          <p:nvPr/>
        </p:nvSpPr>
        <p:spPr>
          <a:xfrm>
            <a:off x="10876211" y="4758451"/>
            <a:ext cx="967581" cy="629074"/>
          </a:xfrm>
          <a:prstGeom prst="roundRect">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파티</a:t>
            </a:r>
            <a:endParaRPr lang="ko-KR" altLang="en-US" sz="2000" dirty="0">
              <a:ln>
                <a:solidFill>
                  <a:schemeClr val="tx1"/>
                </a:solidFill>
              </a:ln>
              <a:solidFill>
                <a:sysClr val="windowText" lastClr="000000"/>
              </a:solidFill>
            </a:endParaRPr>
          </a:p>
        </p:txBody>
      </p:sp>
    </p:spTree>
    <p:extLst>
      <p:ext uri="{BB962C8B-B14F-4D97-AF65-F5344CB8AC3E}">
        <p14:creationId xmlns:p14="http://schemas.microsoft.com/office/powerpoint/2010/main" val="2572939995"/>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25</a:t>
            </a:fld>
            <a:endParaRPr lang="ko-KR" altLang="en-US" sz="1800" dirty="0"/>
          </a:p>
        </p:txBody>
      </p:sp>
      <p:sp>
        <p:nvSpPr>
          <p:cNvPr id="7" name="타원 6"/>
          <p:cNvSpPr/>
          <p:nvPr/>
        </p:nvSpPr>
        <p:spPr>
          <a:xfrm>
            <a:off x="2280935"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3" name="타원 12"/>
          <p:cNvSpPr/>
          <p:nvPr/>
        </p:nvSpPr>
        <p:spPr>
          <a:xfrm>
            <a:off x="2286428"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4" name="타원 13"/>
          <p:cNvSpPr/>
          <p:nvPr/>
        </p:nvSpPr>
        <p:spPr>
          <a:xfrm>
            <a:off x="2286429" y="20193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5" name="타원 14"/>
          <p:cNvSpPr/>
          <p:nvPr/>
        </p:nvSpPr>
        <p:spPr>
          <a:xfrm>
            <a:off x="2287232"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2" name="타원 21"/>
          <p:cNvSpPr/>
          <p:nvPr/>
        </p:nvSpPr>
        <p:spPr>
          <a:xfrm>
            <a:off x="2279278"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3" name="타원 22"/>
          <p:cNvSpPr/>
          <p:nvPr/>
        </p:nvSpPr>
        <p:spPr>
          <a:xfrm>
            <a:off x="2279279"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4" name="타원 23"/>
          <p:cNvSpPr/>
          <p:nvPr/>
        </p:nvSpPr>
        <p:spPr>
          <a:xfrm>
            <a:off x="2280082"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7" name="타원 36"/>
          <p:cNvSpPr/>
          <p:nvPr/>
        </p:nvSpPr>
        <p:spPr>
          <a:xfrm>
            <a:off x="3316359"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8" name="타원 37"/>
          <p:cNvSpPr/>
          <p:nvPr/>
        </p:nvSpPr>
        <p:spPr>
          <a:xfrm>
            <a:off x="3321852"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9" name="타원 38"/>
          <p:cNvSpPr/>
          <p:nvPr/>
        </p:nvSpPr>
        <p:spPr>
          <a:xfrm>
            <a:off x="3321853"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0" name="타원 39"/>
          <p:cNvSpPr/>
          <p:nvPr/>
        </p:nvSpPr>
        <p:spPr>
          <a:xfrm>
            <a:off x="3322656"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2" name="타원 41"/>
          <p:cNvSpPr/>
          <p:nvPr/>
        </p:nvSpPr>
        <p:spPr>
          <a:xfrm>
            <a:off x="3314702"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3" name="타원 42"/>
          <p:cNvSpPr/>
          <p:nvPr/>
        </p:nvSpPr>
        <p:spPr>
          <a:xfrm>
            <a:off x="3314703"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4" name="타원 43"/>
          <p:cNvSpPr/>
          <p:nvPr/>
        </p:nvSpPr>
        <p:spPr>
          <a:xfrm>
            <a:off x="3328953"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7" name="타원 56"/>
          <p:cNvSpPr/>
          <p:nvPr/>
        </p:nvSpPr>
        <p:spPr>
          <a:xfrm>
            <a:off x="5402547" y="360614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8" name="타원 57"/>
          <p:cNvSpPr/>
          <p:nvPr/>
        </p:nvSpPr>
        <p:spPr>
          <a:xfrm>
            <a:off x="540804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9" name="타원 58"/>
          <p:cNvSpPr/>
          <p:nvPr/>
        </p:nvSpPr>
        <p:spPr>
          <a:xfrm>
            <a:off x="5408041" y="203283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0" name="타원 59"/>
          <p:cNvSpPr/>
          <p:nvPr/>
        </p:nvSpPr>
        <p:spPr>
          <a:xfrm>
            <a:off x="5408844"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2" name="타원 61"/>
          <p:cNvSpPr/>
          <p:nvPr/>
        </p:nvSpPr>
        <p:spPr>
          <a:xfrm>
            <a:off x="5400890" y="597281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3" name="타원 62"/>
          <p:cNvSpPr/>
          <p:nvPr/>
        </p:nvSpPr>
        <p:spPr>
          <a:xfrm>
            <a:off x="5400891" y="51794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4" name="타원 63"/>
          <p:cNvSpPr/>
          <p:nvPr/>
        </p:nvSpPr>
        <p:spPr>
          <a:xfrm>
            <a:off x="5401694"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7" name="타원 66"/>
          <p:cNvSpPr/>
          <p:nvPr/>
        </p:nvSpPr>
        <p:spPr>
          <a:xfrm>
            <a:off x="6451417" y="360614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74" name="타원 73"/>
          <p:cNvSpPr/>
          <p:nvPr/>
        </p:nvSpPr>
        <p:spPr>
          <a:xfrm>
            <a:off x="6450564" y="4399516"/>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sp>
        <p:nvSpPr>
          <p:cNvPr id="134" name="직사각형 133"/>
          <p:cNvSpPr/>
          <p:nvPr/>
        </p:nvSpPr>
        <p:spPr>
          <a:xfrm>
            <a:off x="4195481" y="3394351"/>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5" name="직사각형 134"/>
          <p:cNvSpPr/>
          <p:nvPr/>
        </p:nvSpPr>
        <p:spPr>
          <a:xfrm>
            <a:off x="7346576" y="3380904"/>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6" name="직사각형 135"/>
          <p:cNvSpPr/>
          <p:nvPr/>
        </p:nvSpPr>
        <p:spPr>
          <a:xfrm>
            <a:off x="10765240" y="3380903"/>
            <a:ext cx="699247" cy="781371"/>
          </a:xfrm>
          <a:prstGeom prst="rect">
            <a:avLst/>
          </a:prstGeom>
          <a:solidFill>
            <a:srgbClr val="C00000"/>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최종</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79" name="TextBox 78"/>
          <p:cNvSpPr txBox="1"/>
          <p:nvPr/>
        </p:nvSpPr>
        <p:spPr>
          <a:xfrm>
            <a:off x="2023967"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0" name="TextBox 79"/>
          <p:cNvSpPr txBox="1"/>
          <p:nvPr/>
        </p:nvSpPr>
        <p:spPr>
          <a:xfrm>
            <a:off x="3078714"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1" name="TextBox 80"/>
          <p:cNvSpPr txBox="1"/>
          <p:nvPr/>
        </p:nvSpPr>
        <p:spPr>
          <a:xfrm>
            <a:off x="515940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TextBox 81"/>
          <p:cNvSpPr txBox="1"/>
          <p:nvPr/>
        </p:nvSpPr>
        <p:spPr>
          <a:xfrm>
            <a:off x="620827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3" name="TextBox 82"/>
          <p:cNvSpPr txBox="1"/>
          <p:nvPr/>
        </p:nvSpPr>
        <p:spPr>
          <a:xfrm>
            <a:off x="8301530"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4" name="TextBox 83"/>
          <p:cNvSpPr txBox="1"/>
          <p:nvPr/>
        </p:nvSpPr>
        <p:spPr>
          <a:xfrm>
            <a:off x="9337898"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5" name="TextBox 84"/>
          <p:cNvSpPr txBox="1"/>
          <p:nvPr/>
        </p:nvSpPr>
        <p:spPr>
          <a:xfrm>
            <a:off x="4122593" y="2990068"/>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6" name="TextBox 85"/>
          <p:cNvSpPr txBox="1"/>
          <p:nvPr/>
        </p:nvSpPr>
        <p:spPr>
          <a:xfrm>
            <a:off x="7271527" y="2973313"/>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6</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1" name="TextBox 90"/>
          <p:cNvSpPr txBox="1"/>
          <p:nvPr/>
        </p:nvSpPr>
        <p:spPr>
          <a:xfrm>
            <a:off x="10687739" y="2981557"/>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9</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5" name="TextBox 94"/>
          <p:cNvSpPr txBox="1"/>
          <p:nvPr/>
        </p:nvSpPr>
        <p:spPr>
          <a:xfrm>
            <a:off x="4327739" y="2343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파티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곱셈 기호 4"/>
          <p:cNvSpPr/>
          <p:nvPr/>
        </p:nvSpPr>
        <p:spPr>
          <a:xfrm>
            <a:off x="3705189" y="2990068"/>
            <a:ext cx="1655230" cy="1580417"/>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6" name="곱셈 기호 95"/>
          <p:cNvSpPr/>
          <p:nvPr/>
        </p:nvSpPr>
        <p:spPr>
          <a:xfrm>
            <a:off x="6868584" y="2970573"/>
            <a:ext cx="1655230" cy="1580417"/>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8" name="모서리가 둥근 사각형 설명선 77"/>
          <p:cNvSpPr/>
          <p:nvPr/>
        </p:nvSpPr>
        <p:spPr>
          <a:xfrm>
            <a:off x="2273015" y="900804"/>
            <a:ext cx="4162966" cy="2711748"/>
          </a:xfrm>
          <a:prstGeom prst="wedgeRoundRectCallout">
            <a:avLst>
              <a:gd name="adj1" fmla="val -59522"/>
              <a:gd name="adj2" fmla="val -40031"/>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err="1" smtClean="0">
                <a:solidFill>
                  <a:sysClr val="windowText" lastClr="000000"/>
                </a:solidFill>
              </a:rPr>
              <a:t>아티팩트</a:t>
            </a:r>
            <a:r>
              <a:rPr lang="en-US" altLang="ko-KR" sz="1600" b="1" dirty="0" smtClean="0">
                <a:solidFill>
                  <a:sysClr val="windowText" lastClr="000000"/>
                </a:solidFill>
              </a:rPr>
              <a:t>’ </a:t>
            </a:r>
            <a:endParaRPr lang="en-US" altLang="ko-KR" sz="1600" b="1" dirty="0" smtClean="0">
              <a:solidFill>
                <a:sysClr val="windowText" lastClr="000000"/>
              </a:solidFill>
            </a:endParaRP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현재 보유하고 있는 </a:t>
            </a:r>
            <a:r>
              <a:rPr lang="ko-KR" altLang="en-US" sz="1400" dirty="0" err="1" smtClean="0">
                <a:solidFill>
                  <a:sysClr val="windowText" lastClr="000000"/>
                </a:solidFill>
              </a:rPr>
              <a:t>아티팩트를</a:t>
            </a:r>
            <a:r>
              <a:rPr lang="ko-KR" altLang="en-US" sz="1400" dirty="0" smtClean="0">
                <a:solidFill>
                  <a:sysClr val="windowText" lastClr="000000"/>
                </a:solidFill>
              </a:rPr>
              <a:t> 표시함</a:t>
            </a:r>
            <a:endParaRPr lang="en-US" altLang="ko-KR" sz="1400" dirty="0" smtClean="0">
              <a:solidFill>
                <a:sysClr val="windowText" lastClr="000000"/>
              </a:solidFill>
            </a:endParaRPr>
          </a:p>
          <a:p>
            <a:endParaRPr lang="en-US" altLang="ko-KR" sz="1400" dirty="0" smtClean="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아이콘에 </a:t>
            </a:r>
            <a:r>
              <a:rPr lang="ko-KR" altLang="en-US" sz="1400" dirty="0">
                <a:solidFill>
                  <a:sysClr val="windowText" lastClr="000000"/>
                </a:solidFill>
              </a:rPr>
              <a:t>마우스를 </a:t>
            </a:r>
            <a:r>
              <a:rPr lang="ko-KR" altLang="en-US" sz="1400" dirty="0" err="1">
                <a:solidFill>
                  <a:sysClr val="windowText" lastClr="000000"/>
                </a:solidFill>
              </a:rPr>
              <a:t>가져다놓고</a:t>
            </a:r>
            <a:r>
              <a:rPr lang="ko-KR" altLang="en-US" sz="1400" dirty="0">
                <a:solidFill>
                  <a:sysClr val="windowText" lastClr="000000"/>
                </a:solidFill>
              </a:rPr>
              <a:t> </a:t>
            </a:r>
            <a:r>
              <a:rPr lang="en-US" altLang="ko-KR" sz="1400" dirty="0">
                <a:solidFill>
                  <a:sysClr val="windowText" lastClr="000000"/>
                </a:solidFill>
              </a:rPr>
              <a:t>1</a:t>
            </a:r>
            <a:r>
              <a:rPr lang="ko-KR" altLang="en-US" sz="1400" dirty="0">
                <a:solidFill>
                  <a:sysClr val="windowText" lastClr="000000"/>
                </a:solidFill>
              </a:rPr>
              <a:t>초 이상의 시간이 흐르면</a:t>
            </a:r>
            <a:r>
              <a:rPr lang="en-US" altLang="ko-KR" sz="1400" dirty="0">
                <a:solidFill>
                  <a:sysClr val="windowText" lastClr="000000"/>
                </a:solidFill>
              </a:rPr>
              <a:t>, </a:t>
            </a:r>
            <a:r>
              <a:rPr lang="ko-KR" altLang="en-US" sz="1400" dirty="0">
                <a:solidFill>
                  <a:sysClr val="windowText" lastClr="000000"/>
                </a:solidFill>
              </a:rPr>
              <a:t>해당 </a:t>
            </a:r>
            <a:r>
              <a:rPr lang="ko-KR" altLang="en-US" sz="1400" dirty="0" err="1" smtClean="0">
                <a:solidFill>
                  <a:sysClr val="windowText" lastClr="000000"/>
                </a:solidFill>
              </a:rPr>
              <a:t>아티팩트에</a:t>
            </a:r>
            <a:r>
              <a:rPr lang="ko-KR" altLang="en-US" sz="1400" dirty="0" smtClean="0">
                <a:solidFill>
                  <a:sysClr val="windowText" lastClr="000000"/>
                </a:solidFill>
              </a:rPr>
              <a:t> </a:t>
            </a:r>
            <a:r>
              <a:rPr lang="ko-KR" altLang="en-US" sz="1400" dirty="0">
                <a:solidFill>
                  <a:sysClr val="windowText" lastClr="000000"/>
                </a:solidFill>
              </a:rPr>
              <a:t>대한 </a:t>
            </a:r>
            <a:r>
              <a:rPr lang="ko-KR" altLang="en-US" sz="1400" dirty="0" smtClean="0">
                <a:solidFill>
                  <a:sysClr val="windowText" lastClr="000000"/>
                </a:solidFill>
              </a:rPr>
              <a:t>설명과 정보가 </a:t>
            </a:r>
            <a:r>
              <a:rPr lang="ko-KR" altLang="en-US" sz="1400" dirty="0" err="1" smtClean="0">
                <a:solidFill>
                  <a:sysClr val="windowText" lastClr="000000"/>
                </a:solidFill>
              </a:rPr>
              <a:t>팝업됨</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사용 가능한 </a:t>
            </a:r>
            <a:r>
              <a:rPr lang="ko-KR" altLang="en-US" sz="1400" dirty="0" err="1" smtClean="0">
                <a:solidFill>
                  <a:sysClr val="windowText" lastClr="000000"/>
                </a:solidFill>
              </a:rPr>
              <a:t>아티팩트의</a:t>
            </a:r>
            <a:r>
              <a:rPr lang="ko-KR" altLang="en-US" sz="1400" dirty="0" smtClean="0">
                <a:solidFill>
                  <a:sysClr val="windowText" lastClr="000000"/>
                </a:solidFill>
              </a:rPr>
              <a:t> 경우</a:t>
            </a:r>
            <a:r>
              <a:rPr lang="en-US" altLang="ko-KR" sz="1400" dirty="0" smtClean="0">
                <a:solidFill>
                  <a:sysClr val="windowText" lastClr="000000"/>
                </a:solidFill>
              </a:rPr>
              <a:t>, </a:t>
            </a:r>
            <a:r>
              <a:rPr lang="ko-KR" altLang="en-US" sz="1400" dirty="0" smtClean="0">
                <a:solidFill>
                  <a:sysClr val="windowText" lastClr="000000"/>
                </a:solidFill>
              </a:rPr>
              <a:t>마우스 클릭을 통해 사용할 수 있음</a:t>
            </a:r>
            <a:endParaRPr lang="en-US" altLang="ko-KR" sz="1400" dirty="0" smtClean="0">
              <a:solidFill>
                <a:sysClr val="windowText" lastClr="000000"/>
              </a:solidFill>
            </a:endParaRPr>
          </a:p>
        </p:txBody>
      </p:sp>
      <p:sp>
        <p:nvSpPr>
          <p:cNvPr id="107" name="TextBox 106"/>
          <p:cNvSpPr txBox="1"/>
          <p:nvPr/>
        </p:nvSpPr>
        <p:spPr>
          <a:xfrm>
            <a:off x="72571" y="250721"/>
            <a:ext cx="4255168"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전체 지도 및 요소</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8" name="모서리가 둥근 직사각형 107"/>
          <p:cNvSpPr/>
          <p:nvPr/>
        </p:nvSpPr>
        <p:spPr>
          <a:xfrm>
            <a:off x="10876211" y="5520884"/>
            <a:ext cx="967581" cy="629074"/>
          </a:xfrm>
          <a:prstGeom prst="round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가방</a:t>
            </a:r>
            <a:endParaRPr lang="ko-KR" altLang="en-US" sz="2000" dirty="0">
              <a:ln>
                <a:solidFill>
                  <a:schemeClr val="tx1"/>
                </a:solidFill>
              </a:ln>
              <a:solidFill>
                <a:sysClr val="windowText" lastClr="000000"/>
              </a:solidFill>
            </a:endParaRPr>
          </a:p>
        </p:txBody>
      </p:sp>
      <p:sp>
        <p:nvSpPr>
          <p:cNvPr id="109" name="타원 108"/>
          <p:cNvSpPr/>
          <p:nvPr/>
        </p:nvSpPr>
        <p:spPr>
          <a:xfrm>
            <a:off x="259781"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10" name="타원 109"/>
          <p:cNvSpPr/>
          <p:nvPr/>
        </p:nvSpPr>
        <p:spPr>
          <a:xfrm>
            <a:off x="767084"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11" name="타원 110"/>
          <p:cNvSpPr/>
          <p:nvPr/>
        </p:nvSpPr>
        <p:spPr>
          <a:xfrm>
            <a:off x="1272986"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12" name="모서리가 둥근 직사각형 111"/>
          <p:cNvSpPr/>
          <p:nvPr/>
        </p:nvSpPr>
        <p:spPr>
          <a:xfrm>
            <a:off x="10876211" y="4758451"/>
            <a:ext cx="967581" cy="629074"/>
          </a:xfrm>
          <a:prstGeom prst="roundRect">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파티</a:t>
            </a:r>
            <a:endParaRPr lang="ko-KR" altLang="en-US" sz="2000" dirty="0">
              <a:ln>
                <a:solidFill>
                  <a:schemeClr val="tx1"/>
                </a:solidFill>
              </a:ln>
              <a:solidFill>
                <a:sysClr val="windowText" lastClr="000000"/>
              </a:solidFill>
            </a:endParaRPr>
          </a:p>
        </p:txBody>
      </p:sp>
      <p:sp>
        <p:nvSpPr>
          <p:cNvPr id="113" name="사각형 설명선 112"/>
          <p:cNvSpPr/>
          <p:nvPr/>
        </p:nvSpPr>
        <p:spPr>
          <a:xfrm>
            <a:off x="254848" y="1500033"/>
            <a:ext cx="1693191" cy="624773"/>
          </a:xfrm>
          <a:prstGeom prst="wedgeRectCallout">
            <a:avLst>
              <a:gd name="adj1" fmla="val -36276"/>
              <a:gd name="adj2" fmla="val -107976"/>
            </a:avLst>
          </a:prstGeom>
          <a:solidFill>
            <a:schemeClr val="tx1"/>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err="1" smtClean="0"/>
              <a:t>아티팩트</a:t>
            </a:r>
            <a:r>
              <a:rPr lang="ko-KR" altLang="en-US" dirty="0" smtClean="0"/>
              <a:t> </a:t>
            </a:r>
            <a:r>
              <a:rPr lang="ko-KR" altLang="en-US" dirty="0" smtClean="0"/>
              <a:t>설명</a:t>
            </a:r>
            <a:endParaRPr lang="ko-KR" altLang="en-US" dirty="0"/>
          </a:p>
        </p:txBody>
      </p:sp>
      <p:sp>
        <p:nvSpPr>
          <p:cNvPr id="105" name="도넛 104"/>
          <p:cNvSpPr/>
          <p:nvPr/>
        </p:nvSpPr>
        <p:spPr>
          <a:xfrm>
            <a:off x="42105" y="542727"/>
            <a:ext cx="1770139" cy="763635"/>
          </a:xfrm>
          <a:prstGeom prst="donut">
            <a:avLst>
              <a:gd name="adj" fmla="val 1822"/>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Tree>
    <p:extLst>
      <p:ext uri="{BB962C8B-B14F-4D97-AF65-F5344CB8AC3E}">
        <p14:creationId xmlns:p14="http://schemas.microsoft.com/office/powerpoint/2010/main" val="858000667"/>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26</a:t>
            </a:fld>
            <a:endParaRPr lang="ko-KR" altLang="en-US" sz="1800" dirty="0"/>
          </a:p>
        </p:txBody>
      </p:sp>
      <p:sp>
        <p:nvSpPr>
          <p:cNvPr id="7" name="타원 6"/>
          <p:cNvSpPr/>
          <p:nvPr/>
        </p:nvSpPr>
        <p:spPr>
          <a:xfrm>
            <a:off x="2280935"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3" name="타원 12"/>
          <p:cNvSpPr/>
          <p:nvPr/>
        </p:nvSpPr>
        <p:spPr>
          <a:xfrm>
            <a:off x="2286428"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4" name="타원 13"/>
          <p:cNvSpPr/>
          <p:nvPr/>
        </p:nvSpPr>
        <p:spPr>
          <a:xfrm>
            <a:off x="2286429" y="20193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5" name="타원 14"/>
          <p:cNvSpPr/>
          <p:nvPr/>
        </p:nvSpPr>
        <p:spPr>
          <a:xfrm>
            <a:off x="2287232"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2" name="타원 21"/>
          <p:cNvSpPr/>
          <p:nvPr/>
        </p:nvSpPr>
        <p:spPr>
          <a:xfrm>
            <a:off x="2279278"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3" name="타원 22"/>
          <p:cNvSpPr/>
          <p:nvPr/>
        </p:nvSpPr>
        <p:spPr>
          <a:xfrm>
            <a:off x="2279279"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4" name="타원 23"/>
          <p:cNvSpPr/>
          <p:nvPr/>
        </p:nvSpPr>
        <p:spPr>
          <a:xfrm>
            <a:off x="2280082"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7" name="타원 36"/>
          <p:cNvSpPr/>
          <p:nvPr/>
        </p:nvSpPr>
        <p:spPr>
          <a:xfrm>
            <a:off x="3316359"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8" name="타원 37"/>
          <p:cNvSpPr/>
          <p:nvPr/>
        </p:nvSpPr>
        <p:spPr>
          <a:xfrm>
            <a:off x="3321852"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9" name="타원 38"/>
          <p:cNvSpPr/>
          <p:nvPr/>
        </p:nvSpPr>
        <p:spPr>
          <a:xfrm>
            <a:off x="3321853"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0" name="타원 39"/>
          <p:cNvSpPr/>
          <p:nvPr/>
        </p:nvSpPr>
        <p:spPr>
          <a:xfrm>
            <a:off x="3322656"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2" name="타원 41"/>
          <p:cNvSpPr/>
          <p:nvPr/>
        </p:nvSpPr>
        <p:spPr>
          <a:xfrm>
            <a:off x="3314702"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3" name="타원 42"/>
          <p:cNvSpPr/>
          <p:nvPr/>
        </p:nvSpPr>
        <p:spPr>
          <a:xfrm>
            <a:off x="3314703"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4" name="타원 43"/>
          <p:cNvSpPr/>
          <p:nvPr/>
        </p:nvSpPr>
        <p:spPr>
          <a:xfrm>
            <a:off x="3328953"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7" name="타원 56"/>
          <p:cNvSpPr/>
          <p:nvPr/>
        </p:nvSpPr>
        <p:spPr>
          <a:xfrm>
            <a:off x="5402547" y="360614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8" name="타원 57"/>
          <p:cNvSpPr/>
          <p:nvPr/>
        </p:nvSpPr>
        <p:spPr>
          <a:xfrm>
            <a:off x="540804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9" name="타원 58"/>
          <p:cNvSpPr/>
          <p:nvPr/>
        </p:nvSpPr>
        <p:spPr>
          <a:xfrm>
            <a:off x="5408041" y="203283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0" name="타원 59"/>
          <p:cNvSpPr/>
          <p:nvPr/>
        </p:nvSpPr>
        <p:spPr>
          <a:xfrm>
            <a:off x="5408844"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2" name="타원 61"/>
          <p:cNvSpPr/>
          <p:nvPr/>
        </p:nvSpPr>
        <p:spPr>
          <a:xfrm>
            <a:off x="5400890" y="597281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3" name="타원 62"/>
          <p:cNvSpPr/>
          <p:nvPr/>
        </p:nvSpPr>
        <p:spPr>
          <a:xfrm>
            <a:off x="5400891" y="51794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4" name="타원 63"/>
          <p:cNvSpPr/>
          <p:nvPr/>
        </p:nvSpPr>
        <p:spPr>
          <a:xfrm>
            <a:off x="5401694"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7" name="타원 66"/>
          <p:cNvSpPr/>
          <p:nvPr/>
        </p:nvSpPr>
        <p:spPr>
          <a:xfrm>
            <a:off x="6451417" y="360614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74" name="타원 73"/>
          <p:cNvSpPr/>
          <p:nvPr/>
        </p:nvSpPr>
        <p:spPr>
          <a:xfrm>
            <a:off x="6450564" y="4399516"/>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sp>
        <p:nvSpPr>
          <p:cNvPr id="134" name="직사각형 133"/>
          <p:cNvSpPr/>
          <p:nvPr/>
        </p:nvSpPr>
        <p:spPr>
          <a:xfrm>
            <a:off x="4195481" y="3394351"/>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5" name="직사각형 134"/>
          <p:cNvSpPr/>
          <p:nvPr/>
        </p:nvSpPr>
        <p:spPr>
          <a:xfrm>
            <a:off x="7346576" y="3380904"/>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6" name="직사각형 135"/>
          <p:cNvSpPr/>
          <p:nvPr/>
        </p:nvSpPr>
        <p:spPr>
          <a:xfrm>
            <a:off x="10765240" y="3380903"/>
            <a:ext cx="699247" cy="781371"/>
          </a:xfrm>
          <a:prstGeom prst="rect">
            <a:avLst/>
          </a:prstGeom>
          <a:solidFill>
            <a:srgbClr val="C00000"/>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최종</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79" name="TextBox 78"/>
          <p:cNvSpPr txBox="1"/>
          <p:nvPr/>
        </p:nvSpPr>
        <p:spPr>
          <a:xfrm>
            <a:off x="2023967"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0" name="TextBox 79"/>
          <p:cNvSpPr txBox="1"/>
          <p:nvPr/>
        </p:nvSpPr>
        <p:spPr>
          <a:xfrm>
            <a:off x="3078714"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1" name="TextBox 80"/>
          <p:cNvSpPr txBox="1"/>
          <p:nvPr/>
        </p:nvSpPr>
        <p:spPr>
          <a:xfrm>
            <a:off x="515940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TextBox 81"/>
          <p:cNvSpPr txBox="1"/>
          <p:nvPr/>
        </p:nvSpPr>
        <p:spPr>
          <a:xfrm>
            <a:off x="620827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3" name="TextBox 82"/>
          <p:cNvSpPr txBox="1"/>
          <p:nvPr/>
        </p:nvSpPr>
        <p:spPr>
          <a:xfrm>
            <a:off x="8301530"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4" name="TextBox 83"/>
          <p:cNvSpPr txBox="1"/>
          <p:nvPr/>
        </p:nvSpPr>
        <p:spPr>
          <a:xfrm>
            <a:off x="9337898"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5" name="TextBox 84"/>
          <p:cNvSpPr txBox="1"/>
          <p:nvPr/>
        </p:nvSpPr>
        <p:spPr>
          <a:xfrm>
            <a:off x="4122593" y="2990068"/>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6" name="TextBox 85"/>
          <p:cNvSpPr txBox="1"/>
          <p:nvPr/>
        </p:nvSpPr>
        <p:spPr>
          <a:xfrm>
            <a:off x="7271527" y="2973313"/>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6</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1" name="TextBox 90"/>
          <p:cNvSpPr txBox="1"/>
          <p:nvPr/>
        </p:nvSpPr>
        <p:spPr>
          <a:xfrm>
            <a:off x="10687739" y="2981557"/>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9</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5" name="TextBox 94"/>
          <p:cNvSpPr txBox="1"/>
          <p:nvPr/>
        </p:nvSpPr>
        <p:spPr>
          <a:xfrm>
            <a:off x="4327739" y="2343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파티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곱셈 기호 4"/>
          <p:cNvSpPr/>
          <p:nvPr/>
        </p:nvSpPr>
        <p:spPr>
          <a:xfrm>
            <a:off x="3705189" y="2990068"/>
            <a:ext cx="1655230" cy="1580417"/>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6" name="곱셈 기호 95"/>
          <p:cNvSpPr/>
          <p:nvPr/>
        </p:nvSpPr>
        <p:spPr>
          <a:xfrm>
            <a:off x="6868584" y="2970573"/>
            <a:ext cx="1655230" cy="1580417"/>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8" name="모서리가 둥근 사각형 설명선 77"/>
          <p:cNvSpPr/>
          <p:nvPr/>
        </p:nvSpPr>
        <p:spPr>
          <a:xfrm>
            <a:off x="7023344" y="1740271"/>
            <a:ext cx="4084642" cy="2574835"/>
          </a:xfrm>
          <a:prstGeom prst="wedgeRoundRectCallout">
            <a:avLst>
              <a:gd name="adj1" fmla="val 37174"/>
              <a:gd name="adj2" fmla="val 65028"/>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파티</a:t>
            </a:r>
            <a:r>
              <a:rPr lang="en-US" altLang="ko-KR" sz="1600" b="1" dirty="0" smtClean="0">
                <a:solidFill>
                  <a:sysClr val="windowText" lastClr="000000"/>
                </a:solidFill>
              </a:rPr>
              <a:t>’ </a:t>
            </a:r>
            <a:r>
              <a:rPr lang="ko-KR" altLang="en-US" sz="1600" b="1" dirty="0" smtClean="0">
                <a:solidFill>
                  <a:sysClr val="windowText" lastClr="000000"/>
                </a:solidFill>
              </a:rPr>
              <a:t>버튼</a:t>
            </a:r>
            <a:endParaRPr lang="en-US" altLang="ko-KR" sz="1600" b="1" dirty="0" smtClean="0">
              <a:solidFill>
                <a:sysClr val="windowText" lastClr="000000"/>
              </a:solidFill>
            </a:endParaRP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지도 상태에서 마우스 왼쪽 버튼 클릭으로 활성화</a:t>
            </a:r>
            <a:endParaRPr lang="en-US" altLang="ko-KR" sz="1400" dirty="0" smtClean="0">
              <a:solidFill>
                <a:sysClr val="windowText" lastClr="000000"/>
              </a:solidFill>
            </a:endParaRPr>
          </a:p>
          <a:p>
            <a:endParaRPr lang="en-US" altLang="ko-KR" sz="1400" dirty="0" smtClean="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플레이어 파티를 편성할 수 있는 창을 팝업</a:t>
            </a:r>
            <a:endParaRPr lang="en-US" altLang="ko-KR" sz="1400" dirty="0" smtClean="0">
              <a:solidFill>
                <a:sysClr val="windowText" lastClr="000000"/>
              </a:solidFill>
            </a:endParaRPr>
          </a:p>
          <a:p>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err="1" smtClean="0">
                <a:solidFill>
                  <a:sysClr val="windowText" lastClr="000000"/>
                </a:solidFill>
              </a:rPr>
              <a:t>파티창을</a:t>
            </a:r>
            <a:r>
              <a:rPr lang="ko-KR" altLang="en-US" sz="1400" dirty="0" smtClean="0">
                <a:solidFill>
                  <a:sysClr val="windowText" lastClr="000000"/>
                </a:solidFill>
              </a:rPr>
              <a:t> 통해 파티를 편성하고 캐릭터와 몬스터의 정보와 특성을 살펴볼 수 있음</a:t>
            </a:r>
            <a:endParaRPr lang="en-US" altLang="ko-KR" sz="1400" dirty="0" smtClean="0">
              <a:solidFill>
                <a:sysClr val="windowText" lastClr="000000"/>
              </a:solidFill>
            </a:endParaRPr>
          </a:p>
        </p:txBody>
      </p:sp>
      <p:sp>
        <p:nvSpPr>
          <p:cNvPr id="107" name="TextBox 106"/>
          <p:cNvSpPr txBox="1"/>
          <p:nvPr/>
        </p:nvSpPr>
        <p:spPr>
          <a:xfrm>
            <a:off x="72571" y="250721"/>
            <a:ext cx="4255168"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전체 지도 및 요소</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8" name="모서리가 둥근 직사각형 107"/>
          <p:cNvSpPr/>
          <p:nvPr/>
        </p:nvSpPr>
        <p:spPr>
          <a:xfrm>
            <a:off x="10876211" y="5520884"/>
            <a:ext cx="967581" cy="629074"/>
          </a:xfrm>
          <a:prstGeom prst="round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가방</a:t>
            </a:r>
            <a:endParaRPr lang="ko-KR" altLang="en-US" sz="2000" dirty="0">
              <a:ln>
                <a:solidFill>
                  <a:schemeClr val="tx1"/>
                </a:solidFill>
              </a:ln>
              <a:solidFill>
                <a:sysClr val="windowText" lastClr="000000"/>
              </a:solidFill>
            </a:endParaRPr>
          </a:p>
        </p:txBody>
      </p:sp>
      <p:sp>
        <p:nvSpPr>
          <p:cNvPr id="109" name="타원 108"/>
          <p:cNvSpPr/>
          <p:nvPr/>
        </p:nvSpPr>
        <p:spPr>
          <a:xfrm>
            <a:off x="259781"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10" name="타원 109"/>
          <p:cNvSpPr/>
          <p:nvPr/>
        </p:nvSpPr>
        <p:spPr>
          <a:xfrm>
            <a:off x="767084"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11" name="타원 110"/>
          <p:cNvSpPr/>
          <p:nvPr/>
        </p:nvSpPr>
        <p:spPr>
          <a:xfrm>
            <a:off x="1272986"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12" name="모서리가 둥근 직사각형 111"/>
          <p:cNvSpPr/>
          <p:nvPr/>
        </p:nvSpPr>
        <p:spPr>
          <a:xfrm>
            <a:off x="10876211" y="4758451"/>
            <a:ext cx="967581" cy="629074"/>
          </a:xfrm>
          <a:prstGeom prst="roundRect">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파티</a:t>
            </a:r>
            <a:endParaRPr lang="ko-KR" altLang="en-US" sz="2000" dirty="0">
              <a:ln>
                <a:solidFill>
                  <a:schemeClr val="tx1"/>
                </a:solidFill>
              </a:ln>
              <a:solidFill>
                <a:sysClr val="windowText" lastClr="000000"/>
              </a:solidFill>
            </a:endParaRPr>
          </a:p>
        </p:txBody>
      </p:sp>
      <p:sp>
        <p:nvSpPr>
          <p:cNvPr id="105" name="도넛 104"/>
          <p:cNvSpPr/>
          <p:nvPr/>
        </p:nvSpPr>
        <p:spPr>
          <a:xfrm>
            <a:off x="10654575" y="4348988"/>
            <a:ext cx="1398449" cy="1297503"/>
          </a:xfrm>
          <a:prstGeom prst="donut">
            <a:avLst>
              <a:gd name="adj" fmla="val 1822"/>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Tree>
    <p:extLst>
      <p:ext uri="{BB962C8B-B14F-4D97-AF65-F5344CB8AC3E}">
        <p14:creationId xmlns:p14="http://schemas.microsoft.com/office/powerpoint/2010/main" val="3723470236"/>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27</a:t>
            </a:fld>
            <a:endParaRPr lang="ko-KR" altLang="en-US" sz="1800" dirty="0"/>
          </a:p>
        </p:txBody>
      </p:sp>
      <p:sp>
        <p:nvSpPr>
          <p:cNvPr id="7" name="타원 6"/>
          <p:cNvSpPr/>
          <p:nvPr/>
        </p:nvSpPr>
        <p:spPr>
          <a:xfrm>
            <a:off x="2280935"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3" name="타원 12"/>
          <p:cNvSpPr/>
          <p:nvPr/>
        </p:nvSpPr>
        <p:spPr>
          <a:xfrm>
            <a:off x="2286428"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4" name="타원 13"/>
          <p:cNvSpPr/>
          <p:nvPr/>
        </p:nvSpPr>
        <p:spPr>
          <a:xfrm>
            <a:off x="2286429" y="20193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5" name="타원 14"/>
          <p:cNvSpPr/>
          <p:nvPr/>
        </p:nvSpPr>
        <p:spPr>
          <a:xfrm>
            <a:off x="2287232"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2" name="타원 21"/>
          <p:cNvSpPr/>
          <p:nvPr/>
        </p:nvSpPr>
        <p:spPr>
          <a:xfrm>
            <a:off x="2279278"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3" name="타원 22"/>
          <p:cNvSpPr/>
          <p:nvPr/>
        </p:nvSpPr>
        <p:spPr>
          <a:xfrm>
            <a:off x="2279279"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4" name="타원 23"/>
          <p:cNvSpPr/>
          <p:nvPr/>
        </p:nvSpPr>
        <p:spPr>
          <a:xfrm>
            <a:off x="2280082"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7" name="타원 36"/>
          <p:cNvSpPr/>
          <p:nvPr/>
        </p:nvSpPr>
        <p:spPr>
          <a:xfrm>
            <a:off x="3316359"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8" name="타원 37"/>
          <p:cNvSpPr/>
          <p:nvPr/>
        </p:nvSpPr>
        <p:spPr>
          <a:xfrm>
            <a:off x="3321852"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9" name="타원 38"/>
          <p:cNvSpPr/>
          <p:nvPr/>
        </p:nvSpPr>
        <p:spPr>
          <a:xfrm>
            <a:off x="3321853"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0" name="타원 39"/>
          <p:cNvSpPr/>
          <p:nvPr/>
        </p:nvSpPr>
        <p:spPr>
          <a:xfrm>
            <a:off x="3322656"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2" name="타원 41"/>
          <p:cNvSpPr/>
          <p:nvPr/>
        </p:nvSpPr>
        <p:spPr>
          <a:xfrm>
            <a:off x="3314702"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3" name="타원 42"/>
          <p:cNvSpPr/>
          <p:nvPr/>
        </p:nvSpPr>
        <p:spPr>
          <a:xfrm>
            <a:off x="3314703"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4" name="타원 43"/>
          <p:cNvSpPr/>
          <p:nvPr/>
        </p:nvSpPr>
        <p:spPr>
          <a:xfrm>
            <a:off x="3328953"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7" name="타원 56"/>
          <p:cNvSpPr/>
          <p:nvPr/>
        </p:nvSpPr>
        <p:spPr>
          <a:xfrm>
            <a:off x="5402547" y="360614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8" name="타원 57"/>
          <p:cNvSpPr/>
          <p:nvPr/>
        </p:nvSpPr>
        <p:spPr>
          <a:xfrm>
            <a:off x="540804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9" name="타원 58"/>
          <p:cNvSpPr/>
          <p:nvPr/>
        </p:nvSpPr>
        <p:spPr>
          <a:xfrm>
            <a:off x="5408041" y="203283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0" name="타원 59"/>
          <p:cNvSpPr/>
          <p:nvPr/>
        </p:nvSpPr>
        <p:spPr>
          <a:xfrm>
            <a:off x="5408844"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2" name="타원 61"/>
          <p:cNvSpPr/>
          <p:nvPr/>
        </p:nvSpPr>
        <p:spPr>
          <a:xfrm>
            <a:off x="5400890" y="597281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3" name="타원 62"/>
          <p:cNvSpPr/>
          <p:nvPr/>
        </p:nvSpPr>
        <p:spPr>
          <a:xfrm>
            <a:off x="5400891" y="51794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4" name="타원 63"/>
          <p:cNvSpPr/>
          <p:nvPr/>
        </p:nvSpPr>
        <p:spPr>
          <a:xfrm>
            <a:off x="5401694"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7" name="타원 66"/>
          <p:cNvSpPr/>
          <p:nvPr/>
        </p:nvSpPr>
        <p:spPr>
          <a:xfrm>
            <a:off x="6451417" y="360614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74" name="타원 73"/>
          <p:cNvSpPr/>
          <p:nvPr/>
        </p:nvSpPr>
        <p:spPr>
          <a:xfrm>
            <a:off x="6450564" y="4399516"/>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sp>
        <p:nvSpPr>
          <p:cNvPr id="134" name="직사각형 133"/>
          <p:cNvSpPr/>
          <p:nvPr/>
        </p:nvSpPr>
        <p:spPr>
          <a:xfrm>
            <a:off x="4195481" y="3394351"/>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5" name="직사각형 134"/>
          <p:cNvSpPr/>
          <p:nvPr/>
        </p:nvSpPr>
        <p:spPr>
          <a:xfrm>
            <a:off x="7346576" y="3380904"/>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6" name="직사각형 135"/>
          <p:cNvSpPr/>
          <p:nvPr/>
        </p:nvSpPr>
        <p:spPr>
          <a:xfrm>
            <a:off x="10765240" y="3380903"/>
            <a:ext cx="699247" cy="781371"/>
          </a:xfrm>
          <a:prstGeom prst="rect">
            <a:avLst/>
          </a:prstGeom>
          <a:solidFill>
            <a:srgbClr val="C00000"/>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최종</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79" name="TextBox 78"/>
          <p:cNvSpPr txBox="1"/>
          <p:nvPr/>
        </p:nvSpPr>
        <p:spPr>
          <a:xfrm>
            <a:off x="2023967"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0" name="TextBox 79"/>
          <p:cNvSpPr txBox="1"/>
          <p:nvPr/>
        </p:nvSpPr>
        <p:spPr>
          <a:xfrm>
            <a:off x="3078714"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1" name="TextBox 80"/>
          <p:cNvSpPr txBox="1"/>
          <p:nvPr/>
        </p:nvSpPr>
        <p:spPr>
          <a:xfrm>
            <a:off x="515940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TextBox 81"/>
          <p:cNvSpPr txBox="1"/>
          <p:nvPr/>
        </p:nvSpPr>
        <p:spPr>
          <a:xfrm>
            <a:off x="620827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3" name="TextBox 82"/>
          <p:cNvSpPr txBox="1"/>
          <p:nvPr/>
        </p:nvSpPr>
        <p:spPr>
          <a:xfrm>
            <a:off x="8301530"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4" name="TextBox 83"/>
          <p:cNvSpPr txBox="1"/>
          <p:nvPr/>
        </p:nvSpPr>
        <p:spPr>
          <a:xfrm>
            <a:off x="9337898"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5" name="TextBox 84"/>
          <p:cNvSpPr txBox="1"/>
          <p:nvPr/>
        </p:nvSpPr>
        <p:spPr>
          <a:xfrm>
            <a:off x="4122593" y="2990068"/>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6" name="TextBox 85"/>
          <p:cNvSpPr txBox="1"/>
          <p:nvPr/>
        </p:nvSpPr>
        <p:spPr>
          <a:xfrm>
            <a:off x="7271527" y="2973313"/>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6</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1" name="TextBox 90"/>
          <p:cNvSpPr txBox="1"/>
          <p:nvPr/>
        </p:nvSpPr>
        <p:spPr>
          <a:xfrm>
            <a:off x="10687739" y="2981557"/>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9</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5" name="TextBox 94"/>
          <p:cNvSpPr txBox="1"/>
          <p:nvPr/>
        </p:nvSpPr>
        <p:spPr>
          <a:xfrm>
            <a:off x="4327739" y="2343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파티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곱셈 기호 4"/>
          <p:cNvSpPr/>
          <p:nvPr/>
        </p:nvSpPr>
        <p:spPr>
          <a:xfrm>
            <a:off x="3705189" y="2990068"/>
            <a:ext cx="1655230" cy="1580417"/>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6" name="곱셈 기호 95"/>
          <p:cNvSpPr/>
          <p:nvPr/>
        </p:nvSpPr>
        <p:spPr>
          <a:xfrm>
            <a:off x="6868584" y="2970573"/>
            <a:ext cx="1655230" cy="1580417"/>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8" name="모서리가 둥근 사각형 설명선 77"/>
          <p:cNvSpPr/>
          <p:nvPr/>
        </p:nvSpPr>
        <p:spPr>
          <a:xfrm>
            <a:off x="7378715" y="2951745"/>
            <a:ext cx="3594196" cy="2036035"/>
          </a:xfrm>
          <a:prstGeom prst="wedgeRoundRectCallout">
            <a:avLst>
              <a:gd name="adj1" fmla="val 37174"/>
              <a:gd name="adj2" fmla="val 65028"/>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가방</a:t>
            </a:r>
            <a:r>
              <a:rPr lang="en-US" altLang="ko-KR" sz="1600" b="1" dirty="0" smtClean="0">
                <a:solidFill>
                  <a:sysClr val="windowText" lastClr="000000"/>
                </a:solidFill>
              </a:rPr>
              <a:t>’ </a:t>
            </a:r>
            <a:r>
              <a:rPr lang="ko-KR" altLang="en-US" sz="1600" b="1" dirty="0" smtClean="0">
                <a:solidFill>
                  <a:sysClr val="windowText" lastClr="000000"/>
                </a:solidFill>
              </a:rPr>
              <a:t>버튼</a:t>
            </a:r>
            <a:endParaRPr lang="en-US" altLang="ko-KR" sz="1600" b="1" dirty="0" smtClean="0">
              <a:solidFill>
                <a:sysClr val="windowText" lastClr="000000"/>
              </a:solidFill>
            </a:endParaRP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지도 상태에서 마우스 왼쪽 버튼 클릭으로 활성화</a:t>
            </a:r>
            <a:endParaRPr lang="en-US" altLang="ko-KR" sz="1400" dirty="0" smtClean="0">
              <a:solidFill>
                <a:sysClr val="windowText" lastClr="000000"/>
              </a:solidFill>
            </a:endParaRPr>
          </a:p>
          <a:p>
            <a:endParaRPr lang="en-US" altLang="ko-KR" sz="1400" dirty="0" smtClean="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현재 보유한 아이템의 정보와 </a:t>
            </a:r>
            <a:r>
              <a:rPr lang="ko-KR" altLang="en-US" sz="1400" dirty="0">
                <a:solidFill>
                  <a:sysClr val="windowText" lastClr="000000"/>
                </a:solidFill>
              </a:rPr>
              <a:t>개</a:t>
            </a:r>
            <a:r>
              <a:rPr lang="ko-KR" altLang="en-US" sz="1400" dirty="0" smtClean="0">
                <a:solidFill>
                  <a:sysClr val="windowText" lastClr="000000"/>
                </a:solidFill>
              </a:rPr>
              <a:t>수를 살펴볼 수 </a:t>
            </a:r>
            <a:r>
              <a:rPr lang="ko-KR" altLang="en-US" sz="1400" dirty="0" smtClean="0">
                <a:solidFill>
                  <a:sysClr val="windowText" lastClr="000000"/>
                </a:solidFill>
              </a:rPr>
              <a:t>있는 창을 </a:t>
            </a:r>
            <a:r>
              <a:rPr lang="ko-KR" altLang="en-US" sz="1400" dirty="0" smtClean="0">
                <a:solidFill>
                  <a:sysClr val="windowText" lastClr="000000"/>
                </a:solidFill>
              </a:rPr>
              <a:t>팝업</a:t>
            </a:r>
            <a:endParaRPr lang="en-US" altLang="ko-KR" sz="1400" dirty="0" smtClean="0">
              <a:solidFill>
                <a:sysClr val="windowText" lastClr="000000"/>
              </a:solidFill>
            </a:endParaRPr>
          </a:p>
        </p:txBody>
      </p:sp>
      <p:sp>
        <p:nvSpPr>
          <p:cNvPr id="107" name="TextBox 106"/>
          <p:cNvSpPr txBox="1"/>
          <p:nvPr/>
        </p:nvSpPr>
        <p:spPr>
          <a:xfrm>
            <a:off x="72571" y="250721"/>
            <a:ext cx="4255168"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전체 지도 및 요소</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8" name="모서리가 둥근 직사각형 107"/>
          <p:cNvSpPr/>
          <p:nvPr/>
        </p:nvSpPr>
        <p:spPr>
          <a:xfrm>
            <a:off x="10876211" y="5520884"/>
            <a:ext cx="967581" cy="629074"/>
          </a:xfrm>
          <a:prstGeom prst="round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가방</a:t>
            </a:r>
            <a:endParaRPr lang="ko-KR" altLang="en-US" sz="2000" dirty="0">
              <a:ln>
                <a:solidFill>
                  <a:schemeClr val="tx1"/>
                </a:solidFill>
              </a:ln>
              <a:solidFill>
                <a:sysClr val="windowText" lastClr="000000"/>
              </a:solidFill>
            </a:endParaRPr>
          </a:p>
        </p:txBody>
      </p:sp>
      <p:sp>
        <p:nvSpPr>
          <p:cNvPr id="109" name="타원 108"/>
          <p:cNvSpPr/>
          <p:nvPr/>
        </p:nvSpPr>
        <p:spPr>
          <a:xfrm>
            <a:off x="259781"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10" name="타원 109"/>
          <p:cNvSpPr/>
          <p:nvPr/>
        </p:nvSpPr>
        <p:spPr>
          <a:xfrm>
            <a:off x="767084"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11" name="타원 110"/>
          <p:cNvSpPr/>
          <p:nvPr/>
        </p:nvSpPr>
        <p:spPr>
          <a:xfrm>
            <a:off x="1272986" y="731701"/>
            <a:ext cx="363071" cy="349624"/>
          </a:xfrm>
          <a:prstGeom prst="ellipse">
            <a:avLst/>
          </a:prstGeom>
          <a:solidFill>
            <a:srgbClr val="7030A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12" name="모서리가 둥근 직사각형 111"/>
          <p:cNvSpPr/>
          <p:nvPr/>
        </p:nvSpPr>
        <p:spPr>
          <a:xfrm>
            <a:off x="10876211" y="4758451"/>
            <a:ext cx="967581" cy="629074"/>
          </a:xfrm>
          <a:prstGeom prst="roundRect">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파티</a:t>
            </a:r>
            <a:endParaRPr lang="ko-KR" altLang="en-US" sz="2000" dirty="0">
              <a:ln>
                <a:solidFill>
                  <a:schemeClr val="tx1"/>
                </a:solidFill>
              </a:ln>
              <a:solidFill>
                <a:sysClr val="windowText" lastClr="000000"/>
              </a:solidFill>
            </a:endParaRPr>
          </a:p>
        </p:txBody>
      </p:sp>
      <p:sp>
        <p:nvSpPr>
          <p:cNvPr id="105" name="도넛 104"/>
          <p:cNvSpPr/>
          <p:nvPr/>
        </p:nvSpPr>
        <p:spPr>
          <a:xfrm>
            <a:off x="10687739" y="5102933"/>
            <a:ext cx="1398449" cy="1297503"/>
          </a:xfrm>
          <a:prstGeom prst="donut">
            <a:avLst>
              <a:gd name="adj" fmla="val 1822"/>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Tree>
    <p:extLst>
      <p:ext uri="{BB962C8B-B14F-4D97-AF65-F5344CB8AC3E}">
        <p14:creationId xmlns:p14="http://schemas.microsoft.com/office/powerpoint/2010/main" val="3999733268"/>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327739" y="520310"/>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맵 디자인 규칙</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28</a:t>
            </a:fld>
            <a:endParaRPr lang="ko-KR" altLang="en-US" sz="1800" dirty="0"/>
          </a:p>
        </p:txBody>
      </p:sp>
      <p:sp>
        <p:nvSpPr>
          <p:cNvPr id="79" name="TextBox 78"/>
          <p:cNvSpPr txBox="1"/>
          <p:nvPr/>
        </p:nvSpPr>
        <p:spPr>
          <a:xfrm>
            <a:off x="72571" y="250721"/>
            <a:ext cx="4255168"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맵 디자인 규칙</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1" name="TextBox 100"/>
          <p:cNvSpPr txBox="1"/>
          <p:nvPr/>
        </p:nvSpPr>
        <p:spPr>
          <a:xfrm>
            <a:off x="376768" y="1417165"/>
            <a:ext cx="10443632" cy="3277820"/>
          </a:xfrm>
          <a:prstGeom prst="rect">
            <a:avLst/>
          </a:prstGeom>
          <a:noFill/>
        </p:spPr>
        <p:txBody>
          <a:bodyPr wrap="square" rtlCol="0">
            <a:spAutoFit/>
          </a:bodyPr>
          <a:lstStyle/>
          <a:p>
            <a:pPr>
              <a:lnSpc>
                <a:spcPct val="150000"/>
              </a:lnSpc>
            </a:pPr>
            <a:r>
              <a:rPr lang="en-US" altLang="ko-KR" dirty="0"/>
              <a:t>• </a:t>
            </a:r>
            <a:r>
              <a:rPr lang="ko-KR" altLang="en-US" dirty="0" err="1" smtClean="0"/>
              <a:t>로그라이크</a:t>
            </a:r>
            <a:r>
              <a:rPr lang="ko-KR" altLang="en-US" dirty="0" smtClean="0"/>
              <a:t> 요소를 채용하여</a:t>
            </a:r>
            <a:r>
              <a:rPr lang="en-US" altLang="ko-KR" dirty="0" smtClean="0"/>
              <a:t> </a:t>
            </a:r>
            <a:r>
              <a:rPr lang="ko-KR" altLang="en-US" dirty="0" smtClean="0"/>
              <a:t>캐릭터가 던전 탐험 중 사망했을 때</a:t>
            </a:r>
            <a:r>
              <a:rPr lang="en-US" altLang="ko-KR" dirty="0" smtClean="0"/>
              <a:t>, </a:t>
            </a:r>
          </a:p>
          <a:p>
            <a:pPr>
              <a:lnSpc>
                <a:spcPct val="150000"/>
              </a:lnSpc>
            </a:pPr>
            <a:r>
              <a:rPr lang="en-US" altLang="ko-KR" dirty="0"/>
              <a:t> </a:t>
            </a:r>
            <a:r>
              <a:rPr lang="en-US" altLang="ko-KR" dirty="0" smtClean="0"/>
              <a:t> </a:t>
            </a:r>
            <a:r>
              <a:rPr lang="ko-KR" altLang="en-US" dirty="0" smtClean="0"/>
              <a:t>유지되는 데이터를 제외하고</a:t>
            </a:r>
            <a:r>
              <a:rPr lang="en-US" altLang="ko-KR" dirty="0" smtClean="0"/>
              <a:t> </a:t>
            </a:r>
            <a:r>
              <a:rPr lang="ko-KR" altLang="en-US" dirty="0" smtClean="0"/>
              <a:t>현재 플레이어가 보유한 몬스터</a:t>
            </a:r>
            <a:r>
              <a:rPr lang="en-US" altLang="ko-KR" dirty="0" smtClean="0"/>
              <a:t>, </a:t>
            </a:r>
            <a:r>
              <a:rPr lang="ko-KR" altLang="en-US" dirty="0" err="1" smtClean="0"/>
              <a:t>아티팩트</a:t>
            </a:r>
            <a:r>
              <a:rPr lang="en-US" altLang="ko-KR" dirty="0" smtClean="0"/>
              <a:t>, </a:t>
            </a:r>
          </a:p>
          <a:p>
            <a:pPr>
              <a:lnSpc>
                <a:spcPct val="150000"/>
              </a:lnSpc>
            </a:pPr>
            <a:r>
              <a:rPr lang="en-US" altLang="ko-KR" dirty="0"/>
              <a:t> </a:t>
            </a:r>
            <a:r>
              <a:rPr lang="en-US" altLang="ko-KR" dirty="0" smtClean="0"/>
              <a:t> </a:t>
            </a:r>
            <a:r>
              <a:rPr lang="ko-KR" altLang="en-US" dirty="0" smtClean="0"/>
              <a:t>아이템</a:t>
            </a:r>
            <a:r>
              <a:rPr lang="en-US" altLang="ko-KR" dirty="0" smtClean="0"/>
              <a:t>, </a:t>
            </a:r>
            <a:r>
              <a:rPr lang="ko-KR" altLang="en-US" dirty="0" smtClean="0"/>
              <a:t>던전 진행 상황을 모두 잃는다</a:t>
            </a:r>
            <a:r>
              <a:rPr lang="en-US" altLang="ko-KR" dirty="0" smtClean="0"/>
              <a:t>. </a:t>
            </a:r>
            <a:r>
              <a:rPr lang="ko-KR" altLang="en-US" dirty="0" smtClean="0"/>
              <a:t>그 후</a:t>
            </a:r>
            <a:r>
              <a:rPr lang="en-US" altLang="ko-KR" dirty="0" smtClean="0"/>
              <a:t>, </a:t>
            </a:r>
            <a:r>
              <a:rPr lang="ko-KR" altLang="en-US" dirty="0" smtClean="0"/>
              <a:t>게임이 초기화되어 시작점으로 되돌아간다</a:t>
            </a:r>
            <a:r>
              <a:rPr lang="en-US" altLang="ko-KR" dirty="0" smtClean="0"/>
              <a:t>.</a:t>
            </a:r>
          </a:p>
          <a:p>
            <a:pPr>
              <a:lnSpc>
                <a:spcPct val="150000"/>
              </a:lnSpc>
            </a:pPr>
            <a:endParaRPr lang="en-US" altLang="ko-KR" dirty="0" smtClean="0"/>
          </a:p>
          <a:p>
            <a:pPr>
              <a:lnSpc>
                <a:spcPct val="150000"/>
              </a:lnSpc>
            </a:pPr>
            <a:r>
              <a:rPr lang="en-US" altLang="ko-KR" dirty="0" smtClean="0"/>
              <a:t>• </a:t>
            </a:r>
            <a:r>
              <a:rPr lang="ko-KR" altLang="en-US" dirty="0" smtClean="0"/>
              <a:t>이 때</a:t>
            </a:r>
            <a:r>
              <a:rPr lang="en-US" altLang="ko-KR" dirty="0" smtClean="0"/>
              <a:t>, </a:t>
            </a:r>
            <a:r>
              <a:rPr lang="ko-KR" altLang="en-US" dirty="0" smtClean="0"/>
              <a:t>던전 맵 역시 캐릭터의 사망으로 인해 재설정되며</a:t>
            </a:r>
            <a:r>
              <a:rPr lang="en-US" altLang="ko-KR" dirty="0" smtClean="0"/>
              <a:t>, </a:t>
            </a:r>
            <a:r>
              <a:rPr lang="ko-KR" altLang="en-US" dirty="0" smtClean="0"/>
              <a:t>게임이 초기화될 때마다</a:t>
            </a:r>
            <a:r>
              <a:rPr lang="en-US" altLang="ko-KR" dirty="0" smtClean="0"/>
              <a:t/>
            </a:r>
            <a:br>
              <a:rPr lang="en-US" altLang="ko-KR" dirty="0" smtClean="0"/>
            </a:br>
            <a:r>
              <a:rPr lang="en-US" altLang="ko-KR" dirty="0" smtClean="0"/>
              <a:t>  </a:t>
            </a:r>
            <a:r>
              <a:rPr lang="ko-KR" altLang="en-US" dirty="0" err="1" smtClean="0"/>
              <a:t>에어리어</a:t>
            </a:r>
            <a:r>
              <a:rPr lang="ko-KR" altLang="en-US" dirty="0" smtClean="0"/>
              <a:t> 내 이벤트</a:t>
            </a:r>
            <a:r>
              <a:rPr lang="en-US" altLang="ko-KR" dirty="0" smtClean="0"/>
              <a:t>, </a:t>
            </a:r>
            <a:r>
              <a:rPr lang="ko-KR" altLang="en-US" dirty="0" smtClean="0"/>
              <a:t>몬스터의 조합</a:t>
            </a:r>
            <a:r>
              <a:rPr lang="en-US" altLang="ko-KR" dirty="0" smtClean="0"/>
              <a:t>, </a:t>
            </a:r>
            <a:r>
              <a:rPr lang="ko-KR" altLang="en-US" dirty="0" smtClean="0"/>
              <a:t>계층간 연결 구조</a:t>
            </a:r>
            <a:r>
              <a:rPr lang="en-US" altLang="ko-KR" dirty="0"/>
              <a:t> </a:t>
            </a:r>
            <a:r>
              <a:rPr lang="ko-KR" altLang="en-US" dirty="0" smtClean="0"/>
              <a:t>등이 무작위로 재설정된다</a:t>
            </a:r>
            <a:r>
              <a:rPr lang="en-US" altLang="ko-KR" dirty="0" smtClean="0"/>
              <a:t>.</a:t>
            </a:r>
            <a:endParaRPr lang="en-US" altLang="ko-KR" dirty="0" smtClean="0"/>
          </a:p>
          <a:p>
            <a:pPr>
              <a:lnSpc>
                <a:spcPct val="150000"/>
              </a:lnSpc>
            </a:pPr>
            <a:endParaRPr lang="en-US" altLang="ko-KR" sz="1200" dirty="0">
              <a:latin typeface="+mn-ea"/>
            </a:endParaRPr>
          </a:p>
          <a:p>
            <a:pPr>
              <a:lnSpc>
                <a:spcPct val="150000"/>
              </a:lnSpc>
            </a:pPr>
            <a:r>
              <a:rPr lang="en-US" altLang="ko-KR" dirty="0" smtClean="0"/>
              <a:t>• </a:t>
            </a:r>
            <a:r>
              <a:rPr lang="ko-KR" altLang="en-US" dirty="0" smtClean="0"/>
              <a:t>이 문서에서는 </a:t>
            </a:r>
            <a:r>
              <a:rPr lang="ko-KR" altLang="en-US" dirty="0" err="1" smtClean="0"/>
              <a:t>맵이</a:t>
            </a:r>
            <a:r>
              <a:rPr lang="ko-KR" altLang="en-US" dirty="0" smtClean="0"/>
              <a:t> 설정 및 재설정되는 규칙을 밝혀 제시함을 목표로 한다</a:t>
            </a:r>
            <a:r>
              <a:rPr lang="en-US" altLang="ko-KR" dirty="0" smtClean="0"/>
              <a:t>.</a:t>
            </a:r>
            <a:endParaRPr lang="en-US" altLang="ko-KR" dirty="0"/>
          </a:p>
        </p:txBody>
      </p:sp>
    </p:spTree>
    <p:extLst>
      <p:ext uri="{BB962C8B-B14F-4D97-AF65-F5344CB8AC3E}">
        <p14:creationId xmlns:p14="http://schemas.microsoft.com/office/powerpoint/2010/main" val="3425698938"/>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327739" y="5518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입구</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29</a:t>
            </a:fld>
            <a:endParaRPr lang="ko-KR" altLang="en-US" sz="1800" dirty="0"/>
          </a:p>
        </p:txBody>
      </p:sp>
      <p:sp>
        <p:nvSpPr>
          <p:cNvPr id="9" name="이등변 삼각형 8"/>
          <p:cNvSpPr/>
          <p:nvPr/>
        </p:nvSpPr>
        <p:spPr>
          <a:xfrm rot="5400000">
            <a:off x="2010445" y="2423023"/>
            <a:ext cx="1275272" cy="895852"/>
          </a:xfrm>
          <a:prstGeom prst="triangl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endParaRPr lang="ko-KR" altLang="en-US" dirty="0">
              <a:solidFill>
                <a:schemeClr val="tx1"/>
              </a:solidFill>
            </a:endParaRPr>
          </a:p>
        </p:txBody>
      </p:sp>
      <p:sp>
        <p:nvSpPr>
          <p:cNvPr id="79" name="TextBox 78"/>
          <p:cNvSpPr txBox="1"/>
          <p:nvPr/>
        </p:nvSpPr>
        <p:spPr>
          <a:xfrm>
            <a:off x="72571" y="250721"/>
            <a:ext cx="4255168"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맵 디자인 규칙</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1" name="TextBox 100"/>
          <p:cNvSpPr txBox="1"/>
          <p:nvPr/>
        </p:nvSpPr>
        <p:spPr>
          <a:xfrm>
            <a:off x="4418883" y="1629828"/>
            <a:ext cx="6934917" cy="3416320"/>
          </a:xfrm>
          <a:prstGeom prst="rect">
            <a:avLst/>
          </a:prstGeom>
          <a:noFill/>
        </p:spPr>
        <p:txBody>
          <a:bodyPr wrap="square" rtlCol="0">
            <a:spAutoFit/>
          </a:bodyPr>
          <a:lstStyle/>
          <a:p>
            <a:pPr>
              <a:lnSpc>
                <a:spcPct val="150000"/>
              </a:lnSpc>
            </a:pPr>
            <a:r>
              <a:rPr lang="en-US" altLang="ko-KR" sz="2400" dirty="0"/>
              <a:t>• </a:t>
            </a:r>
            <a:r>
              <a:rPr lang="ko-KR" altLang="en-US" sz="2000" dirty="0" err="1" smtClean="0"/>
              <a:t>던전맵</a:t>
            </a:r>
            <a:r>
              <a:rPr lang="ko-KR" altLang="en-US" sz="2000" dirty="0" smtClean="0"/>
              <a:t> 가장 좌측에 고정적으로 위치한다</a:t>
            </a:r>
            <a:r>
              <a:rPr lang="en-US" altLang="ko-KR" sz="2000" dirty="0" smtClean="0"/>
              <a:t>.</a:t>
            </a:r>
          </a:p>
          <a:p>
            <a:pPr>
              <a:lnSpc>
                <a:spcPct val="150000"/>
              </a:lnSpc>
            </a:pPr>
            <a:endParaRPr lang="en-US" altLang="ko-KR" sz="2000" dirty="0" smtClean="0"/>
          </a:p>
          <a:p>
            <a:pPr>
              <a:lnSpc>
                <a:spcPct val="150000"/>
              </a:lnSpc>
            </a:pPr>
            <a:r>
              <a:rPr lang="en-US" altLang="ko-KR" sz="2000" dirty="0" smtClean="0"/>
              <a:t>• </a:t>
            </a:r>
            <a:r>
              <a:rPr lang="ko-KR" altLang="en-US" sz="2000" dirty="0" smtClean="0"/>
              <a:t>캐릭터가 던전 탐험을 시작하는 위치이다</a:t>
            </a:r>
            <a:r>
              <a:rPr lang="en-US" altLang="ko-KR" sz="2000" dirty="0" smtClean="0"/>
              <a:t>.</a:t>
            </a:r>
          </a:p>
          <a:p>
            <a:pPr>
              <a:lnSpc>
                <a:spcPct val="150000"/>
              </a:lnSpc>
            </a:pPr>
            <a:endParaRPr lang="en-US" altLang="ko-KR" sz="2000" dirty="0" smtClean="0"/>
          </a:p>
          <a:p>
            <a:pPr>
              <a:lnSpc>
                <a:spcPct val="150000"/>
              </a:lnSpc>
            </a:pPr>
            <a:r>
              <a:rPr lang="en-US" altLang="ko-KR" sz="2000" dirty="0"/>
              <a:t>• </a:t>
            </a:r>
            <a:r>
              <a:rPr lang="ko-KR" altLang="en-US" sz="2000" dirty="0" smtClean="0"/>
              <a:t>캐릭터가 던전 탐험 중 사망했을 때</a:t>
            </a:r>
            <a:r>
              <a:rPr lang="en-US" altLang="ko-KR" sz="2000" dirty="0"/>
              <a:t> </a:t>
            </a:r>
            <a:r>
              <a:rPr lang="ko-KR" altLang="en-US" sz="2000" dirty="0" smtClean="0"/>
              <a:t>돌아오는 위치이다</a:t>
            </a:r>
            <a:r>
              <a:rPr lang="en-US" altLang="ko-KR" sz="2000" dirty="0" smtClean="0"/>
              <a:t>.</a:t>
            </a:r>
          </a:p>
          <a:p>
            <a:pPr>
              <a:lnSpc>
                <a:spcPct val="150000"/>
              </a:lnSpc>
            </a:pPr>
            <a:endParaRPr lang="en-US" altLang="ko-KR" sz="2000" dirty="0" smtClean="0"/>
          </a:p>
          <a:p>
            <a:pPr>
              <a:lnSpc>
                <a:spcPct val="150000"/>
              </a:lnSpc>
            </a:pPr>
            <a:r>
              <a:rPr lang="en-US" altLang="ko-KR" sz="2000" dirty="0" smtClean="0"/>
              <a:t>• </a:t>
            </a:r>
            <a:r>
              <a:rPr lang="ko-KR" altLang="en-US" sz="2000" dirty="0" smtClean="0"/>
              <a:t>캐릭터 사망으로 인한 맵 재설정에 영향을 받지 않는다</a:t>
            </a:r>
            <a:r>
              <a:rPr lang="en-US" altLang="ko-KR" sz="2000" dirty="0" smtClean="0"/>
              <a:t>.</a:t>
            </a:r>
          </a:p>
        </p:txBody>
      </p:sp>
      <p:sp>
        <p:nvSpPr>
          <p:cNvPr id="14" name="TextBox 13"/>
          <p:cNvSpPr txBox="1"/>
          <p:nvPr/>
        </p:nvSpPr>
        <p:spPr>
          <a:xfrm>
            <a:off x="939190" y="3820665"/>
            <a:ext cx="3065905" cy="584775"/>
          </a:xfrm>
          <a:prstGeom prst="rect">
            <a:avLst/>
          </a:prstGeom>
          <a:noFill/>
        </p:spPr>
        <p:txBody>
          <a:bodyPr wrap="square" rtlCol="0">
            <a:spAutoFit/>
          </a:bodyPr>
          <a:lstStyle/>
          <a:p>
            <a:pPr algn="ct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입구</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773435325"/>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327739" y="5137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30</a:t>
            </a:fld>
            <a:endParaRPr lang="ko-KR" altLang="en-US" sz="1800" dirty="0"/>
          </a:p>
        </p:txBody>
      </p:sp>
      <p:sp>
        <p:nvSpPr>
          <p:cNvPr id="79" name="TextBox 78"/>
          <p:cNvSpPr txBox="1"/>
          <p:nvPr/>
        </p:nvSpPr>
        <p:spPr>
          <a:xfrm>
            <a:off x="72571" y="250721"/>
            <a:ext cx="4255168"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맵 디자인 규칙</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1" name="TextBox 100"/>
          <p:cNvSpPr txBox="1"/>
          <p:nvPr/>
        </p:nvSpPr>
        <p:spPr>
          <a:xfrm>
            <a:off x="4418524" y="1301074"/>
            <a:ext cx="7773476" cy="5262979"/>
          </a:xfrm>
          <a:prstGeom prst="rect">
            <a:avLst/>
          </a:prstGeom>
          <a:noFill/>
        </p:spPr>
        <p:txBody>
          <a:bodyPr wrap="square" rtlCol="0">
            <a:spAutoFit/>
          </a:bodyPr>
          <a:lstStyle/>
          <a:p>
            <a:pPr>
              <a:lnSpc>
                <a:spcPct val="150000"/>
              </a:lnSpc>
            </a:pPr>
            <a:r>
              <a:rPr lang="en-US" altLang="ko-KR" dirty="0"/>
              <a:t>• </a:t>
            </a:r>
            <a:r>
              <a:rPr lang="ko-KR" altLang="en-US" dirty="0"/>
              <a:t>동일한 계층 </a:t>
            </a:r>
            <a:r>
              <a:rPr lang="ko-KR" altLang="en-US" dirty="0" smtClean="0"/>
              <a:t>내에 </a:t>
            </a:r>
            <a:r>
              <a:rPr lang="en-US" altLang="ko-KR" dirty="0" smtClean="0"/>
              <a:t>7</a:t>
            </a:r>
            <a:r>
              <a:rPr lang="ko-KR" altLang="en-US" dirty="0"/>
              <a:t>개의 </a:t>
            </a:r>
            <a:r>
              <a:rPr lang="ko-KR" altLang="en-US" dirty="0" err="1"/>
              <a:t>에어리어가</a:t>
            </a:r>
            <a:r>
              <a:rPr lang="ko-KR" altLang="en-US" dirty="0"/>
              <a:t> </a:t>
            </a:r>
            <a:r>
              <a:rPr lang="ko-KR" altLang="en-US" dirty="0" smtClean="0"/>
              <a:t>고정적으로 생성되며</a:t>
            </a:r>
            <a:r>
              <a:rPr lang="en-US" altLang="ko-KR" dirty="0" smtClean="0"/>
              <a:t>, </a:t>
            </a:r>
            <a:r>
              <a:rPr lang="ko-KR" altLang="en-US" dirty="0" smtClean="0"/>
              <a:t>길을 따라</a:t>
            </a:r>
            <a:r>
              <a:rPr lang="en-US" altLang="ko-KR" dirty="0" smtClean="0"/>
              <a:t/>
            </a:r>
            <a:br>
              <a:rPr lang="en-US" altLang="ko-KR" dirty="0" smtClean="0"/>
            </a:br>
            <a:r>
              <a:rPr lang="en-US" altLang="ko-KR" dirty="0" smtClean="0"/>
              <a:t> </a:t>
            </a:r>
            <a:r>
              <a:rPr lang="ko-KR" altLang="en-US" dirty="0" smtClean="0"/>
              <a:t> 수직 </a:t>
            </a:r>
            <a:r>
              <a:rPr lang="ko-KR" altLang="en-US" dirty="0"/>
              <a:t>일렬로 연결된다</a:t>
            </a:r>
            <a:r>
              <a:rPr lang="en-US" altLang="ko-KR" dirty="0" smtClean="0"/>
              <a:t>.</a:t>
            </a:r>
          </a:p>
          <a:p>
            <a:pPr>
              <a:lnSpc>
                <a:spcPct val="150000"/>
              </a:lnSpc>
            </a:pPr>
            <a:endParaRPr lang="en-US" altLang="ko-KR" sz="1200" dirty="0" smtClean="0"/>
          </a:p>
          <a:p>
            <a:pPr>
              <a:lnSpc>
                <a:spcPct val="150000"/>
              </a:lnSpc>
            </a:pPr>
            <a:r>
              <a:rPr lang="en-US" altLang="ko-KR" dirty="0" smtClean="0"/>
              <a:t>• </a:t>
            </a:r>
            <a:r>
              <a:rPr lang="ko-KR" altLang="en-US" dirty="0" smtClean="0"/>
              <a:t>계층 내 </a:t>
            </a:r>
            <a:r>
              <a:rPr lang="ko-KR" altLang="en-US" dirty="0" err="1" smtClean="0"/>
              <a:t>에어리어</a:t>
            </a:r>
            <a:r>
              <a:rPr lang="ko-KR" altLang="en-US" dirty="0" smtClean="0"/>
              <a:t> 중 무작위로 하나의 </a:t>
            </a:r>
            <a:r>
              <a:rPr lang="ko-KR" altLang="en-US" dirty="0" err="1" smtClean="0"/>
              <a:t>에어리어에</a:t>
            </a:r>
            <a:r>
              <a:rPr lang="en-US" altLang="ko-KR" dirty="0" smtClean="0"/>
              <a:t> </a:t>
            </a:r>
            <a:r>
              <a:rPr lang="ko-KR" altLang="en-US" dirty="0" smtClean="0"/>
              <a:t>다음 계층으로 넘어갈 </a:t>
            </a:r>
            <a:endParaRPr lang="en-US" altLang="ko-KR" dirty="0" smtClean="0"/>
          </a:p>
          <a:p>
            <a:pPr>
              <a:lnSpc>
                <a:spcPct val="150000"/>
              </a:lnSpc>
            </a:pPr>
            <a:r>
              <a:rPr lang="en-US" altLang="ko-KR" dirty="0"/>
              <a:t> </a:t>
            </a:r>
            <a:r>
              <a:rPr lang="en-US" altLang="ko-KR" dirty="0" smtClean="0"/>
              <a:t> </a:t>
            </a:r>
            <a:r>
              <a:rPr lang="ko-KR" altLang="en-US" dirty="0" smtClean="0"/>
              <a:t>수 있는 길이 생성된다</a:t>
            </a:r>
            <a:r>
              <a:rPr lang="en-US" altLang="ko-KR" dirty="0" smtClean="0"/>
              <a:t>.</a:t>
            </a:r>
            <a:r>
              <a:rPr lang="ko-KR" altLang="en-US" dirty="0" smtClean="0"/>
              <a:t> 이때</a:t>
            </a:r>
            <a:r>
              <a:rPr lang="en-US" altLang="ko-KR" dirty="0" smtClean="0"/>
              <a:t>, </a:t>
            </a:r>
            <a:r>
              <a:rPr lang="ko-KR" altLang="en-US" dirty="0" smtClean="0"/>
              <a:t>서로 </a:t>
            </a:r>
            <a:r>
              <a:rPr lang="ko-KR" altLang="en-US" dirty="0"/>
              <a:t>다른 계층을 잇는 </a:t>
            </a:r>
            <a:r>
              <a:rPr lang="ko-KR" altLang="en-US" dirty="0" smtClean="0"/>
              <a:t>길에 직접 연결된 </a:t>
            </a:r>
            <a:endParaRPr lang="en-US" altLang="ko-KR" dirty="0" smtClean="0"/>
          </a:p>
          <a:p>
            <a:pPr>
              <a:lnSpc>
                <a:spcPct val="150000"/>
              </a:lnSpc>
            </a:pPr>
            <a:r>
              <a:rPr lang="en-US" altLang="ko-KR" dirty="0"/>
              <a:t> </a:t>
            </a:r>
            <a:r>
              <a:rPr lang="en-US" altLang="ko-KR" dirty="0" smtClean="0"/>
              <a:t> </a:t>
            </a:r>
            <a:r>
              <a:rPr lang="ko-KR" altLang="en-US" dirty="0" smtClean="0"/>
              <a:t>두 </a:t>
            </a:r>
            <a:r>
              <a:rPr lang="ko-KR" altLang="en-US" dirty="0" err="1" smtClean="0"/>
              <a:t>에어리어는</a:t>
            </a:r>
            <a:r>
              <a:rPr lang="ko-KR" altLang="en-US" dirty="0" smtClean="0"/>
              <a:t> 전투 이벤트를 가지며</a:t>
            </a:r>
            <a:r>
              <a:rPr lang="en-US" altLang="ko-KR" dirty="0" smtClean="0"/>
              <a:t>, </a:t>
            </a:r>
            <a:r>
              <a:rPr lang="ko-KR" altLang="en-US" dirty="0" smtClean="0"/>
              <a:t>이외의 </a:t>
            </a:r>
            <a:r>
              <a:rPr lang="ko-KR" altLang="en-US" dirty="0" err="1" smtClean="0"/>
              <a:t>에어리어는</a:t>
            </a:r>
            <a:r>
              <a:rPr lang="ko-KR" altLang="en-US" dirty="0" smtClean="0"/>
              <a:t> </a:t>
            </a:r>
            <a:r>
              <a:rPr lang="ko-KR" altLang="en-US" dirty="0" err="1" smtClean="0"/>
              <a:t>재생성될</a:t>
            </a:r>
            <a:r>
              <a:rPr lang="ko-KR" altLang="en-US" dirty="0" smtClean="0"/>
              <a:t> 때</a:t>
            </a:r>
            <a:r>
              <a:rPr lang="en-US" altLang="ko-KR" dirty="0" smtClean="0"/>
              <a:t/>
            </a:r>
            <a:br>
              <a:rPr lang="en-US" altLang="ko-KR" dirty="0" smtClean="0"/>
            </a:br>
            <a:r>
              <a:rPr lang="en-US" altLang="ko-KR" dirty="0" smtClean="0"/>
              <a:t> </a:t>
            </a:r>
            <a:r>
              <a:rPr lang="ko-KR" altLang="en-US" dirty="0" smtClean="0"/>
              <a:t> 무작위 이벤트로 변경된다</a:t>
            </a:r>
            <a:r>
              <a:rPr lang="en-US" altLang="ko-KR" dirty="0" smtClean="0"/>
              <a:t>.</a:t>
            </a:r>
          </a:p>
          <a:p>
            <a:pPr>
              <a:lnSpc>
                <a:spcPct val="150000"/>
              </a:lnSpc>
            </a:pPr>
            <a:r>
              <a:rPr lang="en-US" altLang="ko-KR" sz="1200" dirty="0" smtClean="0"/>
              <a:t/>
            </a:r>
            <a:br>
              <a:rPr lang="en-US" altLang="ko-KR" sz="1200" dirty="0" smtClean="0"/>
            </a:br>
            <a:r>
              <a:rPr lang="en-US" altLang="ko-KR" dirty="0" smtClean="0"/>
              <a:t>• </a:t>
            </a:r>
            <a:r>
              <a:rPr lang="ko-KR" altLang="en-US" dirty="0" smtClean="0"/>
              <a:t>전투 이벤트의 경우</a:t>
            </a:r>
            <a:r>
              <a:rPr lang="en-US" altLang="ko-KR" dirty="0" smtClean="0"/>
              <a:t>, </a:t>
            </a:r>
            <a:r>
              <a:rPr lang="ko-KR" altLang="en-US" dirty="0" smtClean="0"/>
              <a:t>전투에 등장하는 </a:t>
            </a:r>
            <a:r>
              <a:rPr lang="ko-KR" altLang="en-US" dirty="0" err="1" smtClean="0"/>
              <a:t>몬스터들은</a:t>
            </a:r>
            <a:r>
              <a:rPr lang="ko-KR" altLang="en-US" dirty="0" smtClean="0"/>
              <a:t> 각 계층에 출몰하는</a:t>
            </a:r>
            <a:r>
              <a:rPr lang="en-US" altLang="ko-KR" dirty="0" smtClean="0"/>
              <a:t/>
            </a:r>
            <a:br>
              <a:rPr lang="en-US" altLang="ko-KR" dirty="0" smtClean="0"/>
            </a:br>
            <a:r>
              <a:rPr lang="en-US" altLang="ko-KR" dirty="0" smtClean="0"/>
              <a:t> </a:t>
            </a:r>
            <a:r>
              <a:rPr lang="ko-KR" altLang="en-US" dirty="0" smtClean="0"/>
              <a:t> </a:t>
            </a:r>
            <a:r>
              <a:rPr lang="ko-KR" altLang="en-US" dirty="0" err="1" smtClean="0"/>
              <a:t>몬스터들의</a:t>
            </a:r>
            <a:r>
              <a:rPr lang="ko-KR" altLang="en-US" dirty="0" smtClean="0"/>
              <a:t> 조합들 중에서 무작위로 하나가 선택되어 설정된다</a:t>
            </a:r>
            <a:r>
              <a:rPr lang="en-US" altLang="ko-KR" dirty="0" smtClean="0"/>
              <a:t>.</a:t>
            </a:r>
            <a:br>
              <a:rPr lang="en-US" altLang="ko-KR" dirty="0" smtClean="0"/>
            </a:br>
            <a:r>
              <a:rPr lang="en-US" altLang="ko-KR" sz="1200" dirty="0" smtClean="0"/>
              <a:t/>
            </a:r>
            <a:br>
              <a:rPr lang="en-US" altLang="ko-KR" sz="1200" dirty="0" smtClean="0"/>
            </a:br>
            <a:r>
              <a:rPr lang="en-US" altLang="ko-KR" dirty="0" smtClean="0"/>
              <a:t>• </a:t>
            </a:r>
            <a:r>
              <a:rPr lang="ko-KR" altLang="en-US" dirty="0" smtClean="0"/>
              <a:t>상인 이벤트의 경우</a:t>
            </a:r>
            <a:r>
              <a:rPr lang="en-US" altLang="ko-KR" dirty="0" smtClean="0"/>
              <a:t>, </a:t>
            </a:r>
            <a:r>
              <a:rPr lang="ko-KR" altLang="en-US" dirty="0" smtClean="0"/>
              <a:t>상인이 판매하는 아이템은 각 계층에 등장하는</a:t>
            </a:r>
            <a:r>
              <a:rPr lang="en-US" altLang="ko-KR" dirty="0" smtClean="0"/>
              <a:t/>
            </a:r>
            <a:br>
              <a:rPr lang="en-US" altLang="ko-KR" dirty="0" smtClean="0"/>
            </a:br>
            <a:r>
              <a:rPr lang="en-US" altLang="ko-KR" dirty="0" smtClean="0"/>
              <a:t> </a:t>
            </a:r>
            <a:r>
              <a:rPr lang="ko-KR" altLang="en-US" dirty="0" smtClean="0"/>
              <a:t> 아이템들 중에서</a:t>
            </a:r>
            <a:r>
              <a:rPr lang="en-US" altLang="ko-KR" dirty="0" smtClean="0"/>
              <a:t> </a:t>
            </a:r>
            <a:r>
              <a:rPr lang="ko-KR" altLang="en-US" dirty="0" smtClean="0"/>
              <a:t>무작위로 선택되어 결정된다</a:t>
            </a:r>
            <a:r>
              <a:rPr lang="en-US" altLang="ko-KR" dirty="0"/>
              <a:t>.</a:t>
            </a:r>
          </a:p>
        </p:txBody>
      </p:sp>
      <p:sp>
        <p:nvSpPr>
          <p:cNvPr id="14" name="TextBox 13"/>
          <p:cNvSpPr txBox="1"/>
          <p:nvPr/>
        </p:nvSpPr>
        <p:spPr>
          <a:xfrm>
            <a:off x="939190" y="3820665"/>
            <a:ext cx="3065905" cy="584775"/>
          </a:xfrm>
          <a:prstGeom prst="rect">
            <a:avLst/>
          </a:prstGeom>
          <a:noFill/>
        </p:spPr>
        <p:txBody>
          <a:bodyPr wrap="square" rtlCol="0">
            <a:spAutoFit/>
          </a:bodyPr>
          <a:lstStyle/>
          <a:p>
            <a:pPr algn="ct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 name="타원 9"/>
          <p:cNvSpPr/>
          <p:nvPr/>
        </p:nvSpPr>
        <p:spPr>
          <a:xfrm>
            <a:off x="1753417" y="2113293"/>
            <a:ext cx="1437450" cy="1423130"/>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Tree>
    <p:extLst>
      <p:ext uri="{BB962C8B-B14F-4D97-AF65-F5344CB8AC3E}">
        <p14:creationId xmlns:p14="http://schemas.microsoft.com/office/powerpoint/2010/main" val="3439283426"/>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327739" y="5137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계층</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31</a:t>
            </a:fld>
            <a:endParaRPr lang="ko-KR" altLang="en-US" sz="1800" dirty="0"/>
          </a:p>
        </p:txBody>
      </p:sp>
      <p:sp>
        <p:nvSpPr>
          <p:cNvPr id="79" name="TextBox 78"/>
          <p:cNvSpPr txBox="1"/>
          <p:nvPr/>
        </p:nvSpPr>
        <p:spPr>
          <a:xfrm>
            <a:off x="72571" y="250721"/>
            <a:ext cx="4255168"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맵 디자인 규칙</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1" name="TextBox 100"/>
          <p:cNvSpPr txBox="1"/>
          <p:nvPr/>
        </p:nvSpPr>
        <p:spPr>
          <a:xfrm>
            <a:off x="4418524" y="1301074"/>
            <a:ext cx="7354376" cy="4662815"/>
          </a:xfrm>
          <a:prstGeom prst="rect">
            <a:avLst/>
          </a:prstGeom>
          <a:noFill/>
        </p:spPr>
        <p:txBody>
          <a:bodyPr wrap="square" rtlCol="0">
            <a:spAutoFit/>
          </a:bodyPr>
          <a:lstStyle/>
          <a:p>
            <a:pPr>
              <a:lnSpc>
                <a:spcPct val="150000"/>
              </a:lnSpc>
            </a:pPr>
            <a:r>
              <a:rPr lang="en-US" altLang="ko-KR" dirty="0"/>
              <a:t>• </a:t>
            </a:r>
            <a:r>
              <a:rPr lang="en-US" altLang="ko-KR" dirty="0" smtClean="0"/>
              <a:t>7</a:t>
            </a:r>
            <a:r>
              <a:rPr lang="ko-KR" altLang="en-US" dirty="0"/>
              <a:t>개의 </a:t>
            </a:r>
            <a:r>
              <a:rPr lang="ko-KR" altLang="en-US" dirty="0" err="1"/>
              <a:t>에어리어가</a:t>
            </a:r>
            <a:r>
              <a:rPr lang="ko-KR" altLang="en-US" dirty="0"/>
              <a:t> </a:t>
            </a:r>
            <a:r>
              <a:rPr lang="ko-KR" altLang="en-US" dirty="0" smtClean="0"/>
              <a:t>일렬로 연결되어 구성된 하나의 층계로서</a:t>
            </a:r>
            <a:r>
              <a:rPr lang="en-US" altLang="ko-KR" dirty="0" smtClean="0"/>
              <a:t/>
            </a:r>
            <a:br>
              <a:rPr lang="en-US" altLang="ko-KR" dirty="0" smtClean="0"/>
            </a:br>
            <a:r>
              <a:rPr lang="en-US" altLang="ko-KR" dirty="0" smtClean="0"/>
              <a:t>  </a:t>
            </a:r>
            <a:r>
              <a:rPr lang="ko-KR" altLang="en-US" dirty="0" smtClean="0"/>
              <a:t>이전 </a:t>
            </a:r>
            <a:r>
              <a:rPr lang="ko-KR" altLang="en-US" dirty="0"/>
              <a:t>계층</a:t>
            </a:r>
            <a:r>
              <a:rPr lang="en-US" altLang="ko-KR" dirty="0"/>
              <a:t>,</a:t>
            </a:r>
            <a:r>
              <a:rPr lang="ko-KR" altLang="en-US" dirty="0"/>
              <a:t> 다음 계층과 연결되는 두 길을 가지고 있다</a:t>
            </a:r>
            <a:r>
              <a:rPr lang="en-US" altLang="ko-KR" dirty="0" smtClean="0"/>
              <a:t>.</a:t>
            </a:r>
            <a:r>
              <a:rPr lang="en-US" altLang="ko-KR" dirty="0"/>
              <a:t/>
            </a:r>
            <a:br>
              <a:rPr lang="en-US" altLang="ko-KR" dirty="0"/>
            </a:br>
            <a:endParaRPr lang="en-US" altLang="ko-KR" dirty="0" smtClean="0"/>
          </a:p>
          <a:p>
            <a:pPr>
              <a:lnSpc>
                <a:spcPct val="150000"/>
              </a:lnSpc>
            </a:pPr>
            <a:r>
              <a:rPr lang="en-US" altLang="ko-KR" dirty="0"/>
              <a:t>• </a:t>
            </a:r>
            <a:r>
              <a:rPr lang="ko-KR" altLang="en-US" dirty="0" smtClean="0"/>
              <a:t>하나의 계층에서 </a:t>
            </a:r>
            <a:r>
              <a:rPr lang="ko-KR" altLang="en-US" dirty="0" err="1" smtClean="0"/>
              <a:t>비전투</a:t>
            </a:r>
            <a:r>
              <a:rPr lang="ko-KR" altLang="en-US" dirty="0" smtClean="0"/>
              <a:t> </a:t>
            </a:r>
            <a:r>
              <a:rPr lang="ko-KR" altLang="en-US" dirty="0" err="1" smtClean="0"/>
              <a:t>에어리어</a:t>
            </a:r>
            <a:r>
              <a:rPr lang="en-US" altLang="ko-KR" dirty="0" smtClean="0"/>
              <a:t>(</a:t>
            </a:r>
            <a:r>
              <a:rPr lang="ko-KR" altLang="en-US" dirty="0" smtClean="0"/>
              <a:t>상인 등</a:t>
            </a:r>
            <a:r>
              <a:rPr lang="en-US" altLang="ko-KR" dirty="0" smtClean="0"/>
              <a:t>)</a:t>
            </a:r>
            <a:r>
              <a:rPr lang="ko-KR" altLang="en-US" dirty="0" smtClean="0"/>
              <a:t>은 최대 </a:t>
            </a:r>
            <a:r>
              <a:rPr lang="en-US" altLang="ko-KR" dirty="0" smtClean="0"/>
              <a:t>2</a:t>
            </a:r>
            <a:r>
              <a:rPr lang="ko-KR" altLang="en-US" dirty="0" smtClean="0"/>
              <a:t>개이다</a:t>
            </a:r>
            <a:r>
              <a:rPr lang="en-US" altLang="ko-KR" dirty="0" smtClean="0"/>
              <a:t>.</a:t>
            </a:r>
          </a:p>
          <a:p>
            <a:pPr>
              <a:lnSpc>
                <a:spcPct val="150000"/>
              </a:lnSpc>
            </a:pPr>
            <a:r>
              <a:rPr lang="en-US" altLang="ko-KR" dirty="0" smtClean="0"/>
              <a:t/>
            </a:r>
            <a:br>
              <a:rPr lang="en-US" altLang="ko-KR" dirty="0" smtClean="0"/>
            </a:br>
            <a:r>
              <a:rPr lang="en-US" altLang="ko-KR" dirty="0" smtClean="0"/>
              <a:t>• </a:t>
            </a:r>
            <a:r>
              <a:rPr lang="ko-KR" altLang="en-US" dirty="0" smtClean="0"/>
              <a:t>계층은 총 </a:t>
            </a:r>
            <a:r>
              <a:rPr lang="en-US" altLang="ko-KR" dirty="0" smtClean="0"/>
              <a:t>9</a:t>
            </a:r>
            <a:r>
              <a:rPr lang="ko-KR" altLang="en-US" dirty="0" smtClean="0"/>
              <a:t>개로</a:t>
            </a:r>
            <a:r>
              <a:rPr lang="en-US" altLang="ko-KR" dirty="0" smtClean="0"/>
              <a:t>, 3</a:t>
            </a:r>
            <a:r>
              <a:rPr lang="ko-KR" altLang="en-US" dirty="0" smtClean="0"/>
              <a:t>의 배수인 계층은 보스 </a:t>
            </a:r>
            <a:r>
              <a:rPr lang="ko-KR" altLang="en-US" dirty="0" err="1" smtClean="0"/>
              <a:t>에어리어로</a:t>
            </a:r>
            <a:r>
              <a:rPr lang="ko-KR" altLang="en-US" dirty="0" smtClean="0"/>
              <a:t> 설정한다</a:t>
            </a:r>
            <a:r>
              <a:rPr lang="en-US" altLang="ko-KR" dirty="0" smtClean="0"/>
              <a:t>.</a:t>
            </a:r>
            <a:br>
              <a:rPr lang="en-US" altLang="ko-KR" dirty="0" smtClean="0"/>
            </a:br>
            <a:r>
              <a:rPr lang="en-US" altLang="ko-KR" dirty="0" smtClean="0"/>
              <a:t/>
            </a:r>
            <a:br>
              <a:rPr lang="en-US" altLang="ko-KR" dirty="0" smtClean="0"/>
            </a:br>
            <a:r>
              <a:rPr lang="en-US" altLang="ko-KR" dirty="0" smtClean="0"/>
              <a:t>• </a:t>
            </a:r>
            <a:r>
              <a:rPr lang="ko-KR" altLang="en-US" dirty="0" smtClean="0"/>
              <a:t>보스 계층에는 보스의 가짓수 중 하나가 무작위로 배정되며</a:t>
            </a:r>
            <a:r>
              <a:rPr lang="en-US" altLang="ko-KR" dirty="0" smtClean="0"/>
              <a:t>,</a:t>
            </a:r>
            <a:br>
              <a:rPr lang="en-US" altLang="ko-KR" dirty="0" smtClean="0"/>
            </a:br>
            <a:r>
              <a:rPr lang="en-US" altLang="ko-KR" dirty="0" smtClean="0"/>
              <a:t>  </a:t>
            </a:r>
            <a:r>
              <a:rPr lang="ko-KR" altLang="en-US" dirty="0" smtClean="0"/>
              <a:t>깊은 계층일수록 배정된 보스가 강해진다</a:t>
            </a:r>
            <a:r>
              <a:rPr lang="en-US" altLang="ko-KR" dirty="0" smtClean="0"/>
              <a:t>.</a:t>
            </a:r>
            <a:br>
              <a:rPr lang="en-US" altLang="ko-KR" dirty="0" smtClean="0"/>
            </a:br>
            <a:r>
              <a:rPr lang="en-US" altLang="ko-KR" dirty="0" smtClean="0"/>
              <a:t/>
            </a:r>
            <a:br>
              <a:rPr lang="en-US" altLang="ko-KR" dirty="0" smtClean="0"/>
            </a:br>
            <a:r>
              <a:rPr lang="en-US" altLang="ko-KR" dirty="0"/>
              <a:t>• </a:t>
            </a:r>
            <a:r>
              <a:rPr lang="ko-KR" altLang="en-US" dirty="0"/>
              <a:t>계층의 깊이에 따라 출현하는 몬스터</a:t>
            </a:r>
            <a:r>
              <a:rPr lang="en-US" altLang="ko-KR" dirty="0"/>
              <a:t>, </a:t>
            </a:r>
            <a:r>
              <a:rPr lang="ko-KR" altLang="en-US" dirty="0"/>
              <a:t>아이템 등이 상이하다</a:t>
            </a:r>
            <a:r>
              <a:rPr lang="en-US" altLang="ko-KR" dirty="0" smtClean="0"/>
              <a:t>.</a:t>
            </a:r>
            <a:endParaRPr lang="en-US" altLang="ko-KR" dirty="0"/>
          </a:p>
        </p:txBody>
      </p:sp>
      <p:sp>
        <p:nvSpPr>
          <p:cNvPr id="14" name="TextBox 13"/>
          <p:cNvSpPr txBox="1"/>
          <p:nvPr/>
        </p:nvSpPr>
        <p:spPr>
          <a:xfrm>
            <a:off x="939190" y="3820665"/>
            <a:ext cx="3065905" cy="584775"/>
          </a:xfrm>
          <a:prstGeom prst="rect">
            <a:avLst/>
          </a:prstGeom>
          <a:noFill/>
        </p:spPr>
        <p:txBody>
          <a:bodyPr wrap="square" rtlCol="0">
            <a:spAutoFit/>
          </a:bodyPr>
          <a:lstStyle/>
          <a:p>
            <a:pPr algn="ct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계층</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pSp>
        <p:nvGrpSpPr>
          <p:cNvPr id="5" name="그룹 4"/>
          <p:cNvGrpSpPr/>
          <p:nvPr/>
        </p:nvGrpSpPr>
        <p:grpSpPr>
          <a:xfrm>
            <a:off x="2017217" y="1208221"/>
            <a:ext cx="1043483" cy="2443537"/>
            <a:chOff x="1521917" y="1239463"/>
            <a:chExt cx="1799935" cy="5069532"/>
          </a:xfrm>
        </p:grpSpPr>
        <p:cxnSp>
          <p:nvCxnSpPr>
            <p:cNvPr id="12" name="직선 연결선 11"/>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타원 12"/>
            <p:cNvSpPr/>
            <p:nvPr/>
          </p:nvSpPr>
          <p:spPr>
            <a:xfrm>
              <a:off x="2280935"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5" name="타원 14"/>
            <p:cNvSpPr/>
            <p:nvPr/>
          </p:nvSpPr>
          <p:spPr>
            <a:xfrm>
              <a:off x="2286428"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6" name="타원 15"/>
            <p:cNvSpPr/>
            <p:nvPr/>
          </p:nvSpPr>
          <p:spPr>
            <a:xfrm>
              <a:off x="2286429" y="20193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7" name="타원 16"/>
            <p:cNvSpPr/>
            <p:nvPr/>
          </p:nvSpPr>
          <p:spPr>
            <a:xfrm>
              <a:off x="2287232"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8" name="타원 17"/>
            <p:cNvSpPr/>
            <p:nvPr/>
          </p:nvSpPr>
          <p:spPr>
            <a:xfrm>
              <a:off x="2279278"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9" name="타원 18"/>
            <p:cNvSpPr/>
            <p:nvPr/>
          </p:nvSpPr>
          <p:spPr>
            <a:xfrm>
              <a:off x="2279279"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0" name="타원 19"/>
            <p:cNvSpPr/>
            <p:nvPr/>
          </p:nvSpPr>
          <p:spPr>
            <a:xfrm>
              <a:off x="2280082"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cxnSp>
          <p:nvCxnSpPr>
            <p:cNvPr id="22" name="직선 연결선 21"/>
            <p:cNvCxnSpPr>
              <a:stCxn id="16" idx="6"/>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23" name="직선 연결선 22"/>
            <p:cNvCxnSpPr>
              <a:endCxn id="20"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694459059"/>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327739" y="5137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길</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32</a:t>
            </a:fld>
            <a:endParaRPr lang="ko-KR" altLang="en-US" sz="1800" dirty="0"/>
          </a:p>
        </p:txBody>
      </p:sp>
      <p:sp>
        <p:nvSpPr>
          <p:cNvPr id="79" name="TextBox 78"/>
          <p:cNvSpPr txBox="1"/>
          <p:nvPr/>
        </p:nvSpPr>
        <p:spPr>
          <a:xfrm>
            <a:off x="72571" y="250721"/>
            <a:ext cx="4255168"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맵 디자인 규칙</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1" name="TextBox 100"/>
          <p:cNvSpPr txBox="1"/>
          <p:nvPr/>
        </p:nvSpPr>
        <p:spPr>
          <a:xfrm>
            <a:off x="4418524" y="1828242"/>
            <a:ext cx="7455976" cy="3785652"/>
          </a:xfrm>
          <a:prstGeom prst="rect">
            <a:avLst/>
          </a:prstGeom>
          <a:noFill/>
        </p:spPr>
        <p:txBody>
          <a:bodyPr wrap="square" rtlCol="0">
            <a:spAutoFit/>
          </a:bodyPr>
          <a:lstStyle/>
          <a:p>
            <a:pPr>
              <a:lnSpc>
                <a:spcPct val="150000"/>
              </a:lnSpc>
            </a:pPr>
            <a:r>
              <a:rPr lang="en-US" altLang="ko-KR" sz="2000" dirty="0"/>
              <a:t>• </a:t>
            </a:r>
            <a:r>
              <a:rPr lang="ko-KR" altLang="en-US" sz="2000" dirty="0" smtClean="0"/>
              <a:t>동일한 계층 내에서</a:t>
            </a:r>
            <a:r>
              <a:rPr lang="en-US" altLang="ko-KR" sz="2000" dirty="0" smtClean="0"/>
              <a:t>,</a:t>
            </a:r>
            <a:r>
              <a:rPr lang="ko-KR" altLang="en-US" sz="2000" dirty="0" smtClean="0"/>
              <a:t> 각각의 에어리어들을 잇는 길은 </a:t>
            </a:r>
            <a:endParaRPr lang="en-US" altLang="ko-KR" sz="2000" dirty="0" smtClean="0"/>
          </a:p>
          <a:p>
            <a:pPr>
              <a:lnSpc>
                <a:spcPct val="150000"/>
              </a:lnSpc>
            </a:pPr>
            <a:r>
              <a:rPr lang="en-US" altLang="ko-KR" sz="2000" dirty="0"/>
              <a:t> </a:t>
            </a:r>
            <a:r>
              <a:rPr lang="en-US" altLang="ko-KR" sz="2000" dirty="0" smtClean="0"/>
              <a:t> </a:t>
            </a:r>
            <a:r>
              <a:rPr lang="ko-KR" altLang="en-US" sz="2000" dirty="0" smtClean="0"/>
              <a:t>맵 재생성과 상관없이 수직으로 이어져있다</a:t>
            </a:r>
            <a:r>
              <a:rPr lang="en-US" altLang="ko-KR" sz="2000" dirty="0" smtClean="0"/>
              <a:t>.</a:t>
            </a:r>
          </a:p>
          <a:p>
            <a:pPr>
              <a:lnSpc>
                <a:spcPct val="150000"/>
              </a:lnSpc>
            </a:pPr>
            <a:endParaRPr lang="en-US" altLang="ko-KR" sz="2000" dirty="0" smtClean="0"/>
          </a:p>
          <a:p>
            <a:pPr>
              <a:lnSpc>
                <a:spcPct val="150000"/>
              </a:lnSpc>
            </a:pPr>
            <a:r>
              <a:rPr lang="en-US" altLang="ko-KR" sz="2000" dirty="0" smtClean="0"/>
              <a:t>• </a:t>
            </a:r>
            <a:r>
              <a:rPr lang="ko-KR" altLang="en-US" sz="2000" dirty="0" err="1" smtClean="0"/>
              <a:t>에어리어</a:t>
            </a:r>
            <a:r>
              <a:rPr lang="ko-KR" altLang="en-US" sz="2000" dirty="0" smtClean="0"/>
              <a:t> 간에 연결될 수 있는 길은 오직 하나이다</a:t>
            </a:r>
            <a:r>
              <a:rPr lang="en-US" altLang="ko-KR" sz="2000" dirty="0" smtClean="0"/>
              <a:t>.</a:t>
            </a:r>
            <a:endParaRPr lang="en-US" altLang="ko-KR" sz="2000" dirty="0"/>
          </a:p>
          <a:p>
            <a:pPr>
              <a:lnSpc>
                <a:spcPct val="150000"/>
              </a:lnSpc>
            </a:pPr>
            <a:endParaRPr lang="en-US" altLang="ko-KR" sz="2000" dirty="0" smtClean="0"/>
          </a:p>
          <a:p>
            <a:pPr>
              <a:lnSpc>
                <a:spcPct val="150000"/>
              </a:lnSpc>
            </a:pPr>
            <a:r>
              <a:rPr lang="en-US" altLang="ko-KR" sz="2000" dirty="0" smtClean="0"/>
              <a:t>• </a:t>
            </a:r>
            <a:r>
              <a:rPr lang="ko-KR" altLang="en-US" sz="2000" dirty="0" smtClean="0"/>
              <a:t>계층과 계층을 잇는 길은 </a:t>
            </a:r>
            <a:r>
              <a:rPr lang="ko-KR" altLang="en-US" sz="2000" dirty="0" err="1" smtClean="0"/>
              <a:t>맵이</a:t>
            </a:r>
            <a:r>
              <a:rPr lang="ko-KR" altLang="en-US" sz="2000" dirty="0" smtClean="0"/>
              <a:t> 재생성되면서 무작위의 </a:t>
            </a:r>
            <a:endParaRPr lang="en-US" altLang="ko-KR" sz="2000" dirty="0" smtClean="0"/>
          </a:p>
          <a:p>
            <a:pPr>
              <a:lnSpc>
                <a:spcPct val="150000"/>
              </a:lnSpc>
            </a:pPr>
            <a:r>
              <a:rPr lang="en-US" altLang="ko-KR" sz="2000" dirty="0"/>
              <a:t> </a:t>
            </a:r>
            <a:r>
              <a:rPr lang="en-US" altLang="ko-KR" sz="2000" dirty="0" smtClean="0"/>
              <a:t> </a:t>
            </a:r>
            <a:r>
              <a:rPr lang="ko-KR" altLang="en-US" sz="2000" dirty="0" err="1" smtClean="0"/>
              <a:t>에어리어에</a:t>
            </a:r>
            <a:r>
              <a:rPr lang="en-US" altLang="ko-KR" sz="2000" dirty="0" smtClean="0"/>
              <a:t> </a:t>
            </a:r>
            <a:r>
              <a:rPr lang="ko-KR" altLang="en-US" sz="2000" dirty="0" smtClean="0"/>
              <a:t>연결되어 위치가 변경된다</a:t>
            </a:r>
            <a:r>
              <a:rPr lang="en-US" altLang="ko-KR" sz="2000" dirty="0" smtClean="0"/>
              <a:t>. </a:t>
            </a:r>
            <a:r>
              <a:rPr lang="ko-KR" altLang="en-US" sz="2000" dirty="0" smtClean="0"/>
              <a:t>단</a:t>
            </a:r>
            <a:r>
              <a:rPr lang="en-US" altLang="ko-KR" sz="2000" dirty="0" smtClean="0"/>
              <a:t>, </a:t>
            </a:r>
            <a:r>
              <a:rPr lang="ko-KR" altLang="en-US" sz="2000" dirty="0" smtClean="0"/>
              <a:t>두 길의 거리는</a:t>
            </a:r>
            <a:r>
              <a:rPr lang="en-US" altLang="ko-KR" sz="2000" dirty="0" smtClean="0"/>
              <a:t/>
            </a:r>
            <a:br>
              <a:rPr lang="en-US" altLang="ko-KR" sz="2000" dirty="0" smtClean="0"/>
            </a:br>
            <a:r>
              <a:rPr lang="en-US" altLang="ko-KR" sz="2000" dirty="0" smtClean="0"/>
              <a:t>  2~4 </a:t>
            </a:r>
            <a:r>
              <a:rPr lang="ko-KR" altLang="en-US" sz="2000" dirty="0" err="1" smtClean="0"/>
              <a:t>에어리어</a:t>
            </a:r>
            <a:r>
              <a:rPr lang="ko-KR" altLang="en-US" sz="2000" dirty="0" smtClean="0"/>
              <a:t> 사이에서 무작위로 배정된다</a:t>
            </a:r>
            <a:r>
              <a:rPr lang="en-US" altLang="ko-KR" sz="2000" dirty="0" smtClean="0"/>
              <a:t>.</a:t>
            </a:r>
          </a:p>
        </p:txBody>
      </p:sp>
      <p:sp>
        <p:nvSpPr>
          <p:cNvPr id="14" name="TextBox 13"/>
          <p:cNvSpPr txBox="1"/>
          <p:nvPr/>
        </p:nvSpPr>
        <p:spPr>
          <a:xfrm>
            <a:off x="939190" y="3820665"/>
            <a:ext cx="3065905" cy="584775"/>
          </a:xfrm>
          <a:prstGeom prst="rect">
            <a:avLst/>
          </a:prstGeom>
          <a:noFill/>
        </p:spPr>
        <p:txBody>
          <a:bodyPr wrap="square" rtlCol="0">
            <a:spAutoFit/>
          </a:bodyPr>
          <a:lstStyle/>
          <a:p>
            <a:pPr algn="ctr"/>
            <a:r>
              <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길</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12" name="직선 연결선 11"/>
          <p:cNvCxnSpPr/>
          <p:nvPr/>
        </p:nvCxnSpPr>
        <p:spPr>
          <a:xfrm>
            <a:off x="2123955" y="2796988"/>
            <a:ext cx="802541" cy="834553"/>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97420310"/>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327739" y="5137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보스 </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33</a:t>
            </a:fld>
            <a:endParaRPr lang="ko-KR" altLang="en-US" sz="1800" dirty="0"/>
          </a:p>
        </p:txBody>
      </p:sp>
      <p:sp>
        <p:nvSpPr>
          <p:cNvPr id="79" name="TextBox 78"/>
          <p:cNvSpPr txBox="1"/>
          <p:nvPr/>
        </p:nvSpPr>
        <p:spPr>
          <a:xfrm>
            <a:off x="72571" y="250721"/>
            <a:ext cx="4255168"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맵 디자인 규칙</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1" name="TextBox 100"/>
          <p:cNvSpPr txBox="1"/>
          <p:nvPr/>
        </p:nvSpPr>
        <p:spPr>
          <a:xfrm>
            <a:off x="4418524" y="1728333"/>
            <a:ext cx="7430576" cy="4247317"/>
          </a:xfrm>
          <a:prstGeom prst="rect">
            <a:avLst/>
          </a:prstGeom>
          <a:noFill/>
        </p:spPr>
        <p:txBody>
          <a:bodyPr wrap="square" rtlCol="0">
            <a:spAutoFit/>
          </a:bodyPr>
          <a:lstStyle/>
          <a:p>
            <a:pPr>
              <a:lnSpc>
                <a:spcPct val="150000"/>
              </a:lnSpc>
            </a:pPr>
            <a:r>
              <a:rPr lang="en-US" altLang="ko-KR" sz="2000" dirty="0"/>
              <a:t>• </a:t>
            </a:r>
            <a:r>
              <a:rPr lang="en-US" altLang="ko-KR" sz="2000" dirty="0" smtClean="0"/>
              <a:t>3</a:t>
            </a:r>
            <a:r>
              <a:rPr lang="ko-KR" altLang="en-US" sz="2000" dirty="0" smtClean="0"/>
              <a:t>의 배수 계층은 보스 에어리어로서</a:t>
            </a:r>
            <a:r>
              <a:rPr lang="en-US" altLang="ko-KR" sz="2000" dirty="0"/>
              <a:t> </a:t>
            </a:r>
            <a:r>
              <a:rPr lang="ko-KR" altLang="en-US" sz="2000" dirty="0" smtClean="0"/>
              <a:t>고정적으로 존재하고</a:t>
            </a:r>
            <a:r>
              <a:rPr lang="en-US" altLang="ko-KR" sz="2000" dirty="0" smtClean="0"/>
              <a:t/>
            </a:r>
            <a:br>
              <a:rPr lang="en-US" altLang="ko-KR" sz="2000" dirty="0" smtClean="0"/>
            </a:br>
            <a:r>
              <a:rPr lang="en-US" altLang="ko-KR" sz="2000" dirty="0" smtClean="0"/>
              <a:t>  </a:t>
            </a:r>
            <a:r>
              <a:rPr lang="ko-KR" altLang="en-US" sz="2000" dirty="0" smtClean="0"/>
              <a:t>중간에 중간 보스가</a:t>
            </a:r>
            <a:r>
              <a:rPr lang="en-US" altLang="ko-KR" sz="2000" dirty="0" smtClean="0"/>
              <a:t>, </a:t>
            </a:r>
            <a:r>
              <a:rPr lang="ko-KR" altLang="en-US" sz="2000" dirty="0" smtClean="0"/>
              <a:t>마지막 계층은 최종 보스가 배정된다</a:t>
            </a:r>
            <a:r>
              <a:rPr lang="en-US" altLang="ko-KR" sz="2000" dirty="0" smtClean="0"/>
              <a:t>.</a:t>
            </a:r>
          </a:p>
          <a:p>
            <a:pPr>
              <a:lnSpc>
                <a:spcPct val="150000"/>
              </a:lnSpc>
            </a:pPr>
            <a:endParaRPr lang="en-US" altLang="ko-KR" sz="2000" dirty="0" smtClean="0"/>
          </a:p>
          <a:p>
            <a:pPr>
              <a:lnSpc>
                <a:spcPct val="150000"/>
              </a:lnSpc>
            </a:pPr>
            <a:r>
              <a:rPr lang="en-US" altLang="ko-KR" sz="2000" dirty="0" smtClean="0"/>
              <a:t>• </a:t>
            </a:r>
            <a:r>
              <a:rPr lang="ko-KR" altLang="en-US" sz="2000" dirty="0" err="1" smtClean="0"/>
              <a:t>맵이</a:t>
            </a:r>
            <a:r>
              <a:rPr lang="ko-KR" altLang="en-US" sz="2000" dirty="0" smtClean="0"/>
              <a:t> </a:t>
            </a:r>
            <a:r>
              <a:rPr lang="ko-KR" altLang="en-US" sz="2000" dirty="0" err="1" smtClean="0"/>
              <a:t>재생성되면</a:t>
            </a:r>
            <a:r>
              <a:rPr lang="ko-KR" altLang="en-US" sz="2000" dirty="0" smtClean="0"/>
              <a:t> 최종 계층을 제외한 보스 에어리어들에</a:t>
            </a:r>
            <a:r>
              <a:rPr lang="en-US" altLang="ko-KR" sz="2000" dirty="0" smtClean="0"/>
              <a:t/>
            </a:r>
            <a:br>
              <a:rPr lang="en-US" altLang="ko-KR" sz="2000" dirty="0" smtClean="0"/>
            </a:br>
            <a:r>
              <a:rPr lang="en-US" altLang="ko-KR" sz="2000" dirty="0" smtClean="0"/>
              <a:t>  </a:t>
            </a:r>
            <a:r>
              <a:rPr lang="ko-KR" altLang="en-US" sz="2000" dirty="0" smtClean="0"/>
              <a:t>중간 보스들 중에서 무작위로 새로운 보스가 각각 배정된다</a:t>
            </a:r>
            <a:r>
              <a:rPr lang="en-US" altLang="ko-KR" sz="2000" dirty="0" smtClean="0"/>
              <a:t>.</a:t>
            </a:r>
            <a:br>
              <a:rPr lang="en-US" altLang="ko-KR" sz="2000" dirty="0" smtClean="0"/>
            </a:br>
            <a:r>
              <a:rPr lang="en-US" altLang="ko-KR" sz="2000" dirty="0" smtClean="0"/>
              <a:t/>
            </a:r>
            <a:br>
              <a:rPr lang="en-US" altLang="ko-KR" sz="2000" dirty="0" smtClean="0"/>
            </a:br>
            <a:r>
              <a:rPr lang="en-US" altLang="ko-KR" sz="2000" dirty="0" smtClean="0"/>
              <a:t>• </a:t>
            </a:r>
            <a:r>
              <a:rPr lang="ko-KR" altLang="en-US" sz="2000" dirty="0" smtClean="0"/>
              <a:t>계층이 깊은 에어리어일수록 배정된 보스가 강해진다</a:t>
            </a:r>
            <a:r>
              <a:rPr lang="en-US" altLang="ko-KR" sz="2000" dirty="0" smtClean="0"/>
              <a:t>.</a:t>
            </a:r>
            <a:br>
              <a:rPr lang="en-US" altLang="ko-KR" sz="2000" dirty="0" smtClean="0"/>
            </a:br>
            <a:r>
              <a:rPr lang="en-US" altLang="ko-KR" sz="2000" dirty="0" smtClean="0"/>
              <a:t/>
            </a:r>
            <a:br>
              <a:rPr lang="en-US" altLang="ko-KR" sz="2000" dirty="0" smtClean="0"/>
            </a:br>
            <a:r>
              <a:rPr lang="en-US" altLang="ko-KR" sz="2000" dirty="0" smtClean="0"/>
              <a:t>• </a:t>
            </a:r>
            <a:r>
              <a:rPr lang="ko-KR" altLang="en-US" sz="2000" dirty="0" smtClean="0"/>
              <a:t>최종 보스는 </a:t>
            </a:r>
            <a:r>
              <a:rPr lang="en-US" altLang="ko-KR" sz="2000" dirty="0" smtClean="0"/>
              <a:t>‘</a:t>
            </a:r>
            <a:r>
              <a:rPr lang="ko-KR" altLang="en-US" sz="2000" dirty="0" smtClean="0"/>
              <a:t>마왕</a:t>
            </a:r>
            <a:r>
              <a:rPr lang="en-US" altLang="ko-KR" sz="2000" dirty="0" smtClean="0"/>
              <a:t>‘</a:t>
            </a:r>
            <a:r>
              <a:rPr lang="ko-KR" altLang="en-US" sz="2000" dirty="0" smtClean="0"/>
              <a:t>으로서 마지막 계층에 고정적으로 존재한다</a:t>
            </a:r>
            <a:r>
              <a:rPr lang="en-US" altLang="ko-KR" sz="2000" dirty="0" smtClean="0"/>
              <a:t>.</a:t>
            </a:r>
          </a:p>
        </p:txBody>
      </p:sp>
      <p:sp>
        <p:nvSpPr>
          <p:cNvPr id="14" name="TextBox 13"/>
          <p:cNvSpPr txBox="1"/>
          <p:nvPr/>
        </p:nvSpPr>
        <p:spPr>
          <a:xfrm>
            <a:off x="939190" y="3820665"/>
            <a:ext cx="3065905" cy="584775"/>
          </a:xfrm>
          <a:prstGeom prst="rect">
            <a:avLst/>
          </a:prstGeom>
          <a:noFill/>
        </p:spPr>
        <p:txBody>
          <a:bodyPr wrap="square" rtlCol="0">
            <a:spAutoFit/>
          </a:bodyPr>
          <a:lstStyle/>
          <a:p>
            <a:pPr algn="ct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보스 </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 name="직사각형 9"/>
          <p:cNvSpPr/>
          <p:nvPr/>
        </p:nvSpPr>
        <p:spPr>
          <a:xfrm>
            <a:off x="1633040" y="2836783"/>
            <a:ext cx="699247" cy="784075"/>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 name="직사각형 12"/>
          <p:cNvSpPr/>
          <p:nvPr/>
        </p:nvSpPr>
        <p:spPr>
          <a:xfrm>
            <a:off x="2674631" y="2836784"/>
            <a:ext cx="699247" cy="784074"/>
          </a:xfrm>
          <a:prstGeom prst="rect">
            <a:avLst/>
          </a:prstGeom>
          <a:solidFill>
            <a:srgbClr val="C00000"/>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최종</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Tree>
    <p:extLst>
      <p:ext uri="{BB962C8B-B14F-4D97-AF65-F5344CB8AC3E}">
        <p14:creationId xmlns:p14="http://schemas.microsoft.com/office/powerpoint/2010/main" val="3342244994"/>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327739" y="2343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맵 디자인 규칙</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34</a:t>
            </a:fld>
            <a:endParaRPr lang="ko-KR" altLang="en-US" sz="1800" dirty="0"/>
          </a:p>
        </p:txBody>
      </p:sp>
      <p:sp>
        <p:nvSpPr>
          <p:cNvPr id="15" name="타원 14"/>
          <p:cNvSpPr/>
          <p:nvPr/>
        </p:nvSpPr>
        <p:spPr>
          <a:xfrm>
            <a:off x="838842" y="4785709"/>
            <a:ext cx="851617" cy="85684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9" name="이등변 삼각형 8"/>
          <p:cNvSpPr/>
          <p:nvPr/>
        </p:nvSpPr>
        <p:spPr>
          <a:xfrm rot="5400000">
            <a:off x="649132" y="1204321"/>
            <a:ext cx="1275272" cy="895852"/>
          </a:xfrm>
          <a:prstGeom prst="triangl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sp>
        <p:nvSpPr>
          <p:cNvPr id="134" name="직사각형 133"/>
          <p:cNvSpPr/>
          <p:nvPr/>
        </p:nvSpPr>
        <p:spPr>
          <a:xfrm>
            <a:off x="9714783" y="1247504"/>
            <a:ext cx="699247" cy="784075"/>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6" name="직사각형 135"/>
          <p:cNvSpPr/>
          <p:nvPr/>
        </p:nvSpPr>
        <p:spPr>
          <a:xfrm>
            <a:off x="10414030" y="1247506"/>
            <a:ext cx="699247" cy="784074"/>
          </a:xfrm>
          <a:prstGeom prst="rect">
            <a:avLst/>
          </a:prstGeom>
          <a:solidFill>
            <a:srgbClr val="C00000"/>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최종</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cxnSp>
        <p:nvCxnSpPr>
          <p:cNvPr id="164" name="직선 연결선 163"/>
          <p:cNvCxnSpPr/>
          <p:nvPr/>
        </p:nvCxnSpPr>
        <p:spPr>
          <a:xfrm>
            <a:off x="10734194" y="2217568"/>
            <a:ext cx="758165" cy="800098"/>
          </a:xfrm>
          <a:prstGeom prst="line">
            <a:avLst/>
          </a:prstGeom>
          <a:ln w="28575">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79" name="TextBox 78"/>
          <p:cNvSpPr txBox="1"/>
          <p:nvPr/>
        </p:nvSpPr>
        <p:spPr>
          <a:xfrm>
            <a:off x="72571" y="250721"/>
            <a:ext cx="4255168"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맵 디자인 규칙</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1" name="TextBox 100"/>
          <p:cNvSpPr txBox="1"/>
          <p:nvPr/>
        </p:nvSpPr>
        <p:spPr>
          <a:xfrm>
            <a:off x="1993900" y="1014611"/>
            <a:ext cx="5740400" cy="1615827"/>
          </a:xfrm>
          <a:prstGeom prst="rect">
            <a:avLst/>
          </a:prstGeom>
          <a:noFill/>
        </p:spPr>
        <p:txBody>
          <a:bodyPr wrap="square" rtlCol="0">
            <a:spAutoFit/>
          </a:bodyPr>
          <a:lstStyle/>
          <a:p>
            <a:pPr>
              <a:lnSpc>
                <a:spcPct val="150000"/>
              </a:lnSpc>
            </a:pPr>
            <a:r>
              <a:rPr lang="en-US" altLang="ko-KR" dirty="0"/>
              <a:t>• </a:t>
            </a:r>
            <a:r>
              <a:rPr lang="ko-KR" altLang="en-US" sz="1600" dirty="0" err="1" smtClean="0"/>
              <a:t>던전맵</a:t>
            </a:r>
            <a:r>
              <a:rPr lang="ko-KR" altLang="en-US" sz="1600" dirty="0" smtClean="0"/>
              <a:t> 가장 좌측에 고정적으로 위치한다</a:t>
            </a:r>
            <a:r>
              <a:rPr lang="en-US" altLang="ko-KR" sz="1600" dirty="0" smtClean="0"/>
              <a:t>.</a:t>
            </a:r>
          </a:p>
          <a:p>
            <a:pPr>
              <a:lnSpc>
                <a:spcPct val="150000"/>
              </a:lnSpc>
            </a:pPr>
            <a:r>
              <a:rPr lang="en-US" altLang="ko-KR" sz="1600" dirty="0" smtClean="0"/>
              <a:t>• </a:t>
            </a:r>
            <a:r>
              <a:rPr lang="ko-KR" altLang="en-US" sz="1600" dirty="0" smtClean="0"/>
              <a:t>캐릭터가 던전 탐험을 시작하는 위치이다</a:t>
            </a:r>
            <a:r>
              <a:rPr lang="en-US" altLang="ko-KR" sz="1600" dirty="0" smtClean="0"/>
              <a:t>.</a:t>
            </a:r>
          </a:p>
          <a:p>
            <a:pPr>
              <a:lnSpc>
                <a:spcPct val="150000"/>
              </a:lnSpc>
            </a:pPr>
            <a:r>
              <a:rPr lang="en-US" altLang="ko-KR" sz="1600" dirty="0"/>
              <a:t>• </a:t>
            </a:r>
            <a:r>
              <a:rPr lang="ko-KR" altLang="en-US" sz="1600" dirty="0" smtClean="0"/>
              <a:t>캐릭터가 던전 탐험 중 사망했을 때</a:t>
            </a:r>
            <a:r>
              <a:rPr lang="en-US" altLang="ko-KR" sz="1600" dirty="0"/>
              <a:t> </a:t>
            </a:r>
            <a:r>
              <a:rPr lang="ko-KR" altLang="en-US" sz="1600" dirty="0" smtClean="0"/>
              <a:t>돌아오는 위치이다</a:t>
            </a:r>
            <a:r>
              <a:rPr lang="en-US" altLang="ko-KR" sz="1600" dirty="0" smtClean="0"/>
              <a:t>.</a:t>
            </a:r>
            <a:endParaRPr lang="en-US" altLang="ko-KR" sz="1600" dirty="0" smtClean="0"/>
          </a:p>
          <a:p>
            <a:pPr>
              <a:lnSpc>
                <a:spcPct val="150000"/>
              </a:lnSpc>
            </a:pPr>
            <a:r>
              <a:rPr lang="en-US" altLang="ko-KR" sz="1600" dirty="0" smtClean="0"/>
              <a:t>• </a:t>
            </a:r>
            <a:r>
              <a:rPr lang="ko-KR" altLang="en-US" sz="1600" dirty="0" smtClean="0"/>
              <a:t>캐릭터 사망으로 인한 맵 재설정에 영향을 받지 않는다</a:t>
            </a:r>
            <a:r>
              <a:rPr lang="en-US" altLang="ko-KR" sz="1600" dirty="0" smtClean="0"/>
              <a:t>.</a:t>
            </a:r>
          </a:p>
        </p:txBody>
      </p:sp>
      <p:sp>
        <p:nvSpPr>
          <p:cNvPr id="105" name="TextBox 104"/>
          <p:cNvSpPr txBox="1"/>
          <p:nvPr/>
        </p:nvSpPr>
        <p:spPr>
          <a:xfrm>
            <a:off x="1993899" y="4400445"/>
            <a:ext cx="9359900" cy="1615827"/>
          </a:xfrm>
          <a:prstGeom prst="rect">
            <a:avLst/>
          </a:prstGeom>
          <a:noFill/>
        </p:spPr>
        <p:txBody>
          <a:bodyPr wrap="square" rtlCol="0">
            <a:spAutoFit/>
          </a:bodyPr>
          <a:lstStyle/>
          <a:p>
            <a:pPr>
              <a:lnSpc>
                <a:spcPct val="150000"/>
              </a:lnSpc>
            </a:pPr>
            <a:r>
              <a:rPr lang="en-US" altLang="ko-KR" dirty="0" smtClean="0"/>
              <a:t>• </a:t>
            </a:r>
            <a:r>
              <a:rPr lang="ko-KR" altLang="en-US" sz="1600" dirty="0" smtClean="0"/>
              <a:t>동일한 계</a:t>
            </a:r>
            <a:r>
              <a:rPr lang="ko-KR" altLang="en-US" sz="1600" dirty="0" smtClean="0"/>
              <a:t>층 </a:t>
            </a:r>
            <a:r>
              <a:rPr lang="ko-KR" altLang="en-US" sz="1600" dirty="0" smtClean="0"/>
              <a:t>내에 고정적으로 </a:t>
            </a:r>
            <a:r>
              <a:rPr lang="en-US" altLang="ko-KR" sz="1600" dirty="0" smtClean="0"/>
              <a:t>7</a:t>
            </a:r>
            <a:r>
              <a:rPr lang="ko-KR" altLang="en-US" sz="1600" dirty="0" smtClean="0"/>
              <a:t>개의 </a:t>
            </a:r>
            <a:r>
              <a:rPr lang="ko-KR" altLang="en-US" sz="1600" dirty="0" err="1" smtClean="0"/>
              <a:t>에어리어가</a:t>
            </a:r>
            <a:r>
              <a:rPr lang="ko-KR" altLang="en-US" sz="1600" dirty="0" smtClean="0"/>
              <a:t> 수직 일렬로 연결된다</a:t>
            </a:r>
            <a:r>
              <a:rPr lang="en-US" altLang="ko-KR" sz="1600" dirty="0" smtClean="0"/>
              <a:t>.</a:t>
            </a:r>
            <a:endParaRPr lang="en-US" altLang="ko-KR" dirty="0" smtClean="0"/>
          </a:p>
          <a:p>
            <a:pPr>
              <a:lnSpc>
                <a:spcPct val="150000"/>
              </a:lnSpc>
            </a:pPr>
            <a:r>
              <a:rPr lang="en-US" altLang="ko-KR" sz="1600" dirty="0" smtClean="0"/>
              <a:t>• </a:t>
            </a:r>
            <a:r>
              <a:rPr lang="ko-KR" altLang="en-US" sz="1600" dirty="0" err="1" smtClean="0"/>
              <a:t>에어리어</a:t>
            </a:r>
            <a:r>
              <a:rPr lang="ko-KR" altLang="en-US" sz="1600" dirty="0" smtClean="0"/>
              <a:t> 마다 이벤트를 품고 있으며</a:t>
            </a:r>
            <a:r>
              <a:rPr lang="en-US" altLang="ko-KR" sz="1600" dirty="0" smtClean="0"/>
              <a:t>, </a:t>
            </a:r>
            <a:r>
              <a:rPr lang="ko-KR" altLang="en-US" sz="1600" dirty="0" smtClean="0"/>
              <a:t>재생성 시 일부 </a:t>
            </a:r>
            <a:r>
              <a:rPr lang="ko-KR" altLang="en-US" sz="1600" dirty="0" err="1" smtClean="0"/>
              <a:t>에어리어를</a:t>
            </a:r>
            <a:r>
              <a:rPr lang="ko-KR" altLang="en-US" sz="1600" dirty="0" smtClean="0"/>
              <a:t> 제외하고 무작위로 변경된다</a:t>
            </a:r>
            <a:r>
              <a:rPr lang="en-US" altLang="ko-KR" sz="1600" dirty="0" smtClean="0"/>
              <a:t>.</a:t>
            </a:r>
            <a:br>
              <a:rPr lang="en-US" altLang="ko-KR" sz="1600" dirty="0" smtClean="0"/>
            </a:br>
            <a:r>
              <a:rPr lang="en-US" altLang="ko-KR" sz="1600" dirty="0" smtClean="0"/>
              <a:t>• </a:t>
            </a:r>
            <a:r>
              <a:rPr lang="ko-KR" altLang="en-US" sz="1600" dirty="0" smtClean="0"/>
              <a:t>서로 다른 계층을 잇는 길에 연결된 </a:t>
            </a:r>
            <a:r>
              <a:rPr lang="ko-KR" altLang="en-US" sz="1600" dirty="0" err="1" smtClean="0"/>
              <a:t>에어리어는</a:t>
            </a:r>
            <a:r>
              <a:rPr lang="ko-KR" altLang="en-US" sz="1600" dirty="0" smtClean="0"/>
              <a:t> 전투 이벤트를 가지고있다</a:t>
            </a:r>
            <a:r>
              <a:rPr lang="en-US" altLang="ko-KR" sz="1600" dirty="0" smtClean="0"/>
              <a:t>.</a:t>
            </a:r>
            <a:endParaRPr lang="en-US" altLang="ko-KR" sz="1600" dirty="0" smtClean="0"/>
          </a:p>
          <a:p>
            <a:pPr>
              <a:lnSpc>
                <a:spcPct val="150000"/>
              </a:lnSpc>
            </a:pPr>
            <a:r>
              <a:rPr lang="en-US" altLang="ko-KR" sz="1600" dirty="0" smtClean="0"/>
              <a:t>• </a:t>
            </a:r>
            <a:r>
              <a:rPr lang="ko-KR" altLang="en-US" sz="1600" dirty="0" smtClean="0"/>
              <a:t>캐릭터 사망으로 인한 맵 재설정에 영향을 받지 않음</a:t>
            </a:r>
            <a:endParaRPr lang="en-US" altLang="ko-KR" sz="1600" dirty="0" smtClean="0"/>
          </a:p>
        </p:txBody>
      </p:sp>
      <p:sp>
        <p:nvSpPr>
          <p:cNvPr id="106" name="곱셈 기호 105"/>
          <p:cNvSpPr/>
          <p:nvPr/>
        </p:nvSpPr>
        <p:spPr>
          <a:xfrm>
            <a:off x="2224597" y="-304210"/>
            <a:ext cx="9129203" cy="7238034"/>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81649510"/>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327739" y="2343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맵 디자인 규칙</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35</a:t>
            </a:fld>
            <a:endParaRPr lang="ko-KR" altLang="en-US" sz="1800" dirty="0"/>
          </a:p>
        </p:txBody>
      </p:sp>
      <p:sp>
        <p:nvSpPr>
          <p:cNvPr id="7" name="타원 6"/>
          <p:cNvSpPr/>
          <p:nvPr/>
        </p:nvSpPr>
        <p:spPr>
          <a:xfrm>
            <a:off x="2280935"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3" name="타원 12"/>
          <p:cNvSpPr/>
          <p:nvPr/>
        </p:nvSpPr>
        <p:spPr>
          <a:xfrm>
            <a:off x="2286428"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4" name="타원 13"/>
          <p:cNvSpPr/>
          <p:nvPr/>
        </p:nvSpPr>
        <p:spPr>
          <a:xfrm>
            <a:off x="2286429"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15" name="타원 14"/>
          <p:cNvSpPr/>
          <p:nvPr/>
        </p:nvSpPr>
        <p:spPr>
          <a:xfrm>
            <a:off x="2287232"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2" name="타원 21"/>
          <p:cNvSpPr/>
          <p:nvPr/>
        </p:nvSpPr>
        <p:spPr>
          <a:xfrm>
            <a:off x="2279278"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3" name="타원 22"/>
          <p:cNvSpPr/>
          <p:nvPr/>
        </p:nvSpPr>
        <p:spPr>
          <a:xfrm>
            <a:off x="2279279"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24" name="타원 23"/>
          <p:cNvSpPr/>
          <p:nvPr/>
        </p:nvSpPr>
        <p:spPr>
          <a:xfrm>
            <a:off x="2280082"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7" name="타원 36"/>
          <p:cNvSpPr/>
          <p:nvPr/>
        </p:nvSpPr>
        <p:spPr>
          <a:xfrm>
            <a:off x="3316359"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8" name="타원 37"/>
          <p:cNvSpPr/>
          <p:nvPr/>
        </p:nvSpPr>
        <p:spPr>
          <a:xfrm>
            <a:off x="3321852"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39" name="타원 38"/>
          <p:cNvSpPr/>
          <p:nvPr/>
        </p:nvSpPr>
        <p:spPr>
          <a:xfrm>
            <a:off x="3321853"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0" name="타원 39"/>
          <p:cNvSpPr/>
          <p:nvPr/>
        </p:nvSpPr>
        <p:spPr>
          <a:xfrm>
            <a:off x="3322656"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2" name="타원 41"/>
          <p:cNvSpPr/>
          <p:nvPr/>
        </p:nvSpPr>
        <p:spPr>
          <a:xfrm>
            <a:off x="3314702"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3" name="타원 42"/>
          <p:cNvSpPr/>
          <p:nvPr/>
        </p:nvSpPr>
        <p:spPr>
          <a:xfrm>
            <a:off x="3314703"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44" name="타원 43"/>
          <p:cNvSpPr/>
          <p:nvPr/>
        </p:nvSpPr>
        <p:spPr>
          <a:xfrm>
            <a:off x="3328953"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7" name="타원 56"/>
          <p:cNvSpPr/>
          <p:nvPr/>
        </p:nvSpPr>
        <p:spPr>
          <a:xfrm>
            <a:off x="540254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8" name="타원 57"/>
          <p:cNvSpPr/>
          <p:nvPr/>
        </p:nvSpPr>
        <p:spPr>
          <a:xfrm>
            <a:off x="540804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59" name="타원 58"/>
          <p:cNvSpPr/>
          <p:nvPr/>
        </p:nvSpPr>
        <p:spPr>
          <a:xfrm>
            <a:off x="5408041" y="203283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0" name="타원 59"/>
          <p:cNvSpPr/>
          <p:nvPr/>
        </p:nvSpPr>
        <p:spPr>
          <a:xfrm>
            <a:off x="5408844"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2" name="타원 61"/>
          <p:cNvSpPr/>
          <p:nvPr/>
        </p:nvSpPr>
        <p:spPr>
          <a:xfrm>
            <a:off x="540089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3" name="타원 62"/>
          <p:cNvSpPr/>
          <p:nvPr/>
        </p:nvSpPr>
        <p:spPr>
          <a:xfrm>
            <a:off x="5400891"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4" name="타원 63"/>
          <p:cNvSpPr/>
          <p:nvPr/>
        </p:nvSpPr>
        <p:spPr>
          <a:xfrm>
            <a:off x="5401694"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67" name="타원 66"/>
          <p:cNvSpPr/>
          <p:nvPr/>
        </p:nvSpPr>
        <p:spPr>
          <a:xfrm>
            <a:off x="6451417" y="360614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solidFill>
                <a:sysClr val="windowText" lastClr="000000"/>
              </a:solidFill>
            </a:endParaRPr>
          </a:p>
        </p:txBody>
      </p:sp>
      <p:sp>
        <p:nvSpPr>
          <p:cNvPr id="74" name="타원 73"/>
          <p:cNvSpPr/>
          <p:nvPr/>
        </p:nvSpPr>
        <p:spPr>
          <a:xfrm>
            <a:off x="6450564" y="43995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sp>
        <p:nvSpPr>
          <p:cNvPr id="134" name="직사각형 133"/>
          <p:cNvSpPr/>
          <p:nvPr/>
        </p:nvSpPr>
        <p:spPr>
          <a:xfrm>
            <a:off x="4195481" y="3394351"/>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5" name="직사각형 134"/>
          <p:cNvSpPr/>
          <p:nvPr/>
        </p:nvSpPr>
        <p:spPr>
          <a:xfrm>
            <a:off x="7346576" y="3380904"/>
            <a:ext cx="699247" cy="781370"/>
          </a:xfrm>
          <a:prstGeom prst="rect">
            <a:avLst/>
          </a:prstGeom>
          <a:solidFill>
            <a:schemeClr val="accent5">
              <a:lumMod val="7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중간</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sp>
        <p:nvSpPr>
          <p:cNvPr id="136" name="직사각형 135"/>
          <p:cNvSpPr/>
          <p:nvPr/>
        </p:nvSpPr>
        <p:spPr>
          <a:xfrm>
            <a:off x="10765240" y="3380903"/>
            <a:ext cx="699247" cy="781371"/>
          </a:xfrm>
          <a:prstGeom prst="rect">
            <a:avLst/>
          </a:prstGeom>
          <a:solidFill>
            <a:srgbClr val="C00000"/>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bg1"/>
                </a:solidFill>
              </a:rPr>
              <a:t>최종</a:t>
            </a:r>
            <a:endParaRPr lang="en-US" altLang="ko-KR" dirty="0" smtClean="0">
              <a:solidFill>
                <a:schemeClr val="bg1"/>
              </a:solidFill>
            </a:endParaRPr>
          </a:p>
          <a:p>
            <a:pPr algn="ctr"/>
            <a:r>
              <a:rPr lang="ko-KR" altLang="en-US" dirty="0" smtClean="0">
                <a:solidFill>
                  <a:schemeClr val="bg1"/>
                </a:solidFill>
              </a:rPr>
              <a:t>보</a:t>
            </a:r>
            <a:r>
              <a:rPr lang="ko-KR" altLang="en-US" dirty="0">
                <a:solidFill>
                  <a:schemeClr val="bg1"/>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80" name="TextBox 79"/>
          <p:cNvSpPr txBox="1"/>
          <p:nvPr/>
        </p:nvSpPr>
        <p:spPr>
          <a:xfrm>
            <a:off x="2023967"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1" name="TextBox 80"/>
          <p:cNvSpPr txBox="1"/>
          <p:nvPr/>
        </p:nvSpPr>
        <p:spPr>
          <a:xfrm>
            <a:off x="3078714"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TextBox 81"/>
          <p:cNvSpPr txBox="1"/>
          <p:nvPr/>
        </p:nvSpPr>
        <p:spPr>
          <a:xfrm>
            <a:off x="515940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3" name="TextBox 82"/>
          <p:cNvSpPr txBox="1"/>
          <p:nvPr/>
        </p:nvSpPr>
        <p:spPr>
          <a:xfrm>
            <a:off x="6208279"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4" name="TextBox 83"/>
          <p:cNvSpPr txBox="1"/>
          <p:nvPr/>
        </p:nvSpPr>
        <p:spPr>
          <a:xfrm>
            <a:off x="8301530"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5" name="TextBox 84"/>
          <p:cNvSpPr txBox="1"/>
          <p:nvPr/>
        </p:nvSpPr>
        <p:spPr>
          <a:xfrm>
            <a:off x="9337898" y="769801"/>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8</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6" name="TextBox 85"/>
          <p:cNvSpPr txBox="1"/>
          <p:nvPr/>
        </p:nvSpPr>
        <p:spPr>
          <a:xfrm>
            <a:off x="4122593" y="2990068"/>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1" name="TextBox 90"/>
          <p:cNvSpPr txBox="1"/>
          <p:nvPr/>
        </p:nvSpPr>
        <p:spPr>
          <a:xfrm>
            <a:off x="7271527" y="2973313"/>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6</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5" name="TextBox 94"/>
          <p:cNvSpPr txBox="1"/>
          <p:nvPr/>
        </p:nvSpPr>
        <p:spPr>
          <a:xfrm>
            <a:off x="10687739" y="2981557"/>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9</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6" name="TextBox 95"/>
          <p:cNvSpPr txBox="1"/>
          <p:nvPr/>
        </p:nvSpPr>
        <p:spPr>
          <a:xfrm>
            <a:off x="8900590" y="304142"/>
            <a:ext cx="3186882" cy="338554"/>
          </a:xfrm>
          <a:prstGeom prst="rect">
            <a:avLst/>
          </a:prstGeom>
          <a:noFill/>
        </p:spPr>
        <p:txBody>
          <a:bodyPr wrap="square" rtlCol="0">
            <a:spAutoFit/>
          </a:bodyPr>
          <a:lstStyle/>
          <a:p>
            <a:pPr algn="ct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계층은 차후 추가될 수 있습니다</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 name="모서리가 둥근 직사각형 1"/>
          <p:cNvSpPr/>
          <p:nvPr/>
        </p:nvSpPr>
        <p:spPr>
          <a:xfrm>
            <a:off x="10876211" y="5520884"/>
            <a:ext cx="967581" cy="629074"/>
          </a:xfrm>
          <a:prstGeom prst="roundRect">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chemeClr val="tx1"/>
                  </a:solidFill>
                </a:ln>
                <a:solidFill>
                  <a:sysClr val="windowText" lastClr="000000"/>
                </a:solidFill>
              </a:rPr>
              <a:t>파티</a:t>
            </a:r>
            <a:endParaRPr lang="ko-KR" altLang="en-US" sz="2000" dirty="0">
              <a:ln>
                <a:solidFill>
                  <a:schemeClr val="tx1"/>
                </a:solidFill>
              </a:ln>
              <a:solidFill>
                <a:sysClr val="windowText" lastClr="000000"/>
              </a:solidFill>
            </a:endParaRPr>
          </a:p>
        </p:txBody>
      </p:sp>
      <p:sp>
        <p:nvSpPr>
          <p:cNvPr id="79" name="TextBox 78"/>
          <p:cNvSpPr txBox="1"/>
          <p:nvPr/>
        </p:nvSpPr>
        <p:spPr>
          <a:xfrm>
            <a:off x="72571" y="250721"/>
            <a:ext cx="4255168"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맵 디자인 규칙</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926244903"/>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327739" y="234383"/>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맵 디자인 규칙</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36</a:t>
            </a:fld>
            <a:endParaRPr lang="ko-KR" altLang="en-US" sz="1800" dirty="0"/>
          </a:p>
        </p:txBody>
      </p:sp>
      <p:sp>
        <p:nvSpPr>
          <p:cNvPr id="79" name="TextBox 78"/>
          <p:cNvSpPr txBox="1"/>
          <p:nvPr/>
        </p:nvSpPr>
        <p:spPr>
          <a:xfrm>
            <a:off x="72571" y="250721"/>
            <a:ext cx="4255168"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맵 디자인 규칙</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1" name="TextBox 100"/>
          <p:cNvSpPr txBox="1"/>
          <p:nvPr/>
        </p:nvSpPr>
        <p:spPr>
          <a:xfrm>
            <a:off x="389468" y="1105085"/>
            <a:ext cx="11383432" cy="5216813"/>
          </a:xfrm>
          <a:prstGeom prst="rect">
            <a:avLst/>
          </a:prstGeom>
          <a:noFill/>
        </p:spPr>
        <p:txBody>
          <a:bodyPr wrap="square" rtlCol="0">
            <a:spAutoFit/>
          </a:bodyPr>
          <a:lstStyle/>
          <a:p>
            <a:pPr>
              <a:lnSpc>
                <a:spcPct val="150000"/>
              </a:lnSpc>
            </a:pPr>
            <a:r>
              <a:rPr lang="en-US" altLang="ko-KR" dirty="0"/>
              <a:t>• </a:t>
            </a:r>
            <a:r>
              <a:rPr lang="ko-KR" altLang="en-US" dirty="0" smtClean="0"/>
              <a:t>규칙 </a:t>
            </a:r>
            <a:r>
              <a:rPr lang="en-US" altLang="ko-KR" dirty="0" smtClean="0"/>
              <a:t>1 : </a:t>
            </a:r>
            <a:r>
              <a:rPr lang="ko-KR" altLang="en-US" dirty="0" smtClean="0"/>
              <a:t>고정 요소</a:t>
            </a:r>
            <a:endParaRPr lang="en-US" altLang="ko-KR" dirty="0" smtClean="0"/>
          </a:p>
          <a:p>
            <a:pPr>
              <a:lnSpc>
                <a:spcPct val="150000"/>
              </a:lnSpc>
            </a:pPr>
            <a:r>
              <a:rPr lang="en-US" altLang="ko-KR" dirty="0" smtClean="0"/>
              <a:t>- </a:t>
            </a:r>
            <a:r>
              <a:rPr lang="ko-KR" altLang="en-US" dirty="0" smtClean="0"/>
              <a:t>입구는 </a:t>
            </a:r>
            <a:r>
              <a:rPr lang="ko-KR" altLang="en-US" dirty="0" err="1" smtClean="0"/>
              <a:t>최좌측</a:t>
            </a:r>
            <a:r>
              <a:rPr lang="en-US" altLang="ko-KR" dirty="0" smtClean="0"/>
              <a:t>, </a:t>
            </a:r>
            <a:r>
              <a:rPr lang="ko-KR" altLang="en-US" dirty="0" err="1" smtClean="0"/>
              <a:t>최심부는</a:t>
            </a:r>
            <a:r>
              <a:rPr lang="ko-KR" altLang="en-US" dirty="0" smtClean="0"/>
              <a:t> </a:t>
            </a:r>
            <a:r>
              <a:rPr lang="ko-KR" altLang="en-US" dirty="0" err="1" smtClean="0"/>
              <a:t>최우측에</a:t>
            </a:r>
            <a:r>
              <a:rPr lang="ko-KR" altLang="en-US" dirty="0" smtClean="0"/>
              <a:t> 위치하며 길과 계층을 따라 선형적으로 연결되어 있다</a:t>
            </a:r>
            <a:r>
              <a:rPr lang="en-US" altLang="ko-KR" dirty="0" smtClean="0"/>
              <a:t>.</a:t>
            </a:r>
          </a:p>
          <a:p>
            <a:pPr>
              <a:lnSpc>
                <a:spcPct val="150000"/>
              </a:lnSpc>
            </a:pPr>
            <a:r>
              <a:rPr lang="en-US" altLang="ko-KR" dirty="0" smtClean="0"/>
              <a:t>- </a:t>
            </a:r>
            <a:r>
              <a:rPr lang="ko-KR" altLang="en-US" dirty="0" smtClean="0"/>
              <a:t>한 계층에서 다른 계층으로 이동할 수 있는 길은</a:t>
            </a:r>
            <a:r>
              <a:rPr lang="en-US" altLang="ko-KR" dirty="0" smtClean="0"/>
              <a:t>, </a:t>
            </a:r>
            <a:r>
              <a:rPr lang="ko-KR" altLang="en-US" dirty="0" smtClean="0"/>
              <a:t>계층 내 하나의 에어리어에만 존재한다</a:t>
            </a:r>
            <a:r>
              <a:rPr lang="en-US" altLang="ko-KR" dirty="0" smtClean="0"/>
              <a:t>.</a:t>
            </a:r>
          </a:p>
          <a:p>
            <a:pPr>
              <a:lnSpc>
                <a:spcPct val="150000"/>
              </a:lnSpc>
            </a:pPr>
            <a:r>
              <a:rPr lang="en-US" altLang="ko-KR" dirty="0" smtClean="0"/>
              <a:t>- </a:t>
            </a:r>
            <a:r>
              <a:rPr lang="ko-KR" altLang="en-US" dirty="0" smtClean="0"/>
              <a:t>입구</a:t>
            </a:r>
            <a:r>
              <a:rPr lang="en-US" altLang="ko-KR" dirty="0" smtClean="0"/>
              <a:t>, 3</a:t>
            </a:r>
            <a:r>
              <a:rPr lang="ko-KR" altLang="en-US" dirty="0" smtClean="0"/>
              <a:t>의 배수 계층</a:t>
            </a:r>
            <a:r>
              <a:rPr lang="en-US" altLang="ko-KR" dirty="0" smtClean="0"/>
              <a:t>(</a:t>
            </a:r>
            <a:r>
              <a:rPr lang="ko-KR" altLang="en-US" dirty="0" smtClean="0"/>
              <a:t>보스 </a:t>
            </a:r>
            <a:r>
              <a:rPr lang="ko-KR" altLang="en-US" dirty="0" err="1" smtClean="0"/>
              <a:t>에어리어</a:t>
            </a:r>
            <a:r>
              <a:rPr lang="en-US" altLang="ko-KR" dirty="0" smtClean="0"/>
              <a:t>)</a:t>
            </a:r>
            <a:r>
              <a:rPr lang="ko-KR" altLang="en-US" dirty="0" smtClean="0"/>
              <a:t>의 위치는 게임의 리셋과 상관없이 고정적이다</a:t>
            </a:r>
            <a:r>
              <a:rPr lang="en-US" altLang="ko-KR" dirty="0" smtClean="0"/>
              <a:t>.</a:t>
            </a:r>
          </a:p>
          <a:p>
            <a:pPr>
              <a:lnSpc>
                <a:spcPct val="150000"/>
              </a:lnSpc>
            </a:pPr>
            <a:r>
              <a:rPr lang="en-US" altLang="ko-KR" dirty="0" smtClean="0"/>
              <a:t>- 3</a:t>
            </a:r>
            <a:r>
              <a:rPr lang="ko-KR" altLang="en-US" dirty="0" smtClean="0"/>
              <a:t>의 배수 계층에는 보스 몬스터가 존재한다</a:t>
            </a:r>
            <a:r>
              <a:rPr lang="en-US" altLang="ko-KR" dirty="0" smtClean="0"/>
              <a:t>.</a:t>
            </a:r>
            <a:endParaRPr lang="en-US" altLang="ko-KR" dirty="0"/>
          </a:p>
          <a:p>
            <a:pPr>
              <a:lnSpc>
                <a:spcPct val="150000"/>
              </a:lnSpc>
            </a:pPr>
            <a:endParaRPr lang="en-US" altLang="ko-KR" dirty="0" smtClean="0"/>
          </a:p>
          <a:p>
            <a:pPr>
              <a:lnSpc>
                <a:spcPct val="150000"/>
              </a:lnSpc>
            </a:pPr>
            <a:r>
              <a:rPr lang="en-US" altLang="ko-KR" dirty="0" smtClean="0"/>
              <a:t>• </a:t>
            </a:r>
            <a:r>
              <a:rPr lang="ko-KR" altLang="en-US" dirty="0" smtClean="0"/>
              <a:t>규칙 </a:t>
            </a:r>
            <a:r>
              <a:rPr lang="en-US" altLang="ko-KR" dirty="0" smtClean="0"/>
              <a:t>2 : </a:t>
            </a:r>
            <a:endParaRPr lang="en-US" altLang="ko-KR" dirty="0" smtClean="0"/>
          </a:p>
          <a:p>
            <a:pPr>
              <a:lnSpc>
                <a:spcPct val="150000"/>
              </a:lnSpc>
            </a:pPr>
            <a:endParaRPr lang="en-US" altLang="ko-KR" sz="1200" dirty="0">
              <a:latin typeface="+mn-ea"/>
            </a:endParaRPr>
          </a:p>
          <a:p>
            <a:pPr>
              <a:lnSpc>
                <a:spcPct val="150000"/>
              </a:lnSpc>
            </a:pPr>
            <a:r>
              <a:rPr lang="en-US" altLang="ko-KR" dirty="0" smtClean="0"/>
              <a:t>• </a:t>
            </a:r>
            <a:r>
              <a:rPr lang="ko-KR" altLang="en-US" dirty="0" smtClean="0"/>
              <a:t>임의 저장과 불러오기가 불가능하며</a:t>
            </a:r>
            <a:r>
              <a:rPr lang="en-US" altLang="ko-KR" dirty="0" smtClean="0"/>
              <a:t>, </a:t>
            </a:r>
            <a:r>
              <a:rPr lang="ko-KR" altLang="en-US" dirty="0" smtClean="0"/>
              <a:t>캐릭터 사망 시</a:t>
            </a:r>
            <a:endParaRPr lang="en-US" altLang="ko-KR" dirty="0" smtClean="0"/>
          </a:p>
          <a:p>
            <a:pPr>
              <a:lnSpc>
                <a:spcPct val="150000"/>
              </a:lnSpc>
            </a:pPr>
            <a:r>
              <a:rPr lang="en-US" altLang="ko-KR" dirty="0"/>
              <a:t> </a:t>
            </a:r>
            <a:r>
              <a:rPr lang="ko-KR" altLang="en-US" dirty="0" smtClean="0"/>
              <a:t> 레벨</a:t>
            </a:r>
            <a:r>
              <a:rPr lang="en-US" altLang="ko-KR" dirty="0" smtClean="0"/>
              <a:t>, </a:t>
            </a:r>
            <a:r>
              <a:rPr lang="ko-KR" altLang="en-US" dirty="0" smtClean="0"/>
              <a:t>아이템 등의 데이터를 잃고 </a:t>
            </a:r>
            <a:r>
              <a:rPr lang="ko-KR" altLang="en-US" b="1" dirty="0" smtClean="0"/>
              <a:t>게임이 </a:t>
            </a:r>
            <a:r>
              <a:rPr lang="ko-KR" altLang="en-US" b="1" dirty="0" err="1" smtClean="0"/>
              <a:t>리셋</a:t>
            </a:r>
            <a:r>
              <a:rPr lang="ko-KR" altLang="en-US" dirty="0" err="1" smtClean="0"/>
              <a:t>됩니다</a:t>
            </a:r>
            <a:r>
              <a:rPr lang="en-US" altLang="ko-KR" dirty="0" smtClean="0"/>
              <a:t>.</a:t>
            </a:r>
          </a:p>
          <a:p>
            <a:pPr>
              <a:lnSpc>
                <a:spcPct val="150000"/>
              </a:lnSpc>
            </a:pPr>
            <a:endParaRPr lang="en-US" altLang="ko-KR" sz="1200" dirty="0"/>
          </a:p>
          <a:p>
            <a:pPr>
              <a:lnSpc>
                <a:spcPct val="150000"/>
              </a:lnSpc>
            </a:pPr>
            <a:r>
              <a:rPr lang="en-US" altLang="ko-KR" dirty="0" smtClean="0"/>
              <a:t>• </a:t>
            </a:r>
            <a:r>
              <a:rPr lang="ko-KR" altLang="en-US" dirty="0" smtClean="0"/>
              <a:t>접근성과 성취감을 높이고 </a:t>
            </a:r>
            <a:r>
              <a:rPr lang="ko-KR" altLang="en-US" dirty="0" err="1" smtClean="0"/>
              <a:t>다회차</a:t>
            </a:r>
            <a:r>
              <a:rPr lang="ko-KR" altLang="en-US" dirty="0" smtClean="0"/>
              <a:t> 플레이어의 형평성을</a:t>
            </a:r>
            <a:endParaRPr lang="en-US" altLang="ko-KR" dirty="0" smtClean="0"/>
          </a:p>
          <a:p>
            <a:pPr>
              <a:lnSpc>
                <a:spcPct val="150000"/>
              </a:lnSpc>
            </a:pPr>
            <a:r>
              <a:rPr lang="en-US" altLang="ko-KR" dirty="0"/>
              <a:t> </a:t>
            </a:r>
            <a:r>
              <a:rPr lang="ko-KR" altLang="en-US" dirty="0" smtClean="0"/>
              <a:t> 위해</a:t>
            </a:r>
            <a:r>
              <a:rPr lang="en-US" altLang="ko-KR" dirty="0" smtClean="0"/>
              <a:t>, </a:t>
            </a:r>
            <a:r>
              <a:rPr lang="ko-KR" altLang="en-US" dirty="0" smtClean="0"/>
              <a:t>사망해도 </a:t>
            </a:r>
            <a:r>
              <a:rPr lang="ko-KR" altLang="en-US" b="1" dirty="0" smtClean="0"/>
              <a:t>잃지 않는 데이터가</a:t>
            </a:r>
            <a:r>
              <a:rPr lang="en-US" altLang="ko-KR" b="1" dirty="0" smtClean="0"/>
              <a:t> </a:t>
            </a:r>
            <a:r>
              <a:rPr lang="ko-KR" altLang="en-US" dirty="0" smtClean="0"/>
              <a:t>존재합니다</a:t>
            </a:r>
            <a:r>
              <a:rPr lang="en-US" altLang="ko-KR" dirty="0" smtClean="0"/>
              <a:t>.</a:t>
            </a:r>
            <a:endParaRPr lang="en-US" altLang="ko-KR" dirty="0"/>
          </a:p>
        </p:txBody>
      </p:sp>
    </p:spTree>
    <p:extLst>
      <p:ext uri="{BB962C8B-B14F-4D97-AF65-F5344CB8AC3E}">
        <p14:creationId xmlns:p14="http://schemas.microsoft.com/office/powerpoint/2010/main" val="858444532"/>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7" name="직선 연결선 136"/>
          <p:cNvCxnSpPr/>
          <p:nvPr/>
        </p:nvCxnSpPr>
        <p:spPr>
          <a:xfrm flipH="1">
            <a:off x="5576934" y="1562193"/>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직선 연결선 137"/>
          <p:cNvCxnSpPr/>
          <p:nvPr/>
        </p:nvCxnSpPr>
        <p:spPr>
          <a:xfrm flipH="1">
            <a:off x="6626184"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직선 연결선 138"/>
          <p:cNvCxnSpPr/>
          <p:nvPr/>
        </p:nvCxnSpPr>
        <p:spPr>
          <a:xfrm flipH="1">
            <a:off x="870958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직선 연결선 139"/>
          <p:cNvCxnSpPr/>
          <p:nvPr/>
        </p:nvCxnSpPr>
        <p:spPr>
          <a:xfrm flipH="1">
            <a:off x="9758453" y="1589087"/>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직선 연결선 130"/>
          <p:cNvCxnSpPr>
            <a:stCxn id="40" idx="4"/>
            <a:endCxn id="42" idx="0"/>
          </p:cNvCxnSpPr>
          <p:nvPr/>
        </p:nvCxnSpPr>
        <p:spPr>
          <a:xfrm flipH="1">
            <a:off x="3496238" y="1575640"/>
            <a:ext cx="7954" cy="43971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직선 연결선 129"/>
          <p:cNvCxnSpPr/>
          <p:nvPr/>
        </p:nvCxnSpPr>
        <p:spPr>
          <a:xfrm flipH="1">
            <a:off x="2460814" y="1589087"/>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37</a:t>
            </a:fld>
            <a:endParaRPr lang="ko-KR" altLang="en-US" sz="1800" dirty="0"/>
          </a:p>
        </p:txBody>
      </p:sp>
      <p:sp>
        <p:nvSpPr>
          <p:cNvPr id="7" name="타원 6"/>
          <p:cNvSpPr/>
          <p:nvPr/>
        </p:nvSpPr>
        <p:spPr>
          <a:xfrm>
            <a:off x="2280935"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타원 12"/>
          <p:cNvSpPr/>
          <p:nvPr/>
        </p:nvSpPr>
        <p:spPr>
          <a:xfrm>
            <a:off x="2286428"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타원 13"/>
          <p:cNvSpPr/>
          <p:nvPr/>
        </p:nvSpPr>
        <p:spPr>
          <a:xfrm>
            <a:off x="2286429" y="20193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타원 14"/>
          <p:cNvSpPr/>
          <p:nvPr/>
        </p:nvSpPr>
        <p:spPr>
          <a:xfrm>
            <a:off x="2287232" y="1239463"/>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a:off x="2279278" y="595937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타원 22"/>
          <p:cNvSpPr/>
          <p:nvPr/>
        </p:nvSpPr>
        <p:spPr>
          <a:xfrm>
            <a:off x="2279279" y="51794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타원 23"/>
          <p:cNvSpPr/>
          <p:nvPr/>
        </p:nvSpPr>
        <p:spPr>
          <a:xfrm>
            <a:off x="2280082"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7" name="타원 36"/>
          <p:cNvSpPr/>
          <p:nvPr/>
        </p:nvSpPr>
        <p:spPr>
          <a:xfrm>
            <a:off x="3316359"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8" name="타원 37"/>
          <p:cNvSpPr/>
          <p:nvPr/>
        </p:nvSpPr>
        <p:spPr>
          <a:xfrm>
            <a:off x="3321852"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9" name="타원 38"/>
          <p:cNvSpPr/>
          <p:nvPr/>
        </p:nvSpPr>
        <p:spPr>
          <a:xfrm>
            <a:off x="3321853" y="20059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타원 39"/>
          <p:cNvSpPr/>
          <p:nvPr/>
        </p:nvSpPr>
        <p:spPr>
          <a:xfrm>
            <a:off x="3322656" y="1226016"/>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타원 41"/>
          <p:cNvSpPr/>
          <p:nvPr/>
        </p:nvSpPr>
        <p:spPr>
          <a:xfrm>
            <a:off x="3314702" y="597281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타원 42"/>
          <p:cNvSpPr/>
          <p:nvPr/>
        </p:nvSpPr>
        <p:spPr>
          <a:xfrm>
            <a:off x="3314703" y="51794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4" name="타원 43"/>
          <p:cNvSpPr/>
          <p:nvPr/>
        </p:nvSpPr>
        <p:spPr>
          <a:xfrm>
            <a:off x="3328953"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타원 56"/>
          <p:cNvSpPr/>
          <p:nvPr/>
        </p:nvSpPr>
        <p:spPr>
          <a:xfrm>
            <a:off x="5402547" y="360614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타원 57"/>
          <p:cNvSpPr/>
          <p:nvPr/>
        </p:nvSpPr>
        <p:spPr>
          <a:xfrm>
            <a:off x="5408040"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타원 58"/>
          <p:cNvSpPr/>
          <p:nvPr/>
        </p:nvSpPr>
        <p:spPr>
          <a:xfrm>
            <a:off x="5408041" y="203283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0" name="타원 59"/>
          <p:cNvSpPr/>
          <p:nvPr/>
        </p:nvSpPr>
        <p:spPr>
          <a:xfrm>
            <a:off x="5408844" y="1226016"/>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2" name="타원 61"/>
          <p:cNvSpPr/>
          <p:nvPr/>
        </p:nvSpPr>
        <p:spPr>
          <a:xfrm>
            <a:off x="5400890" y="597281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3" name="타원 62"/>
          <p:cNvSpPr/>
          <p:nvPr/>
        </p:nvSpPr>
        <p:spPr>
          <a:xfrm>
            <a:off x="5400891" y="51794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4" name="타원 63"/>
          <p:cNvSpPr/>
          <p:nvPr/>
        </p:nvSpPr>
        <p:spPr>
          <a:xfrm>
            <a:off x="5401694"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7" name="타원 66"/>
          <p:cNvSpPr/>
          <p:nvPr/>
        </p:nvSpPr>
        <p:spPr>
          <a:xfrm>
            <a:off x="6451417" y="360614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8" name="타원 67"/>
          <p:cNvSpPr/>
          <p:nvPr/>
        </p:nvSpPr>
        <p:spPr>
          <a:xfrm>
            <a:off x="6456910"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9" name="타원 68"/>
          <p:cNvSpPr/>
          <p:nvPr/>
        </p:nvSpPr>
        <p:spPr>
          <a:xfrm>
            <a:off x="6456911" y="20193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0" name="타원 69"/>
          <p:cNvSpPr/>
          <p:nvPr/>
        </p:nvSpPr>
        <p:spPr>
          <a:xfrm>
            <a:off x="6457714" y="1239463"/>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2" name="타원 71"/>
          <p:cNvSpPr/>
          <p:nvPr/>
        </p:nvSpPr>
        <p:spPr>
          <a:xfrm>
            <a:off x="6449760" y="597281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3" name="타원 72"/>
          <p:cNvSpPr/>
          <p:nvPr/>
        </p:nvSpPr>
        <p:spPr>
          <a:xfrm>
            <a:off x="6449761" y="519289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4" name="타원 73"/>
          <p:cNvSpPr/>
          <p:nvPr/>
        </p:nvSpPr>
        <p:spPr>
          <a:xfrm>
            <a:off x="6450564" y="4399516"/>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타원 86"/>
          <p:cNvSpPr/>
          <p:nvPr/>
        </p:nvSpPr>
        <p:spPr>
          <a:xfrm>
            <a:off x="8539175" y="3597957"/>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타원 87"/>
          <p:cNvSpPr/>
          <p:nvPr/>
        </p:nvSpPr>
        <p:spPr>
          <a:xfrm>
            <a:off x="8544668" y="280458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타원 88"/>
          <p:cNvSpPr/>
          <p:nvPr/>
        </p:nvSpPr>
        <p:spPr>
          <a:xfrm>
            <a:off x="8544669" y="2011207"/>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 name="타원 89"/>
          <p:cNvSpPr/>
          <p:nvPr/>
        </p:nvSpPr>
        <p:spPr>
          <a:xfrm>
            <a:off x="8545472" y="1217832"/>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2" name="타원 91"/>
          <p:cNvSpPr/>
          <p:nvPr/>
        </p:nvSpPr>
        <p:spPr>
          <a:xfrm>
            <a:off x="8537518" y="596463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타원 92"/>
          <p:cNvSpPr/>
          <p:nvPr/>
        </p:nvSpPr>
        <p:spPr>
          <a:xfrm>
            <a:off x="8537519" y="5171260"/>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4" name="타원 93"/>
          <p:cNvSpPr/>
          <p:nvPr/>
        </p:nvSpPr>
        <p:spPr>
          <a:xfrm>
            <a:off x="8538322" y="4391332"/>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타원 96"/>
          <p:cNvSpPr/>
          <p:nvPr/>
        </p:nvSpPr>
        <p:spPr>
          <a:xfrm>
            <a:off x="9574598" y="359269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타원 97"/>
          <p:cNvSpPr/>
          <p:nvPr/>
        </p:nvSpPr>
        <p:spPr>
          <a:xfrm>
            <a:off x="9580091" y="281276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타원 98"/>
          <p:cNvSpPr/>
          <p:nvPr/>
        </p:nvSpPr>
        <p:spPr>
          <a:xfrm>
            <a:off x="9580092" y="20059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타원 99"/>
          <p:cNvSpPr/>
          <p:nvPr/>
        </p:nvSpPr>
        <p:spPr>
          <a:xfrm>
            <a:off x="9580895" y="1226016"/>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2" name="타원 101"/>
          <p:cNvSpPr/>
          <p:nvPr/>
        </p:nvSpPr>
        <p:spPr>
          <a:xfrm>
            <a:off x="9572941" y="5959371"/>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3" name="타원 102"/>
          <p:cNvSpPr/>
          <p:nvPr/>
        </p:nvSpPr>
        <p:spPr>
          <a:xfrm>
            <a:off x="9572942" y="5179444"/>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4" name="타원 103"/>
          <p:cNvSpPr/>
          <p:nvPr/>
        </p:nvSpPr>
        <p:spPr>
          <a:xfrm>
            <a:off x="9573745" y="438606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이등변 삼각형 8"/>
          <p:cNvSpPr/>
          <p:nvPr/>
        </p:nvSpPr>
        <p:spPr>
          <a:xfrm rot="5400000">
            <a:off x="656503" y="3395310"/>
            <a:ext cx="999883" cy="730944"/>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ko-KR" altLang="en-US" dirty="0" smtClean="0">
                <a:solidFill>
                  <a:schemeClr val="tx1"/>
                </a:solidFill>
              </a:rPr>
              <a:t>입</a:t>
            </a:r>
            <a:r>
              <a:rPr lang="ko-KR" altLang="en-US" dirty="0">
                <a:solidFill>
                  <a:schemeClr val="tx1"/>
                </a:solidFill>
              </a:rPr>
              <a:t>구</a:t>
            </a:r>
          </a:p>
        </p:txBody>
      </p:sp>
      <p:grpSp>
        <p:nvGrpSpPr>
          <p:cNvPr id="111" name="그룹 110"/>
          <p:cNvGrpSpPr/>
          <p:nvPr/>
        </p:nvGrpSpPr>
        <p:grpSpPr>
          <a:xfrm>
            <a:off x="10407884" y="346837"/>
            <a:ext cx="1641552" cy="389965"/>
            <a:chOff x="516703" y="972856"/>
            <a:chExt cx="1641552" cy="389965"/>
          </a:xfrm>
        </p:grpSpPr>
        <p:sp>
          <p:nvSpPr>
            <p:cNvPr id="109" name="타원 108"/>
            <p:cNvSpPr/>
            <p:nvPr/>
          </p:nvSpPr>
          <p:spPr>
            <a:xfrm>
              <a:off x="516703" y="1013197"/>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0" name="TextBox 109"/>
            <p:cNvSpPr txBox="1"/>
            <p:nvPr/>
          </p:nvSpPr>
          <p:spPr>
            <a:xfrm>
              <a:off x="874059" y="972856"/>
              <a:ext cx="1284196" cy="369332"/>
            </a:xfrm>
            <a:prstGeom prst="rect">
              <a:avLst/>
            </a:prstGeom>
            <a:noFill/>
          </p:spPr>
          <p:txBody>
            <a:bodyPr wrap="square" rtlCol="0">
              <a:spAutoFit/>
            </a:bodyPr>
            <a:lstStyle/>
            <a:p>
              <a:r>
                <a:rPr lang="en-US" altLang="ko-KR" dirty="0" smtClean="0"/>
                <a:t>: </a:t>
              </a:r>
              <a:r>
                <a:rPr lang="ko-KR" altLang="en-US" dirty="0" err="1" smtClean="0"/>
                <a:t>에어리어</a:t>
              </a:r>
              <a:endParaRPr lang="ko-KR" altLang="en-US" dirty="0"/>
            </a:p>
          </p:txBody>
        </p:sp>
      </p:grpSp>
      <p:sp>
        <p:nvSpPr>
          <p:cNvPr id="134" name="직사각형 133"/>
          <p:cNvSpPr/>
          <p:nvPr/>
        </p:nvSpPr>
        <p:spPr>
          <a:xfrm>
            <a:off x="4195481" y="3394351"/>
            <a:ext cx="699247" cy="781370"/>
          </a:xfrm>
          <a:prstGeom prst="rect">
            <a:avLst/>
          </a:prstGeom>
          <a:solidFill>
            <a:schemeClr val="bg1"/>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ysClr val="windowText" lastClr="000000"/>
                </a:solidFill>
              </a:rPr>
              <a:t>중간</a:t>
            </a:r>
            <a:endParaRPr lang="en-US" altLang="ko-KR" dirty="0" smtClean="0">
              <a:solidFill>
                <a:sysClr val="windowText" lastClr="000000"/>
              </a:solidFill>
            </a:endParaRPr>
          </a:p>
          <a:p>
            <a:pPr algn="ctr"/>
            <a:r>
              <a:rPr lang="ko-KR" altLang="en-US" dirty="0" smtClean="0">
                <a:solidFill>
                  <a:sysClr val="windowText" lastClr="000000"/>
                </a:solidFill>
              </a:rPr>
              <a:t>보</a:t>
            </a:r>
            <a:r>
              <a:rPr lang="ko-KR" altLang="en-US" dirty="0">
                <a:solidFill>
                  <a:sysClr val="windowText" lastClr="000000"/>
                </a:solidFill>
              </a:rPr>
              <a:t>스</a:t>
            </a:r>
          </a:p>
        </p:txBody>
      </p:sp>
      <p:sp>
        <p:nvSpPr>
          <p:cNvPr id="135" name="직사각형 134"/>
          <p:cNvSpPr/>
          <p:nvPr/>
        </p:nvSpPr>
        <p:spPr>
          <a:xfrm>
            <a:off x="7346576" y="3380904"/>
            <a:ext cx="699247" cy="781370"/>
          </a:xfrm>
          <a:prstGeom prst="rect">
            <a:avLst/>
          </a:prstGeom>
          <a:solidFill>
            <a:schemeClr val="bg1"/>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ysClr val="windowText" lastClr="000000"/>
                </a:solidFill>
              </a:rPr>
              <a:t>중간</a:t>
            </a:r>
            <a:endParaRPr lang="en-US" altLang="ko-KR" dirty="0" smtClean="0">
              <a:solidFill>
                <a:sysClr val="windowText" lastClr="000000"/>
              </a:solidFill>
            </a:endParaRPr>
          </a:p>
          <a:p>
            <a:pPr algn="ctr"/>
            <a:r>
              <a:rPr lang="ko-KR" altLang="en-US" dirty="0" smtClean="0">
                <a:solidFill>
                  <a:sysClr val="windowText" lastClr="000000"/>
                </a:solidFill>
              </a:rPr>
              <a:t>보</a:t>
            </a:r>
            <a:r>
              <a:rPr lang="ko-KR" altLang="en-US" dirty="0">
                <a:solidFill>
                  <a:sysClr val="windowText" lastClr="000000"/>
                </a:solidFill>
              </a:rPr>
              <a:t>스</a:t>
            </a:r>
          </a:p>
        </p:txBody>
      </p:sp>
      <p:sp>
        <p:nvSpPr>
          <p:cNvPr id="136" name="직사각형 135"/>
          <p:cNvSpPr/>
          <p:nvPr/>
        </p:nvSpPr>
        <p:spPr>
          <a:xfrm>
            <a:off x="10765240" y="3380903"/>
            <a:ext cx="699247" cy="781371"/>
          </a:xfrm>
          <a:prstGeom prst="rect">
            <a:avLst/>
          </a:prstGeom>
          <a:solidFill>
            <a:schemeClr val="bg1"/>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ysClr val="windowText" lastClr="000000"/>
                </a:solidFill>
              </a:rPr>
              <a:t>최종</a:t>
            </a:r>
            <a:endParaRPr lang="en-US" altLang="ko-KR" dirty="0" smtClean="0">
              <a:solidFill>
                <a:sysClr val="windowText" lastClr="000000"/>
              </a:solidFill>
            </a:endParaRPr>
          </a:p>
          <a:p>
            <a:pPr algn="ctr"/>
            <a:r>
              <a:rPr lang="ko-KR" altLang="en-US" dirty="0" smtClean="0">
                <a:solidFill>
                  <a:sysClr val="windowText" lastClr="000000"/>
                </a:solidFill>
              </a:rPr>
              <a:t>보</a:t>
            </a:r>
            <a:r>
              <a:rPr lang="ko-KR" altLang="en-US" dirty="0">
                <a:solidFill>
                  <a:sysClr val="windowText" lastClr="000000"/>
                </a:solidFill>
              </a:rPr>
              <a:t>스</a:t>
            </a:r>
          </a:p>
        </p:txBody>
      </p:sp>
      <p:cxnSp>
        <p:nvCxnSpPr>
          <p:cNvPr id="142" name="직선 연결선 141"/>
          <p:cNvCxnSpPr>
            <a:stCxn id="14" idx="6"/>
            <a:endCxn id="38" idx="2"/>
          </p:cNvCxnSpPr>
          <p:nvPr/>
        </p:nvCxnSpPr>
        <p:spPr>
          <a:xfrm>
            <a:off x="2649500" y="2194203"/>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5" name="직선 연결선 144"/>
          <p:cNvCxnSpPr>
            <a:stCxn id="44" idx="6"/>
            <a:endCxn id="134" idx="1"/>
          </p:cNvCxnSpPr>
          <p:nvPr/>
        </p:nvCxnSpPr>
        <p:spPr>
          <a:xfrm flipV="1">
            <a:off x="3692024" y="3785036"/>
            <a:ext cx="503457" cy="77584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7" name="직선 연결선 146"/>
          <p:cNvCxnSpPr>
            <a:stCxn id="134" idx="3"/>
            <a:endCxn id="57" idx="2"/>
          </p:cNvCxnSpPr>
          <p:nvPr/>
        </p:nvCxnSpPr>
        <p:spPr>
          <a:xfrm flipV="1">
            <a:off x="4894728" y="3780953"/>
            <a:ext cx="507819"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48" name="직선 연결선 147"/>
          <p:cNvCxnSpPr>
            <a:endCxn id="73" idx="2"/>
          </p:cNvCxnSpPr>
          <p:nvPr/>
        </p:nvCxnSpPr>
        <p:spPr>
          <a:xfrm flipV="1">
            <a:off x="5763961" y="5367703"/>
            <a:ext cx="685800" cy="782255"/>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0" name="직선 연결선 149"/>
          <p:cNvCxnSpPr>
            <a:stCxn id="68" idx="6"/>
            <a:endCxn id="135" idx="1"/>
          </p:cNvCxnSpPr>
          <p:nvPr/>
        </p:nvCxnSpPr>
        <p:spPr>
          <a:xfrm>
            <a:off x="6819981" y="2987577"/>
            <a:ext cx="526595" cy="784012"/>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5" name="직선 연결선 154"/>
          <p:cNvCxnSpPr>
            <a:stCxn id="88" idx="2"/>
            <a:endCxn id="135" idx="3"/>
          </p:cNvCxnSpPr>
          <p:nvPr/>
        </p:nvCxnSpPr>
        <p:spPr>
          <a:xfrm flipH="1">
            <a:off x="8045823" y="2979393"/>
            <a:ext cx="498845" cy="792196"/>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58" name="직선 연결선 157"/>
          <p:cNvCxnSpPr>
            <a:stCxn id="104" idx="2"/>
            <a:endCxn id="94" idx="6"/>
          </p:cNvCxnSpPr>
          <p:nvPr/>
        </p:nvCxnSpPr>
        <p:spPr>
          <a:xfrm flipH="1">
            <a:off x="8901393" y="4560881"/>
            <a:ext cx="672352" cy="526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1" name="직선 연결선 160"/>
          <p:cNvCxnSpPr>
            <a:stCxn id="136" idx="1"/>
            <a:endCxn id="97" idx="6"/>
          </p:cNvCxnSpPr>
          <p:nvPr/>
        </p:nvCxnSpPr>
        <p:spPr>
          <a:xfrm flipH="1" flipV="1">
            <a:off x="9937669" y="3767506"/>
            <a:ext cx="827571" cy="4083"/>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stCxn id="9" idx="0"/>
            <a:endCxn id="24" idx="2"/>
          </p:cNvCxnSpPr>
          <p:nvPr/>
        </p:nvCxnSpPr>
        <p:spPr>
          <a:xfrm>
            <a:off x="1521917" y="3760783"/>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71" name="직선 화살표 연결선 70"/>
          <p:cNvCxnSpPr/>
          <p:nvPr/>
        </p:nvCxnSpPr>
        <p:spPr>
          <a:xfrm>
            <a:off x="1521917" y="3942318"/>
            <a:ext cx="757361" cy="79337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5" name="직선 화살표 연결선 74"/>
          <p:cNvCxnSpPr/>
          <p:nvPr/>
        </p:nvCxnSpPr>
        <p:spPr>
          <a:xfrm flipH="1" flipV="1">
            <a:off x="2705753" y="2422643"/>
            <a:ext cx="104682" cy="2081958"/>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6" name="직선 화살표 연결선 75"/>
          <p:cNvCxnSpPr/>
          <p:nvPr/>
        </p:nvCxnSpPr>
        <p:spPr>
          <a:xfrm>
            <a:off x="2606995" y="1958880"/>
            <a:ext cx="757361" cy="79337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7" name="직선 화살표 연결선 76"/>
          <p:cNvCxnSpPr/>
          <p:nvPr/>
        </p:nvCxnSpPr>
        <p:spPr>
          <a:xfrm>
            <a:off x="3747969" y="2961121"/>
            <a:ext cx="14251" cy="146053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8" name="직선 화살표 연결선 77"/>
          <p:cNvCxnSpPr/>
          <p:nvPr/>
        </p:nvCxnSpPr>
        <p:spPr>
          <a:xfrm flipV="1">
            <a:off x="3621384" y="4176696"/>
            <a:ext cx="466522" cy="795264"/>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직선 화살표 연결선 78"/>
          <p:cNvCxnSpPr/>
          <p:nvPr/>
        </p:nvCxnSpPr>
        <p:spPr>
          <a:xfrm>
            <a:off x="4942322" y="3677956"/>
            <a:ext cx="466522" cy="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80" name="직선 화살표 연결선 79"/>
          <p:cNvCxnSpPr/>
          <p:nvPr/>
        </p:nvCxnSpPr>
        <p:spPr>
          <a:xfrm flipV="1">
            <a:off x="5252976" y="1694329"/>
            <a:ext cx="155064" cy="185802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81" name="직선 화살표 연결선 80"/>
          <p:cNvCxnSpPr/>
          <p:nvPr/>
        </p:nvCxnSpPr>
        <p:spPr>
          <a:xfrm>
            <a:off x="5875515" y="1360487"/>
            <a:ext cx="0" cy="458460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82" name="직선 화살표 연결선 81"/>
          <p:cNvCxnSpPr/>
          <p:nvPr/>
        </p:nvCxnSpPr>
        <p:spPr>
          <a:xfrm flipV="1">
            <a:off x="5862737" y="5542516"/>
            <a:ext cx="594173" cy="766479"/>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83" name="직선 화살표 연결선 82"/>
          <p:cNvCxnSpPr/>
          <p:nvPr/>
        </p:nvCxnSpPr>
        <p:spPr>
          <a:xfrm flipV="1">
            <a:off x="6369078" y="3154206"/>
            <a:ext cx="0" cy="203868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85" name="직선 화살표 연결선 84"/>
          <p:cNvCxnSpPr/>
          <p:nvPr/>
        </p:nvCxnSpPr>
        <p:spPr>
          <a:xfrm>
            <a:off x="6820785" y="2752256"/>
            <a:ext cx="525791" cy="711366"/>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91" name="직선 화살표 연결선 90"/>
          <p:cNvCxnSpPr/>
          <p:nvPr/>
        </p:nvCxnSpPr>
        <p:spPr>
          <a:xfrm flipV="1">
            <a:off x="8045823" y="2812765"/>
            <a:ext cx="491695" cy="650857"/>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95" name="직선 화살표 연결선 94"/>
          <p:cNvCxnSpPr/>
          <p:nvPr/>
        </p:nvCxnSpPr>
        <p:spPr>
          <a:xfrm>
            <a:off x="8991721" y="2961121"/>
            <a:ext cx="0" cy="146053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01" name="직선 화살표 연결선 100"/>
          <p:cNvCxnSpPr/>
          <p:nvPr/>
        </p:nvCxnSpPr>
        <p:spPr>
          <a:xfrm>
            <a:off x="8908543" y="4733620"/>
            <a:ext cx="664398" cy="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05" name="직선 화살표 연결선 104"/>
          <p:cNvCxnSpPr/>
          <p:nvPr/>
        </p:nvCxnSpPr>
        <p:spPr>
          <a:xfrm>
            <a:off x="9519835" y="4971960"/>
            <a:ext cx="53106" cy="953795"/>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06" name="직선 화살표 연결선 105"/>
          <p:cNvCxnSpPr/>
          <p:nvPr/>
        </p:nvCxnSpPr>
        <p:spPr>
          <a:xfrm flipH="1" flipV="1">
            <a:off x="9943966" y="3955766"/>
            <a:ext cx="151174" cy="2030499"/>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3" name="직선 화살표 연결선 112"/>
          <p:cNvCxnSpPr/>
          <p:nvPr/>
        </p:nvCxnSpPr>
        <p:spPr>
          <a:xfrm>
            <a:off x="10019553" y="3652787"/>
            <a:ext cx="664398" cy="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grpSp>
        <p:nvGrpSpPr>
          <p:cNvPr id="2" name="그룹 1"/>
          <p:cNvGrpSpPr/>
          <p:nvPr/>
        </p:nvGrpSpPr>
        <p:grpSpPr>
          <a:xfrm>
            <a:off x="10374267" y="802896"/>
            <a:ext cx="1943240" cy="369332"/>
            <a:chOff x="10374267" y="802896"/>
            <a:chExt cx="1943240" cy="369332"/>
          </a:xfrm>
        </p:grpSpPr>
        <p:cxnSp>
          <p:nvCxnSpPr>
            <p:cNvPr id="114" name="직선 화살표 연결선 113"/>
            <p:cNvCxnSpPr/>
            <p:nvPr/>
          </p:nvCxnSpPr>
          <p:spPr>
            <a:xfrm>
              <a:off x="10374267" y="1000346"/>
              <a:ext cx="387986" cy="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15" name="TextBox 114"/>
            <p:cNvSpPr txBox="1"/>
            <p:nvPr/>
          </p:nvSpPr>
          <p:spPr>
            <a:xfrm>
              <a:off x="10762253" y="802896"/>
              <a:ext cx="1555254" cy="369332"/>
            </a:xfrm>
            <a:prstGeom prst="rect">
              <a:avLst/>
            </a:prstGeom>
            <a:noFill/>
          </p:spPr>
          <p:txBody>
            <a:bodyPr wrap="square" rtlCol="0">
              <a:spAutoFit/>
            </a:bodyPr>
            <a:lstStyle/>
            <a:p>
              <a:r>
                <a:rPr lang="en-US" altLang="ko-KR" dirty="0" smtClean="0"/>
                <a:t>: </a:t>
              </a:r>
              <a:r>
                <a:rPr lang="ko-KR" altLang="en-US" dirty="0" smtClean="0"/>
                <a:t>예상 경로</a:t>
              </a:r>
              <a:endParaRPr lang="ko-KR" altLang="en-US" dirty="0"/>
            </a:p>
          </p:txBody>
        </p:sp>
      </p:grpSp>
      <p:sp>
        <p:nvSpPr>
          <p:cNvPr id="107" name="TextBox 106"/>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6" name="TextBox 115"/>
          <p:cNvSpPr txBox="1"/>
          <p:nvPr/>
        </p:nvSpPr>
        <p:spPr>
          <a:xfrm>
            <a:off x="4316878" y="392472"/>
            <a:ext cx="3558244"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 전체 지도</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6" name="곱셈 기호 95"/>
          <p:cNvSpPr/>
          <p:nvPr/>
        </p:nvSpPr>
        <p:spPr>
          <a:xfrm>
            <a:off x="2224597" y="-304210"/>
            <a:ext cx="9129203" cy="7238034"/>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4010155709"/>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38</a:t>
            </a:fld>
            <a:endParaRPr lang="ko-KR" altLang="en-US" sz="1800" dirty="0"/>
          </a:p>
        </p:txBody>
      </p:sp>
      <p:grpSp>
        <p:nvGrpSpPr>
          <p:cNvPr id="111" name="그룹 110"/>
          <p:cNvGrpSpPr/>
          <p:nvPr/>
        </p:nvGrpSpPr>
        <p:grpSpPr>
          <a:xfrm>
            <a:off x="10407884" y="346837"/>
            <a:ext cx="1641552" cy="389965"/>
            <a:chOff x="516703" y="972856"/>
            <a:chExt cx="1641552" cy="389965"/>
          </a:xfrm>
        </p:grpSpPr>
        <p:sp>
          <p:nvSpPr>
            <p:cNvPr id="109" name="타원 108"/>
            <p:cNvSpPr/>
            <p:nvPr/>
          </p:nvSpPr>
          <p:spPr>
            <a:xfrm>
              <a:off x="516703" y="1013197"/>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0" name="TextBox 109"/>
            <p:cNvSpPr txBox="1"/>
            <p:nvPr/>
          </p:nvSpPr>
          <p:spPr>
            <a:xfrm>
              <a:off x="874059" y="972856"/>
              <a:ext cx="1284196" cy="369332"/>
            </a:xfrm>
            <a:prstGeom prst="rect">
              <a:avLst/>
            </a:prstGeom>
            <a:noFill/>
          </p:spPr>
          <p:txBody>
            <a:bodyPr wrap="square" rtlCol="0">
              <a:spAutoFit/>
            </a:bodyPr>
            <a:lstStyle/>
            <a:p>
              <a:r>
                <a:rPr lang="en-US" altLang="ko-KR" dirty="0" smtClean="0"/>
                <a:t>: </a:t>
              </a:r>
              <a:r>
                <a:rPr lang="ko-KR" altLang="en-US" dirty="0" err="1" smtClean="0"/>
                <a:t>에어리어</a:t>
              </a:r>
              <a:endParaRPr lang="ko-KR" altLang="en-US" dirty="0"/>
            </a:p>
          </p:txBody>
        </p:sp>
      </p:grpSp>
      <p:cxnSp>
        <p:nvCxnSpPr>
          <p:cNvPr id="130" name="직선 연결선 129"/>
          <p:cNvCxnSpPr/>
          <p:nvPr/>
        </p:nvCxnSpPr>
        <p:spPr>
          <a:xfrm rot="5400000" flipH="1">
            <a:off x="6324047" y="-254260"/>
            <a:ext cx="0" cy="4356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타원 6"/>
          <p:cNvSpPr/>
          <p:nvPr/>
        </p:nvSpPr>
        <p:spPr>
          <a:xfrm rot="5400000">
            <a:off x="6142093" y="1750585"/>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타원 12"/>
          <p:cNvSpPr/>
          <p:nvPr/>
        </p:nvSpPr>
        <p:spPr>
          <a:xfrm rot="5400000">
            <a:off x="6922022" y="175607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타원 13"/>
          <p:cNvSpPr/>
          <p:nvPr/>
        </p:nvSpPr>
        <p:spPr>
          <a:xfrm rot="5400000">
            <a:off x="7715396" y="175607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타원 14"/>
          <p:cNvSpPr/>
          <p:nvPr/>
        </p:nvSpPr>
        <p:spPr>
          <a:xfrm rot="5400000">
            <a:off x="8495324" y="1756882"/>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5400000">
            <a:off x="3775416" y="1748928"/>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타원 22"/>
          <p:cNvSpPr/>
          <p:nvPr/>
        </p:nvSpPr>
        <p:spPr>
          <a:xfrm rot="5400000">
            <a:off x="4555343" y="174892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타원 23"/>
          <p:cNvSpPr/>
          <p:nvPr/>
        </p:nvSpPr>
        <p:spPr>
          <a:xfrm rot="5400000">
            <a:off x="5348718" y="1749732"/>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42" name="직선 연결선 141"/>
          <p:cNvCxnSpPr>
            <a:stCxn id="14" idx="6"/>
          </p:cNvCxnSpPr>
          <p:nvPr/>
        </p:nvCxnSpPr>
        <p:spPr>
          <a:xfrm rot="5400000">
            <a:off x="7164068" y="2051915"/>
            <a:ext cx="672352" cy="793374"/>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cxnSp>
        <p:nvCxnSpPr>
          <p:cNvPr id="164" name="직선 연결선 163"/>
          <p:cNvCxnSpPr>
            <a:endCxn id="24" idx="2"/>
          </p:cNvCxnSpPr>
          <p:nvPr/>
        </p:nvCxnSpPr>
        <p:spPr>
          <a:xfrm rot="5400000">
            <a:off x="5551220" y="963877"/>
            <a:ext cx="758165" cy="800098"/>
          </a:xfrm>
          <a:prstGeom prst="line">
            <a:avLst/>
          </a:prstGeom>
          <a:ln>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71" name="TextBox 70"/>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pSp>
        <p:nvGrpSpPr>
          <p:cNvPr id="2" name="그룹 1"/>
          <p:cNvGrpSpPr/>
          <p:nvPr/>
        </p:nvGrpSpPr>
        <p:grpSpPr>
          <a:xfrm>
            <a:off x="10374267" y="802896"/>
            <a:ext cx="1943240" cy="369332"/>
            <a:chOff x="10374267" y="802896"/>
            <a:chExt cx="1943240" cy="369332"/>
          </a:xfrm>
        </p:grpSpPr>
        <p:sp>
          <p:nvSpPr>
            <p:cNvPr id="75" name="TextBox 74"/>
            <p:cNvSpPr txBox="1"/>
            <p:nvPr/>
          </p:nvSpPr>
          <p:spPr>
            <a:xfrm>
              <a:off x="10762253" y="802896"/>
              <a:ext cx="1555254" cy="369332"/>
            </a:xfrm>
            <a:prstGeom prst="rect">
              <a:avLst/>
            </a:prstGeom>
            <a:noFill/>
          </p:spPr>
          <p:txBody>
            <a:bodyPr wrap="square" rtlCol="0">
              <a:spAutoFit/>
            </a:bodyPr>
            <a:lstStyle/>
            <a:p>
              <a:r>
                <a:rPr lang="en-US" altLang="ko-KR" dirty="0" smtClean="0"/>
                <a:t>: </a:t>
              </a:r>
              <a:r>
                <a:rPr lang="ko-KR" altLang="en-US" dirty="0" smtClean="0"/>
                <a:t>예상 경로</a:t>
              </a:r>
              <a:endParaRPr lang="ko-KR" altLang="en-US" dirty="0"/>
            </a:p>
          </p:txBody>
        </p:sp>
        <p:cxnSp>
          <p:nvCxnSpPr>
            <p:cNvPr id="76" name="직선 화살표 연결선 75"/>
            <p:cNvCxnSpPr/>
            <p:nvPr/>
          </p:nvCxnSpPr>
          <p:spPr>
            <a:xfrm>
              <a:off x="10374267" y="1000346"/>
              <a:ext cx="387986" cy="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grpSp>
      <p:sp>
        <p:nvSpPr>
          <p:cNvPr id="77" name="TextBox 76"/>
          <p:cNvSpPr txBox="1"/>
          <p:nvPr/>
        </p:nvSpPr>
        <p:spPr>
          <a:xfrm>
            <a:off x="586462" y="1692907"/>
            <a:ext cx="1824307" cy="461665"/>
          </a:xfrm>
          <a:prstGeom prst="rect">
            <a:avLst/>
          </a:prstGeom>
          <a:noFill/>
        </p:spPr>
        <p:txBody>
          <a:bodyPr wrap="square" rtlCol="0">
            <a:spAutoFit/>
          </a:bodyPr>
          <a:lstStyle/>
          <a:p>
            <a:pPr algn="ct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계층 지도</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5" name="타원 94"/>
          <p:cNvSpPr/>
          <p:nvPr/>
        </p:nvSpPr>
        <p:spPr>
          <a:xfrm rot="5400000">
            <a:off x="6166407" y="678247"/>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6" name="TextBox 95"/>
          <p:cNvSpPr txBox="1"/>
          <p:nvPr/>
        </p:nvSpPr>
        <p:spPr>
          <a:xfrm>
            <a:off x="3714007" y="538681"/>
            <a:ext cx="2337316" cy="461665"/>
          </a:xfrm>
          <a:prstGeom prst="rect">
            <a:avLst/>
          </a:prstGeom>
          <a:noFill/>
        </p:spPr>
        <p:txBody>
          <a:bodyPr wrap="square" rtlCol="0">
            <a:spAutoFit/>
          </a:bodyPr>
          <a:lstStyle/>
          <a:p>
            <a:pPr algn="ct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     .     .     .</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1" name="TextBox 100"/>
          <p:cNvSpPr txBox="1"/>
          <p:nvPr/>
        </p:nvSpPr>
        <p:spPr>
          <a:xfrm>
            <a:off x="6720246" y="538681"/>
            <a:ext cx="2337316" cy="461665"/>
          </a:xfrm>
          <a:prstGeom prst="rect">
            <a:avLst/>
          </a:prstGeom>
          <a:noFill/>
        </p:spPr>
        <p:txBody>
          <a:bodyPr wrap="square" rtlCol="0">
            <a:spAutoFit/>
          </a:bodyPr>
          <a:lstStyle/>
          <a:p>
            <a:pPr algn="ct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     .     .     .</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5" name="TextBox 104"/>
          <p:cNvSpPr txBox="1"/>
          <p:nvPr/>
        </p:nvSpPr>
        <p:spPr>
          <a:xfrm>
            <a:off x="2850190" y="736802"/>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6" name="TextBox 105"/>
          <p:cNvSpPr txBox="1"/>
          <p:nvPr/>
        </p:nvSpPr>
        <p:spPr>
          <a:xfrm>
            <a:off x="2852951" y="1766722"/>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3</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7" name="TextBox 106"/>
          <p:cNvSpPr txBox="1"/>
          <p:nvPr/>
        </p:nvSpPr>
        <p:spPr>
          <a:xfrm>
            <a:off x="2850190" y="2797037"/>
            <a:ext cx="849346"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지하 </a:t>
            </a:r>
            <a:r>
              <a:rPr lang="en-US" altLang="ko-KR"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4</a:t>
            </a: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층</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08" name="타원 107"/>
          <p:cNvSpPr/>
          <p:nvPr/>
        </p:nvSpPr>
        <p:spPr>
          <a:xfrm rot="5400000">
            <a:off x="6957556" y="2774759"/>
            <a:ext cx="363071" cy="34962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2" name="TextBox 111"/>
          <p:cNvSpPr txBox="1"/>
          <p:nvPr/>
        </p:nvSpPr>
        <p:spPr>
          <a:xfrm>
            <a:off x="4505156" y="2635193"/>
            <a:ext cx="2337316" cy="461665"/>
          </a:xfrm>
          <a:prstGeom prst="rect">
            <a:avLst/>
          </a:prstGeom>
          <a:noFill/>
        </p:spPr>
        <p:txBody>
          <a:bodyPr wrap="square" rtlCol="0">
            <a:spAutoFit/>
          </a:bodyPr>
          <a:lstStyle/>
          <a:p>
            <a:pPr algn="ct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     .     .     .</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3" name="TextBox 112"/>
          <p:cNvSpPr txBox="1"/>
          <p:nvPr/>
        </p:nvSpPr>
        <p:spPr>
          <a:xfrm>
            <a:off x="7511395" y="2635193"/>
            <a:ext cx="2337316" cy="461665"/>
          </a:xfrm>
          <a:prstGeom prst="rect">
            <a:avLst/>
          </a:prstGeom>
          <a:noFill/>
        </p:spPr>
        <p:txBody>
          <a:bodyPr wrap="square" rtlCol="0">
            <a:spAutoFit/>
          </a:bodyPr>
          <a:lstStyle/>
          <a:p>
            <a:pPr algn="ct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     .     .     .</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2" name="액자 31"/>
          <p:cNvSpPr/>
          <p:nvPr/>
        </p:nvSpPr>
        <p:spPr>
          <a:xfrm>
            <a:off x="8944960" y="1596946"/>
            <a:ext cx="1867339" cy="1820490"/>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33" name="모서리가 둥근 사각형 설명선 32"/>
          <p:cNvSpPr/>
          <p:nvPr/>
        </p:nvSpPr>
        <p:spPr>
          <a:xfrm>
            <a:off x="8284898" y="3530426"/>
            <a:ext cx="2713851" cy="2261498"/>
          </a:xfrm>
          <a:prstGeom prst="wedgeRoundRectCallout">
            <a:avLst>
              <a:gd name="adj1" fmla="val -42825"/>
              <a:gd name="adj2" fmla="val 61853"/>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400" b="1" dirty="0" smtClean="0">
                <a:solidFill>
                  <a:sysClr val="windowText" lastClr="000000"/>
                </a:solidFill>
              </a:rPr>
              <a:t>‘</a:t>
            </a:r>
            <a:r>
              <a:rPr lang="ko-KR" altLang="en-US" sz="1400" b="1" dirty="0" smtClean="0">
                <a:solidFill>
                  <a:sysClr val="windowText" lastClr="000000"/>
                </a:solidFill>
              </a:rPr>
              <a:t>캐릭터</a:t>
            </a:r>
            <a:r>
              <a:rPr lang="en-US" altLang="ko-KR" sz="14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- 30x30 unit</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던전 크기 제작의 기준</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a:t>
            </a:r>
          </a:p>
        </p:txBody>
      </p:sp>
      <p:sp>
        <p:nvSpPr>
          <p:cNvPr id="35" name="곱셈 기호 34"/>
          <p:cNvSpPr/>
          <p:nvPr/>
        </p:nvSpPr>
        <p:spPr>
          <a:xfrm>
            <a:off x="2224597" y="-304210"/>
            <a:ext cx="9129203" cy="7238034"/>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956525493"/>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1954270" y="2989146"/>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39</a:t>
            </a:fld>
            <a:endParaRPr lang="ko-KR" altLang="en-US" sz="1800" dirty="0"/>
          </a:p>
        </p:txBody>
      </p:sp>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캐릭터</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ln>
                  <a:solidFill>
                    <a:srgbClr val="7030A0"/>
                  </a:solidFill>
                </a:ln>
                <a:solidFill>
                  <a:sysClr val="windowText" lastClr="000000"/>
                </a:solidFill>
              </a:rPr>
              <a:t>정예</a:t>
            </a:r>
            <a:endParaRPr lang="en-US" altLang="ko-KR" sz="1200" dirty="0">
              <a:ln>
                <a:solidFill>
                  <a:srgbClr val="7030A0"/>
                </a:solidFill>
              </a:ln>
              <a:solidFill>
                <a:sysClr val="windowText" lastClr="000000"/>
              </a:solidFill>
            </a:endParaRPr>
          </a:p>
          <a:p>
            <a:pPr algn="ctr"/>
            <a:r>
              <a:rPr lang="ko-KR" altLang="en-US" sz="1200" dirty="0">
                <a:ln>
                  <a:solidFill>
                    <a:srgbClr val="7030A0"/>
                  </a:solidFill>
                </a:ln>
                <a:solidFill>
                  <a:sysClr val="windowText" lastClr="000000"/>
                </a:solidFill>
              </a:rPr>
              <a:t>몬스터</a:t>
            </a:r>
            <a:endParaRPr lang="en-US" altLang="ko-KR" sz="1200" dirty="0">
              <a:ln>
                <a:solidFill>
                  <a:srgbClr val="7030A0"/>
                </a:solidFill>
              </a:ln>
              <a:solidFill>
                <a:sysClr val="windowText" lastClr="000000"/>
              </a:solidFill>
            </a:endParaRPr>
          </a:p>
          <a:p>
            <a:pPr algn="ctr"/>
            <a:endParaRPr lang="ko-KR" altLang="en-US" sz="1200"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전투 화면 </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일반</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TextBox 68"/>
          <p:cNvSpPr txBox="1"/>
          <p:nvPr/>
        </p:nvSpPr>
        <p:spPr>
          <a:xfrm>
            <a:off x="72571" y="250721"/>
            <a:ext cx="4293160"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전투 화면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523312274"/>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1954270" y="2989146"/>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40</a:t>
            </a:fld>
            <a:endParaRPr lang="ko-KR" altLang="en-US" sz="1800" dirty="0"/>
          </a:p>
        </p:txBody>
      </p:sp>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캐릭터</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ln>
                  <a:solidFill>
                    <a:srgbClr val="7030A0"/>
                  </a:solidFill>
                </a:ln>
                <a:solidFill>
                  <a:sysClr val="windowText" lastClr="000000"/>
                </a:solidFill>
              </a:rPr>
              <a:t>정예</a:t>
            </a:r>
            <a:endParaRPr lang="en-US" altLang="ko-KR" sz="1200" dirty="0">
              <a:ln>
                <a:solidFill>
                  <a:srgbClr val="7030A0"/>
                </a:solidFill>
              </a:ln>
              <a:solidFill>
                <a:sysClr val="windowText" lastClr="000000"/>
              </a:solidFill>
            </a:endParaRPr>
          </a:p>
          <a:p>
            <a:pPr algn="ctr"/>
            <a:r>
              <a:rPr lang="ko-KR" altLang="en-US" sz="1200" dirty="0">
                <a:ln>
                  <a:solidFill>
                    <a:srgbClr val="7030A0"/>
                  </a:solidFill>
                </a:ln>
                <a:solidFill>
                  <a:sysClr val="windowText" lastClr="000000"/>
                </a:solidFill>
              </a:rPr>
              <a:t>몬스터</a:t>
            </a:r>
            <a:endParaRPr lang="en-US" altLang="ko-KR" sz="1200" dirty="0">
              <a:ln>
                <a:solidFill>
                  <a:srgbClr val="7030A0"/>
                </a:solidFill>
              </a:ln>
              <a:solidFill>
                <a:sysClr val="windowText" lastClr="000000"/>
              </a:solidFill>
            </a:endParaRPr>
          </a:p>
          <a:p>
            <a:pPr algn="ctr"/>
            <a:endParaRPr lang="ko-KR" altLang="en-US" sz="1200"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액자 68"/>
          <p:cNvSpPr/>
          <p:nvPr/>
        </p:nvSpPr>
        <p:spPr>
          <a:xfrm>
            <a:off x="2128569" y="2123288"/>
            <a:ext cx="1511256" cy="1437499"/>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2" name="모서리가 둥근 사각형 설명선 71"/>
          <p:cNvSpPr/>
          <p:nvPr/>
        </p:nvSpPr>
        <p:spPr>
          <a:xfrm>
            <a:off x="4407641" y="1531919"/>
            <a:ext cx="3274456" cy="3536600"/>
          </a:xfrm>
          <a:prstGeom prst="wedgeRoundRectCallout">
            <a:avLst>
              <a:gd name="adj1" fmla="val -66725"/>
              <a:gd name="adj2" fmla="val 4019"/>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캐릭터</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- 25 x 25 unit</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요소의 크기의 척도</a:t>
            </a:r>
            <a:r>
              <a:rPr lang="en-US" altLang="ko-KR" sz="1400" dirty="0" smtClean="0">
                <a:solidFill>
                  <a:sysClr val="windowText" lastClr="000000"/>
                </a:solidFill>
              </a:rPr>
              <a:t>, </a:t>
            </a:r>
            <a:r>
              <a:rPr lang="ko-KR" altLang="en-US" sz="1400" dirty="0" smtClean="0">
                <a:solidFill>
                  <a:sysClr val="windowText" lastClr="000000"/>
                </a:solidFill>
              </a:rPr>
              <a:t>기준 단위 </a:t>
            </a:r>
            <a:r>
              <a:rPr lang="en-US" altLang="ko-KR" sz="1400" dirty="0" smtClean="0">
                <a:solidFill>
                  <a:sysClr val="windowText" lastClr="000000"/>
                </a:solidFill>
              </a:rPr>
              <a:t>C</a:t>
            </a:r>
            <a:br>
              <a:rPr lang="en-US" altLang="ko-KR" sz="1400" dirty="0" smtClean="0">
                <a:solidFill>
                  <a:sysClr val="windowText" lastClr="000000"/>
                </a:solidFill>
              </a:rPr>
            </a:br>
            <a:endParaRPr lang="en-US" altLang="ko-KR" sz="1400" dirty="0" smtClean="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항상 고정된 자리</a:t>
            </a:r>
            <a:r>
              <a:rPr lang="en-US" altLang="ko-KR" sz="1400" dirty="0" smtClean="0">
                <a:solidFill>
                  <a:sysClr val="windowText" lastClr="000000"/>
                </a:solidFill>
              </a:rPr>
              <a:t>(</a:t>
            </a:r>
            <a:r>
              <a:rPr lang="en-US" altLang="ko-KR" sz="1400" dirty="0">
                <a:solidFill>
                  <a:sysClr val="windowText" lastClr="000000"/>
                </a:solidFill>
              </a:rPr>
              <a:t>75, 100</a:t>
            </a:r>
            <a:r>
              <a:rPr lang="en-US" altLang="ko-KR" sz="1400" dirty="0" smtClean="0">
                <a:solidFill>
                  <a:sysClr val="windowText" lastClr="000000"/>
                </a:solidFill>
              </a:rPr>
              <a:t>)</a:t>
            </a:r>
            <a:r>
              <a:rPr lang="ko-KR" altLang="en-US" sz="1400" dirty="0" smtClean="0">
                <a:solidFill>
                  <a:sysClr val="windowText" lastClr="000000"/>
                </a:solidFill>
              </a:rPr>
              <a:t>에 위치해있으며 </a:t>
            </a:r>
            <a:r>
              <a:rPr lang="en-US" altLang="ko-KR" sz="1400" dirty="0" smtClean="0">
                <a:solidFill>
                  <a:sysClr val="windowText" lastClr="000000"/>
                </a:solidFill>
              </a:rPr>
              <a:t>HP, SP </a:t>
            </a:r>
            <a:r>
              <a:rPr lang="ko-KR" altLang="en-US" sz="1400" dirty="0" smtClean="0">
                <a:solidFill>
                  <a:sysClr val="windowText" lastClr="000000"/>
                </a:solidFill>
              </a:rPr>
              <a:t>게이지가 표시됨</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오른쪽</a:t>
            </a:r>
            <a:r>
              <a:rPr lang="en-US" altLang="ko-KR" sz="1400" dirty="0" smtClean="0">
                <a:solidFill>
                  <a:sysClr val="windowText" lastClr="000000"/>
                </a:solidFill>
              </a:rPr>
              <a:t>(</a:t>
            </a:r>
            <a:r>
              <a:rPr lang="ko-KR" altLang="en-US" sz="1400" dirty="0" smtClean="0">
                <a:solidFill>
                  <a:sysClr val="windowText" lastClr="000000"/>
                </a:solidFill>
              </a:rPr>
              <a:t>적</a:t>
            </a:r>
            <a:r>
              <a:rPr lang="en-US" altLang="ko-KR" sz="1400" dirty="0" smtClean="0">
                <a:solidFill>
                  <a:sysClr val="windowText" lastClr="000000"/>
                </a:solidFill>
              </a:rPr>
              <a:t>)</a:t>
            </a:r>
            <a:r>
              <a:rPr lang="ko-KR" altLang="en-US" sz="1400" dirty="0" smtClean="0">
                <a:solidFill>
                  <a:sysClr val="windowText" lastClr="000000"/>
                </a:solidFill>
              </a:rPr>
              <a:t>을 바라보고 있음</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마우스 클릭으로 선택 시 하단에 원형이 그려져 선택되었음을 알림</a:t>
            </a:r>
            <a:endParaRPr lang="en-US" altLang="ko-KR" sz="1400" dirty="0" smtClean="0">
              <a:solidFill>
                <a:sysClr val="windowText" lastClr="000000"/>
              </a:solidFill>
            </a:endParaRPr>
          </a:p>
        </p:txBody>
      </p:sp>
      <p:sp>
        <p:nvSpPr>
          <p:cNvPr id="74" name="TextBox 73"/>
          <p:cNvSpPr txBox="1"/>
          <p:nvPr/>
        </p:nvSpPr>
        <p:spPr>
          <a:xfrm>
            <a:off x="72571" y="250721"/>
            <a:ext cx="4293160"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전투 화면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989955327"/>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1954270" y="2989146"/>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41</a:t>
            </a:fld>
            <a:endParaRPr lang="ko-KR" altLang="en-US" sz="1800" dirty="0"/>
          </a:p>
        </p:txBody>
      </p:sp>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캐릭터</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ln>
                  <a:solidFill>
                    <a:srgbClr val="7030A0"/>
                  </a:solidFill>
                </a:ln>
                <a:solidFill>
                  <a:sysClr val="windowText" lastClr="000000"/>
                </a:solidFill>
              </a:rPr>
              <a:t>정예</a:t>
            </a:r>
            <a:endParaRPr lang="en-US" altLang="ko-KR" sz="1200" dirty="0">
              <a:ln>
                <a:solidFill>
                  <a:srgbClr val="7030A0"/>
                </a:solidFill>
              </a:ln>
              <a:solidFill>
                <a:sysClr val="windowText" lastClr="000000"/>
              </a:solidFill>
            </a:endParaRPr>
          </a:p>
          <a:p>
            <a:pPr algn="ctr"/>
            <a:r>
              <a:rPr lang="ko-KR" altLang="en-US" sz="1200" dirty="0">
                <a:ln>
                  <a:solidFill>
                    <a:srgbClr val="7030A0"/>
                  </a:solidFill>
                </a:ln>
                <a:solidFill>
                  <a:sysClr val="windowText" lastClr="000000"/>
                </a:solidFill>
              </a:rPr>
              <a:t>몬스터</a:t>
            </a:r>
            <a:endParaRPr lang="en-US" altLang="ko-KR" sz="1200" dirty="0">
              <a:ln>
                <a:solidFill>
                  <a:srgbClr val="7030A0"/>
                </a:solidFill>
              </a:ln>
              <a:solidFill>
                <a:sysClr val="windowText" lastClr="000000"/>
              </a:solidFill>
            </a:endParaRPr>
          </a:p>
          <a:p>
            <a:pPr algn="ctr"/>
            <a:endParaRPr lang="ko-KR" altLang="en-US" sz="1200"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화면</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액자 68"/>
          <p:cNvSpPr/>
          <p:nvPr/>
        </p:nvSpPr>
        <p:spPr>
          <a:xfrm>
            <a:off x="964119" y="947892"/>
            <a:ext cx="10234311" cy="5457199"/>
          </a:xfrm>
          <a:prstGeom prst="frame">
            <a:avLst>
              <a:gd name="adj1" fmla="val 1106"/>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2" name="모서리가 둥근 사각형 설명선 71"/>
          <p:cNvSpPr/>
          <p:nvPr/>
        </p:nvSpPr>
        <p:spPr>
          <a:xfrm>
            <a:off x="8460926" y="1351472"/>
            <a:ext cx="3517564" cy="2688168"/>
          </a:xfrm>
          <a:prstGeom prst="wedgeRoundRectCallout">
            <a:avLst>
              <a:gd name="adj1" fmla="val -63616"/>
              <a:gd name="adj2" fmla="val -50852"/>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화면</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- 300 x 150 unit</a:t>
            </a:r>
            <a:br>
              <a:rPr lang="en-US" altLang="ko-KR" sz="1400" dirty="0" smtClean="0">
                <a:solidFill>
                  <a:sysClr val="windowText" lastClr="000000"/>
                </a:solidFill>
              </a:rPr>
            </a:br>
            <a:r>
              <a:rPr lang="en-US" altLang="ko-KR" sz="1400" dirty="0" smtClean="0">
                <a:solidFill>
                  <a:sysClr val="windowText" lastClr="000000"/>
                </a:solidFill>
              </a:rPr>
              <a:t>( C*12 x C*6 )</a:t>
            </a:r>
            <a:r>
              <a:rPr lang="en-US" altLang="ko-KR" sz="1400" dirty="0">
                <a:solidFill>
                  <a:sysClr val="windowText" lastClr="000000"/>
                </a:solidFill>
              </a:rPr>
              <a:t/>
            </a:r>
            <a:br>
              <a:rPr lang="en-US" altLang="ko-KR" sz="1400" dirty="0">
                <a:solidFill>
                  <a:sysClr val="windowText" lastClr="000000"/>
                </a:solidFill>
              </a:rPr>
            </a:br>
            <a:r>
              <a:rPr lang="en-US" altLang="ko-KR" sz="1400" dirty="0">
                <a:solidFill>
                  <a:sysClr val="windowText" lastClr="000000"/>
                </a:solidFill>
              </a:rPr>
              <a:t/>
            </a:r>
            <a:br>
              <a:rPr lang="en-US" altLang="ko-KR" sz="1400" dirty="0">
                <a:solidFill>
                  <a:sysClr val="windowText" lastClr="000000"/>
                </a:solidFill>
              </a:rPr>
            </a:br>
            <a:r>
              <a:rPr lang="en-US" altLang="ko-KR" sz="1400" dirty="0">
                <a:solidFill>
                  <a:sysClr val="windowText" lastClr="000000"/>
                </a:solidFill>
              </a:rPr>
              <a:t>- </a:t>
            </a:r>
            <a:r>
              <a:rPr lang="ko-KR" altLang="en-US" sz="1400" dirty="0">
                <a:solidFill>
                  <a:sysClr val="windowText" lastClr="000000"/>
                </a:solidFill>
              </a:rPr>
              <a:t>전투</a:t>
            </a:r>
            <a:r>
              <a:rPr lang="en-US" altLang="ko-KR" sz="1400" dirty="0">
                <a:solidFill>
                  <a:sysClr val="windowText" lastClr="000000"/>
                </a:solidFill>
              </a:rPr>
              <a:t>, </a:t>
            </a:r>
            <a:r>
              <a:rPr lang="ko-KR" altLang="en-US" sz="1400" dirty="0">
                <a:solidFill>
                  <a:sysClr val="windowText" lastClr="000000"/>
                </a:solidFill>
              </a:rPr>
              <a:t>상점</a:t>
            </a:r>
            <a:r>
              <a:rPr lang="en-US" altLang="ko-KR" sz="1400" dirty="0">
                <a:solidFill>
                  <a:sysClr val="windowText" lastClr="000000"/>
                </a:solidFill>
              </a:rPr>
              <a:t>, </a:t>
            </a:r>
            <a:r>
              <a:rPr lang="ko-KR" altLang="en-US" sz="1400" dirty="0" smtClean="0">
                <a:solidFill>
                  <a:sysClr val="windowText" lastClr="000000"/>
                </a:solidFill>
              </a:rPr>
              <a:t>이벤트</a:t>
            </a:r>
            <a:r>
              <a:rPr lang="en-US" altLang="ko-KR" sz="1400" dirty="0" smtClean="0">
                <a:solidFill>
                  <a:sysClr val="windowText" lastClr="000000"/>
                </a:solidFill>
              </a:rPr>
              <a:t> </a:t>
            </a:r>
            <a:r>
              <a:rPr lang="ko-KR" altLang="en-US" sz="1400" dirty="0" smtClean="0">
                <a:solidFill>
                  <a:sysClr val="windowText" lastClr="000000"/>
                </a:solidFill>
              </a:rPr>
              <a:t>등 에어리어에서 볼 수 있는 한 </a:t>
            </a:r>
            <a:r>
              <a:rPr lang="ko-KR" altLang="en-US" sz="1400" dirty="0">
                <a:solidFill>
                  <a:sysClr val="windowText" lastClr="000000"/>
                </a:solidFill>
              </a:rPr>
              <a:t>화면의 크기를 나타냄</a:t>
            </a:r>
            <a:endParaRPr lang="en-US" altLang="ko-KR" sz="1400" dirty="0">
              <a:solidFill>
                <a:sysClr val="windowText" lastClr="000000"/>
              </a:solidFill>
            </a:endParaRPr>
          </a:p>
          <a:p>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좌측 하단을 원점</a:t>
            </a:r>
            <a:r>
              <a:rPr lang="en-US" altLang="ko-KR" sz="1400" dirty="0" smtClean="0">
                <a:solidFill>
                  <a:sysClr val="windowText" lastClr="000000"/>
                </a:solidFill>
              </a:rPr>
              <a:t>(0,0) </a:t>
            </a:r>
            <a:r>
              <a:rPr lang="ko-KR" altLang="en-US" sz="1400" dirty="0" smtClean="0">
                <a:solidFill>
                  <a:sysClr val="windowText" lastClr="000000"/>
                </a:solidFill>
              </a:rPr>
              <a:t>으로 하여</a:t>
            </a:r>
            <a:r>
              <a:rPr lang="en-US" altLang="ko-KR" sz="1400" dirty="0" smtClean="0">
                <a:solidFill>
                  <a:sysClr val="windowText" lastClr="000000"/>
                </a:solidFill>
              </a:rPr>
              <a:t>,</a:t>
            </a:r>
            <a:br>
              <a:rPr lang="en-US" altLang="ko-KR" sz="1400" dirty="0" smtClean="0">
                <a:solidFill>
                  <a:sysClr val="windowText" lastClr="000000"/>
                </a:solidFill>
              </a:rPr>
            </a:br>
            <a:r>
              <a:rPr lang="ko-KR" altLang="en-US" sz="1400" dirty="0" smtClean="0">
                <a:solidFill>
                  <a:sysClr val="windowText" lastClr="000000"/>
                </a:solidFill>
              </a:rPr>
              <a:t>오브젝트들의 중점을 기준으로 </a:t>
            </a:r>
            <a:r>
              <a:rPr lang="ko-KR" altLang="en-US" sz="1400" dirty="0" err="1" smtClean="0">
                <a:solidFill>
                  <a:sysClr val="windowText" lastClr="000000"/>
                </a:solidFill>
              </a:rPr>
              <a:t>좌표값을</a:t>
            </a:r>
            <a:r>
              <a:rPr lang="ko-KR" altLang="en-US" sz="1400" dirty="0" smtClean="0">
                <a:solidFill>
                  <a:sysClr val="windowText" lastClr="000000"/>
                </a:solidFill>
              </a:rPr>
              <a:t> 설정</a:t>
            </a:r>
            <a:endParaRPr lang="en-US" altLang="ko-KR" sz="1400" dirty="0" smtClean="0">
              <a:solidFill>
                <a:sysClr val="windowText" lastClr="000000"/>
              </a:solidFill>
            </a:endParaRPr>
          </a:p>
        </p:txBody>
      </p:sp>
      <p:cxnSp>
        <p:nvCxnSpPr>
          <p:cNvPr id="6" name="직선 화살표 연결선 5"/>
          <p:cNvCxnSpPr/>
          <p:nvPr/>
        </p:nvCxnSpPr>
        <p:spPr>
          <a:xfrm>
            <a:off x="783771" y="1094825"/>
            <a:ext cx="0" cy="3449338"/>
          </a:xfrm>
          <a:prstGeom prst="straightConnector1">
            <a:avLst/>
          </a:prstGeom>
          <a:ln w="38100">
            <a:solidFill>
              <a:schemeClr val="tx1">
                <a:lumMod val="95000"/>
                <a:lumOff val="5000"/>
              </a:schemeClr>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74" name="TextBox 73"/>
          <p:cNvSpPr txBox="1"/>
          <p:nvPr/>
        </p:nvSpPr>
        <p:spPr>
          <a:xfrm>
            <a:off x="166386" y="2432157"/>
            <a:ext cx="620944" cy="369332"/>
          </a:xfrm>
          <a:prstGeom prst="rect">
            <a:avLst/>
          </a:prstGeom>
          <a:noFill/>
        </p:spPr>
        <p:txBody>
          <a:bodyPr wrap="square" rtlCol="0">
            <a:spAutoFit/>
          </a:bodyPr>
          <a:lstStyle/>
          <a:p>
            <a:pPr algn="ctr"/>
            <a:r>
              <a:rPr lang="en-US" altLang="ko-KR"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1 0 0 </a:t>
            </a:r>
            <a:endParaRPr lang="ko-KR" altLang="en-US"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79" name="직선 화살표 연결선 78"/>
          <p:cNvCxnSpPr/>
          <p:nvPr/>
        </p:nvCxnSpPr>
        <p:spPr>
          <a:xfrm>
            <a:off x="783771" y="4544163"/>
            <a:ext cx="0" cy="1726736"/>
          </a:xfrm>
          <a:prstGeom prst="straightConnector1">
            <a:avLst/>
          </a:prstGeom>
          <a:ln w="38100">
            <a:solidFill>
              <a:schemeClr val="tx1">
                <a:lumMod val="95000"/>
                <a:lumOff val="5000"/>
              </a:schemeClr>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85" name="TextBox 84"/>
          <p:cNvSpPr txBox="1"/>
          <p:nvPr/>
        </p:nvSpPr>
        <p:spPr>
          <a:xfrm>
            <a:off x="159876" y="5260912"/>
            <a:ext cx="620944" cy="369332"/>
          </a:xfrm>
          <a:prstGeom prst="rect">
            <a:avLst/>
          </a:prstGeom>
          <a:noFill/>
        </p:spPr>
        <p:txBody>
          <a:bodyPr wrap="square" rtlCol="0">
            <a:spAutoFit/>
          </a:bodyPr>
          <a:lstStyle/>
          <a:p>
            <a:pPr algn="ctr"/>
            <a:r>
              <a:rPr lang="en-US" altLang="ko-KR"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5</a:t>
            </a:r>
            <a:r>
              <a:rPr lang="en-US" altLang="ko-KR"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0</a:t>
            </a:r>
            <a:endParaRPr lang="ko-KR" altLang="en-US"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97" name="직선 화살표 연결선 96"/>
          <p:cNvCxnSpPr/>
          <p:nvPr/>
        </p:nvCxnSpPr>
        <p:spPr>
          <a:xfrm flipH="1">
            <a:off x="1244980" y="4455740"/>
            <a:ext cx="4839842" cy="6112"/>
          </a:xfrm>
          <a:prstGeom prst="straightConnector1">
            <a:avLst/>
          </a:prstGeom>
          <a:ln w="38100">
            <a:solidFill>
              <a:schemeClr val="tx1">
                <a:lumMod val="95000"/>
                <a:lumOff val="5000"/>
              </a:schemeClr>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98" name="직선 화살표 연결선 97"/>
          <p:cNvCxnSpPr/>
          <p:nvPr/>
        </p:nvCxnSpPr>
        <p:spPr>
          <a:xfrm flipH="1" flipV="1">
            <a:off x="6084821" y="4450927"/>
            <a:ext cx="4876506" cy="829"/>
          </a:xfrm>
          <a:prstGeom prst="straightConnector1">
            <a:avLst/>
          </a:prstGeom>
          <a:ln w="38100">
            <a:solidFill>
              <a:schemeClr val="tx1">
                <a:lumMod val="95000"/>
                <a:lumOff val="5000"/>
              </a:schemeClr>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99" name="TextBox 98"/>
          <p:cNvSpPr txBox="1"/>
          <p:nvPr/>
        </p:nvSpPr>
        <p:spPr>
          <a:xfrm>
            <a:off x="2725275" y="4081595"/>
            <a:ext cx="620944" cy="369332"/>
          </a:xfrm>
          <a:prstGeom prst="rect">
            <a:avLst/>
          </a:prstGeom>
          <a:noFill/>
        </p:spPr>
        <p:txBody>
          <a:bodyPr wrap="square" rtlCol="0">
            <a:spAutoFit/>
          </a:bodyPr>
          <a:lstStyle/>
          <a:p>
            <a:pPr algn="ctr"/>
            <a:r>
              <a:rPr lang="en-US" altLang="ko-KR" spc="-300" dirty="0">
                <a:gradFill>
                  <a:gsLst>
                    <a:gs pos="0">
                      <a:schemeClr val="tx1"/>
                    </a:gs>
                    <a:gs pos="100000">
                      <a:schemeClr val="tx1"/>
                    </a:gs>
                  </a:gsLst>
                  <a:lin ang="5400000" scaled="1"/>
                </a:gradFill>
                <a:latin typeface="맑은 고딕" panose="020B0503020000020004" pitchFamily="50" charset="-127"/>
              </a:rPr>
              <a:t>1 5 0 </a:t>
            </a:r>
            <a:endParaRPr lang="ko-KR" altLang="en-US" spc="-300" dirty="0">
              <a:gradFill>
                <a:gsLst>
                  <a:gs pos="0">
                    <a:schemeClr val="tx1"/>
                  </a:gs>
                  <a:gs pos="100000">
                    <a:schemeClr val="tx1"/>
                  </a:gs>
                </a:gsLst>
                <a:lin ang="5400000" scaled="1"/>
              </a:gradFill>
              <a:latin typeface="맑은 고딕" panose="020B0503020000020004" pitchFamily="50" charset="-127"/>
            </a:endParaRPr>
          </a:p>
        </p:txBody>
      </p:sp>
      <p:sp>
        <p:nvSpPr>
          <p:cNvPr id="100" name="TextBox 99"/>
          <p:cNvSpPr txBox="1"/>
          <p:nvPr/>
        </p:nvSpPr>
        <p:spPr>
          <a:xfrm>
            <a:off x="9430710" y="4081595"/>
            <a:ext cx="620944" cy="369332"/>
          </a:xfrm>
          <a:prstGeom prst="rect">
            <a:avLst/>
          </a:prstGeom>
          <a:noFill/>
        </p:spPr>
        <p:txBody>
          <a:bodyPr wrap="square" rtlCol="0">
            <a:spAutoFit/>
          </a:bodyPr>
          <a:lstStyle/>
          <a:p>
            <a:pPr algn="ctr"/>
            <a:r>
              <a:rPr lang="en-US" altLang="ko-KR"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1 5 0 </a:t>
            </a:r>
            <a:endParaRPr lang="ko-KR" altLang="en-US"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102" name="직선 화살표 연결선 101"/>
          <p:cNvCxnSpPr/>
          <p:nvPr/>
        </p:nvCxnSpPr>
        <p:spPr>
          <a:xfrm flipH="1">
            <a:off x="8624483" y="5305311"/>
            <a:ext cx="2421746" cy="0"/>
          </a:xfrm>
          <a:prstGeom prst="straightConnector1">
            <a:avLst/>
          </a:prstGeom>
          <a:ln w="38100">
            <a:solidFill>
              <a:schemeClr val="tx1">
                <a:lumMod val="95000"/>
                <a:lumOff val="5000"/>
              </a:schemeClr>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 name="TextBox 102"/>
          <p:cNvSpPr txBox="1"/>
          <p:nvPr/>
        </p:nvSpPr>
        <p:spPr>
          <a:xfrm>
            <a:off x="10393333" y="4960950"/>
            <a:ext cx="620944" cy="369332"/>
          </a:xfrm>
          <a:prstGeom prst="rect">
            <a:avLst/>
          </a:prstGeom>
          <a:noFill/>
        </p:spPr>
        <p:txBody>
          <a:bodyPr wrap="square" rtlCol="0">
            <a:spAutoFit/>
          </a:bodyPr>
          <a:lstStyle/>
          <a:p>
            <a:pPr algn="ctr"/>
            <a:r>
              <a:rPr lang="en-US" altLang="ko-KR"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7 5</a:t>
            </a:r>
            <a:endParaRPr lang="ko-KR" altLang="en-US"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104" name="직선 화살표 연결선 103"/>
          <p:cNvCxnSpPr/>
          <p:nvPr/>
        </p:nvCxnSpPr>
        <p:spPr>
          <a:xfrm flipV="1">
            <a:off x="8497498" y="4574750"/>
            <a:ext cx="8612" cy="808843"/>
          </a:xfrm>
          <a:prstGeom prst="straightConnector1">
            <a:avLst/>
          </a:prstGeom>
          <a:ln w="38100">
            <a:solidFill>
              <a:schemeClr val="tx1">
                <a:lumMod val="95000"/>
                <a:lumOff val="5000"/>
              </a:schemeClr>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 name="TextBox 105"/>
          <p:cNvSpPr txBox="1"/>
          <p:nvPr/>
        </p:nvSpPr>
        <p:spPr>
          <a:xfrm>
            <a:off x="7935981" y="4568997"/>
            <a:ext cx="620944" cy="369332"/>
          </a:xfrm>
          <a:prstGeom prst="rect">
            <a:avLst/>
          </a:prstGeom>
          <a:noFill/>
        </p:spPr>
        <p:txBody>
          <a:bodyPr wrap="square" rtlCol="0">
            <a:spAutoFit/>
          </a:bodyPr>
          <a:lstStyle/>
          <a:p>
            <a:pPr algn="ctr"/>
            <a:r>
              <a:rPr lang="en-US" altLang="ko-KR"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r>
              <a:rPr lang="en-US" altLang="ko-KR"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5</a:t>
            </a:r>
            <a:endParaRPr lang="ko-KR" altLang="en-US"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107" name="직선 화살표 연결선 106"/>
          <p:cNvCxnSpPr/>
          <p:nvPr/>
        </p:nvCxnSpPr>
        <p:spPr>
          <a:xfrm flipH="1">
            <a:off x="1219540" y="1222908"/>
            <a:ext cx="9753663" cy="10891"/>
          </a:xfrm>
          <a:prstGeom prst="straightConnector1">
            <a:avLst/>
          </a:prstGeom>
          <a:ln w="38100">
            <a:solidFill>
              <a:schemeClr val="tx1">
                <a:lumMod val="95000"/>
                <a:lumOff val="5000"/>
              </a:schemeClr>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09" name="TextBox 108"/>
          <p:cNvSpPr txBox="1"/>
          <p:nvPr/>
        </p:nvSpPr>
        <p:spPr>
          <a:xfrm>
            <a:off x="5630369" y="1288199"/>
            <a:ext cx="620944" cy="369332"/>
          </a:xfrm>
          <a:prstGeom prst="rect">
            <a:avLst/>
          </a:prstGeom>
          <a:noFill/>
        </p:spPr>
        <p:txBody>
          <a:bodyPr wrap="square" rtlCol="0">
            <a:spAutoFit/>
          </a:bodyPr>
          <a:lstStyle/>
          <a:p>
            <a:pPr algn="ctr"/>
            <a:r>
              <a:rPr lang="en-US" altLang="ko-KR" spc="-300" dirty="0" smtClean="0">
                <a:gradFill>
                  <a:gsLst>
                    <a:gs pos="0">
                      <a:schemeClr val="tx1"/>
                    </a:gs>
                    <a:gs pos="100000">
                      <a:schemeClr val="tx1"/>
                    </a:gs>
                  </a:gsLst>
                  <a:lin ang="5400000" scaled="1"/>
                </a:gradFill>
                <a:latin typeface="맑은 고딕" panose="020B0503020000020004" pitchFamily="50" charset="-127"/>
              </a:rPr>
              <a:t>3 0 0 </a:t>
            </a:r>
            <a:endParaRPr lang="ko-KR" altLang="en-US" spc="-300" dirty="0">
              <a:gradFill>
                <a:gsLst>
                  <a:gs pos="0">
                    <a:schemeClr val="tx1"/>
                  </a:gs>
                  <a:gs pos="100000">
                    <a:schemeClr val="tx1"/>
                  </a:gs>
                </a:gsLst>
                <a:lin ang="5400000" scaled="1"/>
              </a:gradFill>
              <a:latin typeface="맑은 고딕" panose="020B0503020000020004" pitchFamily="50" charset="-127"/>
            </a:endParaRPr>
          </a:p>
        </p:txBody>
      </p:sp>
      <p:sp>
        <p:nvSpPr>
          <p:cNvPr id="111" name="TextBox 110"/>
          <p:cNvSpPr txBox="1"/>
          <p:nvPr/>
        </p:nvSpPr>
        <p:spPr>
          <a:xfrm>
            <a:off x="72571" y="250721"/>
            <a:ext cx="4293160"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전투 화면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818955619"/>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3343889" y="1919260"/>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42</a:t>
            </a:fld>
            <a:endParaRPr lang="ko-KR" altLang="en-US" sz="1800" dirty="0"/>
          </a:p>
        </p:txBody>
      </p:sp>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캐릭터</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smtClean="0">
                <a:ln>
                  <a:solidFill>
                    <a:srgbClr val="C00000"/>
                  </a:solidFill>
                </a:ln>
                <a:solidFill>
                  <a:sysClr val="windowText" lastClr="000000"/>
                </a:solidFill>
              </a:rPr>
              <a:t>정예</a:t>
            </a:r>
            <a:endParaRPr lang="en-US" altLang="ko-KR" sz="1200" dirty="0" smtClean="0">
              <a:ln>
                <a:solidFill>
                  <a:srgbClr val="C00000"/>
                </a:solidFill>
              </a:ln>
              <a:solidFill>
                <a:sysClr val="windowText" lastClr="000000"/>
              </a:solidFill>
            </a:endParaRPr>
          </a:p>
          <a:p>
            <a:pPr algn="ctr"/>
            <a:r>
              <a:rPr lang="ko-KR" altLang="en-US" sz="1200" dirty="0" err="1" smtClean="0">
                <a:ln>
                  <a:solidFill>
                    <a:srgbClr val="C00000"/>
                  </a:solidFill>
                </a:ln>
                <a:solidFill>
                  <a:sysClr val="windowText" lastClr="000000"/>
                </a:solidFill>
              </a:rPr>
              <a:t>몬스터</a:t>
            </a:r>
            <a:endParaRPr lang="en-US" altLang="ko-KR" sz="1200" dirty="0" smtClean="0">
              <a:ln>
                <a:solidFill>
                  <a:srgbClr val="C0000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액자 68"/>
          <p:cNvSpPr/>
          <p:nvPr/>
        </p:nvSpPr>
        <p:spPr>
          <a:xfrm>
            <a:off x="3529937" y="1182889"/>
            <a:ext cx="1511256" cy="3285808"/>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2" name="모서리가 둥근 사각형 설명선 71"/>
          <p:cNvSpPr/>
          <p:nvPr/>
        </p:nvSpPr>
        <p:spPr>
          <a:xfrm>
            <a:off x="5528447" y="1816796"/>
            <a:ext cx="3021236" cy="3541498"/>
          </a:xfrm>
          <a:prstGeom prst="wedgeRoundRectCallout">
            <a:avLst>
              <a:gd name="adj1" fmla="val -63946"/>
              <a:gd name="adj2" fmla="val -35981"/>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몬스터 </a:t>
            </a:r>
            <a:r>
              <a:rPr lang="en-US" altLang="ko-KR" sz="1600" b="1" dirty="0" smtClean="0">
                <a:solidFill>
                  <a:sysClr val="windowText" lastClr="000000"/>
                </a:solidFill>
              </a:rPr>
              <a:t>(</a:t>
            </a:r>
            <a:r>
              <a:rPr lang="ko-KR" altLang="en-US" sz="1600" b="1" dirty="0" smtClean="0">
                <a:solidFill>
                  <a:sysClr val="windowText" lastClr="000000"/>
                </a:solidFill>
              </a:rPr>
              <a:t>아군</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- 25 x 25 unit</a:t>
            </a:r>
            <a:br>
              <a:rPr lang="en-US" altLang="ko-KR" sz="1400" dirty="0" smtClean="0">
                <a:solidFill>
                  <a:sysClr val="windowText" lastClr="000000"/>
                </a:solidFill>
              </a:rPr>
            </a:br>
            <a:r>
              <a:rPr lang="en-US" altLang="ko-KR" sz="1400" dirty="0" smtClean="0">
                <a:solidFill>
                  <a:sysClr val="windowText" lastClr="000000"/>
                </a:solidFill>
              </a:rPr>
              <a:t>( C x C )</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유저가 컨트롤하는 몬스터로</a:t>
            </a:r>
            <a:r>
              <a:rPr lang="en-US" altLang="ko-KR" sz="1400" dirty="0" smtClean="0">
                <a:solidFill>
                  <a:sysClr val="windowText" lastClr="000000"/>
                </a:solidFill>
              </a:rPr>
              <a:t>, HP </a:t>
            </a:r>
            <a:r>
              <a:rPr lang="ko-KR" altLang="en-US" sz="1400" dirty="0" smtClean="0">
                <a:solidFill>
                  <a:sysClr val="windowText" lastClr="000000"/>
                </a:solidFill>
              </a:rPr>
              <a:t>및 </a:t>
            </a:r>
            <a:r>
              <a:rPr lang="en-US" altLang="ko-KR" sz="1400" dirty="0" smtClean="0">
                <a:solidFill>
                  <a:sysClr val="windowText" lastClr="000000"/>
                </a:solidFill>
              </a:rPr>
              <a:t>SP </a:t>
            </a:r>
            <a:r>
              <a:rPr lang="ko-KR" altLang="en-US" sz="1400" dirty="0" smtClean="0">
                <a:solidFill>
                  <a:sysClr val="windowText" lastClr="000000"/>
                </a:solidFill>
              </a:rPr>
              <a:t>게이지가 표시됨</a:t>
            </a:r>
            <a:r>
              <a:rPr lang="en-US" altLang="ko-KR" sz="1400" dirty="0">
                <a:solidFill>
                  <a:sysClr val="windowText" lastClr="000000"/>
                </a:solidFill>
              </a:rPr>
              <a:t/>
            </a:r>
            <a:br>
              <a:rPr lang="en-US" altLang="ko-KR" sz="1400" dirty="0">
                <a:solidFill>
                  <a:sysClr val="windowText" lastClr="000000"/>
                </a:solidFill>
              </a:rPr>
            </a:br>
            <a:r>
              <a:rPr lang="en-US" altLang="ko-KR" sz="1400" dirty="0">
                <a:solidFill>
                  <a:sysClr val="windowText" lastClr="000000"/>
                </a:solidFill>
              </a:rPr>
              <a:t/>
            </a:r>
            <a:br>
              <a:rPr lang="en-US" altLang="ko-KR" sz="1400" dirty="0">
                <a:solidFill>
                  <a:sysClr val="windowText" lastClr="000000"/>
                </a:solidFill>
              </a:rPr>
            </a:br>
            <a:r>
              <a:rPr lang="en-US" altLang="ko-KR" sz="1400" dirty="0">
                <a:solidFill>
                  <a:sysClr val="windowText" lastClr="000000"/>
                </a:solidFill>
              </a:rPr>
              <a:t>- </a:t>
            </a:r>
            <a:r>
              <a:rPr lang="ko-KR" altLang="en-US" sz="1400" dirty="0">
                <a:solidFill>
                  <a:sysClr val="windowText" lastClr="000000"/>
                </a:solidFill>
              </a:rPr>
              <a:t>오른쪽</a:t>
            </a:r>
            <a:r>
              <a:rPr lang="en-US" altLang="ko-KR" sz="1400" dirty="0">
                <a:solidFill>
                  <a:sysClr val="windowText" lastClr="000000"/>
                </a:solidFill>
              </a:rPr>
              <a:t>(</a:t>
            </a:r>
            <a:r>
              <a:rPr lang="ko-KR" altLang="en-US" sz="1400" dirty="0">
                <a:solidFill>
                  <a:sysClr val="windowText" lastClr="000000"/>
                </a:solidFill>
              </a:rPr>
              <a:t>적</a:t>
            </a:r>
            <a:r>
              <a:rPr lang="en-US" altLang="ko-KR" sz="1400" dirty="0">
                <a:solidFill>
                  <a:sysClr val="windowText" lastClr="000000"/>
                </a:solidFill>
              </a:rPr>
              <a:t>)</a:t>
            </a:r>
            <a:r>
              <a:rPr lang="ko-KR" altLang="en-US" sz="1400" dirty="0">
                <a:solidFill>
                  <a:sysClr val="windowText" lastClr="000000"/>
                </a:solidFill>
              </a:rPr>
              <a:t>을 바라보고 있음</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파티 내 몬스터의 수에 따라 배치가 달라짐</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선택 시 하단에 청색 원 표시</a:t>
            </a:r>
            <a:endParaRPr lang="en-US" altLang="ko-KR" sz="1400" dirty="0" smtClean="0">
              <a:solidFill>
                <a:sysClr val="windowText" lastClr="000000"/>
              </a:solidFill>
            </a:endParaRPr>
          </a:p>
        </p:txBody>
      </p:sp>
      <p:sp>
        <p:nvSpPr>
          <p:cNvPr id="74" name="TextBox 73"/>
          <p:cNvSpPr txBox="1"/>
          <p:nvPr/>
        </p:nvSpPr>
        <p:spPr>
          <a:xfrm>
            <a:off x="72571" y="250721"/>
            <a:ext cx="4293160"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전투 화면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32791546"/>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타원 21"/>
          <p:cNvSpPr/>
          <p:nvPr/>
        </p:nvSpPr>
        <p:spPr>
          <a:xfrm rot="1265973" flipH="1">
            <a:off x="10071741" y="4939497"/>
            <a:ext cx="1109922" cy="652908"/>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2303732" y="3659392"/>
            <a:ext cx="1109922" cy="666897"/>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 name="타원 1"/>
          <p:cNvSpPr/>
          <p:nvPr/>
        </p:nvSpPr>
        <p:spPr>
          <a:xfrm rot="1265973" flipH="1">
            <a:off x="6103367" y="2995519"/>
            <a:ext cx="1109922" cy="615567"/>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103380" y="519338"/>
            <a:ext cx="3985239"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아군 배치 예시</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43</a:t>
            </a:fld>
            <a:endParaRPr lang="ko-KR" altLang="en-US" sz="1800" dirty="0"/>
          </a:p>
        </p:txBody>
      </p:sp>
      <p:sp>
        <p:nvSpPr>
          <p:cNvPr id="25" name="타원 24"/>
          <p:cNvSpPr/>
          <p:nvPr/>
        </p:nvSpPr>
        <p:spPr>
          <a:xfrm>
            <a:off x="6269829" y="2440096"/>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smtClean="0">
                <a:ln>
                  <a:solidFill>
                    <a:srgbClr val="002060"/>
                  </a:solidFill>
                </a:ln>
                <a:solidFill>
                  <a:schemeClr val="tx1"/>
                </a:solidFill>
              </a:rPr>
              <a:t>몬스터</a:t>
            </a:r>
            <a:endParaRPr lang="ko-KR" altLang="en-US" sz="1600" dirty="0">
              <a:ln>
                <a:solidFill>
                  <a:srgbClr val="002060"/>
                </a:solidFill>
              </a:ln>
              <a:solidFill>
                <a:schemeClr val="tx1"/>
              </a:solidFill>
            </a:endParaRPr>
          </a:p>
        </p:txBody>
      </p:sp>
      <p:sp>
        <p:nvSpPr>
          <p:cNvPr id="91" name="타원 90"/>
          <p:cNvSpPr/>
          <p:nvPr/>
        </p:nvSpPr>
        <p:spPr>
          <a:xfrm>
            <a:off x="2475087" y="3147796"/>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a:ln>
                  <a:solidFill>
                    <a:srgbClr val="002060"/>
                  </a:solidFill>
                </a:ln>
                <a:solidFill>
                  <a:schemeClr val="tx1"/>
                </a:solidFill>
              </a:rPr>
              <a:t>몬스터</a:t>
            </a:r>
            <a:endParaRPr lang="ko-KR" altLang="en-US" sz="1600" b="1" dirty="0">
              <a:ln>
                <a:solidFill>
                  <a:srgbClr val="002060"/>
                </a:solidFill>
              </a:ln>
              <a:solidFill>
                <a:schemeClr val="tx1"/>
              </a:solidFill>
            </a:endParaRPr>
          </a:p>
        </p:txBody>
      </p:sp>
      <p:sp>
        <p:nvSpPr>
          <p:cNvPr id="95" name="타원 94"/>
          <p:cNvSpPr/>
          <p:nvPr/>
        </p:nvSpPr>
        <p:spPr>
          <a:xfrm>
            <a:off x="10241764" y="4410437"/>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a:ln>
                  <a:solidFill>
                    <a:srgbClr val="002060"/>
                  </a:solidFill>
                </a:ln>
                <a:solidFill>
                  <a:schemeClr val="tx1"/>
                </a:solidFill>
              </a:rPr>
              <a:t>몬스터</a:t>
            </a:r>
            <a:endParaRPr lang="ko-KR" altLang="en-US" sz="1600" dirty="0">
              <a:ln>
                <a:solidFill>
                  <a:srgbClr val="002060"/>
                </a:solidFill>
              </a:ln>
              <a:solidFill>
                <a:schemeClr val="tx1"/>
              </a:solidFill>
            </a:endParaRPr>
          </a:p>
        </p:txBody>
      </p:sp>
      <p:sp>
        <p:nvSpPr>
          <p:cNvPr id="32" name="TextBox 31"/>
          <p:cNvSpPr txBox="1"/>
          <p:nvPr/>
        </p:nvSpPr>
        <p:spPr>
          <a:xfrm>
            <a:off x="555572" y="1403431"/>
            <a:ext cx="3385860" cy="461665"/>
          </a:xfrm>
          <a:prstGeom prst="rect">
            <a:avLst/>
          </a:prstGeom>
          <a:noFill/>
        </p:spPr>
        <p:txBody>
          <a:bodyPr wrap="square" rtlCol="0">
            <a:spAutoFit/>
          </a:bodyPr>
          <a:lstStyle/>
          <a:p>
            <a:pPr algn="ct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C a s e : 1</a:t>
            </a: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마리</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3" name="이등변 삼각형 32"/>
          <p:cNvSpPr/>
          <p:nvPr/>
        </p:nvSpPr>
        <p:spPr>
          <a:xfrm rot="19319858">
            <a:off x="582237" y="3432802"/>
            <a:ext cx="880467" cy="69730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직사각형 33"/>
          <p:cNvSpPr/>
          <p:nvPr/>
        </p:nvSpPr>
        <p:spPr>
          <a:xfrm>
            <a:off x="904866" y="3147796"/>
            <a:ext cx="1173763" cy="117944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400" dirty="0" smtClean="0">
                <a:ln>
                  <a:solidFill>
                    <a:srgbClr val="0BC10F"/>
                  </a:solidFill>
                </a:ln>
                <a:solidFill>
                  <a:schemeClr val="tx1"/>
                </a:solidFill>
              </a:rPr>
              <a:t>캐릭터</a:t>
            </a:r>
            <a:endParaRPr lang="ko-KR" altLang="en-US" sz="2400" dirty="0">
              <a:ln>
                <a:solidFill>
                  <a:srgbClr val="0BC10F"/>
                </a:solidFill>
              </a:ln>
              <a:solidFill>
                <a:schemeClr val="tx1"/>
              </a:solidFill>
            </a:endParaRPr>
          </a:p>
        </p:txBody>
      </p:sp>
      <p:sp>
        <p:nvSpPr>
          <p:cNvPr id="35" name="TextBox 34"/>
          <p:cNvSpPr txBox="1"/>
          <p:nvPr/>
        </p:nvSpPr>
        <p:spPr>
          <a:xfrm>
            <a:off x="4403069" y="1403431"/>
            <a:ext cx="3385860" cy="461665"/>
          </a:xfrm>
          <a:prstGeom prst="rect">
            <a:avLst/>
          </a:prstGeom>
          <a:noFill/>
        </p:spPr>
        <p:txBody>
          <a:bodyPr wrap="square" rtlCol="0">
            <a:spAutoFit/>
          </a:bodyPr>
          <a:lstStyle/>
          <a:p>
            <a:pPr algn="ct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C a s e : 2</a:t>
            </a: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마리</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6" name="TextBox 35"/>
          <p:cNvSpPr txBox="1"/>
          <p:nvPr/>
        </p:nvSpPr>
        <p:spPr>
          <a:xfrm>
            <a:off x="8205440" y="1403432"/>
            <a:ext cx="3385860" cy="461665"/>
          </a:xfrm>
          <a:prstGeom prst="rect">
            <a:avLst/>
          </a:prstGeom>
          <a:noFill/>
        </p:spPr>
        <p:txBody>
          <a:bodyPr wrap="square" rtlCol="0">
            <a:spAutoFit/>
          </a:bodyPr>
          <a:lstStyle/>
          <a:p>
            <a:pPr algn="ct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C a s e : 3</a:t>
            </a: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마리</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7" name="타원 36"/>
          <p:cNvSpPr/>
          <p:nvPr/>
        </p:nvSpPr>
        <p:spPr>
          <a:xfrm rot="1265973" flipH="1">
            <a:off x="6098474" y="4215334"/>
            <a:ext cx="1109922" cy="666897"/>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8" name="타원 37"/>
          <p:cNvSpPr/>
          <p:nvPr/>
        </p:nvSpPr>
        <p:spPr>
          <a:xfrm>
            <a:off x="6269829" y="3703738"/>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a:ln>
                  <a:solidFill>
                    <a:srgbClr val="002060"/>
                  </a:solidFill>
                </a:ln>
                <a:solidFill>
                  <a:schemeClr val="tx1"/>
                </a:solidFill>
              </a:rPr>
              <a:t>몬스터</a:t>
            </a:r>
            <a:endParaRPr lang="ko-KR" altLang="en-US" sz="1600" b="1" dirty="0">
              <a:ln>
                <a:solidFill>
                  <a:srgbClr val="002060"/>
                </a:solidFill>
              </a:ln>
              <a:solidFill>
                <a:schemeClr val="tx1"/>
              </a:solidFill>
            </a:endParaRPr>
          </a:p>
        </p:txBody>
      </p:sp>
      <p:sp>
        <p:nvSpPr>
          <p:cNvPr id="39" name="이등변 삼각형 38"/>
          <p:cNvSpPr/>
          <p:nvPr/>
        </p:nvSpPr>
        <p:spPr>
          <a:xfrm rot="19319858">
            <a:off x="4424479" y="3439113"/>
            <a:ext cx="880467" cy="69730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직사각형 39"/>
          <p:cNvSpPr/>
          <p:nvPr/>
        </p:nvSpPr>
        <p:spPr>
          <a:xfrm>
            <a:off x="4747108" y="3154107"/>
            <a:ext cx="1173763" cy="117944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400" dirty="0" smtClean="0">
                <a:ln>
                  <a:solidFill>
                    <a:srgbClr val="0BC10F"/>
                  </a:solidFill>
                </a:ln>
                <a:solidFill>
                  <a:schemeClr val="tx1"/>
                </a:solidFill>
              </a:rPr>
              <a:t>캐릭터</a:t>
            </a:r>
            <a:endParaRPr lang="ko-KR" altLang="en-US" sz="2400" dirty="0">
              <a:ln>
                <a:solidFill>
                  <a:srgbClr val="0BC10F"/>
                </a:solidFill>
              </a:ln>
              <a:solidFill>
                <a:schemeClr val="tx1"/>
              </a:solidFill>
            </a:endParaRPr>
          </a:p>
        </p:txBody>
      </p:sp>
      <p:sp>
        <p:nvSpPr>
          <p:cNvPr id="41" name="타원 40"/>
          <p:cNvSpPr/>
          <p:nvPr/>
        </p:nvSpPr>
        <p:spPr>
          <a:xfrm rot="1265973" flipH="1">
            <a:off x="10065021" y="2438729"/>
            <a:ext cx="1109922" cy="615567"/>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타원 41"/>
          <p:cNvSpPr/>
          <p:nvPr/>
        </p:nvSpPr>
        <p:spPr>
          <a:xfrm>
            <a:off x="10231483" y="1883306"/>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smtClean="0">
                <a:ln>
                  <a:solidFill>
                    <a:srgbClr val="002060"/>
                  </a:solidFill>
                </a:ln>
                <a:solidFill>
                  <a:schemeClr val="tx1"/>
                </a:solidFill>
              </a:rPr>
              <a:t>몬스터</a:t>
            </a:r>
            <a:endParaRPr lang="ko-KR" altLang="en-US" sz="1600" dirty="0">
              <a:ln>
                <a:solidFill>
                  <a:srgbClr val="002060"/>
                </a:solidFill>
              </a:ln>
              <a:solidFill>
                <a:schemeClr val="tx1"/>
              </a:solidFill>
            </a:endParaRPr>
          </a:p>
        </p:txBody>
      </p:sp>
      <p:sp>
        <p:nvSpPr>
          <p:cNvPr id="43" name="타원 42"/>
          <p:cNvSpPr/>
          <p:nvPr/>
        </p:nvSpPr>
        <p:spPr>
          <a:xfrm rot="1265973" flipH="1">
            <a:off x="10060128" y="3658544"/>
            <a:ext cx="1109922" cy="666897"/>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4" name="타원 43"/>
          <p:cNvSpPr/>
          <p:nvPr/>
        </p:nvSpPr>
        <p:spPr>
          <a:xfrm>
            <a:off x="10231483" y="3146948"/>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a:ln>
                  <a:solidFill>
                    <a:srgbClr val="002060"/>
                  </a:solidFill>
                </a:ln>
                <a:solidFill>
                  <a:schemeClr val="tx1"/>
                </a:solidFill>
              </a:rPr>
              <a:t>몬스터</a:t>
            </a:r>
            <a:endParaRPr lang="ko-KR" altLang="en-US" sz="1600" b="1" dirty="0">
              <a:ln>
                <a:solidFill>
                  <a:srgbClr val="002060"/>
                </a:solidFill>
              </a:ln>
              <a:solidFill>
                <a:schemeClr val="tx1"/>
              </a:solidFill>
            </a:endParaRPr>
          </a:p>
        </p:txBody>
      </p:sp>
      <p:sp>
        <p:nvSpPr>
          <p:cNvPr id="45" name="이등변 삼각형 44"/>
          <p:cNvSpPr/>
          <p:nvPr/>
        </p:nvSpPr>
        <p:spPr>
          <a:xfrm rot="19319858">
            <a:off x="8373784" y="3432802"/>
            <a:ext cx="880467" cy="69730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6" name="직사각형 45"/>
          <p:cNvSpPr/>
          <p:nvPr/>
        </p:nvSpPr>
        <p:spPr>
          <a:xfrm>
            <a:off x="8696413" y="3147796"/>
            <a:ext cx="1173763" cy="117944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400" dirty="0" smtClean="0">
                <a:ln>
                  <a:solidFill>
                    <a:srgbClr val="0BC10F"/>
                  </a:solidFill>
                </a:ln>
                <a:solidFill>
                  <a:schemeClr val="tx1"/>
                </a:solidFill>
              </a:rPr>
              <a:t>캐릭터</a:t>
            </a:r>
            <a:endParaRPr lang="ko-KR" altLang="en-US" sz="2400" dirty="0">
              <a:ln>
                <a:solidFill>
                  <a:srgbClr val="0BC10F"/>
                </a:solidFill>
              </a:ln>
              <a:solidFill>
                <a:schemeClr val="tx1"/>
              </a:solidFill>
            </a:endParaRPr>
          </a:p>
        </p:txBody>
      </p:sp>
      <p:sp>
        <p:nvSpPr>
          <p:cNvPr id="29" name="TextBox 28"/>
          <p:cNvSpPr txBox="1"/>
          <p:nvPr/>
        </p:nvSpPr>
        <p:spPr>
          <a:xfrm>
            <a:off x="72571" y="250721"/>
            <a:ext cx="4293160"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전투 화면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163104139"/>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6618506" y="1896177"/>
            <a:ext cx="1916348" cy="500174"/>
            <a:chOff x="1954270" y="2989146"/>
            <a:chExt cx="1916348" cy="500174"/>
          </a:xfrm>
          <a:solidFill>
            <a:srgbClr val="FF0000"/>
          </a:solidFill>
        </p:grpSpPr>
        <p:sp>
          <p:nvSpPr>
            <p:cNvPr id="74" name="도넛 73"/>
            <p:cNvSpPr/>
            <p:nvPr/>
          </p:nvSpPr>
          <p:spPr>
            <a:xfrm>
              <a:off x="2128569" y="3095610"/>
              <a:ext cx="1571458" cy="276200"/>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도넛 78"/>
            <p:cNvSpPr/>
            <p:nvPr/>
          </p:nvSpPr>
          <p:spPr>
            <a:xfrm>
              <a:off x="1954270" y="2989146"/>
              <a:ext cx="1916348" cy="500174"/>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3343889" y="1919260"/>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44</a:t>
            </a:fld>
            <a:endParaRPr lang="ko-KR" altLang="en-US" sz="1800" dirty="0"/>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캐릭터</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smtClean="0">
                <a:ln>
                  <a:solidFill>
                    <a:srgbClr val="7030A0"/>
                  </a:solidFill>
                </a:ln>
                <a:solidFill>
                  <a:sysClr val="windowText" lastClr="000000"/>
                </a:solidFill>
              </a:rPr>
              <a:t>정예</a:t>
            </a:r>
            <a:endParaRPr lang="en-US" altLang="ko-KR" sz="1200" dirty="0" smtClean="0">
              <a:ln>
                <a:solidFill>
                  <a:srgbClr val="7030A0"/>
                </a:solidFill>
              </a:ln>
              <a:solidFill>
                <a:sysClr val="windowText" lastClr="000000"/>
              </a:solidFill>
            </a:endParaRPr>
          </a:p>
          <a:p>
            <a:pPr algn="ctr"/>
            <a:r>
              <a:rPr lang="ko-KR" altLang="en-US" sz="1200" dirty="0" err="1" smtClean="0">
                <a:ln>
                  <a:solidFill>
                    <a:srgbClr val="7030A0"/>
                  </a:solidFill>
                </a:ln>
                <a:solidFill>
                  <a:sysClr val="windowText" lastClr="000000"/>
                </a:solidFill>
              </a:rPr>
              <a:t>몬스터</a:t>
            </a:r>
            <a:endParaRPr lang="en-US" altLang="ko-KR" sz="1200" dirty="0" smtClean="0">
              <a:ln>
                <a:solidFill>
                  <a:srgbClr val="7030A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적</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액자 68"/>
          <p:cNvSpPr/>
          <p:nvPr/>
        </p:nvSpPr>
        <p:spPr>
          <a:xfrm>
            <a:off x="6464467" y="1158585"/>
            <a:ext cx="4042164" cy="3285808"/>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2" name="모서리가 둥근 사각형 설명선 71"/>
          <p:cNvSpPr/>
          <p:nvPr/>
        </p:nvSpPr>
        <p:spPr>
          <a:xfrm>
            <a:off x="3050202" y="1451897"/>
            <a:ext cx="2896175" cy="4048085"/>
          </a:xfrm>
          <a:prstGeom prst="wedgeRoundRectCallout">
            <a:avLst>
              <a:gd name="adj1" fmla="val 63575"/>
              <a:gd name="adj2" fmla="val -37752"/>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몬스터 </a:t>
            </a:r>
            <a:r>
              <a:rPr lang="en-US" altLang="ko-KR" sz="1600" b="1" dirty="0" smtClean="0">
                <a:solidFill>
                  <a:sysClr val="windowText" lastClr="000000"/>
                </a:solidFill>
              </a:rPr>
              <a:t>(</a:t>
            </a:r>
            <a:r>
              <a:rPr lang="ko-KR" altLang="en-US" sz="1600" b="1" dirty="0" smtClean="0">
                <a:solidFill>
                  <a:sysClr val="windowText" lastClr="000000"/>
                </a:solidFill>
              </a:rPr>
              <a:t>적</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- 25 x 25 unit</a:t>
            </a:r>
            <a:br>
              <a:rPr lang="en-US" altLang="ko-KR" sz="1400" dirty="0" smtClean="0">
                <a:solidFill>
                  <a:sysClr val="windowText" lastClr="000000"/>
                </a:solidFill>
              </a:rPr>
            </a:br>
            <a:r>
              <a:rPr lang="en-US" altLang="ko-KR" sz="1400" dirty="0" smtClean="0">
                <a:solidFill>
                  <a:sysClr val="windowText" lastClr="000000"/>
                </a:solidFill>
              </a:rPr>
              <a:t>( C x C )</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던전에서 적으로 출현하는 몬스터로</a:t>
            </a:r>
            <a:r>
              <a:rPr lang="en-US" altLang="ko-KR" sz="1400" dirty="0" smtClean="0">
                <a:solidFill>
                  <a:sysClr val="windowText" lastClr="000000"/>
                </a:solidFill>
              </a:rPr>
              <a:t>, HP </a:t>
            </a:r>
            <a:r>
              <a:rPr lang="ko-KR" altLang="en-US" sz="1400" dirty="0" smtClean="0">
                <a:solidFill>
                  <a:sysClr val="windowText" lastClr="000000"/>
                </a:solidFill>
              </a:rPr>
              <a:t>및 </a:t>
            </a:r>
            <a:r>
              <a:rPr lang="en-US" altLang="ko-KR" sz="1400" dirty="0" smtClean="0">
                <a:solidFill>
                  <a:sysClr val="windowText" lastClr="000000"/>
                </a:solidFill>
              </a:rPr>
              <a:t>SP </a:t>
            </a:r>
            <a:r>
              <a:rPr lang="ko-KR" altLang="en-US" sz="1400" dirty="0" smtClean="0">
                <a:solidFill>
                  <a:sysClr val="windowText" lastClr="000000"/>
                </a:solidFill>
              </a:rPr>
              <a:t>게이지가 표시됨</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왼쪽</a:t>
            </a:r>
            <a:r>
              <a:rPr lang="en-US" altLang="ko-KR" sz="1400" dirty="0" smtClean="0">
                <a:solidFill>
                  <a:sysClr val="windowText" lastClr="000000"/>
                </a:solidFill>
              </a:rPr>
              <a:t>(</a:t>
            </a:r>
            <a:r>
              <a:rPr lang="ko-KR" altLang="en-US" sz="1400" dirty="0" smtClean="0">
                <a:solidFill>
                  <a:sysClr val="windowText" lastClr="000000"/>
                </a:solidFill>
              </a:rPr>
              <a:t>아군</a:t>
            </a:r>
            <a:r>
              <a:rPr lang="en-US" altLang="ko-KR" sz="1400" dirty="0" smtClean="0">
                <a:solidFill>
                  <a:sysClr val="windowText" lastClr="000000"/>
                </a:solidFill>
              </a:rPr>
              <a:t>)</a:t>
            </a:r>
            <a:r>
              <a:rPr lang="ko-KR" altLang="en-US" sz="1400" dirty="0" smtClean="0">
                <a:solidFill>
                  <a:sysClr val="windowText" lastClr="000000"/>
                </a:solidFill>
              </a:rPr>
              <a:t>을 바라보고 있음</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위</a:t>
            </a:r>
            <a:r>
              <a:rPr lang="en-US" altLang="ko-KR" sz="1400" dirty="0" smtClean="0">
                <a:solidFill>
                  <a:sysClr val="windowText" lastClr="000000"/>
                </a:solidFill>
              </a:rPr>
              <a:t>, </a:t>
            </a:r>
            <a:r>
              <a:rPr lang="ko-KR" altLang="en-US" sz="1400" dirty="0" smtClean="0">
                <a:solidFill>
                  <a:sysClr val="windowText" lastClr="000000"/>
                </a:solidFill>
              </a:rPr>
              <a:t>왼쪽부터 차례가 시작됨</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파티 내 몬스터의 수에 따라 배치가 달라짐</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차례 시 하단에 적색 원 표시</a:t>
            </a:r>
            <a:endParaRPr lang="en-US" altLang="ko-KR" sz="1400" dirty="0" smtClean="0">
              <a:solidFill>
                <a:sysClr val="windowText" lastClr="000000"/>
              </a:solidFill>
            </a:endParaRPr>
          </a:p>
        </p:txBody>
      </p:sp>
      <p:sp>
        <p:nvSpPr>
          <p:cNvPr id="97" name="TextBox 96"/>
          <p:cNvSpPr txBox="1"/>
          <p:nvPr/>
        </p:nvSpPr>
        <p:spPr>
          <a:xfrm>
            <a:off x="72571" y="250721"/>
            <a:ext cx="4293160"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전투 화면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210860091"/>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3" name="그룹 72"/>
          <p:cNvGrpSpPr/>
          <p:nvPr/>
        </p:nvGrpSpPr>
        <p:grpSpPr>
          <a:xfrm>
            <a:off x="8065852" y="3034568"/>
            <a:ext cx="1916348" cy="500174"/>
            <a:chOff x="1954270" y="2989146"/>
            <a:chExt cx="1916348" cy="500174"/>
          </a:xfrm>
          <a:solidFill>
            <a:srgbClr val="FF0000"/>
          </a:solidFill>
        </p:grpSpPr>
        <p:sp>
          <p:nvSpPr>
            <p:cNvPr id="74" name="도넛 73"/>
            <p:cNvSpPr/>
            <p:nvPr/>
          </p:nvSpPr>
          <p:spPr>
            <a:xfrm>
              <a:off x="2128569" y="3095610"/>
              <a:ext cx="1571458" cy="276200"/>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도넛 78"/>
            <p:cNvSpPr/>
            <p:nvPr/>
          </p:nvSpPr>
          <p:spPr>
            <a:xfrm>
              <a:off x="1954270" y="2989146"/>
              <a:ext cx="1916348" cy="500174"/>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3343889" y="1919260"/>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45</a:t>
            </a:fld>
            <a:endParaRPr lang="ko-KR" altLang="en-US" sz="1800" dirty="0"/>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캐릭터</a:t>
            </a:r>
            <a:endParaRPr lang="ko-KR" altLang="en-US" sz="1600" dirty="0">
              <a:ln>
                <a:solidFill>
                  <a:srgbClr val="0BC10F"/>
                </a:solidFill>
              </a:ln>
              <a:solidFill>
                <a:schemeClr val="tx1"/>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전투 화면 </a:t>
            </a:r>
            <a:r>
              <a:rPr lang="en-US" altLang="ko-KR"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보스</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8701578" y="1902306"/>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액자 68"/>
          <p:cNvSpPr/>
          <p:nvPr/>
        </p:nvSpPr>
        <p:spPr>
          <a:xfrm>
            <a:off x="7958240" y="1797067"/>
            <a:ext cx="2087264" cy="1896792"/>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2" name="모서리가 둥근 사각형 설명선 71"/>
          <p:cNvSpPr/>
          <p:nvPr/>
        </p:nvSpPr>
        <p:spPr>
          <a:xfrm>
            <a:off x="4550534" y="1290064"/>
            <a:ext cx="2889648" cy="2588974"/>
          </a:xfrm>
          <a:prstGeom prst="wedgeRoundRectCallout">
            <a:avLst>
              <a:gd name="adj1" fmla="val 65061"/>
              <a:gd name="adj2" fmla="val 24589"/>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보스</a:t>
            </a:r>
            <a:r>
              <a:rPr lang="en-US" altLang="ko-KR" sz="1600" b="1" dirty="0" smtClean="0">
                <a:solidFill>
                  <a:sysClr val="windowText" lastClr="000000"/>
                </a:solidFill>
              </a:rPr>
              <a:t>’</a:t>
            </a:r>
            <a:endParaRPr lang="en-US" altLang="ko-KR" sz="1600" b="1" dirty="0" smtClean="0">
              <a:solidFill>
                <a:sysClr val="windowText" lastClr="000000"/>
              </a:solidFill>
            </a:endParaRPr>
          </a:p>
          <a:p>
            <a:endParaRPr lang="en-US" altLang="ko-KR" sz="1400" b="1" dirty="0">
              <a:solidFill>
                <a:sysClr val="windowText" lastClr="000000"/>
              </a:solidFill>
            </a:endParaRPr>
          </a:p>
          <a:p>
            <a:r>
              <a:rPr lang="en-US" altLang="ko-KR" sz="1400" dirty="0" smtClean="0">
                <a:solidFill>
                  <a:sysClr val="windowText" lastClr="000000"/>
                </a:solidFill>
              </a:rPr>
              <a:t>- </a:t>
            </a:r>
            <a:r>
              <a:rPr lang="en-US" altLang="ko-KR" sz="1400" dirty="0" smtClean="0">
                <a:solidFill>
                  <a:sysClr val="windowText" lastClr="000000"/>
                </a:solidFill>
              </a:rPr>
              <a:t>50 </a:t>
            </a:r>
            <a:r>
              <a:rPr lang="en-US" altLang="ko-KR" sz="1400" dirty="0" smtClean="0">
                <a:solidFill>
                  <a:sysClr val="windowText" lastClr="000000"/>
                </a:solidFill>
              </a:rPr>
              <a:t>x </a:t>
            </a:r>
            <a:r>
              <a:rPr lang="en-US" altLang="ko-KR" sz="1400" dirty="0" smtClean="0">
                <a:solidFill>
                  <a:sysClr val="windowText" lastClr="000000"/>
                </a:solidFill>
              </a:rPr>
              <a:t>50</a:t>
            </a:r>
            <a:r>
              <a:rPr lang="en-US" altLang="ko-KR" sz="1400" dirty="0" smtClean="0">
                <a:solidFill>
                  <a:sysClr val="windowText" lastClr="000000"/>
                </a:solidFill>
              </a:rPr>
              <a:t> </a:t>
            </a:r>
            <a:r>
              <a:rPr lang="en-US" altLang="ko-KR" sz="1400" dirty="0" smtClean="0">
                <a:solidFill>
                  <a:sysClr val="windowText" lastClr="000000"/>
                </a:solidFill>
              </a:rPr>
              <a:t>unit</a:t>
            </a:r>
            <a:br>
              <a:rPr lang="en-US" altLang="ko-KR" sz="1400" dirty="0" smtClean="0">
                <a:solidFill>
                  <a:sysClr val="windowText" lastClr="000000"/>
                </a:solidFill>
              </a:rPr>
            </a:br>
            <a:r>
              <a:rPr lang="en-US" altLang="ko-KR" sz="1400" dirty="0" smtClean="0">
                <a:solidFill>
                  <a:sysClr val="windowText" lastClr="000000"/>
                </a:solidFill>
              </a:rPr>
              <a:t>( </a:t>
            </a:r>
            <a:r>
              <a:rPr lang="en-US" altLang="ko-KR" sz="1400" dirty="0" smtClean="0">
                <a:solidFill>
                  <a:sysClr val="windowText" lastClr="000000"/>
                </a:solidFill>
              </a:rPr>
              <a:t>C*2 </a:t>
            </a:r>
            <a:r>
              <a:rPr lang="en-US" altLang="ko-KR" sz="1400" dirty="0" smtClean="0">
                <a:solidFill>
                  <a:sysClr val="windowText" lastClr="000000"/>
                </a:solidFill>
              </a:rPr>
              <a:t>x </a:t>
            </a:r>
            <a:r>
              <a:rPr lang="en-US" altLang="ko-KR" sz="1400" dirty="0" smtClean="0">
                <a:solidFill>
                  <a:sysClr val="windowText" lastClr="000000"/>
                </a:solidFill>
              </a:rPr>
              <a:t>C*2 </a:t>
            </a:r>
            <a:r>
              <a:rPr lang="en-US" altLang="ko-KR" sz="1400" dirty="0" smtClean="0">
                <a:solidFill>
                  <a:sysClr val="windowText" lastClr="000000"/>
                </a:solidFill>
              </a:rPr>
              <a:t>)</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보스 에어리어에서 등장하는 강력한 몬스터</a:t>
            </a:r>
            <a:r>
              <a:rPr lang="en-US" altLang="ko-KR" sz="1400" dirty="0">
                <a:solidFill>
                  <a:sysClr val="windowText" lastClr="000000"/>
                </a:solidFill>
              </a:rPr>
              <a:t/>
            </a:r>
            <a:br>
              <a:rPr lang="en-US" altLang="ko-KR" sz="1400" dirty="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주로 </a:t>
            </a:r>
            <a:r>
              <a:rPr lang="ko-KR" altLang="en-US" sz="1400" dirty="0" err="1" smtClean="0">
                <a:solidFill>
                  <a:sysClr val="windowText" lastClr="000000"/>
                </a:solidFill>
              </a:rPr>
              <a:t>혼자거나</a:t>
            </a:r>
            <a:r>
              <a:rPr lang="en-US" altLang="ko-KR" sz="1400" dirty="0" smtClean="0">
                <a:solidFill>
                  <a:sysClr val="windowText" lastClr="000000"/>
                </a:solidFill>
              </a:rPr>
              <a:t>,</a:t>
            </a:r>
            <a:r>
              <a:rPr lang="ko-KR" altLang="en-US" sz="1400" dirty="0" smtClean="0">
                <a:solidFill>
                  <a:sysClr val="windowText" lastClr="000000"/>
                </a:solidFill>
              </a:rPr>
              <a:t> </a:t>
            </a:r>
            <a:r>
              <a:rPr lang="en-US" altLang="ko-KR" sz="1400" dirty="0" smtClean="0">
                <a:solidFill>
                  <a:sysClr val="windowText" lastClr="000000"/>
                </a:solidFill>
              </a:rPr>
              <a:t>2</a:t>
            </a:r>
            <a:r>
              <a:rPr lang="ko-KR" altLang="en-US" sz="1400" dirty="0" smtClean="0">
                <a:solidFill>
                  <a:sysClr val="windowText" lastClr="000000"/>
                </a:solidFill>
              </a:rPr>
              <a:t>마리의 몬스터를 대동하고 등장함</a:t>
            </a:r>
            <a:endParaRPr lang="en-US" altLang="ko-KR" sz="1400" dirty="0">
              <a:solidFill>
                <a:sysClr val="windowText" lastClr="000000"/>
              </a:solidFill>
            </a:endParaRPr>
          </a:p>
        </p:txBody>
      </p:sp>
      <p:sp>
        <p:nvSpPr>
          <p:cNvPr id="85" name="포인트가 5개인 별 84"/>
          <p:cNvSpPr/>
          <p:nvPr/>
        </p:nvSpPr>
        <p:spPr>
          <a:xfrm>
            <a:off x="8276269" y="2025724"/>
            <a:ext cx="1451207" cy="1258931"/>
          </a:xfrm>
          <a:prstGeom prst="star5">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smtClean="0">
                <a:ln>
                  <a:solidFill>
                    <a:srgbClr val="FF0000"/>
                  </a:solidFill>
                </a:ln>
                <a:solidFill>
                  <a:sysClr val="windowText" lastClr="000000"/>
                </a:solidFill>
              </a:rPr>
              <a:t>보스</a:t>
            </a:r>
            <a:endParaRPr lang="en-US" altLang="ko-KR" sz="1400" dirty="0" smtClean="0">
              <a:ln>
                <a:solidFill>
                  <a:srgbClr val="FF0000"/>
                </a:solidFill>
              </a:ln>
              <a:solidFill>
                <a:sysClr val="windowText" lastClr="000000"/>
              </a:solidFill>
            </a:endParaRPr>
          </a:p>
        </p:txBody>
      </p:sp>
      <p:sp>
        <p:nvSpPr>
          <p:cNvPr id="98" name="TextBox 97"/>
          <p:cNvSpPr txBox="1"/>
          <p:nvPr/>
        </p:nvSpPr>
        <p:spPr>
          <a:xfrm>
            <a:off x="72571" y="250721"/>
            <a:ext cx="4293160"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전투 화면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183585788"/>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103380" y="519338"/>
            <a:ext cx="3985239"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적군 배치 예시</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46</a:t>
            </a:fld>
            <a:endParaRPr lang="ko-KR" altLang="en-US" sz="1800" dirty="0"/>
          </a:p>
        </p:txBody>
      </p:sp>
      <p:sp>
        <p:nvSpPr>
          <p:cNvPr id="32" name="TextBox 31"/>
          <p:cNvSpPr txBox="1"/>
          <p:nvPr/>
        </p:nvSpPr>
        <p:spPr>
          <a:xfrm>
            <a:off x="1398720" y="1545840"/>
            <a:ext cx="1791970" cy="461665"/>
          </a:xfrm>
          <a:prstGeom prst="rect">
            <a:avLst/>
          </a:prstGeom>
          <a:noFill/>
        </p:spPr>
        <p:txBody>
          <a:bodyPr wrap="square" rtlCol="0">
            <a:spAutoFit/>
          </a:bodyPr>
          <a:lstStyle/>
          <a:p>
            <a:pPr algn="ct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C a s e : 1</a:t>
            </a: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마리</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5" name="TextBox 34"/>
          <p:cNvSpPr txBox="1"/>
          <p:nvPr/>
        </p:nvSpPr>
        <p:spPr>
          <a:xfrm>
            <a:off x="5246217" y="1545840"/>
            <a:ext cx="1807726" cy="461665"/>
          </a:xfrm>
          <a:prstGeom prst="rect">
            <a:avLst/>
          </a:prstGeom>
          <a:noFill/>
        </p:spPr>
        <p:txBody>
          <a:bodyPr wrap="square" rtlCol="0">
            <a:spAutoFit/>
          </a:bodyPr>
          <a:lstStyle/>
          <a:p>
            <a:pPr algn="ct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C a s e : 2</a:t>
            </a: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마리</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6" name="TextBox 35"/>
          <p:cNvSpPr txBox="1"/>
          <p:nvPr/>
        </p:nvSpPr>
        <p:spPr>
          <a:xfrm>
            <a:off x="9048588" y="1545841"/>
            <a:ext cx="1722331" cy="461665"/>
          </a:xfrm>
          <a:prstGeom prst="rect">
            <a:avLst/>
          </a:prstGeom>
          <a:noFill/>
        </p:spPr>
        <p:txBody>
          <a:bodyPr wrap="square" rtlCol="0">
            <a:spAutoFit/>
          </a:bodyPr>
          <a:lstStyle/>
          <a:p>
            <a:pPr algn="ct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C a s e : 3</a:t>
            </a: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마리</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8" name="이등변 삼각형 27"/>
          <p:cNvSpPr/>
          <p:nvPr/>
        </p:nvSpPr>
        <p:spPr>
          <a:xfrm rot="2940484">
            <a:off x="2647915" y="33892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a:off x="1502501" y="309877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0" name="이등변 삼각형 29"/>
          <p:cNvSpPr/>
          <p:nvPr/>
        </p:nvSpPr>
        <p:spPr>
          <a:xfrm rot="2940484">
            <a:off x="6511168" y="2781751"/>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a:off x="5365754" y="2491319"/>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47" name="이등변 삼각형 46"/>
          <p:cNvSpPr/>
          <p:nvPr/>
        </p:nvSpPr>
        <p:spPr>
          <a:xfrm rot="2940484">
            <a:off x="6511168" y="389315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8" name="이등변 삼각형 47"/>
          <p:cNvSpPr/>
          <p:nvPr/>
        </p:nvSpPr>
        <p:spPr>
          <a:xfrm>
            <a:off x="5365754" y="360272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49" name="이등변 삼각형 48"/>
          <p:cNvSpPr/>
          <p:nvPr/>
        </p:nvSpPr>
        <p:spPr>
          <a:xfrm rot="2940484">
            <a:off x="10374421" y="2604434"/>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이등변 삼각형 49"/>
          <p:cNvSpPr/>
          <p:nvPr/>
        </p:nvSpPr>
        <p:spPr>
          <a:xfrm>
            <a:off x="9229007" y="231400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51" name="이등변 삼각형 50"/>
          <p:cNvSpPr/>
          <p:nvPr/>
        </p:nvSpPr>
        <p:spPr>
          <a:xfrm rot="2940484">
            <a:off x="10374421" y="3541546"/>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2" name="이등변 삼각형 51"/>
          <p:cNvSpPr/>
          <p:nvPr/>
        </p:nvSpPr>
        <p:spPr>
          <a:xfrm>
            <a:off x="9229007" y="325111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53" name="이등변 삼각형 52"/>
          <p:cNvSpPr/>
          <p:nvPr/>
        </p:nvSpPr>
        <p:spPr>
          <a:xfrm rot="2940484">
            <a:off x="10374421" y="447682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이등변 삼각형 53"/>
          <p:cNvSpPr/>
          <p:nvPr/>
        </p:nvSpPr>
        <p:spPr>
          <a:xfrm>
            <a:off x="9229007" y="4186388"/>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23" name="TextBox 22"/>
          <p:cNvSpPr txBox="1"/>
          <p:nvPr/>
        </p:nvSpPr>
        <p:spPr>
          <a:xfrm>
            <a:off x="72571" y="250721"/>
            <a:ext cx="4293160"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전투 화면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530790225"/>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103380" y="519338"/>
            <a:ext cx="3985239"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적</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군</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배치 예시</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47</a:t>
            </a:fld>
            <a:endParaRPr lang="ko-KR" altLang="en-US" sz="1800" dirty="0"/>
          </a:p>
        </p:txBody>
      </p:sp>
      <p:sp>
        <p:nvSpPr>
          <p:cNvPr id="35" name="TextBox 34"/>
          <p:cNvSpPr txBox="1"/>
          <p:nvPr/>
        </p:nvSpPr>
        <p:spPr>
          <a:xfrm>
            <a:off x="2432260" y="1600316"/>
            <a:ext cx="1807726" cy="461665"/>
          </a:xfrm>
          <a:prstGeom prst="rect">
            <a:avLst/>
          </a:prstGeom>
          <a:noFill/>
        </p:spPr>
        <p:txBody>
          <a:bodyPr wrap="square" rtlCol="0">
            <a:spAutoFit/>
          </a:bodyPr>
          <a:lstStyle/>
          <a:p>
            <a:pPr algn="ct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C a s e : 4</a:t>
            </a: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마리</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6" name="TextBox 35"/>
          <p:cNvSpPr txBox="1"/>
          <p:nvPr/>
        </p:nvSpPr>
        <p:spPr>
          <a:xfrm>
            <a:off x="7840684" y="1545840"/>
            <a:ext cx="1722331" cy="461665"/>
          </a:xfrm>
          <a:prstGeom prst="rect">
            <a:avLst/>
          </a:prstGeom>
          <a:noFill/>
        </p:spPr>
        <p:txBody>
          <a:bodyPr wrap="square" rtlCol="0">
            <a:spAutoFit/>
          </a:bodyPr>
          <a:lstStyle/>
          <a:p>
            <a:pPr algn="ct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C a s e : 5</a:t>
            </a: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마리</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0" name="이등변 삼각형 29"/>
          <p:cNvSpPr/>
          <p:nvPr/>
        </p:nvSpPr>
        <p:spPr>
          <a:xfrm rot="2940484">
            <a:off x="4690221" y="278674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a:off x="3544807" y="2496308"/>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47" name="이등변 삼각형 46"/>
          <p:cNvSpPr/>
          <p:nvPr/>
        </p:nvSpPr>
        <p:spPr>
          <a:xfrm rot="2940484">
            <a:off x="4690221" y="3992944"/>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8" name="이등변 삼각형 47"/>
          <p:cNvSpPr/>
          <p:nvPr/>
        </p:nvSpPr>
        <p:spPr>
          <a:xfrm>
            <a:off x="3544807" y="370251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49" name="이등변 삼각형 48"/>
          <p:cNvSpPr/>
          <p:nvPr/>
        </p:nvSpPr>
        <p:spPr>
          <a:xfrm rot="2940484">
            <a:off x="8365656" y="2569114"/>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이등변 삼각형 49"/>
          <p:cNvSpPr/>
          <p:nvPr/>
        </p:nvSpPr>
        <p:spPr>
          <a:xfrm>
            <a:off x="7220242" y="227868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51" name="이등변 삼각형 50"/>
          <p:cNvSpPr/>
          <p:nvPr/>
        </p:nvSpPr>
        <p:spPr>
          <a:xfrm rot="2940484">
            <a:off x="8365656" y="3506226"/>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2" name="이등변 삼각형 51"/>
          <p:cNvSpPr/>
          <p:nvPr/>
        </p:nvSpPr>
        <p:spPr>
          <a:xfrm>
            <a:off x="7220242" y="321579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53" name="이등변 삼각형 52"/>
          <p:cNvSpPr/>
          <p:nvPr/>
        </p:nvSpPr>
        <p:spPr>
          <a:xfrm rot="2940484">
            <a:off x="8365656" y="444150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이등변 삼각형 53"/>
          <p:cNvSpPr/>
          <p:nvPr/>
        </p:nvSpPr>
        <p:spPr>
          <a:xfrm>
            <a:off x="7220242" y="4151068"/>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22" name="이등변 삼각형 21"/>
          <p:cNvSpPr/>
          <p:nvPr/>
        </p:nvSpPr>
        <p:spPr>
          <a:xfrm rot="2940484">
            <a:off x="2888888" y="278674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이등변 삼각형 22"/>
          <p:cNvSpPr/>
          <p:nvPr/>
        </p:nvSpPr>
        <p:spPr>
          <a:xfrm>
            <a:off x="1743474" y="2496308"/>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24" name="이등변 삼각형 23"/>
          <p:cNvSpPr/>
          <p:nvPr/>
        </p:nvSpPr>
        <p:spPr>
          <a:xfrm rot="2940484">
            <a:off x="2888888" y="3992944"/>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이등변 삼각형 24"/>
          <p:cNvSpPr/>
          <p:nvPr/>
        </p:nvSpPr>
        <p:spPr>
          <a:xfrm>
            <a:off x="1743474" y="370251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26" name="이등변 삼각형 25"/>
          <p:cNvSpPr/>
          <p:nvPr/>
        </p:nvSpPr>
        <p:spPr>
          <a:xfrm rot="2940484">
            <a:off x="10145117" y="296367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7" name="이등변 삼각형 26"/>
          <p:cNvSpPr/>
          <p:nvPr/>
        </p:nvSpPr>
        <p:spPr>
          <a:xfrm>
            <a:off x="8999703" y="26732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3" name="이등변 삼각형 32"/>
          <p:cNvSpPr/>
          <p:nvPr/>
        </p:nvSpPr>
        <p:spPr>
          <a:xfrm rot="2940484">
            <a:off x="10145117" y="3900784"/>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이등변 삼각형 33"/>
          <p:cNvSpPr/>
          <p:nvPr/>
        </p:nvSpPr>
        <p:spPr>
          <a:xfrm>
            <a:off x="8999703" y="361035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29" name="TextBox 28"/>
          <p:cNvSpPr txBox="1"/>
          <p:nvPr/>
        </p:nvSpPr>
        <p:spPr>
          <a:xfrm>
            <a:off x="72571" y="250721"/>
            <a:ext cx="4293160"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전투 화면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496866005"/>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6618506" y="1896177"/>
            <a:ext cx="1916348" cy="500174"/>
            <a:chOff x="1954270" y="2989146"/>
            <a:chExt cx="1916348" cy="500174"/>
          </a:xfrm>
          <a:solidFill>
            <a:srgbClr val="FF0000"/>
          </a:solidFill>
        </p:grpSpPr>
        <p:sp>
          <p:nvSpPr>
            <p:cNvPr id="74" name="도넛 73"/>
            <p:cNvSpPr/>
            <p:nvPr/>
          </p:nvSpPr>
          <p:spPr>
            <a:xfrm>
              <a:off x="2128569" y="3095610"/>
              <a:ext cx="1571458" cy="276200"/>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도넛 78"/>
            <p:cNvSpPr/>
            <p:nvPr/>
          </p:nvSpPr>
          <p:spPr>
            <a:xfrm>
              <a:off x="1954270" y="2989146"/>
              <a:ext cx="1916348" cy="500174"/>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3343889" y="1919260"/>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48</a:t>
            </a:fld>
            <a:endParaRPr lang="ko-KR" altLang="en-US" sz="1800" dirty="0"/>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캐릭터</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smtClean="0">
                <a:ln>
                  <a:solidFill>
                    <a:srgbClr val="7030A0"/>
                  </a:solidFill>
                </a:ln>
                <a:solidFill>
                  <a:sysClr val="windowText" lastClr="000000"/>
                </a:solidFill>
              </a:rPr>
              <a:t>정예</a:t>
            </a:r>
            <a:endParaRPr lang="en-US" altLang="ko-KR" sz="1200" dirty="0" smtClean="0">
              <a:ln>
                <a:solidFill>
                  <a:srgbClr val="7030A0"/>
                </a:solidFill>
              </a:ln>
              <a:solidFill>
                <a:sysClr val="windowText" lastClr="000000"/>
              </a:solidFill>
            </a:endParaRPr>
          </a:p>
          <a:p>
            <a:pPr algn="ctr"/>
            <a:r>
              <a:rPr lang="ko-KR" altLang="en-US" sz="1200" dirty="0" err="1" smtClean="0">
                <a:ln>
                  <a:solidFill>
                    <a:srgbClr val="7030A0"/>
                  </a:solidFill>
                </a:ln>
                <a:solidFill>
                  <a:sysClr val="windowText" lastClr="000000"/>
                </a:solidFill>
              </a:rPr>
              <a:t>몬스터</a:t>
            </a:r>
            <a:endParaRPr lang="en-US" altLang="ko-KR" sz="1200" dirty="0" smtClean="0">
              <a:ln>
                <a:solidFill>
                  <a:srgbClr val="7030A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정보</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창</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액자 68"/>
          <p:cNvSpPr/>
          <p:nvPr/>
        </p:nvSpPr>
        <p:spPr>
          <a:xfrm>
            <a:off x="993293" y="4421955"/>
            <a:ext cx="5251613" cy="1976845"/>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2" name="모서리가 둥근 사각형 설명선 71"/>
          <p:cNvSpPr/>
          <p:nvPr/>
        </p:nvSpPr>
        <p:spPr>
          <a:xfrm>
            <a:off x="7082526" y="3051619"/>
            <a:ext cx="2896175" cy="2205661"/>
          </a:xfrm>
          <a:prstGeom prst="wedgeRoundRectCallout">
            <a:avLst>
              <a:gd name="adj1" fmla="val -75837"/>
              <a:gd name="adj2" fmla="val 37353"/>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err="1" smtClean="0">
                <a:solidFill>
                  <a:sysClr val="windowText" lastClr="000000"/>
                </a:solidFill>
              </a:rPr>
              <a:t>정보창</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- 150 x 50 unit</a:t>
            </a:r>
            <a:br>
              <a:rPr lang="en-US" altLang="ko-KR" sz="1400" dirty="0" smtClean="0">
                <a:solidFill>
                  <a:sysClr val="windowText" lastClr="000000"/>
                </a:solidFill>
              </a:rPr>
            </a:br>
            <a:r>
              <a:rPr lang="en-US" altLang="ko-KR" sz="1400" dirty="0" smtClean="0">
                <a:solidFill>
                  <a:sysClr val="windowText" lastClr="000000"/>
                </a:solidFill>
              </a:rPr>
              <a:t>( C*6 x C*2 )</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플레이어가 마우스 클릭으로 선택한 아군</a:t>
            </a:r>
            <a:r>
              <a:rPr lang="en-US" altLang="ko-KR" sz="1400" dirty="0" smtClean="0">
                <a:solidFill>
                  <a:sysClr val="windowText" lastClr="000000"/>
                </a:solidFill>
              </a:rPr>
              <a:t>, </a:t>
            </a:r>
            <a:r>
              <a:rPr lang="ko-KR" altLang="en-US" sz="1400" dirty="0" smtClean="0">
                <a:solidFill>
                  <a:sysClr val="windowText" lastClr="000000"/>
                </a:solidFill>
              </a:rPr>
              <a:t>적군 혹은 사물의 정보와 상태를 표시함</a:t>
            </a:r>
            <a:endParaRPr lang="en-US" altLang="ko-KR" sz="1400" dirty="0" smtClean="0">
              <a:solidFill>
                <a:sysClr val="windowText" lastClr="000000"/>
              </a:solidFill>
            </a:endParaRPr>
          </a:p>
        </p:txBody>
      </p:sp>
      <p:sp>
        <p:nvSpPr>
          <p:cNvPr id="97" name="TextBox 96"/>
          <p:cNvSpPr txBox="1"/>
          <p:nvPr/>
        </p:nvSpPr>
        <p:spPr>
          <a:xfrm>
            <a:off x="72571" y="250721"/>
            <a:ext cx="4293160"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전투 화면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092239939"/>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6618506" y="1896177"/>
            <a:ext cx="1916348" cy="500174"/>
            <a:chOff x="1954270" y="2989146"/>
            <a:chExt cx="1916348" cy="500174"/>
          </a:xfrm>
          <a:solidFill>
            <a:srgbClr val="FF0000"/>
          </a:solidFill>
        </p:grpSpPr>
        <p:sp>
          <p:nvSpPr>
            <p:cNvPr id="74" name="도넛 73"/>
            <p:cNvSpPr/>
            <p:nvPr/>
          </p:nvSpPr>
          <p:spPr>
            <a:xfrm>
              <a:off x="2128569" y="3095610"/>
              <a:ext cx="1571458" cy="276200"/>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도넛 78"/>
            <p:cNvSpPr/>
            <p:nvPr/>
          </p:nvSpPr>
          <p:spPr>
            <a:xfrm>
              <a:off x="1954270" y="2989146"/>
              <a:ext cx="1916348" cy="500174"/>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3343889" y="1919260"/>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49</a:t>
            </a:fld>
            <a:endParaRPr lang="ko-KR" altLang="en-US" sz="1800" dirty="0"/>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캐릭터</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smtClean="0">
                <a:ln>
                  <a:solidFill>
                    <a:srgbClr val="7030A0"/>
                  </a:solidFill>
                </a:ln>
                <a:solidFill>
                  <a:sysClr val="windowText" lastClr="000000"/>
                </a:solidFill>
              </a:rPr>
              <a:t>정예</a:t>
            </a:r>
            <a:endParaRPr lang="en-US" altLang="ko-KR" sz="1200" dirty="0" smtClean="0">
              <a:ln>
                <a:solidFill>
                  <a:srgbClr val="7030A0"/>
                </a:solidFill>
              </a:ln>
              <a:solidFill>
                <a:sysClr val="windowText" lastClr="000000"/>
              </a:solidFill>
            </a:endParaRPr>
          </a:p>
          <a:p>
            <a:pPr algn="ctr"/>
            <a:r>
              <a:rPr lang="ko-KR" altLang="en-US" sz="1200" dirty="0" err="1" smtClean="0">
                <a:ln>
                  <a:solidFill>
                    <a:srgbClr val="7030A0"/>
                  </a:solidFill>
                </a:ln>
                <a:solidFill>
                  <a:sysClr val="windowText" lastClr="000000"/>
                </a:solidFill>
              </a:rPr>
              <a:t>몬스터</a:t>
            </a:r>
            <a:endParaRPr lang="en-US" altLang="ko-KR" sz="1200" dirty="0" smtClean="0">
              <a:ln>
                <a:solidFill>
                  <a:srgbClr val="7030A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초상</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화</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액자 68"/>
          <p:cNvSpPr/>
          <p:nvPr/>
        </p:nvSpPr>
        <p:spPr>
          <a:xfrm>
            <a:off x="1215551" y="4573915"/>
            <a:ext cx="1142550" cy="1136629"/>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2" name="모서리가 둥근 사각형 설명선 71"/>
          <p:cNvSpPr/>
          <p:nvPr/>
        </p:nvSpPr>
        <p:spPr>
          <a:xfrm>
            <a:off x="2847918" y="3004245"/>
            <a:ext cx="3081853" cy="2491318"/>
          </a:xfrm>
          <a:prstGeom prst="wedgeRoundRectCallout">
            <a:avLst>
              <a:gd name="adj1" fmla="val -63946"/>
              <a:gd name="adj2" fmla="val 29277"/>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초상화</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- 25 x 25 unit</a:t>
            </a:r>
            <a:br>
              <a:rPr lang="en-US" altLang="ko-KR" sz="1400" dirty="0" smtClean="0">
                <a:solidFill>
                  <a:sysClr val="windowText" lastClr="000000"/>
                </a:solidFill>
              </a:rPr>
            </a:br>
            <a:r>
              <a:rPr lang="en-US" altLang="ko-KR" sz="1400" dirty="0" smtClean="0">
                <a:solidFill>
                  <a:sysClr val="windowText" lastClr="000000"/>
                </a:solidFill>
              </a:rPr>
              <a:t>( C x C )</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선택한 사물을 간략하게 그려낸 초상화를 표시</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바로 밑에 해당 개체의 이름을 명시</a:t>
            </a:r>
            <a:endParaRPr lang="en-US" altLang="ko-KR" sz="1400" dirty="0" smtClean="0">
              <a:solidFill>
                <a:sysClr val="windowText" lastClr="000000"/>
              </a:solidFill>
            </a:endParaRPr>
          </a:p>
        </p:txBody>
      </p:sp>
      <p:sp>
        <p:nvSpPr>
          <p:cNvPr id="97" name="TextBox 96"/>
          <p:cNvSpPr txBox="1"/>
          <p:nvPr/>
        </p:nvSpPr>
        <p:spPr>
          <a:xfrm>
            <a:off x="72571" y="250721"/>
            <a:ext cx="4293160"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전투 화면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433881985"/>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6618506" y="1896177"/>
            <a:ext cx="1916348" cy="500174"/>
            <a:chOff x="1954270" y="2989146"/>
            <a:chExt cx="1916348" cy="500174"/>
          </a:xfrm>
          <a:solidFill>
            <a:srgbClr val="FF0000"/>
          </a:solidFill>
        </p:grpSpPr>
        <p:sp>
          <p:nvSpPr>
            <p:cNvPr id="74" name="도넛 73"/>
            <p:cNvSpPr/>
            <p:nvPr/>
          </p:nvSpPr>
          <p:spPr>
            <a:xfrm>
              <a:off x="2128569" y="3095610"/>
              <a:ext cx="1571458" cy="276200"/>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도넛 78"/>
            <p:cNvSpPr/>
            <p:nvPr/>
          </p:nvSpPr>
          <p:spPr>
            <a:xfrm>
              <a:off x="1954270" y="2989146"/>
              <a:ext cx="1916348" cy="500174"/>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3343889" y="1919260"/>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50</a:t>
            </a:fld>
            <a:endParaRPr lang="ko-KR" altLang="en-US" sz="1800" dirty="0"/>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캐릭터</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smtClean="0">
                <a:ln>
                  <a:solidFill>
                    <a:srgbClr val="7030A0"/>
                  </a:solidFill>
                </a:ln>
                <a:solidFill>
                  <a:sysClr val="windowText" lastClr="000000"/>
                </a:solidFill>
              </a:rPr>
              <a:t>정예</a:t>
            </a:r>
            <a:endParaRPr lang="en-US" altLang="ko-KR" sz="1200" dirty="0" smtClean="0">
              <a:ln>
                <a:solidFill>
                  <a:srgbClr val="7030A0"/>
                </a:solidFill>
              </a:ln>
              <a:solidFill>
                <a:sysClr val="windowText" lastClr="000000"/>
              </a:solidFill>
            </a:endParaRPr>
          </a:p>
          <a:p>
            <a:pPr algn="ctr"/>
            <a:r>
              <a:rPr lang="ko-KR" altLang="en-US" sz="1200" dirty="0" err="1" smtClean="0">
                <a:ln>
                  <a:solidFill>
                    <a:srgbClr val="7030A0"/>
                  </a:solidFill>
                </a:ln>
                <a:solidFill>
                  <a:sysClr val="windowText" lastClr="000000"/>
                </a:solidFill>
              </a:rPr>
              <a:t>몬스터</a:t>
            </a:r>
            <a:endParaRPr lang="en-US" altLang="ko-KR" sz="1200" dirty="0" smtClean="0">
              <a:ln>
                <a:solidFill>
                  <a:srgbClr val="7030A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게이지 </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바</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액자 68"/>
          <p:cNvSpPr/>
          <p:nvPr/>
        </p:nvSpPr>
        <p:spPr>
          <a:xfrm>
            <a:off x="1212354" y="5683697"/>
            <a:ext cx="1142550" cy="521046"/>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2" name="모서리가 둥근 사각형 설명선 71"/>
          <p:cNvSpPr/>
          <p:nvPr/>
        </p:nvSpPr>
        <p:spPr>
          <a:xfrm>
            <a:off x="2824804" y="3524747"/>
            <a:ext cx="3170128" cy="2491318"/>
          </a:xfrm>
          <a:prstGeom prst="wedgeRoundRectCallout">
            <a:avLst>
              <a:gd name="adj1" fmla="val -62790"/>
              <a:gd name="adj2" fmla="val 36904"/>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게이지 바</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- 25 x 5 unit</a:t>
            </a:r>
            <a:br>
              <a:rPr lang="en-US" altLang="ko-KR" sz="1400" dirty="0" smtClean="0">
                <a:solidFill>
                  <a:sysClr val="windowText" lastClr="000000"/>
                </a:solidFill>
              </a:rPr>
            </a:br>
            <a:r>
              <a:rPr lang="en-US" altLang="ko-KR" sz="1400" dirty="0" smtClean="0">
                <a:solidFill>
                  <a:sysClr val="windowText" lastClr="000000"/>
                </a:solidFill>
              </a:rPr>
              <a:t>( C x C*0.2 )</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선택한 사물이 체력을 가진 개체라면</a:t>
            </a:r>
            <a:r>
              <a:rPr lang="en-US" altLang="ko-KR" sz="1400" dirty="0" smtClean="0">
                <a:solidFill>
                  <a:sysClr val="windowText" lastClr="000000"/>
                </a:solidFill>
              </a:rPr>
              <a:t>, HP </a:t>
            </a:r>
            <a:r>
              <a:rPr lang="ko-KR" altLang="en-US" sz="1400" dirty="0" smtClean="0">
                <a:solidFill>
                  <a:sysClr val="windowText" lastClr="000000"/>
                </a:solidFill>
              </a:rPr>
              <a:t>및 </a:t>
            </a:r>
            <a:r>
              <a:rPr lang="en-US" altLang="ko-KR" sz="1400" dirty="0" smtClean="0">
                <a:solidFill>
                  <a:sysClr val="windowText" lastClr="000000"/>
                </a:solidFill>
              </a:rPr>
              <a:t>SP</a:t>
            </a:r>
            <a:r>
              <a:rPr lang="ko-KR" altLang="en-US" sz="1400" dirty="0" smtClean="0">
                <a:solidFill>
                  <a:sysClr val="windowText" lastClr="000000"/>
                </a:solidFill>
              </a:rPr>
              <a:t>를 게이지 바 형태로 표시</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우측에 구체적인 수치를 기입</a:t>
            </a:r>
            <a:endParaRPr lang="en-US" altLang="ko-KR" sz="1400" dirty="0" smtClean="0">
              <a:solidFill>
                <a:sysClr val="windowText" lastClr="000000"/>
              </a:solidFill>
            </a:endParaRPr>
          </a:p>
        </p:txBody>
      </p:sp>
      <p:sp>
        <p:nvSpPr>
          <p:cNvPr id="97" name="TextBox 96"/>
          <p:cNvSpPr txBox="1"/>
          <p:nvPr/>
        </p:nvSpPr>
        <p:spPr>
          <a:xfrm>
            <a:off x="72571" y="250721"/>
            <a:ext cx="4293160"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전투 화면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735404801"/>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6618506" y="1896177"/>
            <a:ext cx="1916348" cy="500174"/>
            <a:chOff x="1954270" y="2989146"/>
            <a:chExt cx="1916348" cy="500174"/>
          </a:xfrm>
          <a:solidFill>
            <a:srgbClr val="FF0000"/>
          </a:solidFill>
        </p:grpSpPr>
        <p:sp>
          <p:nvSpPr>
            <p:cNvPr id="74" name="도넛 73"/>
            <p:cNvSpPr/>
            <p:nvPr/>
          </p:nvSpPr>
          <p:spPr>
            <a:xfrm>
              <a:off x="2128569" y="3095610"/>
              <a:ext cx="1571458" cy="276200"/>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도넛 78"/>
            <p:cNvSpPr/>
            <p:nvPr/>
          </p:nvSpPr>
          <p:spPr>
            <a:xfrm>
              <a:off x="1954270" y="2989146"/>
              <a:ext cx="1916348" cy="500174"/>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3343889" y="1919260"/>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51</a:t>
            </a:fld>
            <a:endParaRPr lang="ko-KR" altLang="en-US" sz="1800" dirty="0"/>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캐릭터</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smtClean="0">
                <a:ln>
                  <a:solidFill>
                    <a:srgbClr val="7030A0"/>
                  </a:solidFill>
                </a:ln>
                <a:solidFill>
                  <a:sysClr val="windowText" lastClr="000000"/>
                </a:solidFill>
              </a:rPr>
              <a:t>정예</a:t>
            </a:r>
            <a:endParaRPr lang="en-US" altLang="ko-KR" sz="1200" dirty="0" smtClean="0">
              <a:ln>
                <a:solidFill>
                  <a:srgbClr val="7030A0"/>
                </a:solidFill>
              </a:ln>
              <a:solidFill>
                <a:sysClr val="windowText" lastClr="000000"/>
              </a:solidFill>
            </a:endParaRPr>
          </a:p>
          <a:p>
            <a:pPr algn="ctr"/>
            <a:r>
              <a:rPr lang="ko-KR" altLang="en-US" sz="1200" dirty="0" err="1" smtClean="0">
                <a:ln>
                  <a:solidFill>
                    <a:srgbClr val="7030A0"/>
                  </a:solidFill>
                </a:ln>
                <a:solidFill>
                  <a:sysClr val="windowText" lastClr="000000"/>
                </a:solidFill>
              </a:rPr>
              <a:t>몬스터</a:t>
            </a:r>
            <a:endParaRPr lang="en-US" altLang="ko-KR" sz="1200" dirty="0" smtClean="0">
              <a:ln>
                <a:solidFill>
                  <a:srgbClr val="7030A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스</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탯</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액자 68"/>
          <p:cNvSpPr/>
          <p:nvPr/>
        </p:nvSpPr>
        <p:spPr>
          <a:xfrm>
            <a:off x="2459216" y="4595720"/>
            <a:ext cx="1849185" cy="1532731"/>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2" name="모서리가 둥근 사각형 설명선 71"/>
          <p:cNvSpPr/>
          <p:nvPr/>
        </p:nvSpPr>
        <p:spPr>
          <a:xfrm>
            <a:off x="4841306" y="2609721"/>
            <a:ext cx="3170128" cy="2964050"/>
          </a:xfrm>
          <a:prstGeom prst="wedgeRoundRectCallout">
            <a:avLst>
              <a:gd name="adj1" fmla="val -62790"/>
              <a:gd name="adj2" fmla="val 36904"/>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err="1" smtClean="0">
                <a:solidFill>
                  <a:sysClr val="windowText" lastClr="000000"/>
                </a:solidFill>
              </a:rPr>
              <a:t>스탯</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- 50 x 50 unit</a:t>
            </a:r>
            <a:br>
              <a:rPr lang="en-US" altLang="ko-KR" sz="1400" dirty="0" smtClean="0">
                <a:solidFill>
                  <a:sysClr val="windowText" lastClr="000000"/>
                </a:solidFill>
              </a:rPr>
            </a:br>
            <a:r>
              <a:rPr lang="en-US" altLang="ko-KR" sz="1400" dirty="0" smtClean="0">
                <a:solidFill>
                  <a:sysClr val="windowText" lastClr="000000"/>
                </a:solidFill>
              </a:rPr>
              <a:t>( C*2 x C*2 )</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선택한 개체의 </a:t>
            </a:r>
            <a:r>
              <a:rPr lang="ko-KR" altLang="en-US" sz="1400" dirty="0" err="1" smtClean="0">
                <a:solidFill>
                  <a:sysClr val="windowText" lastClr="000000"/>
                </a:solidFill>
              </a:rPr>
              <a:t>스탯을</a:t>
            </a:r>
            <a:r>
              <a:rPr lang="ko-KR" altLang="en-US" sz="1400" dirty="0" smtClean="0">
                <a:solidFill>
                  <a:sysClr val="windowText" lastClr="000000"/>
                </a:solidFill>
              </a:rPr>
              <a:t> 보여줌</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TYPE : Type, </a:t>
            </a:r>
            <a:r>
              <a:rPr lang="ko-KR" altLang="en-US" sz="1400" dirty="0" smtClean="0">
                <a:solidFill>
                  <a:sysClr val="windowText" lastClr="000000"/>
                </a:solidFill>
              </a:rPr>
              <a:t>속성</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CRT : Critical, </a:t>
            </a:r>
            <a:r>
              <a:rPr lang="ko-KR" altLang="en-US" sz="1400" dirty="0" smtClean="0">
                <a:solidFill>
                  <a:sysClr val="windowText" lastClr="000000"/>
                </a:solidFill>
              </a:rPr>
              <a:t>크리티컬 확률</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ATK : Attack, </a:t>
            </a:r>
            <a:r>
              <a:rPr lang="ko-KR" altLang="en-US" sz="1400" dirty="0" smtClean="0">
                <a:solidFill>
                  <a:sysClr val="windowText" lastClr="000000"/>
                </a:solidFill>
              </a:rPr>
              <a:t>공격력</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DEF : Defense, </a:t>
            </a:r>
            <a:r>
              <a:rPr lang="ko-KR" altLang="en-US" sz="1400" dirty="0" smtClean="0">
                <a:solidFill>
                  <a:sysClr val="windowText" lastClr="000000"/>
                </a:solidFill>
              </a:rPr>
              <a:t>방어력</a:t>
            </a:r>
            <a:endParaRPr lang="en-US" altLang="ko-KR" sz="1400" dirty="0" smtClean="0">
              <a:solidFill>
                <a:sysClr val="windowText" lastClr="000000"/>
              </a:solidFill>
            </a:endParaRPr>
          </a:p>
          <a:p>
            <a:r>
              <a:rPr lang="en-US" altLang="ko-KR" sz="1400" dirty="0" smtClean="0">
                <a:solidFill>
                  <a:sysClr val="windowText" lastClr="000000"/>
                </a:solidFill>
              </a:rPr>
              <a:t>  AVD : Avoid, </a:t>
            </a:r>
            <a:r>
              <a:rPr lang="ko-KR" altLang="en-US" sz="1400" dirty="0" err="1" smtClean="0">
                <a:solidFill>
                  <a:sysClr val="windowText" lastClr="000000"/>
                </a:solidFill>
              </a:rPr>
              <a:t>회피율</a:t>
            </a:r>
            <a:endParaRPr lang="en-US" altLang="ko-KR" sz="1400" dirty="0" smtClean="0">
              <a:solidFill>
                <a:sysClr val="windowText" lastClr="000000"/>
              </a:solidFill>
            </a:endParaRPr>
          </a:p>
        </p:txBody>
      </p:sp>
      <p:sp>
        <p:nvSpPr>
          <p:cNvPr id="97" name="TextBox 96"/>
          <p:cNvSpPr txBox="1"/>
          <p:nvPr/>
        </p:nvSpPr>
        <p:spPr>
          <a:xfrm>
            <a:off x="72571" y="250721"/>
            <a:ext cx="4293160"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전투 화면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221765613"/>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6618506" y="1896177"/>
            <a:ext cx="1916348" cy="500174"/>
            <a:chOff x="1954270" y="2989146"/>
            <a:chExt cx="1916348" cy="500174"/>
          </a:xfrm>
          <a:solidFill>
            <a:srgbClr val="FF0000"/>
          </a:solidFill>
        </p:grpSpPr>
        <p:sp>
          <p:nvSpPr>
            <p:cNvPr id="74" name="도넛 73"/>
            <p:cNvSpPr/>
            <p:nvPr/>
          </p:nvSpPr>
          <p:spPr>
            <a:xfrm>
              <a:off x="2128569" y="3095610"/>
              <a:ext cx="1571458" cy="276200"/>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도넛 78"/>
            <p:cNvSpPr/>
            <p:nvPr/>
          </p:nvSpPr>
          <p:spPr>
            <a:xfrm>
              <a:off x="1954270" y="2989146"/>
              <a:ext cx="1916348" cy="500174"/>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3343889" y="1919260"/>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52</a:t>
            </a:fld>
            <a:endParaRPr lang="ko-KR" altLang="en-US" sz="1800" dirty="0"/>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캐릭터</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smtClean="0">
                <a:ln>
                  <a:solidFill>
                    <a:srgbClr val="7030A0"/>
                  </a:solidFill>
                </a:ln>
                <a:solidFill>
                  <a:sysClr val="windowText" lastClr="000000"/>
                </a:solidFill>
              </a:rPr>
              <a:t>정예</a:t>
            </a:r>
            <a:endParaRPr lang="en-US" altLang="ko-KR" sz="1200" dirty="0" smtClean="0">
              <a:ln>
                <a:solidFill>
                  <a:srgbClr val="7030A0"/>
                </a:solidFill>
              </a:ln>
              <a:solidFill>
                <a:sysClr val="windowText" lastClr="000000"/>
              </a:solidFill>
            </a:endParaRPr>
          </a:p>
          <a:p>
            <a:pPr algn="ctr"/>
            <a:r>
              <a:rPr lang="ko-KR" altLang="en-US" sz="1200" dirty="0" err="1" smtClean="0">
                <a:ln>
                  <a:solidFill>
                    <a:srgbClr val="7030A0"/>
                  </a:solidFill>
                </a:ln>
                <a:solidFill>
                  <a:sysClr val="windowText" lastClr="000000"/>
                </a:solidFill>
              </a:rPr>
              <a:t>몬스터</a:t>
            </a:r>
            <a:endParaRPr lang="en-US" altLang="ko-KR" sz="1200" dirty="0" smtClean="0">
              <a:ln>
                <a:solidFill>
                  <a:srgbClr val="7030A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상</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태</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액자 68"/>
          <p:cNvSpPr/>
          <p:nvPr/>
        </p:nvSpPr>
        <p:spPr>
          <a:xfrm>
            <a:off x="4444391" y="4595721"/>
            <a:ext cx="1479395" cy="1532731"/>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2" name="모서리가 둥근 사각형 설명선 71"/>
          <p:cNvSpPr/>
          <p:nvPr/>
        </p:nvSpPr>
        <p:spPr>
          <a:xfrm>
            <a:off x="6399784" y="2616908"/>
            <a:ext cx="3294183" cy="2624444"/>
          </a:xfrm>
          <a:prstGeom prst="wedgeRoundRectCallout">
            <a:avLst>
              <a:gd name="adj1" fmla="val -62790"/>
              <a:gd name="adj2" fmla="val 36904"/>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상태</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- 50 x 50 unit</a:t>
            </a:r>
            <a:br>
              <a:rPr lang="en-US" altLang="ko-KR" sz="1400" dirty="0" smtClean="0">
                <a:solidFill>
                  <a:sysClr val="windowText" lastClr="000000"/>
                </a:solidFill>
              </a:rPr>
            </a:br>
            <a:r>
              <a:rPr lang="en-US" altLang="ko-KR" sz="1400" dirty="0" smtClean="0">
                <a:solidFill>
                  <a:sysClr val="windowText" lastClr="000000"/>
                </a:solidFill>
              </a:rPr>
              <a:t>( C*2 x C*2 )</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능력</a:t>
            </a:r>
            <a:r>
              <a:rPr lang="en-US" altLang="ko-KR" sz="1400" dirty="0" smtClean="0">
                <a:solidFill>
                  <a:sysClr val="windowText" lastClr="000000"/>
                </a:solidFill>
              </a:rPr>
              <a:t>, </a:t>
            </a:r>
            <a:r>
              <a:rPr lang="ko-KR" altLang="en-US" sz="1400" dirty="0" smtClean="0">
                <a:solidFill>
                  <a:sysClr val="windowText" lastClr="000000"/>
                </a:solidFill>
              </a:rPr>
              <a:t>상태이상</a:t>
            </a:r>
            <a:r>
              <a:rPr lang="en-US" altLang="ko-KR" sz="1400" dirty="0" smtClean="0">
                <a:solidFill>
                  <a:sysClr val="windowText" lastClr="000000"/>
                </a:solidFill>
              </a:rPr>
              <a:t>, </a:t>
            </a:r>
            <a:r>
              <a:rPr lang="ko-KR" altLang="en-US" sz="1400" dirty="0" smtClean="0">
                <a:solidFill>
                  <a:sysClr val="windowText" lastClr="000000"/>
                </a:solidFill>
              </a:rPr>
              <a:t>버프</a:t>
            </a:r>
            <a:r>
              <a:rPr lang="en-US" altLang="ko-KR" sz="1400" dirty="0" smtClean="0">
                <a:solidFill>
                  <a:sysClr val="windowText" lastClr="000000"/>
                </a:solidFill>
              </a:rPr>
              <a:t>, </a:t>
            </a:r>
            <a:r>
              <a:rPr lang="ko-KR" altLang="en-US" sz="1400" dirty="0" err="1" smtClean="0">
                <a:solidFill>
                  <a:sysClr val="windowText" lastClr="000000"/>
                </a:solidFill>
              </a:rPr>
              <a:t>디버프</a:t>
            </a:r>
            <a:r>
              <a:rPr lang="ko-KR" altLang="en-US" sz="1400" dirty="0" smtClean="0">
                <a:solidFill>
                  <a:sysClr val="windowText" lastClr="000000"/>
                </a:solidFill>
              </a:rPr>
              <a:t> 등 개체의 현재 상태를 보여줌</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err="1" smtClean="0">
                <a:solidFill>
                  <a:sysClr val="windowText" lastClr="000000"/>
                </a:solidFill>
              </a:rPr>
              <a:t>직관성을</a:t>
            </a:r>
            <a:r>
              <a:rPr lang="ko-KR" altLang="en-US" sz="1400" dirty="0" smtClean="0">
                <a:solidFill>
                  <a:sysClr val="windowText" lastClr="000000"/>
                </a:solidFill>
              </a:rPr>
              <a:t> 높이기 위해</a:t>
            </a:r>
            <a:r>
              <a:rPr lang="en-US" altLang="ko-KR" sz="1400" dirty="0" smtClean="0">
                <a:solidFill>
                  <a:sysClr val="windowText" lastClr="000000"/>
                </a:solidFill>
              </a:rPr>
              <a:t>, </a:t>
            </a:r>
            <a:r>
              <a:rPr lang="ko-KR" altLang="en-US" sz="1400" dirty="0" smtClean="0">
                <a:solidFill>
                  <a:sysClr val="windowText" lastClr="000000"/>
                </a:solidFill>
              </a:rPr>
              <a:t>각 상태에 해당하는 정사각형의 아이콘을 통해 표시</a:t>
            </a:r>
            <a:endParaRPr lang="en-US" altLang="ko-KR" sz="1400" dirty="0" smtClean="0">
              <a:solidFill>
                <a:sysClr val="windowText" lastClr="000000"/>
              </a:solidFill>
            </a:endParaRPr>
          </a:p>
        </p:txBody>
      </p:sp>
      <p:sp>
        <p:nvSpPr>
          <p:cNvPr id="97" name="TextBox 96"/>
          <p:cNvSpPr txBox="1"/>
          <p:nvPr/>
        </p:nvSpPr>
        <p:spPr>
          <a:xfrm>
            <a:off x="72571" y="250721"/>
            <a:ext cx="4293160"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전투 화면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721298240"/>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6618506" y="1896177"/>
            <a:ext cx="1916348" cy="500174"/>
            <a:chOff x="1954270" y="2989146"/>
            <a:chExt cx="1916348" cy="500174"/>
          </a:xfrm>
          <a:solidFill>
            <a:srgbClr val="FF0000"/>
          </a:solidFill>
        </p:grpSpPr>
        <p:sp>
          <p:nvSpPr>
            <p:cNvPr id="74" name="도넛 73"/>
            <p:cNvSpPr/>
            <p:nvPr/>
          </p:nvSpPr>
          <p:spPr>
            <a:xfrm>
              <a:off x="2128569" y="3095610"/>
              <a:ext cx="1571458" cy="276200"/>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도넛 78"/>
            <p:cNvSpPr/>
            <p:nvPr/>
          </p:nvSpPr>
          <p:spPr>
            <a:xfrm>
              <a:off x="1954270" y="2989146"/>
              <a:ext cx="1916348" cy="500174"/>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3343889" y="1919260"/>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53</a:t>
            </a:fld>
            <a:endParaRPr lang="ko-KR" altLang="en-US" sz="1800" dirty="0"/>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캐릭터</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smtClean="0">
                <a:ln>
                  <a:solidFill>
                    <a:srgbClr val="7030A0"/>
                  </a:solidFill>
                </a:ln>
                <a:solidFill>
                  <a:sysClr val="windowText" lastClr="000000"/>
                </a:solidFill>
              </a:rPr>
              <a:t>정예</a:t>
            </a:r>
            <a:endParaRPr lang="en-US" altLang="ko-KR" sz="1200" dirty="0" smtClean="0">
              <a:ln>
                <a:solidFill>
                  <a:srgbClr val="7030A0"/>
                </a:solidFill>
              </a:ln>
              <a:solidFill>
                <a:sysClr val="windowText" lastClr="000000"/>
              </a:solidFill>
            </a:endParaRPr>
          </a:p>
          <a:p>
            <a:pPr algn="ctr"/>
            <a:r>
              <a:rPr lang="ko-KR" altLang="en-US" sz="1200" dirty="0" err="1" smtClean="0">
                <a:ln>
                  <a:solidFill>
                    <a:srgbClr val="7030A0"/>
                  </a:solidFill>
                </a:ln>
                <a:solidFill>
                  <a:sysClr val="windowText" lastClr="000000"/>
                </a:solidFill>
              </a:rPr>
              <a:t>몬스터</a:t>
            </a:r>
            <a:endParaRPr lang="en-US" altLang="ko-KR" sz="1200" dirty="0" smtClean="0">
              <a:ln>
                <a:solidFill>
                  <a:srgbClr val="7030A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행동</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창</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액자 68"/>
          <p:cNvSpPr/>
          <p:nvPr/>
        </p:nvSpPr>
        <p:spPr>
          <a:xfrm>
            <a:off x="5973857" y="4469547"/>
            <a:ext cx="5150193" cy="1867617"/>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2" name="모서리가 둥근 사각형 설명선 71"/>
          <p:cNvSpPr/>
          <p:nvPr/>
        </p:nvSpPr>
        <p:spPr>
          <a:xfrm>
            <a:off x="2535786" y="1451898"/>
            <a:ext cx="3294183" cy="3514084"/>
          </a:xfrm>
          <a:prstGeom prst="wedgeRoundRectCallout">
            <a:avLst>
              <a:gd name="adj1" fmla="val 62662"/>
              <a:gd name="adj2" fmla="val 35999"/>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err="1" smtClean="0">
                <a:solidFill>
                  <a:sysClr val="windowText" lastClr="000000"/>
                </a:solidFill>
              </a:rPr>
              <a:t>행동창</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- 150 x 50 unit</a:t>
            </a:r>
            <a:br>
              <a:rPr lang="en-US" altLang="ko-KR" sz="1400" dirty="0" smtClean="0">
                <a:solidFill>
                  <a:sysClr val="windowText" lastClr="000000"/>
                </a:solidFill>
              </a:rPr>
            </a:br>
            <a:r>
              <a:rPr lang="en-US" altLang="ko-KR" sz="1400" dirty="0" smtClean="0">
                <a:solidFill>
                  <a:sysClr val="windowText" lastClr="000000"/>
                </a:solidFill>
              </a:rPr>
              <a:t>( C*6 x C*2 )</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아군 개체가 자신의 턴에 행동할 수 있는 옵션들을 나타냄</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한 턴에 하나의 옵션만 행할 수 있으며</a:t>
            </a:r>
            <a:r>
              <a:rPr lang="en-US" altLang="ko-KR" sz="1400" dirty="0" smtClean="0">
                <a:solidFill>
                  <a:sysClr val="windowText" lastClr="000000"/>
                </a:solidFill>
              </a:rPr>
              <a:t>, </a:t>
            </a:r>
            <a:r>
              <a:rPr lang="ko-KR" altLang="en-US" sz="1400" dirty="0" smtClean="0">
                <a:solidFill>
                  <a:sysClr val="windowText" lastClr="000000"/>
                </a:solidFill>
              </a:rPr>
              <a:t>확정하기 전까지 이전으로 되돌릴 수 있음</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일부 옵션은 선택 시 세부 옵션을 살펴볼 수 있음</a:t>
            </a:r>
            <a:endParaRPr lang="en-US" altLang="ko-KR" sz="1400" dirty="0" smtClean="0">
              <a:solidFill>
                <a:sysClr val="windowText" lastClr="000000"/>
              </a:solidFill>
            </a:endParaRPr>
          </a:p>
        </p:txBody>
      </p:sp>
      <p:sp>
        <p:nvSpPr>
          <p:cNvPr id="97" name="TextBox 96"/>
          <p:cNvSpPr txBox="1"/>
          <p:nvPr/>
        </p:nvSpPr>
        <p:spPr>
          <a:xfrm>
            <a:off x="72571" y="250721"/>
            <a:ext cx="4293160"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전투 화면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862805537"/>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6618506" y="1896177"/>
            <a:ext cx="1916348" cy="500174"/>
            <a:chOff x="1954270" y="2989146"/>
            <a:chExt cx="1916348" cy="500174"/>
          </a:xfrm>
          <a:solidFill>
            <a:srgbClr val="FF0000"/>
          </a:solidFill>
        </p:grpSpPr>
        <p:sp>
          <p:nvSpPr>
            <p:cNvPr id="74" name="도넛 73"/>
            <p:cNvSpPr/>
            <p:nvPr/>
          </p:nvSpPr>
          <p:spPr>
            <a:xfrm>
              <a:off x="2128569" y="3095610"/>
              <a:ext cx="1571458" cy="276200"/>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도넛 78"/>
            <p:cNvSpPr/>
            <p:nvPr/>
          </p:nvSpPr>
          <p:spPr>
            <a:xfrm>
              <a:off x="1954270" y="2989146"/>
              <a:ext cx="1916348" cy="500174"/>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3343889" y="1919260"/>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54</a:t>
            </a:fld>
            <a:endParaRPr lang="ko-KR" altLang="en-US" sz="1800" dirty="0"/>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캐릭터</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smtClean="0">
                <a:ln>
                  <a:solidFill>
                    <a:srgbClr val="7030A0"/>
                  </a:solidFill>
                </a:ln>
                <a:solidFill>
                  <a:sysClr val="windowText" lastClr="000000"/>
                </a:solidFill>
              </a:rPr>
              <a:t>정예</a:t>
            </a:r>
            <a:endParaRPr lang="en-US" altLang="ko-KR" sz="1200" dirty="0" smtClean="0">
              <a:ln>
                <a:solidFill>
                  <a:srgbClr val="7030A0"/>
                </a:solidFill>
              </a:ln>
              <a:solidFill>
                <a:sysClr val="windowText" lastClr="000000"/>
              </a:solidFill>
            </a:endParaRPr>
          </a:p>
          <a:p>
            <a:pPr algn="ctr"/>
            <a:r>
              <a:rPr lang="ko-KR" altLang="en-US" sz="1200" dirty="0" err="1" smtClean="0">
                <a:ln>
                  <a:solidFill>
                    <a:srgbClr val="7030A0"/>
                  </a:solidFill>
                </a:ln>
                <a:solidFill>
                  <a:sysClr val="windowText" lastClr="000000"/>
                </a:solidFill>
              </a:rPr>
              <a:t>몬스터</a:t>
            </a:r>
            <a:endParaRPr lang="en-US" altLang="ko-KR" sz="1200" dirty="0" smtClean="0">
              <a:ln>
                <a:solidFill>
                  <a:srgbClr val="7030A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격</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액자 68"/>
          <p:cNvSpPr/>
          <p:nvPr/>
        </p:nvSpPr>
        <p:spPr>
          <a:xfrm>
            <a:off x="6006376" y="4473815"/>
            <a:ext cx="2645072" cy="976031"/>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2" name="모서리가 둥근 사각형 설명선 71"/>
          <p:cNvSpPr/>
          <p:nvPr/>
        </p:nvSpPr>
        <p:spPr>
          <a:xfrm>
            <a:off x="2466590" y="2338121"/>
            <a:ext cx="3019729" cy="2997631"/>
          </a:xfrm>
          <a:prstGeom prst="wedgeRoundRectCallout">
            <a:avLst>
              <a:gd name="adj1" fmla="val 63743"/>
              <a:gd name="adj2" fmla="val 29004"/>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공격</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- 75 x 25 unit</a:t>
            </a:r>
            <a:br>
              <a:rPr lang="en-US" altLang="ko-KR" sz="1400" dirty="0" smtClean="0">
                <a:solidFill>
                  <a:sysClr val="windowText" lastClr="000000"/>
                </a:solidFill>
              </a:rPr>
            </a:br>
            <a:r>
              <a:rPr lang="en-US" altLang="ko-KR" sz="1400" dirty="0" smtClean="0">
                <a:solidFill>
                  <a:sysClr val="windowText" lastClr="000000"/>
                </a:solidFill>
              </a:rPr>
              <a:t>( C*3 x C )</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통상 공격을 명령하는 버튼</a:t>
            </a:r>
            <a:endParaRPr lang="en-US" altLang="ko-KR" sz="1400" dirty="0" smtClean="0">
              <a:solidFill>
                <a:sysClr val="windowText" lastClr="000000"/>
              </a:solidFill>
            </a:endParaRPr>
          </a:p>
          <a:p>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버튼 클릭 시</a:t>
            </a:r>
            <a:r>
              <a:rPr lang="en-US" altLang="ko-KR" sz="1400" dirty="0" smtClean="0">
                <a:solidFill>
                  <a:sysClr val="windowText" lastClr="000000"/>
                </a:solidFill>
              </a:rPr>
              <a:t>, </a:t>
            </a:r>
            <a:r>
              <a:rPr lang="ko-KR" altLang="en-US" sz="1400" dirty="0" smtClean="0">
                <a:solidFill>
                  <a:sysClr val="windowText" lastClr="000000"/>
                </a:solidFill>
              </a:rPr>
              <a:t>적 </a:t>
            </a:r>
            <a:r>
              <a:rPr lang="ko-KR" altLang="en-US" sz="1400" dirty="0" err="1" smtClean="0">
                <a:solidFill>
                  <a:sysClr val="windowText" lastClr="000000"/>
                </a:solidFill>
              </a:rPr>
              <a:t>몬스터</a:t>
            </a:r>
            <a:r>
              <a:rPr lang="ko-KR" altLang="en-US" sz="1400" dirty="0" smtClean="0">
                <a:solidFill>
                  <a:sysClr val="windowText" lastClr="000000"/>
                </a:solidFill>
              </a:rPr>
              <a:t> 위에 표시가 생김</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최종적으로 공격할 적을 선택하면 공격을 실행함</a:t>
            </a:r>
            <a:endParaRPr lang="en-US" altLang="ko-KR" sz="1400" dirty="0" smtClean="0">
              <a:solidFill>
                <a:sysClr val="windowText" lastClr="000000"/>
              </a:solidFill>
            </a:endParaRPr>
          </a:p>
        </p:txBody>
      </p:sp>
      <p:sp>
        <p:nvSpPr>
          <p:cNvPr id="5" name="이등변 삼각형 4"/>
          <p:cNvSpPr/>
          <p:nvPr/>
        </p:nvSpPr>
        <p:spPr>
          <a:xfrm rot="10800000">
            <a:off x="9276637" y="1215960"/>
            <a:ext cx="116225" cy="219591"/>
          </a:xfrm>
          <a:prstGeom prst="triangle">
            <a:avLst/>
          </a:prstGeom>
          <a:solidFill>
            <a:srgbClr val="FF000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5" name="이등변 삼각형 84"/>
          <p:cNvSpPr/>
          <p:nvPr/>
        </p:nvSpPr>
        <p:spPr>
          <a:xfrm rot="10800000">
            <a:off x="9276637" y="2577737"/>
            <a:ext cx="116225" cy="219591"/>
          </a:xfrm>
          <a:prstGeom prst="triangle">
            <a:avLst/>
          </a:prstGeom>
          <a:solidFill>
            <a:srgbClr val="FF000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7" name="이등변 삼각형 96"/>
          <p:cNvSpPr/>
          <p:nvPr/>
        </p:nvSpPr>
        <p:spPr>
          <a:xfrm rot="10800000">
            <a:off x="7502113" y="3101058"/>
            <a:ext cx="116225" cy="219591"/>
          </a:xfrm>
          <a:prstGeom prst="triangle">
            <a:avLst/>
          </a:prstGeom>
          <a:solidFill>
            <a:srgbClr val="FF000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8" name="이등변 삼각형 97"/>
          <p:cNvSpPr/>
          <p:nvPr/>
        </p:nvSpPr>
        <p:spPr>
          <a:xfrm rot="10800000">
            <a:off x="7518567" y="996369"/>
            <a:ext cx="116225" cy="219591"/>
          </a:xfrm>
          <a:prstGeom prst="triangle">
            <a:avLst/>
          </a:prstGeom>
          <a:solidFill>
            <a:srgbClr val="FF000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9" name="이등변 삼각형 98"/>
          <p:cNvSpPr/>
          <p:nvPr/>
        </p:nvSpPr>
        <p:spPr>
          <a:xfrm rot="10800000">
            <a:off x="7518567" y="2042428"/>
            <a:ext cx="116225" cy="219591"/>
          </a:xfrm>
          <a:prstGeom prst="triangle">
            <a:avLst/>
          </a:prstGeom>
          <a:solidFill>
            <a:srgbClr val="FF000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0" name="도넛 99"/>
          <p:cNvSpPr/>
          <p:nvPr/>
        </p:nvSpPr>
        <p:spPr>
          <a:xfrm>
            <a:off x="7197689" y="2876540"/>
            <a:ext cx="694007" cy="648342"/>
          </a:xfrm>
          <a:prstGeom prst="donut">
            <a:avLst>
              <a:gd name="adj" fmla="val 1822"/>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cxnSp>
        <p:nvCxnSpPr>
          <p:cNvPr id="102" name="직선 화살표 연결선 101"/>
          <p:cNvCxnSpPr/>
          <p:nvPr/>
        </p:nvCxnSpPr>
        <p:spPr>
          <a:xfrm flipV="1">
            <a:off x="5285008" y="3395248"/>
            <a:ext cx="1834303" cy="734192"/>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04" name="TextBox 103"/>
          <p:cNvSpPr txBox="1"/>
          <p:nvPr/>
        </p:nvSpPr>
        <p:spPr>
          <a:xfrm>
            <a:off x="72571" y="250721"/>
            <a:ext cx="4293160"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전투 화면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592728141"/>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6618506" y="1896177"/>
            <a:ext cx="1916348" cy="500174"/>
            <a:chOff x="1954270" y="2989146"/>
            <a:chExt cx="1916348" cy="500174"/>
          </a:xfrm>
          <a:solidFill>
            <a:srgbClr val="FF0000"/>
          </a:solidFill>
        </p:grpSpPr>
        <p:sp>
          <p:nvSpPr>
            <p:cNvPr id="74" name="도넛 73"/>
            <p:cNvSpPr/>
            <p:nvPr/>
          </p:nvSpPr>
          <p:spPr>
            <a:xfrm>
              <a:off x="2128569" y="3095610"/>
              <a:ext cx="1571458" cy="276200"/>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도넛 78"/>
            <p:cNvSpPr/>
            <p:nvPr/>
          </p:nvSpPr>
          <p:spPr>
            <a:xfrm>
              <a:off x="1954270" y="2989146"/>
              <a:ext cx="1916348" cy="500174"/>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3343889" y="1919260"/>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55</a:t>
            </a:fld>
            <a:endParaRPr lang="ko-KR" altLang="en-US" sz="1800" dirty="0"/>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캐릭터</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smtClean="0">
                <a:ln>
                  <a:solidFill>
                    <a:srgbClr val="7030A0"/>
                  </a:solidFill>
                </a:ln>
                <a:solidFill>
                  <a:sysClr val="windowText" lastClr="000000"/>
                </a:solidFill>
              </a:rPr>
              <a:t>정예</a:t>
            </a:r>
            <a:endParaRPr lang="en-US" altLang="ko-KR" sz="1200" dirty="0" smtClean="0">
              <a:ln>
                <a:solidFill>
                  <a:srgbClr val="7030A0"/>
                </a:solidFill>
              </a:ln>
              <a:solidFill>
                <a:sysClr val="windowText" lastClr="000000"/>
              </a:solidFill>
            </a:endParaRPr>
          </a:p>
          <a:p>
            <a:pPr algn="ctr"/>
            <a:r>
              <a:rPr lang="ko-KR" altLang="en-US" sz="1200" dirty="0" err="1" smtClean="0">
                <a:ln>
                  <a:solidFill>
                    <a:srgbClr val="7030A0"/>
                  </a:solidFill>
                </a:ln>
                <a:solidFill>
                  <a:sysClr val="windowText" lastClr="000000"/>
                </a:solidFill>
              </a:rPr>
              <a:t>몬스터</a:t>
            </a:r>
            <a:endParaRPr lang="en-US" altLang="ko-KR" sz="1200" dirty="0" smtClean="0">
              <a:ln>
                <a:solidFill>
                  <a:srgbClr val="7030A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어</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액자 68"/>
          <p:cNvSpPr/>
          <p:nvPr/>
        </p:nvSpPr>
        <p:spPr>
          <a:xfrm>
            <a:off x="8486141" y="4475819"/>
            <a:ext cx="2645072" cy="976031"/>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2" name="모서리가 둥근 사각형 설명선 71"/>
          <p:cNvSpPr/>
          <p:nvPr/>
        </p:nvSpPr>
        <p:spPr>
          <a:xfrm>
            <a:off x="4907920" y="3536642"/>
            <a:ext cx="3036677" cy="1701786"/>
          </a:xfrm>
          <a:prstGeom prst="wedgeRoundRectCallout">
            <a:avLst>
              <a:gd name="adj1" fmla="val 63743"/>
              <a:gd name="adj2" fmla="val 29004"/>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방어</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- 75 x 25 unit</a:t>
            </a:r>
            <a:br>
              <a:rPr lang="en-US" altLang="ko-KR" sz="1400" dirty="0" smtClean="0">
                <a:solidFill>
                  <a:sysClr val="windowText" lastClr="000000"/>
                </a:solidFill>
              </a:rPr>
            </a:br>
            <a:r>
              <a:rPr lang="en-US" altLang="ko-KR" sz="1400" dirty="0" smtClean="0">
                <a:solidFill>
                  <a:sysClr val="windowText" lastClr="000000"/>
                </a:solidFill>
              </a:rPr>
              <a:t>( C*3 x C )</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방어 태세를 </a:t>
            </a:r>
            <a:r>
              <a:rPr lang="ko-KR" altLang="en-US" sz="1400" dirty="0">
                <a:solidFill>
                  <a:sysClr val="windowText" lastClr="000000"/>
                </a:solidFill>
              </a:rPr>
              <a:t>명령하는 </a:t>
            </a:r>
            <a:r>
              <a:rPr lang="ko-KR" altLang="en-US" sz="1400" dirty="0" smtClean="0">
                <a:solidFill>
                  <a:sysClr val="windowText" lastClr="000000"/>
                </a:solidFill>
              </a:rPr>
              <a:t>버튼</a:t>
            </a:r>
            <a:endParaRPr lang="en-US" altLang="ko-KR" sz="1400" dirty="0">
              <a:solidFill>
                <a:sysClr val="windowText" lastClr="000000"/>
              </a:solidFill>
            </a:endParaRPr>
          </a:p>
        </p:txBody>
      </p:sp>
      <p:sp>
        <p:nvSpPr>
          <p:cNvPr id="97" name="TextBox 96"/>
          <p:cNvSpPr txBox="1"/>
          <p:nvPr/>
        </p:nvSpPr>
        <p:spPr>
          <a:xfrm>
            <a:off x="72571" y="250721"/>
            <a:ext cx="4293160"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전투 화면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933325810"/>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6618506" y="1896177"/>
            <a:ext cx="1916348" cy="500174"/>
            <a:chOff x="1954270" y="2989146"/>
            <a:chExt cx="1916348" cy="500174"/>
          </a:xfrm>
          <a:solidFill>
            <a:srgbClr val="FF0000"/>
          </a:solidFill>
        </p:grpSpPr>
        <p:sp>
          <p:nvSpPr>
            <p:cNvPr id="74" name="도넛 73"/>
            <p:cNvSpPr/>
            <p:nvPr/>
          </p:nvSpPr>
          <p:spPr>
            <a:xfrm>
              <a:off x="2128569" y="3095610"/>
              <a:ext cx="1571458" cy="276200"/>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도넛 78"/>
            <p:cNvSpPr/>
            <p:nvPr/>
          </p:nvSpPr>
          <p:spPr>
            <a:xfrm>
              <a:off x="1954270" y="2989146"/>
              <a:ext cx="1916348" cy="500174"/>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3343889" y="1919260"/>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56</a:t>
            </a:fld>
            <a:endParaRPr lang="ko-KR" altLang="en-US" sz="1800" dirty="0"/>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캐릭터</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smtClean="0">
                <a:ln>
                  <a:solidFill>
                    <a:srgbClr val="7030A0"/>
                  </a:solidFill>
                </a:ln>
                <a:solidFill>
                  <a:sysClr val="windowText" lastClr="000000"/>
                </a:solidFill>
              </a:rPr>
              <a:t>정예</a:t>
            </a:r>
            <a:endParaRPr lang="en-US" altLang="ko-KR" sz="1200" dirty="0" smtClean="0">
              <a:ln>
                <a:solidFill>
                  <a:srgbClr val="7030A0"/>
                </a:solidFill>
              </a:ln>
              <a:solidFill>
                <a:sysClr val="windowText" lastClr="000000"/>
              </a:solidFill>
            </a:endParaRPr>
          </a:p>
          <a:p>
            <a:pPr algn="ctr"/>
            <a:r>
              <a:rPr lang="ko-KR" altLang="en-US" sz="1200" dirty="0" err="1" smtClean="0">
                <a:ln>
                  <a:solidFill>
                    <a:srgbClr val="7030A0"/>
                  </a:solidFill>
                </a:ln>
                <a:solidFill>
                  <a:sysClr val="windowText" lastClr="000000"/>
                </a:solidFill>
              </a:rPr>
              <a:t>몬스터</a:t>
            </a:r>
            <a:endParaRPr lang="en-US" altLang="ko-KR" sz="1200" dirty="0" smtClean="0">
              <a:ln>
                <a:solidFill>
                  <a:srgbClr val="7030A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수</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액자 68"/>
          <p:cNvSpPr/>
          <p:nvPr/>
        </p:nvSpPr>
        <p:spPr>
          <a:xfrm>
            <a:off x="6009478" y="5331071"/>
            <a:ext cx="2645072" cy="976031"/>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2" name="모서리가 둥근 사각형 설명선 71"/>
          <p:cNvSpPr/>
          <p:nvPr/>
        </p:nvSpPr>
        <p:spPr>
          <a:xfrm>
            <a:off x="2312126" y="2953326"/>
            <a:ext cx="3202577" cy="3020563"/>
          </a:xfrm>
          <a:prstGeom prst="wedgeRoundRectCallout">
            <a:avLst>
              <a:gd name="adj1" fmla="val 63743"/>
              <a:gd name="adj2" fmla="val 29004"/>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특수</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- 75 x 25 unit</a:t>
            </a:r>
            <a:br>
              <a:rPr lang="en-US" altLang="ko-KR" sz="1400" dirty="0" smtClean="0">
                <a:solidFill>
                  <a:sysClr val="windowText" lastClr="000000"/>
                </a:solidFill>
              </a:rPr>
            </a:br>
            <a:r>
              <a:rPr lang="en-US" altLang="ko-KR" sz="1400" dirty="0" smtClean="0">
                <a:solidFill>
                  <a:sysClr val="windowText" lastClr="000000"/>
                </a:solidFill>
              </a:rPr>
              <a:t>( C*3 x C )</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특수 기능을 </a:t>
            </a:r>
            <a:r>
              <a:rPr lang="ko-KR" altLang="en-US" sz="1400" dirty="0">
                <a:solidFill>
                  <a:sysClr val="windowText" lastClr="000000"/>
                </a:solidFill>
              </a:rPr>
              <a:t>명령하는 </a:t>
            </a:r>
            <a:r>
              <a:rPr lang="ko-KR" altLang="en-US" sz="1400" dirty="0" smtClean="0">
                <a:solidFill>
                  <a:sysClr val="windowText" lastClr="000000"/>
                </a:solidFill>
              </a:rPr>
              <a:t>버튼으로</a:t>
            </a:r>
            <a:r>
              <a:rPr lang="en-US" altLang="ko-KR" sz="1400" dirty="0" smtClean="0">
                <a:solidFill>
                  <a:sysClr val="windowText" lastClr="000000"/>
                </a:solidFill>
              </a:rPr>
              <a:t>, </a:t>
            </a:r>
            <a:r>
              <a:rPr lang="ko-KR" altLang="en-US" sz="1400" dirty="0" smtClean="0">
                <a:solidFill>
                  <a:sysClr val="windowText" lastClr="000000"/>
                </a:solidFill>
              </a:rPr>
              <a:t>기술들을 사용할 수 있음</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최종적으로 사용 대상을 정한 뒤</a:t>
            </a:r>
            <a:r>
              <a:rPr lang="en-US" altLang="ko-KR" sz="1400" dirty="0" smtClean="0">
                <a:solidFill>
                  <a:sysClr val="windowText" lastClr="000000"/>
                </a:solidFill>
              </a:rPr>
              <a:t> </a:t>
            </a:r>
            <a:r>
              <a:rPr lang="ko-KR" altLang="en-US" sz="1400" dirty="0" smtClean="0">
                <a:solidFill>
                  <a:sysClr val="windowText" lastClr="000000"/>
                </a:solidFill>
              </a:rPr>
              <a:t>효과를 발휘함</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선택 시 세부 옵션을 표시함</a:t>
            </a:r>
            <a:endParaRPr lang="en-US" altLang="ko-KR" sz="1400" dirty="0">
              <a:solidFill>
                <a:sysClr val="windowText" lastClr="000000"/>
              </a:solidFill>
            </a:endParaRPr>
          </a:p>
        </p:txBody>
      </p:sp>
      <p:sp>
        <p:nvSpPr>
          <p:cNvPr id="97" name="TextBox 96"/>
          <p:cNvSpPr txBox="1"/>
          <p:nvPr/>
        </p:nvSpPr>
        <p:spPr>
          <a:xfrm>
            <a:off x="72571" y="250721"/>
            <a:ext cx="4293160"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전투 화면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44945642"/>
      </p:ext>
    </p:extLst>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6618506" y="1896177"/>
            <a:ext cx="1916348" cy="500174"/>
            <a:chOff x="1954270" y="2989146"/>
            <a:chExt cx="1916348" cy="500174"/>
          </a:xfrm>
          <a:solidFill>
            <a:srgbClr val="FF0000"/>
          </a:solidFill>
        </p:grpSpPr>
        <p:sp>
          <p:nvSpPr>
            <p:cNvPr id="74" name="도넛 73"/>
            <p:cNvSpPr/>
            <p:nvPr/>
          </p:nvSpPr>
          <p:spPr>
            <a:xfrm>
              <a:off x="2128569" y="3095610"/>
              <a:ext cx="1571458" cy="276200"/>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도넛 78"/>
            <p:cNvSpPr/>
            <p:nvPr/>
          </p:nvSpPr>
          <p:spPr>
            <a:xfrm>
              <a:off x="1954270" y="2989146"/>
              <a:ext cx="1916348" cy="500174"/>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3343889" y="1919260"/>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57</a:t>
            </a:fld>
            <a:endParaRPr lang="ko-KR" altLang="en-US" sz="1800" dirty="0"/>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캐릭터</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smtClean="0">
                <a:ln>
                  <a:solidFill>
                    <a:srgbClr val="7030A0"/>
                  </a:solidFill>
                </a:ln>
                <a:solidFill>
                  <a:sysClr val="windowText" lastClr="000000"/>
                </a:solidFill>
              </a:rPr>
              <a:t>정예</a:t>
            </a:r>
            <a:endParaRPr lang="en-US" altLang="ko-KR" sz="1200" dirty="0" smtClean="0">
              <a:ln>
                <a:solidFill>
                  <a:srgbClr val="7030A0"/>
                </a:solidFill>
              </a:ln>
              <a:solidFill>
                <a:sysClr val="windowText" lastClr="000000"/>
              </a:solidFill>
            </a:endParaRPr>
          </a:p>
          <a:p>
            <a:pPr algn="ctr"/>
            <a:r>
              <a:rPr lang="ko-KR" altLang="en-US" sz="1200" dirty="0" err="1" smtClean="0">
                <a:ln>
                  <a:solidFill>
                    <a:srgbClr val="7030A0"/>
                  </a:solidFill>
                </a:ln>
                <a:solidFill>
                  <a:sysClr val="windowText" lastClr="000000"/>
                </a:solidFill>
              </a:rPr>
              <a:t>몬스터</a:t>
            </a:r>
            <a:endParaRPr lang="en-US" altLang="ko-KR" sz="1200" dirty="0" smtClean="0">
              <a:ln>
                <a:solidFill>
                  <a:srgbClr val="7030A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 </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세</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부</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sp>
        <p:nvSpPr>
          <p:cNvPr id="69" name="액자 68"/>
          <p:cNvSpPr/>
          <p:nvPr/>
        </p:nvSpPr>
        <p:spPr>
          <a:xfrm>
            <a:off x="5900053" y="4440782"/>
            <a:ext cx="5255625" cy="1933891"/>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5" name="TextBox 84"/>
          <p:cNvSpPr txBox="1"/>
          <p:nvPr/>
        </p:nvSpPr>
        <p:spPr>
          <a:xfrm>
            <a:off x="6109655" y="4765331"/>
            <a:ext cx="4936574" cy="1261884"/>
          </a:xfrm>
          <a:prstGeom prst="rect">
            <a:avLst/>
          </a:prstGeom>
          <a:noFill/>
        </p:spPr>
        <p:txBody>
          <a:bodyPr wrap="square" rtlCol="0">
            <a:spAutoFit/>
          </a:bodyPr>
          <a:lstStyle/>
          <a:p>
            <a:r>
              <a:rPr lang="en-US" altLang="ko-KR" sz="2000" dirty="0" smtClean="0"/>
              <a:t>•</a:t>
            </a:r>
            <a:r>
              <a:rPr lang="ko-KR" altLang="en-US" sz="2000" dirty="0" smtClean="0"/>
              <a:t>         기술이름</a:t>
            </a:r>
            <a:r>
              <a:rPr lang="en-US" altLang="ko-KR" sz="2000" dirty="0" smtClean="0"/>
              <a:t>1     •         </a:t>
            </a:r>
            <a:r>
              <a:rPr lang="ko-KR" altLang="en-US" sz="2000" dirty="0" smtClean="0"/>
              <a:t>기술이름</a:t>
            </a:r>
            <a:r>
              <a:rPr lang="en-US" altLang="ko-KR" sz="2000" dirty="0" smtClean="0"/>
              <a:t>2</a:t>
            </a:r>
            <a:endParaRPr lang="en-US" altLang="ko-KR" sz="2000" dirty="0"/>
          </a:p>
          <a:p>
            <a:endParaRPr lang="en-US" altLang="ko-KR" dirty="0" smtClean="0"/>
          </a:p>
          <a:p>
            <a:endParaRPr lang="en-US" altLang="ko-KR" dirty="0" smtClean="0"/>
          </a:p>
          <a:p>
            <a:r>
              <a:rPr lang="en-US" altLang="ko-KR" sz="2000" dirty="0" smtClean="0"/>
              <a:t>•         </a:t>
            </a:r>
            <a:r>
              <a:rPr lang="ko-KR" altLang="en-US" sz="2000" dirty="0" smtClean="0"/>
              <a:t>기술이름</a:t>
            </a:r>
            <a:r>
              <a:rPr lang="en-US" altLang="ko-KR" sz="2000" dirty="0" smtClean="0"/>
              <a:t>3</a:t>
            </a:r>
            <a:endParaRPr lang="en-US" altLang="ko-KR" sz="2000" spc="-300" dirty="0">
              <a:gradFill>
                <a:gsLst>
                  <a:gs pos="0">
                    <a:schemeClr val="tx1"/>
                  </a:gs>
                  <a:gs pos="100000">
                    <a:schemeClr val="tx1"/>
                  </a:gs>
                </a:gsLst>
                <a:lin ang="5400000" scaled="1"/>
              </a:gradFill>
              <a:ea typeface="돋움" panose="020B0600000101010101" pitchFamily="50" charset="-127"/>
            </a:endParaRPr>
          </a:p>
        </p:txBody>
      </p:sp>
      <p:sp>
        <p:nvSpPr>
          <p:cNvPr id="97" name="TextBox 96"/>
          <p:cNvSpPr txBox="1"/>
          <p:nvPr/>
        </p:nvSpPr>
        <p:spPr>
          <a:xfrm>
            <a:off x="9821219" y="5635409"/>
            <a:ext cx="990173"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취소</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98" name="액자 97"/>
          <p:cNvSpPr/>
          <p:nvPr/>
        </p:nvSpPr>
        <p:spPr>
          <a:xfrm>
            <a:off x="6366312" y="4683073"/>
            <a:ext cx="622317" cy="583780"/>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99" name="액자 98"/>
          <p:cNvSpPr/>
          <p:nvPr/>
        </p:nvSpPr>
        <p:spPr>
          <a:xfrm>
            <a:off x="8877526" y="4670946"/>
            <a:ext cx="622317" cy="583780"/>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100" name="액자 99"/>
          <p:cNvSpPr/>
          <p:nvPr/>
        </p:nvSpPr>
        <p:spPr>
          <a:xfrm>
            <a:off x="6366311" y="5537019"/>
            <a:ext cx="622317" cy="583780"/>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5" name="사각형 설명선 4"/>
          <p:cNvSpPr/>
          <p:nvPr/>
        </p:nvSpPr>
        <p:spPr>
          <a:xfrm>
            <a:off x="6449755" y="3907451"/>
            <a:ext cx="2360030" cy="624773"/>
          </a:xfrm>
          <a:prstGeom prst="wedgeRectCallout">
            <a:avLst>
              <a:gd name="adj1" fmla="val -35041"/>
              <a:gd name="adj2" fmla="val 91232"/>
            </a:avLst>
          </a:prstGeom>
          <a:solidFill>
            <a:schemeClr val="tx1"/>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t>기술 설명</a:t>
            </a:r>
            <a:r>
              <a:rPr lang="en-US" altLang="ko-KR" dirty="0" smtClean="0"/>
              <a:t>, </a:t>
            </a:r>
            <a:r>
              <a:rPr lang="ko-KR" altLang="en-US" dirty="0" smtClean="0"/>
              <a:t>소모</a:t>
            </a:r>
            <a:r>
              <a:rPr lang="en-US" altLang="ko-KR" dirty="0" smtClean="0"/>
              <a:t>SP </a:t>
            </a:r>
            <a:r>
              <a:rPr lang="ko-KR" altLang="en-US" dirty="0" smtClean="0"/>
              <a:t>등</a:t>
            </a:r>
            <a:endParaRPr lang="ko-KR" altLang="en-US" dirty="0"/>
          </a:p>
        </p:txBody>
      </p:sp>
      <p:sp>
        <p:nvSpPr>
          <p:cNvPr id="102" name="모서리가 둥근 사각형 설명선 101"/>
          <p:cNvSpPr/>
          <p:nvPr/>
        </p:nvSpPr>
        <p:spPr>
          <a:xfrm>
            <a:off x="2351314" y="1672954"/>
            <a:ext cx="3566162" cy="3798682"/>
          </a:xfrm>
          <a:prstGeom prst="wedgeRoundRectCallout">
            <a:avLst>
              <a:gd name="adj1" fmla="val 60619"/>
              <a:gd name="adj2" fmla="val 31067"/>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특수 </a:t>
            </a:r>
            <a:r>
              <a:rPr lang="en-US" altLang="ko-KR" sz="1600" b="1" dirty="0" smtClean="0">
                <a:solidFill>
                  <a:sysClr val="windowText" lastClr="000000"/>
                </a:solidFill>
              </a:rPr>
              <a:t>- </a:t>
            </a:r>
            <a:r>
              <a:rPr lang="ko-KR" altLang="en-US" sz="1600" b="1" dirty="0" smtClean="0">
                <a:solidFill>
                  <a:sysClr val="windowText" lastClr="000000"/>
                </a:solidFill>
              </a:rPr>
              <a:t>세부</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미정</a:t>
            </a:r>
            <a:r>
              <a:rPr lang="en-US" altLang="ko-KR" sz="1400" dirty="0" smtClean="0">
                <a:solidFill>
                  <a:sysClr val="windowText" lastClr="000000"/>
                </a:solidFill>
              </a:rPr>
              <a:t>) 75 x 25 unit</a:t>
            </a:r>
            <a:br>
              <a:rPr lang="en-US" altLang="ko-KR" sz="1400" dirty="0" smtClean="0">
                <a:solidFill>
                  <a:sysClr val="windowText" lastClr="000000"/>
                </a:solidFill>
              </a:rPr>
            </a:br>
            <a:r>
              <a:rPr lang="en-US" altLang="ko-KR" sz="1400" dirty="0" smtClean="0">
                <a:solidFill>
                  <a:sysClr val="windowText" lastClr="000000"/>
                </a:solidFill>
              </a:rPr>
              <a:t>( C*3 x C )</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개체의 기술을 </a:t>
            </a:r>
            <a:r>
              <a:rPr lang="en-US" altLang="ko-KR" sz="1400" dirty="0" smtClean="0">
                <a:solidFill>
                  <a:sysClr val="windowText" lastClr="000000"/>
                </a:solidFill>
              </a:rPr>
              <a:t>3</a:t>
            </a:r>
            <a:r>
              <a:rPr lang="ko-KR" altLang="en-US" sz="1400" dirty="0" smtClean="0">
                <a:solidFill>
                  <a:sysClr val="windowText" lastClr="000000"/>
                </a:solidFill>
              </a:rPr>
              <a:t>개까지</a:t>
            </a:r>
            <a:r>
              <a:rPr lang="en-US" altLang="ko-KR" sz="1400" dirty="0" smtClean="0">
                <a:solidFill>
                  <a:sysClr val="windowText" lastClr="000000"/>
                </a:solidFill>
              </a:rPr>
              <a:t>, </a:t>
            </a:r>
            <a:r>
              <a:rPr lang="ko-KR" altLang="en-US" sz="1400" dirty="0" smtClean="0">
                <a:solidFill>
                  <a:sysClr val="windowText" lastClr="000000"/>
                </a:solidFill>
              </a:rPr>
              <a:t>기술의 초상화와 이름을 표시함</a:t>
            </a:r>
            <a:endParaRPr lang="en-US" altLang="ko-KR" sz="1400" dirty="0" smtClean="0">
              <a:solidFill>
                <a:sysClr val="windowText" lastClr="000000"/>
              </a:solidFill>
            </a:endParaRPr>
          </a:p>
          <a:p>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기술 아이콘에 마우스를 </a:t>
            </a:r>
            <a:r>
              <a:rPr lang="ko-KR" altLang="en-US" sz="1400" dirty="0" err="1" smtClean="0">
                <a:solidFill>
                  <a:sysClr val="windowText" lastClr="000000"/>
                </a:solidFill>
              </a:rPr>
              <a:t>가져다놓고</a:t>
            </a:r>
            <a:r>
              <a:rPr lang="ko-KR" altLang="en-US" sz="1400" dirty="0" smtClean="0">
                <a:solidFill>
                  <a:sysClr val="windowText" lastClr="000000"/>
                </a:solidFill>
              </a:rPr>
              <a:t> </a:t>
            </a:r>
            <a:r>
              <a:rPr lang="en-US" altLang="ko-KR" sz="1400" dirty="0" smtClean="0">
                <a:solidFill>
                  <a:sysClr val="windowText" lastClr="000000"/>
                </a:solidFill>
              </a:rPr>
              <a:t>1</a:t>
            </a:r>
            <a:r>
              <a:rPr lang="ko-KR" altLang="en-US" sz="1400" dirty="0" smtClean="0">
                <a:solidFill>
                  <a:sysClr val="windowText" lastClr="000000"/>
                </a:solidFill>
              </a:rPr>
              <a:t>초 이상의 시간이 흐르면</a:t>
            </a:r>
            <a:r>
              <a:rPr lang="en-US" altLang="ko-KR" sz="1400" dirty="0" smtClean="0">
                <a:solidFill>
                  <a:sysClr val="windowText" lastClr="000000"/>
                </a:solidFill>
              </a:rPr>
              <a:t>, </a:t>
            </a:r>
            <a:r>
              <a:rPr lang="ko-KR" altLang="en-US" sz="1400" dirty="0" smtClean="0">
                <a:solidFill>
                  <a:sysClr val="windowText" lastClr="000000"/>
                </a:solidFill>
              </a:rPr>
              <a:t>해당 기술에 대한 설명</a:t>
            </a:r>
            <a:r>
              <a:rPr lang="en-US" altLang="ko-KR" sz="1400" dirty="0" smtClean="0">
                <a:solidFill>
                  <a:sysClr val="windowText" lastClr="000000"/>
                </a:solidFill>
              </a:rPr>
              <a:t>(</a:t>
            </a:r>
            <a:r>
              <a:rPr lang="ko-KR" altLang="en-US" sz="1400" dirty="0" err="1" smtClean="0">
                <a:solidFill>
                  <a:sysClr val="windowText" lastClr="000000"/>
                </a:solidFill>
              </a:rPr>
              <a:t>데미지</a:t>
            </a:r>
            <a:r>
              <a:rPr lang="en-US" altLang="ko-KR" sz="1400" dirty="0" smtClean="0">
                <a:solidFill>
                  <a:sysClr val="windowText" lastClr="000000"/>
                </a:solidFill>
              </a:rPr>
              <a:t>, </a:t>
            </a:r>
            <a:r>
              <a:rPr lang="ko-KR" altLang="en-US" sz="1400" dirty="0" err="1" smtClean="0">
                <a:solidFill>
                  <a:sysClr val="windowText" lastClr="000000"/>
                </a:solidFill>
              </a:rPr>
              <a:t>버프</a:t>
            </a:r>
            <a:r>
              <a:rPr lang="ko-KR" altLang="en-US" sz="1400" dirty="0" smtClean="0">
                <a:solidFill>
                  <a:sysClr val="windowText" lastClr="000000"/>
                </a:solidFill>
              </a:rPr>
              <a:t> 수치</a:t>
            </a:r>
            <a:r>
              <a:rPr lang="en-US" altLang="ko-KR" sz="1400" dirty="0" smtClean="0">
                <a:solidFill>
                  <a:sysClr val="windowText" lastClr="000000"/>
                </a:solidFill>
              </a:rPr>
              <a:t>, </a:t>
            </a:r>
            <a:r>
              <a:rPr lang="ko-KR" altLang="en-US" sz="1400" dirty="0" smtClean="0">
                <a:solidFill>
                  <a:sysClr val="windowText" lastClr="000000"/>
                </a:solidFill>
              </a:rPr>
              <a:t>속성</a:t>
            </a:r>
            <a:r>
              <a:rPr lang="en-US" altLang="ko-KR" sz="1400" dirty="0" smtClean="0">
                <a:solidFill>
                  <a:sysClr val="windowText" lastClr="000000"/>
                </a:solidFill>
              </a:rPr>
              <a:t>, </a:t>
            </a:r>
            <a:r>
              <a:rPr lang="ko-KR" altLang="en-US" sz="1400" dirty="0" err="1" smtClean="0">
                <a:solidFill>
                  <a:sysClr val="windowText" lastClr="000000"/>
                </a:solidFill>
              </a:rPr>
              <a:t>타겟범위</a:t>
            </a:r>
            <a:r>
              <a:rPr lang="ko-KR" altLang="en-US" sz="1400" dirty="0" smtClean="0">
                <a:solidFill>
                  <a:sysClr val="windowText" lastClr="000000"/>
                </a:solidFill>
              </a:rPr>
              <a:t> 등</a:t>
            </a:r>
            <a:r>
              <a:rPr lang="en-US" altLang="ko-KR" sz="1400" dirty="0" smtClean="0">
                <a:solidFill>
                  <a:sysClr val="windowText" lastClr="000000"/>
                </a:solidFill>
              </a:rPr>
              <a:t>)</a:t>
            </a:r>
            <a:r>
              <a:rPr lang="ko-KR" altLang="en-US" sz="1400" dirty="0" smtClean="0">
                <a:solidFill>
                  <a:sysClr val="windowText" lastClr="000000"/>
                </a:solidFill>
              </a:rPr>
              <a:t>과 사용에 필요한 </a:t>
            </a:r>
            <a:r>
              <a:rPr lang="en-US" altLang="ko-KR" sz="1400" dirty="0" smtClean="0">
                <a:solidFill>
                  <a:sysClr val="windowText" lastClr="000000"/>
                </a:solidFill>
              </a:rPr>
              <a:t>SP</a:t>
            </a:r>
            <a:r>
              <a:rPr lang="ko-KR" altLang="en-US" sz="1400" dirty="0" smtClean="0">
                <a:solidFill>
                  <a:sysClr val="windowText" lastClr="000000"/>
                </a:solidFill>
              </a:rPr>
              <a:t>에 관한 정보가 </a:t>
            </a:r>
            <a:r>
              <a:rPr lang="ko-KR" altLang="en-US" sz="1400" dirty="0" err="1" smtClean="0">
                <a:solidFill>
                  <a:sysClr val="windowText" lastClr="000000"/>
                </a:solidFill>
              </a:rPr>
              <a:t>팝업됨</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취소 버튼으로 초기 </a:t>
            </a:r>
            <a:r>
              <a:rPr lang="ko-KR" altLang="en-US" sz="1400" dirty="0" err="1" smtClean="0">
                <a:solidFill>
                  <a:sysClr val="windowText" lastClr="000000"/>
                </a:solidFill>
              </a:rPr>
              <a:t>행동창으로</a:t>
            </a:r>
            <a:r>
              <a:rPr lang="ko-KR" altLang="en-US" sz="1400" dirty="0" smtClean="0">
                <a:solidFill>
                  <a:sysClr val="windowText" lastClr="000000"/>
                </a:solidFill>
              </a:rPr>
              <a:t> 돌아갈 수 있음</a:t>
            </a:r>
            <a:endParaRPr lang="en-US" altLang="ko-KR" sz="1400" dirty="0">
              <a:solidFill>
                <a:sysClr val="windowText" lastClr="000000"/>
              </a:solidFill>
            </a:endParaRPr>
          </a:p>
        </p:txBody>
      </p:sp>
      <p:cxnSp>
        <p:nvCxnSpPr>
          <p:cNvPr id="103" name="직선 화살표 연결선 102"/>
          <p:cNvCxnSpPr/>
          <p:nvPr/>
        </p:nvCxnSpPr>
        <p:spPr>
          <a:xfrm flipV="1">
            <a:off x="5656287" y="4129440"/>
            <a:ext cx="710024" cy="132032"/>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72571" y="250721"/>
            <a:ext cx="4293160"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전투 화면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784113433"/>
      </p:ext>
    </p:extLst>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6618506" y="1896177"/>
            <a:ext cx="1916348" cy="500174"/>
            <a:chOff x="1954270" y="2989146"/>
            <a:chExt cx="1916348" cy="500174"/>
          </a:xfrm>
          <a:solidFill>
            <a:srgbClr val="FF0000"/>
          </a:solidFill>
        </p:grpSpPr>
        <p:sp>
          <p:nvSpPr>
            <p:cNvPr id="74" name="도넛 73"/>
            <p:cNvSpPr/>
            <p:nvPr/>
          </p:nvSpPr>
          <p:spPr>
            <a:xfrm>
              <a:off x="2128569" y="3095610"/>
              <a:ext cx="1571458" cy="276200"/>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도넛 78"/>
            <p:cNvSpPr/>
            <p:nvPr/>
          </p:nvSpPr>
          <p:spPr>
            <a:xfrm>
              <a:off x="1954270" y="2989146"/>
              <a:ext cx="1916348" cy="500174"/>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3343889" y="1919260"/>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58</a:t>
            </a:fld>
            <a:endParaRPr lang="ko-KR" altLang="en-US" sz="1800" dirty="0"/>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캐릭터</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smtClean="0">
                <a:ln>
                  <a:solidFill>
                    <a:srgbClr val="7030A0"/>
                  </a:solidFill>
                </a:ln>
                <a:solidFill>
                  <a:sysClr val="windowText" lastClr="000000"/>
                </a:solidFill>
              </a:rPr>
              <a:t>정예</a:t>
            </a:r>
            <a:endParaRPr lang="en-US" altLang="ko-KR" sz="1200" dirty="0" smtClean="0">
              <a:ln>
                <a:solidFill>
                  <a:srgbClr val="7030A0"/>
                </a:solidFill>
              </a:ln>
              <a:solidFill>
                <a:sysClr val="windowText" lastClr="000000"/>
              </a:solidFill>
            </a:endParaRPr>
          </a:p>
          <a:p>
            <a:pPr algn="ctr"/>
            <a:r>
              <a:rPr lang="ko-KR" altLang="en-US" sz="1200" dirty="0" err="1" smtClean="0">
                <a:ln>
                  <a:solidFill>
                    <a:srgbClr val="7030A0"/>
                  </a:solidFill>
                </a:ln>
                <a:solidFill>
                  <a:sysClr val="windowText" lastClr="000000"/>
                </a:solidFill>
              </a:rPr>
              <a:t>몬스터</a:t>
            </a:r>
            <a:endParaRPr lang="en-US" altLang="ko-KR" sz="1200" dirty="0" smtClean="0">
              <a:ln>
                <a:solidFill>
                  <a:srgbClr val="7030A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용</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610600" y="4544163"/>
            <a:ext cx="0" cy="1726736"/>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5" name="직선 연결선 64"/>
          <p:cNvCxnSpPr/>
          <p:nvPr/>
        </p:nvCxnSpPr>
        <p:spPr>
          <a:xfrm flipH="1">
            <a:off x="6084821" y="5394468"/>
            <a:ext cx="4912130" cy="1404"/>
          </a:xfrm>
          <a:prstGeom prst="line">
            <a:avLst/>
          </a:prstGeom>
          <a:ln w="28575">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694607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공격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6" name="TextBox 75"/>
          <p:cNvSpPr txBox="1"/>
          <p:nvPr/>
        </p:nvSpPr>
        <p:spPr>
          <a:xfrm>
            <a:off x="9430710" y="4757534"/>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방어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7" name="TextBox 76"/>
          <p:cNvSpPr txBox="1"/>
          <p:nvPr/>
        </p:nvSpPr>
        <p:spPr>
          <a:xfrm>
            <a:off x="694607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8" name="TextBox 77"/>
          <p:cNvSpPr txBox="1"/>
          <p:nvPr/>
        </p:nvSpPr>
        <p:spPr>
          <a:xfrm>
            <a:off x="9430710" y="5579001"/>
            <a:ext cx="1389172"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pic>
        <p:nvPicPr>
          <p:cNvPr id="1026" name="Picture 2" descr="sword pictogramì ëí ì´ë¯¸ì§ ê²ìê²°ê³¼"/>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43029" y="4651726"/>
            <a:ext cx="642902" cy="64290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ê´ë ¨ ì´ë¯¸ì§"/>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104372" y="4612313"/>
            <a:ext cx="707338" cy="7073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bag iconì ëí ì´ë¯¸ì§ ê²ìê²°ê³¼"/>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3806" y="5499983"/>
            <a:ext cx="628469" cy="62846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agic iconì ëí ì´ë¯¸ì§ ê²ìê²°ê³¼"/>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610156" y="5483838"/>
            <a:ext cx="647610" cy="647610"/>
          </a:xfrm>
          <a:prstGeom prst="rect">
            <a:avLst/>
          </a:prstGeom>
          <a:noFill/>
          <a:extLst>
            <a:ext uri="{909E8E84-426E-40DD-AFC4-6F175D3DCCD1}">
              <a14:hiddenFill xmlns:a14="http://schemas.microsoft.com/office/drawing/2010/main">
                <a:solidFill>
                  <a:srgbClr val="FFFFFF"/>
                </a:solidFill>
              </a14:hiddenFill>
            </a:ext>
          </a:extLst>
        </p:spPr>
      </p:pic>
      <p:sp>
        <p:nvSpPr>
          <p:cNvPr id="69" name="액자 68"/>
          <p:cNvSpPr/>
          <p:nvPr/>
        </p:nvSpPr>
        <p:spPr>
          <a:xfrm>
            <a:off x="8491944" y="5343369"/>
            <a:ext cx="2645072" cy="976031"/>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2" name="모서리가 둥근 사각형 설명선 71"/>
          <p:cNvSpPr/>
          <p:nvPr/>
        </p:nvSpPr>
        <p:spPr>
          <a:xfrm>
            <a:off x="4701646" y="2649227"/>
            <a:ext cx="3283220" cy="3482222"/>
          </a:xfrm>
          <a:prstGeom prst="wedgeRoundRectCallout">
            <a:avLst>
              <a:gd name="adj1" fmla="val 63743"/>
              <a:gd name="adj2" fmla="val 29004"/>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사용</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- 75 x 25 unit</a:t>
            </a:r>
            <a:br>
              <a:rPr lang="en-US" altLang="ko-KR" sz="1400" dirty="0" smtClean="0">
                <a:solidFill>
                  <a:sysClr val="windowText" lastClr="000000"/>
                </a:solidFill>
              </a:rPr>
            </a:br>
            <a:r>
              <a:rPr lang="en-US" altLang="ko-KR" sz="1400" dirty="0" smtClean="0">
                <a:solidFill>
                  <a:sysClr val="windowText" lastClr="000000"/>
                </a:solidFill>
              </a:rPr>
              <a:t>( C*3 x C )</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아이템 사용을 </a:t>
            </a:r>
            <a:r>
              <a:rPr lang="ko-KR" altLang="en-US" sz="1400" dirty="0">
                <a:solidFill>
                  <a:sysClr val="windowText" lastClr="000000"/>
                </a:solidFill>
              </a:rPr>
              <a:t>명령하는 </a:t>
            </a:r>
            <a:r>
              <a:rPr lang="ko-KR" altLang="en-US" sz="1400" dirty="0" smtClean="0">
                <a:solidFill>
                  <a:sysClr val="windowText" lastClr="000000"/>
                </a:solidFill>
              </a:rPr>
              <a:t>버튼</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가방을 살펴보아 원하는 아이템을 사용할 수 있음</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a:solidFill>
                  <a:sysClr val="windowText" lastClr="000000"/>
                </a:solidFill>
              </a:rPr>
              <a:t>최종적으로 사용 대상을 정한 뒤</a:t>
            </a:r>
            <a:r>
              <a:rPr lang="en-US" altLang="ko-KR" sz="1400" dirty="0">
                <a:solidFill>
                  <a:sysClr val="windowText" lastClr="000000"/>
                </a:solidFill>
              </a:rPr>
              <a:t> </a:t>
            </a:r>
            <a:r>
              <a:rPr lang="ko-KR" altLang="en-US" sz="1400" dirty="0">
                <a:solidFill>
                  <a:sysClr val="windowText" lastClr="000000"/>
                </a:solidFill>
              </a:rPr>
              <a:t>효과를 발휘함</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선택 시 세부 옵션을 표시함</a:t>
            </a:r>
            <a:endParaRPr lang="en-US" altLang="ko-KR" sz="1400" dirty="0">
              <a:solidFill>
                <a:sysClr val="windowText" lastClr="000000"/>
              </a:solidFill>
            </a:endParaRPr>
          </a:p>
        </p:txBody>
      </p:sp>
      <p:sp>
        <p:nvSpPr>
          <p:cNvPr id="97" name="TextBox 96"/>
          <p:cNvSpPr txBox="1"/>
          <p:nvPr/>
        </p:nvSpPr>
        <p:spPr>
          <a:xfrm>
            <a:off x="72571" y="250721"/>
            <a:ext cx="4293160"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전투 화면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236361139"/>
      </p:ext>
    </p:extLst>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이등변 삼각형 23"/>
          <p:cNvSpPr/>
          <p:nvPr/>
        </p:nvSpPr>
        <p:spPr>
          <a:xfrm rot="2940484">
            <a:off x="8006908" y="1654562"/>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3" name="그룹 72"/>
          <p:cNvGrpSpPr/>
          <p:nvPr/>
        </p:nvGrpSpPr>
        <p:grpSpPr>
          <a:xfrm>
            <a:off x="6618506" y="1896177"/>
            <a:ext cx="1916348" cy="500174"/>
            <a:chOff x="1954270" y="2989146"/>
            <a:chExt cx="1916348" cy="500174"/>
          </a:xfrm>
          <a:solidFill>
            <a:srgbClr val="FF0000"/>
          </a:solidFill>
        </p:grpSpPr>
        <p:sp>
          <p:nvSpPr>
            <p:cNvPr id="74" name="도넛 73"/>
            <p:cNvSpPr/>
            <p:nvPr/>
          </p:nvSpPr>
          <p:spPr>
            <a:xfrm>
              <a:off x="2128569" y="3095610"/>
              <a:ext cx="1571458" cy="276200"/>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79" name="도넛 78"/>
            <p:cNvSpPr/>
            <p:nvPr/>
          </p:nvSpPr>
          <p:spPr>
            <a:xfrm>
              <a:off x="1954270" y="2989146"/>
              <a:ext cx="1916348" cy="500174"/>
            </a:xfrm>
            <a:prstGeom prst="donut">
              <a:avLst>
                <a:gd name="adj" fmla="val 16269"/>
              </a:avLst>
            </a:prstGeom>
            <a:grp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2" name="타원 1"/>
          <p:cNvSpPr/>
          <p:nvPr/>
        </p:nvSpPr>
        <p:spPr>
          <a:xfrm rot="1265973" flipH="1">
            <a:off x="3737820" y="1772235"/>
            <a:ext cx="831771" cy="456896"/>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2224813" y="2614165"/>
            <a:ext cx="659818" cy="51756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70" name="그룹 69"/>
          <p:cNvGrpSpPr/>
          <p:nvPr/>
        </p:nvGrpSpPr>
        <p:grpSpPr>
          <a:xfrm>
            <a:off x="3343889" y="1919260"/>
            <a:ext cx="1916348" cy="500174"/>
            <a:chOff x="1954270" y="2989146"/>
            <a:chExt cx="1916348" cy="500174"/>
          </a:xfrm>
        </p:grpSpPr>
        <p:sp>
          <p:nvSpPr>
            <p:cNvPr id="94" name="도넛 93"/>
            <p:cNvSpPr/>
            <p:nvPr/>
          </p:nvSpPr>
          <p:spPr>
            <a:xfrm>
              <a:off x="2128569" y="3095610"/>
              <a:ext cx="1571458" cy="276200"/>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68" name="도넛 67"/>
            <p:cNvSpPr/>
            <p:nvPr/>
          </p:nvSpPr>
          <p:spPr>
            <a:xfrm>
              <a:off x="1954270" y="2989146"/>
              <a:ext cx="1916348" cy="500174"/>
            </a:xfrm>
            <a:prstGeom prst="donut">
              <a:avLst>
                <a:gd name="adj" fmla="val 16269"/>
              </a:avLst>
            </a:prstGeom>
            <a:solidFill>
              <a:srgbClr val="0070C0"/>
            </a:solid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pSp>
      <p:sp>
        <p:nvSpPr>
          <p:cNvPr id="4" name="직사각형 3"/>
          <p:cNvSpPr/>
          <p:nvPr/>
        </p:nvSpPr>
        <p:spPr>
          <a:xfrm>
            <a:off x="0" y="6657796"/>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11572"/>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슬라이드 번호 개체 틀 2"/>
          <p:cNvSpPr>
            <a:spLocks noGrp="1"/>
          </p:cNvSpPr>
          <p:nvPr>
            <p:ph type="sldNum" sz="quarter" idx="12"/>
          </p:nvPr>
        </p:nvSpPr>
        <p:spPr>
          <a:xfrm>
            <a:off x="8610600" y="6345716"/>
            <a:ext cx="2743200" cy="365125"/>
          </a:xfrm>
        </p:spPr>
        <p:txBody>
          <a:bodyPr/>
          <a:lstStyle/>
          <a:p>
            <a:fld id="{95F8FB6C-4300-4EF3-AEA9-23A98D8A74E1}" type="slidenum">
              <a:rPr lang="ko-KR" altLang="en-US" sz="1800" smtClean="0"/>
              <a:t>59</a:t>
            </a:fld>
            <a:endParaRPr lang="ko-KR" altLang="en-US" sz="1800" dirty="0"/>
          </a:p>
        </p:txBody>
      </p:sp>
      <p:sp>
        <p:nvSpPr>
          <p:cNvPr id="28" name="이등변 삼각형 27"/>
          <p:cNvSpPr/>
          <p:nvPr/>
        </p:nvSpPr>
        <p:spPr>
          <a:xfrm rot="2940484">
            <a:off x="9784986" y="1945173"/>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006909" y="2703049"/>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9773531" y="3243760"/>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006908" y="3765008"/>
            <a:ext cx="481643" cy="381519"/>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3735152" y="3887134"/>
            <a:ext cx="831771" cy="484612"/>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3734154" y="2782348"/>
            <a:ext cx="831771" cy="494995"/>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5" name="타원 24"/>
          <p:cNvSpPr/>
          <p:nvPr/>
        </p:nvSpPr>
        <p:spPr>
          <a:xfrm>
            <a:off x="3862566" y="1359980"/>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smtClean="0">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91" name="타원 90"/>
          <p:cNvSpPr/>
          <p:nvPr/>
        </p:nvSpPr>
        <p:spPr>
          <a:xfrm>
            <a:off x="3862566" y="2402623"/>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b="1" dirty="0">
              <a:ln>
                <a:solidFill>
                  <a:srgbClr val="002060"/>
                </a:solidFill>
              </a:ln>
              <a:solidFill>
                <a:schemeClr val="tx1"/>
              </a:solidFill>
            </a:endParaRPr>
          </a:p>
        </p:txBody>
      </p:sp>
      <p:sp>
        <p:nvSpPr>
          <p:cNvPr id="95" name="타원 94"/>
          <p:cNvSpPr/>
          <p:nvPr/>
        </p:nvSpPr>
        <p:spPr>
          <a:xfrm>
            <a:off x="3862566" y="3494446"/>
            <a:ext cx="879613" cy="8754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100" dirty="0" err="1">
                <a:ln>
                  <a:solidFill>
                    <a:srgbClr val="002060"/>
                  </a:solidFill>
                </a:ln>
                <a:solidFill>
                  <a:schemeClr val="tx1"/>
                </a:solidFill>
              </a:rPr>
              <a:t>몬스터</a:t>
            </a:r>
            <a:endParaRPr lang="ko-KR" altLang="en-US" sz="1100" dirty="0">
              <a:ln>
                <a:solidFill>
                  <a:srgbClr val="002060"/>
                </a:solidFill>
              </a:ln>
              <a:solidFill>
                <a:schemeClr val="tx1"/>
              </a:solidFill>
            </a:endParaRPr>
          </a:p>
        </p:txBody>
      </p:sp>
      <p:sp>
        <p:nvSpPr>
          <p:cNvPr id="26" name="직사각형 25"/>
          <p:cNvSpPr/>
          <p:nvPr/>
        </p:nvSpPr>
        <p:spPr>
          <a:xfrm>
            <a:off x="2466590" y="2402623"/>
            <a:ext cx="879613" cy="87542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smtClean="0">
                <a:ln>
                  <a:solidFill>
                    <a:srgbClr val="0BC10F"/>
                  </a:solidFill>
                </a:ln>
                <a:solidFill>
                  <a:schemeClr val="tx1"/>
                </a:solidFill>
              </a:rPr>
              <a:t>캐릭터</a:t>
            </a:r>
            <a:endParaRPr lang="ko-KR" altLang="en-US" sz="1600" dirty="0">
              <a:ln>
                <a:solidFill>
                  <a:srgbClr val="0BC10F"/>
                </a:solidFill>
              </a:ln>
              <a:solidFill>
                <a:schemeClr val="tx1"/>
              </a:solidFill>
            </a:endParaRPr>
          </a:p>
        </p:txBody>
      </p:sp>
      <p:sp>
        <p:nvSpPr>
          <p:cNvPr id="27" name="이등변 삼각형 26"/>
          <p:cNvSpPr/>
          <p:nvPr/>
        </p:nvSpPr>
        <p:spPr>
          <a:xfrm>
            <a:off x="6872948" y="1362072"/>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6872948" y="2408040"/>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smtClean="0">
                <a:ln>
                  <a:solidFill>
                    <a:srgbClr val="7030A0"/>
                  </a:solidFill>
                </a:ln>
                <a:solidFill>
                  <a:sysClr val="windowText" lastClr="000000"/>
                </a:solidFill>
              </a:rPr>
              <a:t>정예</a:t>
            </a:r>
            <a:endParaRPr lang="en-US" altLang="ko-KR" sz="1200" dirty="0" smtClean="0">
              <a:ln>
                <a:solidFill>
                  <a:srgbClr val="7030A0"/>
                </a:solidFill>
              </a:ln>
              <a:solidFill>
                <a:sysClr val="windowText" lastClr="000000"/>
              </a:solidFill>
            </a:endParaRPr>
          </a:p>
          <a:p>
            <a:pPr algn="ctr"/>
            <a:r>
              <a:rPr lang="ko-KR" altLang="en-US" sz="1200" dirty="0" err="1" smtClean="0">
                <a:ln>
                  <a:solidFill>
                    <a:srgbClr val="7030A0"/>
                  </a:solidFill>
                </a:ln>
                <a:solidFill>
                  <a:sysClr val="windowText" lastClr="000000"/>
                </a:solidFill>
              </a:rPr>
              <a:t>몬스터</a:t>
            </a:r>
            <a:endParaRPr lang="en-US" altLang="ko-KR" sz="1200" dirty="0" smtClean="0">
              <a:ln>
                <a:solidFill>
                  <a:srgbClr val="7030A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6872948" y="3474574"/>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8639572" y="1654741"/>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8639572" y="2953326"/>
            <a:ext cx="1390358" cy="786898"/>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ko-KR" sz="1200" dirty="0" smtClean="0">
              <a:ln>
                <a:solidFill>
                  <a:srgbClr val="FFC000"/>
                </a:solidFill>
              </a:ln>
              <a:solidFill>
                <a:sysClr val="windowText" lastClr="000000"/>
              </a:solidFill>
            </a:endParaRPr>
          </a:p>
          <a:p>
            <a:pPr algn="ctr"/>
            <a:r>
              <a:rPr lang="ko-KR" altLang="en-US" sz="1200" dirty="0" smtClean="0">
                <a:ln>
                  <a:solidFill>
                    <a:srgbClr val="FFC000"/>
                  </a:solidFill>
                </a:ln>
                <a:solidFill>
                  <a:sysClr val="windowText" lastClr="000000"/>
                </a:solidFill>
              </a:rPr>
              <a:t>몬스터</a:t>
            </a:r>
            <a:endParaRPr lang="en-US" altLang="ko-KR" sz="1200"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32" name="TextBox 31"/>
          <p:cNvSpPr txBox="1"/>
          <p:nvPr/>
        </p:nvSpPr>
        <p:spPr>
          <a:xfrm>
            <a:off x="3436916" y="381717"/>
            <a:ext cx="531816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사용 </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세</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부</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36" name="직선 연결선 35"/>
          <p:cNvCxnSpPr/>
          <p:nvPr/>
        </p:nvCxnSpPr>
        <p:spPr>
          <a:xfrm>
            <a:off x="1145771" y="4544163"/>
            <a:ext cx="9900458"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44" name="액자 43"/>
          <p:cNvSpPr/>
          <p:nvPr/>
        </p:nvSpPr>
        <p:spPr>
          <a:xfrm>
            <a:off x="1145771" y="1094825"/>
            <a:ext cx="9900458" cy="5176074"/>
          </a:xfrm>
          <a:prstGeom prst="frame">
            <a:avLst>
              <a:gd name="adj1" fmla="val 899"/>
            </a:avLst>
          </a:prstGeom>
          <a:solidFill>
            <a:schemeClr val="tx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3" name="직사각형 22"/>
          <p:cNvSpPr/>
          <p:nvPr/>
        </p:nvSpPr>
        <p:spPr>
          <a:xfrm>
            <a:off x="4023360" y="127599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직사각형 48"/>
          <p:cNvSpPr/>
          <p:nvPr/>
        </p:nvSpPr>
        <p:spPr>
          <a:xfrm>
            <a:off x="2612150" y="223177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0" name="직사각형 49"/>
          <p:cNvSpPr/>
          <p:nvPr/>
        </p:nvSpPr>
        <p:spPr>
          <a:xfrm>
            <a:off x="4001303" y="231518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1" name="직사각형 50"/>
          <p:cNvSpPr/>
          <p:nvPr/>
        </p:nvSpPr>
        <p:spPr>
          <a:xfrm>
            <a:off x="4001303" y="341271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4" name="직사각형 53"/>
          <p:cNvSpPr/>
          <p:nvPr/>
        </p:nvSpPr>
        <p:spPr>
          <a:xfrm>
            <a:off x="7259932" y="3358552"/>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5" name="직사각형 54"/>
          <p:cNvSpPr/>
          <p:nvPr/>
        </p:nvSpPr>
        <p:spPr>
          <a:xfrm>
            <a:off x="9034457" y="283267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6" name="직사각형 55"/>
          <p:cNvSpPr/>
          <p:nvPr/>
        </p:nvSpPr>
        <p:spPr>
          <a:xfrm>
            <a:off x="9034457" y="1531919"/>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7" name="직사각형 56"/>
          <p:cNvSpPr/>
          <p:nvPr/>
        </p:nvSpPr>
        <p:spPr>
          <a:xfrm>
            <a:off x="7267833" y="124214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8" name="직사각형 57"/>
          <p:cNvSpPr/>
          <p:nvPr/>
        </p:nvSpPr>
        <p:spPr>
          <a:xfrm>
            <a:off x="7259932" y="2288364"/>
            <a:ext cx="600588" cy="49757"/>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59" name="직사각형 58"/>
          <p:cNvSpPr/>
          <p:nvPr/>
        </p:nvSpPr>
        <p:spPr>
          <a:xfrm>
            <a:off x="2612150" y="2282316"/>
            <a:ext cx="600588" cy="49757"/>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60" name="직선 연결선 59"/>
          <p:cNvCxnSpPr/>
          <p:nvPr/>
        </p:nvCxnSpPr>
        <p:spPr>
          <a:xfrm>
            <a:off x="6076950" y="4544163"/>
            <a:ext cx="0" cy="1726736"/>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sp>
        <p:nvSpPr>
          <p:cNvPr id="66" name="액자 65"/>
          <p:cNvSpPr/>
          <p:nvPr/>
        </p:nvSpPr>
        <p:spPr>
          <a:xfrm>
            <a:off x="1268730" y="4619630"/>
            <a:ext cx="948690" cy="862993"/>
          </a:xfrm>
          <a:prstGeom prst="frame">
            <a:avLst>
              <a:gd name="adj1" fmla="val 7069"/>
            </a:avLst>
          </a:prstGeom>
          <a:solidFill>
            <a:schemeClr val="tx1">
              <a:lumMod val="95000"/>
              <a:lumOff val="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0" name="직사각형 79"/>
          <p:cNvSpPr/>
          <p:nvPr/>
        </p:nvSpPr>
        <p:spPr>
          <a:xfrm>
            <a:off x="1268730" y="5769273"/>
            <a:ext cx="950400" cy="144000"/>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1" name="직사각형 80"/>
          <p:cNvSpPr/>
          <p:nvPr/>
        </p:nvSpPr>
        <p:spPr>
          <a:xfrm>
            <a:off x="1268730" y="5968029"/>
            <a:ext cx="950400" cy="144000"/>
          </a:xfrm>
          <a:prstGeom prst="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2" name="TextBox 81"/>
          <p:cNvSpPr txBox="1"/>
          <p:nvPr/>
        </p:nvSpPr>
        <p:spPr>
          <a:xfrm>
            <a:off x="1268730" y="5445578"/>
            <a:ext cx="948689" cy="307777"/>
          </a:xfrm>
          <a:prstGeom prst="rect">
            <a:avLst/>
          </a:prstGeom>
          <a:noFill/>
        </p:spPr>
        <p:txBody>
          <a:bodyPr wrap="square" rtlCol="0">
            <a:spAutoFit/>
          </a:bodyPr>
          <a:lstStyle/>
          <a:p>
            <a:pPr algn="ctr"/>
            <a:r>
              <a:rPr lang="en-US" altLang="ko-KR" sz="1400" spc="-300" dirty="0" smtClean="0">
                <a:gradFill>
                  <a:gsLst>
                    <a:gs pos="0">
                      <a:schemeClr val="tx1"/>
                    </a:gs>
                    <a:gs pos="100000">
                      <a:schemeClr val="tx1"/>
                    </a:gs>
                  </a:gsLst>
                  <a:lin ang="5400000" scaled="1"/>
                </a:gradFill>
                <a:ea typeface="돋움" panose="020B0600000101010101" pitchFamily="50" charset="-127"/>
              </a:rPr>
              <a:t>N  a  m  e</a:t>
            </a:r>
            <a:endParaRPr lang="ko-KR" altLang="en-US" sz="1400" spc="-300" dirty="0">
              <a:gradFill>
                <a:gsLst>
                  <a:gs pos="0">
                    <a:schemeClr val="tx1"/>
                  </a:gs>
                  <a:gs pos="100000">
                    <a:schemeClr val="tx1"/>
                  </a:gs>
                </a:gsLst>
                <a:lin ang="5400000" scaled="1"/>
              </a:gradFill>
              <a:ea typeface="돋움" panose="020B0600000101010101" pitchFamily="50" charset="-127"/>
            </a:endParaRPr>
          </a:p>
        </p:txBody>
      </p:sp>
      <p:sp>
        <p:nvSpPr>
          <p:cNvPr id="83" name="TextBox 82"/>
          <p:cNvSpPr txBox="1"/>
          <p:nvPr/>
        </p:nvSpPr>
        <p:spPr>
          <a:xfrm>
            <a:off x="2470058" y="4619630"/>
            <a:ext cx="1895673" cy="1477328"/>
          </a:xfrm>
          <a:prstGeom prst="rect">
            <a:avLst/>
          </a:prstGeom>
          <a:noFill/>
        </p:spPr>
        <p:txBody>
          <a:bodyPr wrap="square" rtlCol="0">
            <a:spAutoFit/>
          </a:bodyPr>
          <a:lstStyle/>
          <a:p>
            <a:r>
              <a:rPr lang="en-US" altLang="ko-KR" dirty="0"/>
              <a:t>• </a:t>
            </a:r>
            <a:r>
              <a:rPr lang="en-US" altLang="ko-KR" dirty="0" smtClean="0"/>
              <a:t>TYPE   :  Fire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CRT    :  15%</a:t>
            </a:r>
          </a:p>
          <a:p>
            <a:r>
              <a:rPr lang="en-US" altLang="ko-KR" dirty="0" smtClean="0"/>
              <a:t>• ATK    :  60</a:t>
            </a:r>
            <a:endParaRPr lang="ko-KR" altLang="en-US" spc="-300" dirty="0" smtClean="0">
              <a:gradFill>
                <a:gsLst>
                  <a:gs pos="0">
                    <a:schemeClr val="tx1"/>
                  </a:gs>
                  <a:gs pos="100000">
                    <a:schemeClr val="tx1"/>
                  </a:gs>
                </a:gsLst>
                <a:lin ang="5400000" scaled="1"/>
              </a:gradFill>
              <a:ea typeface="돋움" panose="020B0600000101010101" pitchFamily="50" charset="-127"/>
            </a:endParaRPr>
          </a:p>
          <a:p>
            <a:r>
              <a:rPr lang="en-US" altLang="ko-KR" dirty="0" smtClean="0"/>
              <a:t>• DEF    :  20</a:t>
            </a:r>
            <a:endParaRPr lang="ko-KR" altLang="en-US" spc="-300" dirty="0">
              <a:gradFill>
                <a:gsLst>
                  <a:gs pos="0">
                    <a:schemeClr val="tx1"/>
                  </a:gs>
                  <a:gs pos="100000">
                    <a:schemeClr val="tx1"/>
                  </a:gs>
                </a:gsLst>
                <a:lin ang="5400000" scaled="1"/>
              </a:gradFill>
              <a:ea typeface="돋움" panose="020B0600000101010101" pitchFamily="50" charset="-127"/>
            </a:endParaRPr>
          </a:p>
          <a:p>
            <a:r>
              <a:rPr lang="en-US" altLang="ko-KR" dirty="0"/>
              <a:t>• </a:t>
            </a:r>
            <a:r>
              <a:rPr lang="en-US" altLang="ko-KR" dirty="0" smtClean="0"/>
              <a:t>AVD   :  10%</a:t>
            </a:r>
            <a:endParaRPr lang="ko-KR" altLang="en-US" spc="-300" dirty="0">
              <a:gradFill>
                <a:gsLst>
                  <a:gs pos="0">
                    <a:schemeClr val="tx1"/>
                  </a:gs>
                  <a:gs pos="100000">
                    <a:schemeClr val="tx1"/>
                  </a:gs>
                </a:gsLst>
                <a:lin ang="5400000" scaled="1"/>
              </a:gradFill>
              <a:ea typeface="돋움" panose="020B0600000101010101" pitchFamily="50" charset="-127"/>
            </a:endParaRPr>
          </a:p>
        </p:txBody>
      </p:sp>
      <p:sp>
        <p:nvSpPr>
          <p:cNvPr id="84" name="TextBox 83"/>
          <p:cNvSpPr txBox="1"/>
          <p:nvPr/>
        </p:nvSpPr>
        <p:spPr>
          <a:xfrm>
            <a:off x="4601891" y="4619630"/>
            <a:ext cx="1023135" cy="369332"/>
          </a:xfrm>
          <a:prstGeom prst="rect">
            <a:avLst/>
          </a:prstGeom>
          <a:noFill/>
        </p:spPr>
        <p:txBody>
          <a:bodyPr wrap="square" rtlCol="0">
            <a:spAutoFit/>
          </a:bodyPr>
          <a:lstStyle/>
          <a:p>
            <a:r>
              <a:rPr lang="en-US" altLang="ko-KR" dirty="0"/>
              <a:t>• </a:t>
            </a:r>
            <a:r>
              <a:rPr lang="en-US" altLang="ko-KR" dirty="0" smtClean="0"/>
              <a:t>STATE</a:t>
            </a:r>
            <a:endParaRPr lang="en-US" altLang="ko-KR" sz="1050" spc="-300" dirty="0" smtClean="0">
              <a:gradFill>
                <a:gsLst>
                  <a:gs pos="0">
                    <a:schemeClr val="tx1"/>
                  </a:gs>
                  <a:gs pos="100000">
                    <a:schemeClr val="tx1"/>
                  </a:gs>
                </a:gsLst>
                <a:lin ang="5400000" scaled="1"/>
              </a:gradFill>
              <a:ea typeface="돋움" panose="020B0600000101010101" pitchFamily="50" charset="-127"/>
            </a:endParaRPr>
          </a:p>
        </p:txBody>
      </p:sp>
      <p:sp>
        <p:nvSpPr>
          <p:cNvPr id="67" name="직사각형 66"/>
          <p:cNvSpPr/>
          <p:nvPr/>
        </p:nvSpPr>
        <p:spPr>
          <a:xfrm>
            <a:off x="4681507" y="5051126"/>
            <a:ext cx="371279" cy="34334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직사각형 85"/>
          <p:cNvSpPr/>
          <p:nvPr/>
        </p:nvSpPr>
        <p:spPr>
          <a:xfrm>
            <a:off x="5285008" y="5051126"/>
            <a:ext cx="371279" cy="343342"/>
          </a:xfrm>
          <a:prstGeom prst="rect">
            <a:avLst/>
          </a:prstGeom>
          <a:solidFill>
            <a:srgbClr val="92D050"/>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7" name="직사각형 86"/>
          <p:cNvSpPr/>
          <p:nvPr/>
        </p:nvSpPr>
        <p:spPr>
          <a:xfrm>
            <a:off x="4681507" y="5573772"/>
            <a:ext cx="371279" cy="343342"/>
          </a:xfrm>
          <a:prstGeom prst="rect">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8" name="직사각형 87"/>
          <p:cNvSpPr/>
          <p:nvPr/>
        </p:nvSpPr>
        <p:spPr>
          <a:xfrm>
            <a:off x="5285006" y="5573772"/>
            <a:ext cx="371279" cy="343342"/>
          </a:xfrm>
          <a:prstGeom prst="rect">
            <a:avLst/>
          </a:prstGeom>
          <a:solidFill>
            <a:schemeClr val="tx2">
              <a:lumMod val="75000"/>
            </a:schemeClr>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9" name="TextBox 88"/>
          <p:cNvSpPr txBox="1"/>
          <p:nvPr/>
        </p:nvSpPr>
        <p:spPr>
          <a:xfrm>
            <a:off x="1834683"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0" name="TextBox 89"/>
          <p:cNvSpPr txBox="1"/>
          <p:nvPr/>
        </p:nvSpPr>
        <p:spPr>
          <a:xfrm>
            <a:off x="1826813"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1  2  3</a:t>
            </a:r>
          </a:p>
        </p:txBody>
      </p:sp>
      <p:sp>
        <p:nvSpPr>
          <p:cNvPr id="92" name="TextBox 91"/>
          <p:cNvSpPr txBox="1"/>
          <p:nvPr/>
        </p:nvSpPr>
        <p:spPr>
          <a:xfrm>
            <a:off x="1207665" y="5701826"/>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H  P</a:t>
            </a:r>
          </a:p>
        </p:txBody>
      </p:sp>
      <p:sp>
        <p:nvSpPr>
          <p:cNvPr id="93" name="TextBox 92"/>
          <p:cNvSpPr txBox="1"/>
          <p:nvPr/>
        </p:nvSpPr>
        <p:spPr>
          <a:xfrm>
            <a:off x="1207665" y="5903297"/>
            <a:ext cx="698512" cy="276999"/>
          </a:xfrm>
          <a:prstGeom prst="rect">
            <a:avLst/>
          </a:prstGeom>
          <a:noFill/>
        </p:spPr>
        <p:txBody>
          <a:bodyPr wrap="square" rtlCol="0">
            <a:spAutoFit/>
          </a:bodyPr>
          <a:lstStyle/>
          <a:p>
            <a:r>
              <a:rPr lang="en-US" altLang="ko-KR" sz="1200" spc="-300" dirty="0" smtClean="0">
                <a:solidFill>
                  <a:schemeClr val="bg1"/>
                </a:solidFill>
                <a:ea typeface="돋움" panose="020B0600000101010101" pitchFamily="50" charset="-127"/>
              </a:rPr>
              <a:t>S  P</a:t>
            </a:r>
          </a:p>
        </p:txBody>
      </p:sp>
      <p:sp>
        <p:nvSpPr>
          <p:cNvPr id="69" name="액자 68"/>
          <p:cNvSpPr/>
          <p:nvPr/>
        </p:nvSpPr>
        <p:spPr>
          <a:xfrm>
            <a:off x="5900053" y="4440782"/>
            <a:ext cx="5255625" cy="1933891"/>
          </a:xfrm>
          <a:prstGeom prst="frame">
            <a:avLst>
              <a:gd name="adj1" fmla="val 1541"/>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85" name="TextBox 84"/>
          <p:cNvSpPr txBox="1"/>
          <p:nvPr/>
        </p:nvSpPr>
        <p:spPr>
          <a:xfrm>
            <a:off x="6083529" y="4621638"/>
            <a:ext cx="4936574" cy="1477328"/>
          </a:xfrm>
          <a:prstGeom prst="rect">
            <a:avLst/>
          </a:prstGeom>
          <a:noFill/>
        </p:spPr>
        <p:txBody>
          <a:bodyPr wrap="square" rtlCol="0">
            <a:spAutoFit/>
          </a:bodyPr>
          <a:lstStyle/>
          <a:p>
            <a:r>
              <a:rPr lang="en-US" altLang="ko-KR" dirty="0" smtClean="0"/>
              <a:t>•</a:t>
            </a:r>
            <a:r>
              <a:rPr lang="ko-KR" altLang="en-US" dirty="0" smtClean="0"/>
              <a:t> </a:t>
            </a:r>
            <a:r>
              <a:rPr lang="en-US" altLang="ko-KR" dirty="0" smtClean="0"/>
              <a:t>ITEM</a:t>
            </a:r>
            <a:r>
              <a:rPr lang="ko-KR" altLang="en-US" dirty="0" smtClean="0"/>
              <a:t>이름</a:t>
            </a:r>
            <a:r>
              <a:rPr lang="en-US" altLang="ko-KR" dirty="0" smtClean="0"/>
              <a:t>1,</a:t>
            </a:r>
            <a:r>
              <a:rPr lang="ko-KR" altLang="en-US" dirty="0" smtClean="0"/>
              <a:t>개수</a:t>
            </a:r>
            <a:r>
              <a:rPr lang="en-US" altLang="ko-KR" dirty="0" smtClean="0"/>
              <a:t>     • ITEM</a:t>
            </a:r>
            <a:r>
              <a:rPr lang="ko-KR" altLang="en-US" dirty="0" smtClean="0"/>
              <a:t>이름</a:t>
            </a:r>
            <a:r>
              <a:rPr lang="en-US" altLang="ko-KR" dirty="0" smtClean="0"/>
              <a:t>2,</a:t>
            </a:r>
            <a:r>
              <a:rPr lang="ko-KR" altLang="en-US" dirty="0"/>
              <a:t>개수</a:t>
            </a:r>
            <a:endParaRPr lang="en-US" altLang="ko-KR" dirty="0" smtClean="0"/>
          </a:p>
          <a:p>
            <a:endParaRPr lang="en-US" altLang="ko-KR" spc="-300" dirty="0">
              <a:gradFill>
                <a:gsLst>
                  <a:gs pos="0">
                    <a:schemeClr val="tx1"/>
                  </a:gs>
                  <a:gs pos="100000">
                    <a:schemeClr val="tx1"/>
                  </a:gs>
                </a:gsLst>
                <a:lin ang="5400000" scaled="1"/>
              </a:gradFill>
              <a:ea typeface="돋움" panose="020B0600000101010101" pitchFamily="50" charset="-127"/>
            </a:endParaRPr>
          </a:p>
          <a:p>
            <a:r>
              <a:rPr lang="en-US" altLang="ko-KR" dirty="0"/>
              <a:t>•</a:t>
            </a:r>
            <a:r>
              <a:rPr lang="ko-KR" altLang="en-US" dirty="0"/>
              <a:t> </a:t>
            </a:r>
            <a:r>
              <a:rPr lang="en-US" altLang="ko-KR" dirty="0" smtClean="0"/>
              <a:t>ITEM</a:t>
            </a:r>
            <a:r>
              <a:rPr lang="ko-KR" altLang="en-US" dirty="0" smtClean="0"/>
              <a:t>이름</a:t>
            </a:r>
            <a:r>
              <a:rPr lang="en-US" altLang="ko-KR" dirty="0" smtClean="0"/>
              <a:t>3,</a:t>
            </a:r>
            <a:r>
              <a:rPr lang="ko-KR" altLang="en-US" dirty="0"/>
              <a:t>개수</a:t>
            </a:r>
            <a:r>
              <a:rPr lang="en-US" altLang="ko-KR" dirty="0" smtClean="0"/>
              <a:t>     • ITEM</a:t>
            </a:r>
            <a:r>
              <a:rPr lang="ko-KR" altLang="en-US" dirty="0" smtClean="0"/>
              <a:t>이름</a:t>
            </a:r>
            <a:r>
              <a:rPr lang="en-US" altLang="ko-KR" dirty="0" smtClean="0"/>
              <a:t>4,</a:t>
            </a:r>
            <a:r>
              <a:rPr lang="ko-KR" altLang="en-US" dirty="0"/>
              <a:t>개수</a:t>
            </a:r>
            <a:endParaRPr lang="en-US" altLang="ko-KR" dirty="0" smtClean="0"/>
          </a:p>
          <a:p>
            <a:endParaRPr lang="en-US" altLang="ko-KR" dirty="0" smtClean="0"/>
          </a:p>
          <a:p>
            <a:r>
              <a:rPr lang="en-US" altLang="ko-KR" dirty="0"/>
              <a:t>•</a:t>
            </a:r>
            <a:r>
              <a:rPr lang="ko-KR" altLang="en-US" dirty="0"/>
              <a:t> </a:t>
            </a:r>
            <a:r>
              <a:rPr lang="en-US" altLang="ko-KR" dirty="0" smtClean="0"/>
              <a:t>ITEM</a:t>
            </a:r>
            <a:r>
              <a:rPr lang="ko-KR" altLang="en-US" dirty="0" smtClean="0"/>
              <a:t>이름</a:t>
            </a:r>
            <a:r>
              <a:rPr lang="en-US" altLang="ko-KR" dirty="0" smtClean="0"/>
              <a:t>5,</a:t>
            </a:r>
            <a:r>
              <a:rPr lang="ko-KR" altLang="en-US" dirty="0"/>
              <a:t>개수</a:t>
            </a:r>
            <a:r>
              <a:rPr lang="en-US" altLang="ko-KR" dirty="0" smtClean="0"/>
              <a:t>     </a:t>
            </a:r>
            <a:r>
              <a:rPr lang="en-US" altLang="ko-KR" dirty="0"/>
              <a:t>• </a:t>
            </a:r>
            <a:r>
              <a:rPr lang="en-US" altLang="ko-KR" dirty="0" smtClean="0"/>
              <a:t>ITEM</a:t>
            </a:r>
            <a:r>
              <a:rPr lang="ko-KR" altLang="en-US" dirty="0" smtClean="0"/>
              <a:t>이름</a:t>
            </a:r>
            <a:r>
              <a:rPr lang="en-US" altLang="ko-KR" dirty="0" smtClean="0"/>
              <a:t>6</a:t>
            </a:r>
            <a:endParaRPr lang="en-US" altLang="ko-KR" spc="-300" dirty="0">
              <a:gradFill>
                <a:gsLst>
                  <a:gs pos="0">
                    <a:schemeClr val="tx1"/>
                  </a:gs>
                  <a:gs pos="100000">
                    <a:schemeClr val="tx1"/>
                  </a:gs>
                </a:gsLst>
                <a:lin ang="5400000" scaled="1"/>
              </a:gradFill>
              <a:ea typeface="돋움" panose="020B0600000101010101" pitchFamily="50" charset="-127"/>
            </a:endParaRPr>
          </a:p>
        </p:txBody>
      </p:sp>
      <p:sp>
        <p:nvSpPr>
          <p:cNvPr id="97" name="TextBox 96"/>
          <p:cNvSpPr txBox="1"/>
          <p:nvPr/>
        </p:nvSpPr>
        <p:spPr>
          <a:xfrm>
            <a:off x="9821219" y="5635409"/>
            <a:ext cx="990173"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취소</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사각형 설명선 4"/>
          <p:cNvSpPr/>
          <p:nvPr/>
        </p:nvSpPr>
        <p:spPr>
          <a:xfrm>
            <a:off x="6681241" y="3771464"/>
            <a:ext cx="1958331" cy="624773"/>
          </a:xfrm>
          <a:prstGeom prst="wedgeRectCallout">
            <a:avLst>
              <a:gd name="adj1" fmla="val -35041"/>
              <a:gd name="adj2" fmla="val 91232"/>
            </a:avLst>
          </a:prstGeom>
          <a:solidFill>
            <a:schemeClr val="tx1"/>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t>아이</a:t>
            </a:r>
            <a:r>
              <a:rPr lang="ko-KR" altLang="en-US" dirty="0"/>
              <a:t>템</a:t>
            </a:r>
            <a:r>
              <a:rPr lang="ko-KR" altLang="en-US" dirty="0" smtClean="0"/>
              <a:t> 설명</a:t>
            </a:r>
            <a:endParaRPr lang="ko-KR" altLang="en-US" dirty="0"/>
          </a:p>
        </p:txBody>
      </p:sp>
      <p:sp>
        <p:nvSpPr>
          <p:cNvPr id="102" name="모서리가 둥근 사각형 설명선 101"/>
          <p:cNvSpPr/>
          <p:nvPr/>
        </p:nvSpPr>
        <p:spPr>
          <a:xfrm>
            <a:off x="2129977" y="1786745"/>
            <a:ext cx="3566162" cy="3798682"/>
          </a:xfrm>
          <a:prstGeom prst="wedgeRoundRectCallout">
            <a:avLst>
              <a:gd name="adj1" fmla="val 60619"/>
              <a:gd name="adj2" fmla="val 31067"/>
              <a:gd name="adj3" fmla="val 16667"/>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ko-KR" sz="1600" b="1" dirty="0" smtClean="0">
                <a:solidFill>
                  <a:sysClr val="windowText" lastClr="000000"/>
                </a:solidFill>
              </a:rPr>
              <a:t>‘</a:t>
            </a:r>
            <a:r>
              <a:rPr lang="ko-KR" altLang="en-US" sz="1600" b="1" dirty="0" smtClean="0">
                <a:solidFill>
                  <a:sysClr val="windowText" lastClr="000000"/>
                </a:solidFill>
              </a:rPr>
              <a:t>사용 </a:t>
            </a:r>
            <a:r>
              <a:rPr lang="en-US" altLang="ko-KR" sz="1600" b="1" dirty="0" smtClean="0">
                <a:solidFill>
                  <a:sysClr val="windowText" lastClr="000000"/>
                </a:solidFill>
              </a:rPr>
              <a:t>- </a:t>
            </a:r>
            <a:r>
              <a:rPr lang="ko-KR" altLang="en-US" sz="1600" b="1" dirty="0" smtClean="0">
                <a:solidFill>
                  <a:sysClr val="windowText" lastClr="000000"/>
                </a:solidFill>
              </a:rPr>
              <a:t>세부</a:t>
            </a:r>
            <a:r>
              <a:rPr lang="en-US" altLang="ko-KR" sz="1600" b="1" dirty="0" smtClean="0">
                <a:solidFill>
                  <a:sysClr val="windowText" lastClr="000000"/>
                </a:solidFill>
              </a:rPr>
              <a:t>’</a:t>
            </a:r>
          </a:p>
          <a:p>
            <a:endParaRPr lang="en-US" altLang="ko-KR" sz="1400" b="1"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미정</a:t>
            </a:r>
            <a:r>
              <a:rPr lang="en-US" altLang="ko-KR" sz="1400" dirty="0" smtClean="0">
                <a:solidFill>
                  <a:sysClr val="windowText" lastClr="000000"/>
                </a:solidFill>
              </a:rPr>
              <a:t>) 75 x 25 unit</a:t>
            </a:r>
            <a:br>
              <a:rPr lang="en-US" altLang="ko-KR" sz="1400" dirty="0" smtClean="0">
                <a:solidFill>
                  <a:sysClr val="windowText" lastClr="000000"/>
                </a:solidFill>
              </a:rPr>
            </a:br>
            <a:r>
              <a:rPr lang="en-US" altLang="ko-KR" sz="1400" dirty="0" smtClean="0">
                <a:solidFill>
                  <a:sysClr val="windowText" lastClr="000000"/>
                </a:solidFill>
              </a:rPr>
              <a:t>( C*3 x C )</a:t>
            </a:r>
          </a:p>
          <a:p>
            <a:endParaRPr lang="en-US" altLang="ko-KR" sz="1400" dirty="0">
              <a:solidFill>
                <a:sysClr val="windowText" lastClr="000000"/>
              </a:solidFill>
            </a:endParaRPr>
          </a:p>
          <a:p>
            <a:r>
              <a:rPr lang="en-US" altLang="ko-KR" sz="1400" dirty="0" smtClean="0">
                <a:solidFill>
                  <a:sysClr val="windowText" lastClr="000000"/>
                </a:solidFill>
              </a:rPr>
              <a:t>- </a:t>
            </a:r>
            <a:r>
              <a:rPr lang="ko-KR" altLang="en-US" sz="1400" dirty="0" smtClean="0">
                <a:solidFill>
                  <a:sysClr val="windowText" lastClr="000000"/>
                </a:solidFill>
              </a:rPr>
              <a:t>보유한 아이템의 정보를 스크롤 바 창의 형식으로 표시함</a:t>
            </a:r>
            <a:endParaRPr lang="en-US" altLang="ko-KR" sz="1400" dirty="0" smtClean="0">
              <a:solidFill>
                <a:sysClr val="windowText" lastClr="000000"/>
              </a:solidFill>
            </a:endParaRPr>
          </a:p>
          <a:p>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아이템 이름에 마우스를 </a:t>
            </a:r>
            <a:r>
              <a:rPr lang="ko-KR" altLang="en-US" sz="1400" dirty="0" err="1" smtClean="0">
                <a:solidFill>
                  <a:sysClr val="windowText" lastClr="000000"/>
                </a:solidFill>
              </a:rPr>
              <a:t>가져다놓고</a:t>
            </a:r>
            <a:r>
              <a:rPr lang="ko-KR" altLang="en-US" sz="1400" dirty="0" smtClean="0">
                <a:solidFill>
                  <a:sysClr val="windowText" lastClr="000000"/>
                </a:solidFill>
              </a:rPr>
              <a:t> </a:t>
            </a:r>
            <a:r>
              <a:rPr lang="en-US" altLang="ko-KR" sz="1400" dirty="0" smtClean="0">
                <a:solidFill>
                  <a:sysClr val="windowText" lastClr="000000"/>
                </a:solidFill>
              </a:rPr>
              <a:t>1</a:t>
            </a:r>
            <a:r>
              <a:rPr lang="ko-KR" altLang="en-US" sz="1400" dirty="0" smtClean="0">
                <a:solidFill>
                  <a:sysClr val="windowText" lastClr="000000"/>
                </a:solidFill>
              </a:rPr>
              <a:t>초 이상의 시간이 흐르면</a:t>
            </a:r>
            <a:r>
              <a:rPr lang="en-US" altLang="ko-KR" sz="1400" dirty="0" smtClean="0">
                <a:solidFill>
                  <a:sysClr val="windowText" lastClr="000000"/>
                </a:solidFill>
              </a:rPr>
              <a:t>, </a:t>
            </a:r>
            <a:r>
              <a:rPr lang="ko-KR" altLang="en-US" sz="1400" dirty="0" smtClean="0">
                <a:solidFill>
                  <a:sysClr val="windowText" lastClr="000000"/>
                </a:solidFill>
              </a:rPr>
              <a:t>해당 아이템에 대한 정보가 </a:t>
            </a:r>
            <a:r>
              <a:rPr lang="ko-KR" altLang="en-US" sz="1400" dirty="0" err="1" smtClean="0">
                <a:solidFill>
                  <a:sysClr val="windowText" lastClr="000000"/>
                </a:solidFill>
              </a:rPr>
              <a:t>팝업됨</a:t>
            </a: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r>
            <a:br>
              <a:rPr lang="en-US" altLang="ko-KR" sz="1400" dirty="0" smtClean="0">
                <a:solidFill>
                  <a:sysClr val="windowText" lastClr="000000"/>
                </a:solidFill>
              </a:rPr>
            </a:br>
            <a:r>
              <a:rPr lang="en-US" altLang="ko-KR" sz="1400" dirty="0" smtClean="0">
                <a:solidFill>
                  <a:sysClr val="windowText" lastClr="000000"/>
                </a:solidFill>
              </a:rPr>
              <a:t>- </a:t>
            </a:r>
            <a:r>
              <a:rPr lang="ko-KR" altLang="en-US" sz="1400" dirty="0" smtClean="0">
                <a:solidFill>
                  <a:sysClr val="windowText" lastClr="000000"/>
                </a:solidFill>
              </a:rPr>
              <a:t>취소 버튼으로 초기 </a:t>
            </a:r>
            <a:r>
              <a:rPr lang="ko-KR" altLang="en-US" sz="1400" dirty="0" err="1" smtClean="0">
                <a:solidFill>
                  <a:sysClr val="windowText" lastClr="000000"/>
                </a:solidFill>
              </a:rPr>
              <a:t>행동창으로</a:t>
            </a:r>
            <a:r>
              <a:rPr lang="ko-KR" altLang="en-US" sz="1400" dirty="0" smtClean="0">
                <a:solidFill>
                  <a:sysClr val="windowText" lastClr="000000"/>
                </a:solidFill>
              </a:rPr>
              <a:t> 돌아갈 수 있음</a:t>
            </a:r>
            <a:endParaRPr lang="en-US" altLang="ko-KR" sz="1400" dirty="0">
              <a:solidFill>
                <a:sysClr val="windowText" lastClr="000000"/>
              </a:solidFill>
            </a:endParaRPr>
          </a:p>
        </p:txBody>
      </p:sp>
      <p:cxnSp>
        <p:nvCxnSpPr>
          <p:cNvPr id="103" name="직선 화살표 연결선 102"/>
          <p:cNvCxnSpPr/>
          <p:nvPr/>
        </p:nvCxnSpPr>
        <p:spPr>
          <a:xfrm flipV="1">
            <a:off x="5656287" y="4129440"/>
            <a:ext cx="710024" cy="132032"/>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65" name="TextBox 64"/>
          <p:cNvSpPr txBox="1"/>
          <p:nvPr/>
        </p:nvSpPr>
        <p:spPr>
          <a:xfrm>
            <a:off x="72571" y="250721"/>
            <a:ext cx="4293160"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레벨</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디자인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전투 화면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572753531"/>
      </p:ext>
    </p:extLst>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시스템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933450" y="1438038"/>
            <a:ext cx="3162300"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시스템 흐름도</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모서리가 둥근 직사각형 4"/>
          <p:cNvSpPr/>
          <p:nvPr/>
        </p:nvSpPr>
        <p:spPr>
          <a:xfrm>
            <a:off x="8822924" y="4149787"/>
            <a:ext cx="1567550" cy="597926"/>
          </a:xfrm>
          <a:prstGeom prst="roundRect">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현장 출동</a:t>
            </a:r>
            <a:endParaRPr lang="ko-KR" altLang="en-US" dirty="0">
              <a:solidFill>
                <a:schemeClr val="tx1"/>
              </a:solidFill>
            </a:endParaRPr>
          </a:p>
        </p:txBody>
      </p:sp>
      <p:sp>
        <p:nvSpPr>
          <p:cNvPr id="16" name="모서리가 둥근 직사각형 15"/>
          <p:cNvSpPr/>
          <p:nvPr/>
        </p:nvSpPr>
        <p:spPr>
          <a:xfrm>
            <a:off x="6642305" y="4149787"/>
            <a:ext cx="1522150" cy="597926"/>
          </a:xfrm>
          <a:prstGeom prst="roundRect">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solidFill>
                  <a:schemeClr val="tx1"/>
                </a:solidFill>
              </a:rPr>
              <a:t>상황실 지휘</a:t>
            </a:r>
          </a:p>
        </p:txBody>
      </p:sp>
      <p:sp>
        <p:nvSpPr>
          <p:cNvPr id="17" name="모서리가 둥근 직사각형 16"/>
          <p:cNvSpPr/>
          <p:nvPr/>
        </p:nvSpPr>
        <p:spPr>
          <a:xfrm>
            <a:off x="7610621" y="457417"/>
            <a:ext cx="1710365" cy="597926"/>
          </a:xfrm>
          <a:prstGeom prst="roundRect">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던전 탐험</a:t>
            </a:r>
            <a:endParaRPr lang="en-US" altLang="ko-KR" dirty="0" smtClean="0">
              <a:solidFill>
                <a:schemeClr val="tx1"/>
              </a:solidFill>
            </a:endParaRPr>
          </a:p>
        </p:txBody>
      </p:sp>
      <p:sp>
        <p:nvSpPr>
          <p:cNvPr id="18" name="모서리가 둥근 직사각형 17"/>
          <p:cNvSpPr/>
          <p:nvPr/>
        </p:nvSpPr>
        <p:spPr>
          <a:xfrm>
            <a:off x="7610621" y="5465052"/>
            <a:ext cx="1710365" cy="597926"/>
          </a:xfrm>
          <a:prstGeom prst="roundRect">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사건 종</a:t>
            </a:r>
            <a:r>
              <a:rPr lang="ko-KR" altLang="en-US" dirty="0">
                <a:solidFill>
                  <a:schemeClr val="tx1"/>
                </a:solidFill>
              </a:rPr>
              <a:t>료</a:t>
            </a:r>
          </a:p>
        </p:txBody>
      </p:sp>
      <p:cxnSp>
        <p:nvCxnSpPr>
          <p:cNvPr id="3" name="직선 화살표 연결선 2"/>
          <p:cNvCxnSpPr>
            <a:stCxn id="17" idx="2"/>
            <a:endCxn id="82" idx="0"/>
          </p:cNvCxnSpPr>
          <p:nvPr/>
        </p:nvCxnSpPr>
        <p:spPr>
          <a:xfrm>
            <a:off x="8465804" y="1055343"/>
            <a:ext cx="0" cy="302975"/>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24" name="꺾인 연결선 23"/>
          <p:cNvCxnSpPr>
            <a:stCxn id="82" idx="3"/>
            <a:endCxn id="17" idx="3"/>
          </p:cNvCxnSpPr>
          <p:nvPr/>
        </p:nvCxnSpPr>
        <p:spPr>
          <a:xfrm flipH="1" flipV="1">
            <a:off x="9320986" y="756380"/>
            <a:ext cx="142493" cy="1120049"/>
          </a:xfrm>
          <a:prstGeom prst="bentConnector3">
            <a:avLst>
              <a:gd name="adj1" fmla="val -160429"/>
            </a:avLst>
          </a:prstGeom>
          <a:ln>
            <a:tailEnd type="arrow"/>
          </a:ln>
        </p:spPr>
        <p:style>
          <a:lnRef idx="3">
            <a:schemeClr val="dk1"/>
          </a:lnRef>
          <a:fillRef idx="0">
            <a:schemeClr val="dk1"/>
          </a:fillRef>
          <a:effectRef idx="2">
            <a:schemeClr val="dk1"/>
          </a:effectRef>
          <a:fontRef idx="minor">
            <a:schemeClr val="tx1"/>
          </a:fontRef>
        </p:style>
      </p:cxnSp>
      <p:cxnSp>
        <p:nvCxnSpPr>
          <p:cNvPr id="28" name="직선 화살표 연결선 27"/>
          <p:cNvCxnSpPr>
            <a:stCxn id="82" idx="2"/>
            <a:endCxn id="98" idx="0"/>
          </p:cNvCxnSpPr>
          <p:nvPr/>
        </p:nvCxnSpPr>
        <p:spPr>
          <a:xfrm flipH="1">
            <a:off x="8465431" y="2394539"/>
            <a:ext cx="373" cy="403869"/>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30" name="직선 화살표 연결선 29"/>
          <p:cNvCxnSpPr>
            <a:endCxn id="16" idx="0"/>
          </p:cNvCxnSpPr>
          <p:nvPr/>
        </p:nvCxnSpPr>
        <p:spPr>
          <a:xfrm flipH="1">
            <a:off x="7403380" y="3353737"/>
            <a:ext cx="639116" cy="79605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32" name="직선 화살표 연결선 31"/>
          <p:cNvCxnSpPr>
            <a:endCxn id="5" idx="0"/>
          </p:cNvCxnSpPr>
          <p:nvPr/>
        </p:nvCxnSpPr>
        <p:spPr>
          <a:xfrm>
            <a:off x="8888239" y="3353737"/>
            <a:ext cx="718460" cy="79605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34" name="직선 화살표 연결선 33"/>
          <p:cNvCxnSpPr>
            <a:stCxn id="5" idx="2"/>
            <a:endCxn id="18" idx="0"/>
          </p:cNvCxnSpPr>
          <p:nvPr/>
        </p:nvCxnSpPr>
        <p:spPr>
          <a:xfrm flipH="1">
            <a:off x="8465804" y="4747713"/>
            <a:ext cx="1140895" cy="717339"/>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36" name="직선 화살표 연결선 35"/>
          <p:cNvCxnSpPr>
            <a:stCxn id="16" idx="2"/>
            <a:endCxn id="18" idx="0"/>
          </p:cNvCxnSpPr>
          <p:nvPr/>
        </p:nvCxnSpPr>
        <p:spPr>
          <a:xfrm>
            <a:off x="7403380" y="4747713"/>
            <a:ext cx="1062424" cy="717339"/>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sp>
        <p:nvSpPr>
          <p:cNvPr id="53" name="TextBox 52"/>
          <p:cNvSpPr txBox="1"/>
          <p:nvPr/>
        </p:nvSpPr>
        <p:spPr>
          <a:xfrm>
            <a:off x="8339318" y="2394539"/>
            <a:ext cx="678110" cy="338554"/>
          </a:xfrm>
          <a:prstGeom prst="rect">
            <a:avLst/>
          </a:prstGeom>
          <a:noFill/>
        </p:spPr>
        <p:txBody>
          <a:bodyPr wrap="square" rtlCol="0">
            <a:spAutoFit/>
          </a:bodyPr>
          <a:lstStyle/>
          <a:p>
            <a:pPr algn="ct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Y e s </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4" name="TextBox 53"/>
          <p:cNvSpPr txBox="1"/>
          <p:nvPr/>
        </p:nvSpPr>
        <p:spPr>
          <a:xfrm>
            <a:off x="9829931" y="1146058"/>
            <a:ext cx="678110" cy="338554"/>
          </a:xfrm>
          <a:prstGeom prst="rect">
            <a:avLst/>
          </a:prstGeom>
          <a:noFill/>
        </p:spPr>
        <p:txBody>
          <a:bodyPr wrap="square" rtlCol="0">
            <a:spAutoFit/>
          </a:bodyPr>
          <a:lstStyle/>
          <a:p>
            <a:pPr algn="ct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N o</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0" name="TextBox 59"/>
          <p:cNvSpPr txBox="1"/>
          <p:nvPr/>
        </p:nvSpPr>
        <p:spPr>
          <a:xfrm>
            <a:off x="6987886" y="3571827"/>
            <a:ext cx="678110"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지휘</a:t>
            </a:r>
            <a:endPar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1" name="TextBox 60"/>
          <p:cNvSpPr txBox="1"/>
          <p:nvPr/>
        </p:nvSpPr>
        <p:spPr>
          <a:xfrm>
            <a:off x="9300301" y="3558764"/>
            <a:ext cx="678110"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출동</a:t>
            </a:r>
            <a:endPar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다이아몬드 81"/>
          <p:cNvSpPr/>
          <p:nvPr/>
        </p:nvSpPr>
        <p:spPr>
          <a:xfrm>
            <a:off x="7468128" y="1358318"/>
            <a:ext cx="1995351" cy="1036221"/>
          </a:xfrm>
          <a:prstGeom prst="diamond">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착수</a:t>
            </a:r>
            <a:endParaRPr lang="ko-KR" altLang="en-US" dirty="0">
              <a:solidFill>
                <a:schemeClr val="tx1"/>
              </a:solidFill>
            </a:endParaRPr>
          </a:p>
        </p:txBody>
      </p:sp>
      <p:sp>
        <p:nvSpPr>
          <p:cNvPr id="98" name="다이아몬드 97"/>
          <p:cNvSpPr/>
          <p:nvPr/>
        </p:nvSpPr>
        <p:spPr>
          <a:xfrm>
            <a:off x="7437220" y="2798408"/>
            <a:ext cx="2056421" cy="962875"/>
          </a:xfrm>
          <a:prstGeom prst="diamond">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solidFill>
                  <a:schemeClr val="tx1"/>
                </a:solidFill>
              </a:rPr>
              <a:t>지휘 </a:t>
            </a:r>
            <a:r>
              <a:rPr lang="en-US" altLang="ko-KR" dirty="0">
                <a:solidFill>
                  <a:schemeClr val="tx1"/>
                </a:solidFill>
              </a:rPr>
              <a:t>or </a:t>
            </a:r>
            <a:r>
              <a:rPr lang="ko-KR" altLang="en-US" dirty="0" smtClean="0">
                <a:solidFill>
                  <a:schemeClr val="tx1"/>
                </a:solidFill>
              </a:rPr>
              <a:t>출동</a:t>
            </a:r>
            <a:endParaRPr lang="ko-KR" altLang="en-US" dirty="0">
              <a:solidFill>
                <a:schemeClr val="tx1"/>
              </a:solidFill>
            </a:endParaRPr>
          </a:p>
        </p:txBody>
      </p:sp>
      <p:sp>
        <p:nvSpPr>
          <p:cNvPr id="152" name="모서리가 둥근 직사각형 151"/>
          <p:cNvSpPr/>
          <p:nvPr/>
        </p:nvSpPr>
        <p:spPr>
          <a:xfrm>
            <a:off x="5238730" y="457417"/>
            <a:ext cx="1710365" cy="597926"/>
          </a:xfrm>
          <a:prstGeom prst="round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정비</a:t>
            </a:r>
            <a:endParaRPr lang="en-US" altLang="ko-KR" dirty="0" smtClean="0">
              <a:solidFill>
                <a:schemeClr val="tx1"/>
              </a:solidFill>
            </a:endParaRPr>
          </a:p>
        </p:txBody>
      </p:sp>
      <p:sp>
        <p:nvSpPr>
          <p:cNvPr id="153" name="모서리가 둥근 직사각형 152"/>
          <p:cNvSpPr/>
          <p:nvPr/>
        </p:nvSpPr>
        <p:spPr>
          <a:xfrm>
            <a:off x="5238729" y="5465052"/>
            <a:ext cx="1749555" cy="597926"/>
          </a:xfrm>
          <a:prstGeom prst="round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정산</a:t>
            </a:r>
            <a:endParaRPr lang="ko-KR" altLang="en-US" dirty="0">
              <a:solidFill>
                <a:schemeClr val="tx1"/>
              </a:solidFill>
            </a:endParaRPr>
          </a:p>
        </p:txBody>
      </p:sp>
      <p:cxnSp>
        <p:nvCxnSpPr>
          <p:cNvPr id="155" name="직선 화살표 연결선 154"/>
          <p:cNvCxnSpPr>
            <a:stCxn id="18" idx="1"/>
            <a:endCxn id="153" idx="3"/>
          </p:cNvCxnSpPr>
          <p:nvPr/>
        </p:nvCxnSpPr>
        <p:spPr>
          <a:xfrm flipH="1">
            <a:off x="6988284" y="5764015"/>
            <a:ext cx="622337" cy="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159" name="직선 화살표 연결선 158"/>
          <p:cNvCxnSpPr>
            <a:stCxn id="152" idx="3"/>
            <a:endCxn id="17" idx="1"/>
          </p:cNvCxnSpPr>
          <p:nvPr/>
        </p:nvCxnSpPr>
        <p:spPr>
          <a:xfrm>
            <a:off x="6949095" y="756380"/>
            <a:ext cx="661526" cy="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sp>
        <p:nvSpPr>
          <p:cNvPr id="33" name="모서리가 둥근 직사각형 32"/>
          <p:cNvSpPr/>
          <p:nvPr/>
        </p:nvSpPr>
        <p:spPr>
          <a:xfrm>
            <a:off x="1361625" y="2729959"/>
            <a:ext cx="1016756" cy="753551"/>
          </a:xfrm>
          <a:prstGeom prst="round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rgbClr val="002060"/>
                </a:solidFill>
              </a:rPr>
              <a:t>목표</a:t>
            </a:r>
            <a:endParaRPr lang="en-US" altLang="ko-KR" dirty="0" smtClean="0">
              <a:solidFill>
                <a:srgbClr val="002060"/>
              </a:solidFill>
            </a:endParaRPr>
          </a:p>
        </p:txBody>
      </p:sp>
      <p:sp>
        <p:nvSpPr>
          <p:cNvPr id="35" name="모서리가 둥근 직사각형 34"/>
          <p:cNvSpPr/>
          <p:nvPr/>
        </p:nvSpPr>
        <p:spPr>
          <a:xfrm>
            <a:off x="1361625" y="4261081"/>
            <a:ext cx="1016756" cy="753551"/>
          </a:xfrm>
          <a:prstGeom prst="round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rgbClr val="FF0000"/>
                </a:solidFill>
              </a:rPr>
              <a:t>실패</a:t>
            </a:r>
            <a:endParaRPr lang="en-US" altLang="ko-KR" dirty="0" smtClean="0">
              <a:solidFill>
                <a:srgbClr val="FF0000"/>
              </a:solidFill>
            </a:endParaRPr>
          </a:p>
        </p:txBody>
      </p:sp>
      <p:sp>
        <p:nvSpPr>
          <p:cNvPr id="37" name="TextBox 36"/>
          <p:cNvSpPr txBox="1"/>
          <p:nvPr/>
        </p:nvSpPr>
        <p:spPr>
          <a:xfrm>
            <a:off x="2416481" y="2825422"/>
            <a:ext cx="2347248" cy="507831"/>
          </a:xfrm>
          <a:prstGeom prst="rect">
            <a:avLst/>
          </a:prstGeom>
          <a:noFill/>
        </p:spPr>
        <p:txBody>
          <a:bodyPr wrap="square" rtlCol="0">
            <a:spAutoFit/>
          </a:bodyPr>
          <a:lstStyle/>
          <a:p>
            <a:pPr>
              <a:lnSpc>
                <a:spcPct val="150000"/>
              </a:lnSpc>
            </a:pPr>
            <a:r>
              <a:rPr lang="ko-KR" altLang="en-US"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던전의 </a:t>
            </a:r>
            <a:r>
              <a:rPr lang="ko-KR" altLang="en-US" spc="-15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최심부</a:t>
            </a:r>
            <a:r>
              <a:rPr lang="ko-KR" altLang="en-US"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pc="-15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클리어</a:t>
            </a:r>
            <a:endParaRPr lang="en-US" altLang="ko-KR" spc="-15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8" name="TextBox 37"/>
          <p:cNvSpPr txBox="1"/>
          <p:nvPr/>
        </p:nvSpPr>
        <p:spPr>
          <a:xfrm>
            <a:off x="2416481" y="4410990"/>
            <a:ext cx="2053210" cy="454292"/>
          </a:xfrm>
          <a:prstGeom prst="rect">
            <a:avLst/>
          </a:prstGeom>
          <a:noFill/>
        </p:spPr>
        <p:txBody>
          <a:bodyPr wrap="square" rtlCol="0">
            <a:spAutoFit/>
          </a:bodyPr>
          <a:lstStyle/>
          <a:p>
            <a:pPr>
              <a:lnSpc>
                <a:spcPct val="150000"/>
              </a:lnSpc>
            </a:pPr>
            <a:r>
              <a:rPr lang="ko-KR" altLang="en-US"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플레이어 사망</a:t>
            </a:r>
            <a:endParaRPr lang="en-US" altLang="ko-KR" spc="-15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60</a:t>
            </a:fld>
            <a:endParaRPr lang="ko-KR" altLang="en-US" sz="1800" dirty="0"/>
          </a:p>
        </p:txBody>
      </p:sp>
      <p:sp>
        <p:nvSpPr>
          <p:cNvPr id="39" name="곱셈 기호 38"/>
          <p:cNvSpPr/>
          <p:nvPr/>
        </p:nvSpPr>
        <p:spPr>
          <a:xfrm>
            <a:off x="2224597" y="-304210"/>
            <a:ext cx="9129203" cy="7238034"/>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34726746"/>
      </p:ext>
    </p:extLst>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이등변 삼각형 23"/>
          <p:cNvSpPr/>
          <p:nvPr/>
        </p:nvSpPr>
        <p:spPr>
          <a:xfrm rot="2940484">
            <a:off x="8532315" y="1904905"/>
            <a:ext cx="648907" cy="509102"/>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8" name="이등변 삼각형 27"/>
          <p:cNvSpPr/>
          <p:nvPr/>
        </p:nvSpPr>
        <p:spPr>
          <a:xfrm rot="2940484">
            <a:off x="10904997" y="2296439"/>
            <a:ext cx="648907" cy="509102"/>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9" name="이등변 삼각형 28"/>
          <p:cNvSpPr/>
          <p:nvPr/>
        </p:nvSpPr>
        <p:spPr>
          <a:xfrm rot="2940484">
            <a:off x="8532316" y="3317509"/>
            <a:ext cx="648907" cy="509102"/>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이등변 삼각형 29"/>
          <p:cNvSpPr/>
          <p:nvPr/>
        </p:nvSpPr>
        <p:spPr>
          <a:xfrm rot="2940484">
            <a:off x="10889712" y="4045998"/>
            <a:ext cx="648907" cy="509102"/>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1" name="이등변 삼각형 30"/>
          <p:cNvSpPr/>
          <p:nvPr/>
        </p:nvSpPr>
        <p:spPr>
          <a:xfrm rot="2940484">
            <a:off x="8532314" y="4748265"/>
            <a:ext cx="648907" cy="509102"/>
          </a:xfrm>
          <a:prstGeom prst="triangle">
            <a:avLst>
              <a:gd name="adj" fmla="val 93658"/>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이등변 삼각형 6"/>
          <p:cNvSpPr/>
          <p:nvPr/>
        </p:nvSpPr>
        <p:spPr>
          <a:xfrm rot="19319858">
            <a:off x="819737" y="3195302"/>
            <a:ext cx="880467" cy="697308"/>
          </a:xfrm>
          <a:prstGeom prst="triangle">
            <a:avLst>
              <a:gd name="adj" fmla="val 0"/>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타원 21"/>
          <p:cNvSpPr/>
          <p:nvPr/>
        </p:nvSpPr>
        <p:spPr>
          <a:xfrm rot="1265973" flipH="1">
            <a:off x="2835146" y="4910347"/>
            <a:ext cx="1109922" cy="652908"/>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타원 19"/>
          <p:cNvSpPr/>
          <p:nvPr/>
        </p:nvSpPr>
        <p:spPr>
          <a:xfrm rot="1265973" flipH="1">
            <a:off x="2833814" y="3421892"/>
            <a:ext cx="1109922" cy="666897"/>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 name="타원 1"/>
          <p:cNvSpPr/>
          <p:nvPr/>
        </p:nvSpPr>
        <p:spPr>
          <a:xfrm rot="1265973" flipH="1">
            <a:off x="2838707" y="2060988"/>
            <a:ext cx="1109922" cy="615567"/>
          </a:xfrm>
          <a:prstGeom prst="ellipse">
            <a:avLst/>
          </a:prstGeom>
          <a:solidFill>
            <a:schemeClr val="bg2">
              <a:lumMod val="75000"/>
            </a:schemeClr>
          </a:solidFill>
          <a:ln>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374990" y="469359"/>
            <a:ext cx="308761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전투 화면</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61</a:t>
            </a:fld>
            <a:endParaRPr lang="ko-KR" altLang="en-US" sz="1800" dirty="0"/>
          </a:p>
        </p:txBody>
      </p:sp>
      <p:sp>
        <p:nvSpPr>
          <p:cNvPr id="71" name="TextBox 70"/>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cxnSp>
        <p:nvCxnSpPr>
          <p:cNvPr id="6" name="직선 연결선 5"/>
          <p:cNvCxnSpPr/>
          <p:nvPr/>
        </p:nvCxnSpPr>
        <p:spPr>
          <a:xfrm flipV="1">
            <a:off x="0" y="1216757"/>
            <a:ext cx="12192000" cy="2"/>
          </a:xfrm>
          <a:prstGeom prst="line">
            <a:avLst/>
          </a:prstGeom>
          <a:ln w="57150">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cxnSp>
        <p:nvCxnSpPr>
          <p:cNvPr id="85" name="직선 연결선 84"/>
          <p:cNvCxnSpPr/>
          <p:nvPr/>
        </p:nvCxnSpPr>
        <p:spPr>
          <a:xfrm flipV="1">
            <a:off x="0" y="5935139"/>
            <a:ext cx="12192000" cy="2"/>
          </a:xfrm>
          <a:prstGeom prst="line">
            <a:avLst/>
          </a:prstGeom>
          <a:ln w="57150">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sp>
        <p:nvSpPr>
          <p:cNvPr id="25" name="타원 24"/>
          <p:cNvSpPr/>
          <p:nvPr/>
        </p:nvSpPr>
        <p:spPr>
          <a:xfrm>
            <a:off x="3005169" y="1505565"/>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smtClean="0">
                <a:ln>
                  <a:solidFill>
                    <a:srgbClr val="002060"/>
                  </a:solidFill>
                </a:ln>
                <a:solidFill>
                  <a:schemeClr val="tx1"/>
                </a:solidFill>
              </a:rPr>
              <a:t>몬스터</a:t>
            </a:r>
            <a:endParaRPr lang="ko-KR" altLang="en-US" sz="1600" dirty="0">
              <a:ln>
                <a:solidFill>
                  <a:srgbClr val="002060"/>
                </a:solidFill>
              </a:ln>
              <a:solidFill>
                <a:schemeClr val="tx1"/>
              </a:solidFill>
            </a:endParaRPr>
          </a:p>
        </p:txBody>
      </p:sp>
      <p:sp>
        <p:nvSpPr>
          <p:cNvPr id="91" name="타원 90"/>
          <p:cNvSpPr/>
          <p:nvPr/>
        </p:nvSpPr>
        <p:spPr>
          <a:xfrm>
            <a:off x="3005169" y="2910296"/>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a:ln>
                  <a:solidFill>
                    <a:srgbClr val="002060"/>
                  </a:solidFill>
                </a:ln>
                <a:solidFill>
                  <a:schemeClr val="tx1"/>
                </a:solidFill>
              </a:rPr>
              <a:t>몬스터</a:t>
            </a:r>
            <a:endParaRPr lang="ko-KR" altLang="en-US" sz="1600" b="1" dirty="0">
              <a:ln>
                <a:solidFill>
                  <a:srgbClr val="002060"/>
                </a:solidFill>
              </a:ln>
              <a:solidFill>
                <a:schemeClr val="tx1"/>
              </a:solidFill>
            </a:endParaRPr>
          </a:p>
        </p:txBody>
      </p:sp>
      <p:sp>
        <p:nvSpPr>
          <p:cNvPr id="95" name="타원 94"/>
          <p:cNvSpPr/>
          <p:nvPr/>
        </p:nvSpPr>
        <p:spPr>
          <a:xfrm>
            <a:off x="3005169" y="4381287"/>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a:ln>
                  <a:solidFill>
                    <a:srgbClr val="002060"/>
                  </a:solidFill>
                </a:ln>
                <a:solidFill>
                  <a:schemeClr val="tx1"/>
                </a:solidFill>
              </a:rPr>
              <a:t>몬스터</a:t>
            </a:r>
            <a:endParaRPr lang="ko-KR" altLang="en-US" sz="1600" dirty="0">
              <a:ln>
                <a:solidFill>
                  <a:srgbClr val="002060"/>
                </a:solidFill>
              </a:ln>
              <a:solidFill>
                <a:schemeClr val="tx1"/>
              </a:solidFill>
            </a:endParaRPr>
          </a:p>
        </p:txBody>
      </p:sp>
      <p:sp>
        <p:nvSpPr>
          <p:cNvPr id="26" name="직사각형 25"/>
          <p:cNvSpPr/>
          <p:nvPr/>
        </p:nvSpPr>
        <p:spPr>
          <a:xfrm>
            <a:off x="1142366" y="2910296"/>
            <a:ext cx="1173763" cy="117944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400" dirty="0" smtClean="0">
                <a:ln>
                  <a:solidFill>
                    <a:srgbClr val="0BC10F"/>
                  </a:solidFill>
                </a:ln>
                <a:solidFill>
                  <a:schemeClr val="tx1"/>
                </a:solidFill>
              </a:rPr>
              <a:t>캐릭터</a:t>
            </a:r>
            <a:endParaRPr lang="ko-KR" altLang="en-US" sz="2400" dirty="0">
              <a:ln>
                <a:solidFill>
                  <a:srgbClr val="0BC10F"/>
                </a:solidFill>
              </a:ln>
              <a:solidFill>
                <a:schemeClr val="tx1"/>
              </a:solidFill>
            </a:endParaRPr>
          </a:p>
        </p:txBody>
      </p:sp>
      <p:sp>
        <p:nvSpPr>
          <p:cNvPr id="27" name="이등변 삼각형 26"/>
          <p:cNvSpPr/>
          <p:nvPr/>
        </p:nvSpPr>
        <p:spPr>
          <a:xfrm>
            <a:off x="7022248" y="1508384"/>
            <a:ext cx="1855306" cy="1060172"/>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err="1" smtClean="0">
                <a:ln>
                  <a:solidFill>
                    <a:srgbClr val="FFC000"/>
                  </a:solidFill>
                </a:ln>
                <a:solidFill>
                  <a:sysClr val="windowText" lastClr="000000"/>
                </a:solidFill>
              </a:rPr>
              <a:t>몬스터</a:t>
            </a:r>
            <a:endParaRPr lang="en-US" altLang="ko-KR"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7022248" y="2917595"/>
            <a:ext cx="1855306" cy="1060172"/>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ln>
                  <a:solidFill>
                    <a:srgbClr val="C00000"/>
                  </a:solidFill>
                </a:ln>
                <a:solidFill>
                  <a:sysClr val="windowText" lastClr="000000"/>
                </a:solidFill>
              </a:rPr>
              <a:t>정예</a:t>
            </a:r>
            <a:endParaRPr lang="en-US" altLang="ko-KR" dirty="0" smtClean="0">
              <a:ln>
                <a:solidFill>
                  <a:srgbClr val="C00000"/>
                </a:solidFill>
              </a:ln>
              <a:solidFill>
                <a:sysClr val="windowText" lastClr="000000"/>
              </a:solidFill>
            </a:endParaRPr>
          </a:p>
          <a:p>
            <a:pPr algn="ctr"/>
            <a:r>
              <a:rPr lang="ko-KR" altLang="en-US" dirty="0" err="1" smtClean="0">
                <a:ln>
                  <a:solidFill>
                    <a:srgbClr val="C00000"/>
                  </a:solidFill>
                </a:ln>
                <a:solidFill>
                  <a:sysClr val="windowText" lastClr="000000"/>
                </a:solidFill>
              </a:rPr>
              <a:t>몬스터</a:t>
            </a:r>
            <a:endParaRPr lang="en-US" altLang="ko-KR" dirty="0" smtClean="0">
              <a:ln>
                <a:solidFill>
                  <a:srgbClr val="C00000"/>
                </a:solidFill>
              </a:ln>
              <a:solidFill>
                <a:sysClr val="windowText" lastClr="000000"/>
              </a:solidFill>
            </a:endParaRPr>
          </a:p>
          <a:p>
            <a:pPr algn="ctr"/>
            <a:endParaRPr lang="ko-KR" altLang="en-US" dirty="0">
              <a:ln>
                <a:solidFill>
                  <a:srgbClr val="C00000"/>
                </a:solidFill>
              </a:ln>
              <a:solidFill>
                <a:sysClr val="windowText" lastClr="000000"/>
              </a:solidFill>
            </a:endParaRPr>
          </a:p>
        </p:txBody>
      </p:sp>
      <p:sp>
        <p:nvSpPr>
          <p:cNvPr id="101" name="이등변 삼각형 100"/>
          <p:cNvSpPr/>
          <p:nvPr/>
        </p:nvSpPr>
        <p:spPr>
          <a:xfrm>
            <a:off x="7022248" y="4354514"/>
            <a:ext cx="1855306" cy="1060172"/>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err="1" smtClean="0">
                <a:ln>
                  <a:solidFill>
                    <a:srgbClr val="FFC000"/>
                  </a:solidFill>
                </a:ln>
                <a:solidFill>
                  <a:sysClr val="windowText" lastClr="000000"/>
                </a:solidFill>
              </a:rPr>
              <a:t>몬스터</a:t>
            </a:r>
            <a:endParaRPr lang="en-US" altLang="ko-KR"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5" name="이등변 삼각형 104"/>
          <p:cNvSpPr/>
          <p:nvPr/>
        </p:nvSpPr>
        <p:spPr>
          <a:xfrm>
            <a:off x="9379647" y="1902690"/>
            <a:ext cx="1855306" cy="1060172"/>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err="1" smtClean="0">
                <a:ln>
                  <a:solidFill>
                    <a:srgbClr val="FFC000"/>
                  </a:solidFill>
                </a:ln>
                <a:solidFill>
                  <a:sysClr val="windowText" lastClr="000000"/>
                </a:solidFill>
              </a:rPr>
              <a:t>몬스터</a:t>
            </a:r>
            <a:endParaRPr lang="en-US" altLang="ko-KR"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8" name="이등변 삼각형 107"/>
          <p:cNvSpPr/>
          <p:nvPr/>
        </p:nvSpPr>
        <p:spPr>
          <a:xfrm>
            <a:off x="9379646" y="3652247"/>
            <a:ext cx="1855306" cy="1060172"/>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err="1" smtClean="0">
                <a:ln>
                  <a:solidFill>
                    <a:srgbClr val="FFC000"/>
                  </a:solidFill>
                </a:ln>
                <a:solidFill>
                  <a:sysClr val="windowText" lastClr="000000"/>
                </a:solidFill>
              </a:rPr>
              <a:t>몬스터</a:t>
            </a:r>
            <a:endParaRPr lang="en-US" altLang="ko-KR"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12" name="TextBox 111"/>
          <p:cNvSpPr txBox="1"/>
          <p:nvPr/>
        </p:nvSpPr>
        <p:spPr>
          <a:xfrm>
            <a:off x="7560226" y="537865"/>
            <a:ext cx="3385860"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플레이어 </a:t>
            </a:r>
            <a:r>
              <a:rPr lang="en-US" altLang="ko-KR" sz="2400"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vs</a:t>
            </a: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일반 </a:t>
            </a:r>
            <a:r>
              <a:rPr lang="ko-KR" altLang="en-US" sz="2400"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2" name="곱셈 기호 31"/>
          <p:cNvSpPr/>
          <p:nvPr/>
        </p:nvSpPr>
        <p:spPr>
          <a:xfrm>
            <a:off x="2224597" y="-304210"/>
            <a:ext cx="9129203" cy="7238034"/>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745772442"/>
      </p:ext>
    </p:extLst>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374990" y="469359"/>
            <a:ext cx="308761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62</a:t>
            </a:fld>
            <a:endParaRPr lang="ko-KR" altLang="en-US" sz="1800" dirty="0"/>
          </a:p>
        </p:txBody>
      </p:sp>
      <p:cxnSp>
        <p:nvCxnSpPr>
          <p:cNvPr id="6" name="직선 연결선 5"/>
          <p:cNvCxnSpPr/>
          <p:nvPr/>
        </p:nvCxnSpPr>
        <p:spPr>
          <a:xfrm flipV="1">
            <a:off x="0" y="1299887"/>
            <a:ext cx="12192000" cy="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5" name="직선 연결선 84"/>
          <p:cNvCxnSpPr/>
          <p:nvPr/>
        </p:nvCxnSpPr>
        <p:spPr>
          <a:xfrm flipV="1">
            <a:off x="0" y="5852009"/>
            <a:ext cx="12192000" cy="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타원 24"/>
          <p:cNvSpPr/>
          <p:nvPr/>
        </p:nvSpPr>
        <p:spPr>
          <a:xfrm>
            <a:off x="2285053" y="1563755"/>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smtClean="0">
                <a:ln>
                  <a:solidFill>
                    <a:srgbClr val="002060"/>
                  </a:solidFill>
                </a:ln>
                <a:solidFill>
                  <a:schemeClr val="tx1"/>
                </a:solidFill>
              </a:rPr>
              <a:t>몬스터</a:t>
            </a:r>
            <a:endParaRPr lang="ko-KR" altLang="en-US" sz="1600" dirty="0">
              <a:ln>
                <a:solidFill>
                  <a:srgbClr val="002060"/>
                </a:solidFill>
              </a:ln>
              <a:solidFill>
                <a:schemeClr val="tx1"/>
              </a:solidFill>
            </a:endParaRPr>
          </a:p>
        </p:txBody>
      </p:sp>
      <p:sp>
        <p:nvSpPr>
          <p:cNvPr id="91" name="타원 90"/>
          <p:cNvSpPr/>
          <p:nvPr/>
        </p:nvSpPr>
        <p:spPr>
          <a:xfrm>
            <a:off x="2285053" y="2968486"/>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a:ln>
                  <a:solidFill>
                    <a:srgbClr val="002060"/>
                  </a:solidFill>
                </a:ln>
                <a:solidFill>
                  <a:schemeClr val="tx1"/>
                </a:solidFill>
              </a:rPr>
              <a:t>몬스터</a:t>
            </a:r>
            <a:endParaRPr lang="ko-KR" altLang="en-US" sz="1600" b="1" dirty="0">
              <a:ln>
                <a:solidFill>
                  <a:srgbClr val="002060"/>
                </a:solidFill>
              </a:ln>
              <a:solidFill>
                <a:schemeClr val="tx1"/>
              </a:solidFill>
            </a:endParaRPr>
          </a:p>
        </p:txBody>
      </p:sp>
      <p:sp>
        <p:nvSpPr>
          <p:cNvPr id="95" name="타원 94"/>
          <p:cNvSpPr/>
          <p:nvPr/>
        </p:nvSpPr>
        <p:spPr>
          <a:xfrm>
            <a:off x="2285053" y="4439477"/>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a:ln>
                  <a:solidFill>
                    <a:srgbClr val="002060"/>
                  </a:solidFill>
                </a:ln>
                <a:solidFill>
                  <a:schemeClr val="tx1"/>
                </a:solidFill>
              </a:rPr>
              <a:t>몬스터</a:t>
            </a:r>
            <a:endParaRPr lang="ko-KR" altLang="en-US" sz="1600" dirty="0">
              <a:ln>
                <a:solidFill>
                  <a:srgbClr val="002060"/>
                </a:solidFill>
              </a:ln>
              <a:solidFill>
                <a:schemeClr val="tx1"/>
              </a:solidFill>
            </a:endParaRPr>
          </a:p>
        </p:txBody>
      </p:sp>
      <p:sp>
        <p:nvSpPr>
          <p:cNvPr id="26" name="직사각형 25"/>
          <p:cNvSpPr/>
          <p:nvPr/>
        </p:nvSpPr>
        <p:spPr>
          <a:xfrm>
            <a:off x="742122" y="2968485"/>
            <a:ext cx="1173763" cy="117944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400" dirty="0" smtClean="0">
                <a:ln>
                  <a:solidFill>
                    <a:srgbClr val="0BC10F"/>
                  </a:solidFill>
                </a:ln>
                <a:solidFill>
                  <a:schemeClr val="tx1"/>
                </a:solidFill>
              </a:rPr>
              <a:t>캐릭터</a:t>
            </a:r>
            <a:endParaRPr lang="ko-KR" altLang="en-US" sz="2400" dirty="0">
              <a:ln>
                <a:solidFill>
                  <a:srgbClr val="0BC10F"/>
                </a:solidFill>
              </a:ln>
              <a:solidFill>
                <a:schemeClr val="tx1"/>
              </a:solidFill>
            </a:endParaRPr>
          </a:p>
        </p:txBody>
      </p:sp>
      <p:sp>
        <p:nvSpPr>
          <p:cNvPr id="27" name="이등변 삼각형 26"/>
          <p:cNvSpPr/>
          <p:nvPr/>
        </p:nvSpPr>
        <p:spPr>
          <a:xfrm>
            <a:off x="8322364" y="1563755"/>
            <a:ext cx="1855306" cy="1060172"/>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err="1" smtClean="0">
                <a:ln>
                  <a:solidFill>
                    <a:srgbClr val="FFC000"/>
                  </a:solidFill>
                </a:ln>
                <a:solidFill>
                  <a:sysClr val="windowText" lastClr="000000"/>
                </a:solidFill>
              </a:rPr>
              <a:t>몬스터</a:t>
            </a:r>
            <a:endParaRPr lang="en-US" altLang="ko-KR"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96" name="이등변 삼각형 95"/>
          <p:cNvSpPr/>
          <p:nvPr/>
        </p:nvSpPr>
        <p:spPr>
          <a:xfrm>
            <a:off x="8322364" y="2835954"/>
            <a:ext cx="1855306" cy="1060172"/>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err="1" smtClean="0">
                <a:ln>
                  <a:solidFill>
                    <a:srgbClr val="FFC000"/>
                  </a:solidFill>
                </a:ln>
                <a:solidFill>
                  <a:sysClr val="windowText" lastClr="000000"/>
                </a:solidFill>
              </a:rPr>
              <a:t>몬스터</a:t>
            </a:r>
            <a:endParaRPr lang="en-US" altLang="ko-KR"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01" name="이등변 삼각형 100"/>
          <p:cNvSpPr/>
          <p:nvPr/>
        </p:nvSpPr>
        <p:spPr>
          <a:xfrm>
            <a:off x="8322364" y="4147924"/>
            <a:ext cx="1855306" cy="1060172"/>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err="1" smtClean="0">
                <a:ln>
                  <a:solidFill>
                    <a:srgbClr val="FFC000"/>
                  </a:solidFill>
                </a:ln>
                <a:solidFill>
                  <a:sysClr val="windowText" lastClr="000000"/>
                </a:solidFill>
              </a:rPr>
              <a:t>몬스터</a:t>
            </a:r>
            <a:endParaRPr lang="en-US" altLang="ko-KR" dirty="0" smtClean="0">
              <a:ln>
                <a:solidFill>
                  <a:srgbClr val="FFC000"/>
                </a:solidFill>
              </a:ln>
              <a:solidFill>
                <a:sysClr val="windowText" lastClr="000000"/>
              </a:solidFill>
            </a:endParaRPr>
          </a:p>
          <a:p>
            <a:pPr algn="ctr"/>
            <a:endParaRPr lang="ko-KR" altLang="en-US" dirty="0">
              <a:ln>
                <a:solidFill>
                  <a:srgbClr val="FFC000"/>
                </a:solidFill>
              </a:ln>
              <a:solidFill>
                <a:sysClr val="windowText" lastClr="000000"/>
              </a:solidFill>
            </a:endParaRPr>
          </a:p>
        </p:txBody>
      </p:sp>
      <p:sp>
        <p:nvSpPr>
          <p:cNvPr id="112" name="TextBox 111"/>
          <p:cNvSpPr txBox="1"/>
          <p:nvPr/>
        </p:nvSpPr>
        <p:spPr>
          <a:xfrm>
            <a:off x="4297052" y="5172667"/>
            <a:ext cx="3597896"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플레이어 </a:t>
            </a:r>
            <a:r>
              <a:rPr lang="en-US" altLang="ko-KR" sz="2400"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vs</a:t>
            </a:r>
            <a:r>
              <a:rPr lang="en-US" altLang="ko-KR"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보스 </a:t>
            </a:r>
            <a:r>
              <a:rPr lang="ko-KR" altLang="en-US" sz="2400"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에어리</a:t>
            </a:r>
            <a:r>
              <a:rPr lang="ko-KR" altLang="en-US" sz="2400" spc="-300" dirty="0" err="1">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어</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 name="포인트가 5개인 별 1"/>
          <p:cNvSpPr/>
          <p:nvPr/>
        </p:nvSpPr>
        <p:spPr>
          <a:xfrm>
            <a:off x="10177670" y="2650422"/>
            <a:ext cx="1868557" cy="1431235"/>
          </a:xfrm>
          <a:prstGeom prst="star5">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000" dirty="0" smtClean="0">
                <a:ln>
                  <a:solidFill>
                    <a:srgbClr val="FF0000"/>
                  </a:solidFill>
                </a:ln>
                <a:solidFill>
                  <a:sysClr val="windowText" lastClr="000000"/>
                </a:solidFill>
              </a:rPr>
              <a:t>보스</a:t>
            </a:r>
            <a:endParaRPr lang="en-US" altLang="ko-KR" sz="2000" dirty="0" smtClean="0">
              <a:ln>
                <a:solidFill>
                  <a:srgbClr val="FF0000"/>
                </a:solidFill>
              </a:ln>
              <a:solidFill>
                <a:sysClr val="windowText" lastClr="000000"/>
              </a:solidFill>
            </a:endParaRPr>
          </a:p>
        </p:txBody>
      </p:sp>
      <p:sp>
        <p:nvSpPr>
          <p:cNvPr id="18" name="TextBox 1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9" name="곱셈 기호 18"/>
          <p:cNvSpPr/>
          <p:nvPr/>
        </p:nvSpPr>
        <p:spPr>
          <a:xfrm>
            <a:off x="2224597" y="-304210"/>
            <a:ext cx="9129203" cy="7238034"/>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823710322"/>
      </p:ext>
    </p:extLst>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374990" y="469359"/>
            <a:ext cx="308761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63</a:t>
            </a:fld>
            <a:endParaRPr lang="ko-KR" altLang="en-US" sz="1800" dirty="0"/>
          </a:p>
        </p:txBody>
      </p:sp>
      <p:cxnSp>
        <p:nvCxnSpPr>
          <p:cNvPr id="6" name="직선 연결선 5"/>
          <p:cNvCxnSpPr/>
          <p:nvPr/>
        </p:nvCxnSpPr>
        <p:spPr>
          <a:xfrm flipV="1">
            <a:off x="0" y="1299887"/>
            <a:ext cx="12192000" cy="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5" name="직선 연결선 84"/>
          <p:cNvCxnSpPr/>
          <p:nvPr/>
        </p:nvCxnSpPr>
        <p:spPr>
          <a:xfrm flipV="1">
            <a:off x="0" y="5852009"/>
            <a:ext cx="12192000" cy="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타원 24"/>
          <p:cNvSpPr/>
          <p:nvPr/>
        </p:nvSpPr>
        <p:spPr>
          <a:xfrm>
            <a:off x="2285053" y="1563755"/>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smtClean="0">
                <a:ln>
                  <a:solidFill>
                    <a:srgbClr val="002060"/>
                  </a:solidFill>
                </a:ln>
                <a:solidFill>
                  <a:schemeClr val="tx1"/>
                </a:solidFill>
              </a:rPr>
              <a:t>몬스터</a:t>
            </a:r>
            <a:endParaRPr lang="ko-KR" altLang="en-US" sz="1600" dirty="0">
              <a:ln>
                <a:solidFill>
                  <a:srgbClr val="002060"/>
                </a:solidFill>
              </a:ln>
              <a:solidFill>
                <a:schemeClr val="tx1"/>
              </a:solidFill>
            </a:endParaRPr>
          </a:p>
        </p:txBody>
      </p:sp>
      <p:sp>
        <p:nvSpPr>
          <p:cNvPr id="91" name="타원 90"/>
          <p:cNvSpPr/>
          <p:nvPr/>
        </p:nvSpPr>
        <p:spPr>
          <a:xfrm>
            <a:off x="2285053" y="2968486"/>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a:ln>
                  <a:solidFill>
                    <a:srgbClr val="002060"/>
                  </a:solidFill>
                </a:ln>
                <a:solidFill>
                  <a:schemeClr val="tx1"/>
                </a:solidFill>
              </a:rPr>
              <a:t>몬스터</a:t>
            </a:r>
            <a:endParaRPr lang="ko-KR" altLang="en-US" sz="1600" b="1" dirty="0">
              <a:ln>
                <a:solidFill>
                  <a:srgbClr val="002060"/>
                </a:solidFill>
              </a:ln>
              <a:solidFill>
                <a:schemeClr val="tx1"/>
              </a:solidFill>
            </a:endParaRPr>
          </a:p>
        </p:txBody>
      </p:sp>
      <p:sp>
        <p:nvSpPr>
          <p:cNvPr id="95" name="타원 94"/>
          <p:cNvSpPr/>
          <p:nvPr/>
        </p:nvSpPr>
        <p:spPr>
          <a:xfrm>
            <a:off x="2285053" y="4439477"/>
            <a:ext cx="1173763" cy="1179443"/>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600" dirty="0" err="1">
                <a:ln>
                  <a:solidFill>
                    <a:srgbClr val="002060"/>
                  </a:solidFill>
                </a:ln>
                <a:solidFill>
                  <a:schemeClr val="tx1"/>
                </a:solidFill>
              </a:rPr>
              <a:t>몬스터</a:t>
            </a:r>
            <a:endParaRPr lang="ko-KR" altLang="en-US" sz="1600" dirty="0">
              <a:ln>
                <a:solidFill>
                  <a:srgbClr val="002060"/>
                </a:solidFill>
              </a:ln>
              <a:solidFill>
                <a:schemeClr val="tx1"/>
              </a:solidFill>
            </a:endParaRPr>
          </a:p>
        </p:txBody>
      </p:sp>
      <p:sp>
        <p:nvSpPr>
          <p:cNvPr id="26" name="직사각형 25"/>
          <p:cNvSpPr/>
          <p:nvPr/>
        </p:nvSpPr>
        <p:spPr>
          <a:xfrm>
            <a:off x="742122" y="2968485"/>
            <a:ext cx="1173763" cy="117944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400" dirty="0" smtClean="0">
                <a:ln>
                  <a:solidFill>
                    <a:srgbClr val="0BC10F"/>
                  </a:solidFill>
                </a:ln>
                <a:solidFill>
                  <a:schemeClr val="tx1"/>
                </a:solidFill>
              </a:rPr>
              <a:t>캐릭터</a:t>
            </a:r>
            <a:endParaRPr lang="ko-KR" altLang="en-US" sz="2400" dirty="0">
              <a:ln>
                <a:solidFill>
                  <a:srgbClr val="0BC10F"/>
                </a:solidFill>
              </a:ln>
              <a:solidFill>
                <a:schemeClr val="tx1"/>
              </a:solidFill>
            </a:endParaRPr>
          </a:p>
        </p:txBody>
      </p:sp>
      <p:sp>
        <p:nvSpPr>
          <p:cNvPr id="112" name="TextBox 111"/>
          <p:cNvSpPr txBox="1"/>
          <p:nvPr/>
        </p:nvSpPr>
        <p:spPr>
          <a:xfrm>
            <a:off x="4297052" y="5172667"/>
            <a:ext cx="3597896" cy="461665"/>
          </a:xfrm>
          <a:prstGeom prst="rect">
            <a:avLst/>
          </a:prstGeom>
          <a:noFill/>
        </p:spPr>
        <p:txBody>
          <a:bodyPr wrap="square" rtlCol="0">
            <a:spAutoFit/>
          </a:bodyPr>
          <a:lstStyle/>
          <a:p>
            <a:pPr algn="ctr"/>
            <a:r>
              <a:rPr lang="ko-KR" altLang="en-US" sz="24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특수 이벤트</a:t>
            </a:r>
            <a:endParaRPr lang="ko-KR" altLang="en-US" sz="24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정오각형 4"/>
          <p:cNvSpPr/>
          <p:nvPr/>
        </p:nvSpPr>
        <p:spPr>
          <a:xfrm>
            <a:off x="9568069" y="2822711"/>
            <a:ext cx="1736035" cy="1470992"/>
          </a:xfrm>
          <a:prstGeom prst="pentagon">
            <a:avLst/>
          </a:prstGeom>
          <a:solidFill>
            <a:schemeClr val="accent2">
              <a:lumMod val="5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400" dirty="0" smtClean="0">
                <a:solidFill>
                  <a:srgbClr val="FFFF00"/>
                </a:solidFill>
              </a:rPr>
              <a:t>보물상자</a:t>
            </a:r>
            <a:endParaRPr lang="ko-KR" altLang="en-US" sz="2400" dirty="0">
              <a:solidFill>
                <a:srgbClr val="FFFF00"/>
              </a:solidFill>
            </a:endParaRPr>
          </a:p>
        </p:txBody>
      </p:sp>
      <p:sp>
        <p:nvSpPr>
          <p:cNvPr id="15" name="TextBox 14"/>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6" name="곱셈 기호 15"/>
          <p:cNvSpPr/>
          <p:nvPr/>
        </p:nvSpPr>
        <p:spPr>
          <a:xfrm>
            <a:off x="2224597" y="-304210"/>
            <a:ext cx="9129203" cy="7238034"/>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4098162002"/>
      </p:ext>
    </p:extLst>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374990" y="469359"/>
            <a:ext cx="308761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 name="슬라이드 번호 개체 틀 2"/>
          <p:cNvSpPr>
            <a:spLocks noGrp="1"/>
          </p:cNvSpPr>
          <p:nvPr>
            <p:ph type="sldNum" sz="quarter" idx="12"/>
          </p:nvPr>
        </p:nvSpPr>
        <p:spPr/>
        <p:txBody>
          <a:bodyPr/>
          <a:lstStyle/>
          <a:p>
            <a:fld id="{95F8FB6C-4300-4EF3-AEA9-23A98D8A74E1}" type="slidenum">
              <a:rPr lang="ko-KR" altLang="en-US" sz="1800" smtClean="0"/>
              <a:t>64</a:t>
            </a:fld>
            <a:endParaRPr lang="ko-KR" altLang="en-US" sz="1800" dirty="0"/>
          </a:p>
        </p:txBody>
      </p:sp>
      <p:sp>
        <p:nvSpPr>
          <p:cNvPr id="7" name="타원 6"/>
          <p:cNvSpPr/>
          <p:nvPr/>
        </p:nvSpPr>
        <p:spPr>
          <a:xfrm>
            <a:off x="5499652" y="1378226"/>
            <a:ext cx="1192696" cy="1152939"/>
          </a:xfrm>
          <a:prstGeom prst="ellipse">
            <a:avLst/>
          </a:prstGeom>
          <a:solidFill>
            <a:schemeClr val="accent1">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2400" dirty="0" smtClean="0">
                <a:solidFill>
                  <a:schemeClr val="tx1"/>
                </a:solidFill>
              </a:rPr>
              <a:t>상인</a:t>
            </a:r>
            <a:endParaRPr lang="ko-KR" altLang="en-US" sz="2400" dirty="0">
              <a:solidFill>
                <a:schemeClr val="tx1"/>
              </a:solidFill>
            </a:endParaRPr>
          </a:p>
        </p:txBody>
      </p:sp>
      <p:grpSp>
        <p:nvGrpSpPr>
          <p:cNvPr id="17" name="그룹 16"/>
          <p:cNvGrpSpPr/>
          <p:nvPr/>
        </p:nvGrpSpPr>
        <p:grpSpPr>
          <a:xfrm>
            <a:off x="1179567" y="1160151"/>
            <a:ext cx="9478462" cy="4737066"/>
            <a:chOff x="1258956" y="1160151"/>
            <a:chExt cx="9478462" cy="4737066"/>
          </a:xfrm>
        </p:grpSpPr>
        <p:cxnSp>
          <p:nvCxnSpPr>
            <p:cNvPr id="15" name="직선 연결선 14"/>
            <p:cNvCxnSpPr/>
            <p:nvPr/>
          </p:nvCxnSpPr>
          <p:spPr>
            <a:xfrm>
              <a:off x="1258956" y="1160151"/>
              <a:ext cx="0" cy="473706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10737418" y="1160151"/>
              <a:ext cx="0" cy="473706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flipH="1">
              <a:off x="1258956" y="5897217"/>
              <a:ext cx="947846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flipH="1">
              <a:off x="1258956" y="1160151"/>
              <a:ext cx="947846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2" name="타원 31"/>
          <p:cNvSpPr/>
          <p:nvPr/>
        </p:nvSpPr>
        <p:spPr>
          <a:xfrm>
            <a:off x="7583795" y="5027382"/>
            <a:ext cx="764839" cy="711712"/>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solidFill>
                  <a:schemeClr val="tx1"/>
                </a:solidFill>
              </a:rPr>
              <a:t>아이템</a:t>
            </a:r>
          </a:p>
        </p:txBody>
      </p:sp>
      <p:sp>
        <p:nvSpPr>
          <p:cNvPr id="33" name="직사각형 32"/>
          <p:cNvSpPr/>
          <p:nvPr/>
        </p:nvSpPr>
        <p:spPr>
          <a:xfrm>
            <a:off x="2219549" y="4947033"/>
            <a:ext cx="671128" cy="635738"/>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solidFill>
                  <a:schemeClr val="tx1"/>
                </a:solidFill>
              </a:rPr>
              <a:t>아이템</a:t>
            </a:r>
          </a:p>
        </p:txBody>
      </p:sp>
      <p:sp>
        <p:nvSpPr>
          <p:cNvPr id="34" name="이등변 삼각형 33"/>
          <p:cNvSpPr/>
          <p:nvPr/>
        </p:nvSpPr>
        <p:spPr>
          <a:xfrm>
            <a:off x="4989442" y="4983653"/>
            <a:ext cx="1020419" cy="655996"/>
          </a:xfrm>
          <a:prstGeom prst="triangl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200" dirty="0">
                <a:solidFill>
                  <a:schemeClr val="tx1"/>
                </a:solidFill>
              </a:rPr>
              <a:t>아이템</a:t>
            </a:r>
          </a:p>
        </p:txBody>
      </p:sp>
      <p:sp>
        <p:nvSpPr>
          <p:cNvPr id="35" name="포인트가 5개인 별 34"/>
          <p:cNvSpPr/>
          <p:nvPr/>
        </p:nvSpPr>
        <p:spPr>
          <a:xfrm>
            <a:off x="3286849" y="3939810"/>
            <a:ext cx="1251047" cy="1043843"/>
          </a:xfrm>
          <a:prstGeom prst="star5">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solidFill>
                  <a:schemeClr val="tx1"/>
                </a:solidFill>
              </a:rPr>
              <a:t>아이템</a:t>
            </a:r>
          </a:p>
        </p:txBody>
      </p:sp>
      <p:sp>
        <p:nvSpPr>
          <p:cNvPr id="18" name="십자형 17"/>
          <p:cNvSpPr/>
          <p:nvPr/>
        </p:nvSpPr>
        <p:spPr>
          <a:xfrm>
            <a:off x="8702349" y="4162211"/>
            <a:ext cx="715618" cy="655996"/>
          </a:xfrm>
          <a:prstGeom prst="plus">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a:solidFill>
                  <a:schemeClr val="tx1"/>
                </a:solidFill>
              </a:rPr>
              <a:t>아이템</a:t>
            </a:r>
          </a:p>
        </p:txBody>
      </p:sp>
      <p:sp>
        <p:nvSpPr>
          <p:cNvPr id="19" name="순서도: 판단 18"/>
          <p:cNvSpPr/>
          <p:nvPr/>
        </p:nvSpPr>
        <p:spPr>
          <a:xfrm>
            <a:off x="6098710" y="4162211"/>
            <a:ext cx="969301" cy="784822"/>
          </a:xfrm>
          <a:prstGeom prst="flowChartDecision">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1400" dirty="0" smtClean="0">
                <a:solidFill>
                  <a:schemeClr val="tx1"/>
                </a:solidFill>
              </a:rPr>
              <a:t>아이템</a:t>
            </a:r>
            <a:endParaRPr lang="ko-KR" altLang="en-US" sz="1400" dirty="0">
              <a:solidFill>
                <a:schemeClr val="tx1"/>
              </a:solidFill>
            </a:endParaRPr>
          </a:p>
        </p:txBody>
      </p:sp>
      <p:cxnSp>
        <p:nvCxnSpPr>
          <p:cNvPr id="23" name="구부러진 연결선 22"/>
          <p:cNvCxnSpPr>
            <a:stCxn id="7" idx="2"/>
          </p:cNvCxnSpPr>
          <p:nvPr/>
        </p:nvCxnSpPr>
        <p:spPr>
          <a:xfrm rot="10800000" flipV="1">
            <a:off x="4678018" y="1954695"/>
            <a:ext cx="821635" cy="914399"/>
          </a:xfrm>
          <a:prstGeom prst="curvedConnector2">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구부러진 연결선 42"/>
          <p:cNvCxnSpPr>
            <a:endCxn id="7" idx="6"/>
          </p:cNvCxnSpPr>
          <p:nvPr/>
        </p:nvCxnSpPr>
        <p:spPr>
          <a:xfrm rot="16200000" flipV="1">
            <a:off x="6610812" y="2036233"/>
            <a:ext cx="914399" cy="751326"/>
          </a:xfrm>
          <a:prstGeom prst="curvedConnector2">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4" name="타원 43"/>
          <p:cNvSpPr/>
          <p:nvPr/>
        </p:nvSpPr>
        <p:spPr>
          <a:xfrm>
            <a:off x="4537896" y="2869095"/>
            <a:ext cx="280243" cy="271670"/>
          </a:xfrm>
          <a:prstGeom prst="ellipse">
            <a:avLst/>
          </a:prstGeom>
          <a:solidFill>
            <a:schemeClr val="accent1">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52" name="타원 51"/>
          <p:cNvSpPr/>
          <p:nvPr/>
        </p:nvSpPr>
        <p:spPr>
          <a:xfrm>
            <a:off x="7303552" y="2869096"/>
            <a:ext cx="280243" cy="271670"/>
          </a:xfrm>
          <a:prstGeom prst="ellipse">
            <a:avLst/>
          </a:prstGeom>
          <a:solidFill>
            <a:schemeClr val="accent1">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24" name="TextBox 23"/>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던전과 레벨</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5" name="곱셈 기호 24"/>
          <p:cNvSpPr/>
          <p:nvPr/>
        </p:nvSpPr>
        <p:spPr>
          <a:xfrm>
            <a:off x="2224597" y="-304210"/>
            <a:ext cx="9129203" cy="7238034"/>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608691039"/>
      </p:ext>
    </p:extLst>
  </p:cSld>
  <p:clrMapOvr>
    <a:masterClrMapping/>
  </p:clrMapOvr>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1633004015"/>
              </p:ext>
            </p:extLst>
          </p:nvPr>
        </p:nvGraphicFramePr>
        <p:xfrm>
          <a:off x="280219" y="2180966"/>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val="3653911966"/>
                    </a:ext>
                  </a:extLst>
                </a:gridCol>
                <a:gridCol w="10391005">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err="1" smtClean="0"/>
                        <a:t>디엘</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 중 </a:t>
                      </a:r>
                      <a:r>
                        <a:rPr lang="ko-KR" altLang="en-US" dirty="0" err="1" smtClean="0"/>
                        <a:t>공격형</a:t>
                      </a:r>
                      <a:endParaRPr lang="ko-KR" altLang="en-US" dirty="0"/>
                    </a:p>
                  </a:txBody>
                  <a:tcPr anchor="ctr"/>
                </a:tc>
                <a:extLst>
                  <a:ext uri="{0D108BD9-81ED-4DB2-BD59-A6C34878D82A}">
                    <a16:rowId xmlns:a16="http://schemas.microsoft.com/office/drawing/2014/main"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화염</a:t>
                      </a:r>
                      <a:endParaRPr lang="ko-KR" altLang="en-US" dirty="0"/>
                    </a:p>
                  </a:txBody>
                  <a:tcPr anchor="ctr"/>
                </a:tc>
                <a:extLst>
                  <a:ext uri="{0D108BD9-81ED-4DB2-BD59-A6C34878D82A}">
                    <a16:rowId xmlns:a16="http://schemas.microsoft.com/office/drawing/2014/main" val="1583755463"/>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600</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200</a:t>
                      </a:r>
                      <a:endParaRPr lang="ko-KR" altLang="en-US" dirty="0"/>
                    </a:p>
                  </a:txBody>
                  <a:tcPr anchor="ctr"/>
                </a:tc>
                <a:extLst>
                  <a:ext uri="{0D108BD9-81ED-4DB2-BD59-A6C34878D82A}">
                    <a16:rowId xmlns:a16="http://schemas.microsoft.com/office/drawing/2014/main" val="2295546011"/>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60</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val="2267199588"/>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val="1336449386"/>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불굴 </a:t>
                      </a:r>
                      <a:r>
                        <a:rPr lang="en-US" altLang="ko-KR" dirty="0" smtClean="0"/>
                        <a:t>(</a:t>
                      </a:r>
                      <a:r>
                        <a:rPr lang="ko-KR" altLang="en-US" dirty="0" smtClean="0"/>
                        <a:t>캐릭터가 죽음의 위기에 처했을 때</a:t>
                      </a:r>
                      <a:r>
                        <a:rPr lang="en-US" altLang="ko-KR" dirty="0" smtClean="0"/>
                        <a:t>, </a:t>
                      </a:r>
                      <a:r>
                        <a:rPr lang="ko-KR" altLang="en-US" dirty="0" err="1" smtClean="0"/>
                        <a:t>반피로</a:t>
                      </a:r>
                      <a:r>
                        <a:rPr lang="ko-KR" altLang="en-US" dirty="0" smtClean="0"/>
                        <a:t> 회복하고 그 </a:t>
                      </a:r>
                      <a:r>
                        <a:rPr lang="ko-KR" altLang="en-US" dirty="0" err="1" smtClean="0"/>
                        <a:t>턴동안</a:t>
                      </a:r>
                      <a:r>
                        <a:rPr lang="ko-KR" altLang="en-US" dirty="0" smtClean="0"/>
                        <a:t> 무적</a:t>
                      </a:r>
                      <a:r>
                        <a:rPr lang="en-US" altLang="ko-KR" dirty="0" smtClean="0"/>
                        <a:t>)</a:t>
                      </a:r>
                      <a:endParaRPr lang="ko-KR" altLang="en-US" dirty="0"/>
                    </a:p>
                  </a:txBody>
                  <a:tcPr anchor="ctr"/>
                </a:tc>
                <a:extLst>
                  <a:ext uri="{0D108BD9-81ED-4DB2-BD59-A6C34878D82A}">
                    <a16:rowId xmlns:a16="http://schemas.microsoft.com/office/drawing/2014/main"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smtClean="0"/>
                        <a:t>약점 포착</a:t>
                      </a:r>
                      <a:r>
                        <a:rPr lang="en-US" altLang="ko-KR" dirty="0" smtClean="0"/>
                        <a:t>(</a:t>
                      </a:r>
                      <a:r>
                        <a:rPr lang="ko-KR" altLang="en-US" dirty="0" smtClean="0"/>
                        <a:t>한 적 방 감소</a:t>
                      </a:r>
                      <a:r>
                        <a:rPr lang="en-US" altLang="ko-KR" baseline="0" dirty="0" smtClean="0"/>
                        <a:t> </a:t>
                      </a:r>
                      <a:r>
                        <a:rPr lang="ko-KR" altLang="en-US" baseline="0" dirty="0" smtClean="0"/>
                        <a:t>후 공격</a:t>
                      </a:r>
                      <a:r>
                        <a:rPr lang="en-US" altLang="ko-KR" baseline="0" dirty="0" smtClean="0"/>
                        <a:t>)</a:t>
                      </a:r>
                      <a:r>
                        <a:rPr lang="ko-KR" altLang="en-US" dirty="0" smtClean="0"/>
                        <a:t> </a:t>
                      </a:r>
                      <a:r>
                        <a:rPr lang="en-US" altLang="ko-KR" dirty="0" smtClean="0"/>
                        <a:t>/ </a:t>
                      </a:r>
                      <a:r>
                        <a:rPr lang="ko-KR" altLang="en-US" dirty="0" smtClean="0"/>
                        <a:t>정신 집중</a:t>
                      </a:r>
                      <a:r>
                        <a:rPr lang="en-US" altLang="ko-KR" dirty="0" smtClean="0"/>
                        <a:t>(HP,</a:t>
                      </a:r>
                      <a:r>
                        <a:rPr lang="ko-KR" altLang="en-US" dirty="0" smtClean="0"/>
                        <a:t>공</a:t>
                      </a:r>
                      <a:r>
                        <a:rPr lang="en-US" altLang="ko-KR" dirty="0" smtClean="0"/>
                        <a:t>,</a:t>
                      </a:r>
                      <a:r>
                        <a:rPr lang="ko-KR" altLang="en-US" dirty="0" smtClean="0"/>
                        <a:t>방 상승</a:t>
                      </a:r>
                      <a:r>
                        <a:rPr lang="en-US" altLang="ko-KR" dirty="0" smtClean="0"/>
                        <a:t>)</a:t>
                      </a:r>
                      <a:r>
                        <a:rPr lang="ko-KR" altLang="en-US" dirty="0" smtClean="0"/>
                        <a:t> </a:t>
                      </a:r>
                      <a:r>
                        <a:rPr lang="en-US" altLang="ko-KR" dirty="0" smtClean="0"/>
                        <a:t>/ </a:t>
                      </a:r>
                      <a:r>
                        <a:rPr lang="ko-KR" altLang="en-US" dirty="0" smtClean="0"/>
                        <a:t>분노의 일격</a:t>
                      </a:r>
                      <a:r>
                        <a:rPr lang="en-US" altLang="ko-KR" dirty="0" smtClean="0"/>
                        <a:t>(</a:t>
                      </a:r>
                      <a:r>
                        <a:rPr lang="ko-KR" altLang="en-US" dirty="0" smtClean="0"/>
                        <a:t>한 적 </a:t>
                      </a:r>
                      <a:r>
                        <a:rPr lang="ko-KR" altLang="en-US" dirty="0" err="1" smtClean="0"/>
                        <a:t>빅뎀</a:t>
                      </a:r>
                      <a:r>
                        <a:rPr lang="en-US" altLang="ko-KR" dirty="0" smtClean="0"/>
                        <a:t>, </a:t>
                      </a:r>
                      <a:r>
                        <a:rPr lang="ko-KR" altLang="en-US" dirty="0" smtClean="0"/>
                        <a:t>모든 적 뎀</a:t>
                      </a:r>
                      <a:r>
                        <a:rPr lang="en-US" altLang="ko-KR" dirty="0" smtClean="0"/>
                        <a:t>)</a:t>
                      </a:r>
                      <a:endParaRPr lang="ko-KR" altLang="en-US" dirty="0"/>
                    </a:p>
                  </a:txBody>
                  <a:tcPr anchor="ctr"/>
                </a:tc>
                <a:extLst>
                  <a:ext uri="{0D108BD9-81ED-4DB2-BD59-A6C34878D82A}">
                    <a16:rowId xmlns:a16="http://schemas.microsoft.com/office/drawing/2014/main"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65</a:t>
            </a:fld>
            <a:endParaRPr lang="ko-KR" altLang="en-US" sz="1800" dirty="0"/>
          </a:p>
        </p:txBody>
      </p:sp>
    </p:spTree>
    <p:extLst>
      <p:ext uri="{BB962C8B-B14F-4D97-AF65-F5344CB8AC3E}">
        <p14:creationId xmlns:p14="http://schemas.microsoft.com/office/powerpoint/2010/main" val="419569324"/>
      </p:ext>
    </p:extLst>
  </p:cSld>
  <p:clrMapOvr>
    <a:masterClrMapping/>
  </p:clrMapOvr>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640662625"/>
              </p:ext>
            </p:extLst>
          </p:nvPr>
        </p:nvGraphicFramePr>
        <p:xfrm>
          <a:off x="280219" y="2180966"/>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val="3653911966"/>
                    </a:ext>
                  </a:extLst>
                </a:gridCol>
                <a:gridCol w="10391005">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smtClean="0"/>
                        <a:t>세실리아</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 중 </a:t>
                      </a:r>
                      <a:r>
                        <a:rPr lang="ko-KR" altLang="en-US" dirty="0" err="1" smtClean="0"/>
                        <a:t>공격형</a:t>
                      </a:r>
                      <a:endParaRPr lang="ko-KR" altLang="en-US" dirty="0"/>
                    </a:p>
                  </a:txBody>
                  <a:tcPr anchor="ctr"/>
                </a:tc>
                <a:extLst>
                  <a:ext uri="{0D108BD9-81ED-4DB2-BD59-A6C34878D82A}">
                    <a16:rowId xmlns:a16="http://schemas.microsoft.com/office/drawing/2014/main"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빙결</a:t>
                      </a:r>
                      <a:endParaRPr lang="ko-KR" altLang="en-US" dirty="0"/>
                    </a:p>
                  </a:txBody>
                  <a:tcPr anchor="ctr"/>
                </a:tc>
                <a:extLst>
                  <a:ext uri="{0D108BD9-81ED-4DB2-BD59-A6C34878D82A}">
                    <a16:rowId xmlns:a16="http://schemas.microsoft.com/office/drawing/2014/main" val="1583755463"/>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400</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300</a:t>
                      </a:r>
                      <a:endParaRPr lang="ko-KR" altLang="en-US" dirty="0"/>
                    </a:p>
                  </a:txBody>
                  <a:tcPr anchor="ctr"/>
                </a:tc>
                <a:extLst>
                  <a:ext uri="{0D108BD9-81ED-4DB2-BD59-A6C34878D82A}">
                    <a16:rowId xmlns:a16="http://schemas.microsoft.com/office/drawing/2014/main" val="2295546011"/>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60</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10</a:t>
                      </a:r>
                      <a:endParaRPr lang="ko-KR" altLang="en-US" dirty="0"/>
                    </a:p>
                  </a:txBody>
                  <a:tcPr anchor="ctr"/>
                </a:tc>
                <a:extLst>
                  <a:ext uri="{0D108BD9-81ED-4DB2-BD59-A6C34878D82A}">
                    <a16:rowId xmlns:a16="http://schemas.microsoft.com/office/drawing/2014/main"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val="2267199588"/>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val="1336449386"/>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마력 순환 </a:t>
                      </a:r>
                      <a:r>
                        <a:rPr lang="en-US" altLang="ko-KR" dirty="0" smtClean="0"/>
                        <a:t>(</a:t>
                      </a:r>
                      <a:r>
                        <a:rPr lang="ko-KR" altLang="en-US" dirty="0" smtClean="0"/>
                        <a:t>자신의 턴마다 아군</a:t>
                      </a:r>
                      <a:r>
                        <a:rPr lang="ko-KR" altLang="en-US" baseline="0" dirty="0" smtClean="0"/>
                        <a:t> </a:t>
                      </a:r>
                      <a:r>
                        <a:rPr lang="en-US" altLang="ko-KR" baseline="0" dirty="0" smtClean="0"/>
                        <a:t>SP </a:t>
                      </a:r>
                      <a:r>
                        <a:rPr lang="ko-KR" altLang="en-US" baseline="0" dirty="0" smtClean="0"/>
                        <a:t>상승</a:t>
                      </a:r>
                      <a:r>
                        <a:rPr lang="en-US" altLang="ko-KR" dirty="0" smtClean="0"/>
                        <a:t>)</a:t>
                      </a:r>
                      <a:endParaRPr lang="ko-KR" altLang="en-US" dirty="0"/>
                    </a:p>
                  </a:txBody>
                  <a:tcPr anchor="ctr"/>
                </a:tc>
                <a:extLst>
                  <a:ext uri="{0D108BD9-81ED-4DB2-BD59-A6C34878D82A}">
                    <a16:rowId xmlns:a16="http://schemas.microsoft.com/office/drawing/2014/main"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smtClean="0"/>
                        <a:t>물방울 폭탄</a:t>
                      </a:r>
                      <a:r>
                        <a:rPr lang="en-US" altLang="ko-KR" dirty="0" smtClean="0"/>
                        <a:t>(</a:t>
                      </a:r>
                      <a:r>
                        <a:rPr lang="ko-KR" altLang="en-US" dirty="0" smtClean="0"/>
                        <a:t>한 적 뎀</a:t>
                      </a:r>
                      <a:r>
                        <a:rPr lang="en-US" altLang="ko-KR" baseline="0" dirty="0" smtClean="0"/>
                        <a:t>)</a:t>
                      </a:r>
                      <a:r>
                        <a:rPr lang="ko-KR" altLang="en-US" dirty="0" smtClean="0"/>
                        <a:t> </a:t>
                      </a:r>
                      <a:r>
                        <a:rPr lang="en-US" altLang="ko-KR" dirty="0" smtClean="0"/>
                        <a:t>/ </a:t>
                      </a:r>
                      <a:r>
                        <a:rPr lang="ko-KR" altLang="en-US" dirty="0" err="1" smtClean="0"/>
                        <a:t>칼바람</a:t>
                      </a:r>
                      <a:r>
                        <a:rPr lang="en-US" altLang="ko-KR" dirty="0" smtClean="0"/>
                        <a:t>(</a:t>
                      </a:r>
                      <a:r>
                        <a:rPr lang="ko-KR" altLang="en-US" dirty="0" smtClean="0"/>
                        <a:t>모든 적 뎀</a:t>
                      </a:r>
                      <a:r>
                        <a:rPr lang="en-US" altLang="ko-KR" dirty="0" smtClean="0"/>
                        <a:t>)</a:t>
                      </a:r>
                      <a:r>
                        <a:rPr lang="ko-KR" altLang="en-US" dirty="0" smtClean="0"/>
                        <a:t> </a:t>
                      </a:r>
                      <a:r>
                        <a:rPr lang="en-US" altLang="ko-KR" dirty="0" smtClean="0"/>
                        <a:t>/ </a:t>
                      </a:r>
                      <a:r>
                        <a:rPr lang="ko-KR" altLang="en-US" dirty="0" smtClean="0"/>
                        <a:t>서리 폭풍</a:t>
                      </a:r>
                      <a:r>
                        <a:rPr lang="en-US" altLang="ko-KR" dirty="0" smtClean="0"/>
                        <a:t>(</a:t>
                      </a:r>
                      <a:r>
                        <a:rPr lang="ko-KR" altLang="en-US" dirty="0" smtClean="0"/>
                        <a:t>모든 적 뎀</a:t>
                      </a:r>
                      <a:r>
                        <a:rPr lang="en-US" altLang="ko-KR" dirty="0" smtClean="0"/>
                        <a:t>, </a:t>
                      </a:r>
                      <a:r>
                        <a:rPr lang="ko-KR" altLang="en-US" dirty="0" smtClean="0"/>
                        <a:t>빙결</a:t>
                      </a:r>
                      <a:r>
                        <a:rPr lang="en-US" altLang="ko-KR" dirty="0" smtClean="0"/>
                        <a:t>)</a:t>
                      </a:r>
                      <a:endParaRPr lang="ko-KR" altLang="en-US" dirty="0"/>
                    </a:p>
                  </a:txBody>
                  <a:tcPr anchor="ctr"/>
                </a:tc>
                <a:extLst>
                  <a:ext uri="{0D108BD9-81ED-4DB2-BD59-A6C34878D82A}">
                    <a16:rowId xmlns:a16="http://schemas.microsoft.com/office/drawing/2014/main"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66</a:t>
            </a:fld>
            <a:endParaRPr lang="ko-KR" altLang="en-US" sz="1800" dirty="0"/>
          </a:p>
        </p:txBody>
      </p:sp>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962759470"/>
      </p:ext>
    </p:extLst>
  </p:cSld>
  <p:clrMapOvr>
    <a:masterClrMapping/>
  </p:clrMapOvr>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1967430271"/>
              </p:ext>
            </p:extLst>
          </p:nvPr>
        </p:nvGraphicFramePr>
        <p:xfrm>
          <a:off x="277760" y="2186277"/>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val="3653911966"/>
                    </a:ext>
                  </a:extLst>
                </a:gridCol>
                <a:gridCol w="10391005">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err="1" smtClean="0"/>
                        <a:t>프리스톤</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 중 </a:t>
                      </a:r>
                      <a:r>
                        <a:rPr lang="ko-KR" altLang="en-US" dirty="0" err="1" smtClean="0"/>
                        <a:t>방어형</a:t>
                      </a:r>
                      <a:endParaRPr lang="ko-KR" altLang="en-US" dirty="0"/>
                    </a:p>
                  </a:txBody>
                  <a:tcPr anchor="ctr"/>
                </a:tc>
                <a:extLst>
                  <a:ext uri="{0D108BD9-81ED-4DB2-BD59-A6C34878D82A}">
                    <a16:rowId xmlns:a16="http://schemas.microsoft.com/office/drawing/2014/main"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바람</a:t>
                      </a:r>
                      <a:endParaRPr lang="ko-KR" altLang="en-US" dirty="0"/>
                    </a:p>
                  </a:txBody>
                  <a:tcPr anchor="ctr"/>
                </a:tc>
                <a:extLst>
                  <a:ext uri="{0D108BD9-81ED-4DB2-BD59-A6C34878D82A}">
                    <a16:rowId xmlns:a16="http://schemas.microsoft.com/office/drawing/2014/main" val="587654416"/>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800</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200</a:t>
                      </a:r>
                      <a:endParaRPr lang="ko-KR" altLang="en-US" dirty="0"/>
                    </a:p>
                  </a:txBody>
                  <a:tcPr anchor="ctr"/>
                </a:tc>
                <a:extLst>
                  <a:ext uri="{0D108BD9-81ED-4DB2-BD59-A6C34878D82A}">
                    <a16:rowId xmlns:a16="http://schemas.microsoft.com/office/drawing/2014/main" val="3188019160"/>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30</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30</a:t>
                      </a:r>
                      <a:endParaRPr lang="ko-KR" altLang="en-US" dirty="0"/>
                    </a:p>
                  </a:txBody>
                  <a:tcPr anchor="ctr"/>
                </a:tc>
                <a:extLst>
                  <a:ext uri="{0D108BD9-81ED-4DB2-BD59-A6C34878D82A}">
                    <a16:rowId xmlns:a16="http://schemas.microsoft.com/office/drawing/2014/main"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val="853102638"/>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val="3633511606"/>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난공불락 </a:t>
                      </a:r>
                      <a:r>
                        <a:rPr lang="en-US" altLang="ko-KR" dirty="0" smtClean="0"/>
                        <a:t>(</a:t>
                      </a:r>
                      <a:r>
                        <a:rPr lang="ko-KR" altLang="en-US" dirty="0" smtClean="0"/>
                        <a:t>잃은 체력에 비례하여 방어력 상승</a:t>
                      </a:r>
                      <a:r>
                        <a:rPr lang="en-US" altLang="ko-KR" dirty="0" smtClean="0"/>
                        <a:t>)</a:t>
                      </a:r>
                      <a:endParaRPr lang="ko-KR" altLang="en-US" dirty="0"/>
                    </a:p>
                  </a:txBody>
                  <a:tcPr anchor="ctr"/>
                </a:tc>
                <a:extLst>
                  <a:ext uri="{0D108BD9-81ED-4DB2-BD59-A6C34878D82A}">
                    <a16:rowId xmlns:a16="http://schemas.microsoft.com/office/drawing/2014/main"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smtClean="0"/>
                        <a:t>방패 돌격</a:t>
                      </a:r>
                      <a:r>
                        <a:rPr lang="en-US" altLang="ko-KR" dirty="0" smtClean="0"/>
                        <a:t>(</a:t>
                      </a:r>
                      <a:r>
                        <a:rPr lang="ko-KR" altLang="en-US" dirty="0" smtClean="0"/>
                        <a:t>적</a:t>
                      </a:r>
                      <a:r>
                        <a:rPr lang="en-US" altLang="ko-KR" dirty="0" smtClean="0"/>
                        <a:t>1</a:t>
                      </a:r>
                      <a:r>
                        <a:rPr lang="ko-KR" altLang="en-US" dirty="0" smtClean="0"/>
                        <a:t> </a:t>
                      </a:r>
                      <a:r>
                        <a:rPr lang="ko-KR" altLang="en-US" dirty="0" err="1" smtClean="0"/>
                        <a:t>방비례뎀</a:t>
                      </a:r>
                      <a:r>
                        <a:rPr lang="en-US" altLang="ko-KR" dirty="0" smtClean="0"/>
                        <a:t>)</a:t>
                      </a:r>
                      <a:r>
                        <a:rPr lang="ko-KR" altLang="en-US" dirty="0" smtClean="0"/>
                        <a:t> </a:t>
                      </a:r>
                      <a:r>
                        <a:rPr lang="en-US" altLang="ko-KR" dirty="0" smtClean="0"/>
                        <a:t>/ </a:t>
                      </a:r>
                      <a:r>
                        <a:rPr lang="ko-KR" altLang="en-US" dirty="0" smtClean="0"/>
                        <a:t>용기의 외침</a:t>
                      </a:r>
                      <a:r>
                        <a:rPr lang="en-US" altLang="ko-KR" dirty="0" smtClean="0"/>
                        <a:t>(</a:t>
                      </a:r>
                      <a:r>
                        <a:rPr lang="ko-KR" altLang="en-US" dirty="0" smtClean="0"/>
                        <a:t>체 회복</a:t>
                      </a:r>
                      <a:r>
                        <a:rPr lang="en-US" altLang="ko-KR" dirty="0" smtClean="0"/>
                        <a:t>, </a:t>
                      </a:r>
                      <a:r>
                        <a:rPr lang="ko-KR" altLang="en-US" dirty="0" smtClean="0"/>
                        <a:t>방 상승</a:t>
                      </a:r>
                      <a:r>
                        <a:rPr lang="en-US" altLang="ko-KR" baseline="0" dirty="0" smtClean="0"/>
                        <a:t>)</a:t>
                      </a:r>
                      <a:r>
                        <a:rPr lang="ko-KR" altLang="en-US" dirty="0" smtClean="0"/>
                        <a:t> </a:t>
                      </a:r>
                      <a:r>
                        <a:rPr lang="en-US" altLang="ko-KR" dirty="0" smtClean="0"/>
                        <a:t>/ </a:t>
                      </a:r>
                      <a:r>
                        <a:rPr lang="ko-KR" altLang="en-US" dirty="0" smtClean="0"/>
                        <a:t>수호의 방패</a:t>
                      </a:r>
                      <a:r>
                        <a:rPr lang="en-US" altLang="ko-KR" dirty="0" smtClean="0"/>
                        <a:t>(2</a:t>
                      </a:r>
                      <a:r>
                        <a:rPr lang="ko-KR" altLang="en-US" dirty="0" smtClean="0"/>
                        <a:t>턴 아군 체</a:t>
                      </a:r>
                      <a:r>
                        <a:rPr lang="en-US" altLang="ko-KR" dirty="0" smtClean="0"/>
                        <a:t>, </a:t>
                      </a:r>
                      <a:r>
                        <a:rPr lang="ko-KR" altLang="en-US" dirty="0" smtClean="0"/>
                        <a:t>방 </a:t>
                      </a:r>
                      <a:r>
                        <a:rPr lang="en-US" altLang="ko-KR" dirty="0" smtClean="0"/>
                        <a:t>2</a:t>
                      </a:r>
                      <a:r>
                        <a:rPr lang="ko-KR" altLang="en-US" dirty="0" smtClean="0"/>
                        <a:t>배</a:t>
                      </a:r>
                      <a:r>
                        <a:rPr lang="en-US" altLang="ko-KR" dirty="0" smtClean="0"/>
                        <a:t>, </a:t>
                      </a:r>
                      <a:r>
                        <a:rPr lang="ko-KR" altLang="en-US" dirty="0" err="1" smtClean="0"/>
                        <a:t>자석탱</a:t>
                      </a:r>
                      <a:r>
                        <a:rPr lang="en-US" altLang="ko-KR" dirty="0" smtClean="0"/>
                        <a:t>)</a:t>
                      </a:r>
                      <a:endParaRPr lang="ko-KR" altLang="en-US" dirty="0"/>
                    </a:p>
                  </a:txBody>
                  <a:tcPr anchor="ctr"/>
                </a:tc>
                <a:extLst>
                  <a:ext uri="{0D108BD9-81ED-4DB2-BD59-A6C34878D82A}">
                    <a16:rowId xmlns:a16="http://schemas.microsoft.com/office/drawing/2014/main"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67</a:t>
            </a:fld>
            <a:endParaRPr lang="ko-KR" altLang="en-US" sz="1800" dirty="0"/>
          </a:p>
        </p:txBody>
      </p:sp>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118503578"/>
      </p:ext>
    </p:extLst>
  </p:cSld>
  <p:clrMapOvr>
    <a:masterClrMapping/>
  </p:clrMapOvr>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2403635941"/>
              </p:ext>
            </p:extLst>
          </p:nvPr>
        </p:nvGraphicFramePr>
        <p:xfrm>
          <a:off x="280219" y="2180963"/>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val="3653911966"/>
                    </a:ext>
                  </a:extLst>
                </a:gridCol>
                <a:gridCol w="10391005">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smtClean="0"/>
                        <a:t>아이리스</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a:t>
                      </a:r>
                      <a:r>
                        <a:rPr lang="ko-KR" altLang="en-US" baseline="0" dirty="0" smtClean="0"/>
                        <a:t> </a:t>
                      </a:r>
                      <a:r>
                        <a:rPr lang="ko-KR" altLang="en-US" dirty="0" smtClean="0"/>
                        <a:t>중 보조형</a:t>
                      </a:r>
                      <a:endParaRPr lang="ko-KR" altLang="en-US" dirty="0"/>
                    </a:p>
                  </a:txBody>
                  <a:tcPr anchor="ctr"/>
                </a:tc>
                <a:extLst>
                  <a:ext uri="{0D108BD9-81ED-4DB2-BD59-A6C34878D82A}">
                    <a16:rowId xmlns:a16="http://schemas.microsoft.com/office/drawing/2014/main"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빛</a:t>
                      </a:r>
                      <a:endParaRPr lang="ko-KR" altLang="en-US" dirty="0"/>
                    </a:p>
                  </a:txBody>
                  <a:tcPr anchor="ctr"/>
                </a:tc>
                <a:extLst>
                  <a:ext uri="{0D108BD9-81ED-4DB2-BD59-A6C34878D82A}">
                    <a16:rowId xmlns:a16="http://schemas.microsoft.com/office/drawing/2014/main" val="3140618441"/>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500</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300</a:t>
                      </a:r>
                      <a:endParaRPr lang="ko-KR" altLang="en-US" dirty="0"/>
                    </a:p>
                  </a:txBody>
                  <a:tcPr anchor="ctr"/>
                </a:tc>
                <a:extLst>
                  <a:ext uri="{0D108BD9-81ED-4DB2-BD59-A6C34878D82A}">
                    <a16:rowId xmlns:a16="http://schemas.microsoft.com/office/drawing/2014/main" val="1120464010"/>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val="1429277317"/>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val="2869796385"/>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정화</a:t>
                      </a:r>
                      <a:r>
                        <a:rPr lang="en-US" altLang="ko-KR" dirty="0" smtClean="0"/>
                        <a:t>(</a:t>
                      </a:r>
                      <a:r>
                        <a:rPr lang="ko-KR" altLang="en-US" dirty="0" smtClean="0"/>
                        <a:t>자신의 턴에 랜덤으로 아군의 상태이상 중 하나를 해제</a:t>
                      </a:r>
                      <a:r>
                        <a:rPr lang="en-US" altLang="ko-KR" dirty="0" smtClean="0"/>
                        <a:t>)</a:t>
                      </a:r>
                      <a:endParaRPr lang="ko-KR" altLang="en-US" dirty="0"/>
                    </a:p>
                  </a:txBody>
                  <a:tcPr anchor="ctr"/>
                </a:tc>
                <a:extLst>
                  <a:ext uri="{0D108BD9-81ED-4DB2-BD59-A6C34878D82A}">
                    <a16:rowId xmlns:a16="http://schemas.microsoft.com/office/drawing/2014/main"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smtClean="0"/>
                        <a:t>축복</a:t>
                      </a:r>
                      <a:r>
                        <a:rPr lang="en-US" altLang="ko-KR" dirty="0" smtClean="0"/>
                        <a:t>(</a:t>
                      </a:r>
                      <a:r>
                        <a:rPr lang="ko-KR" altLang="en-US" dirty="0" smtClean="0"/>
                        <a:t>아군 방</a:t>
                      </a:r>
                      <a:r>
                        <a:rPr lang="en-US" altLang="ko-KR" dirty="0" smtClean="0"/>
                        <a:t>,</a:t>
                      </a:r>
                      <a:r>
                        <a:rPr lang="ko-KR" altLang="en-US" dirty="0" smtClean="0"/>
                        <a:t>공 상승</a:t>
                      </a:r>
                      <a:r>
                        <a:rPr lang="en-US" altLang="ko-KR" dirty="0" smtClean="0"/>
                        <a:t>)</a:t>
                      </a:r>
                      <a:r>
                        <a:rPr lang="ko-KR" altLang="en-US" dirty="0" smtClean="0"/>
                        <a:t> </a:t>
                      </a:r>
                      <a:r>
                        <a:rPr lang="en-US" altLang="ko-KR" dirty="0" smtClean="0"/>
                        <a:t>/ </a:t>
                      </a:r>
                      <a:r>
                        <a:rPr lang="ko-KR" altLang="en-US" dirty="0" smtClean="0"/>
                        <a:t>치유</a:t>
                      </a:r>
                      <a:r>
                        <a:rPr lang="en-US" altLang="ko-KR" dirty="0" smtClean="0"/>
                        <a:t>(</a:t>
                      </a:r>
                      <a:r>
                        <a:rPr lang="ko-KR" altLang="en-US" dirty="0" smtClean="0"/>
                        <a:t>아군 체 회복</a:t>
                      </a:r>
                      <a:r>
                        <a:rPr lang="en-US" altLang="ko-KR" baseline="0" dirty="0" smtClean="0"/>
                        <a:t>)</a:t>
                      </a:r>
                      <a:r>
                        <a:rPr lang="ko-KR" altLang="en-US" dirty="0" smtClean="0"/>
                        <a:t> </a:t>
                      </a:r>
                      <a:r>
                        <a:rPr lang="en-US" altLang="ko-KR" dirty="0" smtClean="0"/>
                        <a:t>/ </a:t>
                      </a:r>
                      <a:r>
                        <a:rPr lang="ko-KR" altLang="en-US" dirty="0" smtClean="0"/>
                        <a:t>빛의</a:t>
                      </a:r>
                      <a:r>
                        <a:rPr lang="ko-KR" altLang="en-US" baseline="0" dirty="0" smtClean="0"/>
                        <a:t> </a:t>
                      </a:r>
                      <a:r>
                        <a:rPr lang="ko-KR" altLang="en-US" dirty="0" smtClean="0"/>
                        <a:t>찬가</a:t>
                      </a:r>
                      <a:r>
                        <a:rPr lang="en-US" altLang="ko-KR" dirty="0" smtClean="0"/>
                        <a:t>(1</a:t>
                      </a:r>
                      <a:r>
                        <a:rPr lang="ko-KR" altLang="en-US" dirty="0" smtClean="0"/>
                        <a:t>턴 간 아군 상태이상 면역</a:t>
                      </a:r>
                      <a:r>
                        <a:rPr lang="en-US" altLang="ko-KR" dirty="0" smtClean="0"/>
                        <a:t>, </a:t>
                      </a:r>
                      <a:r>
                        <a:rPr lang="ko-KR" altLang="en-US" dirty="0" smtClean="0"/>
                        <a:t>방</a:t>
                      </a:r>
                      <a:r>
                        <a:rPr lang="en-US" altLang="ko-KR" dirty="0" smtClean="0"/>
                        <a:t>,</a:t>
                      </a:r>
                      <a:r>
                        <a:rPr lang="ko-KR" altLang="en-US" dirty="0" smtClean="0"/>
                        <a:t>공 상승</a:t>
                      </a:r>
                      <a:r>
                        <a:rPr lang="en-US" altLang="ko-KR" dirty="0" smtClean="0"/>
                        <a:t>)</a:t>
                      </a:r>
                      <a:endParaRPr lang="ko-KR" altLang="en-US" dirty="0"/>
                    </a:p>
                  </a:txBody>
                  <a:tcPr anchor="ctr"/>
                </a:tc>
                <a:extLst>
                  <a:ext uri="{0D108BD9-81ED-4DB2-BD59-A6C34878D82A}">
                    <a16:rowId xmlns:a16="http://schemas.microsoft.com/office/drawing/2014/main"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68</a:t>
            </a:fld>
            <a:endParaRPr lang="ko-KR" altLang="en-US" sz="1800" dirty="0"/>
          </a:p>
        </p:txBody>
      </p:sp>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550861307"/>
      </p:ext>
    </p:extLst>
  </p:cSld>
  <p:clrMapOvr>
    <a:masterClrMapping/>
  </p:clrMapOvr>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캐릭터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1390373945"/>
              </p:ext>
            </p:extLst>
          </p:nvPr>
        </p:nvGraphicFramePr>
        <p:xfrm>
          <a:off x="280219" y="2180967"/>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val="3653911966"/>
                    </a:ext>
                  </a:extLst>
                </a:gridCol>
                <a:gridCol w="10391005">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smtClean="0"/>
                        <a:t>메리</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 중</a:t>
                      </a:r>
                      <a:r>
                        <a:rPr lang="en-US" altLang="ko-KR" baseline="0" dirty="0" smtClean="0"/>
                        <a:t> </a:t>
                      </a:r>
                      <a:r>
                        <a:rPr lang="ko-KR" altLang="en-US" baseline="0" dirty="0" smtClean="0"/>
                        <a:t>보조</a:t>
                      </a:r>
                      <a:r>
                        <a:rPr lang="ko-KR" altLang="en-US" dirty="0" smtClean="0"/>
                        <a:t>형</a:t>
                      </a:r>
                      <a:endParaRPr lang="ko-KR" altLang="en-US" dirty="0"/>
                    </a:p>
                  </a:txBody>
                  <a:tcPr anchor="ctr"/>
                </a:tc>
                <a:extLst>
                  <a:ext uri="{0D108BD9-81ED-4DB2-BD59-A6C34878D82A}">
                    <a16:rowId xmlns:a16="http://schemas.microsoft.com/office/drawing/2014/main"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어둠</a:t>
                      </a:r>
                      <a:endParaRPr lang="ko-KR" altLang="en-US" dirty="0"/>
                    </a:p>
                  </a:txBody>
                  <a:tcPr anchor="ctr"/>
                </a:tc>
                <a:extLst>
                  <a:ext uri="{0D108BD9-81ED-4DB2-BD59-A6C34878D82A}">
                    <a16:rowId xmlns:a16="http://schemas.microsoft.com/office/drawing/2014/main" val="202632424"/>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500</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300</a:t>
                      </a:r>
                      <a:endParaRPr lang="ko-KR" altLang="en-US" dirty="0"/>
                    </a:p>
                  </a:txBody>
                  <a:tcPr anchor="ctr"/>
                </a:tc>
                <a:extLst>
                  <a:ext uri="{0D108BD9-81ED-4DB2-BD59-A6C34878D82A}">
                    <a16:rowId xmlns:a16="http://schemas.microsoft.com/office/drawing/2014/main" val="3439633105"/>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40</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10</a:t>
                      </a:r>
                      <a:endParaRPr lang="ko-KR" altLang="en-US" dirty="0"/>
                    </a:p>
                  </a:txBody>
                  <a:tcPr anchor="ctr"/>
                </a:tc>
                <a:extLst>
                  <a:ext uri="{0D108BD9-81ED-4DB2-BD59-A6C34878D82A}">
                    <a16:rowId xmlns:a16="http://schemas.microsoft.com/office/drawing/2014/main"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val="1078538427"/>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val="1122536282"/>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인형의 저주</a:t>
                      </a:r>
                      <a:r>
                        <a:rPr lang="en-US" altLang="ko-KR" dirty="0" smtClean="0"/>
                        <a:t>(</a:t>
                      </a:r>
                      <a:r>
                        <a:rPr lang="ko-KR" altLang="en-US" dirty="0" err="1" smtClean="0"/>
                        <a:t>랜덤한</a:t>
                      </a:r>
                      <a:r>
                        <a:rPr lang="ko-KR" altLang="en-US" dirty="0" smtClean="0"/>
                        <a:t> 적 몬스터 </a:t>
                      </a:r>
                      <a:r>
                        <a:rPr lang="en-US" altLang="ko-KR" dirty="0" smtClean="0"/>
                        <a:t>1</a:t>
                      </a:r>
                      <a:r>
                        <a:rPr lang="ko-KR" altLang="en-US" dirty="0" smtClean="0"/>
                        <a:t>체에 </a:t>
                      </a:r>
                      <a:r>
                        <a:rPr lang="ko-KR" altLang="en-US" dirty="0" err="1" smtClean="0"/>
                        <a:t>랜덤한</a:t>
                      </a:r>
                      <a:r>
                        <a:rPr lang="ko-KR" altLang="en-US" dirty="0" smtClean="0"/>
                        <a:t> 상태이상 부여</a:t>
                      </a:r>
                      <a:r>
                        <a:rPr lang="en-US" altLang="ko-KR" dirty="0" smtClean="0"/>
                        <a:t>)</a:t>
                      </a:r>
                      <a:endParaRPr lang="ko-KR" altLang="en-US" dirty="0"/>
                    </a:p>
                  </a:txBody>
                  <a:tcPr anchor="ctr"/>
                </a:tc>
                <a:extLst>
                  <a:ext uri="{0D108BD9-81ED-4DB2-BD59-A6C34878D82A}">
                    <a16:rowId xmlns:a16="http://schemas.microsoft.com/office/drawing/2014/main"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smtClean="0"/>
                        <a:t>검은 손</a:t>
                      </a:r>
                      <a:r>
                        <a:rPr lang="en-US" altLang="ko-KR" dirty="0" smtClean="0"/>
                        <a:t>(</a:t>
                      </a:r>
                      <a:r>
                        <a:rPr lang="ko-KR" altLang="en-US" dirty="0" smtClean="0"/>
                        <a:t>적 뎀</a:t>
                      </a:r>
                      <a:r>
                        <a:rPr lang="en-US" altLang="ko-KR" dirty="0" smtClean="0"/>
                        <a:t>, </a:t>
                      </a:r>
                      <a:r>
                        <a:rPr lang="ko-KR" altLang="en-US" dirty="0" smtClean="0"/>
                        <a:t>방 감소</a:t>
                      </a:r>
                      <a:r>
                        <a:rPr lang="en-US" altLang="ko-KR" dirty="0" smtClean="0"/>
                        <a:t>)</a:t>
                      </a:r>
                      <a:r>
                        <a:rPr lang="ko-KR" altLang="en-US" dirty="0" smtClean="0"/>
                        <a:t> </a:t>
                      </a:r>
                      <a:r>
                        <a:rPr lang="en-US" altLang="ko-KR" dirty="0" smtClean="0"/>
                        <a:t>/ </a:t>
                      </a:r>
                      <a:r>
                        <a:rPr lang="ko-KR" altLang="en-US" dirty="0" smtClean="0"/>
                        <a:t>유혹의 키스 </a:t>
                      </a:r>
                      <a:r>
                        <a:rPr lang="en-US" altLang="ko-KR" dirty="0" smtClean="0"/>
                        <a:t>(</a:t>
                      </a:r>
                      <a:r>
                        <a:rPr lang="ko-KR" altLang="en-US" dirty="0" smtClean="0"/>
                        <a:t>적 혼란</a:t>
                      </a:r>
                      <a:r>
                        <a:rPr lang="en-US" altLang="ko-KR" baseline="0" dirty="0" smtClean="0"/>
                        <a:t>)</a:t>
                      </a:r>
                      <a:r>
                        <a:rPr lang="ko-KR" altLang="en-US" dirty="0" smtClean="0"/>
                        <a:t> </a:t>
                      </a:r>
                      <a:r>
                        <a:rPr lang="en-US" altLang="ko-KR" dirty="0" smtClean="0"/>
                        <a:t>/ </a:t>
                      </a:r>
                      <a:r>
                        <a:rPr lang="ko-KR" altLang="en-US" dirty="0" err="1" smtClean="0"/>
                        <a:t>판데모니엄</a:t>
                      </a:r>
                      <a:r>
                        <a:rPr lang="en-US" altLang="ko-KR" dirty="0" smtClean="0"/>
                        <a:t>(</a:t>
                      </a:r>
                      <a:r>
                        <a:rPr lang="ko-KR" altLang="en-US" dirty="0" smtClean="0"/>
                        <a:t>적 전체 </a:t>
                      </a:r>
                      <a:r>
                        <a:rPr lang="ko-KR" altLang="en-US" dirty="0" err="1" smtClean="0"/>
                        <a:t>체비뎀</a:t>
                      </a:r>
                      <a:r>
                        <a:rPr lang="en-US" altLang="ko-KR" dirty="0" smtClean="0"/>
                        <a:t>, </a:t>
                      </a:r>
                      <a:r>
                        <a:rPr lang="ko-KR" altLang="en-US" dirty="0" smtClean="0"/>
                        <a:t>기절</a:t>
                      </a:r>
                      <a:r>
                        <a:rPr lang="en-US" altLang="ko-KR" dirty="0" smtClean="0"/>
                        <a:t>)</a:t>
                      </a:r>
                      <a:endParaRPr lang="ko-KR" altLang="en-US" dirty="0"/>
                    </a:p>
                  </a:txBody>
                  <a:tcPr anchor="ctr"/>
                </a:tc>
                <a:extLst>
                  <a:ext uri="{0D108BD9-81ED-4DB2-BD59-A6C34878D82A}">
                    <a16:rowId xmlns:a16="http://schemas.microsoft.com/office/drawing/2014/main"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69</a:t>
            </a:fld>
            <a:endParaRPr lang="ko-KR" altLang="en-US" sz="1800" dirty="0"/>
          </a:p>
        </p:txBody>
      </p:sp>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221324414"/>
      </p:ext>
    </p:extLst>
  </p:cSld>
  <p:clrMapOvr>
    <a:masterClrMapping/>
  </p:clrMapOvr>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70</a:t>
            </a:fld>
            <a:endParaRPr lang="ko-KR" altLang="en-US" sz="1800" dirty="0"/>
          </a:p>
        </p:txBody>
      </p:sp>
      <p:sp>
        <p:nvSpPr>
          <p:cNvPr id="13" name="TextBox 12"/>
          <p:cNvSpPr txBox="1"/>
          <p:nvPr/>
        </p:nvSpPr>
        <p:spPr>
          <a:xfrm>
            <a:off x="766917" y="1348401"/>
            <a:ext cx="6577313" cy="3831818"/>
          </a:xfrm>
          <a:prstGeom prst="rect">
            <a:avLst/>
          </a:prstGeom>
          <a:noFill/>
        </p:spPr>
        <p:txBody>
          <a:bodyPr wrap="square" rtlCol="0">
            <a:spAutoFit/>
          </a:bodyPr>
          <a:lstStyle/>
          <a:p>
            <a:pPr>
              <a:lnSpc>
                <a:spcPct val="150000"/>
              </a:lnSpc>
            </a:pPr>
            <a:r>
              <a:rPr lang="en-US" altLang="ko-KR" dirty="0"/>
              <a:t>• </a:t>
            </a:r>
            <a:r>
              <a:rPr lang="ko-KR" altLang="en-US" dirty="0" err="1" smtClean="0">
                <a:latin typeface="+mn-ea"/>
              </a:rPr>
              <a:t>몬스터들은</a:t>
            </a:r>
            <a:r>
              <a:rPr lang="ko-KR" altLang="en-US" dirty="0" smtClean="0">
                <a:latin typeface="+mn-ea"/>
              </a:rPr>
              <a:t> 던전 안에 도사리고 있습니다</a:t>
            </a:r>
            <a:r>
              <a:rPr lang="en-US" altLang="ko-KR" dirty="0" smtClean="0">
                <a:latin typeface="+mn-ea"/>
              </a:rPr>
              <a:t>.</a:t>
            </a:r>
          </a:p>
          <a:p>
            <a:pPr>
              <a:lnSpc>
                <a:spcPct val="150000"/>
              </a:lnSpc>
            </a:pPr>
            <a:endParaRPr lang="en-US" altLang="ko-KR" dirty="0" smtClean="0">
              <a:latin typeface="+mn-ea"/>
            </a:endParaRPr>
          </a:p>
          <a:p>
            <a:pPr>
              <a:lnSpc>
                <a:spcPct val="150000"/>
              </a:lnSpc>
            </a:pPr>
            <a:r>
              <a:rPr lang="en-US" altLang="ko-KR" dirty="0"/>
              <a:t>• </a:t>
            </a:r>
            <a:r>
              <a:rPr lang="ko-KR" altLang="en-US" dirty="0" smtClean="0"/>
              <a:t>각기 다른 특성과 능력을 지니고 있습니다</a:t>
            </a:r>
            <a:r>
              <a:rPr lang="en-US" altLang="ko-KR" dirty="0" smtClean="0"/>
              <a:t>.</a:t>
            </a:r>
          </a:p>
          <a:p>
            <a:pPr>
              <a:lnSpc>
                <a:spcPct val="150000"/>
              </a:lnSpc>
            </a:pPr>
            <a:endParaRPr lang="en-US" altLang="ko-KR" dirty="0">
              <a:latin typeface="+mn-ea"/>
            </a:endParaRPr>
          </a:p>
          <a:p>
            <a:pPr>
              <a:lnSpc>
                <a:spcPct val="150000"/>
              </a:lnSpc>
            </a:pPr>
            <a:r>
              <a:rPr lang="en-US" altLang="ko-KR" dirty="0" smtClean="0"/>
              <a:t>• </a:t>
            </a:r>
            <a:r>
              <a:rPr lang="ko-KR" altLang="en-US" dirty="0" smtClean="0"/>
              <a:t>용사가 몬스터를 처치하면</a:t>
            </a:r>
            <a:r>
              <a:rPr lang="en-US" altLang="ko-KR" dirty="0" smtClean="0"/>
              <a:t>, </a:t>
            </a:r>
            <a:r>
              <a:rPr lang="ko-KR" altLang="en-US" dirty="0" smtClean="0"/>
              <a:t>전투 후 용사의 </a:t>
            </a:r>
            <a:r>
              <a:rPr lang="ko-KR" altLang="en-US" dirty="0"/>
              <a:t>것</a:t>
            </a:r>
            <a:r>
              <a:rPr lang="ko-KR" altLang="en-US" dirty="0" smtClean="0"/>
              <a:t>이 됩니다</a:t>
            </a:r>
            <a:r>
              <a:rPr lang="en-US" altLang="ko-KR" dirty="0" smtClean="0"/>
              <a:t>.</a:t>
            </a:r>
          </a:p>
          <a:p>
            <a:pPr>
              <a:lnSpc>
                <a:spcPct val="150000"/>
              </a:lnSpc>
            </a:pPr>
            <a:endParaRPr lang="en-US" altLang="ko-KR" dirty="0">
              <a:latin typeface="+mn-ea"/>
            </a:endParaRPr>
          </a:p>
          <a:p>
            <a:pPr>
              <a:lnSpc>
                <a:spcPct val="150000"/>
              </a:lnSpc>
            </a:pPr>
            <a:r>
              <a:rPr lang="en-US" altLang="ko-KR" dirty="0" smtClean="0"/>
              <a:t>• </a:t>
            </a:r>
            <a:r>
              <a:rPr lang="ko-KR" altLang="en-US" dirty="0" smtClean="0"/>
              <a:t>한번 전투에서 사망하면 재사용할 수 없습니다</a:t>
            </a:r>
            <a:r>
              <a:rPr lang="en-US" altLang="ko-KR" dirty="0" smtClean="0"/>
              <a:t>.</a:t>
            </a:r>
            <a:endParaRPr lang="en-US" altLang="ko-KR" dirty="0">
              <a:latin typeface="+mn-ea"/>
            </a:endParaRPr>
          </a:p>
          <a:p>
            <a:pPr>
              <a:lnSpc>
                <a:spcPct val="150000"/>
              </a:lnSpc>
            </a:pPr>
            <a:endParaRPr lang="en-US" altLang="ko-KR" dirty="0" smtClean="0">
              <a:latin typeface="+mn-ea"/>
            </a:endParaRPr>
          </a:p>
          <a:p>
            <a:pPr>
              <a:lnSpc>
                <a:spcPct val="150000"/>
              </a:lnSpc>
            </a:pPr>
            <a:r>
              <a:rPr lang="en-US" altLang="ko-KR" dirty="0"/>
              <a:t>• 3</a:t>
            </a:r>
            <a:r>
              <a:rPr lang="ko-KR" altLang="en-US" dirty="0" smtClean="0"/>
              <a:t>마리까지 파티를 편성할 수 있다</a:t>
            </a:r>
            <a:r>
              <a:rPr lang="en-US" altLang="ko-KR" dirty="0" smtClean="0"/>
              <a:t>.</a:t>
            </a:r>
            <a:endParaRPr lang="en-US" altLang="ko-KR" dirty="0" smtClean="0">
              <a:latin typeface="+mn-ea"/>
            </a:endParaRPr>
          </a:p>
        </p:txBody>
      </p:sp>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446905001"/>
      </p:ext>
    </p:extLst>
  </p:cSld>
  <p:clrMapOvr>
    <a:masterClrMapping/>
  </p:clrMapOvr>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4268948201"/>
              </p:ext>
            </p:extLst>
          </p:nvPr>
        </p:nvGraphicFramePr>
        <p:xfrm>
          <a:off x="280219" y="2180969"/>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val="3653911966"/>
                    </a:ext>
                  </a:extLst>
                </a:gridCol>
                <a:gridCol w="10391005">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smtClean="0"/>
                        <a:t>리치</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a:t>
                      </a:r>
                      <a:r>
                        <a:rPr lang="en-US" altLang="ko-KR" baseline="0" dirty="0" smtClean="0"/>
                        <a:t> </a:t>
                      </a:r>
                      <a:r>
                        <a:rPr lang="ko-KR" altLang="en-US" dirty="0" smtClean="0"/>
                        <a:t>중 </a:t>
                      </a:r>
                      <a:r>
                        <a:rPr lang="ko-KR" altLang="en-US" dirty="0" err="1" smtClean="0"/>
                        <a:t>공격형</a:t>
                      </a:r>
                      <a:endParaRPr lang="ko-KR" altLang="en-US" dirty="0"/>
                    </a:p>
                  </a:txBody>
                  <a:tcPr anchor="ctr"/>
                </a:tc>
                <a:extLst>
                  <a:ext uri="{0D108BD9-81ED-4DB2-BD59-A6C34878D82A}">
                    <a16:rowId xmlns:a16="http://schemas.microsoft.com/office/drawing/2014/main"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어둠</a:t>
                      </a:r>
                      <a:r>
                        <a:rPr lang="en-US" altLang="ko-KR" dirty="0" smtClean="0"/>
                        <a:t>, </a:t>
                      </a:r>
                      <a:r>
                        <a:rPr lang="ko-KR" altLang="en-US" dirty="0" smtClean="0"/>
                        <a:t>빙결</a:t>
                      </a:r>
                      <a:endParaRPr lang="ko-KR" altLang="en-US" dirty="0"/>
                    </a:p>
                  </a:txBody>
                  <a:tcPr anchor="ctr"/>
                </a:tc>
                <a:extLst>
                  <a:ext uri="{0D108BD9-81ED-4DB2-BD59-A6C34878D82A}">
                    <a16:rowId xmlns:a16="http://schemas.microsoft.com/office/drawing/2014/main" val="3168038983"/>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350</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100</a:t>
                      </a:r>
                      <a:endParaRPr lang="ko-KR" altLang="en-US" dirty="0"/>
                    </a:p>
                  </a:txBody>
                  <a:tcPr anchor="ctr"/>
                </a:tc>
                <a:extLst>
                  <a:ext uri="{0D108BD9-81ED-4DB2-BD59-A6C34878D82A}">
                    <a16:rowId xmlns:a16="http://schemas.microsoft.com/office/drawing/2014/main" val="2295546011"/>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5</a:t>
                      </a:r>
                      <a:endParaRPr lang="ko-KR" altLang="en-US" dirty="0"/>
                    </a:p>
                  </a:txBody>
                  <a:tcPr anchor="ctr"/>
                </a:tc>
                <a:extLst>
                  <a:ext uri="{0D108BD9-81ED-4DB2-BD59-A6C34878D82A}">
                    <a16:rowId xmlns:a16="http://schemas.microsoft.com/office/drawing/2014/main"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40</a:t>
                      </a:r>
                      <a:endParaRPr lang="ko-KR" altLang="en-US" dirty="0"/>
                    </a:p>
                  </a:txBody>
                  <a:tcPr anchor="ctr"/>
                </a:tc>
                <a:extLst>
                  <a:ext uri="{0D108BD9-81ED-4DB2-BD59-A6C34878D82A}">
                    <a16:rowId xmlns:a16="http://schemas.microsoft.com/office/drawing/2014/main" val="380313429"/>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10</a:t>
                      </a:r>
                      <a:endParaRPr lang="ko-KR" altLang="en-US" dirty="0"/>
                    </a:p>
                  </a:txBody>
                  <a:tcPr anchor="ctr"/>
                </a:tc>
                <a:extLst>
                  <a:ext uri="{0D108BD9-81ED-4DB2-BD59-A6C34878D82A}">
                    <a16:rowId xmlns:a16="http://schemas.microsoft.com/office/drawing/2014/main" val="342142082"/>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불사</a:t>
                      </a:r>
                      <a:r>
                        <a:rPr lang="en-US" altLang="ko-KR" baseline="0" dirty="0" smtClean="0"/>
                        <a:t>(</a:t>
                      </a:r>
                      <a:r>
                        <a:rPr lang="ko-KR" altLang="en-US" baseline="0" dirty="0" smtClean="0"/>
                        <a:t>죽음의 위기를 </a:t>
                      </a:r>
                      <a:r>
                        <a:rPr lang="en-US" altLang="ko-KR" baseline="0" dirty="0" smtClean="0"/>
                        <a:t>1</a:t>
                      </a:r>
                      <a:r>
                        <a:rPr lang="ko-KR" altLang="en-US" baseline="0" dirty="0" smtClean="0"/>
                        <a:t>번 모면합니다</a:t>
                      </a:r>
                      <a:r>
                        <a:rPr lang="en-US" altLang="ko-KR" baseline="0" dirty="0" smtClean="0"/>
                        <a:t>)</a:t>
                      </a:r>
                      <a:endParaRPr lang="ko-KR" altLang="en-US" dirty="0"/>
                    </a:p>
                  </a:txBody>
                  <a:tcPr anchor="ctr"/>
                </a:tc>
                <a:extLst>
                  <a:ext uri="{0D108BD9-81ED-4DB2-BD59-A6C34878D82A}">
                    <a16:rowId xmlns:a16="http://schemas.microsoft.com/office/drawing/2014/main"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smtClean="0"/>
                        <a:t>부정한 손길</a:t>
                      </a:r>
                      <a:r>
                        <a:rPr lang="en-US" altLang="ko-KR" dirty="0" smtClean="0"/>
                        <a:t>(</a:t>
                      </a:r>
                      <a:r>
                        <a:rPr lang="ko-KR" altLang="en-US" dirty="0" smtClean="0"/>
                        <a:t>방 감</a:t>
                      </a:r>
                      <a:r>
                        <a:rPr lang="en-US" altLang="ko-KR" dirty="0" smtClean="0"/>
                        <a:t>, </a:t>
                      </a:r>
                      <a:r>
                        <a:rPr lang="ko-KR" altLang="en-US" dirty="0" smtClean="0"/>
                        <a:t>뎀</a:t>
                      </a:r>
                      <a:r>
                        <a:rPr lang="en-US" altLang="ko-KR" baseline="0" dirty="0" smtClean="0"/>
                        <a:t>)</a:t>
                      </a:r>
                      <a:r>
                        <a:rPr lang="ko-KR" altLang="en-US" dirty="0" smtClean="0"/>
                        <a:t> </a:t>
                      </a:r>
                      <a:r>
                        <a:rPr lang="en-US" altLang="ko-KR" dirty="0" smtClean="0"/>
                        <a:t>/ </a:t>
                      </a:r>
                      <a:r>
                        <a:rPr lang="ko-KR" altLang="en-US" dirty="0" smtClean="0"/>
                        <a:t>망자의 손길</a:t>
                      </a:r>
                      <a:r>
                        <a:rPr lang="en-US" altLang="ko-KR" dirty="0" smtClean="0"/>
                        <a:t>(</a:t>
                      </a:r>
                      <a:r>
                        <a:rPr lang="ko-KR" altLang="en-US" dirty="0" smtClean="0"/>
                        <a:t>뎀</a:t>
                      </a:r>
                      <a:r>
                        <a:rPr lang="en-US" altLang="ko-KR" dirty="0" smtClean="0"/>
                        <a:t>)</a:t>
                      </a:r>
                      <a:r>
                        <a:rPr lang="ko-KR" altLang="en-US" dirty="0" smtClean="0"/>
                        <a:t> </a:t>
                      </a:r>
                      <a:r>
                        <a:rPr lang="en-US" altLang="ko-KR" dirty="0" smtClean="0"/>
                        <a:t>/ </a:t>
                      </a:r>
                      <a:r>
                        <a:rPr lang="ko-KR" altLang="en-US" dirty="0" smtClean="0"/>
                        <a:t>서리 폭발</a:t>
                      </a:r>
                      <a:r>
                        <a:rPr lang="en-US" altLang="ko-KR" dirty="0" smtClean="0"/>
                        <a:t>(</a:t>
                      </a:r>
                      <a:r>
                        <a:rPr lang="ko-KR" altLang="en-US" dirty="0" smtClean="0"/>
                        <a:t>한 적 </a:t>
                      </a:r>
                      <a:r>
                        <a:rPr lang="ko-KR" altLang="en-US" dirty="0" err="1" smtClean="0"/>
                        <a:t>빅뎀</a:t>
                      </a:r>
                      <a:r>
                        <a:rPr lang="en-US" altLang="ko-KR" dirty="0" smtClean="0"/>
                        <a:t>, </a:t>
                      </a:r>
                      <a:r>
                        <a:rPr lang="ko-KR" altLang="en-US" dirty="0" smtClean="0"/>
                        <a:t>모든 적 뎀</a:t>
                      </a:r>
                      <a:r>
                        <a:rPr lang="en-US" altLang="ko-KR" dirty="0" smtClean="0"/>
                        <a:t>)</a:t>
                      </a:r>
                      <a:endParaRPr lang="ko-KR" altLang="en-US" dirty="0"/>
                    </a:p>
                  </a:txBody>
                  <a:tcPr anchor="ctr"/>
                </a:tc>
                <a:extLst>
                  <a:ext uri="{0D108BD9-81ED-4DB2-BD59-A6C34878D82A}">
                    <a16:rowId xmlns:a16="http://schemas.microsoft.com/office/drawing/2014/main"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71</a:t>
            </a:fld>
            <a:endParaRPr lang="ko-KR" altLang="en-US" sz="1800" dirty="0"/>
          </a:p>
        </p:txBody>
      </p:sp>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146911123"/>
      </p:ext>
    </p:extLst>
  </p:cSld>
  <p:clrMapOvr>
    <a:masterClrMapping/>
  </p:clrMapOvr>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1530292396"/>
              </p:ext>
            </p:extLst>
          </p:nvPr>
        </p:nvGraphicFramePr>
        <p:xfrm>
          <a:off x="280219" y="2180969"/>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val="3653911966"/>
                    </a:ext>
                  </a:extLst>
                </a:gridCol>
                <a:gridCol w="10391005">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err="1" smtClean="0"/>
                        <a:t>그리즐리</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 중 </a:t>
                      </a:r>
                      <a:r>
                        <a:rPr lang="ko-KR" altLang="en-US" dirty="0" err="1" smtClean="0"/>
                        <a:t>방어형</a:t>
                      </a:r>
                      <a:endParaRPr lang="ko-KR" altLang="en-US" dirty="0"/>
                    </a:p>
                  </a:txBody>
                  <a:tcPr anchor="ctr"/>
                </a:tc>
                <a:extLst>
                  <a:ext uri="{0D108BD9-81ED-4DB2-BD59-A6C34878D82A}">
                    <a16:rowId xmlns:a16="http://schemas.microsoft.com/office/drawing/2014/main"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바람</a:t>
                      </a:r>
                      <a:endParaRPr lang="ko-KR" altLang="en-US" dirty="0"/>
                    </a:p>
                  </a:txBody>
                  <a:tcPr anchor="ctr"/>
                </a:tc>
                <a:extLst>
                  <a:ext uri="{0D108BD9-81ED-4DB2-BD59-A6C34878D82A}">
                    <a16:rowId xmlns:a16="http://schemas.microsoft.com/office/drawing/2014/main" val="3168038983"/>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600</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50</a:t>
                      </a:r>
                      <a:endParaRPr lang="ko-KR" altLang="en-US" dirty="0"/>
                    </a:p>
                  </a:txBody>
                  <a:tcPr anchor="ctr"/>
                </a:tc>
                <a:extLst>
                  <a:ext uri="{0D108BD9-81ED-4DB2-BD59-A6C34878D82A}">
                    <a16:rowId xmlns:a16="http://schemas.microsoft.com/office/drawing/2014/main" val="2295546011"/>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20</a:t>
                      </a:r>
                      <a:endParaRPr lang="ko-KR" altLang="en-US" dirty="0"/>
                    </a:p>
                  </a:txBody>
                  <a:tcPr anchor="ctr"/>
                </a:tc>
                <a:extLst>
                  <a:ext uri="{0D108BD9-81ED-4DB2-BD59-A6C34878D82A}">
                    <a16:rowId xmlns:a16="http://schemas.microsoft.com/office/drawing/2014/main"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40</a:t>
                      </a:r>
                      <a:endParaRPr lang="ko-KR" altLang="en-US" dirty="0"/>
                    </a:p>
                  </a:txBody>
                  <a:tcPr anchor="ctr"/>
                </a:tc>
                <a:extLst>
                  <a:ext uri="{0D108BD9-81ED-4DB2-BD59-A6C34878D82A}">
                    <a16:rowId xmlns:a16="http://schemas.microsoft.com/office/drawing/2014/main" val="380313429"/>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10</a:t>
                      </a:r>
                      <a:endParaRPr lang="ko-KR" altLang="en-US" dirty="0"/>
                    </a:p>
                  </a:txBody>
                  <a:tcPr anchor="ctr"/>
                </a:tc>
                <a:extLst>
                  <a:ext uri="{0D108BD9-81ED-4DB2-BD59-A6C34878D82A}">
                    <a16:rowId xmlns:a16="http://schemas.microsoft.com/office/drawing/2014/main" val="342142082"/>
                  </a:ext>
                </a:extLst>
              </a:tr>
              <a:tr h="254923">
                <a:tc>
                  <a:txBody>
                    <a:bodyPr/>
                    <a:lstStyle/>
                    <a:p>
                      <a:pPr algn="ctr"/>
                      <a:r>
                        <a:rPr lang="ko-KR" altLang="en-US" b="1" dirty="0" smtClean="0"/>
                        <a:t>능력</a:t>
                      </a:r>
                      <a:endParaRPr lang="ko-KR" altLang="en-US" b="1" dirty="0"/>
                    </a:p>
                  </a:txBody>
                  <a:tcPr anchor="ctr"/>
                </a:tc>
                <a:tc>
                  <a:txBody>
                    <a:bodyPr/>
                    <a:lstStyle/>
                    <a:p>
                      <a:r>
                        <a:rPr lang="ko-KR" altLang="en-US" baseline="0" dirty="0" smtClean="0"/>
                        <a:t>두꺼운 피부</a:t>
                      </a:r>
                      <a:r>
                        <a:rPr lang="en-US" altLang="ko-KR" baseline="0" dirty="0" smtClean="0"/>
                        <a:t>(</a:t>
                      </a:r>
                      <a:r>
                        <a:rPr lang="ko-KR" altLang="en-US" baseline="0" dirty="0" smtClean="0"/>
                        <a:t>받는 </a:t>
                      </a:r>
                      <a:r>
                        <a:rPr lang="ko-KR" altLang="en-US" baseline="0" dirty="0" err="1" smtClean="0"/>
                        <a:t>데미지를</a:t>
                      </a:r>
                      <a:r>
                        <a:rPr lang="ko-KR" altLang="en-US" baseline="0" dirty="0" smtClean="0"/>
                        <a:t> </a:t>
                      </a:r>
                      <a:r>
                        <a:rPr lang="en-US" altLang="ko-KR" baseline="0" dirty="0" smtClean="0"/>
                        <a:t>10% </a:t>
                      </a:r>
                      <a:r>
                        <a:rPr lang="ko-KR" altLang="en-US" baseline="0" dirty="0" smtClean="0"/>
                        <a:t>감소시킵니다</a:t>
                      </a:r>
                      <a:r>
                        <a:rPr lang="en-US" altLang="ko-KR" baseline="0" dirty="0" smtClean="0"/>
                        <a:t>)</a:t>
                      </a:r>
                      <a:endParaRPr lang="ko-KR" altLang="en-US" dirty="0"/>
                    </a:p>
                  </a:txBody>
                  <a:tcPr anchor="ctr"/>
                </a:tc>
                <a:extLst>
                  <a:ext uri="{0D108BD9-81ED-4DB2-BD59-A6C34878D82A}">
                    <a16:rowId xmlns:a16="http://schemas.microsoft.com/office/drawing/2014/main" val="1231768350"/>
                  </a:ext>
                </a:extLst>
              </a:tr>
              <a:tr h="254923">
                <a:tc>
                  <a:txBody>
                    <a:bodyPr/>
                    <a:lstStyle/>
                    <a:p>
                      <a:pPr algn="ctr"/>
                      <a:r>
                        <a:rPr lang="ko-KR" altLang="en-US" b="1" dirty="0" smtClean="0"/>
                        <a:t>스킬</a:t>
                      </a:r>
                      <a:endParaRPr lang="ko-KR" altLang="en-US" b="1" dirty="0"/>
                    </a:p>
                  </a:txBody>
                  <a:tcPr anchor="ctr"/>
                </a:tc>
                <a:tc>
                  <a:txBody>
                    <a:bodyPr/>
                    <a:lstStyle/>
                    <a:p>
                      <a:r>
                        <a:rPr lang="ko-KR" altLang="en-US" dirty="0" err="1" smtClean="0"/>
                        <a:t>휘둘러치기</a:t>
                      </a:r>
                      <a:r>
                        <a:rPr lang="en-US" altLang="ko-KR" dirty="0" smtClean="0"/>
                        <a:t>(</a:t>
                      </a:r>
                      <a:r>
                        <a:rPr lang="ko-KR" altLang="en-US" dirty="0" smtClean="0"/>
                        <a:t>뎀</a:t>
                      </a:r>
                      <a:r>
                        <a:rPr lang="en-US" altLang="ko-KR" baseline="0" dirty="0" smtClean="0"/>
                        <a:t>)</a:t>
                      </a:r>
                      <a:r>
                        <a:rPr lang="ko-KR" altLang="en-US" dirty="0" smtClean="0"/>
                        <a:t> </a:t>
                      </a:r>
                      <a:r>
                        <a:rPr lang="en-US" altLang="ko-KR" dirty="0" smtClean="0"/>
                        <a:t>/ </a:t>
                      </a:r>
                      <a:r>
                        <a:rPr lang="ko-KR" altLang="en-US" dirty="0" smtClean="0"/>
                        <a:t>웅크리기</a:t>
                      </a:r>
                      <a:r>
                        <a:rPr lang="en-US" altLang="ko-KR" dirty="0" smtClean="0"/>
                        <a:t>(</a:t>
                      </a:r>
                      <a:r>
                        <a:rPr lang="ko-KR" altLang="en-US" dirty="0" err="1" smtClean="0"/>
                        <a:t>체회복</a:t>
                      </a:r>
                      <a:r>
                        <a:rPr lang="en-US" altLang="ko-KR" dirty="0" smtClean="0"/>
                        <a:t>, </a:t>
                      </a:r>
                      <a:r>
                        <a:rPr lang="ko-KR" altLang="en-US" dirty="0" err="1" smtClean="0"/>
                        <a:t>방상승</a:t>
                      </a:r>
                      <a:r>
                        <a:rPr lang="en-US" altLang="ko-KR" dirty="0" smtClean="0"/>
                        <a:t>)</a:t>
                      </a:r>
                      <a:r>
                        <a:rPr lang="ko-KR" altLang="en-US" dirty="0" smtClean="0"/>
                        <a:t> </a:t>
                      </a:r>
                      <a:r>
                        <a:rPr lang="en-US" altLang="ko-KR" dirty="0" smtClean="0"/>
                        <a:t>/ -</a:t>
                      </a:r>
                      <a:endParaRPr lang="ko-KR" altLang="en-US" dirty="0"/>
                    </a:p>
                  </a:txBody>
                  <a:tcPr anchor="ctr"/>
                </a:tc>
                <a:extLst>
                  <a:ext uri="{0D108BD9-81ED-4DB2-BD59-A6C34878D82A}">
                    <a16:rowId xmlns:a16="http://schemas.microsoft.com/office/drawing/2014/main"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72</a:t>
            </a:fld>
            <a:endParaRPr lang="ko-KR" altLang="en-US" sz="1800" dirty="0"/>
          </a:p>
        </p:txBody>
      </p:sp>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785758348"/>
      </p:ext>
    </p:extLst>
  </p:cSld>
  <p:clrMapOvr>
    <a:masterClrMapping/>
  </p:clrMapOvr>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몬스터</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762461420"/>
              </p:ext>
            </p:extLst>
          </p:nvPr>
        </p:nvGraphicFramePr>
        <p:xfrm>
          <a:off x="280219" y="2180969"/>
          <a:ext cx="11665975" cy="4023360"/>
        </p:xfrm>
        <a:graphic>
          <a:graphicData uri="http://schemas.openxmlformats.org/drawingml/2006/table">
            <a:tbl>
              <a:tblPr firstRow="1" bandRow="1">
                <a:tableStyleId>{0505E3EF-67EA-436B-97B2-0124C06EBD24}</a:tableStyleId>
              </a:tblPr>
              <a:tblGrid>
                <a:gridCol w="1274970">
                  <a:extLst>
                    <a:ext uri="{9D8B030D-6E8A-4147-A177-3AD203B41FA5}">
                      <a16:colId xmlns:a16="http://schemas.microsoft.com/office/drawing/2014/main" val="3653911966"/>
                    </a:ext>
                  </a:extLst>
                </a:gridCol>
                <a:gridCol w="10391005">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err="1" smtClean="0"/>
                        <a:t>피냐타</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타입</a:t>
                      </a:r>
                      <a:endParaRPr lang="ko-KR" altLang="en-US" b="1" dirty="0"/>
                    </a:p>
                  </a:txBody>
                  <a:tcPr anchor="ctr"/>
                </a:tc>
                <a:tc>
                  <a:txBody>
                    <a:bodyPr/>
                    <a:lstStyle/>
                    <a:p>
                      <a:r>
                        <a:rPr lang="ko-KR" altLang="en-US" dirty="0" err="1" smtClean="0"/>
                        <a:t>공격형</a:t>
                      </a:r>
                      <a:r>
                        <a:rPr lang="en-US" altLang="ko-KR" dirty="0" smtClean="0"/>
                        <a:t>, </a:t>
                      </a:r>
                      <a:r>
                        <a:rPr lang="ko-KR" altLang="en-US" dirty="0" err="1" smtClean="0"/>
                        <a:t>방어형</a:t>
                      </a:r>
                      <a:r>
                        <a:rPr lang="en-US" altLang="ko-KR" dirty="0" smtClean="0"/>
                        <a:t>, </a:t>
                      </a:r>
                      <a:r>
                        <a:rPr lang="ko-KR" altLang="en-US" dirty="0" smtClean="0"/>
                        <a:t>보조형 중 기능형</a:t>
                      </a:r>
                      <a:endParaRPr lang="ko-KR" altLang="en-US" dirty="0"/>
                    </a:p>
                  </a:txBody>
                  <a:tcPr anchor="ctr"/>
                </a:tc>
                <a:extLst>
                  <a:ext uri="{0D108BD9-81ED-4DB2-BD59-A6C34878D82A}">
                    <a16:rowId xmlns:a16="http://schemas.microsoft.com/office/drawing/2014/main" val="2137125516"/>
                  </a:ext>
                </a:extLst>
              </a:tr>
              <a:tr h="254923">
                <a:tc>
                  <a:txBody>
                    <a:bodyPr/>
                    <a:lstStyle/>
                    <a:p>
                      <a:pPr algn="ctr" latinLnBrk="1"/>
                      <a:r>
                        <a:rPr lang="ko-KR" altLang="en-US" b="1" dirty="0" smtClean="0"/>
                        <a:t>속성</a:t>
                      </a:r>
                      <a:endParaRPr lang="ko-KR" altLang="en-US" b="1" dirty="0"/>
                    </a:p>
                  </a:txBody>
                  <a:tcPr anchor="ctr"/>
                </a:tc>
                <a:tc>
                  <a:txBody>
                    <a:bodyPr/>
                    <a:lstStyle/>
                    <a:p>
                      <a:r>
                        <a:rPr lang="ko-KR" altLang="en-US" dirty="0" smtClean="0"/>
                        <a:t>바람</a:t>
                      </a:r>
                      <a:endParaRPr lang="ko-KR" altLang="en-US" dirty="0"/>
                    </a:p>
                  </a:txBody>
                  <a:tcPr anchor="ctr"/>
                </a:tc>
                <a:extLst>
                  <a:ext uri="{0D108BD9-81ED-4DB2-BD59-A6C34878D82A}">
                    <a16:rowId xmlns:a16="http://schemas.microsoft.com/office/drawing/2014/main" val="3168038983"/>
                  </a:ext>
                </a:extLst>
              </a:tr>
              <a:tr h="254923">
                <a:tc>
                  <a:txBody>
                    <a:bodyPr/>
                    <a:lstStyle/>
                    <a:p>
                      <a:pPr algn="ctr"/>
                      <a:r>
                        <a:rPr lang="en-US" altLang="ko-KR" b="1" dirty="0" smtClean="0"/>
                        <a:t>HP</a:t>
                      </a:r>
                      <a:endParaRPr lang="ko-KR" altLang="en-US" b="1" dirty="0"/>
                    </a:p>
                  </a:txBody>
                  <a:tcPr anchor="ctr"/>
                </a:tc>
                <a:tc>
                  <a:txBody>
                    <a:bodyPr/>
                    <a:lstStyle/>
                    <a:p>
                      <a:r>
                        <a:rPr lang="en-US" altLang="ko-KR" dirty="0" smtClean="0"/>
                        <a:t>400</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en-US" altLang="ko-KR" b="1" dirty="0" smtClean="0"/>
                        <a:t>SP</a:t>
                      </a:r>
                      <a:endParaRPr lang="ko-KR" altLang="en-US" b="1" dirty="0"/>
                    </a:p>
                  </a:txBody>
                  <a:tcPr anchor="ctr"/>
                </a:tc>
                <a:tc>
                  <a:txBody>
                    <a:bodyPr/>
                    <a:lstStyle/>
                    <a:p>
                      <a:r>
                        <a:rPr lang="en-US" altLang="ko-KR" dirty="0" smtClean="0"/>
                        <a:t>0</a:t>
                      </a:r>
                      <a:endParaRPr lang="ko-KR" altLang="en-US" dirty="0"/>
                    </a:p>
                  </a:txBody>
                  <a:tcPr anchor="ctr"/>
                </a:tc>
                <a:extLst>
                  <a:ext uri="{0D108BD9-81ED-4DB2-BD59-A6C34878D82A}">
                    <a16:rowId xmlns:a16="http://schemas.microsoft.com/office/drawing/2014/main" val="2295546011"/>
                  </a:ext>
                </a:extLst>
              </a:tr>
              <a:tr h="254923">
                <a:tc>
                  <a:txBody>
                    <a:bodyPr/>
                    <a:lstStyle/>
                    <a:p>
                      <a:pPr algn="ctr"/>
                      <a:r>
                        <a:rPr lang="ko-KR" altLang="en-US" b="1" dirty="0" smtClean="0"/>
                        <a:t>공격력</a:t>
                      </a:r>
                      <a:endParaRPr lang="ko-KR" altLang="en-US" b="1" dirty="0"/>
                    </a:p>
                  </a:txBody>
                  <a:tcPr anchor="ctr"/>
                </a:tc>
                <a:tc>
                  <a:txBody>
                    <a:bodyPr/>
                    <a:lstStyle/>
                    <a:p>
                      <a:r>
                        <a:rPr lang="en-US" altLang="ko-KR" dirty="0" smtClean="0"/>
                        <a:t>10</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방어력</a:t>
                      </a:r>
                      <a:endParaRPr lang="ko-KR" altLang="en-US" b="1" dirty="0"/>
                    </a:p>
                  </a:txBody>
                  <a:tcPr anchor="ctr"/>
                </a:tc>
                <a:tc>
                  <a:txBody>
                    <a:bodyPr/>
                    <a:lstStyle/>
                    <a:p>
                      <a:r>
                        <a:rPr lang="en-US" altLang="ko-KR" dirty="0" smtClean="0"/>
                        <a:t>0</a:t>
                      </a:r>
                      <a:endParaRPr lang="ko-KR" altLang="en-US" dirty="0"/>
                    </a:p>
                  </a:txBody>
                  <a:tcPr anchor="ctr"/>
                </a:tc>
                <a:extLst>
                  <a:ext uri="{0D108BD9-81ED-4DB2-BD59-A6C34878D82A}">
                    <a16:rowId xmlns:a16="http://schemas.microsoft.com/office/drawing/2014/main" val="602088556"/>
                  </a:ext>
                </a:extLst>
              </a:tr>
              <a:tr h="254923">
                <a:tc>
                  <a:txBody>
                    <a:bodyPr/>
                    <a:lstStyle/>
                    <a:p>
                      <a:pPr algn="ctr"/>
                      <a:r>
                        <a:rPr lang="ko-KR" altLang="en-US" b="1" dirty="0" smtClean="0"/>
                        <a:t>명중</a:t>
                      </a:r>
                      <a:endParaRPr lang="ko-KR" altLang="en-US" b="1" dirty="0"/>
                    </a:p>
                  </a:txBody>
                  <a:tcPr anchor="ctr"/>
                </a:tc>
                <a:tc>
                  <a:txBody>
                    <a:bodyPr/>
                    <a:lstStyle/>
                    <a:p>
                      <a:r>
                        <a:rPr lang="en-US" altLang="ko-KR" dirty="0" smtClean="0"/>
                        <a:t>40</a:t>
                      </a:r>
                      <a:endParaRPr lang="ko-KR" altLang="en-US" dirty="0"/>
                    </a:p>
                  </a:txBody>
                  <a:tcPr anchor="ctr"/>
                </a:tc>
                <a:extLst>
                  <a:ext uri="{0D108BD9-81ED-4DB2-BD59-A6C34878D82A}">
                    <a16:rowId xmlns:a16="http://schemas.microsoft.com/office/drawing/2014/main" val="380313429"/>
                  </a:ext>
                </a:extLst>
              </a:tr>
              <a:tr h="254923">
                <a:tc>
                  <a:txBody>
                    <a:bodyPr/>
                    <a:lstStyle/>
                    <a:p>
                      <a:pPr algn="ctr"/>
                      <a:r>
                        <a:rPr lang="ko-KR" altLang="en-US" b="1" dirty="0" smtClean="0"/>
                        <a:t>회피</a:t>
                      </a:r>
                      <a:endParaRPr lang="ko-KR" altLang="en-US" b="1" dirty="0"/>
                    </a:p>
                  </a:txBody>
                  <a:tcPr anchor="ctr"/>
                </a:tc>
                <a:tc>
                  <a:txBody>
                    <a:bodyPr/>
                    <a:lstStyle/>
                    <a:p>
                      <a:r>
                        <a:rPr lang="en-US" altLang="ko-KR" dirty="0" smtClean="0"/>
                        <a:t>10</a:t>
                      </a:r>
                      <a:endParaRPr lang="ko-KR" altLang="en-US" dirty="0"/>
                    </a:p>
                  </a:txBody>
                  <a:tcPr anchor="ctr"/>
                </a:tc>
                <a:extLst>
                  <a:ext uri="{0D108BD9-81ED-4DB2-BD59-A6C34878D82A}">
                    <a16:rowId xmlns:a16="http://schemas.microsoft.com/office/drawing/2014/main" val="342142082"/>
                  </a:ext>
                </a:extLst>
              </a:tr>
              <a:tr h="254923">
                <a:tc>
                  <a:txBody>
                    <a:bodyPr/>
                    <a:lstStyle/>
                    <a:p>
                      <a:pPr algn="ctr"/>
                      <a:r>
                        <a:rPr lang="ko-KR" altLang="en-US" b="1" dirty="0" smtClean="0"/>
                        <a:t>능력</a:t>
                      </a:r>
                      <a:endParaRPr lang="ko-KR" altLang="en-US" b="1" dirty="0"/>
                    </a:p>
                  </a:txBody>
                  <a:tcPr anchor="ctr"/>
                </a:tc>
                <a:tc>
                  <a:txBody>
                    <a:bodyPr/>
                    <a:lstStyle/>
                    <a:p>
                      <a:r>
                        <a:rPr lang="ko-KR" altLang="en-US" baseline="0" dirty="0" smtClean="0"/>
                        <a:t>선물꾸러미 </a:t>
                      </a:r>
                      <a:r>
                        <a:rPr lang="en-US" altLang="ko-KR" baseline="0" dirty="0" smtClean="0"/>
                        <a:t>(</a:t>
                      </a:r>
                      <a:r>
                        <a:rPr lang="ko-KR" altLang="en-US" baseline="0" dirty="0" smtClean="0"/>
                        <a:t>자신이 사망했을 때</a:t>
                      </a:r>
                      <a:r>
                        <a:rPr lang="en-US" altLang="ko-KR" baseline="0" dirty="0" smtClean="0"/>
                        <a:t>, </a:t>
                      </a:r>
                      <a:r>
                        <a:rPr lang="ko-KR" altLang="en-US" baseline="0" dirty="0" smtClean="0"/>
                        <a:t>아군 전체 체력 회복 </a:t>
                      </a:r>
                      <a:r>
                        <a:rPr lang="en-US" altLang="ko-KR" baseline="0" dirty="0" smtClean="0"/>
                        <a:t>+ </a:t>
                      </a:r>
                      <a:r>
                        <a:rPr lang="ko-KR" altLang="en-US" baseline="0" dirty="0" smtClean="0"/>
                        <a:t>방</a:t>
                      </a:r>
                      <a:r>
                        <a:rPr lang="en-US" altLang="ko-KR" baseline="0" dirty="0" smtClean="0"/>
                        <a:t>, </a:t>
                      </a:r>
                      <a:r>
                        <a:rPr lang="ko-KR" altLang="en-US" baseline="0" dirty="0" smtClean="0"/>
                        <a:t>공 상승</a:t>
                      </a:r>
                      <a:r>
                        <a:rPr lang="en-US" altLang="ko-KR" baseline="0" dirty="0" smtClean="0"/>
                        <a:t>)</a:t>
                      </a:r>
                      <a:endParaRPr lang="ko-KR" altLang="en-US" dirty="0"/>
                    </a:p>
                  </a:txBody>
                  <a:tcPr anchor="ctr"/>
                </a:tc>
                <a:extLst>
                  <a:ext uri="{0D108BD9-81ED-4DB2-BD59-A6C34878D82A}">
                    <a16:rowId xmlns:a16="http://schemas.microsoft.com/office/drawing/2014/main" val="1231768350"/>
                  </a:ext>
                </a:extLst>
              </a:tr>
              <a:tr h="254923">
                <a:tc>
                  <a:txBody>
                    <a:bodyPr/>
                    <a:lstStyle/>
                    <a:p>
                      <a:pPr algn="ctr"/>
                      <a:r>
                        <a:rPr lang="ko-KR" altLang="en-US" b="1" dirty="0" smtClean="0"/>
                        <a:t>스킬</a:t>
                      </a:r>
                      <a:endParaRPr lang="ko-KR" altLang="en-US" b="1" dirty="0"/>
                    </a:p>
                  </a:txBody>
                  <a:tcPr anchor="ctr"/>
                </a:tc>
                <a:tc>
                  <a:txBody>
                    <a:bodyPr/>
                    <a:lstStyle/>
                    <a:p>
                      <a:r>
                        <a:rPr lang="en-US" altLang="ko-KR" dirty="0" smtClean="0"/>
                        <a:t>-</a:t>
                      </a:r>
                      <a:r>
                        <a:rPr lang="ko-KR" altLang="en-US" dirty="0" smtClean="0"/>
                        <a:t> </a:t>
                      </a:r>
                      <a:r>
                        <a:rPr lang="en-US" altLang="ko-KR" dirty="0" smtClean="0"/>
                        <a:t>/ -</a:t>
                      </a:r>
                      <a:r>
                        <a:rPr lang="ko-KR" altLang="en-US" dirty="0" smtClean="0"/>
                        <a:t> </a:t>
                      </a:r>
                      <a:r>
                        <a:rPr lang="en-US" altLang="ko-KR" dirty="0" smtClean="0"/>
                        <a:t>/ -</a:t>
                      </a:r>
                      <a:endParaRPr lang="ko-KR" altLang="en-US" dirty="0"/>
                    </a:p>
                  </a:txBody>
                  <a:tcPr anchor="ctr"/>
                </a:tc>
                <a:extLst>
                  <a:ext uri="{0D108BD9-81ED-4DB2-BD59-A6C34878D82A}">
                    <a16:rowId xmlns:a16="http://schemas.microsoft.com/office/drawing/2014/main" val="4015314687"/>
                  </a:ext>
                </a:extLst>
              </a:tr>
            </a:tbl>
          </a:graphicData>
        </a:graphic>
      </p:graphicFrame>
      <p:sp>
        <p:nvSpPr>
          <p:cNvPr id="5" name="슬라이드 번호 개체 틀 4"/>
          <p:cNvSpPr>
            <a:spLocks noGrp="1"/>
          </p:cNvSpPr>
          <p:nvPr>
            <p:ph type="sldNum" sz="quarter" idx="12"/>
          </p:nvPr>
        </p:nvSpPr>
        <p:spPr/>
        <p:txBody>
          <a:bodyPr/>
          <a:lstStyle/>
          <a:p>
            <a:fld id="{95F8FB6C-4300-4EF3-AEA9-23A98D8A74E1}" type="slidenum">
              <a:rPr lang="ko-KR" altLang="en-US" sz="1800" smtClean="0"/>
              <a:t>73</a:t>
            </a:fld>
            <a:endParaRPr lang="ko-KR" altLang="en-US" sz="1800" dirty="0"/>
          </a:p>
        </p:txBody>
      </p:sp>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999472374"/>
      </p:ext>
    </p:extLst>
  </p:cSld>
  <p:clrMapOvr>
    <a:masterClrMapping/>
  </p:clrMapOvr>
  <p:timing>
    <p:tnLst>
      <p:par>
        <p:cT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아티팩트</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74</a:t>
            </a:fld>
            <a:endParaRPr lang="ko-KR" altLang="en-US" sz="1800" dirty="0"/>
          </a:p>
        </p:txBody>
      </p:sp>
      <p:sp>
        <p:nvSpPr>
          <p:cNvPr id="8" name="TextBox 7"/>
          <p:cNvSpPr txBox="1"/>
          <p:nvPr/>
        </p:nvSpPr>
        <p:spPr>
          <a:xfrm>
            <a:off x="766917" y="1348401"/>
            <a:ext cx="10058399" cy="3000821"/>
          </a:xfrm>
          <a:prstGeom prst="rect">
            <a:avLst/>
          </a:prstGeom>
          <a:noFill/>
        </p:spPr>
        <p:txBody>
          <a:bodyPr wrap="square" rtlCol="0">
            <a:spAutoFit/>
          </a:bodyPr>
          <a:lstStyle/>
          <a:p>
            <a:pPr>
              <a:lnSpc>
                <a:spcPct val="150000"/>
              </a:lnSpc>
            </a:pPr>
            <a:r>
              <a:rPr lang="en-US" altLang="ko-KR" dirty="0"/>
              <a:t>• </a:t>
            </a:r>
            <a:r>
              <a:rPr lang="ko-KR" altLang="en-US" dirty="0" smtClean="0">
                <a:latin typeface="+mn-ea"/>
              </a:rPr>
              <a:t>용사는 던전을 탐험하면서 다양한 아이템을 얻습니다</a:t>
            </a:r>
            <a:r>
              <a:rPr lang="en-US" altLang="ko-KR" dirty="0" smtClean="0">
                <a:latin typeface="+mn-ea"/>
              </a:rPr>
              <a:t>.</a:t>
            </a:r>
          </a:p>
          <a:p>
            <a:pPr>
              <a:lnSpc>
                <a:spcPct val="150000"/>
              </a:lnSpc>
            </a:pPr>
            <a:endParaRPr lang="en-US" altLang="ko-KR" dirty="0" smtClean="0">
              <a:latin typeface="+mn-ea"/>
            </a:endParaRPr>
          </a:p>
          <a:p>
            <a:pPr>
              <a:lnSpc>
                <a:spcPct val="150000"/>
              </a:lnSpc>
            </a:pPr>
            <a:r>
              <a:rPr lang="en-US" altLang="ko-KR" dirty="0"/>
              <a:t>• </a:t>
            </a:r>
            <a:r>
              <a:rPr lang="ko-KR" altLang="en-US" dirty="0" smtClean="0"/>
              <a:t>아이템은 용사 혹은 몬스터가 장비하거나 사용하여</a:t>
            </a:r>
            <a:r>
              <a:rPr lang="en-US" altLang="ko-KR" dirty="0" smtClean="0"/>
              <a:t>,</a:t>
            </a:r>
          </a:p>
          <a:p>
            <a:pPr>
              <a:lnSpc>
                <a:spcPct val="150000"/>
              </a:lnSpc>
            </a:pPr>
            <a:r>
              <a:rPr lang="ko-KR" altLang="en-US" dirty="0" smtClean="0"/>
              <a:t>  던전을 정복하는 데에 도움을 줍니다</a:t>
            </a:r>
            <a:r>
              <a:rPr lang="en-US" altLang="ko-KR" dirty="0" smtClean="0">
                <a:latin typeface="+mn-ea"/>
              </a:rPr>
              <a:t>.</a:t>
            </a:r>
          </a:p>
          <a:p>
            <a:pPr>
              <a:lnSpc>
                <a:spcPct val="150000"/>
              </a:lnSpc>
            </a:pPr>
            <a:endParaRPr lang="en-US" altLang="ko-KR" dirty="0" smtClean="0">
              <a:latin typeface="+mn-ea"/>
            </a:endParaRPr>
          </a:p>
          <a:p>
            <a:pPr>
              <a:lnSpc>
                <a:spcPct val="150000"/>
              </a:lnSpc>
            </a:pPr>
            <a:r>
              <a:rPr lang="en-US" altLang="ko-KR" dirty="0"/>
              <a:t>• </a:t>
            </a:r>
            <a:r>
              <a:rPr lang="ko-KR" altLang="en-US" dirty="0" smtClean="0"/>
              <a:t>던전 속 지하 상점에서 구입</a:t>
            </a:r>
            <a:r>
              <a:rPr lang="en-US" altLang="ko-KR" dirty="0" smtClean="0"/>
              <a:t>, </a:t>
            </a:r>
            <a:r>
              <a:rPr lang="ko-KR" altLang="en-US" dirty="0" smtClean="0"/>
              <a:t>몬스터의 </a:t>
            </a:r>
            <a:r>
              <a:rPr lang="ko-KR" altLang="en-US" dirty="0" err="1" smtClean="0"/>
              <a:t>드랍</a:t>
            </a:r>
            <a:r>
              <a:rPr lang="ko-KR" altLang="en-US" dirty="0" smtClean="0"/>
              <a:t> 등으로 </a:t>
            </a:r>
            <a:endParaRPr lang="en-US" altLang="ko-KR" dirty="0" smtClean="0"/>
          </a:p>
          <a:p>
            <a:pPr>
              <a:lnSpc>
                <a:spcPct val="150000"/>
              </a:lnSpc>
            </a:pPr>
            <a:r>
              <a:rPr lang="en-US" altLang="ko-KR" dirty="0"/>
              <a:t> </a:t>
            </a:r>
            <a:r>
              <a:rPr lang="en-US" altLang="ko-KR" dirty="0" smtClean="0"/>
              <a:t> </a:t>
            </a:r>
            <a:r>
              <a:rPr lang="ko-KR" altLang="en-US" dirty="0" smtClean="0"/>
              <a:t>획득할 수 있으며</a:t>
            </a:r>
            <a:r>
              <a:rPr lang="en-US" altLang="ko-KR" dirty="0" smtClean="0"/>
              <a:t>,</a:t>
            </a:r>
            <a:r>
              <a:rPr lang="en-US" altLang="ko-KR" dirty="0" smtClean="0">
                <a:latin typeface="+mn-ea"/>
              </a:rPr>
              <a:t> </a:t>
            </a:r>
            <a:r>
              <a:rPr lang="ko-KR" altLang="en-US" dirty="0" smtClean="0">
                <a:latin typeface="+mn-ea"/>
              </a:rPr>
              <a:t>소유자가 사망 시 모두 잃습니다</a:t>
            </a:r>
            <a:r>
              <a:rPr lang="en-US" altLang="ko-KR" dirty="0" smtClean="0">
                <a:latin typeface="+mn-ea"/>
              </a:rPr>
              <a:t>.</a:t>
            </a:r>
          </a:p>
        </p:txBody>
      </p:sp>
      <p:sp>
        <p:nvSpPr>
          <p:cNvPr id="9" name="TextBox 8"/>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102686086"/>
      </p:ext>
    </p:extLst>
  </p:cSld>
  <p:clrMapOvr>
    <a:masterClrMapping/>
  </p:clrMapOvr>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아티팩트</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75</a:t>
            </a:fld>
            <a:endParaRPr lang="ko-KR" altLang="en-US" sz="1800" dirty="0"/>
          </a:p>
        </p:txBody>
      </p:sp>
      <p:graphicFrame>
        <p:nvGraphicFramePr>
          <p:cNvPr id="9" name="표 8"/>
          <p:cNvGraphicFramePr>
            <a:graphicFrameLocks noGrp="1"/>
          </p:cNvGraphicFramePr>
          <p:nvPr>
            <p:extLst>
              <p:ext uri="{D42A27DB-BD31-4B8C-83A1-F6EECF244321}">
                <p14:modId xmlns:p14="http://schemas.microsoft.com/office/powerpoint/2010/main" val="3432250167"/>
              </p:ext>
            </p:extLst>
          </p:nvPr>
        </p:nvGraphicFramePr>
        <p:xfrm>
          <a:off x="1076048" y="3538426"/>
          <a:ext cx="10029487" cy="2103120"/>
        </p:xfrm>
        <a:graphic>
          <a:graphicData uri="http://schemas.openxmlformats.org/drawingml/2006/table">
            <a:tbl>
              <a:tblPr firstRow="1" bandRow="1">
                <a:tableStyleId>{0505E3EF-67EA-436B-97B2-0124C06EBD24}</a:tableStyleId>
              </a:tblPr>
              <a:tblGrid>
                <a:gridCol w="1303804">
                  <a:extLst>
                    <a:ext uri="{9D8B030D-6E8A-4147-A177-3AD203B41FA5}">
                      <a16:colId xmlns:a16="http://schemas.microsoft.com/office/drawing/2014/main" val="3653911966"/>
                    </a:ext>
                  </a:extLst>
                </a:gridCol>
                <a:gridCol w="8725683">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smtClean="0"/>
                        <a:t>할아버지의 낡은 시계</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종류</a:t>
                      </a:r>
                      <a:endParaRPr lang="ko-KR" altLang="en-US" b="1" dirty="0"/>
                    </a:p>
                  </a:txBody>
                  <a:tcPr anchor="ctr"/>
                </a:tc>
                <a:tc>
                  <a:txBody>
                    <a:bodyPr/>
                    <a:lstStyle/>
                    <a:p>
                      <a:r>
                        <a:rPr lang="ko-KR" altLang="en-US" dirty="0" err="1" smtClean="0"/>
                        <a:t>장비형</a:t>
                      </a:r>
                      <a:r>
                        <a:rPr lang="ko-KR" altLang="en-US" dirty="0" smtClean="0"/>
                        <a:t> </a:t>
                      </a:r>
                      <a:r>
                        <a:rPr lang="en-US" altLang="ko-KR" dirty="0" smtClean="0"/>
                        <a:t>(</a:t>
                      </a:r>
                      <a:r>
                        <a:rPr lang="ko-KR" altLang="en-US" dirty="0" err="1" smtClean="0"/>
                        <a:t>악세서리</a:t>
                      </a:r>
                      <a:r>
                        <a:rPr lang="en-US" altLang="ko-KR" dirty="0" smtClean="0"/>
                        <a:t>)</a:t>
                      </a:r>
                      <a:endParaRPr lang="ko-KR" altLang="en-US" dirty="0"/>
                    </a:p>
                  </a:txBody>
                  <a:tcPr anchor="ctr"/>
                </a:tc>
                <a:extLst>
                  <a:ext uri="{0D108BD9-81ED-4DB2-BD59-A6C34878D82A}">
                    <a16:rowId xmlns:a16="http://schemas.microsoft.com/office/drawing/2014/main" val="2137125516"/>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방어력</a:t>
                      </a:r>
                      <a:r>
                        <a:rPr lang="en-US" altLang="ko-KR" dirty="0" smtClean="0"/>
                        <a:t>+5</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ko-KR" altLang="en-US" b="1" dirty="0" smtClean="0"/>
                        <a:t>특수</a:t>
                      </a:r>
                      <a:endParaRPr lang="ko-KR" altLang="en-US" b="1" dirty="0"/>
                    </a:p>
                  </a:txBody>
                  <a:tcPr anchor="ctr"/>
                </a:tc>
                <a:tc>
                  <a:txBody>
                    <a:bodyPr/>
                    <a:lstStyle/>
                    <a:p>
                      <a:r>
                        <a:rPr lang="ko-KR" altLang="en-US" dirty="0" smtClean="0"/>
                        <a:t>전투에서 </a:t>
                      </a:r>
                      <a:r>
                        <a:rPr lang="en-US" altLang="ko-KR" dirty="0" smtClean="0"/>
                        <a:t>1</a:t>
                      </a:r>
                      <a:r>
                        <a:rPr lang="ko-KR" altLang="en-US" dirty="0" smtClean="0"/>
                        <a:t>번</a:t>
                      </a:r>
                      <a:r>
                        <a:rPr lang="en-US" altLang="ko-KR" dirty="0" smtClean="0"/>
                        <a:t>, </a:t>
                      </a:r>
                      <a:r>
                        <a:rPr lang="ko-KR" altLang="en-US" dirty="0" smtClean="0"/>
                        <a:t>몬스터 </a:t>
                      </a:r>
                      <a:r>
                        <a:rPr lang="en-US" altLang="ko-KR" dirty="0" smtClean="0"/>
                        <a:t>1</a:t>
                      </a:r>
                      <a:r>
                        <a:rPr lang="ko-KR" altLang="en-US" dirty="0" smtClean="0"/>
                        <a:t>체를 </a:t>
                      </a:r>
                      <a:r>
                        <a:rPr lang="en-US" altLang="ko-KR" dirty="0" smtClean="0"/>
                        <a:t>1</a:t>
                      </a:r>
                      <a:r>
                        <a:rPr lang="ko-KR" altLang="en-US" dirty="0" smtClean="0"/>
                        <a:t>턴 </a:t>
                      </a:r>
                      <a:r>
                        <a:rPr lang="ko-KR" altLang="en-US" baseline="0" dirty="0" smtClean="0"/>
                        <a:t>동안 상태이상 면역</a:t>
                      </a:r>
                      <a:r>
                        <a:rPr lang="en-US" altLang="ko-KR" baseline="0" dirty="0" smtClean="0"/>
                        <a:t>, </a:t>
                      </a:r>
                      <a:r>
                        <a:rPr lang="ko-KR" altLang="en-US" baseline="0" dirty="0" smtClean="0"/>
                        <a:t>무적이지만 행동 불가 상태로 만듭니다</a:t>
                      </a:r>
                      <a:r>
                        <a:rPr lang="en-US" altLang="ko-KR" baseline="0" dirty="0" smtClean="0"/>
                        <a:t>.</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획득 경로</a:t>
                      </a:r>
                      <a:endParaRPr lang="ko-KR" altLang="en-US" b="1" dirty="0"/>
                    </a:p>
                  </a:txBody>
                  <a:tcPr anchor="ctr"/>
                </a:tc>
                <a:tc>
                  <a:txBody>
                    <a:bodyPr/>
                    <a:lstStyle/>
                    <a:p>
                      <a:r>
                        <a:rPr lang="ko-KR" altLang="en-US" dirty="0" smtClean="0"/>
                        <a:t>몬스터 </a:t>
                      </a:r>
                      <a:r>
                        <a:rPr lang="ko-KR" altLang="en-US" dirty="0" err="1" smtClean="0"/>
                        <a:t>드랍</a:t>
                      </a:r>
                      <a:endParaRPr lang="ko-KR" altLang="en-US" dirty="0"/>
                    </a:p>
                  </a:txBody>
                  <a:tcPr anchor="ctr"/>
                </a:tc>
                <a:extLst>
                  <a:ext uri="{0D108BD9-81ED-4DB2-BD59-A6C34878D82A}">
                    <a16:rowId xmlns:a16="http://schemas.microsoft.com/office/drawing/2014/main" val="602088556"/>
                  </a:ext>
                </a:extLst>
              </a:tr>
            </a:tbl>
          </a:graphicData>
        </a:graphic>
      </p:graphicFrame>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196455782"/>
      </p:ext>
    </p:extLst>
  </p:cSld>
  <p:clrMapOvr>
    <a:masterClrMapping/>
  </p:clrMapOvr>
  <p:timing>
    <p:tnLst>
      <p:par>
        <p:cT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아티팩트</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76</a:t>
            </a:fld>
            <a:endParaRPr lang="ko-KR" altLang="en-US" sz="1800" dirty="0"/>
          </a:p>
        </p:txBody>
      </p:sp>
      <p:graphicFrame>
        <p:nvGraphicFramePr>
          <p:cNvPr id="9" name="표 8"/>
          <p:cNvGraphicFramePr>
            <a:graphicFrameLocks noGrp="1"/>
          </p:cNvGraphicFramePr>
          <p:nvPr>
            <p:extLst>
              <p:ext uri="{D42A27DB-BD31-4B8C-83A1-F6EECF244321}">
                <p14:modId xmlns:p14="http://schemas.microsoft.com/office/powerpoint/2010/main" val="3676330391"/>
              </p:ext>
            </p:extLst>
          </p:nvPr>
        </p:nvGraphicFramePr>
        <p:xfrm>
          <a:off x="1076048" y="3538426"/>
          <a:ext cx="10029487" cy="1828800"/>
        </p:xfrm>
        <a:graphic>
          <a:graphicData uri="http://schemas.openxmlformats.org/drawingml/2006/table">
            <a:tbl>
              <a:tblPr firstRow="1" bandRow="1">
                <a:tableStyleId>{0505E3EF-67EA-436B-97B2-0124C06EBD24}</a:tableStyleId>
              </a:tblPr>
              <a:tblGrid>
                <a:gridCol w="1303804">
                  <a:extLst>
                    <a:ext uri="{9D8B030D-6E8A-4147-A177-3AD203B41FA5}">
                      <a16:colId xmlns:a16="http://schemas.microsoft.com/office/drawing/2014/main" val="3653911966"/>
                    </a:ext>
                  </a:extLst>
                </a:gridCol>
                <a:gridCol w="8725683">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smtClean="0"/>
                        <a:t>핏빛 대검</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종류</a:t>
                      </a:r>
                      <a:endParaRPr lang="ko-KR" altLang="en-US" b="1" dirty="0"/>
                    </a:p>
                  </a:txBody>
                  <a:tcPr anchor="ctr"/>
                </a:tc>
                <a:tc>
                  <a:txBody>
                    <a:bodyPr/>
                    <a:lstStyle/>
                    <a:p>
                      <a:r>
                        <a:rPr lang="ko-KR" altLang="en-US" dirty="0" err="1" smtClean="0"/>
                        <a:t>장비형</a:t>
                      </a:r>
                      <a:r>
                        <a:rPr lang="ko-KR" altLang="en-US" dirty="0" smtClean="0"/>
                        <a:t> </a:t>
                      </a:r>
                      <a:r>
                        <a:rPr lang="en-US" altLang="ko-KR" dirty="0" smtClean="0"/>
                        <a:t>(</a:t>
                      </a:r>
                      <a:r>
                        <a:rPr lang="ko-KR" altLang="en-US" dirty="0" smtClean="0"/>
                        <a:t>무기</a:t>
                      </a:r>
                      <a:r>
                        <a:rPr lang="en-US" altLang="ko-KR" dirty="0" smtClean="0"/>
                        <a:t>)</a:t>
                      </a:r>
                      <a:endParaRPr lang="ko-KR" altLang="en-US" dirty="0"/>
                    </a:p>
                  </a:txBody>
                  <a:tcPr anchor="ctr"/>
                </a:tc>
                <a:extLst>
                  <a:ext uri="{0D108BD9-81ED-4DB2-BD59-A6C34878D82A}">
                    <a16:rowId xmlns:a16="http://schemas.microsoft.com/office/drawing/2014/main" val="2137125516"/>
                  </a:ext>
                </a:extLst>
              </a:tr>
              <a:tr h="254923">
                <a:tc>
                  <a:txBody>
                    <a:bodyPr/>
                    <a:lstStyle/>
                    <a:p>
                      <a:pPr algn="ctr"/>
                      <a:r>
                        <a:rPr lang="ko-KR" altLang="en-US" b="1" dirty="0" smtClean="0"/>
                        <a:t>능력</a:t>
                      </a:r>
                      <a:endParaRPr lang="ko-KR" altLang="en-US" b="1" dirty="0"/>
                    </a:p>
                  </a:txBody>
                  <a:tcPr anchor="ctr"/>
                </a:tc>
                <a:tc>
                  <a:txBody>
                    <a:bodyPr/>
                    <a:lstStyle/>
                    <a:p>
                      <a:r>
                        <a:rPr lang="ko-KR" altLang="en-US" dirty="0" smtClean="0"/>
                        <a:t>공격력</a:t>
                      </a:r>
                      <a:r>
                        <a:rPr lang="en-US" altLang="ko-KR" dirty="0" smtClean="0"/>
                        <a:t>+20,</a:t>
                      </a:r>
                      <a:r>
                        <a:rPr lang="en-US" altLang="ko-KR" baseline="0" dirty="0" smtClean="0"/>
                        <a:t> </a:t>
                      </a:r>
                      <a:r>
                        <a:rPr lang="ko-KR" altLang="en-US" baseline="0" dirty="0" smtClean="0"/>
                        <a:t>회피</a:t>
                      </a:r>
                      <a:r>
                        <a:rPr lang="en-US" altLang="ko-KR" baseline="0" dirty="0" smtClean="0"/>
                        <a:t>-5</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ko-KR" altLang="en-US" b="1" dirty="0" smtClean="0"/>
                        <a:t>특수</a:t>
                      </a:r>
                      <a:endParaRPr lang="ko-KR" altLang="en-US" b="1" dirty="0"/>
                    </a:p>
                  </a:txBody>
                  <a:tcPr anchor="ctr"/>
                </a:tc>
                <a:tc>
                  <a:txBody>
                    <a:bodyPr/>
                    <a:lstStyle/>
                    <a:p>
                      <a:r>
                        <a:rPr lang="ko-KR" altLang="en-US" dirty="0" smtClean="0"/>
                        <a:t>공격 시 일정 확률로 상대방을 상태이상 </a:t>
                      </a:r>
                      <a:r>
                        <a:rPr lang="en-US" altLang="ko-KR" dirty="0" smtClean="0"/>
                        <a:t>: </a:t>
                      </a:r>
                      <a:r>
                        <a:rPr lang="ko-KR" altLang="en-US" dirty="0" smtClean="0"/>
                        <a:t>출혈 상태로 만듭니다</a:t>
                      </a:r>
                      <a:r>
                        <a:rPr lang="en-US" altLang="ko-KR" dirty="0" smtClean="0"/>
                        <a:t>.</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획득 경로</a:t>
                      </a:r>
                      <a:endParaRPr lang="ko-KR" altLang="en-US" b="1" dirty="0"/>
                    </a:p>
                  </a:txBody>
                  <a:tcPr anchor="ctr"/>
                </a:tc>
                <a:tc>
                  <a:txBody>
                    <a:bodyPr/>
                    <a:lstStyle/>
                    <a:p>
                      <a:r>
                        <a:rPr lang="ko-KR" altLang="en-US" dirty="0" smtClean="0"/>
                        <a:t>지하 상점에서 구입</a:t>
                      </a:r>
                      <a:endParaRPr lang="ko-KR" altLang="en-US" dirty="0"/>
                    </a:p>
                  </a:txBody>
                  <a:tcPr anchor="ctr"/>
                </a:tc>
                <a:extLst>
                  <a:ext uri="{0D108BD9-81ED-4DB2-BD59-A6C34878D82A}">
                    <a16:rowId xmlns:a16="http://schemas.microsoft.com/office/drawing/2014/main" val="602088556"/>
                  </a:ext>
                </a:extLst>
              </a:tr>
            </a:tbl>
          </a:graphicData>
        </a:graphic>
      </p:graphicFrame>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077999128"/>
      </p:ext>
    </p:extLst>
  </p:cSld>
  <p:clrMapOvr>
    <a:masterClrMapping/>
  </p:clrMapOvr>
  <p:timing>
    <p:tnLst>
      <p:par>
        <p:cT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아티팩트</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77</a:t>
            </a:fld>
            <a:endParaRPr lang="ko-KR" altLang="en-US" sz="1800" dirty="0"/>
          </a:p>
        </p:txBody>
      </p:sp>
      <p:graphicFrame>
        <p:nvGraphicFramePr>
          <p:cNvPr id="9" name="표 8"/>
          <p:cNvGraphicFramePr>
            <a:graphicFrameLocks noGrp="1"/>
          </p:cNvGraphicFramePr>
          <p:nvPr>
            <p:extLst>
              <p:ext uri="{D42A27DB-BD31-4B8C-83A1-F6EECF244321}">
                <p14:modId xmlns:p14="http://schemas.microsoft.com/office/powerpoint/2010/main" val="304438752"/>
              </p:ext>
            </p:extLst>
          </p:nvPr>
        </p:nvGraphicFramePr>
        <p:xfrm>
          <a:off x="1076048" y="3538426"/>
          <a:ext cx="10029487" cy="1828800"/>
        </p:xfrm>
        <a:graphic>
          <a:graphicData uri="http://schemas.openxmlformats.org/drawingml/2006/table">
            <a:tbl>
              <a:tblPr firstRow="1" bandRow="1">
                <a:tableStyleId>{0505E3EF-67EA-436B-97B2-0124C06EBD24}</a:tableStyleId>
              </a:tblPr>
              <a:tblGrid>
                <a:gridCol w="1303804">
                  <a:extLst>
                    <a:ext uri="{9D8B030D-6E8A-4147-A177-3AD203B41FA5}">
                      <a16:colId xmlns:a16="http://schemas.microsoft.com/office/drawing/2014/main" val="3653911966"/>
                    </a:ext>
                  </a:extLst>
                </a:gridCol>
                <a:gridCol w="8725683">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ko-KR" altLang="en-US" b="0" dirty="0" err="1" smtClean="0"/>
                        <a:t>가시갑옷</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종류</a:t>
                      </a:r>
                      <a:endParaRPr lang="ko-KR" altLang="en-US" b="1" dirty="0"/>
                    </a:p>
                  </a:txBody>
                  <a:tcPr anchor="ctr"/>
                </a:tc>
                <a:tc>
                  <a:txBody>
                    <a:bodyPr/>
                    <a:lstStyle/>
                    <a:p>
                      <a:r>
                        <a:rPr lang="ko-KR" altLang="en-US" dirty="0" err="1" smtClean="0"/>
                        <a:t>장비형</a:t>
                      </a:r>
                      <a:r>
                        <a:rPr lang="ko-KR" altLang="en-US" dirty="0" smtClean="0"/>
                        <a:t> </a:t>
                      </a:r>
                      <a:r>
                        <a:rPr lang="en-US" altLang="ko-KR" dirty="0" smtClean="0"/>
                        <a:t>(</a:t>
                      </a:r>
                      <a:r>
                        <a:rPr lang="ko-KR" altLang="en-US" dirty="0" err="1" smtClean="0"/>
                        <a:t>방어구</a:t>
                      </a:r>
                      <a:r>
                        <a:rPr lang="en-US" altLang="ko-KR" dirty="0" smtClean="0"/>
                        <a:t>)</a:t>
                      </a:r>
                      <a:endParaRPr lang="ko-KR" altLang="en-US" dirty="0"/>
                    </a:p>
                  </a:txBody>
                  <a:tcPr anchor="ctr"/>
                </a:tc>
                <a:extLst>
                  <a:ext uri="{0D108BD9-81ED-4DB2-BD59-A6C34878D82A}">
                    <a16:rowId xmlns:a16="http://schemas.microsoft.com/office/drawing/2014/main" val="2137125516"/>
                  </a:ext>
                </a:extLst>
              </a:tr>
              <a:tr h="254923">
                <a:tc>
                  <a:txBody>
                    <a:bodyPr/>
                    <a:lstStyle/>
                    <a:p>
                      <a:pPr algn="ctr"/>
                      <a:r>
                        <a:rPr lang="ko-KR" altLang="en-US" b="1" dirty="0" smtClean="0"/>
                        <a:t>능력</a:t>
                      </a:r>
                      <a:endParaRPr lang="ko-KR" altLang="en-US" b="1" dirty="0"/>
                    </a:p>
                  </a:txBody>
                  <a:tcPr anchor="ctr"/>
                </a:tc>
                <a:tc>
                  <a:txBody>
                    <a:bodyPr/>
                    <a:lstStyle/>
                    <a:p>
                      <a:r>
                        <a:rPr lang="ko-KR" altLang="en-US" baseline="0" dirty="0" smtClean="0"/>
                        <a:t>방어력 </a:t>
                      </a:r>
                      <a:r>
                        <a:rPr lang="en-US" altLang="ko-KR" baseline="0" dirty="0" smtClean="0"/>
                        <a:t>+ 10</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ko-KR" altLang="en-US" b="1" dirty="0" smtClean="0"/>
                        <a:t>특수</a:t>
                      </a:r>
                      <a:endParaRPr lang="ko-KR" altLang="en-US" b="1" dirty="0"/>
                    </a:p>
                  </a:txBody>
                  <a:tcPr anchor="ctr"/>
                </a:tc>
                <a:tc>
                  <a:txBody>
                    <a:bodyPr/>
                    <a:lstStyle/>
                    <a:p>
                      <a:r>
                        <a:rPr lang="ko-KR" altLang="en-US" dirty="0" smtClean="0"/>
                        <a:t>피격 시 공격자에게 </a:t>
                      </a:r>
                      <a:r>
                        <a:rPr lang="ko-KR" altLang="en-US" dirty="0" err="1" smtClean="0"/>
                        <a:t>데미지의</a:t>
                      </a:r>
                      <a:r>
                        <a:rPr lang="ko-KR" altLang="en-US" dirty="0" smtClean="0"/>
                        <a:t> </a:t>
                      </a:r>
                      <a:r>
                        <a:rPr lang="en-US" altLang="ko-KR" dirty="0" smtClean="0"/>
                        <a:t>30%</a:t>
                      </a:r>
                      <a:r>
                        <a:rPr lang="ko-KR" altLang="en-US" dirty="0" smtClean="0"/>
                        <a:t>를 돌려줍니다</a:t>
                      </a:r>
                      <a:r>
                        <a:rPr lang="en-US" altLang="ko-KR" dirty="0" smtClean="0"/>
                        <a:t>.</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획득 경로</a:t>
                      </a:r>
                      <a:endParaRPr lang="ko-KR" altLang="en-US" b="1" dirty="0"/>
                    </a:p>
                  </a:txBody>
                  <a:tcPr anchor="ctr"/>
                </a:tc>
                <a:tc>
                  <a:txBody>
                    <a:bodyPr/>
                    <a:lstStyle/>
                    <a:p>
                      <a:r>
                        <a:rPr lang="ko-KR" altLang="en-US" dirty="0" smtClean="0"/>
                        <a:t>지하 상점에서 구입</a:t>
                      </a:r>
                      <a:endParaRPr lang="ko-KR" altLang="en-US" dirty="0"/>
                    </a:p>
                  </a:txBody>
                  <a:tcPr anchor="ctr"/>
                </a:tc>
                <a:extLst>
                  <a:ext uri="{0D108BD9-81ED-4DB2-BD59-A6C34878D82A}">
                    <a16:rowId xmlns:a16="http://schemas.microsoft.com/office/drawing/2014/main" val="602088556"/>
                  </a:ext>
                </a:extLst>
              </a:tr>
            </a:tbl>
          </a:graphicData>
        </a:graphic>
      </p:graphicFrame>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201839905"/>
      </p:ext>
    </p:extLst>
  </p:cSld>
  <p:clrMapOvr>
    <a:masterClrMapping/>
  </p:clrMapOvr>
  <p:timing>
    <p:tnLst>
      <p:par>
        <p:cT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TextBox 10"/>
          <p:cNvSpPr txBox="1"/>
          <p:nvPr/>
        </p:nvSpPr>
        <p:spPr>
          <a:xfrm>
            <a:off x="4615544" y="517669"/>
            <a:ext cx="2728686"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아티팩트</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12"/>
          </p:nvPr>
        </p:nvSpPr>
        <p:spPr/>
        <p:txBody>
          <a:bodyPr/>
          <a:lstStyle/>
          <a:p>
            <a:fld id="{95F8FB6C-4300-4EF3-AEA9-23A98D8A74E1}" type="slidenum">
              <a:rPr lang="ko-KR" altLang="en-US" sz="1800" smtClean="0"/>
              <a:t>78</a:t>
            </a:fld>
            <a:endParaRPr lang="ko-KR" altLang="en-US" sz="1800" dirty="0"/>
          </a:p>
        </p:txBody>
      </p:sp>
      <p:graphicFrame>
        <p:nvGraphicFramePr>
          <p:cNvPr id="9" name="표 8"/>
          <p:cNvGraphicFramePr>
            <a:graphicFrameLocks noGrp="1"/>
          </p:cNvGraphicFramePr>
          <p:nvPr>
            <p:extLst>
              <p:ext uri="{D42A27DB-BD31-4B8C-83A1-F6EECF244321}">
                <p14:modId xmlns:p14="http://schemas.microsoft.com/office/powerpoint/2010/main" val="3079796133"/>
              </p:ext>
            </p:extLst>
          </p:nvPr>
        </p:nvGraphicFramePr>
        <p:xfrm>
          <a:off x="1076048" y="3538426"/>
          <a:ext cx="10029487" cy="1828800"/>
        </p:xfrm>
        <a:graphic>
          <a:graphicData uri="http://schemas.openxmlformats.org/drawingml/2006/table">
            <a:tbl>
              <a:tblPr firstRow="1" bandRow="1">
                <a:tableStyleId>{0505E3EF-67EA-436B-97B2-0124C06EBD24}</a:tableStyleId>
              </a:tblPr>
              <a:tblGrid>
                <a:gridCol w="1303804">
                  <a:extLst>
                    <a:ext uri="{9D8B030D-6E8A-4147-A177-3AD203B41FA5}">
                      <a16:colId xmlns:a16="http://schemas.microsoft.com/office/drawing/2014/main" val="3653911966"/>
                    </a:ext>
                  </a:extLst>
                </a:gridCol>
                <a:gridCol w="8725683">
                  <a:extLst>
                    <a:ext uri="{9D8B030D-6E8A-4147-A177-3AD203B41FA5}">
                      <a16:colId xmlns:a16="http://schemas.microsoft.com/office/drawing/2014/main" val="1369104973"/>
                    </a:ext>
                  </a:extLst>
                </a:gridCol>
              </a:tblGrid>
              <a:tr h="254923">
                <a:tc>
                  <a:txBody>
                    <a:bodyPr/>
                    <a:lstStyle/>
                    <a:p>
                      <a:pPr algn="ctr" latinLnBrk="1"/>
                      <a:r>
                        <a:rPr lang="ko-KR" altLang="en-US" b="1" dirty="0" smtClean="0"/>
                        <a:t>이름</a:t>
                      </a:r>
                      <a:endParaRPr lang="ko-KR" altLang="en-US" b="1" dirty="0"/>
                    </a:p>
                  </a:txBody>
                  <a:tcPr anchor="ctr"/>
                </a:tc>
                <a:tc>
                  <a:txBody>
                    <a:bodyPr/>
                    <a:lstStyle/>
                    <a:p>
                      <a:pPr algn="ctr" latinLnBrk="1"/>
                      <a:r>
                        <a:rPr lang="en-US" altLang="ko-KR" b="0" dirty="0" smtClean="0"/>
                        <a:t>V</a:t>
                      </a:r>
                      <a:r>
                        <a:rPr lang="ko-KR" altLang="en-US" b="0" dirty="0" smtClean="0"/>
                        <a:t>타 </a:t>
                      </a:r>
                      <a:r>
                        <a:rPr lang="en-US" altLang="ko-KR" b="0" dirty="0" smtClean="0"/>
                        <a:t>500</a:t>
                      </a:r>
                      <a:endParaRPr lang="ko-KR" altLang="en-US" b="0" dirty="0"/>
                    </a:p>
                  </a:txBody>
                  <a:tcPr anchor="ctr"/>
                </a:tc>
                <a:extLst>
                  <a:ext uri="{0D108BD9-81ED-4DB2-BD59-A6C34878D82A}">
                    <a16:rowId xmlns:a16="http://schemas.microsoft.com/office/drawing/2014/main" val="2799860317"/>
                  </a:ext>
                </a:extLst>
              </a:tr>
              <a:tr h="254923">
                <a:tc>
                  <a:txBody>
                    <a:bodyPr/>
                    <a:lstStyle/>
                    <a:p>
                      <a:pPr algn="ctr" latinLnBrk="1"/>
                      <a:r>
                        <a:rPr lang="ko-KR" altLang="en-US" b="1" dirty="0" smtClean="0"/>
                        <a:t>종류</a:t>
                      </a:r>
                      <a:endParaRPr lang="ko-KR" altLang="en-US" b="1" dirty="0"/>
                    </a:p>
                  </a:txBody>
                  <a:tcPr anchor="ctr"/>
                </a:tc>
                <a:tc>
                  <a:txBody>
                    <a:bodyPr/>
                    <a:lstStyle/>
                    <a:p>
                      <a:r>
                        <a:rPr lang="ko-KR" altLang="en-US" dirty="0" err="1" smtClean="0"/>
                        <a:t>소비형</a:t>
                      </a:r>
                      <a:endParaRPr lang="ko-KR" altLang="en-US" dirty="0"/>
                    </a:p>
                  </a:txBody>
                  <a:tcPr anchor="ctr"/>
                </a:tc>
                <a:extLst>
                  <a:ext uri="{0D108BD9-81ED-4DB2-BD59-A6C34878D82A}">
                    <a16:rowId xmlns:a16="http://schemas.microsoft.com/office/drawing/2014/main" val="2137125516"/>
                  </a:ext>
                </a:extLst>
              </a:tr>
              <a:tr h="254923">
                <a:tc>
                  <a:txBody>
                    <a:bodyPr/>
                    <a:lstStyle/>
                    <a:p>
                      <a:pPr algn="ctr"/>
                      <a:r>
                        <a:rPr lang="ko-KR" altLang="en-US" b="1" dirty="0" smtClean="0"/>
                        <a:t>능력</a:t>
                      </a:r>
                      <a:endParaRPr lang="ko-KR" altLang="en-US" b="1" dirty="0"/>
                    </a:p>
                  </a:txBody>
                  <a:tcPr anchor="ctr"/>
                </a:tc>
                <a:tc>
                  <a:txBody>
                    <a:bodyPr/>
                    <a:lstStyle/>
                    <a:p>
                      <a:r>
                        <a:rPr lang="en-US" altLang="ko-KR" dirty="0" smtClean="0"/>
                        <a:t>HP</a:t>
                      </a:r>
                      <a:r>
                        <a:rPr lang="ko-KR" altLang="en-US" dirty="0" smtClean="0"/>
                        <a:t> </a:t>
                      </a:r>
                      <a:r>
                        <a:rPr lang="en-US" altLang="ko-KR" dirty="0" smtClean="0"/>
                        <a:t>+ 50, SP + 50</a:t>
                      </a:r>
                      <a:endParaRPr lang="ko-KR" altLang="en-US" dirty="0"/>
                    </a:p>
                  </a:txBody>
                  <a:tcPr anchor="ctr"/>
                </a:tc>
                <a:extLst>
                  <a:ext uri="{0D108BD9-81ED-4DB2-BD59-A6C34878D82A}">
                    <a16:rowId xmlns:a16="http://schemas.microsoft.com/office/drawing/2014/main" val="776402937"/>
                  </a:ext>
                </a:extLst>
              </a:tr>
              <a:tr h="254923">
                <a:tc>
                  <a:txBody>
                    <a:bodyPr/>
                    <a:lstStyle/>
                    <a:p>
                      <a:pPr algn="ctr"/>
                      <a:r>
                        <a:rPr lang="ko-KR" altLang="en-US" b="1" dirty="0" smtClean="0"/>
                        <a:t>특수</a:t>
                      </a:r>
                      <a:endParaRPr lang="ko-KR" altLang="en-US" b="1" dirty="0"/>
                    </a:p>
                  </a:txBody>
                  <a:tcPr anchor="ctr"/>
                </a:tc>
                <a:tc>
                  <a:txBody>
                    <a:bodyPr/>
                    <a:lstStyle/>
                    <a:p>
                      <a:r>
                        <a:rPr lang="en-US" altLang="ko-KR" dirty="0" smtClean="0"/>
                        <a:t>-</a:t>
                      </a:r>
                      <a:endParaRPr lang="ko-KR" altLang="en-US" dirty="0"/>
                    </a:p>
                  </a:txBody>
                  <a:tcPr anchor="ctr"/>
                </a:tc>
                <a:extLst>
                  <a:ext uri="{0D108BD9-81ED-4DB2-BD59-A6C34878D82A}">
                    <a16:rowId xmlns:a16="http://schemas.microsoft.com/office/drawing/2014/main" val="4001399026"/>
                  </a:ext>
                </a:extLst>
              </a:tr>
              <a:tr h="254923">
                <a:tc>
                  <a:txBody>
                    <a:bodyPr/>
                    <a:lstStyle/>
                    <a:p>
                      <a:pPr algn="ctr"/>
                      <a:r>
                        <a:rPr lang="ko-KR" altLang="en-US" b="1" dirty="0" smtClean="0"/>
                        <a:t>획득 경로</a:t>
                      </a:r>
                      <a:endParaRPr lang="ko-KR" altLang="en-US" b="1" dirty="0"/>
                    </a:p>
                  </a:txBody>
                  <a:tcPr anchor="ctr"/>
                </a:tc>
                <a:tc>
                  <a:txBody>
                    <a:bodyPr/>
                    <a:lstStyle/>
                    <a:p>
                      <a:r>
                        <a:rPr lang="ko-KR" altLang="en-US" dirty="0" smtClean="0"/>
                        <a:t>지하 상점에서 구입</a:t>
                      </a:r>
                      <a:endParaRPr lang="ko-KR" altLang="en-US" dirty="0"/>
                    </a:p>
                  </a:txBody>
                  <a:tcPr anchor="ctr"/>
                </a:tc>
                <a:extLst>
                  <a:ext uri="{0D108BD9-81ED-4DB2-BD59-A6C34878D82A}">
                    <a16:rowId xmlns:a16="http://schemas.microsoft.com/office/drawing/2014/main" val="602088556"/>
                  </a:ext>
                </a:extLst>
              </a:tr>
            </a:tbl>
          </a:graphicData>
        </a:graphic>
      </p:graphicFrame>
      <p:sp>
        <p:nvSpPr>
          <p:cNvPr id="8" name="TextBox 7"/>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179248981"/>
      </p:ext>
    </p:extLst>
  </p:cSld>
  <p:clrMapOvr>
    <a:masterClrMapping/>
  </p:clrMapOvr>
  <p:timing>
    <p:tnLst>
      <p:par>
        <p:cT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시스템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729390" y="765193"/>
            <a:ext cx="2733217"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시스템 요소</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graphicFrame>
        <p:nvGraphicFramePr>
          <p:cNvPr id="2" name="표 1"/>
          <p:cNvGraphicFramePr>
            <a:graphicFrameLocks noGrp="1"/>
          </p:cNvGraphicFramePr>
          <p:nvPr>
            <p:extLst>
              <p:ext uri="{D42A27DB-BD31-4B8C-83A1-F6EECF244321}">
                <p14:modId xmlns:p14="http://schemas.microsoft.com/office/powerpoint/2010/main" val="3243357557"/>
              </p:ext>
            </p:extLst>
          </p:nvPr>
        </p:nvGraphicFramePr>
        <p:xfrm>
          <a:off x="1001485" y="1486485"/>
          <a:ext cx="10189028" cy="4793258"/>
        </p:xfrm>
        <a:graphic>
          <a:graphicData uri="http://schemas.openxmlformats.org/drawingml/2006/table">
            <a:tbl>
              <a:tblPr firstRow="1" bandRow="1">
                <a:tableStyleId>{073A0DAA-6AF3-43AB-8588-CEC1D06C72B9}</a:tableStyleId>
              </a:tblPr>
              <a:tblGrid>
                <a:gridCol w="1451429">
                  <a:extLst>
                    <a:ext uri="{9D8B030D-6E8A-4147-A177-3AD203B41FA5}">
                      <a16:colId xmlns:a16="http://schemas.microsoft.com/office/drawing/2014/main" val="3321536260"/>
                    </a:ext>
                  </a:extLst>
                </a:gridCol>
                <a:gridCol w="6285865">
                  <a:extLst>
                    <a:ext uri="{9D8B030D-6E8A-4147-A177-3AD203B41FA5}">
                      <a16:colId xmlns:a16="http://schemas.microsoft.com/office/drawing/2014/main" val="2362139744"/>
                    </a:ext>
                  </a:extLst>
                </a:gridCol>
                <a:gridCol w="2451734">
                  <a:extLst>
                    <a:ext uri="{9D8B030D-6E8A-4147-A177-3AD203B41FA5}">
                      <a16:colId xmlns:a16="http://schemas.microsoft.com/office/drawing/2014/main" val="431622231"/>
                    </a:ext>
                  </a:extLst>
                </a:gridCol>
              </a:tblGrid>
              <a:tr h="564759">
                <a:tc>
                  <a:txBody>
                    <a:bodyPr/>
                    <a:lstStyle/>
                    <a:p>
                      <a:pPr algn="ctr" latinLnBrk="1"/>
                      <a:r>
                        <a:rPr lang="ko-KR" altLang="en-US" dirty="0" smtClean="0"/>
                        <a:t>요소</a:t>
                      </a:r>
                      <a:endParaRPr lang="ko-KR" altLang="en-US" dirty="0"/>
                    </a:p>
                  </a:txBody>
                  <a:tcPr anchor="ctr"/>
                </a:tc>
                <a:tc>
                  <a:txBody>
                    <a:bodyPr/>
                    <a:lstStyle/>
                    <a:p>
                      <a:pPr algn="ctr" latinLnBrk="1"/>
                      <a:r>
                        <a:rPr lang="ko-KR" altLang="en-US" dirty="0" smtClean="0"/>
                        <a:t>설명</a:t>
                      </a:r>
                      <a:endParaRPr lang="ko-KR" altLang="en-US" dirty="0"/>
                    </a:p>
                  </a:txBody>
                  <a:tcPr anchor="ctr"/>
                </a:tc>
                <a:tc>
                  <a:txBody>
                    <a:bodyPr/>
                    <a:lstStyle/>
                    <a:p>
                      <a:pPr algn="ctr" latinLnBrk="1"/>
                      <a:r>
                        <a:rPr lang="ko-KR" altLang="en-US" dirty="0" smtClean="0"/>
                        <a:t>비고</a:t>
                      </a:r>
                      <a:endParaRPr lang="ko-KR" altLang="en-US" dirty="0"/>
                    </a:p>
                  </a:txBody>
                  <a:tcPr anchor="ctr"/>
                </a:tc>
                <a:extLst>
                  <a:ext uri="{0D108BD9-81ED-4DB2-BD59-A6C34878D82A}">
                    <a16:rowId xmlns:a16="http://schemas.microsoft.com/office/drawing/2014/main" val="4217640868"/>
                  </a:ext>
                </a:extLst>
              </a:tr>
              <a:tr h="612670">
                <a:tc>
                  <a:txBody>
                    <a:bodyPr/>
                    <a:lstStyle/>
                    <a:p>
                      <a:pPr algn="ctr" latinLnBrk="1"/>
                      <a:r>
                        <a:rPr lang="ko-KR" altLang="en-US" b="1" dirty="0" smtClean="0"/>
                        <a:t>시간</a:t>
                      </a:r>
                      <a:endParaRPr lang="ko-KR" altLang="en-US" b="1" dirty="0"/>
                    </a:p>
                  </a:txBody>
                  <a:tcPr anchor="ctr"/>
                </a:tc>
                <a:tc>
                  <a:txBody>
                    <a:bodyPr/>
                    <a:lstStyle/>
                    <a:p>
                      <a:pPr algn="l" latinLnBrk="1"/>
                      <a:r>
                        <a:rPr lang="en-US" altLang="ko-KR" sz="1700" dirty="0" smtClean="0"/>
                        <a:t>- </a:t>
                      </a:r>
                      <a:r>
                        <a:rPr lang="ko-KR" altLang="en-US" sz="1700" dirty="0" smtClean="0"/>
                        <a:t>게임은 하루를 기준으로 돌아간다</a:t>
                      </a:r>
                      <a:r>
                        <a:rPr lang="en-US" altLang="ko-KR" sz="1700" dirty="0" smtClean="0"/>
                        <a:t>.</a:t>
                      </a:r>
                      <a:endParaRPr lang="ko-KR" altLang="en-US" sz="1700" dirty="0"/>
                    </a:p>
                  </a:txBody>
                  <a:tcPr anchor="ctr"/>
                </a:tc>
                <a:tc>
                  <a:txBody>
                    <a:bodyPr/>
                    <a:lstStyle/>
                    <a:p>
                      <a:pPr algn="l" latinLnBrk="1"/>
                      <a:endParaRPr lang="ko-KR" altLang="en-US" dirty="0"/>
                    </a:p>
                  </a:txBody>
                  <a:tcPr anchor="ctr"/>
                </a:tc>
                <a:extLst>
                  <a:ext uri="{0D108BD9-81ED-4DB2-BD59-A6C34878D82A}">
                    <a16:rowId xmlns:a16="http://schemas.microsoft.com/office/drawing/2014/main" val="10001"/>
                  </a:ext>
                </a:extLst>
              </a:tr>
              <a:tr h="612670">
                <a:tc>
                  <a:txBody>
                    <a:bodyPr/>
                    <a:lstStyle/>
                    <a:p>
                      <a:pPr algn="ctr" latinLnBrk="1"/>
                      <a:r>
                        <a:rPr lang="ko-KR" altLang="en-US" b="1" dirty="0" err="1" smtClean="0"/>
                        <a:t>범죄율</a:t>
                      </a:r>
                      <a:endParaRPr lang="ko-KR" altLang="en-US" b="1" dirty="0"/>
                    </a:p>
                  </a:txBody>
                  <a:tcPr anchor="ctr"/>
                </a:tc>
                <a:tc>
                  <a:txBody>
                    <a:bodyPr/>
                    <a:lstStyle/>
                    <a:p>
                      <a:pPr algn="l" latinLnBrk="1"/>
                      <a:r>
                        <a:rPr lang="en-US" altLang="ko-KR" sz="1700" dirty="0" smtClean="0"/>
                        <a:t>- </a:t>
                      </a:r>
                      <a:r>
                        <a:rPr lang="ko-KR" altLang="en-US" sz="1700" dirty="0" smtClean="0"/>
                        <a:t>도시의 현재 </a:t>
                      </a:r>
                      <a:r>
                        <a:rPr lang="ko-KR" altLang="en-US" sz="1700" dirty="0" err="1" smtClean="0"/>
                        <a:t>범죄율을</a:t>
                      </a:r>
                      <a:r>
                        <a:rPr lang="ko-KR" altLang="en-US" sz="1700" dirty="0" smtClean="0"/>
                        <a:t> 나타내는 수치</a:t>
                      </a:r>
                      <a:endParaRPr lang="en-US" altLang="ko-KR" sz="1700" dirty="0" smtClean="0"/>
                    </a:p>
                    <a:p>
                      <a:pPr algn="l" latinLnBrk="1"/>
                      <a:r>
                        <a:rPr lang="en-US" altLang="ko-KR" sz="1700" dirty="0" smtClean="0"/>
                        <a:t>- </a:t>
                      </a:r>
                      <a:r>
                        <a:rPr lang="ko-KR" altLang="en-US" sz="1700" dirty="0" smtClean="0"/>
                        <a:t>각종 이벤트에 따라 증가</a:t>
                      </a:r>
                      <a:r>
                        <a:rPr lang="en-US" altLang="ko-KR" sz="1700" dirty="0" smtClean="0"/>
                        <a:t>, </a:t>
                      </a:r>
                      <a:r>
                        <a:rPr lang="ko-KR" altLang="en-US" sz="1700" dirty="0" smtClean="0"/>
                        <a:t>감소한다</a:t>
                      </a:r>
                      <a:endParaRPr lang="ko-KR" altLang="en-US" sz="1700" dirty="0"/>
                    </a:p>
                  </a:txBody>
                  <a:tcPr anchor="ctr"/>
                </a:tc>
                <a:tc>
                  <a:txBody>
                    <a:bodyPr/>
                    <a:lstStyle/>
                    <a:p>
                      <a:pPr algn="l" latinLnBrk="1"/>
                      <a:r>
                        <a:rPr lang="en-US" altLang="ko-KR" sz="1700" dirty="0" smtClean="0"/>
                        <a:t>0 </a:t>
                      </a:r>
                      <a:r>
                        <a:rPr lang="ko-KR" altLang="en-US" sz="1700" dirty="0" smtClean="0"/>
                        <a:t>이 되면 승리</a:t>
                      </a:r>
                      <a:endParaRPr lang="en-US" altLang="ko-KR" sz="1700" dirty="0" smtClean="0"/>
                    </a:p>
                    <a:p>
                      <a:pPr algn="l" latinLnBrk="1"/>
                      <a:r>
                        <a:rPr lang="en-US" altLang="ko-KR" sz="1700" dirty="0" smtClean="0"/>
                        <a:t>100 </a:t>
                      </a:r>
                      <a:r>
                        <a:rPr lang="ko-KR" altLang="en-US" sz="1700" dirty="0" smtClean="0"/>
                        <a:t>이 되면 패배</a:t>
                      </a:r>
                      <a:endParaRPr lang="ko-KR" altLang="en-US" sz="1700" dirty="0"/>
                    </a:p>
                  </a:txBody>
                  <a:tcPr anchor="ctr"/>
                </a:tc>
                <a:extLst>
                  <a:ext uri="{0D108BD9-81ED-4DB2-BD59-A6C34878D82A}">
                    <a16:rowId xmlns:a16="http://schemas.microsoft.com/office/drawing/2014/main" val="1447082540"/>
                  </a:ext>
                </a:extLst>
              </a:tr>
              <a:tr h="564802">
                <a:tc>
                  <a:txBody>
                    <a:bodyPr/>
                    <a:lstStyle/>
                    <a:p>
                      <a:pPr algn="ctr" latinLnBrk="1"/>
                      <a:r>
                        <a:rPr lang="ko-KR" altLang="en-US" b="1" dirty="0" smtClean="0"/>
                        <a:t>명성</a:t>
                      </a:r>
                      <a:endParaRPr lang="ko-KR" altLang="en-US" b="1" dirty="0"/>
                    </a:p>
                  </a:txBody>
                  <a:tcPr anchor="ctr"/>
                </a:tc>
                <a:tc>
                  <a:txBody>
                    <a:bodyPr/>
                    <a:lstStyle/>
                    <a:p>
                      <a:pPr algn="l" latinLnBrk="1"/>
                      <a:r>
                        <a:rPr lang="en-US" altLang="ko-KR" sz="1700" dirty="0" smtClean="0"/>
                        <a:t>- </a:t>
                      </a:r>
                      <a:r>
                        <a:rPr lang="ko-KR" altLang="en-US" sz="1700" dirty="0" smtClean="0"/>
                        <a:t>특수 경찰관으로서의 명성을 나타내는 수치</a:t>
                      </a:r>
                      <a:endParaRPr lang="en-US" altLang="ko-KR" sz="1700" dirty="0" smtClean="0"/>
                    </a:p>
                    <a:p>
                      <a:pPr algn="l" latinLnBrk="1"/>
                      <a:r>
                        <a:rPr lang="en-US" altLang="ko-KR" sz="1700" dirty="0" smtClean="0"/>
                        <a:t>- </a:t>
                      </a:r>
                      <a:r>
                        <a:rPr lang="ko-KR" altLang="en-US" sz="1700" dirty="0" smtClean="0"/>
                        <a:t>수치의 고저가 게임 플레이에 영향을 준다</a:t>
                      </a:r>
                      <a:endParaRPr lang="ko-KR" altLang="en-US" sz="1700" dirty="0"/>
                    </a:p>
                  </a:txBody>
                  <a:tcPr anchor="ctr"/>
                </a:tc>
                <a:tc>
                  <a:txBody>
                    <a:bodyPr/>
                    <a:lstStyle/>
                    <a:p>
                      <a:pPr algn="l" latinLnBrk="1"/>
                      <a:r>
                        <a:rPr lang="en-US" altLang="ko-KR" sz="1700" dirty="0" smtClean="0"/>
                        <a:t>0 </a:t>
                      </a:r>
                      <a:r>
                        <a:rPr lang="ko-KR" altLang="en-US" sz="1700" dirty="0" smtClean="0"/>
                        <a:t>이 되면 패배</a:t>
                      </a:r>
                      <a:endParaRPr lang="ko-KR" altLang="en-US" sz="1700" dirty="0"/>
                    </a:p>
                  </a:txBody>
                  <a:tcPr anchor="ctr"/>
                </a:tc>
                <a:extLst>
                  <a:ext uri="{0D108BD9-81ED-4DB2-BD59-A6C34878D82A}">
                    <a16:rowId xmlns:a16="http://schemas.microsoft.com/office/drawing/2014/main" val="1166069635"/>
                  </a:ext>
                </a:extLst>
              </a:tr>
              <a:tr h="564802">
                <a:tc>
                  <a:txBody>
                    <a:bodyPr/>
                    <a:lstStyle/>
                    <a:p>
                      <a:pPr algn="ctr" latinLnBrk="1"/>
                      <a:r>
                        <a:rPr lang="ko-KR" altLang="en-US" b="1" dirty="0" smtClean="0"/>
                        <a:t>자금</a:t>
                      </a:r>
                      <a:endParaRPr lang="ko-KR" altLang="en-US" b="1" dirty="0"/>
                    </a:p>
                  </a:txBody>
                  <a:tcPr anchor="ctr"/>
                </a:tc>
                <a:tc>
                  <a:txBody>
                    <a:bodyPr/>
                    <a:lstStyle/>
                    <a:p>
                      <a:pPr algn="l" latinLnBrk="1"/>
                      <a:r>
                        <a:rPr lang="en-US" altLang="ko-KR" sz="1700" dirty="0" smtClean="0"/>
                        <a:t>- </a:t>
                      </a:r>
                      <a:r>
                        <a:rPr lang="ko-KR" altLang="en-US" sz="1700" dirty="0" smtClean="0"/>
                        <a:t>플레이어가 사용 가능한 돈의 수치</a:t>
                      </a:r>
                      <a:endParaRPr lang="en-US" altLang="ko-KR" sz="1700" dirty="0" smtClean="0"/>
                    </a:p>
                    <a:p>
                      <a:pPr algn="l" latinLnBrk="1"/>
                      <a:r>
                        <a:rPr lang="en-US" altLang="ko-KR" sz="1700" dirty="0" smtClean="0"/>
                        <a:t>- </a:t>
                      </a:r>
                      <a:r>
                        <a:rPr lang="ko-KR" altLang="en-US" sz="1700" dirty="0" smtClean="0"/>
                        <a:t>각종 장비를 구입하거나 업그레이드 할 수 있다</a:t>
                      </a:r>
                      <a:endParaRPr lang="ko-KR" altLang="en-US" sz="1700" dirty="0"/>
                    </a:p>
                  </a:txBody>
                  <a:tcPr anchor="ctr"/>
                </a:tc>
                <a:tc>
                  <a:txBody>
                    <a:bodyPr/>
                    <a:lstStyle/>
                    <a:p>
                      <a:pPr algn="l" latinLnBrk="1"/>
                      <a:endParaRPr lang="ko-KR" altLang="en-US" sz="1700" dirty="0"/>
                    </a:p>
                  </a:txBody>
                  <a:tcPr anchor="ctr"/>
                </a:tc>
                <a:extLst>
                  <a:ext uri="{0D108BD9-81ED-4DB2-BD59-A6C34878D82A}">
                    <a16:rowId xmlns:a16="http://schemas.microsoft.com/office/drawing/2014/main" val="2270031616"/>
                  </a:ext>
                </a:extLst>
              </a:tr>
              <a:tr h="564802">
                <a:tc>
                  <a:txBody>
                    <a:bodyPr/>
                    <a:lstStyle/>
                    <a:p>
                      <a:pPr algn="ctr" latinLnBrk="1"/>
                      <a:r>
                        <a:rPr lang="ko-KR" altLang="en-US" b="1" dirty="0" err="1" smtClean="0"/>
                        <a:t>행동력</a:t>
                      </a:r>
                      <a:endParaRPr lang="ko-KR" altLang="en-US" b="1" dirty="0"/>
                    </a:p>
                  </a:txBody>
                  <a:tcPr anchor="ctr"/>
                </a:tc>
                <a:tc>
                  <a:txBody>
                    <a:bodyPr/>
                    <a:lstStyle/>
                    <a:p>
                      <a:pPr algn="l" latinLnBrk="1"/>
                      <a:r>
                        <a:rPr lang="en-US" altLang="ko-KR" sz="1700" dirty="0" smtClean="0"/>
                        <a:t>- </a:t>
                      </a:r>
                      <a:r>
                        <a:rPr lang="ko-KR" altLang="en-US" sz="1700" dirty="0" smtClean="0"/>
                        <a:t>한 사건에서 행동</a:t>
                      </a:r>
                      <a:r>
                        <a:rPr lang="en-US" altLang="ko-KR" sz="1700" dirty="0" smtClean="0"/>
                        <a:t>(</a:t>
                      </a:r>
                      <a:r>
                        <a:rPr lang="ko-KR" altLang="en-US" sz="1700" dirty="0" smtClean="0"/>
                        <a:t>수사</a:t>
                      </a:r>
                      <a:r>
                        <a:rPr lang="en-US" altLang="ko-KR" sz="1700" dirty="0" smtClean="0"/>
                        <a:t>, </a:t>
                      </a:r>
                      <a:r>
                        <a:rPr lang="ko-KR" altLang="en-US" sz="1700" dirty="0" smtClean="0"/>
                        <a:t>탐색</a:t>
                      </a:r>
                      <a:r>
                        <a:rPr lang="en-US" altLang="ko-KR" sz="1700" dirty="0" smtClean="0"/>
                        <a:t>, </a:t>
                      </a:r>
                      <a:r>
                        <a:rPr lang="ko-KR" altLang="en-US" sz="1700" dirty="0" smtClean="0"/>
                        <a:t>설득 등</a:t>
                      </a:r>
                      <a:r>
                        <a:rPr lang="en-US" altLang="ko-KR" sz="1700" dirty="0" smtClean="0"/>
                        <a:t>) </a:t>
                      </a:r>
                      <a:r>
                        <a:rPr lang="ko-KR" altLang="en-US" sz="1700" dirty="0" smtClean="0"/>
                        <a:t>할 수 있는 한계치</a:t>
                      </a:r>
                      <a:endParaRPr lang="en-US" altLang="ko-KR" sz="1700" dirty="0" smtClean="0"/>
                    </a:p>
                    <a:p>
                      <a:pPr algn="l" latinLnBrk="1"/>
                      <a:r>
                        <a:rPr lang="en-US" altLang="ko-KR" sz="1700" dirty="0" smtClean="0"/>
                        <a:t>- </a:t>
                      </a:r>
                      <a:r>
                        <a:rPr lang="ko-KR" altLang="en-US" sz="1700" dirty="0" smtClean="0"/>
                        <a:t>매 행동 마다 </a:t>
                      </a:r>
                      <a:r>
                        <a:rPr lang="ko-KR" altLang="en-US" sz="1700" dirty="0" err="1" smtClean="0"/>
                        <a:t>행동력을</a:t>
                      </a:r>
                      <a:r>
                        <a:rPr lang="ko-KR" altLang="en-US" sz="1700" dirty="0" smtClean="0"/>
                        <a:t> 소모하여 실행된다</a:t>
                      </a:r>
                      <a:endParaRPr lang="ko-KR" altLang="en-US" sz="1700" dirty="0"/>
                    </a:p>
                  </a:txBody>
                  <a:tcPr anchor="ctr"/>
                </a:tc>
                <a:tc>
                  <a:txBody>
                    <a:bodyPr/>
                    <a:lstStyle/>
                    <a:p>
                      <a:pPr algn="l" latinLnBrk="1"/>
                      <a:endParaRPr lang="ko-KR" altLang="en-US" sz="1700" dirty="0"/>
                    </a:p>
                  </a:txBody>
                  <a:tcPr anchor="ctr"/>
                </a:tc>
                <a:extLst>
                  <a:ext uri="{0D108BD9-81ED-4DB2-BD59-A6C34878D82A}">
                    <a16:rowId xmlns:a16="http://schemas.microsoft.com/office/drawing/2014/main" val="3714715161"/>
                  </a:ext>
                </a:extLst>
              </a:tr>
              <a:tr h="564802">
                <a:tc>
                  <a:txBody>
                    <a:bodyPr/>
                    <a:lstStyle/>
                    <a:p>
                      <a:pPr algn="ctr" latinLnBrk="1"/>
                      <a:r>
                        <a:rPr lang="ko-KR" altLang="en-US" b="1" dirty="0" smtClean="0"/>
                        <a:t>특성</a:t>
                      </a:r>
                      <a:endParaRPr lang="ko-KR" altLang="en-US" b="1" dirty="0"/>
                    </a:p>
                  </a:txBody>
                  <a:tcPr anchor="ctr"/>
                </a:tc>
                <a:tc>
                  <a:txBody>
                    <a:bodyPr/>
                    <a:lstStyle/>
                    <a:p>
                      <a:pPr algn="l" latinLnBrk="1"/>
                      <a:r>
                        <a:rPr lang="en-US" altLang="ko-KR" sz="1700" dirty="0" smtClean="0"/>
                        <a:t>- </a:t>
                      </a:r>
                      <a:r>
                        <a:rPr lang="ko-KR" altLang="en-US" sz="1700" dirty="0" smtClean="0"/>
                        <a:t>플레이를 통해 얻은 특성 포인트로 배울 수 있다</a:t>
                      </a:r>
                      <a:endParaRPr lang="en-US" altLang="ko-KR" sz="1700" dirty="0" smtClean="0"/>
                    </a:p>
                    <a:p>
                      <a:pPr algn="l" latinLnBrk="1"/>
                      <a:r>
                        <a:rPr lang="en-US" altLang="ko-KR" sz="1700" dirty="0" smtClean="0"/>
                        <a:t>- </a:t>
                      </a:r>
                      <a:r>
                        <a:rPr lang="ko-KR" altLang="en-US" sz="1700" dirty="0" smtClean="0"/>
                        <a:t>게임 플레이에 도움을 주는 효과를 가지고 있다</a:t>
                      </a:r>
                      <a:endParaRPr lang="ko-KR" altLang="en-US" sz="1700" dirty="0"/>
                    </a:p>
                  </a:txBody>
                  <a:tcPr anchor="ctr"/>
                </a:tc>
                <a:tc>
                  <a:txBody>
                    <a:bodyPr/>
                    <a:lstStyle/>
                    <a:p>
                      <a:pPr algn="l" latinLnBrk="1"/>
                      <a:r>
                        <a:rPr lang="ko-KR" altLang="en-US" sz="1700" dirty="0" smtClean="0"/>
                        <a:t>최대 </a:t>
                      </a:r>
                      <a:r>
                        <a:rPr lang="en-US" altLang="ko-KR" sz="1700" dirty="0" smtClean="0"/>
                        <a:t>3</a:t>
                      </a:r>
                      <a:r>
                        <a:rPr lang="ko-KR" altLang="en-US" sz="1700" dirty="0" smtClean="0"/>
                        <a:t>가지 사용 가능</a:t>
                      </a:r>
                      <a:endParaRPr lang="ko-KR" altLang="en-US" sz="1700" dirty="0"/>
                    </a:p>
                  </a:txBody>
                  <a:tcPr anchor="ctr"/>
                </a:tc>
                <a:extLst>
                  <a:ext uri="{0D108BD9-81ED-4DB2-BD59-A6C34878D82A}">
                    <a16:rowId xmlns:a16="http://schemas.microsoft.com/office/drawing/2014/main" val="1529809939"/>
                  </a:ext>
                </a:extLst>
              </a:tr>
              <a:tr h="564759">
                <a:tc>
                  <a:txBody>
                    <a:bodyPr/>
                    <a:lstStyle/>
                    <a:p>
                      <a:pPr algn="ctr" latinLnBrk="1"/>
                      <a:r>
                        <a:rPr lang="ko-KR" altLang="en-US" b="1" dirty="0" smtClean="0"/>
                        <a:t>스킬 체크</a:t>
                      </a:r>
                      <a:endParaRPr lang="ko-KR" altLang="en-US" b="1" dirty="0"/>
                    </a:p>
                  </a:txBody>
                  <a:tcPr anchor="ctr"/>
                </a:tc>
                <a:tc>
                  <a:txBody>
                    <a:bodyPr/>
                    <a:lstStyle/>
                    <a:p>
                      <a:pPr algn="l" latinLnBrk="1"/>
                      <a:r>
                        <a:rPr lang="en-US" altLang="ko-KR" sz="1700" dirty="0" smtClean="0"/>
                        <a:t>- </a:t>
                      </a:r>
                      <a:r>
                        <a:rPr lang="ko-KR" altLang="en-US" sz="1700" dirty="0" smtClean="0"/>
                        <a:t>수사</a:t>
                      </a:r>
                      <a:r>
                        <a:rPr lang="en-US" altLang="ko-KR" sz="1700" dirty="0" smtClean="0"/>
                        <a:t>, </a:t>
                      </a:r>
                      <a:r>
                        <a:rPr lang="ko-KR" altLang="en-US" sz="1700" dirty="0" smtClean="0"/>
                        <a:t>심문</a:t>
                      </a:r>
                      <a:r>
                        <a:rPr lang="en-US" altLang="ko-KR" sz="1700" dirty="0" smtClean="0"/>
                        <a:t>, </a:t>
                      </a:r>
                      <a:r>
                        <a:rPr lang="ko-KR" altLang="en-US" sz="1700" dirty="0" smtClean="0"/>
                        <a:t>탐색 등 행동 전반에 걸쳐 사용되는 기능</a:t>
                      </a:r>
                      <a:endParaRPr lang="en-US" altLang="ko-KR" sz="1700" dirty="0" smtClean="0"/>
                    </a:p>
                  </a:txBody>
                  <a:tcPr anchor="ctr"/>
                </a:tc>
                <a:tc>
                  <a:txBody>
                    <a:bodyPr/>
                    <a:lstStyle/>
                    <a:p>
                      <a:pPr algn="l" latinLnBrk="1"/>
                      <a:r>
                        <a:rPr lang="ko-KR" altLang="en-US" sz="1700" dirty="0" smtClean="0"/>
                        <a:t>성공</a:t>
                      </a:r>
                      <a:r>
                        <a:rPr lang="en-US" altLang="ko-KR" sz="1700" dirty="0" smtClean="0"/>
                        <a:t>, </a:t>
                      </a:r>
                      <a:r>
                        <a:rPr lang="ko-KR" altLang="en-US" sz="1700" dirty="0" smtClean="0"/>
                        <a:t>실패</a:t>
                      </a:r>
                      <a:r>
                        <a:rPr lang="en-US" altLang="ko-KR" sz="1700" dirty="0" smtClean="0"/>
                        <a:t>, </a:t>
                      </a:r>
                      <a:r>
                        <a:rPr lang="ko-KR" altLang="en-US" sz="1700" dirty="0" smtClean="0"/>
                        <a:t>대성공</a:t>
                      </a:r>
                      <a:endParaRPr lang="ko-KR" altLang="en-US" sz="1700" dirty="0"/>
                    </a:p>
                  </a:txBody>
                  <a:tcPr anchor="ctr"/>
                </a:tc>
                <a:extLst>
                  <a:ext uri="{0D108BD9-81ED-4DB2-BD59-A6C34878D82A}">
                    <a16:rowId xmlns:a16="http://schemas.microsoft.com/office/drawing/2014/main" val="2358325592"/>
                  </a:ext>
                </a:extLst>
              </a:tr>
            </a:tbl>
          </a:graphicData>
        </a:graphic>
      </p:graphicFrame>
      <p:sp>
        <p:nvSpPr>
          <p:cNvPr id="3" name="슬라이드 번호 개체 틀 2"/>
          <p:cNvSpPr>
            <a:spLocks noGrp="1"/>
          </p:cNvSpPr>
          <p:nvPr>
            <p:ph type="sldNum" sz="quarter" idx="12"/>
          </p:nvPr>
        </p:nvSpPr>
        <p:spPr/>
        <p:txBody>
          <a:bodyPr/>
          <a:lstStyle/>
          <a:p>
            <a:fld id="{95F8FB6C-4300-4EF3-AEA9-23A98D8A74E1}" type="slidenum">
              <a:rPr lang="ko-KR" altLang="en-US" sz="1800" smtClean="0"/>
              <a:t>79</a:t>
            </a:fld>
            <a:endParaRPr lang="ko-KR" altLang="en-US" sz="1800" dirty="0"/>
          </a:p>
        </p:txBody>
      </p:sp>
      <p:sp>
        <p:nvSpPr>
          <p:cNvPr id="8" name="곱셈 기호 7"/>
          <p:cNvSpPr/>
          <p:nvPr/>
        </p:nvSpPr>
        <p:spPr>
          <a:xfrm>
            <a:off x="2224597" y="-304210"/>
            <a:ext cx="9129203" cy="7238034"/>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648055852"/>
      </p:ext>
    </p:extLst>
  </p:cSld>
  <p:clrMapOvr>
    <a:masterClrMapping/>
  </p:clrMapOvr>
  <p:timing>
    <p:tnLst>
      <p:par>
        <p:cT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소개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시스템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933450" y="1438038"/>
            <a:ext cx="3162300"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시스템 흐름도</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 name="모서리가 둥근 직사각형 4"/>
          <p:cNvSpPr/>
          <p:nvPr/>
        </p:nvSpPr>
        <p:spPr>
          <a:xfrm>
            <a:off x="8822924" y="4149787"/>
            <a:ext cx="1567550" cy="597926"/>
          </a:xfrm>
          <a:prstGeom prst="roundRect">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현장 출동</a:t>
            </a:r>
            <a:endParaRPr lang="ko-KR" altLang="en-US" dirty="0">
              <a:solidFill>
                <a:schemeClr val="tx1"/>
              </a:solidFill>
            </a:endParaRPr>
          </a:p>
        </p:txBody>
      </p:sp>
      <p:sp>
        <p:nvSpPr>
          <p:cNvPr id="16" name="모서리가 둥근 직사각형 15"/>
          <p:cNvSpPr/>
          <p:nvPr/>
        </p:nvSpPr>
        <p:spPr>
          <a:xfrm>
            <a:off x="6642305" y="4149787"/>
            <a:ext cx="1522150" cy="597926"/>
          </a:xfrm>
          <a:prstGeom prst="roundRect">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solidFill>
                  <a:schemeClr val="tx1"/>
                </a:solidFill>
              </a:rPr>
              <a:t>상황실 지휘</a:t>
            </a:r>
          </a:p>
        </p:txBody>
      </p:sp>
      <p:sp>
        <p:nvSpPr>
          <p:cNvPr id="17" name="모서리가 둥근 직사각형 16"/>
          <p:cNvSpPr/>
          <p:nvPr/>
        </p:nvSpPr>
        <p:spPr>
          <a:xfrm>
            <a:off x="7610621" y="457417"/>
            <a:ext cx="1710365" cy="597926"/>
          </a:xfrm>
          <a:prstGeom prst="roundRect">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던전 탐험</a:t>
            </a:r>
            <a:endParaRPr lang="en-US" altLang="ko-KR" dirty="0" smtClean="0">
              <a:solidFill>
                <a:schemeClr val="tx1"/>
              </a:solidFill>
            </a:endParaRPr>
          </a:p>
        </p:txBody>
      </p:sp>
      <p:sp>
        <p:nvSpPr>
          <p:cNvPr id="18" name="모서리가 둥근 직사각형 17"/>
          <p:cNvSpPr/>
          <p:nvPr/>
        </p:nvSpPr>
        <p:spPr>
          <a:xfrm>
            <a:off x="7610621" y="5465052"/>
            <a:ext cx="1710365" cy="597926"/>
          </a:xfrm>
          <a:prstGeom prst="roundRect">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사건 종</a:t>
            </a:r>
            <a:r>
              <a:rPr lang="ko-KR" altLang="en-US" dirty="0">
                <a:solidFill>
                  <a:schemeClr val="tx1"/>
                </a:solidFill>
              </a:rPr>
              <a:t>료</a:t>
            </a:r>
          </a:p>
        </p:txBody>
      </p:sp>
      <p:cxnSp>
        <p:nvCxnSpPr>
          <p:cNvPr id="3" name="직선 화살표 연결선 2"/>
          <p:cNvCxnSpPr>
            <a:stCxn id="17" idx="2"/>
            <a:endCxn id="82" idx="0"/>
          </p:cNvCxnSpPr>
          <p:nvPr/>
        </p:nvCxnSpPr>
        <p:spPr>
          <a:xfrm>
            <a:off x="8465804" y="1055343"/>
            <a:ext cx="0" cy="302975"/>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24" name="꺾인 연결선 23"/>
          <p:cNvCxnSpPr>
            <a:stCxn id="82" idx="3"/>
            <a:endCxn id="17" idx="3"/>
          </p:cNvCxnSpPr>
          <p:nvPr/>
        </p:nvCxnSpPr>
        <p:spPr>
          <a:xfrm flipH="1" flipV="1">
            <a:off x="9320986" y="756380"/>
            <a:ext cx="142493" cy="1120049"/>
          </a:xfrm>
          <a:prstGeom prst="bentConnector3">
            <a:avLst>
              <a:gd name="adj1" fmla="val -160429"/>
            </a:avLst>
          </a:prstGeom>
          <a:ln>
            <a:tailEnd type="arrow"/>
          </a:ln>
        </p:spPr>
        <p:style>
          <a:lnRef idx="3">
            <a:schemeClr val="dk1"/>
          </a:lnRef>
          <a:fillRef idx="0">
            <a:schemeClr val="dk1"/>
          </a:fillRef>
          <a:effectRef idx="2">
            <a:schemeClr val="dk1"/>
          </a:effectRef>
          <a:fontRef idx="minor">
            <a:schemeClr val="tx1"/>
          </a:fontRef>
        </p:style>
      </p:cxnSp>
      <p:cxnSp>
        <p:nvCxnSpPr>
          <p:cNvPr id="28" name="직선 화살표 연결선 27"/>
          <p:cNvCxnSpPr>
            <a:stCxn id="82" idx="2"/>
            <a:endCxn id="98" idx="0"/>
          </p:cNvCxnSpPr>
          <p:nvPr/>
        </p:nvCxnSpPr>
        <p:spPr>
          <a:xfrm flipH="1">
            <a:off x="8465431" y="2394539"/>
            <a:ext cx="373" cy="403869"/>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30" name="직선 화살표 연결선 29"/>
          <p:cNvCxnSpPr>
            <a:endCxn id="16" idx="0"/>
          </p:cNvCxnSpPr>
          <p:nvPr/>
        </p:nvCxnSpPr>
        <p:spPr>
          <a:xfrm flipH="1">
            <a:off x="7403380" y="3353737"/>
            <a:ext cx="639116" cy="79605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32" name="직선 화살표 연결선 31"/>
          <p:cNvCxnSpPr>
            <a:endCxn id="5" idx="0"/>
          </p:cNvCxnSpPr>
          <p:nvPr/>
        </p:nvCxnSpPr>
        <p:spPr>
          <a:xfrm>
            <a:off x="8888239" y="3353737"/>
            <a:ext cx="718460" cy="79605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34" name="직선 화살표 연결선 33"/>
          <p:cNvCxnSpPr>
            <a:stCxn id="5" idx="2"/>
            <a:endCxn id="18" idx="0"/>
          </p:cNvCxnSpPr>
          <p:nvPr/>
        </p:nvCxnSpPr>
        <p:spPr>
          <a:xfrm flipH="1">
            <a:off x="8465804" y="4747713"/>
            <a:ext cx="1140895" cy="717339"/>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36" name="직선 화살표 연결선 35"/>
          <p:cNvCxnSpPr>
            <a:stCxn id="16" idx="2"/>
            <a:endCxn id="18" idx="0"/>
          </p:cNvCxnSpPr>
          <p:nvPr/>
        </p:nvCxnSpPr>
        <p:spPr>
          <a:xfrm>
            <a:off x="7403380" y="4747713"/>
            <a:ext cx="1062424" cy="717339"/>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sp>
        <p:nvSpPr>
          <p:cNvPr id="53" name="TextBox 52"/>
          <p:cNvSpPr txBox="1"/>
          <p:nvPr/>
        </p:nvSpPr>
        <p:spPr>
          <a:xfrm>
            <a:off x="8339318" y="2394539"/>
            <a:ext cx="678110" cy="338554"/>
          </a:xfrm>
          <a:prstGeom prst="rect">
            <a:avLst/>
          </a:prstGeom>
          <a:noFill/>
        </p:spPr>
        <p:txBody>
          <a:bodyPr wrap="square" rtlCol="0">
            <a:spAutoFit/>
          </a:bodyPr>
          <a:lstStyle/>
          <a:p>
            <a:pPr algn="ct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Y e s </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54" name="TextBox 53"/>
          <p:cNvSpPr txBox="1"/>
          <p:nvPr/>
        </p:nvSpPr>
        <p:spPr>
          <a:xfrm>
            <a:off x="9829931" y="1146058"/>
            <a:ext cx="678110" cy="338554"/>
          </a:xfrm>
          <a:prstGeom prst="rect">
            <a:avLst/>
          </a:prstGeom>
          <a:noFill/>
        </p:spPr>
        <p:txBody>
          <a:bodyPr wrap="square" rtlCol="0">
            <a:spAutoFit/>
          </a:bodyPr>
          <a:lstStyle/>
          <a:p>
            <a:pPr algn="ctr"/>
            <a:r>
              <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N o</a:t>
            </a:r>
            <a:endParaRPr lang="ko-KR" altLang="en-US" sz="1600"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0" name="TextBox 59"/>
          <p:cNvSpPr txBox="1"/>
          <p:nvPr/>
        </p:nvSpPr>
        <p:spPr>
          <a:xfrm>
            <a:off x="6987886" y="3571827"/>
            <a:ext cx="678110"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지휘</a:t>
            </a:r>
            <a:endPar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61" name="TextBox 60"/>
          <p:cNvSpPr txBox="1"/>
          <p:nvPr/>
        </p:nvSpPr>
        <p:spPr>
          <a:xfrm>
            <a:off x="9300301" y="3558764"/>
            <a:ext cx="678110"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출동</a:t>
            </a:r>
            <a:endParaRPr lang="en-US" altLang="ko-KR" sz="1600"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82" name="다이아몬드 81"/>
          <p:cNvSpPr/>
          <p:nvPr/>
        </p:nvSpPr>
        <p:spPr>
          <a:xfrm>
            <a:off x="7468128" y="1358318"/>
            <a:ext cx="1995351" cy="1036221"/>
          </a:xfrm>
          <a:prstGeom prst="diamond">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착수</a:t>
            </a:r>
            <a:endParaRPr lang="ko-KR" altLang="en-US" dirty="0">
              <a:solidFill>
                <a:schemeClr val="tx1"/>
              </a:solidFill>
            </a:endParaRPr>
          </a:p>
        </p:txBody>
      </p:sp>
      <p:sp>
        <p:nvSpPr>
          <p:cNvPr id="98" name="다이아몬드 97"/>
          <p:cNvSpPr/>
          <p:nvPr/>
        </p:nvSpPr>
        <p:spPr>
          <a:xfrm>
            <a:off x="7437220" y="2798408"/>
            <a:ext cx="2056421" cy="962875"/>
          </a:xfrm>
          <a:prstGeom prst="diamond">
            <a:avLst/>
          </a:prstGeom>
          <a:solidFill>
            <a:schemeClr val="accent4">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a:solidFill>
                  <a:schemeClr val="tx1"/>
                </a:solidFill>
              </a:rPr>
              <a:t>지휘 </a:t>
            </a:r>
            <a:r>
              <a:rPr lang="en-US" altLang="ko-KR" dirty="0">
                <a:solidFill>
                  <a:schemeClr val="tx1"/>
                </a:solidFill>
              </a:rPr>
              <a:t>or </a:t>
            </a:r>
            <a:r>
              <a:rPr lang="ko-KR" altLang="en-US" dirty="0" smtClean="0">
                <a:solidFill>
                  <a:schemeClr val="tx1"/>
                </a:solidFill>
              </a:rPr>
              <a:t>출동</a:t>
            </a:r>
            <a:endParaRPr lang="ko-KR" altLang="en-US" dirty="0">
              <a:solidFill>
                <a:schemeClr val="tx1"/>
              </a:solidFill>
            </a:endParaRPr>
          </a:p>
        </p:txBody>
      </p:sp>
      <p:sp>
        <p:nvSpPr>
          <p:cNvPr id="152" name="모서리가 둥근 직사각형 151"/>
          <p:cNvSpPr/>
          <p:nvPr/>
        </p:nvSpPr>
        <p:spPr>
          <a:xfrm>
            <a:off x="5238730" y="457417"/>
            <a:ext cx="1710365" cy="597926"/>
          </a:xfrm>
          <a:prstGeom prst="round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정비</a:t>
            </a:r>
            <a:endParaRPr lang="en-US" altLang="ko-KR" dirty="0" smtClean="0">
              <a:solidFill>
                <a:schemeClr val="tx1"/>
              </a:solidFill>
            </a:endParaRPr>
          </a:p>
        </p:txBody>
      </p:sp>
      <p:sp>
        <p:nvSpPr>
          <p:cNvPr id="153" name="모서리가 둥근 직사각형 152"/>
          <p:cNvSpPr/>
          <p:nvPr/>
        </p:nvSpPr>
        <p:spPr>
          <a:xfrm>
            <a:off x="5238729" y="5465052"/>
            <a:ext cx="1749555" cy="597926"/>
          </a:xfrm>
          <a:prstGeom prst="round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chemeClr val="tx1"/>
                </a:solidFill>
              </a:rPr>
              <a:t>정산</a:t>
            </a:r>
            <a:endParaRPr lang="ko-KR" altLang="en-US" dirty="0">
              <a:solidFill>
                <a:schemeClr val="tx1"/>
              </a:solidFill>
            </a:endParaRPr>
          </a:p>
        </p:txBody>
      </p:sp>
      <p:cxnSp>
        <p:nvCxnSpPr>
          <p:cNvPr id="155" name="직선 화살표 연결선 154"/>
          <p:cNvCxnSpPr>
            <a:stCxn id="18" idx="1"/>
            <a:endCxn id="153" idx="3"/>
          </p:cNvCxnSpPr>
          <p:nvPr/>
        </p:nvCxnSpPr>
        <p:spPr>
          <a:xfrm flipH="1">
            <a:off x="6988284" y="5764015"/>
            <a:ext cx="622337" cy="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159" name="직선 화살표 연결선 158"/>
          <p:cNvCxnSpPr>
            <a:stCxn id="152" idx="3"/>
            <a:endCxn id="17" idx="1"/>
          </p:cNvCxnSpPr>
          <p:nvPr/>
        </p:nvCxnSpPr>
        <p:spPr>
          <a:xfrm>
            <a:off x="6949095" y="756380"/>
            <a:ext cx="661526" cy="0"/>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sp>
        <p:nvSpPr>
          <p:cNvPr id="33" name="모서리가 둥근 직사각형 32"/>
          <p:cNvSpPr/>
          <p:nvPr/>
        </p:nvSpPr>
        <p:spPr>
          <a:xfrm>
            <a:off x="1361625" y="2729959"/>
            <a:ext cx="1016756" cy="753551"/>
          </a:xfrm>
          <a:prstGeom prst="round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rgbClr val="002060"/>
                </a:solidFill>
              </a:rPr>
              <a:t>목표</a:t>
            </a:r>
            <a:endParaRPr lang="en-US" altLang="ko-KR" dirty="0" smtClean="0">
              <a:solidFill>
                <a:srgbClr val="002060"/>
              </a:solidFill>
            </a:endParaRPr>
          </a:p>
        </p:txBody>
      </p:sp>
      <p:sp>
        <p:nvSpPr>
          <p:cNvPr id="35" name="모서리가 둥근 직사각형 34"/>
          <p:cNvSpPr/>
          <p:nvPr/>
        </p:nvSpPr>
        <p:spPr>
          <a:xfrm>
            <a:off x="1361625" y="4261081"/>
            <a:ext cx="1016756" cy="753551"/>
          </a:xfrm>
          <a:prstGeom prst="round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dirty="0" smtClean="0">
                <a:solidFill>
                  <a:srgbClr val="FF0000"/>
                </a:solidFill>
              </a:rPr>
              <a:t>실패</a:t>
            </a:r>
            <a:endParaRPr lang="en-US" altLang="ko-KR" dirty="0" smtClean="0">
              <a:solidFill>
                <a:srgbClr val="FF0000"/>
              </a:solidFill>
            </a:endParaRPr>
          </a:p>
        </p:txBody>
      </p:sp>
      <p:sp>
        <p:nvSpPr>
          <p:cNvPr id="37" name="TextBox 36"/>
          <p:cNvSpPr txBox="1"/>
          <p:nvPr/>
        </p:nvSpPr>
        <p:spPr>
          <a:xfrm>
            <a:off x="2416481" y="2825422"/>
            <a:ext cx="2347248" cy="507831"/>
          </a:xfrm>
          <a:prstGeom prst="rect">
            <a:avLst/>
          </a:prstGeom>
          <a:noFill/>
        </p:spPr>
        <p:txBody>
          <a:bodyPr wrap="square" rtlCol="0">
            <a:spAutoFit/>
          </a:bodyPr>
          <a:lstStyle/>
          <a:p>
            <a:pPr>
              <a:lnSpc>
                <a:spcPct val="150000"/>
              </a:lnSpc>
            </a:pPr>
            <a:r>
              <a:rPr lang="ko-KR" altLang="en-US"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던전의 </a:t>
            </a:r>
            <a:r>
              <a:rPr lang="ko-KR" altLang="en-US" spc="-15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최심부</a:t>
            </a:r>
            <a:r>
              <a:rPr lang="ko-KR" altLang="en-US"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 </a:t>
            </a:r>
            <a:r>
              <a:rPr lang="ko-KR" altLang="en-US" spc="-150" dirty="0" err="1"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클리어</a:t>
            </a:r>
            <a:endParaRPr lang="en-US" altLang="ko-KR" spc="-15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38" name="TextBox 37"/>
          <p:cNvSpPr txBox="1"/>
          <p:nvPr/>
        </p:nvSpPr>
        <p:spPr>
          <a:xfrm>
            <a:off x="2416481" y="4410990"/>
            <a:ext cx="2053210" cy="454292"/>
          </a:xfrm>
          <a:prstGeom prst="rect">
            <a:avLst/>
          </a:prstGeom>
          <a:noFill/>
        </p:spPr>
        <p:txBody>
          <a:bodyPr wrap="square" rtlCol="0">
            <a:spAutoFit/>
          </a:bodyPr>
          <a:lstStyle/>
          <a:p>
            <a:pPr>
              <a:lnSpc>
                <a:spcPct val="150000"/>
              </a:lnSpc>
            </a:pPr>
            <a:r>
              <a:rPr lang="ko-KR" altLang="en-US" spc="-15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플레이어 사망</a:t>
            </a:r>
            <a:endParaRPr lang="en-US" altLang="ko-KR" spc="-15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80</a:t>
            </a:fld>
            <a:endParaRPr lang="ko-KR" altLang="en-US" sz="1800" dirty="0"/>
          </a:p>
        </p:txBody>
      </p:sp>
      <p:sp>
        <p:nvSpPr>
          <p:cNvPr id="39" name="곱셈 기호 38"/>
          <p:cNvSpPr/>
          <p:nvPr/>
        </p:nvSpPr>
        <p:spPr>
          <a:xfrm>
            <a:off x="2224597" y="-304210"/>
            <a:ext cx="9129203" cy="7238034"/>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249400282"/>
      </p:ext>
    </p:extLst>
  </p:cSld>
  <p:clrMapOvr>
    <a:masterClrMapping/>
  </p:clrMapOvr>
  <p:timing>
    <p:tnLst>
      <p:par>
        <p:cT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881716" y="765193"/>
            <a:ext cx="241873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던전 탐험</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 name="TextBox 6"/>
          <p:cNvSpPr txBox="1"/>
          <p:nvPr/>
        </p:nvSpPr>
        <p:spPr>
          <a:xfrm>
            <a:off x="203203" y="1596326"/>
            <a:ext cx="5604329" cy="4524315"/>
          </a:xfrm>
          <a:prstGeom prst="rect">
            <a:avLst/>
          </a:prstGeom>
          <a:noFill/>
        </p:spPr>
        <p:txBody>
          <a:bodyPr wrap="square" rtlCol="0">
            <a:spAutoFit/>
          </a:bodyPr>
          <a:lstStyle/>
          <a:p>
            <a:r>
              <a:rPr lang="en-US" altLang="ko-KR" sz="2400" dirty="0" smtClean="0"/>
              <a:t>• </a:t>
            </a:r>
            <a:r>
              <a:rPr lang="ko-KR" altLang="ko-KR" sz="2400" dirty="0" smtClean="0"/>
              <a:t>플레이</a:t>
            </a:r>
            <a:r>
              <a:rPr lang="ko-KR" altLang="en-US" sz="2400" dirty="0" smtClean="0"/>
              <a:t>어가 캐릭터를 선택하면 탐험이 시작됩니다</a:t>
            </a:r>
            <a:r>
              <a:rPr lang="en-US" altLang="ko-KR" sz="2400" dirty="0" smtClean="0"/>
              <a:t>.</a:t>
            </a:r>
          </a:p>
          <a:p>
            <a:r>
              <a:rPr lang="en-US" altLang="ko-KR" sz="2400" dirty="0"/>
              <a:t/>
            </a:r>
            <a:br>
              <a:rPr lang="en-US" altLang="ko-KR" sz="2400" dirty="0"/>
            </a:br>
            <a:r>
              <a:rPr lang="en-US" altLang="ko-KR" sz="2400" dirty="0"/>
              <a:t>• </a:t>
            </a:r>
            <a:r>
              <a:rPr lang="ko-KR" altLang="en-US" sz="2400" dirty="0" smtClean="0"/>
              <a:t>던전은 입구부터 </a:t>
            </a:r>
            <a:r>
              <a:rPr lang="ko-KR" altLang="en-US" sz="2400" dirty="0" err="1" smtClean="0"/>
              <a:t>최심부까지</a:t>
            </a:r>
            <a:r>
              <a:rPr lang="ko-KR" altLang="en-US" sz="2400" dirty="0" smtClean="0"/>
              <a:t> 이어져있으며</a:t>
            </a:r>
            <a:r>
              <a:rPr lang="en-US" altLang="ko-KR" sz="2400" dirty="0" smtClean="0"/>
              <a:t>, </a:t>
            </a:r>
            <a:r>
              <a:rPr lang="ko-KR" altLang="en-US" sz="2400" dirty="0" smtClean="0"/>
              <a:t>한 번에 하나의 방을 탐험할 수 있습니다</a:t>
            </a:r>
            <a:r>
              <a:rPr lang="en-US" altLang="ko-KR" sz="2400" dirty="0" smtClean="0"/>
              <a:t>.</a:t>
            </a:r>
          </a:p>
          <a:p>
            <a:endParaRPr lang="en-US" altLang="ko-KR" sz="2400" dirty="0" smtClean="0"/>
          </a:p>
          <a:p>
            <a:r>
              <a:rPr lang="en-US" altLang="ko-KR" sz="2400" dirty="0"/>
              <a:t>• </a:t>
            </a:r>
            <a:r>
              <a:rPr lang="ko-KR" altLang="en-US" sz="2400" dirty="0"/>
              <a:t>한번 클리어한 방을 다시 클리어할 수는 </a:t>
            </a:r>
            <a:r>
              <a:rPr lang="ko-KR" altLang="en-US" sz="2400" dirty="0" smtClean="0"/>
              <a:t>없습니다</a:t>
            </a:r>
            <a:r>
              <a:rPr lang="en-US" altLang="ko-KR" sz="2400" dirty="0" smtClean="0"/>
              <a:t>.</a:t>
            </a:r>
            <a:endParaRPr lang="en-US" altLang="ko-KR" sz="2400" dirty="0"/>
          </a:p>
          <a:p>
            <a:r>
              <a:rPr lang="en-US" altLang="ko-KR" sz="2400" dirty="0"/>
              <a:t/>
            </a:r>
            <a:br>
              <a:rPr lang="en-US" altLang="ko-KR" sz="2400" dirty="0"/>
            </a:br>
            <a:r>
              <a:rPr lang="en-US" altLang="ko-KR" sz="2400" dirty="0"/>
              <a:t>•</a:t>
            </a:r>
            <a:r>
              <a:rPr lang="en-US" altLang="ko-KR" sz="2400" dirty="0" smtClean="0"/>
              <a:t> </a:t>
            </a:r>
            <a:r>
              <a:rPr lang="ko-KR" altLang="en-US" sz="2400" dirty="0" smtClean="0"/>
              <a:t>던전의 </a:t>
            </a:r>
            <a:r>
              <a:rPr lang="ko-KR" altLang="en-US" sz="2400" dirty="0" err="1" smtClean="0"/>
              <a:t>최심부를</a:t>
            </a:r>
            <a:r>
              <a:rPr lang="ko-KR" altLang="en-US" sz="2400" dirty="0" smtClean="0"/>
              <a:t> 클리어하는 것이 목표입니다</a:t>
            </a:r>
            <a:r>
              <a:rPr lang="en-US" altLang="ko-KR" sz="2400" dirty="0" smtClean="0"/>
              <a:t>.</a:t>
            </a: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81</a:t>
            </a:fld>
            <a:endParaRPr lang="ko-KR" altLang="en-US" sz="1800" dirty="0"/>
          </a:p>
        </p:txBody>
      </p:sp>
      <p:pic>
        <p:nvPicPr>
          <p:cNvPr id="3" name="그림 2"/>
          <p:cNvPicPr>
            <a:picLocks noChangeAspect="1"/>
          </p:cNvPicPr>
          <p:nvPr/>
        </p:nvPicPr>
        <p:blipFill>
          <a:blip r:embed="rId2"/>
          <a:stretch>
            <a:fillRect/>
          </a:stretch>
        </p:blipFill>
        <p:spPr>
          <a:xfrm>
            <a:off x="6095999" y="1849971"/>
            <a:ext cx="5836845" cy="3278361"/>
          </a:xfrm>
          <a:prstGeom prst="rect">
            <a:avLst/>
          </a:prstGeom>
        </p:spPr>
      </p:pic>
      <p:sp>
        <p:nvSpPr>
          <p:cNvPr id="9" name="TextBox 8"/>
          <p:cNvSpPr txBox="1"/>
          <p:nvPr/>
        </p:nvSpPr>
        <p:spPr>
          <a:xfrm>
            <a:off x="8075717" y="5128332"/>
            <a:ext cx="1877407"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6</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
        <p:nvSpPr>
          <p:cNvPr id="12" name="곱셈 기호 11"/>
          <p:cNvSpPr/>
          <p:nvPr/>
        </p:nvSpPr>
        <p:spPr>
          <a:xfrm>
            <a:off x="2224597" y="-304210"/>
            <a:ext cx="9129203" cy="7238034"/>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81337042"/>
      </p:ext>
    </p:extLst>
  </p:cSld>
  <p:clrMapOvr>
    <a:masterClrMapping/>
  </p:clrMapOvr>
  <p:timing>
    <p:tnLst>
      <p:par>
        <p:cTn id="1" dur="indefinite" restart="never" nodeType="tmRoot"/>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 name="TextBox 6"/>
          <p:cNvSpPr txBox="1"/>
          <p:nvPr/>
        </p:nvSpPr>
        <p:spPr>
          <a:xfrm>
            <a:off x="254909" y="1340223"/>
            <a:ext cx="5039181" cy="2677656"/>
          </a:xfrm>
          <a:prstGeom prst="rect">
            <a:avLst/>
          </a:prstGeom>
          <a:noFill/>
        </p:spPr>
        <p:txBody>
          <a:bodyPr wrap="square" rtlCol="0">
            <a:spAutoFit/>
          </a:bodyPr>
          <a:lstStyle/>
          <a:p>
            <a:r>
              <a:rPr lang="en-US" altLang="ko-KR" sz="2400" dirty="0"/>
              <a:t>• </a:t>
            </a:r>
            <a:r>
              <a:rPr lang="ko-KR" altLang="en-US" sz="2400" dirty="0" smtClean="0"/>
              <a:t>아군 캐릭터와 적 몬스터의 최대 </a:t>
            </a:r>
            <a:r>
              <a:rPr lang="en-US" altLang="ko-KR" sz="2400" dirty="0" smtClean="0"/>
              <a:t>4:4 </a:t>
            </a:r>
            <a:r>
              <a:rPr lang="ko-KR" altLang="en-US" sz="2400" dirty="0" smtClean="0"/>
              <a:t>전투로 진행됩니다</a:t>
            </a:r>
            <a:r>
              <a:rPr lang="en-US" altLang="ko-KR" sz="2400" dirty="0" smtClean="0"/>
              <a:t>.</a:t>
            </a:r>
          </a:p>
          <a:p>
            <a:r>
              <a:rPr lang="en-US" altLang="ko-KR" sz="2400" dirty="0" smtClean="0"/>
              <a:t/>
            </a:r>
            <a:br>
              <a:rPr lang="en-US" altLang="ko-KR" sz="2400" dirty="0" smtClean="0"/>
            </a:br>
            <a:r>
              <a:rPr lang="en-US" altLang="ko-KR" sz="2400" dirty="0"/>
              <a:t>• </a:t>
            </a:r>
            <a:r>
              <a:rPr lang="ko-KR" altLang="en-US" sz="2400" dirty="0" smtClean="0"/>
              <a:t>아군부터</a:t>
            </a:r>
            <a:r>
              <a:rPr lang="en-US" altLang="ko-KR" sz="2400" dirty="0" smtClean="0"/>
              <a:t>, </a:t>
            </a:r>
            <a:r>
              <a:rPr lang="ko-KR" altLang="en-US" sz="2400" dirty="0" smtClean="0"/>
              <a:t>가장 왼쪽 캐릭터부터  시작하여</a:t>
            </a:r>
            <a:r>
              <a:rPr lang="en-US" altLang="ko-KR" sz="2400" dirty="0" smtClean="0"/>
              <a:t>, </a:t>
            </a:r>
            <a:r>
              <a:rPr lang="ko-KR" altLang="en-US" sz="2400" dirty="0" smtClean="0"/>
              <a:t>차례대로 한 진영의 모든 캐릭터가 행동을 마치면 차례가 넘어갑니다</a:t>
            </a:r>
            <a:r>
              <a:rPr lang="en-US" altLang="ko-KR" sz="2400" dirty="0" smtClean="0"/>
              <a:t>.</a:t>
            </a:r>
            <a:endParaRPr lang="en-US" altLang="ko-KR" sz="2400"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82</a:t>
            </a:fld>
            <a:endParaRPr lang="ko-KR" altLang="en-US" sz="1800" dirty="0"/>
          </a:p>
        </p:txBody>
      </p:sp>
      <p:pic>
        <p:nvPicPr>
          <p:cNvPr id="1026" name="Picture 2" descr="https://steamcdn-a.akamaihd.net/steam/apps/503560/ss_ec620eea4998f7ad180bf5b762ea606830c1af2f.600x338.jpg?t=153184117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5999" y="1812752"/>
            <a:ext cx="5715000" cy="3209926"/>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p:cNvSpPr txBox="1"/>
          <p:nvPr/>
        </p:nvSpPr>
        <p:spPr>
          <a:xfrm>
            <a:off x="8014795" y="5025643"/>
            <a:ext cx="1877407"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7</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
        <p:nvSpPr>
          <p:cNvPr id="11" name="TextBox 10"/>
          <p:cNvSpPr txBox="1"/>
          <p:nvPr/>
        </p:nvSpPr>
        <p:spPr>
          <a:xfrm>
            <a:off x="4881716" y="765193"/>
            <a:ext cx="2418735"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전투</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3" name="곱셈 기호 12"/>
          <p:cNvSpPr/>
          <p:nvPr/>
        </p:nvSpPr>
        <p:spPr>
          <a:xfrm>
            <a:off x="2224597" y="-304210"/>
            <a:ext cx="9129203" cy="7238034"/>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970079449"/>
      </p:ext>
    </p:extLst>
  </p:cSld>
  <p:clrMapOvr>
    <a:masterClrMapping/>
  </p:clrMapOvr>
  <p:timing>
    <p:tnLst>
      <p:par>
        <p:cT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705350" y="794221"/>
            <a:ext cx="2781300"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육성</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 name="TextBox 6"/>
          <p:cNvSpPr txBox="1"/>
          <p:nvPr/>
        </p:nvSpPr>
        <p:spPr>
          <a:xfrm>
            <a:off x="235480" y="1559202"/>
            <a:ext cx="5642809" cy="3416320"/>
          </a:xfrm>
          <a:prstGeom prst="rect">
            <a:avLst/>
          </a:prstGeom>
          <a:noFill/>
        </p:spPr>
        <p:txBody>
          <a:bodyPr wrap="square" rtlCol="0">
            <a:spAutoFit/>
          </a:bodyPr>
          <a:lstStyle/>
          <a:p>
            <a:r>
              <a:rPr lang="en-US" altLang="ko-KR" sz="2400" dirty="0"/>
              <a:t>• </a:t>
            </a:r>
            <a:r>
              <a:rPr lang="ko-KR" altLang="en-US" sz="2400" dirty="0" smtClean="0"/>
              <a:t>아군 캐릭터들은 전투를 통해 경험치를 획득하고</a:t>
            </a:r>
            <a:r>
              <a:rPr lang="en-US" altLang="ko-KR" sz="2400" dirty="0" smtClean="0"/>
              <a:t>, </a:t>
            </a:r>
            <a:r>
              <a:rPr lang="ko-KR" altLang="en-US" sz="2400" dirty="0" smtClean="0"/>
              <a:t>일정한 경험치를 만족하면 </a:t>
            </a:r>
            <a:r>
              <a:rPr lang="ko-KR" altLang="en-US" sz="2400" dirty="0" err="1" smtClean="0"/>
              <a:t>레벨업</a:t>
            </a:r>
            <a:r>
              <a:rPr lang="ko-KR" altLang="en-US" sz="2400" dirty="0" smtClean="0"/>
              <a:t> 하여 성장합니다</a:t>
            </a:r>
            <a:r>
              <a:rPr lang="en-US" altLang="ko-KR" sz="2400" dirty="0" smtClean="0"/>
              <a:t>.</a:t>
            </a:r>
          </a:p>
          <a:p>
            <a:r>
              <a:rPr lang="en-US" altLang="ko-KR" sz="2400" dirty="0"/>
              <a:t/>
            </a:r>
            <a:br>
              <a:rPr lang="en-US" altLang="ko-KR" sz="2400" dirty="0"/>
            </a:br>
            <a:r>
              <a:rPr lang="en-US" altLang="ko-KR" sz="2400" dirty="0"/>
              <a:t>• </a:t>
            </a:r>
            <a:r>
              <a:rPr lang="ko-KR" altLang="en-US" sz="2400" dirty="0" smtClean="0"/>
              <a:t>동일한 몬스터를 재료로 사용하여 특정 몬스터를 강화할 수 있습니다</a:t>
            </a:r>
            <a:r>
              <a:rPr lang="en-US" altLang="ko-KR" sz="2400" dirty="0" smtClean="0"/>
              <a:t>.</a:t>
            </a:r>
          </a:p>
          <a:p>
            <a:endParaRPr lang="en-US" altLang="ko-KR" sz="2400" dirty="0"/>
          </a:p>
          <a:p>
            <a:r>
              <a:rPr lang="en-US" altLang="ko-KR" sz="2400" dirty="0"/>
              <a:t>• </a:t>
            </a:r>
            <a:r>
              <a:rPr lang="ko-KR" altLang="en-US" sz="2400" dirty="0" smtClean="0"/>
              <a:t>캐릭터에게 아이템을 </a:t>
            </a:r>
            <a:r>
              <a:rPr lang="ko-KR" altLang="en-US" sz="2400" dirty="0" err="1" smtClean="0"/>
              <a:t>장비시켜</a:t>
            </a:r>
            <a:r>
              <a:rPr lang="ko-KR" altLang="en-US" sz="2400" dirty="0" smtClean="0"/>
              <a:t> 능력을 향상시킬 수 있습니다</a:t>
            </a:r>
            <a:r>
              <a:rPr lang="en-US" altLang="ko-KR" sz="2400" dirty="0" smtClean="0"/>
              <a:t>.</a:t>
            </a:r>
            <a:endParaRPr lang="ko-KR" altLang="ko-KR" sz="2400"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83</a:t>
            </a:fld>
            <a:endParaRPr lang="ko-KR" altLang="en-US" sz="1800" dirty="0"/>
          </a:p>
        </p:txBody>
      </p:sp>
      <p:pic>
        <p:nvPicPr>
          <p:cNvPr id="5" name="그림 4"/>
          <p:cNvPicPr>
            <a:picLocks noChangeAspect="1"/>
          </p:cNvPicPr>
          <p:nvPr/>
        </p:nvPicPr>
        <p:blipFill>
          <a:blip r:embed="rId2"/>
          <a:stretch>
            <a:fillRect/>
          </a:stretch>
        </p:blipFill>
        <p:spPr>
          <a:xfrm>
            <a:off x="6076949" y="1844063"/>
            <a:ext cx="5715000" cy="3209925"/>
          </a:xfrm>
          <a:prstGeom prst="rect">
            <a:avLst/>
          </a:prstGeom>
        </p:spPr>
      </p:pic>
      <p:sp>
        <p:nvSpPr>
          <p:cNvPr id="12" name="TextBox 11"/>
          <p:cNvSpPr txBox="1"/>
          <p:nvPr/>
        </p:nvSpPr>
        <p:spPr>
          <a:xfrm>
            <a:off x="7995745" y="5041298"/>
            <a:ext cx="1877407"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8</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
        <p:nvSpPr>
          <p:cNvPr id="13" name="곱셈 기호 12"/>
          <p:cNvSpPr/>
          <p:nvPr/>
        </p:nvSpPr>
        <p:spPr>
          <a:xfrm>
            <a:off x="2224597" y="-304210"/>
            <a:ext cx="9129203" cy="7238034"/>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691029537"/>
      </p:ext>
    </p:extLst>
  </p:cSld>
  <p:clrMapOvr>
    <a:masterClrMapping/>
  </p:clrMapOvr>
  <p:timing>
    <p:tnLst>
      <p:par>
        <p:cTn id="1" dur="indefinite" restart="never" nodeType="tmRoot"/>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1" y="250721"/>
            <a:ext cx="3773716"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게임 플레이</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7" name="TextBox 6"/>
          <p:cNvSpPr txBox="1"/>
          <p:nvPr/>
        </p:nvSpPr>
        <p:spPr>
          <a:xfrm>
            <a:off x="241305" y="1894220"/>
            <a:ext cx="4845051" cy="3785652"/>
          </a:xfrm>
          <a:prstGeom prst="rect">
            <a:avLst/>
          </a:prstGeom>
          <a:noFill/>
        </p:spPr>
        <p:txBody>
          <a:bodyPr wrap="square" rtlCol="0">
            <a:spAutoFit/>
          </a:bodyPr>
          <a:lstStyle/>
          <a:p>
            <a:r>
              <a:rPr lang="en-US" altLang="ko-KR" sz="2400" dirty="0"/>
              <a:t>•</a:t>
            </a:r>
            <a:r>
              <a:rPr lang="en-US" altLang="ko-KR" sz="2400" dirty="0" smtClean="0"/>
              <a:t> </a:t>
            </a:r>
            <a:r>
              <a:rPr lang="ko-KR" altLang="en-US" sz="2400" dirty="0" smtClean="0"/>
              <a:t>캐릭터와 몬스터가 가진 능력과 스킬을 활용하여 다양한 전략을 사용할 수 있습니다</a:t>
            </a:r>
            <a:r>
              <a:rPr lang="en-US" altLang="ko-KR" sz="2400" dirty="0" smtClean="0"/>
              <a:t>.</a:t>
            </a:r>
          </a:p>
          <a:p>
            <a:endParaRPr lang="en-US" altLang="ko-KR" sz="2400" dirty="0"/>
          </a:p>
          <a:p>
            <a:r>
              <a:rPr lang="en-US" altLang="ko-KR" sz="2400" dirty="0"/>
              <a:t>•</a:t>
            </a:r>
            <a:r>
              <a:rPr lang="en-US" altLang="ko-KR" sz="2400" dirty="0" smtClean="0"/>
              <a:t> </a:t>
            </a:r>
            <a:r>
              <a:rPr lang="ko-KR" altLang="en-US" sz="2400" dirty="0" smtClean="0"/>
              <a:t>아이템으로 아군의 장점을 살리고 약점을 커버할 수 있습니다</a:t>
            </a:r>
            <a:r>
              <a:rPr lang="en-US" altLang="ko-KR" sz="2400" dirty="0" smtClean="0"/>
              <a:t>.</a:t>
            </a:r>
            <a:endParaRPr lang="en-US" altLang="ko-KR" sz="2400" dirty="0"/>
          </a:p>
          <a:p>
            <a:pPr marL="285750" indent="-285750">
              <a:buFontTx/>
              <a:buChar char="-"/>
            </a:pPr>
            <a:endParaRPr lang="en-US" altLang="ko-KR" sz="2400" dirty="0"/>
          </a:p>
          <a:p>
            <a:r>
              <a:rPr lang="en-US" altLang="ko-KR" sz="2400" dirty="0" smtClean="0"/>
              <a:t>• </a:t>
            </a:r>
            <a:r>
              <a:rPr lang="ko-KR" altLang="en-US" sz="2400" dirty="0" smtClean="0"/>
              <a:t>아군과 적의 상성을 파악하여 원하는 조합을 편성하고 전술을 펼칠 수 있습니다</a:t>
            </a:r>
            <a:r>
              <a:rPr lang="en-US" altLang="ko-KR" sz="2400" dirty="0" smtClean="0"/>
              <a:t>.</a:t>
            </a:r>
            <a:endParaRPr lang="ko-KR" altLang="ko-KR" sz="2400"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84</a:t>
            </a:fld>
            <a:endParaRPr lang="ko-KR" altLang="en-US" sz="1800" dirty="0"/>
          </a:p>
        </p:txBody>
      </p:sp>
      <p:pic>
        <p:nvPicPr>
          <p:cNvPr id="3" name="그림 2"/>
          <p:cNvPicPr>
            <a:picLocks noChangeAspect="1"/>
          </p:cNvPicPr>
          <p:nvPr/>
        </p:nvPicPr>
        <p:blipFill>
          <a:blip r:embed="rId2"/>
          <a:stretch>
            <a:fillRect/>
          </a:stretch>
        </p:blipFill>
        <p:spPr>
          <a:xfrm>
            <a:off x="6000750" y="1850852"/>
            <a:ext cx="5715000" cy="3209925"/>
          </a:xfrm>
          <a:prstGeom prst="rect">
            <a:avLst/>
          </a:prstGeom>
        </p:spPr>
      </p:pic>
      <p:sp>
        <p:nvSpPr>
          <p:cNvPr id="9" name="TextBox 8"/>
          <p:cNvSpPr txBox="1"/>
          <p:nvPr/>
        </p:nvSpPr>
        <p:spPr>
          <a:xfrm>
            <a:off x="7919546" y="5063743"/>
            <a:ext cx="1877407" cy="338554"/>
          </a:xfrm>
          <a:prstGeom prst="rect">
            <a:avLst/>
          </a:prstGeom>
          <a:noFill/>
        </p:spPr>
        <p:txBody>
          <a:bodyPr wrap="square" rtlCol="0">
            <a:spAutoFit/>
          </a:bodyPr>
          <a:lstStyle/>
          <a:p>
            <a:pPr algn="ctr"/>
            <a:r>
              <a:rPr lang="ko-KR" altLang="en-US"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그림   </a:t>
            </a:r>
            <a:r>
              <a:rPr lang="en-US" altLang="ko-KR"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rPr>
              <a:t>2</a:t>
            </a:r>
            <a:r>
              <a:rPr lang="en-US" altLang="ko-KR" sz="1600" spc="-300" dirty="0" smtClean="0">
                <a:gradFill>
                  <a:gsLst>
                    <a:gs pos="0">
                      <a:schemeClr val="tx1"/>
                    </a:gs>
                    <a:gs pos="100000">
                      <a:schemeClr val="tx1"/>
                    </a:gs>
                  </a:gsLst>
                  <a:lin ang="5400000" scaled="1"/>
                </a:gradFill>
                <a:latin typeface="돋움" panose="020B0600000101010101" pitchFamily="50" charset="-127"/>
                <a:ea typeface="돋움" panose="020B0600000101010101" pitchFamily="50" charset="-127"/>
              </a:rPr>
              <a:t>  -  9</a:t>
            </a:r>
            <a:endParaRPr lang="ko-KR" altLang="en-US" sz="1600" spc="-300" dirty="0">
              <a:gradFill>
                <a:gsLst>
                  <a:gs pos="0">
                    <a:schemeClr val="tx1"/>
                  </a:gs>
                  <a:gs pos="100000">
                    <a:schemeClr val="tx1"/>
                  </a:gs>
                </a:gsLst>
                <a:lin ang="5400000" scaled="1"/>
              </a:gradFill>
              <a:latin typeface="돋움" panose="020B0600000101010101" pitchFamily="50" charset="-127"/>
              <a:ea typeface="돋움" panose="020B0600000101010101" pitchFamily="50" charset="-127"/>
            </a:endParaRPr>
          </a:p>
        </p:txBody>
      </p:sp>
      <p:sp>
        <p:nvSpPr>
          <p:cNvPr id="14" name="TextBox 13"/>
          <p:cNvSpPr txBox="1"/>
          <p:nvPr/>
        </p:nvSpPr>
        <p:spPr>
          <a:xfrm>
            <a:off x="4705350" y="794221"/>
            <a:ext cx="2781300" cy="584775"/>
          </a:xfrm>
          <a:prstGeom prst="rect">
            <a:avLst/>
          </a:prstGeom>
          <a:noFill/>
        </p:spPr>
        <p:txBody>
          <a:bodyPr wrap="square" rtlCol="0">
            <a:spAutoFit/>
          </a:bodyPr>
          <a:lstStyle/>
          <a:p>
            <a:pPr algn="ct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&lt;</a:t>
            </a:r>
            <a:r>
              <a:rPr lang="ko-KR" altLang="en-US"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전략과 조합</a:t>
            </a:r>
            <a:r>
              <a:rPr lang="en-US" altLang="ko-KR" sz="3200" b="1" spc="-300"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&gt;</a:t>
            </a:r>
            <a:endParaRPr lang="ko-KR" altLang="en-US" sz="3200" b="1" spc="-300"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곱셈 기호 10"/>
          <p:cNvSpPr/>
          <p:nvPr/>
        </p:nvSpPr>
        <p:spPr>
          <a:xfrm>
            <a:off x="2224597" y="-304210"/>
            <a:ext cx="9129203" cy="7238034"/>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618114147"/>
      </p:ext>
    </p:extLst>
  </p:cSld>
  <p:clrMapOvr>
    <a:masterClrMapping/>
  </p:clrMapOvr>
  <p:timing>
    <p:tnLst>
      <p:par>
        <p:cTn id="1" dur="indefinite" restart="never" nodeType="tmRoot"/>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0" y="250721"/>
            <a:ext cx="55154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기획서 제작 계획</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3990973" y="771996"/>
            <a:ext cx="4210049" cy="584775"/>
          </a:xfrm>
          <a:prstGeom prst="rect">
            <a:avLst/>
          </a:prstGeom>
          <a:noFill/>
        </p:spPr>
        <p:txBody>
          <a:bodyPr wrap="square" rtlCol="0">
            <a:spAutoFit/>
          </a:bodyPr>
          <a:lstStyle/>
          <a:p>
            <a:r>
              <a:rPr lang="en-US" altLang="ko-KR" sz="3200" b="1" dirty="0" smtClean="0">
                <a:gradFill>
                  <a:gsLst>
                    <a:gs pos="0">
                      <a:schemeClr val="tx1"/>
                    </a:gs>
                    <a:gs pos="100000">
                      <a:schemeClr val="tx1"/>
                    </a:gs>
                  </a:gsLst>
                  <a:lin ang="5400000" scaled="1"/>
                </a:gradFill>
                <a:latin typeface="맑은 고딕" panose="020B0503020000020004" pitchFamily="50" charset="-127"/>
              </a:rPr>
              <a:t>&lt;</a:t>
            </a:r>
            <a:r>
              <a:rPr lang="ko-KR" altLang="en-US" sz="3200" b="1" dirty="0" smtClean="0">
                <a:gradFill>
                  <a:gsLst>
                    <a:gs pos="0">
                      <a:schemeClr val="tx1"/>
                    </a:gs>
                    <a:gs pos="100000">
                      <a:schemeClr val="tx1"/>
                    </a:gs>
                  </a:gsLst>
                  <a:lin ang="5400000" scaled="1"/>
                </a:gradFill>
                <a:latin typeface="맑은 고딕" panose="020B0503020000020004" pitchFamily="50" charset="-127"/>
              </a:rPr>
              <a:t>세부 </a:t>
            </a:r>
            <a:r>
              <a:rPr lang="ko-KR" altLang="en-US" sz="3200" b="1" dirty="0">
                <a:gradFill>
                  <a:gsLst>
                    <a:gs pos="0">
                      <a:schemeClr val="tx1"/>
                    </a:gs>
                    <a:gs pos="100000">
                      <a:schemeClr val="tx1"/>
                    </a:gs>
                  </a:gsLst>
                  <a:lin ang="5400000" scaled="1"/>
                </a:gradFill>
                <a:latin typeface="맑은 고딕" panose="020B0503020000020004" pitchFamily="50" charset="-127"/>
              </a:rPr>
              <a:t>기획 </a:t>
            </a:r>
            <a:r>
              <a:rPr lang="ko-KR" altLang="en-US" sz="3200" b="1" dirty="0" smtClean="0">
                <a:gradFill>
                  <a:gsLst>
                    <a:gs pos="0">
                      <a:schemeClr val="tx1"/>
                    </a:gs>
                    <a:gs pos="100000">
                      <a:schemeClr val="tx1"/>
                    </a:gs>
                  </a:gsLst>
                  <a:lin ang="5400000" scaled="1"/>
                </a:gradFill>
                <a:latin typeface="맑은 고딕" panose="020B0503020000020004" pitchFamily="50" charset="-127"/>
              </a:rPr>
              <a:t>컨텐츠</a:t>
            </a:r>
            <a:r>
              <a:rPr lang="en-US" altLang="ko-KR" sz="3200" b="1" dirty="0" smtClean="0">
                <a:gradFill>
                  <a:gsLst>
                    <a:gs pos="0">
                      <a:schemeClr val="tx1"/>
                    </a:gs>
                    <a:gs pos="100000">
                      <a:schemeClr val="tx1"/>
                    </a:gs>
                  </a:gsLst>
                  <a:lin ang="5400000" scaled="1"/>
                </a:gradFill>
                <a:latin typeface="맑은 고딕" panose="020B0503020000020004" pitchFamily="50" charset="-127"/>
              </a:rPr>
              <a:t>&gt;</a:t>
            </a:r>
            <a:endParaRPr lang="ko-KR" altLang="en-US" sz="3200" b="1" dirty="0">
              <a:gradFill>
                <a:gsLst>
                  <a:gs pos="0">
                    <a:schemeClr val="tx1"/>
                  </a:gs>
                  <a:gs pos="100000">
                    <a:schemeClr val="tx1"/>
                  </a:gs>
                </a:gsLst>
                <a:lin ang="5400000" scaled="1"/>
              </a:gradFill>
              <a:latin typeface="맑은 고딕" panose="020B0503020000020004" pitchFamily="50" charset="-127"/>
            </a:endParaRPr>
          </a:p>
        </p:txBody>
      </p:sp>
      <p:sp>
        <p:nvSpPr>
          <p:cNvPr id="7" name="TextBox 6"/>
          <p:cNvSpPr txBox="1"/>
          <p:nvPr/>
        </p:nvSpPr>
        <p:spPr>
          <a:xfrm>
            <a:off x="661304" y="1392603"/>
            <a:ext cx="10869388" cy="4539704"/>
          </a:xfrm>
          <a:prstGeom prst="rect">
            <a:avLst/>
          </a:prstGeom>
          <a:noFill/>
        </p:spPr>
        <p:txBody>
          <a:bodyPr wrap="square" rtlCol="0">
            <a:spAutoFit/>
          </a:bodyPr>
          <a:lstStyle/>
          <a:p>
            <a:r>
              <a:rPr lang="ko-KR" altLang="en-US" sz="2000" u="sng" dirty="0" smtClean="0"/>
              <a:t>전투 시스템</a:t>
            </a:r>
            <a:r>
              <a:rPr lang="en-US" altLang="ko-KR" sz="2000" u="sng" dirty="0" smtClean="0"/>
              <a:t>, </a:t>
            </a:r>
            <a:r>
              <a:rPr lang="ko-KR" altLang="en-US" sz="2000" u="sng" dirty="0" smtClean="0"/>
              <a:t>육성 시스템</a:t>
            </a:r>
            <a:r>
              <a:rPr lang="ko-KR" altLang="ko-KR" sz="2000" u="sng" dirty="0" smtClean="0"/>
              <a:t>을 </a:t>
            </a:r>
            <a:r>
              <a:rPr lang="ko-KR" altLang="ko-KR" sz="2000" u="sng" dirty="0"/>
              <a:t>세부 기획 컨텐츠로 설정한다</a:t>
            </a:r>
            <a:r>
              <a:rPr lang="en-US" altLang="ko-KR" sz="2000" u="sng" dirty="0" smtClean="0"/>
              <a:t>.</a:t>
            </a:r>
            <a:br>
              <a:rPr lang="en-US" altLang="ko-KR" sz="2000" u="sng" dirty="0" smtClean="0"/>
            </a:br>
            <a:r>
              <a:rPr lang="en-US" altLang="ko-KR" sz="1100" u="sng" dirty="0" smtClean="0"/>
              <a:t/>
            </a:r>
            <a:br>
              <a:rPr lang="en-US" altLang="ko-KR" sz="1100" u="sng" dirty="0" smtClean="0"/>
            </a:br>
            <a:r>
              <a:rPr lang="ko-KR" altLang="en-US" sz="2000" u="sng" dirty="0" smtClean="0"/>
              <a:t>상성과 능력에 관한 구체적인 시스템과 밸런스에</a:t>
            </a:r>
            <a:r>
              <a:rPr lang="ko-KR" altLang="ko-KR" sz="2000" u="sng" dirty="0" smtClean="0"/>
              <a:t> </a:t>
            </a:r>
            <a:r>
              <a:rPr lang="ko-KR" altLang="ko-KR" sz="2000" u="sng" dirty="0"/>
              <a:t>초점을 두어 기획한다</a:t>
            </a:r>
            <a:r>
              <a:rPr lang="en-US" altLang="ko-KR" sz="2000" dirty="0" smtClean="0"/>
              <a:t>.</a:t>
            </a:r>
            <a:r>
              <a:rPr lang="en-US" altLang="ko-KR" dirty="0" smtClean="0"/>
              <a:t/>
            </a:r>
            <a:br>
              <a:rPr lang="en-US" altLang="ko-KR" dirty="0" smtClean="0"/>
            </a:br>
            <a:r>
              <a:rPr lang="en-US" altLang="ko-KR" dirty="0" smtClean="0"/>
              <a:t/>
            </a:r>
            <a:br>
              <a:rPr lang="en-US" altLang="ko-KR" dirty="0" smtClean="0"/>
            </a:br>
            <a:r>
              <a:rPr lang="en-US" altLang="ko-KR" sz="2000" dirty="0" smtClean="0"/>
              <a:t>• </a:t>
            </a:r>
            <a:r>
              <a:rPr lang="ko-KR" altLang="en-US" sz="2000" dirty="0" smtClean="0"/>
              <a:t>캐릭터와 </a:t>
            </a:r>
            <a:r>
              <a:rPr lang="ko-KR" altLang="en-US" sz="2000" dirty="0" err="1" smtClean="0"/>
              <a:t>몬스터</a:t>
            </a:r>
            <a:r>
              <a:rPr lang="ko-KR" altLang="en-US" sz="2000" dirty="0" smtClean="0"/>
              <a:t> 각각의 </a:t>
            </a:r>
            <a:r>
              <a:rPr lang="ko-KR" altLang="en-US" sz="2000" dirty="0" err="1" smtClean="0"/>
              <a:t>컨셉에</a:t>
            </a:r>
            <a:r>
              <a:rPr lang="ko-KR" altLang="en-US" sz="2000" dirty="0" smtClean="0"/>
              <a:t> 맞는 전투 방식과 능력 기획</a:t>
            </a:r>
            <a:endParaRPr lang="en-US" altLang="ko-KR" sz="2000" dirty="0" smtClean="0"/>
          </a:p>
          <a:p>
            <a:r>
              <a:rPr lang="en-US" altLang="ko-KR" sz="2000" dirty="0" smtClean="0"/>
              <a:t/>
            </a:r>
            <a:br>
              <a:rPr lang="en-US" altLang="ko-KR" sz="2000" dirty="0" smtClean="0"/>
            </a:br>
            <a:r>
              <a:rPr lang="en-US" altLang="ko-KR" sz="2000" dirty="0" smtClean="0"/>
              <a:t>• </a:t>
            </a:r>
            <a:r>
              <a:rPr lang="ko-KR" altLang="en-US" sz="2000" dirty="0" smtClean="0"/>
              <a:t>수치와 상성을 기반으로 공식을 설정하여 실질적인 전투 시스템 기획</a:t>
            </a:r>
            <a:endParaRPr lang="en-US" altLang="ko-KR" sz="2000" dirty="0" smtClean="0"/>
          </a:p>
          <a:p>
            <a:r>
              <a:rPr lang="en-US" altLang="ko-KR" sz="2000" dirty="0" smtClean="0"/>
              <a:t/>
            </a:r>
            <a:br>
              <a:rPr lang="en-US" altLang="ko-KR" sz="2000" dirty="0" smtClean="0"/>
            </a:br>
            <a:r>
              <a:rPr lang="en-US" altLang="ko-KR" sz="2000" dirty="0" smtClean="0"/>
              <a:t>• </a:t>
            </a:r>
            <a:r>
              <a:rPr lang="ko-KR" altLang="en-US" sz="2000" dirty="0" smtClean="0"/>
              <a:t>아이템과 </a:t>
            </a:r>
            <a:r>
              <a:rPr lang="ko-KR" altLang="en-US" sz="2000" dirty="0" err="1" smtClean="0"/>
              <a:t>레벨업을</a:t>
            </a:r>
            <a:r>
              <a:rPr lang="ko-KR" altLang="en-US" sz="2000" dirty="0" smtClean="0"/>
              <a:t> 고려한 </a:t>
            </a:r>
            <a:r>
              <a:rPr lang="ko-KR" altLang="en-US" sz="2000" dirty="0" err="1" smtClean="0"/>
              <a:t>스테이터스</a:t>
            </a:r>
            <a:r>
              <a:rPr lang="ko-KR" altLang="en-US" sz="2000" dirty="0" smtClean="0"/>
              <a:t> 밸런스 설정과 조정</a:t>
            </a:r>
            <a:r>
              <a:rPr lang="en-US" altLang="ko-KR" sz="2000" dirty="0" smtClean="0"/>
              <a:t/>
            </a:r>
            <a:br>
              <a:rPr lang="en-US" altLang="ko-KR" sz="2000" dirty="0" smtClean="0"/>
            </a:br>
            <a:r>
              <a:rPr lang="en-US" altLang="ko-KR" sz="2000" dirty="0" smtClean="0"/>
              <a:t/>
            </a:r>
            <a:br>
              <a:rPr lang="en-US" altLang="ko-KR" sz="2000" dirty="0" smtClean="0"/>
            </a:br>
            <a:r>
              <a:rPr lang="en-US" altLang="ko-KR" sz="2000" dirty="0" smtClean="0"/>
              <a:t>• </a:t>
            </a:r>
            <a:r>
              <a:rPr lang="ko-KR" altLang="en-US" sz="2000" dirty="0" err="1" smtClean="0"/>
              <a:t>던전</a:t>
            </a:r>
            <a:r>
              <a:rPr lang="ko-KR" altLang="en-US" sz="2000" dirty="0" smtClean="0"/>
              <a:t> 내 세부 </a:t>
            </a:r>
            <a:r>
              <a:rPr lang="ko-KR" altLang="en-US" sz="2000" dirty="0" err="1" smtClean="0"/>
              <a:t>에어리어들</a:t>
            </a:r>
            <a:r>
              <a:rPr lang="ko-KR" altLang="en-US" sz="2000" dirty="0" smtClean="0"/>
              <a:t> 및 전투</a:t>
            </a:r>
            <a:r>
              <a:rPr lang="en-US" altLang="ko-KR" sz="2000" dirty="0" smtClean="0"/>
              <a:t>(</a:t>
            </a:r>
            <a:r>
              <a:rPr lang="ko-KR" altLang="en-US" sz="2000" dirty="0" err="1" smtClean="0"/>
              <a:t>던전</a:t>
            </a:r>
            <a:r>
              <a:rPr lang="en-US" altLang="ko-KR" sz="2000" dirty="0" smtClean="0"/>
              <a:t>)</a:t>
            </a:r>
            <a:r>
              <a:rPr lang="ko-KR" altLang="en-US" sz="2000" dirty="0" smtClean="0"/>
              <a:t> 레벨 디자인 기획</a:t>
            </a:r>
            <a:r>
              <a:rPr lang="en-US" altLang="ko-KR" sz="2000" dirty="0" smtClean="0"/>
              <a:t/>
            </a:r>
            <a:br>
              <a:rPr lang="en-US" altLang="ko-KR" sz="2000" dirty="0" smtClean="0"/>
            </a:br>
            <a:r>
              <a:rPr lang="en-US" altLang="ko-KR" sz="2000" dirty="0" smtClean="0"/>
              <a:t/>
            </a:r>
            <a:br>
              <a:rPr lang="en-US" altLang="ko-KR" sz="2000" dirty="0" smtClean="0"/>
            </a:br>
            <a:r>
              <a:rPr lang="en-US" altLang="ko-KR" sz="2000" dirty="0"/>
              <a:t>• </a:t>
            </a:r>
            <a:r>
              <a:rPr lang="en-US" altLang="ko-KR" sz="2000" dirty="0" smtClean="0"/>
              <a:t/>
            </a:r>
            <a:br>
              <a:rPr lang="en-US" altLang="ko-KR" sz="2000" dirty="0" smtClean="0"/>
            </a:br>
            <a:r>
              <a:rPr lang="en-US" altLang="ko-KR" sz="2000" dirty="0" smtClean="0"/>
              <a:t/>
            </a:r>
            <a:br>
              <a:rPr lang="en-US" altLang="ko-KR" sz="2000" dirty="0" smtClean="0"/>
            </a:br>
            <a:r>
              <a:rPr lang="en-US" altLang="ko-KR" sz="2000" dirty="0" smtClean="0"/>
              <a:t>•</a:t>
            </a:r>
            <a:endParaRPr lang="ko-KR" altLang="ko-KR" sz="2000"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85</a:t>
            </a:fld>
            <a:endParaRPr lang="ko-KR" altLang="en-US" sz="1800" dirty="0"/>
          </a:p>
        </p:txBody>
      </p:sp>
      <p:sp>
        <p:nvSpPr>
          <p:cNvPr id="8" name="곱셈 기호 7"/>
          <p:cNvSpPr/>
          <p:nvPr/>
        </p:nvSpPr>
        <p:spPr>
          <a:xfrm>
            <a:off x="2224597" y="-304210"/>
            <a:ext cx="9129203" cy="7238034"/>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653743636"/>
      </p:ext>
    </p:extLst>
  </p:cSld>
  <p:clrMapOvr>
    <a:masterClrMapping/>
  </p:clrMapOvr>
  <p:timing>
    <p:tnLst>
      <p:par>
        <p:cTn id="1" dur="indefinite" restart="never" nodeType="tmRoot"/>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0" y="250721"/>
            <a:ext cx="55154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기획서 제작 계획</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5089296" y="797899"/>
            <a:ext cx="2127705" cy="584775"/>
          </a:xfrm>
          <a:prstGeom prst="rect">
            <a:avLst/>
          </a:prstGeom>
          <a:noFill/>
        </p:spPr>
        <p:txBody>
          <a:bodyPr wrap="square" rtlCol="0">
            <a:spAutoFit/>
          </a:bodyPr>
          <a:lstStyle/>
          <a:p>
            <a:r>
              <a:rPr lang="en-US" altLang="ko-KR" sz="3200" b="1" dirty="0" smtClean="0">
                <a:gradFill>
                  <a:gsLst>
                    <a:gs pos="0">
                      <a:schemeClr val="tx1"/>
                    </a:gs>
                    <a:gs pos="100000">
                      <a:schemeClr val="tx1"/>
                    </a:gs>
                  </a:gsLst>
                  <a:lin ang="5400000" scaled="1"/>
                </a:gradFill>
                <a:latin typeface="맑은 고딕" panose="020B0503020000020004" pitchFamily="50" charset="-127"/>
              </a:rPr>
              <a:t>&lt;</a:t>
            </a:r>
            <a:r>
              <a:rPr lang="ko-KR" altLang="en-US" sz="3200" b="1" dirty="0" smtClean="0">
                <a:gradFill>
                  <a:gsLst>
                    <a:gs pos="0">
                      <a:schemeClr val="tx1"/>
                    </a:gs>
                    <a:gs pos="100000">
                      <a:schemeClr val="tx1"/>
                    </a:gs>
                  </a:gsLst>
                  <a:lin ang="5400000" scaled="1"/>
                </a:gradFill>
                <a:latin typeface="맑은 고딕" panose="020B0503020000020004" pitchFamily="50" charset="-127"/>
              </a:rPr>
              <a:t>보완점</a:t>
            </a:r>
            <a:r>
              <a:rPr lang="en-US" altLang="ko-KR" sz="3200" b="1" dirty="0" smtClean="0">
                <a:gradFill>
                  <a:gsLst>
                    <a:gs pos="0">
                      <a:schemeClr val="tx1"/>
                    </a:gs>
                    <a:gs pos="100000">
                      <a:schemeClr val="tx1"/>
                    </a:gs>
                  </a:gsLst>
                  <a:lin ang="5400000" scaled="1"/>
                </a:gradFill>
                <a:latin typeface="맑은 고딕" panose="020B0503020000020004" pitchFamily="50" charset="-127"/>
              </a:rPr>
              <a:t>&gt;</a:t>
            </a:r>
            <a:endParaRPr lang="ko-KR" altLang="en-US" sz="3200" b="1" dirty="0">
              <a:gradFill>
                <a:gsLst>
                  <a:gs pos="0">
                    <a:schemeClr val="tx1"/>
                  </a:gs>
                  <a:gs pos="100000">
                    <a:schemeClr val="tx1"/>
                  </a:gs>
                </a:gsLst>
                <a:lin ang="5400000" scaled="1"/>
              </a:gradFill>
              <a:latin typeface="맑은 고딕" panose="020B0503020000020004" pitchFamily="50" charset="-127"/>
            </a:endParaRPr>
          </a:p>
        </p:txBody>
      </p:sp>
      <p:sp>
        <p:nvSpPr>
          <p:cNvPr id="7" name="TextBox 6"/>
          <p:cNvSpPr txBox="1"/>
          <p:nvPr/>
        </p:nvSpPr>
        <p:spPr>
          <a:xfrm>
            <a:off x="661305" y="1539074"/>
            <a:ext cx="10869388" cy="4462760"/>
          </a:xfrm>
          <a:prstGeom prst="rect">
            <a:avLst/>
          </a:prstGeom>
          <a:noFill/>
        </p:spPr>
        <p:txBody>
          <a:bodyPr wrap="square" rtlCol="0">
            <a:spAutoFit/>
          </a:bodyPr>
          <a:lstStyle/>
          <a:p>
            <a:r>
              <a:rPr lang="en-US" altLang="ko-KR" sz="2000" dirty="0"/>
              <a:t>• </a:t>
            </a:r>
            <a:r>
              <a:rPr lang="ko-KR" altLang="ko-KR" sz="2000" dirty="0" smtClean="0"/>
              <a:t>구체적인 </a:t>
            </a:r>
            <a:r>
              <a:rPr lang="ko-KR" altLang="en-US" sz="2000" dirty="0" smtClean="0"/>
              <a:t>그래픽 </a:t>
            </a:r>
            <a:r>
              <a:rPr lang="ko-KR" altLang="en-US" sz="2000" dirty="0" err="1" smtClean="0"/>
              <a:t>컨셉과</a:t>
            </a:r>
            <a:r>
              <a:rPr lang="ko-KR" altLang="en-US" sz="2000" dirty="0" smtClean="0"/>
              <a:t> </a:t>
            </a:r>
            <a:r>
              <a:rPr lang="ko-KR" altLang="ko-KR" sz="2000" dirty="0" smtClean="0"/>
              <a:t>레벨 디자인</a:t>
            </a:r>
            <a:r>
              <a:rPr lang="en-US" altLang="ko-KR" sz="2000" dirty="0"/>
              <a:t>,</a:t>
            </a:r>
            <a:r>
              <a:rPr lang="ko-KR" altLang="en-US" sz="2000" dirty="0" smtClean="0"/>
              <a:t> </a:t>
            </a:r>
            <a:r>
              <a:rPr lang="en-US" altLang="ko-KR" sz="2000" dirty="0" smtClean="0"/>
              <a:t>UI</a:t>
            </a:r>
            <a:r>
              <a:rPr lang="ko-KR" altLang="ko-KR" sz="2000" dirty="0" smtClean="0"/>
              <a:t>에 </a:t>
            </a:r>
            <a:r>
              <a:rPr lang="ko-KR" altLang="ko-KR" sz="2000" dirty="0"/>
              <a:t>대한 </a:t>
            </a:r>
            <a:r>
              <a:rPr lang="ko-KR" altLang="ko-KR" sz="2000" dirty="0" smtClean="0"/>
              <a:t>기획</a:t>
            </a:r>
            <a:r>
              <a:rPr lang="ko-KR" altLang="en-US" sz="2000" dirty="0" smtClean="0"/>
              <a:t>의 빈약함</a:t>
            </a:r>
            <a:endParaRPr lang="en-US" altLang="ko-KR" sz="2000" dirty="0" smtClean="0"/>
          </a:p>
          <a:p>
            <a:r>
              <a:rPr lang="en-US" altLang="ko-KR" sz="2000" dirty="0" smtClean="0"/>
              <a:t> └&gt; </a:t>
            </a:r>
            <a:r>
              <a:rPr lang="ko-KR" altLang="en-US" sz="2000" dirty="0" smtClean="0"/>
              <a:t>레벨 디자인과 </a:t>
            </a:r>
            <a:r>
              <a:rPr lang="en-US" altLang="ko-KR" sz="2000" dirty="0" smtClean="0"/>
              <a:t>UI</a:t>
            </a:r>
            <a:r>
              <a:rPr lang="ko-KR" altLang="en-US" sz="2000" dirty="0" smtClean="0"/>
              <a:t>에 대한 기획을 통해 그래픽 </a:t>
            </a:r>
            <a:r>
              <a:rPr lang="ko-KR" altLang="en-US" sz="2000" dirty="0" err="1" smtClean="0"/>
              <a:t>컨셉을</a:t>
            </a:r>
            <a:r>
              <a:rPr lang="ko-KR" altLang="en-US" sz="2000" dirty="0" smtClean="0"/>
              <a:t> 밝히고 </a:t>
            </a:r>
            <a:r>
              <a:rPr lang="ko-KR" altLang="en-US" sz="2000" dirty="0" err="1" smtClean="0"/>
              <a:t>직관성을</a:t>
            </a:r>
            <a:r>
              <a:rPr lang="ko-KR" altLang="en-US" sz="2000" dirty="0" smtClean="0"/>
              <a:t> 높여야 한다</a:t>
            </a:r>
            <a:r>
              <a:rPr lang="en-US" altLang="ko-KR" sz="2000" dirty="0" smtClean="0"/>
              <a:t>.</a:t>
            </a:r>
            <a:br>
              <a:rPr lang="en-US" altLang="ko-KR" sz="2000" dirty="0" smtClean="0"/>
            </a:br>
            <a:r>
              <a:rPr lang="en-US" altLang="ko-KR" sz="2000" dirty="0" smtClean="0"/>
              <a:t/>
            </a:r>
            <a:br>
              <a:rPr lang="en-US" altLang="ko-KR" sz="2000" dirty="0" smtClean="0"/>
            </a:br>
            <a:r>
              <a:rPr lang="en-US" altLang="ko-KR" sz="2000" dirty="0"/>
              <a:t>• </a:t>
            </a:r>
            <a:r>
              <a:rPr lang="ko-KR" altLang="ko-KR" sz="2000" dirty="0" smtClean="0"/>
              <a:t>수사 </a:t>
            </a:r>
            <a:r>
              <a:rPr lang="ko-KR" altLang="ko-KR" sz="2000" dirty="0"/>
              <a:t>과정을 표현한 것이 단순한 스킬 체크 방식이었던 </a:t>
            </a:r>
            <a:r>
              <a:rPr lang="ko-KR" altLang="en-US" sz="2000" dirty="0"/>
              <a:t>점</a:t>
            </a:r>
            <a:endParaRPr lang="en-US" altLang="ko-KR" sz="2000" dirty="0" smtClean="0"/>
          </a:p>
          <a:p>
            <a:r>
              <a:rPr lang="en-US" altLang="ko-KR" sz="2000" dirty="0" smtClean="0"/>
              <a:t> └&gt; </a:t>
            </a:r>
            <a:r>
              <a:rPr lang="ko-KR" altLang="en-US" sz="2000" dirty="0" smtClean="0"/>
              <a:t>너무 어렵지 않으면서도 긴장감을 줄 수 있는 다양한 미니게임 고안이 필요하다</a:t>
            </a:r>
            <a:r>
              <a:rPr lang="en-US" altLang="ko-KR" sz="2000" dirty="0" smtClean="0"/>
              <a:t>.</a:t>
            </a:r>
            <a:br>
              <a:rPr lang="en-US" altLang="ko-KR" sz="2000" dirty="0" smtClean="0"/>
            </a:br>
            <a:r>
              <a:rPr lang="en-US" altLang="ko-KR" sz="2000" dirty="0" smtClean="0"/>
              <a:t/>
            </a:r>
            <a:br>
              <a:rPr lang="en-US" altLang="ko-KR" sz="2000" dirty="0" smtClean="0"/>
            </a:br>
            <a:r>
              <a:rPr lang="en-US" altLang="ko-KR" sz="2000" dirty="0"/>
              <a:t>• </a:t>
            </a:r>
            <a:r>
              <a:rPr lang="ko-KR" altLang="en-US" sz="2000" dirty="0" smtClean="0"/>
              <a:t>시스템 요소들의 구체적인 수치에 대한 기획이 전무</a:t>
            </a:r>
            <a:endParaRPr lang="en-US" altLang="ko-KR" sz="2000" dirty="0" smtClean="0"/>
          </a:p>
          <a:p>
            <a:r>
              <a:rPr lang="en-US" altLang="ko-KR" sz="2000" dirty="0" smtClean="0"/>
              <a:t> </a:t>
            </a:r>
            <a:r>
              <a:rPr lang="en-US" altLang="ko-KR" sz="2000" dirty="0"/>
              <a:t>└</a:t>
            </a:r>
            <a:r>
              <a:rPr lang="en-US" altLang="ko-KR" sz="2000" dirty="0" smtClean="0"/>
              <a:t>&gt; </a:t>
            </a:r>
            <a:r>
              <a:rPr lang="ko-KR" altLang="en-US" sz="2000" dirty="0" err="1" smtClean="0"/>
              <a:t>범죄율</a:t>
            </a:r>
            <a:r>
              <a:rPr lang="en-US" altLang="ko-KR" sz="2000" dirty="0" smtClean="0"/>
              <a:t>, </a:t>
            </a:r>
            <a:r>
              <a:rPr lang="ko-KR" altLang="en-US" sz="2000" dirty="0" smtClean="0"/>
              <a:t>명성</a:t>
            </a:r>
            <a:r>
              <a:rPr lang="en-US" altLang="ko-KR" sz="2000" dirty="0" smtClean="0"/>
              <a:t>, </a:t>
            </a:r>
            <a:r>
              <a:rPr lang="ko-KR" altLang="en-US" sz="2000" dirty="0" smtClean="0"/>
              <a:t>자금</a:t>
            </a:r>
            <a:r>
              <a:rPr lang="en-US" altLang="ko-KR" sz="2000" dirty="0" smtClean="0"/>
              <a:t>(</a:t>
            </a:r>
            <a:r>
              <a:rPr lang="ko-KR" altLang="en-US" sz="2000" dirty="0" smtClean="0"/>
              <a:t>가격</a:t>
            </a:r>
            <a:r>
              <a:rPr lang="en-US" altLang="ko-KR" sz="2000" dirty="0" smtClean="0"/>
              <a:t>) </a:t>
            </a:r>
            <a:r>
              <a:rPr lang="ko-KR" altLang="en-US" sz="2000" dirty="0" smtClean="0"/>
              <a:t>등에 대한 밸런스 디자인이 요구된다</a:t>
            </a:r>
            <a:r>
              <a:rPr lang="en-US" altLang="ko-KR" sz="2000" dirty="0" smtClean="0"/>
              <a:t>.</a:t>
            </a:r>
            <a:br>
              <a:rPr lang="en-US" altLang="ko-KR" sz="2000" dirty="0" smtClean="0"/>
            </a:br>
            <a:r>
              <a:rPr lang="en-US" altLang="ko-KR" sz="2000" dirty="0" smtClean="0"/>
              <a:t/>
            </a:r>
            <a:br>
              <a:rPr lang="en-US" altLang="ko-KR" sz="2000" dirty="0" smtClean="0"/>
            </a:br>
            <a:r>
              <a:rPr lang="en-US" altLang="ko-KR" sz="2000" dirty="0"/>
              <a:t>• </a:t>
            </a:r>
            <a:r>
              <a:rPr lang="ko-KR" altLang="en-US" sz="2000" dirty="0" smtClean="0"/>
              <a:t>선택 요소들과 </a:t>
            </a:r>
            <a:r>
              <a:rPr lang="ko-KR" altLang="ko-KR" sz="2000" dirty="0" smtClean="0"/>
              <a:t>이벤트 소개</a:t>
            </a:r>
            <a:r>
              <a:rPr lang="ko-KR" altLang="en-US" sz="2000" dirty="0" smtClean="0"/>
              <a:t>의 모호함</a:t>
            </a:r>
            <a:endParaRPr lang="en-US" altLang="ko-KR" sz="2000" dirty="0" smtClean="0"/>
          </a:p>
          <a:p>
            <a:r>
              <a:rPr lang="en-US" altLang="ko-KR" sz="2000" dirty="0" smtClean="0"/>
              <a:t> └</a:t>
            </a:r>
            <a:r>
              <a:rPr lang="en-US" altLang="ko-KR" sz="2000" dirty="0"/>
              <a:t>&gt; </a:t>
            </a:r>
            <a:r>
              <a:rPr lang="ko-KR" altLang="en-US" sz="2000" dirty="0" smtClean="0"/>
              <a:t>핵심 선택 요소들과 특수 이벤트들을 간추려 구체적으로 제시할 필요가 있다</a:t>
            </a:r>
            <a:r>
              <a:rPr lang="en-US" altLang="ko-KR" sz="2000" dirty="0"/>
              <a:t>.</a:t>
            </a:r>
            <a:br>
              <a:rPr lang="en-US" altLang="ko-KR" sz="2000" dirty="0"/>
            </a:br>
            <a:r>
              <a:rPr lang="en-US" altLang="ko-KR" sz="2000" dirty="0"/>
              <a:t/>
            </a:r>
            <a:br>
              <a:rPr lang="en-US" altLang="ko-KR" sz="2000" dirty="0"/>
            </a:br>
            <a:r>
              <a:rPr lang="en-US" altLang="ko-KR" sz="2000" dirty="0"/>
              <a:t>• </a:t>
            </a:r>
            <a:r>
              <a:rPr lang="ko-KR" altLang="en-US" sz="2000" dirty="0" smtClean="0"/>
              <a:t>게임 플레이에 더욱 몰입할 수 있는 요소가 부족</a:t>
            </a:r>
            <a:endParaRPr lang="en-US" altLang="ko-KR" sz="2000" dirty="0"/>
          </a:p>
          <a:p>
            <a:r>
              <a:rPr lang="en-US" altLang="ko-KR" sz="2000" dirty="0"/>
              <a:t> └&gt; </a:t>
            </a:r>
            <a:r>
              <a:rPr lang="ko-KR" altLang="en-US" sz="2000" dirty="0" smtClean="0"/>
              <a:t>도전과제처럼 게이머의 도전 정신을 불러일으킬 수 있는 </a:t>
            </a:r>
            <a:r>
              <a:rPr lang="ko-KR" altLang="en-US" sz="2000" dirty="0" err="1" smtClean="0"/>
              <a:t>컨텐츠를</a:t>
            </a:r>
            <a:r>
              <a:rPr lang="ko-KR" altLang="en-US" sz="2000" dirty="0" smtClean="0"/>
              <a:t> 추가해야 한다</a:t>
            </a:r>
            <a:r>
              <a:rPr lang="en-US" altLang="ko-KR" sz="2000" dirty="0" smtClean="0"/>
              <a:t>.</a:t>
            </a:r>
            <a:endParaRPr lang="ko-KR" altLang="ko-KR" sz="2000"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86</a:t>
            </a:fld>
            <a:endParaRPr lang="ko-KR" altLang="en-US" sz="1800" dirty="0"/>
          </a:p>
        </p:txBody>
      </p:sp>
      <p:sp>
        <p:nvSpPr>
          <p:cNvPr id="8" name="곱셈 기호 7"/>
          <p:cNvSpPr/>
          <p:nvPr/>
        </p:nvSpPr>
        <p:spPr>
          <a:xfrm>
            <a:off x="2224597" y="-304210"/>
            <a:ext cx="9129203" cy="7238034"/>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397408768"/>
      </p:ext>
    </p:extLst>
  </p:cSld>
  <p:clrMapOvr>
    <a:masterClrMapping/>
  </p:clrMapOvr>
  <p:timing>
    <p:tnLst>
      <p:par>
        <p:cTn id="1" dur="indefinite" restart="never" nodeType="tmRoot"/>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0" y="250721"/>
            <a:ext cx="55154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참고문헌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(1)</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886323" y="620053"/>
            <a:ext cx="2419351" cy="584775"/>
          </a:xfrm>
          <a:prstGeom prst="rect">
            <a:avLst/>
          </a:prstGeom>
          <a:noFill/>
        </p:spPr>
        <p:txBody>
          <a:bodyPr wrap="square" rtlCol="0">
            <a:spAutoFit/>
          </a:bodyPr>
          <a:lstStyle/>
          <a:p>
            <a:r>
              <a:rPr lang="en-US" altLang="ko-KR" sz="3200" b="1" dirty="0" smtClean="0">
                <a:gradFill>
                  <a:gsLst>
                    <a:gs pos="0">
                      <a:schemeClr val="tx1"/>
                    </a:gs>
                    <a:gs pos="100000">
                      <a:schemeClr val="tx1"/>
                    </a:gs>
                  </a:gsLst>
                  <a:lin ang="5400000" scaled="1"/>
                </a:gradFill>
                <a:latin typeface="맑은 고딕" panose="020B0503020000020004" pitchFamily="50" charset="-127"/>
              </a:rPr>
              <a:t>&lt;</a:t>
            </a:r>
            <a:r>
              <a:rPr lang="ko-KR" altLang="en-US" sz="3200" b="1" dirty="0" smtClean="0">
                <a:gradFill>
                  <a:gsLst>
                    <a:gs pos="0">
                      <a:schemeClr val="tx1"/>
                    </a:gs>
                    <a:gs pos="100000">
                      <a:schemeClr val="tx1"/>
                    </a:gs>
                  </a:gsLst>
                  <a:lin ang="5400000" scaled="1"/>
                </a:gradFill>
                <a:latin typeface="맑은 고딕" panose="020B0503020000020004" pitchFamily="50" charset="-127"/>
              </a:rPr>
              <a:t>참고문헌</a:t>
            </a:r>
            <a:r>
              <a:rPr lang="en-US" altLang="ko-KR" sz="3200" b="1" dirty="0" smtClean="0">
                <a:gradFill>
                  <a:gsLst>
                    <a:gs pos="0">
                      <a:schemeClr val="tx1"/>
                    </a:gs>
                    <a:gs pos="100000">
                      <a:schemeClr val="tx1"/>
                    </a:gs>
                  </a:gsLst>
                  <a:lin ang="5400000" scaled="1"/>
                </a:gradFill>
                <a:latin typeface="맑은 고딕" panose="020B0503020000020004" pitchFamily="50" charset="-127"/>
              </a:rPr>
              <a:t>&gt;</a:t>
            </a:r>
            <a:endParaRPr lang="ko-KR" altLang="en-US" sz="3200" b="1" dirty="0">
              <a:gradFill>
                <a:gsLst>
                  <a:gs pos="0">
                    <a:schemeClr val="tx1"/>
                  </a:gs>
                  <a:gs pos="100000">
                    <a:schemeClr val="tx1"/>
                  </a:gs>
                </a:gsLst>
                <a:lin ang="5400000" scaled="1"/>
              </a:gradFill>
              <a:latin typeface="맑은 고딕" panose="020B0503020000020004" pitchFamily="50" charset="-127"/>
            </a:endParaRPr>
          </a:p>
        </p:txBody>
      </p:sp>
      <p:sp>
        <p:nvSpPr>
          <p:cNvPr id="7" name="TextBox 6"/>
          <p:cNvSpPr txBox="1"/>
          <p:nvPr/>
        </p:nvSpPr>
        <p:spPr>
          <a:xfrm>
            <a:off x="246741" y="1109945"/>
            <a:ext cx="11698516" cy="5078313"/>
          </a:xfrm>
          <a:prstGeom prst="rect">
            <a:avLst/>
          </a:prstGeom>
          <a:noFill/>
        </p:spPr>
        <p:txBody>
          <a:bodyPr wrap="square" rtlCol="0">
            <a:spAutoFit/>
          </a:bodyPr>
          <a:lstStyle/>
          <a:p>
            <a:pPr>
              <a:lnSpc>
                <a:spcPct val="150000"/>
              </a:lnSpc>
            </a:pPr>
            <a:r>
              <a:rPr lang="en-US" altLang="ko-KR" dirty="0" smtClean="0"/>
              <a:t>1-1) </a:t>
            </a:r>
            <a:r>
              <a:rPr lang="ko-KR" altLang="en-US" dirty="0" smtClean="0"/>
              <a:t>포켓몬스터 모바일 게임 속 전투 화면</a:t>
            </a:r>
            <a:endParaRPr lang="en-US" altLang="ko-KR" dirty="0" smtClean="0"/>
          </a:p>
          <a:p>
            <a:pPr>
              <a:lnSpc>
                <a:spcPct val="150000"/>
              </a:lnSpc>
            </a:pPr>
            <a:r>
              <a:rPr lang="en-US" altLang="ko-KR" dirty="0" smtClean="0">
                <a:hlinkClick r:id="rId2"/>
              </a:rPr>
              <a:t>https</a:t>
            </a:r>
            <a:r>
              <a:rPr lang="en-US" altLang="ko-KR" dirty="0">
                <a:hlinkClick r:id="rId2"/>
              </a:rPr>
              <a:t>://</a:t>
            </a:r>
            <a:r>
              <a:rPr lang="en-US" altLang="ko-KR" dirty="0" smtClean="0">
                <a:hlinkClick r:id="rId2"/>
              </a:rPr>
              <a:t>www.clien.net/service/board/park/12754454</a:t>
            </a:r>
            <a:r>
              <a:rPr lang="en-US" altLang="ko-KR" dirty="0" smtClean="0"/>
              <a:t> (1</a:t>
            </a:r>
            <a:r>
              <a:rPr lang="ko-KR" altLang="en-US" dirty="0" smtClean="0"/>
              <a:t>번 </a:t>
            </a:r>
            <a:r>
              <a:rPr lang="ko-KR" altLang="en-US" dirty="0" err="1" smtClean="0"/>
              <a:t>스크린샷</a:t>
            </a:r>
            <a:r>
              <a:rPr lang="en-US" altLang="ko-KR" dirty="0" smtClean="0"/>
              <a:t>)</a:t>
            </a:r>
          </a:p>
          <a:p>
            <a:pPr>
              <a:lnSpc>
                <a:spcPct val="150000"/>
              </a:lnSpc>
            </a:pPr>
            <a:r>
              <a:rPr lang="en-US" altLang="ko-KR" dirty="0" smtClean="0"/>
              <a:t>1-2</a:t>
            </a:r>
            <a:r>
              <a:rPr lang="en-US" altLang="ko-KR" dirty="0"/>
              <a:t>)</a:t>
            </a:r>
            <a:r>
              <a:rPr lang="en-US" altLang="ko-KR" dirty="0" smtClean="0"/>
              <a:t> ‘</a:t>
            </a:r>
            <a:r>
              <a:rPr lang="ko-KR" altLang="en-US" dirty="0" err="1" smtClean="0"/>
              <a:t>서머너즈</a:t>
            </a:r>
            <a:r>
              <a:rPr lang="ko-KR" altLang="en-US" dirty="0" smtClean="0"/>
              <a:t> 워</a:t>
            </a:r>
            <a:r>
              <a:rPr lang="en-US" altLang="ko-KR" dirty="0" smtClean="0"/>
              <a:t>’, </a:t>
            </a:r>
            <a:r>
              <a:rPr lang="ko-KR" altLang="en-US" dirty="0" smtClean="0"/>
              <a:t>아레나 전투 화면</a:t>
            </a:r>
            <a:endParaRPr lang="en-US" altLang="ko-KR" dirty="0" smtClean="0"/>
          </a:p>
          <a:p>
            <a:pPr>
              <a:lnSpc>
                <a:spcPct val="150000"/>
              </a:lnSpc>
            </a:pPr>
            <a:r>
              <a:rPr lang="en-US" altLang="ko-KR" dirty="0" smtClean="0">
                <a:hlinkClick r:id="rId3"/>
              </a:rPr>
              <a:t>http</a:t>
            </a:r>
            <a:r>
              <a:rPr lang="en-US" altLang="ko-KR" dirty="0">
                <a:hlinkClick r:id="rId3"/>
              </a:rPr>
              <a:t>://</a:t>
            </a:r>
            <a:r>
              <a:rPr lang="en-US" altLang="ko-KR" dirty="0" smtClean="0">
                <a:hlinkClick r:id="rId3"/>
              </a:rPr>
              <a:t>www.kukinews.com/news/article.html?no=467851</a:t>
            </a:r>
            <a:r>
              <a:rPr lang="en-US" altLang="ko-KR" dirty="0" smtClean="0"/>
              <a:t> (1</a:t>
            </a:r>
            <a:r>
              <a:rPr lang="ko-KR" altLang="en-US" dirty="0" smtClean="0"/>
              <a:t>번 </a:t>
            </a:r>
            <a:r>
              <a:rPr lang="ko-KR" altLang="en-US" dirty="0" err="1" smtClean="0"/>
              <a:t>스크린샷</a:t>
            </a:r>
            <a:r>
              <a:rPr lang="en-US" altLang="ko-KR" dirty="0" smtClean="0"/>
              <a:t>)</a:t>
            </a:r>
          </a:p>
          <a:p>
            <a:pPr>
              <a:lnSpc>
                <a:spcPct val="150000"/>
              </a:lnSpc>
            </a:pPr>
            <a:r>
              <a:rPr lang="en-US" altLang="ko-KR" dirty="0" smtClean="0"/>
              <a:t>2-1) ‘</a:t>
            </a:r>
            <a:r>
              <a:rPr lang="ko-KR" altLang="en-US" dirty="0" err="1" smtClean="0"/>
              <a:t>던그리드</a:t>
            </a:r>
            <a:r>
              <a:rPr lang="en-US" altLang="ko-KR" dirty="0" smtClean="0"/>
              <a:t>’, </a:t>
            </a:r>
            <a:r>
              <a:rPr lang="ko-KR" altLang="en-US" dirty="0" err="1" smtClean="0"/>
              <a:t>튜토리얼</a:t>
            </a:r>
            <a:r>
              <a:rPr lang="ko-KR" altLang="en-US" dirty="0" smtClean="0"/>
              <a:t> 속 던전의 출현 화면</a:t>
            </a:r>
            <a:endParaRPr lang="en-US" altLang="ko-KR" dirty="0" smtClean="0"/>
          </a:p>
          <a:p>
            <a:pPr>
              <a:lnSpc>
                <a:spcPct val="150000"/>
              </a:lnSpc>
            </a:pPr>
            <a:r>
              <a:rPr lang="en-US" altLang="ko-KR" dirty="0" smtClean="0">
                <a:hlinkClick r:id="rId4"/>
              </a:rPr>
              <a:t>https</a:t>
            </a:r>
            <a:r>
              <a:rPr lang="en-US" altLang="ko-KR" dirty="0">
                <a:hlinkClick r:id="rId4"/>
              </a:rPr>
              <a:t>://</a:t>
            </a:r>
            <a:r>
              <a:rPr lang="en-US" altLang="ko-KR" dirty="0" smtClean="0">
                <a:hlinkClick r:id="rId4"/>
              </a:rPr>
              <a:t>www.vingle.net/posts/2320991</a:t>
            </a:r>
            <a:r>
              <a:rPr lang="en-US" altLang="ko-KR" dirty="0" smtClean="0"/>
              <a:t> (</a:t>
            </a:r>
            <a:r>
              <a:rPr lang="en-US" altLang="ko-KR" dirty="0"/>
              <a:t>2</a:t>
            </a:r>
            <a:r>
              <a:rPr lang="ko-KR" altLang="en-US" dirty="0" smtClean="0"/>
              <a:t>번 </a:t>
            </a:r>
            <a:r>
              <a:rPr lang="ko-KR" altLang="en-US" dirty="0" err="1" smtClean="0"/>
              <a:t>스크린샷</a:t>
            </a:r>
            <a:r>
              <a:rPr lang="en-US" altLang="ko-KR" dirty="0" smtClean="0"/>
              <a:t>)</a:t>
            </a:r>
          </a:p>
          <a:p>
            <a:pPr>
              <a:lnSpc>
                <a:spcPct val="150000"/>
              </a:lnSpc>
            </a:pPr>
            <a:r>
              <a:rPr lang="en-US" altLang="ko-KR" dirty="0"/>
              <a:t>2</a:t>
            </a:r>
            <a:r>
              <a:rPr lang="en-US" altLang="ko-KR" dirty="0" smtClean="0"/>
              <a:t>-2) ‘</a:t>
            </a:r>
            <a:r>
              <a:rPr lang="ko-KR" altLang="en-US" dirty="0" err="1" smtClean="0"/>
              <a:t>다키스트</a:t>
            </a:r>
            <a:r>
              <a:rPr lang="ko-KR" altLang="en-US" dirty="0" smtClean="0"/>
              <a:t> 던전</a:t>
            </a:r>
            <a:r>
              <a:rPr lang="en-US" altLang="ko-KR" dirty="0" smtClean="0"/>
              <a:t>’, </a:t>
            </a:r>
            <a:r>
              <a:rPr lang="ko-KR" altLang="en-US" dirty="0" smtClean="0"/>
              <a:t>던전 전투 화면</a:t>
            </a:r>
            <a:endParaRPr lang="en-US" altLang="ko-KR" dirty="0" smtClean="0"/>
          </a:p>
          <a:p>
            <a:pPr>
              <a:lnSpc>
                <a:spcPct val="150000"/>
              </a:lnSpc>
            </a:pPr>
            <a:r>
              <a:rPr lang="en-US" altLang="ko-KR" dirty="0" smtClean="0">
                <a:hlinkClick r:id="rId5"/>
              </a:rPr>
              <a:t>https</a:t>
            </a:r>
            <a:r>
              <a:rPr lang="en-US" altLang="ko-KR" dirty="0">
                <a:hlinkClick r:id="rId5"/>
              </a:rPr>
              <a:t>://steamcommunity.com/sharedfiles/filedetails/?</a:t>
            </a:r>
            <a:r>
              <a:rPr lang="en-US" altLang="ko-KR" dirty="0" smtClean="0">
                <a:hlinkClick r:id="rId5"/>
              </a:rPr>
              <a:t>id=396427946</a:t>
            </a:r>
            <a:r>
              <a:rPr lang="en-US" altLang="ko-KR" dirty="0" smtClean="0"/>
              <a:t> (11</a:t>
            </a:r>
            <a:r>
              <a:rPr lang="ko-KR" altLang="en-US" dirty="0" smtClean="0"/>
              <a:t>번 </a:t>
            </a:r>
            <a:r>
              <a:rPr lang="ko-KR" altLang="en-US" dirty="0" err="1" smtClean="0"/>
              <a:t>스크린샷</a:t>
            </a:r>
            <a:r>
              <a:rPr lang="en-US" altLang="ko-KR" dirty="0" smtClean="0"/>
              <a:t>)</a:t>
            </a:r>
          </a:p>
          <a:p>
            <a:pPr>
              <a:lnSpc>
                <a:spcPct val="150000"/>
              </a:lnSpc>
            </a:pPr>
            <a:r>
              <a:rPr lang="en-US" altLang="ko-KR" dirty="0"/>
              <a:t>2</a:t>
            </a:r>
            <a:r>
              <a:rPr lang="en-US" altLang="ko-KR" dirty="0" smtClean="0"/>
              <a:t>-3) ‘</a:t>
            </a:r>
            <a:r>
              <a:rPr lang="ko-KR" altLang="en-US" dirty="0" err="1" smtClean="0"/>
              <a:t>아이작의</a:t>
            </a:r>
            <a:r>
              <a:rPr lang="ko-KR" altLang="en-US" dirty="0" smtClean="0"/>
              <a:t> </a:t>
            </a:r>
            <a:r>
              <a:rPr lang="ko-KR" altLang="en-US" dirty="0" err="1" smtClean="0"/>
              <a:t>번제</a:t>
            </a:r>
            <a:r>
              <a:rPr lang="en-US" altLang="ko-KR" dirty="0" smtClean="0"/>
              <a:t>‘, </a:t>
            </a:r>
            <a:r>
              <a:rPr lang="ko-KR" altLang="en-US" dirty="0" smtClean="0"/>
              <a:t>사망 결과 화면</a:t>
            </a:r>
            <a:endParaRPr lang="en-US" altLang="ko-KR" dirty="0" smtClean="0"/>
          </a:p>
          <a:p>
            <a:pPr>
              <a:lnSpc>
                <a:spcPct val="150000"/>
              </a:lnSpc>
            </a:pPr>
            <a:r>
              <a:rPr lang="en-US" altLang="ko-KR" dirty="0" smtClean="0">
                <a:hlinkClick r:id="rId6"/>
              </a:rPr>
              <a:t>https</a:t>
            </a:r>
            <a:r>
              <a:rPr lang="en-US" altLang="ko-KR" dirty="0">
                <a:hlinkClick r:id="rId6"/>
              </a:rPr>
              <a:t>://entropymag.org/hobby-horse-anatomy-bawdy-and-body-in-the-binding-of-isaac-ch-3</a:t>
            </a:r>
            <a:r>
              <a:rPr lang="en-US" altLang="ko-KR" dirty="0" smtClean="0">
                <a:hlinkClick r:id="rId6"/>
              </a:rPr>
              <a:t>/</a:t>
            </a:r>
            <a:r>
              <a:rPr lang="en-US" altLang="ko-KR" dirty="0" smtClean="0"/>
              <a:t> (2</a:t>
            </a:r>
            <a:r>
              <a:rPr lang="ko-KR" altLang="en-US" dirty="0" smtClean="0"/>
              <a:t>번 </a:t>
            </a:r>
            <a:r>
              <a:rPr lang="ko-KR" altLang="en-US" dirty="0" err="1" smtClean="0"/>
              <a:t>스크린샷</a:t>
            </a:r>
            <a:r>
              <a:rPr lang="en-US" altLang="ko-KR" dirty="0" smtClean="0"/>
              <a:t>)</a:t>
            </a:r>
          </a:p>
          <a:p>
            <a:pPr>
              <a:lnSpc>
                <a:spcPct val="150000"/>
              </a:lnSpc>
            </a:pPr>
            <a:r>
              <a:rPr lang="en-US" altLang="ko-KR" dirty="0"/>
              <a:t>2</a:t>
            </a:r>
            <a:r>
              <a:rPr lang="en-US" altLang="ko-KR" dirty="0" smtClean="0"/>
              <a:t>-4) ‘</a:t>
            </a:r>
            <a:r>
              <a:rPr lang="ko-KR" altLang="en-US" dirty="0" smtClean="0"/>
              <a:t>던전 메이커</a:t>
            </a:r>
            <a:r>
              <a:rPr lang="en-US" altLang="ko-KR" dirty="0" smtClean="0"/>
              <a:t>’, </a:t>
            </a:r>
            <a:r>
              <a:rPr lang="ko-KR" altLang="en-US" dirty="0" smtClean="0"/>
              <a:t>보유 몬스터 화면</a:t>
            </a:r>
            <a:endParaRPr lang="en-US" altLang="ko-KR" dirty="0" smtClean="0"/>
          </a:p>
          <a:p>
            <a:pPr>
              <a:lnSpc>
                <a:spcPct val="150000"/>
              </a:lnSpc>
            </a:pPr>
            <a:r>
              <a:rPr lang="en-US" altLang="ko-KR" dirty="0">
                <a:hlinkClick r:id="rId7"/>
              </a:rPr>
              <a:t>https://</a:t>
            </a:r>
            <a:r>
              <a:rPr lang="en-US" altLang="ko-KR" dirty="0" smtClean="0">
                <a:hlinkClick r:id="rId7"/>
              </a:rPr>
              <a:t>minimap.net/game/dungeon-maker/review</a:t>
            </a:r>
            <a:r>
              <a:rPr lang="en-US" altLang="ko-KR" dirty="0" smtClean="0"/>
              <a:t> (9</a:t>
            </a:r>
            <a:r>
              <a:rPr lang="ko-KR" altLang="en-US" dirty="0" smtClean="0"/>
              <a:t>번 </a:t>
            </a:r>
            <a:r>
              <a:rPr lang="ko-KR" altLang="en-US" dirty="0" err="1"/>
              <a:t>스크린샷</a:t>
            </a:r>
            <a:r>
              <a:rPr lang="en-US" altLang="ko-KR" dirty="0" smtClean="0"/>
              <a:t>)</a:t>
            </a: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87</a:t>
            </a:fld>
            <a:endParaRPr lang="ko-KR" altLang="en-US" sz="1800" dirty="0"/>
          </a:p>
        </p:txBody>
      </p:sp>
    </p:spTree>
    <p:extLst>
      <p:ext uri="{BB962C8B-B14F-4D97-AF65-F5344CB8AC3E}">
        <p14:creationId xmlns:p14="http://schemas.microsoft.com/office/powerpoint/2010/main" val="1038343422"/>
      </p:ext>
    </p:extLst>
  </p:cSld>
  <p:clrMapOvr>
    <a:masterClrMapping/>
  </p:clrMapOvr>
  <p:timing>
    <p:tnLst>
      <p:par>
        <p:cTn id="1" dur="indefinite" restart="never" nodeType="tmRoot"/>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0" y="250721"/>
            <a:ext cx="55154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참고문헌 </a:t>
            </a:r>
            <a:r>
              <a:rPr lang="en-US" altLang="ko-KR"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(2)</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4886323" y="620053"/>
            <a:ext cx="2419351" cy="584775"/>
          </a:xfrm>
          <a:prstGeom prst="rect">
            <a:avLst/>
          </a:prstGeom>
          <a:noFill/>
        </p:spPr>
        <p:txBody>
          <a:bodyPr wrap="square" rtlCol="0">
            <a:spAutoFit/>
          </a:bodyPr>
          <a:lstStyle/>
          <a:p>
            <a:r>
              <a:rPr lang="en-US" altLang="ko-KR" sz="3200" b="1" dirty="0" smtClean="0">
                <a:gradFill>
                  <a:gsLst>
                    <a:gs pos="0">
                      <a:schemeClr val="tx1"/>
                    </a:gs>
                    <a:gs pos="100000">
                      <a:schemeClr val="tx1"/>
                    </a:gs>
                  </a:gsLst>
                  <a:lin ang="5400000" scaled="1"/>
                </a:gradFill>
                <a:latin typeface="맑은 고딕" panose="020B0503020000020004" pitchFamily="50" charset="-127"/>
              </a:rPr>
              <a:t>&lt;</a:t>
            </a:r>
            <a:r>
              <a:rPr lang="ko-KR" altLang="en-US" sz="3200" b="1" dirty="0" smtClean="0">
                <a:gradFill>
                  <a:gsLst>
                    <a:gs pos="0">
                      <a:schemeClr val="tx1"/>
                    </a:gs>
                    <a:gs pos="100000">
                      <a:schemeClr val="tx1"/>
                    </a:gs>
                  </a:gsLst>
                  <a:lin ang="5400000" scaled="1"/>
                </a:gradFill>
                <a:latin typeface="맑은 고딕" panose="020B0503020000020004" pitchFamily="50" charset="-127"/>
              </a:rPr>
              <a:t>참고문헌</a:t>
            </a:r>
            <a:r>
              <a:rPr lang="en-US" altLang="ko-KR" sz="3200" b="1" dirty="0" smtClean="0">
                <a:gradFill>
                  <a:gsLst>
                    <a:gs pos="0">
                      <a:schemeClr val="tx1"/>
                    </a:gs>
                    <a:gs pos="100000">
                      <a:schemeClr val="tx1"/>
                    </a:gs>
                  </a:gsLst>
                  <a:lin ang="5400000" scaled="1"/>
                </a:gradFill>
                <a:latin typeface="맑은 고딕" panose="020B0503020000020004" pitchFamily="50" charset="-127"/>
              </a:rPr>
              <a:t>&gt;</a:t>
            </a:r>
            <a:endParaRPr lang="ko-KR" altLang="en-US" sz="3200" b="1" dirty="0">
              <a:gradFill>
                <a:gsLst>
                  <a:gs pos="0">
                    <a:schemeClr val="tx1"/>
                  </a:gs>
                  <a:gs pos="100000">
                    <a:schemeClr val="tx1"/>
                  </a:gs>
                </a:gsLst>
                <a:lin ang="5400000" scaled="1"/>
              </a:gradFill>
              <a:latin typeface="맑은 고딕" panose="020B0503020000020004" pitchFamily="50" charset="-127"/>
            </a:endParaRPr>
          </a:p>
        </p:txBody>
      </p:sp>
      <p:sp>
        <p:nvSpPr>
          <p:cNvPr id="7" name="TextBox 6"/>
          <p:cNvSpPr txBox="1"/>
          <p:nvPr/>
        </p:nvSpPr>
        <p:spPr>
          <a:xfrm>
            <a:off x="246740" y="1217411"/>
            <a:ext cx="11698516" cy="5493812"/>
          </a:xfrm>
          <a:prstGeom prst="rect">
            <a:avLst/>
          </a:prstGeom>
          <a:noFill/>
        </p:spPr>
        <p:txBody>
          <a:bodyPr wrap="square" rtlCol="0">
            <a:spAutoFit/>
          </a:bodyPr>
          <a:lstStyle/>
          <a:p>
            <a:pPr>
              <a:lnSpc>
                <a:spcPct val="150000"/>
              </a:lnSpc>
            </a:pPr>
            <a:r>
              <a:rPr lang="en-US" altLang="ko-KR" dirty="0" smtClean="0"/>
              <a:t>2-5) ‘</a:t>
            </a:r>
            <a:r>
              <a:rPr lang="ko-KR" altLang="en-US" dirty="0" err="1" smtClean="0"/>
              <a:t>던그리드</a:t>
            </a:r>
            <a:r>
              <a:rPr lang="en-US" altLang="ko-KR" dirty="0" smtClean="0"/>
              <a:t>’, </a:t>
            </a:r>
            <a:r>
              <a:rPr lang="ko-KR" altLang="en-US" dirty="0" smtClean="0"/>
              <a:t>의상실 화면</a:t>
            </a:r>
            <a:endParaRPr lang="en-US" altLang="ko-KR" dirty="0" smtClean="0"/>
          </a:p>
          <a:p>
            <a:pPr>
              <a:lnSpc>
                <a:spcPct val="150000"/>
              </a:lnSpc>
            </a:pPr>
            <a:r>
              <a:rPr lang="en-US" altLang="ko-KR" dirty="0">
                <a:hlinkClick r:id="rId2"/>
              </a:rPr>
              <a:t>https://</a:t>
            </a:r>
            <a:r>
              <a:rPr lang="en-US" altLang="ko-KR" dirty="0" smtClean="0">
                <a:hlinkClick r:id="rId2"/>
              </a:rPr>
              <a:t>realust.tistory.com/506</a:t>
            </a:r>
            <a:r>
              <a:rPr lang="en-US" altLang="ko-KR" dirty="0" smtClean="0"/>
              <a:t> (4</a:t>
            </a:r>
            <a:r>
              <a:rPr lang="ko-KR" altLang="en-US" dirty="0" smtClean="0"/>
              <a:t>번 </a:t>
            </a:r>
            <a:r>
              <a:rPr lang="ko-KR" altLang="en-US" dirty="0" err="1"/>
              <a:t>스크린샷</a:t>
            </a:r>
            <a:r>
              <a:rPr lang="en-US" altLang="ko-KR" dirty="0"/>
              <a:t>)</a:t>
            </a:r>
          </a:p>
          <a:p>
            <a:pPr>
              <a:lnSpc>
                <a:spcPct val="150000"/>
              </a:lnSpc>
            </a:pPr>
            <a:r>
              <a:rPr lang="en-US" altLang="ko-KR" dirty="0" smtClean="0"/>
              <a:t>2-6) ‘</a:t>
            </a:r>
            <a:r>
              <a:rPr lang="ko-KR" altLang="en-US" dirty="0" smtClean="0"/>
              <a:t>몬스터슈퍼리그</a:t>
            </a:r>
            <a:r>
              <a:rPr lang="en-US" altLang="ko-KR" dirty="0" smtClean="0"/>
              <a:t>’, </a:t>
            </a:r>
            <a:r>
              <a:rPr lang="ko-KR" altLang="en-US" dirty="0" smtClean="0"/>
              <a:t>몬스터 획득 장면</a:t>
            </a:r>
            <a:endParaRPr lang="en-US" altLang="ko-KR" dirty="0" smtClean="0"/>
          </a:p>
          <a:p>
            <a:pPr>
              <a:lnSpc>
                <a:spcPct val="150000"/>
              </a:lnSpc>
            </a:pPr>
            <a:r>
              <a:rPr lang="en-US" altLang="ko-KR" dirty="0">
                <a:hlinkClick r:id="rId3"/>
              </a:rPr>
              <a:t>http://www.thisisgame.com/webzine/game/nboard/19/?</a:t>
            </a:r>
            <a:r>
              <a:rPr lang="en-US" altLang="ko-KR" dirty="0" smtClean="0">
                <a:hlinkClick r:id="rId3"/>
              </a:rPr>
              <a:t>page=13&amp;n=64534</a:t>
            </a:r>
            <a:r>
              <a:rPr lang="en-US" altLang="ko-KR" dirty="0" smtClean="0"/>
              <a:t> (</a:t>
            </a:r>
            <a:r>
              <a:rPr lang="en-US" altLang="ko-KR" dirty="0"/>
              <a:t>4</a:t>
            </a:r>
            <a:r>
              <a:rPr lang="ko-KR" altLang="en-US" dirty="0"/>
              <a:t>번 </a:t>
            </a:r>
            <a:r>
              <a:rPr lang="ko-KR" altLang="en-US" dirty="0" err="1"/>
              <a:t>스크린샷</a:t>
            </a:r>
            <a:r>
              <a:rPr lang="en-US" altLang="ko-KR" dirty="0"/>
              <a:t>)</a:t>
            </a:r>
          </a:p>
          <a:p>
            <a:pPr>
              <a:lnSpc>
                <a:spcPct val="150000"/>
              </a:lnSpc>
            </a:pPr>
            <a:r>
              <a:rPr lang="en-US" altLang="ko-KR" dirty="0" smtClean="0"/>
              <a:t>2-7) ‘</a:t>
            </a:r>
            <a:r>
              <a:rPr lang="ko-KR" altLang="en-US" dirty="0" err="1" smtClean="0"/>
              <a:t>마계전기</a:t>
            </a:r>
            <a:r>
              <a:rPr lang="ko-KR" altLang="en-US" dirty="0" smtClean="0"/>
              <a:t> </a:t>
            </a:r>
            <a:r>
              <a:rPr lang="ko-KR" altLang="en-US" dirty="0" err="1" smtClean="0"/>
              <a:t>디스가이아</a:t>
            </a:r>
            <a:r>
              <a:rPr lang="ko-KR" altLang="en-US" dirty="0" smtClean="0"/>
              <a:t> </a:t>
            </a:r>
            <a:r>
              <a:rPr lang="en-US" altLang="ko-KR" dirty="0" smtClean="0"/>
              <a:t>5’</a:t>
            </a:r>
          </a:p>
          <a:p>
            <a:pPr>
              <a:lnSpc>
                <a:spcPct val="150000"/>
              </a:lnSpc>
            </a:pPr>
            <a:r>
              <a:rPr lang="en-US" altLang="ko-KR" dirty="0">
                <a:hlinkClick r:id="rId4"/>
              </a:rPr>
              <a:t>http://www.thisisgame.com/pad/tboard/?</a:t>
            </a:r>
            <a:r>
              <a:rPr lang="en-US" altLang="ko-KR" dirty="0" smtClean="0">
                <a:hlinkClick r:id="rId4"/>
              </a:rPr>
              <a:t>board=37&amp;n=286482</a:t>
            </a:r>
            <a:r>
              <a:rPr lang="en-US" altLang="ko-KR" dirty="0" smtClean="0"/>
              <a:t> (7</a:t>
            </a:r>
            <a:r>
              <a:rPr lang="ko-KR" altLang="en-US" dirty="0" smtClean="0"/>
              <a:t>번 </a:t>
            </a:r>
            <a:r>
              <a:rPr lang="ko-KR" altLang="en-US" dirty="0" err="1"/>
              <a:t>스크린샷</a:t>
            </a:r>
            <a:r>
              <a:rPr lang="en-US" altLang="ko-KR" dirty="0"/>
              <a:t>)</a:t>
            </a:r>
          </a:p>
          <a:p>
            <a:pPr>
              <a:lnSpc>
                <a:spcPct val="150000"/>
              </a:lnSpc>
            </a:pPr>
            <a:r>
              <a:rPr lang="en-US" altLang="ko-KR" dirty="0" smtClean="0"/>
              <a:t>2-8) ‘</a:t>
            </a:r>
            <a:r>
              <a:rPr lang="ko-KR" altLang="en-US" dirty="0" err="1" smtClean="0"/>
              <a:t>미소스</a:t>
            </a:r>
            <a:r>
              <a:rPr lang="ko-KR" altLang="en-US" dirty="0" smtClean="0"/>
              <a:t> 영웅전 </a:t>
            </a:r>
            <a:r>
              <a:rPr lang="en-US" altLang="ko-KR" dirty="0" smtClean="0"/>
              <a:t>for </a:t>
            </a:r>
            <a:r>
              <a:rPr lang="en-US" altLang="ko-KR" dirty="0" err="1" smtClean="0"/>
              <a:t>kakao</a:t>
            </a:r>
            <a:r>
              <a:rPr lang="en-US" altLang="ko-KR" dirty="0" smtClean="0"/>
              <a:t>’, </a:t>
            </a:r>
            <a:r>
              <a:rPr lang="ko-KR" altLang="en-US" dirty="0" smtClean="0"/>
              <a:t>전투 장면</a:t>
            </a:r>
            <a:endParaRPr lang="en-US" altLang="ko-KR" dirty="0" smtClean="0"/>
          </a:p>
          <a:p>
            <a:pPr>
              <a:lnSpc>
                <a:spcPct val="150000"/>
              </a:lnSpc>
            </a:pPr>
            <a:r>
              <a:rPr lang="en-US" altLang="ko-KR" dirty="0">
                <a:hlinkClick r:id="rId5"/>
              </a:rPr>
              <a:t>http://www.thisisgame.com/mobile/nboard/1/?</a:t>
            </a:r>
            <a:r>
              <a:rPr lang="en-US" altLang="ko-KR" dirty="0" smtClean="0">
                <a:hlinkClick r:id="rId5"/>
              </a:rPr>
              <a:t>n=55660&amp;mode=print</a:t>
            </a:r>
            <a:r>
              <a:rPr lang="en-US" altLang="ko-KR" dirty="0" smtClean="0"/>
              <a:t> (7</a:t>
            </a:r>
            <a:r>
              <a:rPr lang="ko-KR" altLang="en-US" dirty="0" smtClean="0"/>
              <a:t>번 </a:t>
            </a:r>
            <a:r>
              <a:rPr lang="ko-KR" altLang="en-US" dirty="0" err="1"/>
              <a:t>스크린샷</a:t>
            </a:r>
            <a:r>
              <a:rPr lang="en-US" altLang="ko-KR" dirty="0"/>
              <a:t>)</a:t>
            </a:r>
          </a:p>
          <a:p>
            <a:pPr>
              <a:lnSpc>
                <a:spcPct val="150000"/>
              </a:lnSpc>
            </a:pPr>
            <a:r>
              <a:rPr lang="en-US" altLang="ko-KR" dirty="0" smtClean="0"/>
              <a:t>2-9) ‘</a:t>
            </a:r>
            <a:r>
              <a:rPr lang="ko-KR" altLang="en-US" dirty="0" err="1" smtClean="0"/>
              <a:t>그랜드체이스</a:t>
            </a:r>
            <a:r>
              <a:rPr lang="ko-KR" altLang="en-US" dirty="0" smtClean="0"/>
              <a:t> 올스타</a:t>
            </a:r>
            <a:r>
              <a:rPr lang="en-US" altLang="ko-KR" dirty="0" smtClean="0"/>
              <a:t>’, </a:t>
            </a:r>
            <a:r>
              <a:rPr lang="ko-KR" altLang="en-US" dirty="0" smtClean="0"/>
              <a:t>전투 장면</a:t>
            </a:r>
            <a:endParaRPr lang="en-US" altLang="ko-KR" dirty="0" smtClean="0"/>
          </a:p>
          <a:p>
            <a:pPr>
              <a:lnSpc>
                <a:spcPct val="150000"/>
              </a:lnSpc>
            </a:pPr>
            <a:r>
              <a:rPr lang="en-US" altLang="ko-KR" dirty="0">
                <a:hlinkClick r:id="rId6"/>
              </a:rPr>
              <a:t>http://www.thisisgame.com/mobile/nboard/1/?</a:t>
            </a:r>
            <a:r>
              <a:rPr lang="en-US" altLang="ko-KR" dirty="0" smtClean="0">
                <a:hlinkClick r:id="rId6"/>
              </a:rPr>
              <a:t>n=51285</a:t>
            </a:r>
            <a:r>
              <a:rPr lang="en-US" altLang="ko-KR" dirty="0" smtClean="0"/>
              <a:t> (2</a:t>
            </a:r>
            <a:r>
              <a:rPr lang="ko-KR" altLang="en-US" dirty="0" smtClean="0"/>
              <a:t>번 </a:t>
            </a:r>
            <a:r>
              <a:rPr lang="ko-KR" altLang="en-US" dirty="0" err="1"/>
              <a:t>스크린샷</a:t>
            </a:r>
            <a:r>
              <a:rPr lang="en-US" altLang="ko-KR" dirty="0"/>
              <a:t>)</a:t>
            </a:r>
          </a:p>
          <a:p>
            <a:pPr>
              <a:lnSpc>
                <a:spcPct val="150000"/>
              </a:lnSpc>
            </a:pPr>
            <a:r>
              <a:rPr lang="en-US" altLang="ko-KR" dirty="0"/>
              <a:t>2-10) </a:t>
            </a:r>
            <a:r>
              <a:rPr lang="en-US" altLang="ko-KR" dirty="0">
                <a:hlinkClick r:id="rId7"/>
              </a:rPr>
              <a:t>https://store.steampowered.com/app/785740/This_Is_the_Police_2/</a:t>
            </a:r>
            <a:r>
              <a:rPr lang="en-US" altLang="ko-KR" dirty="0"/>
              <a:t> (2</a:t>
            </a:r>
            <a:r>
              <a:rPr lang="ko-KR" altLang="en-US" dirty="0"/>
              <a:t>번 </a:t>
            </a:r>
            <a:r>
              <a:rPr lang="ko-KR" altLang="en-US" dirty="0" err="1"/>
              <a:t>스크린샷</a:t>
            </a:r>
            <a:r>
              <a:rPr lang="en-US" altLang="ko-KR" dirty="0"/>
              <a:t>)</a:t>
            </a:r>
          </a:p>
          <a:p>
            <a:pPr>
              <a:lnSpc>
                <a:spcPct val="150000"/>
              </a:lnSpc>
            </a:pPr>
            <a:r>
              <a:rPr lang="en-US" altLang="ko-KR" dirty="0"/>
              <a:t>2-11) </a:t>
            </a:r>
            <a:r>
              <a:rPr lang="en-US" altLang="ko-KR" dirty="0">
                <a:hlinkClick r:id="rId8"/>
              </a:rPr>
              <a:t>https://taskandpurpose.com/xcom2-war-chosen-review/</a:t>
            </a:r>
            <a:r>
              <a:rPr lang="en-US" altLang="ko-KR" dirty="0"/>
              <a:t> </a:t>
            </a:r>
          </a:p>
          <a:p>
            <a:pPr>
              <a:lnSpc>
                <a:spcPct val="150000"/>
              </a:lnSpc>
            </a:pPr>
            <a:endParaRPr lang="ko-KR" altLang="ko-KR"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88</a:t>
            </a:fld>
            <a:endParaRPr lang="ko-KR" altLang="en-US" dirty="0"/>
          </a:p>
        </p:txBody>
      </p:sp>
    </p:spTree>
    <p:extLst>
      <p:ext uri="{BB962C8B-B14F-4D97-AF65-F5344CB8AC3E}">
        <p14:creationId xmlns:p14="http://schemas.microsoft.com/office/powerpoint/2010/main" val="3367500691"/>
      </p:ext>
    </p:extLst>
  </p:cSld>
  <p:clrMapOvr>
    <a:masterClrMapping/>
  </p:clrMapOvr>
  <p:timing>
    <p:tnLst>
      <p:par>
        <p:cTn id="1" dur="indefinite" restart="never" nodeType="tmRoot"/>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직사각형 3"/>
          <p:cNvSpPr/>
          <p:nvPr/>
        </p:nvSpPr>
        <p:spPr>
          <a:xfrm>
            <a:off x="0" y="6668430"/>
            <a:ext cx="12192000" cy="20020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p:cNvSpPr/>
          <p:nvPr/>
        </p:nvSpPr>
        <p:spPr>
          <a:xfrm>
            <a:off x="0" y="-938"/>
            <a:ext cx="12192000" cy="1679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TextBox 9"/>
          <p:cNvSpPr txBox="1"/>
          <p:nvPr/>
        </p:nvSpPr>
        <p:spPr>
          <a:xfrm>
            <a:off x="72570" y="250721"/>
            <a:ext cx="5515429" cy="369332"/>
          </a:xfrm>
          <a:prstGeom prst="rect">
            <a:avLst/>
          </a:prstGeom>
          <a:noFill/>
        </p:spPr>
        <p:txBody>
          <a:bodyPr wrap="square" rtlCol="0">
            <a:spAutoFit/>
          </a:bodyPr>
          <a:lstStyle/>
          <a:p>
            <a:r>
              <a:rPr lang="en-US" altLang="ko-KR" spc="-300" dirty="0" smtClean="0">
                <a:gradFill>
                  <a:gsLst>
                    <a:gs pos="0">
                      <a:schemeClr val="tx1"/>
                    </a:gs>
                    <a:gs pos="100000">
                      <a:schemeClr val="tx1"/>
                    </a:gs>
                  </a:gsLst>
                  <a:lin ang="5400000" scaled="1"/>
                </a:gradFill>
                <a:latin typeface="210 앱굴림 R" panose="02020603020101020101" pitchFamily="18" charset="-127"/>
                <a:ea typeface="210 앱굴림 R" panose="02020603020101020101" pitchFamily="18" charset="-127"/>
              </a:rPr>
              <a:t>▶   </a:t>
            </a:r>
            <a:r>
              <a:rPr lang="ko-KR" altLang="en-US" b="1" dirty="0" smtClean="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rPr>
              <a:t>부록</a:t>
            </a:r>
            <a:endParaRPr lang="ko-KR" altLang="en-US" b="1" dirty="0">
              <a:gradFill>
                <a:gsLst>
                  <a:gs pos="0">
                    <a:schemeClr val="tx1"/>
                  </a:gs>
                  <a:gs pos="100000">
                    <a:schemeClr val="tx1"/>
                  </a:gs>
                </a:gsLst>
                <a:lin ang="5400000" scaled="1"/>
              </a:gradFill>
              <a:latin typeface="맑은 고딕" panose="020B0503020000020004" pitchFamily="50" charset="-127"/>
              <a:ea typeface="맑은 고딕" panose="020B0503020000020004" pitchFamily="50" charset="-127"/>
            </a:endParaRPr>
          </a:p>
        </p:txBody>
      </p:sp>
      <p:sp>
        <p:nvSpPr>
          <p:cNvPr id="11" name="TextBox 10"/>
          <p:cNvSpPr txBox="1"/>
          <p:nvPr/>
        </p:nvSpPr>
        <p:spPr>
          <a:xfrm>
            <a:off x="5297713" y="892460"/>
            <a:ext cx="1436915" cy="523220"/>
          </a:xfrm>
          <a:prstGeom prst="rect">
            <a:avLst/>
          </a:prstGeom>
          <a:noFill/>
        </p:spPr>
        <p:txBody>
          <a:bodyPr wrap="square" rtlCol="0">
            <a:spAutoFit/>
          </a:bodyPr>
          <a:lstStyle/>
          <a:p>
            <a:r>
              <a:rPr lang="en-US" altLang="ko-KR" sz="2800" b="1" dirty="0">
                <a:gradFill>
                  <a:gsLst>
                    <a:gs pos="0">
                      <a:schemeClr val="tx1"/>
                    </a:gs>
                    <a:gs pos="100000">
                      <a:schemeClr val="tx1"/>
                    </a:gs>
                  </a:gsLst>
                  <a:lin ang="5400000" scaled="1"/>
                </a:gradFill>
                <a:latin typeface="맑은 고딕" panose="020B0503020000020004" pitchFamily="50" charset="-127"/>
              </a:rPr>
              <a:t>&lt;</a:t>
            </a:r>
            <a:r>
              <a:rPr lang="ko-KR" altLang="en-US" sz="2800" b="1" dirty="0" smtClean="0">
                <a:gradFill>
                  <a:gsLst>
                    <a:gs pos="0">
                      <a:schemeClr val="tx1"/>
                    </a:gs>
                    <a:gs pos="100000">
                      <a:schemeClr val="tx1"/>
                    </a:gs>
                  </a:gsLst>
                  <a:lin ang="5400000" scaled="1"/>
                </a:gradFill>
                <a:latin typeface="맑은 고딕" panose="020B0503020000020004" pitchFamily="50" charset="-127"/>
              </a:rPr>
              <a:t>부록</a:t>
            </a:r>
            <a:r>
              <a:rPr lang="en-US" altLang="ko-KR" sz="2800" b="1" dirty="0" smtClean="0">
                <a:gradFill>
                  <a:gsLst>
                    <a:gs pos="0">
                      <a:schemeClr val="tx1"/>
                    </a:gs>
                    <a:gs pos="100000">
                      <a:schemeClr val="tx1"/>
                    </a:gs>
                  </a:gsLst>
                  <a:lin ang="5400000" scaled="1"/>
                </a:gradFill>
                <a:latin typeface="맑은 고딕" panose="020B0503020000020004" pitchFamily="50" charset="-127"/>
              </a:rPr>
              <a:t>&gt;</a:t>
            </a:r>
            <a:endParaRPr lang="ko-KR" altLang="en-US" sz="2800" b="1" dirty="0">
              <a:gradFill>
                <a:gsLst>
                  <a:gs pos="0">
                    <a:schemeClr val="tx1"/>
                  </a:gs>
                  <a:gs pos="100000">
                    <a:schemeClr val="tx1"/>
                  </a:gs>
                </a:gsLst>
                <a:lin ang="5400000" scaled="1"/>
              </a:gradFill>
              <a:latin typeface="맑은 고딕" panose="020B0503020000020004" pitchFamily="50" charset="-127"/>
            </a:endParaRPr>
          </a:p>
        </p:txBody>
      </p:sp>
      <p:sp>
        <p:nvSpPr>
          <p:cNvPr id="8" name="TextBox 7"/>
          <p:cNvSpPr txBox="1"/>
          <p:nvPr/>
        </p:nvSpPr>
        <p:spPr>
          <a:xfrm>
            <a:off x="1235927" y="1763768"/>
            <a:ext cx="8403373" cy="830997"/>
          </a:xfrm>
          <a:prstGeom prst="rect">
            <a:avLst/>
          </a:prstGeom>
          <a:noFill/>
        </p:spPr>
        <p:txBody>
          <a:bodyPr wrap="square" rtlCol="0">
            <a:spAutoFit/>
          </a:bodyPr>
          <a:lstStyle/>
          <a:p>
            <a:r>
              <a:rPr lang="en-US" altLang="ko-KR" sz="2400" dirty="0"/>
              <a:t>• </a:t>
            </a:r>
            <a:r>
              <a:rPr lang="ko-KR" altLang="en-US" sz="2400" dirty="0" err="1" smtClean="0"/>
              <a:t>별첨문서</a:t>
            </a:r>
            <a:r>
              <a:rPr lang="ko-KR" altLang="en-US" sz="2400" dirty="0" smtClean="0"/>
              <a:t> </a:t>
            </a:r>
            <a:r>
              <a:rPr lang="en-US" altLang="ko-KR" sz="2400" dirty="0" smtClean="0"/>
              <a:t>‘I AM THE LAW.docx’</a:t>
            </a:r>
            <a:br>
              <a:rPr lang="en-US" altLang="ko-KR" sz="2400" dirty="0" smtClean="0"/>
            </a:br>
            <a:r>
              <a:rPr lang="en-US" altLang="ko-KR" sz="2400" dirty="0" smtClean="0"/>
              <a:t>  (PPT </a:t>
            </a:r>
            <a:r>
              <a:rPr lang="ko-KR" altLang="en-US" sz="2400" dirty="0" smtClean="0"/>
              <a:t>제작 전</a:t>
            </a:r>
            <a:r>
              <a:rPr lang="en-US" altLang="ko-KR" sz="2400" dirty="0" smtClean="0"/>
              <a:t>, </a:t>
            </a:r>
            <a:r>
              <a:rPr lang="ko-KR" altLang="en-US" sz="2400" dirty="0" smtClean="0"/>
              <a:t>기획 내용 작성 및 정리를 위한 워드 문서</a:t>
            </a:r>
            <a:r>
              <a:rPr lang="en-US" altLang="ko-KR" sz="2400" dirty="0" smtClean="0"/>
              <a:t>)</a:t>
            </a:r>
            <a:endParaRPr lang="ko-KR" altLang="ko-KR" sz="2400" dirty="0"/>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t>89</a:t>
            </a:fld>
            <a:endParaRPr lang="ko-KR" altLang="en-US" dirty="0"/>
          </a:p>
        </p:txBody>
      </p:sp>
      <p:sp>
        <p:nvSpPr>
          <p:cNvPr id="9" name="곱셈 기호 8"/>
          <p:cNvSpPr/>
          <p:nvPr/>
        </p:nvSpPr>
        <p:spPr>
          <a:xfrm>
            <a:off x="2224597" y="-304210"/>
            <a:ext cx="9129203" cy="7238034"/>
          </a:xfrm>
          <a:prstGeom prst="mathMultiply">
            <a:avLst>
              <a:gd name="adj1" fmla="val 5081"/>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234959608"/>
      </p:ext>
    </p:extLst>
  </p:cSld>
  <p:clrMapOvr>
    <a:masterClrMapping/>
  </p:clrMapOvr>
  <p:timing>
    <p:tnLst>
      <p:par>
        <p:cTn id="1" dur="indefinite" restart="never" nodeType="tmRoot"/>
      </p:par>
    </p:tnLst>
  </p:timing>
</p:sld>
</file>

<file path=ppt/slides/slide9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cxnSp>
        <p:nvCxnSpPr>
          <p:cNvPr id="9" name="직선 연결선 8"/>
          <p:cNvCxnSpPr/>
          <p:nvPr/>
        </p:nvCxnSpPr>
        <p:spPr>
          <a:xfrm flipH="1">
            <a:off x="-124046" y="0"/>
            <a:ext cx="12316046" cy="6949263"/>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3066386" y="3126868"/>
            <a:ext cx="6059229" cy="830997"/>
          </a:xfrm>
          <a:prstGeom prst="rect">
            <a:avLst/>
          </a:prstGeom>
          <a:solidFill>
            <a:schemeClr val="tx1"/>
          </a:solidFill>
        </p:spPr>
        <p:txBody>
          <a:bodyPr wrap="square" rtlCol="0">
            <a:spAutoFit/>
          </a:bodyPr>
          <a:lstStyle/>
          <a:p>
            <a:pPr algn="ctr"/>
            <a:r>
              <a:rPr lang="ko-KR" altLang="en-US" sz="4800" b="1" spc="-150" dirty="0" smtClean="0">
                <a:gradFill>
                  <a:gsLst>
                    <a:gs pos="0">
                      <a:prstClr val="white"/>
                    </a:gs>
                    <a:gs pos="100000">
                      <a:prstClr val="white"/>
                    </a:gs>
                  </a:gsLst>
                  <a:lin ang="5400000" scaled="1"/>
                </a:gradFill>
                <a:latin typeface="+mj-ea"/>
                <a:ea typeface="+mj-ea"/>
              </a:rPr>
              <a:t>감사합니다</a:t>
            </a:r>
            <a:r>
              <a:rPr lang="en-US" altLang="ko-KR" sz="4800" b="1" spc="-150" dirty="0" smtClean="0">
                <a:gradFill>
                  <a:gsLst>
                    <a:gs pos="0">
                      <a:prstClr val="white"/>
                    </a:gs>
                    <a:gs pos="100000">
                      <a:prstClr val="white"/>
                    </a:gs>
                  </a:gsLst>
                  <a:lin ang="5400000" scaled="1"/>
                </a:gradFill>
                <a:latin typeface="+mj-ea"/>
                <a:ea typeface="+mj-ea"/>
              </a:rPr>
              <a:t>.</a:t>
            </a:r>
            <a:endParaRPr lang="ko-KR" altLang="en-US" sz="4800" b="1" spc="-150" dirty="0">
              <a:gradFill>
                <a:gsLst>
                  <a:gs pos="0">
                    <a:prstClr val="white"/>
                  </a:gs>
                  <a:gs pos="100000">
                    <a:prstClr val="white"/>
                  </a:gs>
                </a:gsLst>
                <a:lin ang="5400000" scaled="1"/>
              </a:gradFill>
              <a:latin typeface="+mj-ea"/>
              <a:ea typeface="+mj-ea"/>
            </a:endParaRPr>
          </a:p>
        </p:txBody>
      </p:sp>
      <p:sp>
        <p:nvSpPr>
          <p:cNvPr id="2" name="슬라이드 번호 개체 틀 1"/>
          <p:cNvSpPr>
            <a:spLocks noGrp="1"/>
          </p:cNvSpPr>
          <p:nvPr>
            <p:ph type="sldNum" sz="quarter" idx="12"/>
          </p:nvPr>
        </p:nvSpPr>
        <p:spPr/>
        <p:txBody>
          <a:bodyPr/>
          <a:lstStyle/>
          <a:p>
            <a:fld id="{95F8FB6C-4300-4EF3-AEA9-23A98D8A74E1}" type="slidenum">
              <a:rPr lang="ko-KR" altLang="en-US" sz="1800" smtClean="0">
                <a:solidFill>
                  <a:prstClr val="black">
                    <a:tint val="75000"/>
                  </a:prstClr>
                </a:solidFill>
              </a:rPr>
              <a:pPr/>
              <a:t>90</a:t>
            </a:fld>
            <a:endParaRPr lang="ko-KR" altLang="en-US" dirty="0">
              <a:solidFill>
                <a:prstClr val="black">
                  <a:tint val="75000"/>
                </a:prstClr>
              </a:solidFill>
            </a:endParaRPr>
          </a:p>
        </p:txBody>
      </p:sp>
    </p:spTree>
    <p:extLst>
      <p:ext uri="{BB962C8B-B14F-4D97-AF65-F5344CB8AC3E}">
        <p14:creationId xmlns:p14="http://schemas.microsoft.com/office/powerpoint/2010/main" val="3407839570"/>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7768</TotalTime>
  <Words>5274</Words>
  <Application>Microsoft Office PowerPoint</Application>
  <PresentationFormat>와이드스크린</PresentationFormat>
  <Paragraphs>1819</Paragraphs>
  <Slides>90</Slides>
  <Notes>2</Notes>
  <HiddenSlides>0</HiddenSlides>
  <MMClips>0</MMClips>
  <ScaleCrop>false</ScaleCrop>
  <HeadingPairs>
    <vt:vector size="6" baseType="variant">
      <vt:variant>
        <vt:lpstr>사용한 글꼴</vt:lpstr>
      </vt:variant>
      <vt:variant>
        <vt:i4>5</vt:i4>
      </vt:variant>
      <vt:variant>
        <vt:lpstr>테마</vt:lpstr>
      </vt:variant>
      <vt:variant>
        <vt:i4>2</vt:i4>
      </vt:variant>
      <vt:variant>
        <vt:lpstr>슬라이드 제목</vt:lpstr>
      </vt:variant>
      <vt:variant>
        <vt:i4>90</vt:i4>
      </vt:variant>
    </vt:vector>
  </HeadingPairs>
  <TitlesOfParts>
    <vt:vector size="97" baseType="lpstr">
      <vt:lpstr>맑은 고딕</vt:lpstr>
      <vt:lpstr>Arial</vt:lpstr>
      <vt:lpstr>HY견명조</vt:lpstr>
      <vt:lpstr>돋움</vt:lpstr>
      <vt:lpstr>210 앱굴림 R</vt:lpstr>
      <vt:lpstr>Office 테마</vt:lpstr>
      <vt:lpstr>1_Office 테마</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YEONGBEOM KIM</dc:creator>
  <cp:lastModifiedBy>Windows 사용자</cp:lastModifiedBy>
  <cp:revision>528</cp:revision>
  <dcterms:created xsi:type="dcterms:W3CDTF">2017-06-15T12:10:59Z</dcterms:created>
  <dcterms:modified xsi:type="dcterms:W3CDTF">2019-01-12T18:50:04Z</dcterms:modified>
</cp:coreProperties>
</file>