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17"/>
  </p:notesMasterIdLst>
  <p:sldIdLst>
    <p:sldId id="273" r:id="rId3"/>
    <p:sldId id="260" r:id="rId4"/>
    <p:sldId id="375" r:id="rId5"/>
    <p:sldId id="288" r:id="rId6"/>
    <p:sldId id="289" r:id="rId7"/>
    <p:sldId id="341" r:id="rId8"/>
    <p:sldId id="266" r:id="rId9"/>
    <p:sldId id="290" r:id="rId10"/>
    <p:sldId id="342" r:id="rId11"/>
    <p:sldId id="276" r:id="rId12"/>
    <p:sldId id="339" r:id="rId13"/>
    <p:sldId id="332" r:id="rId14"/>
    <p:sldId id="291" r:id="rId15"/>
    <p:sldId id="333" r:id="rId16"/>
    <p:sldId id="334" r:id="rId17"/>
    <p:sldId id="343" r:id="rId18"/>
    <p:sldId id="329" r:id="rId19"/>
    <p:sldId id="347" r:id="rId20"/>
    <p:sldId id="348" r:id="rId21"/>
    <p:sldId id="351" r:id="rId22"/>
    <p:sldId id="402" r:id="rId23"/>
    <p:sldId id="349" r:id="rId24"/>
    <p:sldId id="350" r:id="rId25"/>
    <p:sldId id="352" r:id="rId26"/>
    <p:sldId id="355" r:id="rId27"/>
    <p:sldId id="382" r:id="rId28"/>
    <p:sldId id="381" r:id="rId29"/>
    <p:sldId id="410" r:id="rId30"/>
    <p:sldId id="353" r:id="rId31"/>
    <p:sldId id="412" r:id="rId32"/>
    <p:sldId id="380" r:id="rId33"/>
    <p:sldId id="416" r:id="rId34"/>
    <p:sldId id="417" r:id="rId35"/>
    <p:sldId id="384" r:id="rId36"/>
    <p:sldId id="386" r:id="rId37"/>
    <p:sldId id="385" r:id="rId38"/>
    <p:sldId id="413" r:id="rId39"/>
    <p:sldId id="409" r:id="rId40"/>
    <p:sldId id="401" r:id="rId41"/>
    <p:sldId id="405" r:id="rId42"/>
    <p:sldId id="404" r:id="rId43"/>
    <p:sldId id="414" r:id="rId44"/>
    <p:sldId id="403" r:id="rId45"/>
    <p:sldId id="388" r:id="rId46"/>
    <p:sldId id="415" r:id="rId47"/>
    <p:sldId id="408" r:id="rId48"/>
    <p:sldId id="387" r:id="rId49"/>
    <p:sldId id="379" r:id="rId50"/>
    <p:sldId id="378" r:id="rId51"/>
    <p:sldId id="330" r:id="rId52"/>
    <p:sldId id="340" r:id="rId53"/>
    <p:sldId id="335" r:id="rId54"/>
    <p:sldId id="356" r:id="rId55"/>
    <p:sldId id="357" r:id="rId56"/>
    <p:sldId id="358" r:id="rId57"/>
    <p:sldId id="359" r:id="rId58"/>
    <p:sldId id="360" r:id="rId59"/>
    <p:sldId id="376" r:id="rId60"/>
    <p:sldId id="361" r:id="rId61"/>
    <p:sldId id="362" r:id="rId62"/>
    <p:sldId id="363" r:id="rId63"/>
    <p:sldId id="364" r:id="rId64"/>
    <p:sldId id="365" r:id="rId65"/>
    <p:sldId id="366" r:id="rId66"/>
    <p:sldId id="367" r:id="rId67"/>
    <p:sldId id="368" r:id="rId68"/>
    <p:sldId id="370" r:id="rId69"/>
    <p:sldId id="369" r:id="rId70"/>
    <p:sldId id="371" r:id="rId71"/>
    <p:sldId id="373" r:id="rId72"/>
    <p:sldId id="372" r:id="rId73"/>
    <p:sldId id="374" r:id="rId74"/>
    <p:sldId id="377" r:id="rId75"/>
    <p:sldId id="354" r:id="rId76"/>
    <p:sldId id="336" r:id="rId77"/>
    <p:sldId id="338" r:id="rId78"/>
    <p:sldId id="337" r:id="rId79"/>
    <p:sldId id="390" r:id="rId80"/>
    <p:sldId id="391" r:id="rId81"/>
    <p:sldId id="394" r:id="rId82"/>
    <p:sldId id="392" r:id="rId83"/>
    <p:sldId id="395" r:id="rId84"/>
    <p:sldId id="397" r:id="rId85"/>
    <p:sldId id="396" r:id="rId86"/>
    <p:sldId id="399" r:id="rId87"/>
    <p:sldId id="400" r:id="rId88"/>
    <p:sldId id="398" r:id="rId89"/>
    <p:sldId id="393" r:id="rId90"/>
    <p:sldId id="315" r:id="rId91"/>
    <p:sldId id="325" r:id="rId92"/>
    <p:sldId id="316" r:id="rId93"/>
    <p:sldId id="317" r:id="rId94"/>
    <p:sldId id="318" r:id="rId95"/>
    <p:sldId id="324" r:id="rId96"/>
    <p:sldId id="323" r:id="rId97"/>
    <p:sldId id="327" r:id="rId98"/>
    <p:sldId id="328" r:id="rId99"/>
    <p:sldId id="319" r:id="rId100"/>
    <p:sldId id="320" r:id="rId101"/>
    <p:sldId id="321" r:id="rId102"/>
    <p:sldId id="326" r:id="rId103"/>
    <p:sldId id="322" r:id="rId104"/>
    <p:sldId id="294" r:id="rId105"/>
    <p:sldId id="293" r:id="rId106"/>
    <p:sldId id="295" r:id="rId107"/>
    <p:sldId id="308" r:id="rId108"/>
    <p:sldId id="296" r:id="rId109"/>
    <p:sldId id="309" r:id="rId110"/>
    <p:sldId id="302" r:id="rId111"/>
    <p:sldId id="303" r:id="rId112"/>
    <p:sldId id="306" r:id="rId113"/>
    <p:sldId id="314" r:id="rId114"/>
    <p:sldId id="307" r:id="rId115"/>
    <p:sldId id="275" r:id="rId116"/>
  </p:sldIdLst>
  <p:sldSz cx="12192000" cy="6858000"/>
  <p:notesSz cx="6858000" cy="9144000"/>
  <p:embeddedFontLst>
    <p:embeddedFont>
      <p:font typeface="HY견명조" panose="02030600000101010101" pitchFamily="18" charset="-127"/>
      <p:regular r:id="rId118"/>
    </p:embeddedFont>
    <p:embeddedFont>
      <p:font typeface="맑은 고딕" panose="020B0503020000020004" pitchFamily="50" charset="-127"/>
      <p:regular r:id="rId119"/>
      <p:bold r:id="rId120"/>
    </p:embeddedFont>
    <p:embeddedFont>
      <p:font typeface="210 앱굴림 R" panose="02020603020101020101" pitchFamily="18" charset="-127"/>
      <p:regular r:id="rId12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4" autoAdjust="0"/>
    <p:restoredTop sz="94660" autoAdjust="0"/>
  </p:normalViewPr>
  <p:slideViewPr>
    <p:cSldViewPr snapToGrid="0">
      <p:cViewPr varScale="1">
        <p:scale>
          <a:sx n="115" d="100"/>
          <a:sy n="115" d="100"/>
        </p:scale>
        <p:origin x="660" y="108"/>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font" Target="fonts/font1.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2.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3.fntdata"/><Relationship Id="rId125"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4.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2019-01-24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2019-01-24</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2019-01-24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2019-01-24</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2019-01-24</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2019-01-24</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112.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Saver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947423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179850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a:gradFill>
                  <a:gsLst>
                    <a:gs pos="0">
                      <a:schemeClr val="tx1"/>
                    </a:gs>
                    <a:gs pos="100000">
                      <a:schemeClr val="tx1"/>
                    </a:gs>
                  </a:gsLst>
                  <a:lin ang="5400000" scaled="1"/>
                </a:gradFill>
                <a:latin typeface="맑은 고딕" panose="020B0503020000020004" pitchFamily="50" charset="-127"/>
              </a:rPr>
              <a:t>맵 디자인 </a:t>
            </a:r>
            <a:r>
              <a:rPr lang="ko-KR" altLang="en-US" sz="2200" b="1" dirty="0" smtClean="0">
                <a:gradFill>
                  <a:gsLst>
                    <a:gs pos="0">
                      <a:schemeClr val="tx1"/>
                    </a:gs>
                    <a:gs pos="100000">
                      <a:schemeClr val="tx1"/>
                    </a:gs>
                  </a:gsLst>
                  <a:lin ang="5400000" scaled="1"/>
                </a:gradFill>
                <a:latin typeface="맑은 고딕" panose="020B0503020000020004" pitchFamily="50" charset="-127"/>
              </a:rPr>
              <a:t>규칙</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29" name="TextBox 28"/>
          <p:cNvSpPr txBox="1"/>
          <p:nvPr/>
        </p:nvSpPr>
        <p:spPr>
          <a:xfrm>
            <a:off x="5492687" y="240252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00228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a:gradFill>
                  <a:gsLst>
                    <a:gs pos="0">
                      <a:schemeClr val="tx1"/>
                    </a:gs>
                    <a:gs pos="100000">
                      <a:schemeClr val="tx1"/>
                    </a:gs>
                  </a:gsLst>
                  <a:lin ang="5400000" scaled="1"/>
                </a:gradFill>
                <a:latin typeface="맑은 고딕" panose="020B0503020000020004" pitchFamily="50" charset="-127"/>
              </a:rPr>
              <a:t>에어리어</a:t>
            </a:r>
            <a:r>
              <a:rPr lang="ko-KR" altLang="en-US" sz="2200" b="1" dirty="0">
                <a:gradFill>
                  <a:gsLst>
                    <a:gs pos="0">
                      <a:schemeClr val="tx1"/>
                    </a:gs>
                    <a:gs pos="100000">
                      <a:schemeClr val="tx1"/>
                    </a:gs>
                  </a:gsLst>
                  <a:lin ang="5400000" scaled="1"/>
                </a:gradFill>
                <a:latin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rPr>
              <a:t>특수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4151583" y="628263"/>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92687" y="119874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TextBox 32"/>
          <p:cNvSpPr txBox="1"/>
          <p:nvPr/>
        </p:nvSpPr>
        <p:spPr>
          <a:xfrm>
            <a:off x="4151583" y="3695700"/>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492687" y="426618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a:gradFill>
                  <a:gsLst>
                    <a:gs pos="0">
                      <a:schemeClr val="tx1"/>
                    </a:gs>
                    <a:gs pos="100000">
                      <a:schemeClr val="tx1"/>
                    </a:gs>
                  </a:gsLst>
                  <a:lin ang="5400000" scaled="1"/>
                </a:gradFill>
                <a:latin typeface="맑은 고딕" panose="020B0503020000020004" pitchFamily="50" charset="-127"/>
              </a:rPr>
              <a:t>파티 및 정화 </a:t>
            </a:r>
            <a:r>
              <a:rPr lang="ko-KR" altLang="en-US" sz="2200" b="1" dirty="0" smtClean="0">
                <a:gradFill>
                  <a:gsLst>
                    <a:gs pos="0">
                      <a:schemeClr val="tx1"/>
                    </a:gs>
                    <a:gs pos="100000">
                      <a:schemeClr val="tx1"/>
                    </a:gs>
                  </a:gsLst>
                  <a:lin ang="5400000" scaled="1"/>
                </a:gradFill>
                <a:latin typeface="맑은 고딕" panose="020B0503020000020004" pitchFamily="50" charset="-127"/>
              </a:rPr>
              <a:t>시스템</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36" name="TextBox 35"/>
          <p:cNvSpPr txBox="1"/>
          <p:nvPr/>
        </p:nvSpPr>
        <p:spPr>
          <a:xfrm>
            <a:off x="5492687" y="483666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a:gradFill>
                  <a:gsLst>
                    <a:gs pos="0">
                      <a:schemeClr val="tx1"/>
                    </a:gs>
                    <a:gs pos="100000">
                      <a:schemeClr val="tx1"/>
                    </a:gs>
                  </a:gsLst>
                  <a:lin ang="5400000" scaled="1"/>
                </a:gradFill>
                <a:latin typeface="맑은 고딕" panose="020B0503020000020004" pitchFamily="50" charset="-127"/>
              </a:rPr>
              <a:t>턴 전투 방식</a:t>
            </a:r>
          </a:p>
        </p:txBody>
      </p:sp>
      <p:sp>
        <p:nvSpPr>
          <p:cNvPr id="37" name="TextBox 36"/>
          <p:cNvSpPr txBox="1"/>
          <p:nvPr/>
        </p:nvSpPr>
        <p:spPr>
          <a:xfrm>
            <a:off x="5492687" y="540714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기본 설정</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0" name="TextBox 39"/>
          <p:cNvSpPr txBox="1"/>
          <p:nvPr/>
        </p:nvSpPr>
        <p:spPr>
          <a:xfrm>
            <a:off x="5492687" y="59717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유지 데이터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4635852"/>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5943303"/>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sp>
        <p:nvSpPr>
          <p:cNvPr id="13" name="TextBox 12"/>
          <p:cNvSpPr txBox="1"/>
          <p:nvPr/>
        </p:nvSpPr>
        <p:spPr>
          <a:xfrm>
            <a:off x="4218258" y="2781781"/>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5559363" y="335629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 name="TextBox 14"/>
          <p:cNvSpPr txBox="1"/>
          <p:nvPr/>
        </p:nvSpPr>
        <p:spPr>
          <a:xfrm>
            <a:off x="5559363" y="39539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TextBox 15"/>
          <p:cNvSpPr txBox="1"/>
          <p:nvPr/>
        </p:nvSpPr>
        <p:spPr>
          <a:xfrm>
            <a:off x="4218259" y="211491"/>
            <a:ext cx="7708320"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 name="TextBox 16"/>
          <p:cNvSpPr txBox="1"/>
          <p:nvPr/>
        </p:nvSpPr>
        <p:spPr>
          <a:xfrm>
            <a:off x="5559363" y="74454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8" name="TextBox 17"/>
          <p:cNvSpPr txBox="1"/>
          <p:nvPr/>
        </p:nvSpPr>
        <p:spPr>
          <a:xfrm>
            <a:off x="5559363" y="131656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5559363" y="18941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559363" y="239995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기획 컨셉 및 개요</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6</a:t>
            </a:fld>
            <a:endParaRPr lang="ko-KR" altLang="en-US" dirty="0">
              <a:solidFill>
                <a:prstClr val="black">
                  <a:tint val="75000"/>
                </a:prstClr>
              </a:solidFill>
            </a:endParaRPr>
          </a:p>
        </p:txBody>
      </p:sp>
    </p:spTree>
    <p:extLst>
      <p:ext uri="{BB962C8B-B14F-4D97-AF65-F5344CB8AC3E}">
        <p14:creationId xmlns:p14="http://schemas.microsoft.com/office/powerpoint/2010/main" val="79592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19052"/>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용사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던전에서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획득할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9929013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Saver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소개</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9</a:t>
            </a:fld>
            <a:endParaRPr lang="ko-KR" altLang="en-US" dirty="0">
              <a:solidFill>
                <a:prstClr val="black">
                  <a:tint val="75000"/>
                </a:prstClr>
              </a:solidFill>
            </a:endParaRPr>
          </a:p>
        </p:txBody>
      </p:sp>
    </p:spTree>
    <p:extLst>
      <p:ext uri="{BB962C8B-B14F-4D97-AF65-F5344CB8AC3E}">
        <p14:creationId xmlns:p14="http://schemas.microsoft.com/office/powerpoint/2010/main" val="3539076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과연 용사는 무사히 마왕을 무찌르고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4848564"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 </a:t>
            </a:r>
            <a:r>
              <a:rPr lang="ko-KR" altLang="en-US" dirty="0" err="1" smtClean="0">
                <a:latin typeface="+mn-ea"/>
              </a:rPr>
              <a:t>몬스터들과</a:t>
            </a:r>
            <a:r>
              <a:rPr lang="ko-KR" altLang="en-US" dirty="0" smtClean="0">
                <a:latin typeface="+mn-ea"/>
              </a:rPr>
              <a:t> 함께 더욱 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독특하고 고유한 능력과 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 정화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13" name="TextBox 12"/>
          <p:cNvSpPr txBox="1"/>
          <p:nvPr/>
        </p:nvSpPr>
        <p:spPr>
          <a:xfrm>
            <a:off x="5280346" y="1164288"/>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편</a:t>
            </a:r>
            <a:r>
              <a:rPr lang="ko-KR" altLang="en-US" dirty="0" smtClean="0">
                <a:latin typeface="+mn-ea"/>
              </a:rPr>
              <a:t>으로 만들 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따라 정화 방법과 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레벨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16</a:t>
            </a:fld>
            <a:endParaRPr lang="ko-KR" altLang="en-US" dirty="0">
              <a:solidFill>
                <a:prstClr val="black">
                  <a:tint val="75000"/>
                </a:prstClr>
              </a:solidFill>
            </a:endParaRPr>
          </a:p>
        </p:txBody>
      </p:sp>
    </p:spTree>
    <p:extLst>
      <p:ext uri="{BB962C8B-B14F-4D97-AF65-F5344CB8AC3E}">
        <p14:creationId xmlns:p14="http://schemas.microsoft.com/office/powerpoint/2010/main" val="35017810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TextBox 95"/>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계층은 차후 추가될 수 있습니다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6" name="꺾인 연결선 5"/>
          <p:cNvCxnSpPr>
            <a:stCxn id="14" idx="6"/>
            <a:endCxn id="38" idx="2"/>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a:stCxn id="44" idx="6"/>
            <a:endCxn id="134" idx="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a:stCxn id="134" idx="3"/>
            <a:endCxn id="58" idx="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a:stCxn id="68" idx="6"/>
            <a:endCxn id="135" idx="1"/>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a:stCxn id="135" idx="3"/>
            <a:endCxn id="89" idx="2"/>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1" name="꺾인 연결선 100"/>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모서리가 둥근 직사각형 105"/>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0" name="모서리가 둥근 직사각형 109"/>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꺾인 연결선 10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도넛 76"/>
          <p:cNvSpPr/>
          <p:nvPr/>
        </p:nvSpPr>
        <p:spPr>
          <a:xfrm>
            <a:off x="349545" y="3112030"/>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18" name="다이아몬드 117"/>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1365061" y="1202758"/>
            <a:ext cx="6099450" cy="1958532"/>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600" b="1" dirty="0" smtClean="0">
                <a:solidFill>
                  <a:sysClr val="windowText" lastClr="000000"/>
                </a:solidFill>
              </a:rPr>
              <a:t>‘</a:t>
            </a:r>
            <a:r>
              <a:rPr lang="ko-KR" altLang="en-US" sz="1600" b="1" dirty="0" smtClean="0">
                <a:solidFill>
                  <a:sysClr val="windowText" lastClr="000000"/>
                </a:solidFill>
              </a:rPr>
              <a:t>입구</a:t>
            </a:r>
            <a:r>
              <a:rPr lang="en-US" altLang="ko-KR" sz="1600" b="1" dirty="0" smtClean="0">
                <a:solidFill>
                  <a:sysClr val="windowText" lastClr="000000"/>
                </a:solidFill>
              </a:rPr>
              <a:t>’</a:t>
            </a:r>
          </a:p>
          <a:p>
            <a:pPr>
              <a:lnSpc>
                <a:spcPct val="200000"/>
              </a:lnSpc>
            </a:pPr>
            <a:r>
              <a:rPr lang="en-US" altLang="ko-KR" sz="1400" dirty="0">
                <a:solidFill>
                  <a:sysClr val="windowText" lastClr="000000"/>
                </a:solidFill>
              </a:rPr>
              <a:t>#1 </a:t>
            </a:r>
            <a:r>
              <a:rPr lang="ko-KR" altLang="en-US" sz="1400" dirty="0">
                <a:solidFill>
                  <a:sysClr val="windowText" lastClr="000000"/>
                </a:solidFill>
              </a:rPr>
              <a:t>플레이어에게 던전 탐험의 시작점을 명시적으로 표시해준다</a:t>
            </a:r>
            <a:r>
              <a:rPr lang="en-US" altLang="ko-KR" sz="1400" dirty="0" smtClean="0">
                <a:solidFill>
                  <a:sysClr val="windowText" lastClr="000000"/>
                </a:solidFill>
              </a:rPr>
              <a:t>.</a:t>
            </a:r>
            <a:br>
              <a:rPr lang="en-US" altLang="ko-KR" sz="1400" dirty="0" smtClean="0">
                <a:solidFill>
                  <a:sysClr val="windowText" lastClr="000000"/>
                </a:solidFill>
              </a:rPr>
            </a:br>
            <a:r>
              <a:rPr lang="en-US" altLang="ko-KR" sz="1400" dirty="0" smtClean="0">
                <a:solidFill>
                  <a:sysClr val="windowText" lastClr="000000"/>
                </a:solidFill>
              </a:rPr>
              <a:t>#</a:t>
            </a:r>
            <a:r>
              <a:rPr lang="en-US" altLang="ko-KR" sz="1400" dirty="0">
                <a:solidFill>
                  <a:sysClr val="windowText" lastClr="000000"/>
                </a:solidFill>
              </a:rPr>
              <a:t>2 </a:t>
            </a:r>
            <a:r>
              <a:rPr lang="ko-KR" altLang="en-US" sz="1400" dirty="0">
                <a:solidFill>
                  <a:sysClr val="windowText" lastClr="000000"/>
                </a:solidFill>
              </a:rPr>
              <a:t>던전 </a:t>
            </a:r>
            <a:r>
              <a:rPr lang="ko-KR" altLang="en-US" sz="1400" dirty="0" err="1">
                <a:solidFill>
                  <a:sysClr val="windowText" lastClr="000000"/>
                </a:solidFill>
              </a:rPr>
              <a:t>최심부에</a:t>
            </a:r>
            <a:r>
              <a:rPr lang="ko-KR" altLang="en-US" sz="1400" dirty="0">
                <a:solidFill>
                  <a:sysClr val="windowText" lastClr="000000"/>
                </a:solidFill>
              </a:rPr>
              <a:t> 대조되는 상징의 장소로서 던전의 </a:t>
            </a:r>
            <a:r>
              <a:rPr lang="ko-KR" altLang="en-US" sz="1400" dirty="0" err="1">
                <a:solidFill>
                  <a:sysClr val="windowText" lastClr="000000"/>
                </a:solidFill>
              </a:rPr>
              <a:t>최우측에</a:t>
            </a:r>
            <a:r>
              <a:rPr lang="ko-KR" altLang="en-US" sz="1400" dirty="0">
                <a:solidFill>
                  <a:sysClr val="windowText" lastClr="000000"/>
                </a:solidFill>
              </a:rPr>
              <a:t> 위치한다</a:t>
            </a:r>
            <a:r>
              <a:rPr lang="en-US" altLang="ko-KR" sz="1400" dirty="0" smtClean="0">
                <a:solidFill>
                  <a:sysClr val="windowText" lastClr="000000"/>
                </a:solidFill>
              </a:rPr>
              <a:t>.</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#3 </a:t>
            </a:r>
            <a:r>
              <a:rPr lang="ko-KR" altLang="en-US" sz="1400" dirty="0">
                <a:solidFill>
                  <a:sysClr val="windowText" lastClr="000000"/>
                </a:solidFill>
              </a:rPr>
              <a:t>플레이어의 원활한 초반 진행을 위해</a:t>
            </a:r>
            <a:r>
              <a:rPr lang="en-US" altLang="ko-KR" sz="1400" dirty="0">
                <a:solidFill>
                  <a:sysClr val="windowText" lastClr="000000"/>
                </a:solidFill>
              </a:rPr>
              <a:t>, </a:t>
            </a:r>
            <a:r>
              <a:rPr lang="ko-KR" altLang="en-US" sz="1400" dirty="0" err="1">
                <a:solidFill>
                  <a:sysClr val="windowText" lastClr="000000"/>
                </a:solidFill>
              </a:rPr>
              <a:t>아티팩트를</a:t>
            </a:r>
            <a:r>
              <a:rPr lang="ko-KR" altLang="en-US" sz="1400" dirty="0">
                <a:solidFill>
                  <a:sysClr val="windowText" lastClr="000000"/>
                </a:solidFill>
              </a:rPr>
              <a:t> 획득할 수 있다</a:t>
            </a:r>
            <a:r>
              <a:rPr lang="en-US" altLang="ko-KR" sz="1400" dirty="0">
                <a:solidFill>
                  <a:sysClr val="windowText" lastClr="000000"/>
                </a:solidFill>
              </a:rPr>
              <a:t>.</a:t>
            </a:r>
            <a:endParaRPr lang="en-US" altLang="ko-KR" sz="1200" dirty="0">
              <a:solidFill>
                <a:sysClr val="windowText" lastClr="000000"/>
              </a:solidFill>
            </a:endParaRPr>
          </a:p>
        </p:txBody>
      </p:sp>
      <p:cxnSp>
        <p:nvCxnSpPr>
          <p:cNvPr id="144" name="꺾인 연결선 143"/>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5" name="꺾인 연결선 14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8827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1881609" y="772115"/>
            <a:ext cx="6484697" cy="299393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계단</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계층을 잇는 길로서</a:t>
            </a:r>
            <a:r>
              <a:rPr lang="en-US" altLang="ko-KR" sz="1400" dirty="0" smtClean="0">
                <a:solidFill>
                  <a:sysClr val="windowText" lastClr="000000"/>
                </a:solidFill>
              </a:rPr>
              <a:t>, </a:t>
            </a:r>
            <a:r>
              <a:rPr lang="ko-KR" altLang="en-US" sz="1400" dirty="0" smtClean="0">
                <a:solidFill>
                  <a:sysClr val="windowText" lastClr="000000"/>
                </a:solidFill>
              </a:rPr>
              <a:t>더욱 깊은 곳으로 향한다는 느낌을 주고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계층간의 경계를 나누는 역할을 한다</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#2 </a:t>
            </a:r>
            <a:r>
              <a:rPr lang="ko-KR" altLang="en-US" sz="1400" dirty="0" smtClean="0">
                <a:solidFill>
                  <a:sysClr val="windowText" lastClr="000000"/>
                </a:solidFill>
              </a:rPr>
              <a:t>미지의 던전을 탐험하는 분위기를 연출하고</a:t>
            </a:r>
            <a:r>
              <a:rPr lang="en-US" altLang="ko-KR" sz="1400" dirty="0" smtClean="0">
                <a:solidFill>
                  <a:sysClr val="windowText" lastClr="000000"/>
                </a:solidFill>
              </a:rPr>
              <a:t> </a:t>
            </a:r>
            <a:r>
              <a:rPr lang="ko-KR" altLang="en-US" sz="1400" dirty="0" smtClean="0">
                <a:solidFill>
                  <a:sysClr val="windowText" lastClr="000000"/>
                </a:solidFill>
              </a:rPr>
              <a:t>너무 빠른 진행을 막기 위해</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플레이어는 기본적으로 계단의 위치를 알 수 없으며</a:t>
            </a:r>
            <a:r>
              <a:rPr lang="en-US" altLang="ko-KR" sz="1400" dirty="0" smtClean="0">
                <a:solidFill>
                  <a:sysClr val="windowText" lastClr="000000"/>
                </a:solidFill>
              </a:rPr>
              <a:t>, </a:t>
            </a:r>
            <a:r>
              <a:rPr lang="ko-KR" altLang="en-US" sz="1400" dirty="0" smtClean="0">
                <a:solidFill>
                  <a:sysClr val="windowText" lastClr="000000"/>
                </a:solidFill>
              </a:rPr>
              <a:t>일정한 규칙에 따라</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err="1" smtClean="0">
                <a:solidFill>
                  <a:sysClr val="windowText" lastClr="000000"/>
                </a:solidFill>
              </a:rPr>
              <a:t>맵이</a:t>
            </a:r>
            <a:r>
              <a:rPr lang="ko-KR" altLang="en-US" sz="1400" dirty="0" smtClean="0">
                <a:solidFill>
                  <a:sysClr val="windowText" lastClr="000000"/>
                </a:solidFill>
              </a:rPr>
              <a:t> 재설정될 때마다 계단의 위치와 연결이 변한다</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다음 계층으로 넘어간 뒤에는 이전 계층으로 돌아갈 수 없도록 설정하여</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던전을 탐험한다는 개념에 충실하고</a:t>
            </a:r>
            <a:r>
              <a:rPr lang="en-US" altLang="ko-KR" sz="1400" dirty="0" smtClean="0">
                <a:solidFill>
                  <a:sysClr val="windowText" lastClr="000000"/>
                </a:solidFill>
              </a:rPr>
              <a:t>, </a:t>
            </a:r>
            <a:r>
              <a:rPr lang="ko-KR" altLang="en-US" sz="1400" dirty="0" smtClean="0">
                <a:solidFill>
                  <a:sysClr val="windowText" lastClr="000000"/>
                </a:solidFill>
              </a:rPr>
              <a:t>이전 층을 도로 탐험하면서 게임이 </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속도감을 잃고 지루해지는 것을 예방한다</a:t>
            </a:r>
            <a:r>
              <a:rPr lang="en-US" altLang="ko-KR" sz="1400" dirty="0" smtClean="0">
                <a:solidFill>
                  <a:sysClr val="windowText" lastClr="000000"/>
                </a:solidFill>
              </a:rPr>
              <a:t>.</a:t>
            </a:r>
            <a:endParaRPr lang="en-US" altLang="ko-KR" sz="1400" dirty="0">
              <a:solidFill>
                <a:sysClr val="windowText" lastClr="000000"/>
              </a:solidFill>
            </a:endParaRPr>
          </a:p>
        </p:txBody>
      </p:sp>
      <p:sp>
        <p:nvSpPr>
          <p:cNvPr id="106" name="도넛 105"/>
          <p:cNvSpPr/>
          <p:nvPr/>
        </p:nvSpPr>
        <p:spPr>
          <a:xfrm>
            <a:off x="1476039" y="3787676"/>
            <a:ext cx="783158" cy="71772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5" name="꺾인 연결선 144"/>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꺾인 연결선 146"/>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9309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2096169" y="4241515"/>
            <a:ext cx="720826" cy="66892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28" name="꺾인 연결선 12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9" name="꺾인 연결선 12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2" name="꺾인 연결선 131"/>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075002" y="1068558"/>
            <a:ext cx="7142638" cy="4057160"/>
          </a:xfrm>
          <a:prstGeom prst="wedgeRoundRectCallout">
            <a:avLst>
              <a:gd name="adj1" fmla="val -55414"/>
              <a:gd name="adj2" fmla="val 339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에어리어</a:t>
            </a:r>
            <a:r>
              <a:rPr lang="en-US" altLang="ko-KR" sz="1600" b="1" dirty="0" smtClean="0">
                <a:solidFill>
                  <a:sysClr val="windowText" lastClr="000000"/>
                </a:solidFill>
              </a:rPr>
              <a:t>’</a:t>
            </a:r>
          </a:p>
          <a:p>
            <a:endParaRPr lang="en-US" altLang="ko-KR" sz="1600" b="1" dirty="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계층을 구성하는 단위로</a:t>
            </a:r>
            <a:r>
              <a:rPr lang="en-US" altLang="ko-KR" sz="1400" dirty="0" smtClean="0">
                <a:solidFill>
                  <a:sysClr val="windowText" lastClr="000000"/>
                </a:solidFill>
              </a:rPr>
              <a:t>, </a:t>
            </a:r>
            <a:r>
              <a:rPr lang="ko-KR" altLang="en-US" sz="1400" dirty="0" smtClean="0">
                <a:solidFill>
                  <a:sysClr val="windowText" lastClr="000000"/>
                </a:solidFill>
              </a:rPr>
              <a:t>전투 혹은 </a:t>
            </a:r>
            <a:r>
              <a:rPr lang="ko-KR" altLang="en-US" sz="1400" dirty="0" err="1" smtClean="0">
                <a:solidFill>
                  <a:sysClr val="windowText" lastClr="000000"/>
                </a:solidFill>
              </a:rPr>
              <a:t>비전투</a:t>
            </a:r>
            <a:r>
              <a:rPr lang="ko-KR" altLang="en-US" sz="1400" dirty="0" smtClean="0">
                <a:solidFill>
                  <a:sysClr val="windowText" lastClr="000000"/>
                </a:solidFill>
              </a:rPr>
              <a:t> 이벤트를 가지고 있음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전투와 이벤트가 발생하는 주무대로서</a:t>
            </a:r>
            <a:r>
              <a:rPr lang="en-US" altLang="ko-KR" sz="1400" dirty="0" smtClean="0">
                <a:solidFill>
                  <a:sysClr val="windowText" lastClr="000000"/>
                </a:solidFill>
              </a:rPr>
              <a:t>, </a:t>
            </a:r>
            <a:r>
              <a:rPr lang="ko-KR" altLang="en-US" sz="1400" dirty="0" smtClean="0">
                <a:solidFill>
                  <a:sysClr val="windowText" lastClr="000000"/>
                </a:solidFill>
              </a:rPr>
              <a:t>던전의 계층을 이루는 하나의 방이라는</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 개념을 사용하여</a:t>
            </a:r>
            <a:r>
              <a:rPr lang="en-US" altLang="ko-KR" sz="1400" dirty="0" smtClean="0">
                <a:solidFill>
                  <a:sysClr val="windowText" lastClr="000000"/>
                </a:solidFill>
              </a:rPr>
              <a:t> </a:t>
            </a:r>
            <a:r>
              <a:rPr lang="ko-KR" altLang="en-US" sz="1400" dirty="0" smtClean="0">
                <a:solidFill>
                  <a:sysClr val="windowText" lastClr="000000"/>
                </a:solidFill>
              </a:rPr>
              <a:t>플레이어가 </a:t>
            </a:r>
            <a:r>
              <a:rPr lang="ko-KR" altLang="en-US" sz="1400" dirty="0" err="1" smtClean="0">
                <a:solidFill>
                  <a:sysClr val="windowText" lastClr="000000"/>
                </a:solidFill>
              </a:rPr>
              <a:t>에어리어</a:t>
            </a:r>
            <a:r>
              <a:rPr lang="ko-KR" altLang="en-US" sz="1400" dirty="0" smtClean="0">
                <a:solidFill>
                  <a:sysClr val="windowText" lastClr="000000"/>
                </a:solidFill>
              </a:rPr>
              <a:t> 자체에 주목하게끔 유도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전리품을 통해</a:t>
            </a:r>
            <a:r>
              <a:rPr lang="en-US" altLang="ko-KR" sz="1400" dirty="0" smtClean="0">
                <a:solidFill>
                  <a:sysClr val="windowText" lastClr="000000"/>
                </a:solidFill>
              </a:rPr>
              <a:t> </a:t>
            </a:r>
            <a:r>
              <a:rPr lang="ko-KR" altLang="en-US" sz="1400" dirty="0" err="1" smtClean="0">
                <a:solidFill>
                  <a:sysClr val="windowText" lastClr="000000"/>
                </a:solidFill>
              </a:rPr>
              <a:t>에어리어마다</a:t>
            </a:r>
            <a:r>
              <a:rPr lang="ko-KR" altLang="en-US" sz="1400" dirty="0" smtClean="0">
                <a:solidFill>
                  <a:sysClr val="windowText" lastClr="000000"/>
                </a:solidFill>
              </a:rPr>
              <a:t> 클리어했을 때의 성취감을 느낄 수 있도록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#4 </a:t>
            </a:r>
            <a:r>
              <a:rPr lang="ko-KR" altLang="en-US" sz="1400" dirty="0" smtClean="0">
                <a:solidFill>
                  <a:sysClr val="windowText" lastClr="000000"/>
                </a:solidFill>
              </a:rPr>
              <a:t>정화 시스템과 연계하여</a:t>
            </a:r>
            <a:r>
              <a:rPr lang="en-US" altLang="ko-KR" sz="1400" dirty="0" smtClean="0">
                <a:solidFill>
                  <a:sysClr val="windowText" lastClr="000000"/>
                </a:solidFill>
              </a:rPr>
              <a:t>, </a:t>
            </a:r>
            <a:r>
              <a:rPr lang="ko-KR" altLang="en-US" sz="1400" dirty="0" smtClean="0">
                <a:solidFill>
                  <a:sysClr val="windowText" lastClr="000000"/>
                </a:solidFill>
              </a:rPr>
              <a:t>하나의 </a:t>
            </a:r>
            <a:r>
              <a:rPr lang="en-US" altLang="ko-KR" sz="1400" dirty="0" smtClean="0">
                <a:solidFill>
                  <a:sysClr val="windowText" lastClr="000000"/>
                </a:solidFill>
              </a:rPr>
              <a:t>(</a:t>
            </a:r>
            <a:r>
              <a:rPr lang="ko-KR" altLang="en-US" sz="1400" dirty="0" smtClean="0">
                <a:solidFill>
                  <a:sysClr val="windowText" lastClr="000000"/>
                </a:solidFill>
              </a:rPr>
              <a:t>전투</a:t>
            </a:r>
            <a:r>
              <a:rPr lang="en-US" altLang="ko-KR" sz="1400" dirty="0" smtClean="0">
                <a:solidFill>
                  <a:sysClr val="windowText" lastClr="000000"/>
                </a:solidFill>
              </a:rPr>
              <a:t>)</a:t>
            </a:r>
            <a:r>
              <a:rPr lang="ko-KR" altLang="en-US" sz="1400" dirty="0" err="1" smtClean="0">
                <a:solidFill>
                  <a:sysClr val="windowText" lastClr="000000"/>
                </a:solidFill>
              </a:rPr>
              <a:t>에어리어마다</a:t>
            </a:r>
            <a:r>
              <a:rPr lang="ko-KR" altLang="en-US" sz="1400" dirty="0" smtClean="0">
                <a:solidFill>
                  <a:sysClr val="windowText" lastClr="000000"/>
                </a:solidFill>
              </a:rPr>
              <a:t> 몬스터 </a:t>
            </a:r>
            <a:r>
              <a:rPr lang="en-US" altLang="ko-KR" sz="1400" dirty="0" smtClean="0">
                <a:solidFill>
                  <a:sysClr val="windowText" lastClr="000000"/>
                </a:solidFill>
              </a:rPr>
              <a:t>1</a:t>
            </a:r>
            <a:r>
              <a:rPr lang="ko-KR" altLang="en-US" sz="1400" dirty="0" smtClean="0">
                <a:solidFill>
                  <a:sysClr val="windowText" lastClr="000000"/>
                </a:solidFill>
              </a:rPr>
              <a:t>체를 얻게 되는</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암묵적 시스템을 구축함</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#5 ‘</a:t>
            </a:r>
            <a:r>
              <a:rPr lang="ko-KR" altLang="en-US" sz="1400" dirty="0" smtClean="0">
                <a:solidFill>
                  <a:sysClr val="windowText" lastClr="000000"/>
                </a:solidFill>
              </a:rPr>
              <a:t>저주</a:t>
            </a:r>
            <a:r>
              <a:rPr lang="en-US" altLang="ko-KR" sz="1400" dirty="0" smtClean="0">
                <a:solidFill>
                  <a:sysClr val="windowText" lastClr="000000"/>
                </a:solidFill>
              </a:rPr>
              <a:t>’ </a:t>
            </a:r>
            <a:r>
              <a:rPr lang="ko-KR" altLang="en-US" sz="1400" dirty="0" smtClean="0">
                <a:solidFill>
                  <a:sysClr val="windowText" lastClr="000000"/>
                </a:solidFill>
              </a:rPr>
              <a:t>시스템을 통해 </a:t>
            </a:r>
            <a:r>
              <a:rPr lang="ko-KR" altLang="en-US" sz="1400" dirty="0" err="1" smtClean="0">
                <a:solidFill>
                  <a:sysClr val="windowText" lastClr="000000"/>
                </a:solidFill>
              </a:rPr>
              <a:t>에어리어</a:t>
            </a:r>
            <a:r>
              <a:rPr lang="ko-KR" altLang="en-US" sz="1400" dirty="0" smtClean="0">
                <a:solidFill>
                  <a:sysClr val="windowText" lastClr="000000"/>
                </a:solidFill>
              </a:rPr>
              <a:t> 공략을 위한 전략적 플레이를 유도함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#6 </a:t>
            </a:r>
            <a:r>
              <a:rPr lang="ko-KR" altLang="en-US" sz="1400" dirty="0" smtClean="0">
                <a:solidFill>
                  <a:sysClr val="windowText" lastClr="000000"/>
                </a:solidFill>
              </a:rPr>
              <a:t>탐험</a:t>
            </a:r>
            <a:r>
              <a:rPr lang="en-US" altLang="ko-KR" sz="1400" dirty="0" smtClean="0">
                <a:solidFill>
                  <a:sysClr val="windowText" lastClr="000000"/>
                </a:solidFill>
              </a:rPr>
              <a:t>, </a:t>
            </a:r>
            <a:r>
              <a:rPr lang="ko-KR" altLang="en-US" sz="1400" dirty="0" err="1" smtClean="0">
                <a:solidFill>
                  <a:sysClr val="windowText" lastClr="000000"/>
                </a:solidFill>
              </a:rPr>
              <a:t>미탐험</a:t>
            </a:r>
            <a:r>
              <a:rPr lang="ko-KR" altLang="en-US" sz="1400" dirty="0" smtClean="0">
                <a:solidFill>
                  <a:sysClr val="windowText" lastClr="000000"/>
                </a:solidFill>
              </a:rPr>
              <a:t> 지역을 각각 백색</a:t>
            </a:r>
            <a:r>
              <a:rPr lang="en-US" altLang="ko-KR" sz="1400" dirty="0" smtClean="0">
                <a:solidFill>
                  <a:sysClr val="windowText" lastClr="000000"/>
                </a:solidFill>
              </a:rPr>
              <a:t>, </a:t>
            </a:r>
            <a:r>
              <a:rPr lang="ko-KR" altLang="en-US" sz="1400" dirty="0" smtClean="0">
                <a:solidFill>
                  <a:sysClr val="windowText" lastClr="000000"/>
                </a:solidFill>
              </a:rPr>
              <a:t>회색으로 표시하여</a:t>
            </a:r>
            <a:r>
              <a:rPr lang="en-US" altLang="ko-KR" sz="1400" dirty="0" smtClean="0">
                <a:solidFill>
                  <a:sysClr val="windowText" lastClr="000000"/>
                </a:solidFill>
              </a:rPr>
              <a:t> </a:t>
            </a:r>
            <a:r>
              <a:rPr lang="ko-KR" altLang="en-US" sz="1400" dirty="0" smtClean="0">
                <a:solidFill>
                  <a:sysClr val="windowText" lastClr="000000"/>
                </a:solidFill>
              </a:rPr>
              <a:t>시각적인 도움을 줌</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#7 </a:t>
            </a:r>
            <a:r>
              <a:rPr lang="ko-KR" altLang="en-US" sz="1400" dirty="0" smtClean="0">
                <a:solidFill>
                  <a:sysClr val="windowText" lastClr="000000"/>
                </a:solidFill>
              </a:rPr>
              <a:t>한번 탐험한 지역은 이벤트가 </a:t>
            </a:r>
            <a:r>
              <a:rPr lang="ko-KR" altLang="en-US" sz="1400" dirty="0" err="1" smtClean="0">
                <a:solidFill>
                  <a:sysClr val="windowText" lastClr="000000"/>
                </a:solidFill>
              </a:rPr>
              <a:t>재발생하지</a:t>
            </a:r>
            <a:r>
              <a:rPr lang="ko-KR" altLang="en-US" sz="1400" dirty="0" smtClean="0">
                <a:solidFill>
                  <a:sysClr val="windowText" lastClr="000000"/>
                </a:solidFill>
              </a:rPr>
              <a:t> 않게 하여 편법 플레이를 예방함</a:t>
            </a:r>
            <a:r>
              <a:rPr lang="en-US" altLang="ko-KR" sz="1400" dirty="0" smtClean="0">
                <a:solidFill>
                  <a:sysClr val="windowText" lastClr="000000"/>
                </a:solidFill>
              </a:rPr>
              <a:t>.</a:t>
            </a:r>
          </a:p>
        </p:txBody>
      </p:sp>
    </p:spTree>
    <p:extLst>
      <p:ext uri="{BB962C8B-B14F-4D97-AF65-F5344CB8AC3E}">
        <p14:creationId xmlns:p14="http://schemas.microsoft.com/office/powerpoint/2010/main" val="3487268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복도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409057" y="943576"/>
            <a:ext cx="5903585" cy="2755517"/>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복도</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a:t>
            </a:r>
            <a:r>
              <a:rPr lang="ko-KR" altLang="en-US" sz="1400" dirty="0" err="1" smtClean="0">
                <a:solidFill>
                  <a:sysClr val="windowText" lastClr="000000"/>
                </a:solidFill>
              </a:rPr>
              <a:t>에어리어를</a:t>
            </a:r>
            <a:r>
              <a:rPr lang="ko-KR" altLang="en-US" sz="1400" dirty="0" smtClean="0">
                <a:solidFill>
                  <a:sysClr val="windowText" lastClr="000000"/>
                </a:solidFill>
              </a:rPr>
              <a:t> 연결하는 길로서</a:t>
            </a:r>
            <a:r>
              <a:rPr lang="en-US" altLang="ko-KR" sz="1400" dirty="0" smtClean="0">
                <a:solidFill>
                  <a:sysClr val="windowText" lastClr="000000"/>
                </a:solidFill>
              </a:rPr>
              <a:t>, </a:t>
            </a:r>
            <a:r>
              <a:rPr lang="ko-KR" altLang="en-US" sz="1400" dirty="0" smtClean="0">
                <a:solidFill>
                  <a:sysClr val="windowText" lastClr="000000"/>
                </a:solidFill>
              </a:rPr>
              <a:t>계층 내에서 플레이어가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이동할 수 있는 경로를 나타냄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#2 </a:t>
            </a:r>
            <a:r>
              <a:rPr lang="ko-KR" altLang="en-US" sz="1400" dirty="0" smtClean="0">
                <a:solidFill>
                  <a:sysClr val="windowText" lastClr="000000"/>
                </a:solidFill>
              </a:rPr>
              <a:t>한번에 하나의 복도를 건너 다른 </a:t>
            </a:r>
            <a:r>
              <a:rPr lang="ko-KR" altLang="en-US" sz="1400" dirty="0" err="1" smtClean="0">
                <a:solidFill>
                  <a:sysClr val="windowText" lastClr="000000"/>
                </a:solidFill>
              </a:rPr>
              <a:t>에어리어로</a:t>
            </a:r>
            <a:r>
              <a:rPr lang="ko-KR" altLang="en-US" sz="1400" dirty="0" smtClean="0">
                <a:solidFill>
                  <a:sysClr val="windowText" lastClr="000000"/>
                </a:solidFill>
              </a:rPr>
              <a:t> 이동할 수 있으며</a:t>
            </a:r>
            <a:r>
              <a:rPr lang="en-US" altLang="ko-KR" sz="1400" dirty="0" smtClean="0">
                <a:solidFill>
                  <a:sysClr val="windowText" lastClr="000000"/>
                </a:solidFill>
              </a:rPr>
              <a:t>, </a:t>
            </a: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이때 방향은 왕복 모두 가능하다</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에어리어들을 일렬로 연결하여</a:t>
            </a:r>
            <a:r>
              <a:rPr lang="en-US" altLang="ko-KR" sz="1400" dirty="0" smtClean="0">
                <a:solidFill>
                  <a:sysClr val="windowText" lastClr="000000"/>
                </a:solidFill>
              </a:rPr>
              <a:t>, </a:t>
            </a:r>
            <a:r>
              <a:rPr lang="ko-KR" altLang="en-US" sz="1400" dirty="0" smtClean="0">
                <a:solidFill>
                  <a:sysClr val="windowText" lastClr="000000"/>
                </a:solidFill>
              </a:rPr>
              <a:t>유저가 지하 한 층을 돌아다니며</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 탐험하는 효과를 연출함</a:t>
            </a:r>
            <a:r>
              <a:rPr lang="en-US" altLang="ko-KR" sz="1400" dirty="0" smtClean="0">
                <a:solidFill>
                  <a:sysClr val="windowText" lastClr="000000"/>
                </a:solidFill>
              </a:rPr>
              <a:t>.</a:t>
            </a:r>
            <a:endParaRPr lang="en-US" altLang="ko-KR" sz="1400" dirty="0" smtClean="0">
              <a:solidFill>
                <a:schemeClr val="tx1"/>
              </a:solidFill>
            </a:endParaRPr>
          </a:p>
        </p:txBody>
      </p:sp>
      <p:sp>
        <p:nvSpPr>
          <p:cNvPr id="106" name="도넛 105"/>
          <p:cNvSpPr/>
          <p:nvPr/>
        </p:nvSpPr>
        <p:spPr>
          <a:xfrm>
            <a:off x="2135334" y="3831830"/>
            <a:ext cx="661383" cy="660887"/>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4" name="꺾인 연결선 143"/>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5" name="꺾인 연결선 14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5066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1787188" y="627372"/>
            <a:ext cx="1335591" cy="5752149"/>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8" name="꺾인 연결선 10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201415" y="954074"/>
            <a:ext cx="6734598" cy="2824274"/>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계층</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에어리어들이 연결되어 구성된 던전의 층계로</a:t>
            </a:r>
            <a:r>
              <a:rPr lang="en-US" altLang="ko-KR" sz="1400" dirty="0" smtClean="0">
                <a:solidFill>
                  <a:sysClr val="windowText" lastClr="000000"/>
                </a:solidFill>
              </a:rPr>
              <a:t>, </a:t>
            </a:r>
            <a:r>
              <a:rPr lang="ko-KR" altLang="en-US" sz="1400" dirty="0" smtClean="0">
                <a:solidFill>
                  <a:sysClr val="windowText" lastClr="000000"/>
                </a:solidFill>
              </a:rPr>
              <a:t>던전을 이루는 큰 줄기</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역할을 맡아 플레이어가 커다란 스테이지를 체험할 수 있게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계단을 통해 계층을 이동할 수 있으며</a:t>
            </a:r>
            <a:r>
              <a:rPr lang="en-US" altLang="ko-KR" sz="1400" dirty="0" smtClean="0">
                <a:solidFill>
                  <a:sysClr val="windowText" lastClr="000000"/>
                </a:solidFill>
              </a:rPr>
              <a:t>, </a:t>
            </a:r>
            <a:r>
              <a:rPr lang="ko-KR" altLang="en-US" sz="1400" dirty="0" smtClean="0">
                <a:solidFill>
                  <a:sysClr val="windowText" lastClr="000000"/>
                </a:solidFill>
              </a:rPr>
              <a:t>이 때 계단은 계층 내 한 </a:t>
            </a:r>
            <a:r>
              <a:rPr lang="ko-KR" altLang="en-US" sz="1400" dirty="0" err="1" smtClean="0">
                <a:solidFill>
                  <a:sysClr val="windowText" lastClr="000000"/>
                </a:solidFill>
              </a:rPr>
              <a:t>에어리어에</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붙어 생성됨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#3 </a:t>
            </a:r>
            <a:r>
              <a:rPr lang="ko-KR" altLang="en-US" sz="1400" dirty="0" smtClean="0">
                <a:solidFill>
                  <a:sysClr val="windowText" lastClr="000000"/>
                </a:solidFill>
              </a:rPr>
              <a:t>계층이 깊어질수록 등장하는 몬스터의 조합이 강해지고</a:t>
            </a:r>
            <a:r>
              <a:rPr lang="en-US" altLang="ko-KR" sz="1400" dirty="0" smtClean="0">
                <a:solidFill>
                  <a:sysClr val="windowText" lastClr="000000"/>
                </a:solidFill>
              </a:rPr>
              <a:t> </a:t>
            </a:r>
            <a:r>
              <a:rPr lang="ko-KR" altLang="en-US" sz="1400" dirty="0" smtClean="0">
                <a:solidFill>
                  <a:sysClr val="windowText" lastClr="000000"/>
                </a:solidFill>
              </a:rPr>
              <a:t>더 좋은 아이템이</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나오도록 설정하여</a:t>
            </a:r>
            <a:r>
              <a:rPr lang="en-US" altLang="ko-KR" sz="1400" dirty="0" smtClean="0">
                <a:solidFill>
                  <a:sysClr val="windowText" lastClr="000000"/>
                </a:solidFill>
              </a:rPr>
              <a:t>, </a:t>
            </a:r>
            <a:r>
              <a:rPr lang="ko-KR" altLang="en-US" sz="1400" dirty="0" smtClean="0">
                <a:solidFill>
                  <a:sysClr val="windowText" lastClr="000000"/>
                </a:solidFill>
              </a:rPr>
              <a:t>후반부로 갈수록 </a:t>
            </a:r>
            <a:r>
              <a:rPr lang="ko-KR" altLang="en-US" sz="1400" dirty="0" err="1" smtClean="0">
                <a:solidFill>
                  <a:sysClr val="windowText" lastClr="000000"/>
                </a:solidFill>
              </a:rPr>
              <a:t>하이리스크</a:t>
            </a:r>
            <a:r>
              <a:rPr lang="en-US" altLang="ko-KR" sz="1400" dirty="0" smtClean="0">
                <a:solidFill>
                  <a:sysClr val="windowText" lastClr="000000"/>
                </a:solidFill>
              </a:rPr>
              <a:t>-</a:t>
            </a:r>
            <a:r>
              <a:rPr lang="ko-KR" altLang="en-US" sz="1400" dirty="0" err="1" smtClean="0">
                <a:solidFill>
                  <a:sysClr val="windowText" lastClr="000000"/>
                </a:solidFill>
              </a:rPr>
              <a:t>하이리턴의</a:t>
            </a:r>
            <a:r>
              <a:rPr lang="ko-KR" altLang="en-US" sz="1400" dirty="0" smtClean="0">
                <a:solidFill>
                  <a:sysClr val="windowText" lastClr="000000"/>
                </a:solidFill>
              </a:rPr>
              <a:t> 플레이를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유도하고 이를 통해 유저의 긴장감을 높이고 성취감을 자극시킴</a:t>
            </a:r>
            <a:r>
              <a:rPr lang="en-US" altLang="ko-KR" sz="1400" dirty="0" smtClean="0">
                <a:solidFill>
                  <a:sysClr val="windowText" lastClr="000000"/>
                </a:solidFill>
              </a:rPr>
              <a:t>.</a:t>
            </a:r>
            <a:endParaRPr lang="en-US" altLang="ko-KR" sz="1400" dirty="0">
              <a:solidFill>
                <a:schemeClr val="tx1"/>
              </a:solidFill>
            </a:endParaRPr>
          </a:p>
        </p:txBody>
      </p:sp>
    </p:spTree>
    <p:extLst>
      <p:ext uri="{BB962C8B-B14F-4D97-AF65-F5344CB8AC3E}">
        <p14:creationId xmlns:p14="http://schemas.microsoft.com/office/powerpoint/2010/main" val="9429588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중간보스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3956295" y="3225026"/>
            <a:ext cx="1195282" cy="11497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8" name="꺾인 연결선 10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4789098" y="831368"/>
            <a:ext cx="6650674" cy="243046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중간보스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#1 </a:t>
            </a:r>
            <a:r>
              <a:rPr lang="en-US" altLang="ko-KR" sz="1400" dirty="0" smtClean="0">
                <a:solidFill>
                  <a:sysClr val="windowText" lastClr="000000"/>
                </a:solidFill>
              </a:rPr>
              <a:t>3</a:t>
            </a:r>
            <a:r>
              <a:rPr lang="ko-KR" altLang="en-US" sz="1400" dirty="0" smtClean="0">
                <a:solidFill>
                  <a:sysClr val="windowText" lastClr="000000"/>
                </a:solidFill>
              </a:rPr>
              <a:t>배수 계층을 보스 </a:t>
            </a:r>
            <a:r>
              <a:rPr lang="ko-KR" altLang="en-US" sz="1400" dirty="0" err="1" smtClean="0">
                <a:solidFill>
                  <a:sysClr val="windowText" lastClr="000000"/>
                </a:solidFill>
              </a:rPr>
              <a:t>에어리어로</a:t>
            </a:r>
            <a:r>
              <a:rPr lang="ko-KR" altLang="en-US" sz="1400" dirty="0" smtClean="0">
                <a:solidFill>
                  <a:sysClr val="windowText" lastClr="000000"/>
                </a:solidFill>
              </a:rPr>
              <a:t> 설정하여 강력한 보스와의 전투를 강제함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a:t>
            </a:r>
            <a:r>
              <a:rPr lang="en-US" altLang="ko-KR" sz="1400" dirty="0" smtClean="0">
                <a:solidFill>
                  <a:sysClr val="windowText" lastClr="000000"/>
                </a:solidFill>
              </a:rPr>
              <a:t>2 </a:t>
            </a:r>
            <a:r>
              <a:rPr lang="ko-KR" altLang="en-US" sz="1400" dirty="0" smtClean="0">
                <a:solidFill>
                  <a:sysClr val="windowText" lastClr="000000"/>
                </a:solidFill>
              </a:rPr>
              <a:t>최종 던전 </a:t>
            </a:r>
            <a:r>
              <a:rPr lang="ko-KR" altLang="en-US" sz="1400" dirty="0" err="1" smtClean="0">
                <a:solidFill>
                  <a:sysClr val="windowText" lastClr="000000"/>
                </a:solidFill>
              </a:rPr>
              <a:t>클리어</a:t>
            </a:r>
            <a:r>
              <a:rPr lang="ko-KR" altLang="en-US" sz="1400" dirty="0" smtClean="0">
                <a:solidFill>
                  <a:sysClr val="windowText" lastClr="000000"/>
                </a:solidFill>
              </a:rPr>
              <a:t> 이전의 중간 목표로서 플레이의 이정표 역할을 수행하고</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 중간 중간에 게임의 </a:t>
            </a:r>
            <a:r>
              <a:rPr lang="ko-KR" altLang="en-US" sz="1400" dirty="0">
                <a:solidFill>
                  <a:sysClr val="windowText" lastClr="000000"/>
                </a:solidFill>
              </a:rPr>
              <a:t>긴장감을 </a:t>
            </a:r>
            <a:r>
              <a:rPr lang="ko-KR" altLang="en-US" sz="1400" dirty="0" err="1" smtClean="0">
                <a:solidFill>
                  <a:sysClr val="windowText" lastClr="000000"/>
                </a:solidFill>
              </a:rPr>
              <a:t>높여줌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확정적인 </a:t>
            </a:r>
            <a:r>
              <a:rPr lang="ko-KR" altLang="en-US" sz="1400" dirty="0" err="1" smtClean="0">
                <a:solidFill>
                  <a:sysClr val="windowText" lastClr="000000"/>
                </a:solidFill>
              </a:rPr>
              <a:t>아티팩트</a:t>
            </a:r>
            <a:r>
              <a:rPr lang="ko-KR" altLang="en-US" sz="1400" dirty="0" smtClean="0">
                <a:solidFill>
                  <a:sysClr val="windowText" lastClr="000000"/>
                </a:solidFill>
              </a:rPr>
              <a:t> </a:t>
            </a:r>
            <a:r>
              <a:rPr lang="ko-KR" altLang="en-US" sz="1400" dirty="0" err="1" smtClean="0">
                <a:solidFill>
                  <a:sysClr val="windowText" lastClr="000000"/>
                </a:solidFill>
              </a:rPr>
              <a:t>드랍과</a:t>
            </a:r>
            <a:r>
              <a:rPr lang="ko-KR" altLang="en-US" sz="1400" dirty="0" smtClean="0">
                <a:solidFill>
                  <a:sysClr val="windowText" lastClr="000000"/>
                </a:solidFill>
              </a:rPr>
              <a:t> 같이</a:t>
            </a:r>
            <a:r>
              <a:rPr lang="en-US" altLang="ko-KR" sz="1400" dirty="0" smtClean="0">
                <a:solidFill>
                  <a:sysClr val="windowText" lastClr="000000"/>
                </a:solidFill>
              </a:rPr>
              <a:t>, </a:t>
            </a:r>
            <a:r>
              <a:rPr lang="ko-KR" altLang="en-US" sz="1400" dirty="0" smtClean="0">
                <a:solidFill>
                  <a:sysClr val="windowText" lastClr="000000"/>
                </a:solidFill>
              </a:rPr>
              <a:t>일반 에어리어보다 우수한 보상을 통해</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유저들의 도전의식과 성취감을 고취시키고 게임 내 밸런스를 조정함</a:t>
            </a:r>
            <a:r>
              <a:rPr lang="en-US" altLang="ko-KR" sz="1400" dirty="0" smtClean="0">
                <a:solidFill>
                  <a:sysClr val="windowText" lastClr="000000"/>
                </a:solidFill>
              </a:rPr>
              <a:t>.</a:t>
            </a:r>
          </a:p>
        </p:txBody>
      </p:sp>
    </p:spTree>
    <p:extLst>
      <p:ext uri="{BB962C8B-B14F-4D97-AF65-F5344CB8AC3E}">
        <p14:creationId xmlns:p14="http://schemas.microsoft.com/office/powerpoint/2010/main" val="1114662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최종보스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10541498" y="3198865"/>
            <a:ext cx="1219963" cy="11644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5671185" y="1062267"/>
            <a:ext cx="5164433" cy="1936816"/>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최종보스</a:t>
            </a:r>
            <a:r>
              <a:rPr lang="en-US" altLang="ko-KR" sz="1600" b="1"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가장 마지막 </a:t>
            </a:r>
            <a:r>
              <a:rPr lang="ko-KR" altLang="en-US" sz="1400" dirty="0">
                <a:solidFill>
                  <a:sysClr val="windowText" lastClr="000000"/>
                </a:solidFill>
              </a:rPr>
              <a:t>계층을 </a:t>
            </a:r>
            <a:r>
              <a:rPr lang="ko-KR" altLang="en-US" sz="1400" dirty="0" smtClean="0">
                <a:solidFill>
                  <a:sysClr val="windowText" lastClr="000000"/>
                </a:solidFill>
              </a:rPr>
              <a:t>최종 보스 </a:t>
            </a:r>
            <a:r>
              <a:rPr lang="ko-KR" altLang="en-US" sz="1400" dirty="0" err="1">
                <a:solidFill>
                  <a:sysClr val="windowText" lastClr="000000"/>
                </a:solidFill>
              </a:rPr>
              <a:t>에어리어로</a:t>
            </a:r>
            <a:r>
              <a:rPr lang="ko-KR" altLang="en-US" sz="1400" dirty="0">
                <a:solidFill>
                  <a:sysClr val="windowText" lastClr="000000"/>
                </a:solidFill>
              </a:rPr>
              <a:t> </a:t>
            </a:r>
            <a:r>
              <a:rPr lang="ko-KR" altLang="en-US" sz="1400" dirty="0" smtClean="0">
                <a:solidFill>
                  <a:sysClr val="windowText" lastClr="000000"/>
                </a:solidFill>
              </a:rPr>
              <a:t>설정함</a:t>
            </a:r>
            <a:r>
              <a:rPr lang="en-US" altLang="ko-KR" sz="1400" dirty="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게임 승리 조건이자 목표로서</a:t>
            </a:r>
            <a:r>
              <a:rPr lang="en-US" altLang="ko-KR" sz="1400" dirty="0" smtClean="0">
                <a:solidFill>
                  <a:sysClr val="windowText" lastClr="000000"/>
                </a:solidFill>
              </a:rPr>
              <a:t>, </a:t>
            </a:r>
            <a:r>
              <a:rPr lang="ko-KR" altLang="en-US" sz="1400" dirty="0" smtClean="0">
                <a:solidFill>
                  <a:sysClr val="windowText" lastClr="000000"/>
                </a:solidFill>
              </a:rPr>
              <a:t>던전의 </a:t>
            </a:r>
            <a:r>
              <a:rPr lang="ko-KR" altLang="en-US" sz="1400" dirty="0" err="1" smtClean="0">
                <a:solidFill>
                  <a:sysClr val="windowText" lastClr="000000"/>
                </a:solidFill>
              </a:rPr>
              <a:t>최심부에</a:t>
            </a:r>
            <a:r>
              <a:rPr lang="ko-KR" altLang="en-US" sz="1400" dirty="0" smtClean="0">
                <a:solidFill>
                  <a:sysClr val="windowText" lastClr="000000"/>
                </a:solidFill>
              </a:rPr>
              <a:t> 위치시</a:t>
            </a:r>
            <a:r>
              <a:rPr lang="ko-KR" altLang="en-US" sz="1400" dirty="0">
                <a:solidFill>
                  <a:sysClr val="windowText" lastClr="000000"/>
                </a:solidFill>
              </a:rPr>
              <a:t>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유저의 목표의식과 도전정신을 자극함</a:t>
            </a:r>
            <a:r>
              <a:rPr lang="en-US" altLang="ko-KR" sz="1400" dirty="0" smtClean="0">
                <a:solidFill>
                  <a:sysClr val="windowText" lastClr="000000"/>
                </a:solidFill>
              </a:rPr>
              <a:t>.</a:t>
            </a:r>
          </a:p>
        </p:txBody>
      </p:sp>
    </p:spTree>
    <p:extLst>
      <p:ext uri="{BB962C8B-B14F-4D97-AF65-F5344CB8AC3E}">
        <p14:creationId xmlns:p14="http://schemas.microsoft.com/office/powerpoint/2010/main" val="25729399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13" name="사각형 설명선 112"/>
          <p:cNvSpPr/>
          <p:nvPr/>
        </p:nvSpPr>
        <p:spPr>
          <a:xfrm>
            <a:off x="194201" y="1314578"/>
            <a:ext cx="1693191" cy="624773"/>
          </a:xfrm>
          <a:prstGeom prst="wedgeRectCallout">
            <a:avLst>
              <a:gd name="adj1" fmla="val -36276"/>
              <a:gd name="adj2" fmla="val -107976"/>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t>아티팩트</a:t>
            </a:r>
            <a:r>
              <a:rPr lang="ko-KR" altLang="en-US" dirty="0" smtClean="0"/>
              <a:t> 설명</a:t>
            </a:r>
            <a:endParaRPr lang="ko-KR" altLang="en-US" dirty="0"/>
          </a:p>
        </p:txBody>
      </p:sp>
      <p:cxnSp>
        <p:nvCxnSpPr>
          <p:cNvPr id="101" name="직선 화살표 연결선 100"/>
          <p:cNvCxnSpPr/>
          <p:nvPr/>
        </p:nvCxnSpPr>
        <p:spPr>
          <a:xfrm flipH="1" flipV="1">
            <a:off x="1958845" y="1936547"/>
            <a:ext cx="424674" cy="37651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273015" y="900803"/>
            <a:ext cx="4162966" cy="2996963"/>
          </a:xfrm>
          <a:prstGeom prst="wedgeRoundRectCallout">
            <a:avLst>
              <a:gd name="adj1" fmla="val -59522"/>
              <a:gd name="adj2" fmla="val -4003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아티팩트</a:t>
            </a:r>
            <a:r>
              <a:rPr lang="en-US" altLang="ko-KR" sz="1600" b="1" dirty="0" smtClean="0">
                <a:solidFill>
                  <a:sysClr val="windowText" lastClr="000000"/>
                </a:solidFill>
              </a:rPr>
              <a:t>’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보유하고 있는 </a:t>
            </a:r>
            <a:r>
              <a:rPr lang="ko-KR" altLang="en-US" sz="1400" dirty="0" err="1" smtClean="0">
                <a:solidFill>
                  <a:sysClr val="windowText" lastClr="000000"/>
                </a:solidFill>
              </a:rPr>
              <a:t>아티팩트를</a:t>
            </a:r>
            <a:r>
              <a:rPr lang="ko-KR" altLang="en-US" sz="1400" dirty="0" smtClean="0">
                <a:solidFill>
                  <a:sysClr val="windowText" lastClr="000000"/>
                </a:solidFill>
              </a:rPr>
              <a:t> 표시함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최대 </a:t>
            </a:r>
            <a:r>
              <a:rPr lang="en-US" altLang="ko-KR" sz="1400" dirty="0" smtClean="0">
                <a:solidFill>
                  <a:sysClr val="windowText" lastClr="000000"/>
                </a:solidFill>
              </a:rPr>
              <a:t>5</a:t>
            </a:r>
            <a:r>
              <a:rPr lang="ko-KR" altLang="en-US" sz="1400" dirty="0" smtClean="0">
                <a:solidFill>
                  <a:sysClr val="windowText" lastClr="000000"/>
                </a:solidFill>
              </a:rPr>
              <a:t>개까지 소지 가능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아이콘에 </a:t>
            </a:r>
            <a:r>
              <a:rPr lang="ko-KR" altLang="en-US" sz="1400" dirty="0">
                <a:solidFill>
                  <a:sysClr val="windowText" lastClr="000000"/>
                </a:solidFill>
              </a:rPr>
              <a:t>마우스를 </a:t>
            </a:r>
            <a:r>
              <a:rPr lang="ko-KR" altLang="en-US" sz="1400" dirty="0" err="1">
                <a:solidFill>
                  <a:sysClr val="windowText" lastClr="000000"/>
                </a:solidFill>
              </a:rPr>
              <a:t>가져다놓고</a:t>
            </a:r>
            <a:r>
              <a:rPr lang="ko-KR" altLang="en-US" sz="1400" dirty="0">
                <a:solidFill>
                  <a:sysClr val="windowText" lastClr="000000"/>
                </a:solidFill>
              </a:rPr>
              <a:t> </a:t>
            </a:r>
            <a:r>
              <a:rPr lang="en-US" altLang="ko-KR" sz="1400" dirty="0">
                <a:solidFill>
                  <a:sysClr val="windowText" lastClr="000000"/>
                </a:solidFill>
              </a:rPr>
              <a:t>1</a:t>
            </a:r>
            <a:r>
              <a:rPr lang="ko-KR" altLang="en-US" sz="1400" dirty="0">
                <a:solidFill>
                  <a:sysClr val="windowText" lastClr="000000"/>
                </a:solidFill>
              </a:rPr>
              <a:t>초 이상의 시간이 흐르면</a:t>
            </a:r>
            <a:r>
              <a:rPr lang="en-US" altLang="ko-KR" sz="1400" dirty="0">
                <a:solidFill>
                  <a:sysClr val="windowText" lastClr="000000"/>
                </a:solidFill>
              </a:rPr>
              <a:t>, </a:t>
            </a:r>
            <a:r>
              <a:rPr lang="ko-KR" altLang="en-US" sz="1400" dirty="0">
                <a:solidFill>
                  <a:sysClr val="windowText" lastClr="000000"/>
                </a:solidFill>
              </a:rPr>
              <a:t>해당 </a:t>
            </a:r>
            <a:r>
              <a:rPr lang="ko-KR" altLang="en-US" sz="1400" dirty="0" err="1" smtClean="0">
                <a:solidFill>
                  <a:sysClr val="windowText" lastClr="000000"/>
                </a:solidFill>
              </a:rPr>
              <a:t>아티팩트에</a:t>
            </a:r>
            <a:r>
              <a:rPr lang="ko-KR" altLang="en-US" sz="1400" dirty="0" smtClean="0">
                <a:solidFill>
                  <a:sysClr val="windowText" lastClr="000000"/>
                </a:solidFill>
              </a:rPr>
              <a:t> </a:t>
            </a:r>
            <a:r>
              <a:rPr lang="ko-KR" altLang="en-US" sz="1400" dirty="0">
                <a:solidFill>
                  <a:sysClr val="windowText" lastClr="000000"/>
                </a:solidFill>
              </a:rPr>
              <a:t>대한 </a:t>
            </a:r>
            <a:r>
              <a:rPr lang="ko-KR" altLang="en-US" sz="1400" dirty="0" smtClean="0">
                <a:solidFill>
                  <a:sysClr val="windowText" lastClr="000000"/>
                </a:solidFill>
              </a:rPr>
              <a:t>설명과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사용 가능한 </a:t>
            </a:r>
            <a:r>
              <a:rPr lang="ko-KR" altLang="en-US" sz="1400" dirty="0" err="1" smtClean="0">
                <a:solidFill>
                  <a:sysClr val="windowText" lastClr="000000"/>
                </a:solidFill>
              </a:rPr>
              <a:t>아티팩트의</a:t>
            </a:r>
            <a:r>
              <a:rPr lang="ko-KR" altLang="en-US" sz="1400" dirty="0" smtClean="0">
                <a:solidFill>
                  <a:sysClr val="windowText" lastClr="000000"/>
                </a:solidFill>
              </a:rPr>
              <a:t> 경우</a:t>
            </a:r>
            <a:r>
              <a:rPr lang="en-US" altLang="ko-KR" sz="1400" dirty="0" smtClean="0">
                <a:solidFill>
                  <a:sysClr val="windowText" lastClr="000000"/>
                </a:solidFill>
              </a:rPr>
              <a:t>, </a:t>
            </a:r>
            <a:r>
              <a:rPr lang="ko-KR" altLang="en-US" sz="1400" dirty="0" smtClean="0">
                <a:solidFill>
                  <a:sysClr val="windowText" lastClr="000000"/>
                </a:solidFill>
              </a:rPr>
              <a:t>마우스 클릭을 통해 사용할 수 있음</a:t>
            </a:r>
            <a:endParaRPr lang="en-US" altLang="ko-KR" sz="1400" dirty="0" smtClean="0">
              <a:solidFill>
                <a:sysClr val="windowText" lastClr="000000"/>
              </a:solidFill>
            </a:endParaRPr>
          </a:p>
        </p:txBody>
      </p:sp>
      <p:sp>
        <p:nvSpPr>
          <p:cNvPr id="122" name="다이아몬드 121"/>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다이아몬드 124"/>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다이아몬드 125"/>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66918" y="457139"/>
            <a:ext cx="2058105" cy="763635"/>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000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54575" y="4348988"/>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023344" y="1740271"/>
            <a:ext cx="4084642" cy="25748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파티</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 파티를 편성할 수 있는 창을 팝업</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파티창을</a:t>
            </a:r>
            <a:r>
              <a:rPr lang="ko-KR" altLang="en-US" sz="1400" dirty="0" smtClean="0">
                <a:solidFill>
                  <a:sysClr val="windowText" lastClr="000000"/>
                </a:solidFill>
              </a:rPr>
              <a:t> 통해 파티를 편성하고 캐릭터와 몬스터의 정보와 특성을 살펴볼 수 있음</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4702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87739" y="5102933"/>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378715" y="2951745"/>
            <a:ext cx="3594196" cy="20360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가방</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소지한 골드와 보유한 아이템의 정보</a:t>
            </a:r>
            <a:r>
              <a:rPr lang="en-US" altLang="ko-KR" sz="1400" dirty="0" smtClean="0">
                <a:solidFill>
                  <a:sysClr val="windowText" lastClr="000000"/>
                </a:solidFill>
              </a:rPr>
              <a:t>,</a:t>
            </a:r>
            <a:r>
              <a:rPr lang="ko-KR" altLang="en-US" sz="1400" dirty="0" smtClean="0">
                <a:solidFill>
                  <a:sysClr val="windowText" lastClr="000000"/>
                </a:solidFill>
              </a:rPr>
              <a:t> </a:t>
            </a:r>
            <a:r>
              <a:rPr lang="ko-KR" altLang="en-US" sz="1400" dirty="0">
                <a:solidFill>
                  <a:sysClr val="windowText" lastClr="000000"/>
                </a:solidFill>
              </a:rPr>
              <a:t>개</a:t>
            </a:r>
            <a:r>
              <a:rPr lang="ko-KR" altLang="en-US" sz="1400" dirty="0" smtClean="0">
                <a:solidFill>
                  <a:sysClr val="windowText" lastClr="000000"/>
                </a:solidFill>
              </a:rPr>
              <a:t>수를 살펴볼 수 있는 창을 팝업</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7332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유저 시야</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bg1"/>
                </a:solidFill>
              </a:rPr>
              <a:t>?</a:t>
            </a:r>
            <a:endParaRPr lang="ko-KR" altLang="en-US" dirty="0">
              <a:solidFill>
                <a:schemeClr val="bg1"/>
              </a:solidFill>
            </a:endParaRP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bg1"/>
                </a:solidFill>
              </a:rPr>
              <a:t>?</a:t>
            </a:r>
            <a:endParaRPr lang="ko-KR" altLang="en-US" dirty="0">
              <a:solidFill>
                <a:schemeClr val="bg1"/>
              </a:solidFill>
            </a:endParaRP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마왕</a:t>
            </a:r>
            <a:endParaRPr lang="ko-KR" altLang="en-US" dirty="0">
              <a:solidFill>
                <a:schemeClr val="bg1"/>
              </a:solidFill>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7" name="그룹 16"/>
          <p:cNvGrpSpPr/>
          <p:nvPr/>
        </p:nvGrpSpPr>
        <p:grpSpPr>
          <a:xfrm>
            <a:off x="3455516" y="4157226"/>
            <a:ext cx="286271" cy="722883"/>
            <a:chOff x="1104623" y="3211122"/>
            <a:chExt cx="286271" cy="722883"/>
          </a:xfrm>
        </p:grpSpPr>
        <p:sp>
          <p:nvSpPr>
            <p:cNvPr id="10" name="타원 9"/>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직사각형 10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직사각형 104"/>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20" name="꺾인 연결선 119"/>
          <p:cNvCxnSpPr/>
          <p:nvPr/>
        </p:nvCxnSpPr>
        <p:spPr>
          <a:xfrm>
            <a:off x="2649500" y="2194203"/>
            <a:ext cx="672352" cy="793374"/>
          </a:xfrm>
          <a:prstGeom prst="bentConnector3">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1" name="꺾인 연결선 120"/>
          <p:cNvCxnSpPr/>
          <p:nvPr/>
        </p:nvCxnSpPr>
        <p:spPr>
          <a:xfrm flipV="1">
            <a:off x="3692024" y="3785036"/>
            <a:ext cx="503457" cy="775845"/>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2" name="꺾인 연결선 121"/>
          <p:cNvCxnSpPr/>
          <p:nvPr/>
        </p:nvCxnSpPr>
        <p:spPr>
          <a:xfrm flipV="1">
            <a:off x="4894728" y="2987577"/>
            <a:ext cx="513312" cy="797459"/>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4" name="꺾인 연결선 123"/>
          <p:cNvCxnSpPr/>
          <p:nvPr/>
        </p:nvCxnSpPr>
        <p:spPr>
          <a:xfrm>
            <a:off x="6819981" y="2987577"/>
            <a:ext cx="526595" cy="784012"/>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5" name="꺾인 연결선 124"/>
          <p:cNvCxnSpPr/>
          <p:nvPr/>
        </p:nvCxnSpPr>
        <p:spPr>
          <a:xfrm flipV="1">
            <a:off x="8045823" y="2186019"/>
            <a:ext cx="498846" cy="1585570"/>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점선은  유저에게  보이지  않습니다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29" name="꺾인 연결선 128"/>
          <p:cNvCxnSpPr/>
          <p:nvPr/>
        </p:nvCxnSpPr>
        <p:spPr>
          <a:xfrm flipV="1">
            <a:off x="5763962" y="4574328"/>
            <a:ext cx="686602" cy="779928"/>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2" name="꺾인 연결선 131"/>
          <p:cNvCxnSpPr/>
          <p:nvPr/>
        </p:nvCxnSpPr>
        <p:spPr>
          <a:xfrm flipV="1">
            <a:off x="8902246" y="3767506"/>
            <a:ext cx="672352" cy="5263"/>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3" name="꺾인 연결선 132"/>
          <p:cNvCxnSpPr/>
          <p:nvPr/>
        </p:nvCxnSpPr>
        <p:spPr>
          <a:xfrm>
            <a:off x="9943162" y="2987577"/>
            <a:ext cx="822078" cy="784012"/>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0878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1" name="직선 화살표 연결선 100"/>
          <p:cNvCxnSpPr/>
          <p:nvPr/>
        </p:nvCxnSpPr>
        <p:spPr>
          <a:xfrm>
            <a:off x="1585914" y="3813679"/>
            <a:ext cx="651740" cy="6943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flipH="1" flipV="1">
            <a:off x="2674707" y="2301543"/>
            <a:ext cx="2425" cy="21217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a:off x="2649505" y="2190658"/>
            <a:ext cx="650422" cy="7157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직선 화살표 연결선 106"/>
          <p:cNvCxnSpPr/>
          <p:nvPr/>
        </p:nvCxnSpPr>
        <p:spPr>
          <a:xfrm flipH="1">
            <a:off x="3689570" y="2895411"/>
            <a:ext cx="9760" cy="15147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직선 화살표 연결선 107"/>
          <p:cNvCxnSpPr/>
          <p:nvPr/>
        </p:nvCxnSpPr>
        <p:spPr>
          <a:xfrm flipV="1">
            <a:off x="3690273" y="3744992"/>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2" name="직선 화살표 연결선 111"/>
          <p:cNvCxnSpPr/>
          <p:nvPr/>
        </p:nvCxnSpPr>
        <p:spPr>
          <a:xfrm flipV="1">
            <a:off x="4925171" y="3086744"/>
            <a:ext cx="466204" cy="6451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flipV="1">
            <a:off x="5324956" y="1351884"/>
            <a:ext cx="31102" cy="1647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직선 화살표 연결선 113"/>
          <p:cNvCxnSpPr/>
          <p:nvPr/>
        </p:nvCxnSpPr>
        <p:spPr>
          <a:xfrm flipH="1">
            <a:off x="5798913" y="1414275"/>
            <a:ext cx="24180" cy="38726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flipV="1">
            <a:off x="5798913" y="4601224"/>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직선 화살표 연결선 115"/>
          <p:cNvCxnSpPr/>
          <p:nvPr/>
        </p:nvCxnSpPr>
        <p:spPr>
          <a:xfrm flipV="1">
            <a:off x="6407760" y="2933319"/>
            <a:ext cx="2286" cy="15931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직선 화살표 연결선 116"/>
          <p:cNvCxnSpPr/>
          <p:nvPr/>
        </p:nvCxnSpPr>
        <p:spPr>
          <a:xfrm>
            <a:off x="6806090" y="3018504"/>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직선 화살표 연결선 117"/>
          <p:cNvCxnSpPr/>
          <p:nvPr/>
        </p:nvCxnSpPr>
        <p:spPr>
          <a:xfrm flipV="1">
            <a:off x="8098612" y="2301543"/>
            <a:ext cx="450660" cy="12778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직선 화살표 연결선 118"/>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flipV="1">
            <a:off x="8937095" y="3813679"/>
            <a:ext cx="564352" cy="3417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flipV="1">
            <a:off x="10000867" y="2958032"/>
            <a:ext cx="1224" cy="8457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a:off x="10040230" y="2949372"/>
            <a:ext cx="647509" cy="8984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1" name="모서리가 둥근 직사각형 110"/>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27" name="모서리가 둥근 직사각형 12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49" name="꺾인 연결선 148"/>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꺾인 연결선 15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꺾인 연결선 15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꺾인 연결선 15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꺾인 연결선 15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꺾인 연결선 15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다이아몬드 10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다이아몬드 127"/>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다이아몬드 128"/>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2" name="다이아몬드 13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4" name="그룹 123"/>
          <p:cNvGrpSpPr/>
          <p:nvPr/>
        </p:nvGrpSpPr>
        <p:grpSpPr>
          <a:xfrm>
            <a:off x="1104623" y="3211122"/>
            <a:ext cx="286271" cy="722883"/>
            <a:chOff x="1104623" y="3211122"/>
            <a:chExt cx="286271" cy="722883"/>
          </a:xfrm>
        </p:grpSpPr>
        <p:sp>
          <p:nvSpPr>
            <p:cNvPr id="125" name="타원 124"/>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직사각형 125"/>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3" name="직사각형 132"/>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1" name="직사각형 14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2" name="직사각형 141"/>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직사각형 142"/>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45" name="꺾인 연결선 144"/>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a:stCxn id="87" idx="6"/>
            <a:endCxn id="97" idx="2"/>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꺾인 연결선 146"/>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3929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마왕</a:t>
            </a:r>
            <a:endParaRPr lang="ko-KR" altLang="en-US" dirty="0">
              <a:solidFill>
                <a:schemeClr val="bg1"/>
              </a:solidFill>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3" name="꺾인 연결선 112"/>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꺾인 연결선 120"/>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꺾인 연결선 121"/>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직사각형 124"/>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26" name="곱셈 기호 125"/>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직사각형 128"/>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2" name="곱셈 기호 131"/>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3" name="직선 화살표 연결선 132"/>
          <p:cNvCxnSpPr/>
          <p:nvPr/>
        </p:nvCxnSpPr>
        <p:spPr>
          <a:xfrm>
            <a:off x="1585914" y="3813679"/>
            <a:ext cx="651740" cy="6943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1" name="직선 화살표 연결선 140"/>
          <p:cNvCxnSpPr/>
          <p:nvPr/>
        </p:nvCxnSpPr>
        <p:spPr>
          <a:xfrm flipH="1" flipV="1">
            <a:off x="2674707" y="2301543"/>
            <a:ext cx="2425" cy="21217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2" name="직선 화살표 연결선 141"/>
          <p:cNvCxnSpPr/>
          <p:nvPr/>
        </p:nvCxnSpPr>
        <p:spPr>
          <a:xfrm>
            <a:off x="2649505" y="2190658"/>
            <a:ext cx="650422" cy="7157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3" name="직선 화살표 연결선 142"/>
          <p:cNvCxnSpPr/>
          <p:nvPr/>
        </p:nvCxnSpPr>
        <p:spPr>
          <a:xfrm flipH="1">
            <a:off x="3689570" y="2895411"/>
            <a:ext cx="9760" cy="15147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4" name="직선 화살표 연결선 143"/>
          <p:cNvCxnSpPr/>
          <p:nvPr/>
        </p:nvCxnSpPr>
        <p:spPr>
          <a:xfrm flipV="1">
            <a:off x="3690273" y="3744992"/>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5" name="직선 화살표 연결선 144"/>
          <p:cNvCxnSpPr/>
          <p:nvPr/>
        </p:nvCxnSpPr>
        <p:spPr>
          <a:xfrm flipV="1">
            <a:off x="4925171" y="3086744"/>
            <a:ext cx="466204" cy="6451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6" name="직선 화살표 연결선 145"/>
          <p:cNvCxnSpPr/>
          <p:nvPr/>
        </p:nvCxnSpPr>
        <p:spPr>
          <a:xfrm flipV="1">
            <a:off x="5324956" y="1351884"/>
            <a:ext cx="31102" cy="1647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0" name="직선 화살표 연결선 149"/>
          <p:cNvCxnSpPr/>
          <p:nvPr/>
        </p:nvCxnSpPr>
        <p:spPr>
          <a:xfrm>
            <a:off x="6806090" y="3018504"/>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1" name="직선 화살표 연결선 150"/>
          <p:cNvCxnSpPr/>
          <p:nvPr/>
        </p:nvCxnSpPr>
        <p:spPr>
          <a:xfrm flipV="1">
            <a:off x="8098612" y="2301543"/>
            <a:ext cx="450660" cy="12778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2" name="직선 화살표 연결선 151"/>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7" name="그룹 16"/>
          <p:cNvGrpSpPr/>
          <p:nvPr/>
        </p:nvGrpSpPr>
        <p:grpSpPr>
          <a:xfrm>
            <a:off x="9671643" y="4081852"/>
            <a:ext cx="286271" cy="722883"/>
            <a:chOff x="1104623" y="3211122"/>
            <a:chExt cx="286271" cy="722883"/>
          </a:xfrm>
        </p:grpSpPr>
        <p:sp>
          <p:nvSpPr>
            <p:cNvPr id="10" name="타원 9"/>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직사각형 10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직사각형 104"/>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56" name="직선 화살표 연결선 155"/>
          <p:cNvCxnSpPr/>
          <p:nvPr/>
        </p:nvCxnSpPr>
        <p:spPr>
          <a:xfrm flipV="1">
            <a:off x="5798913" y="4601224"/>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7" name="직선 화살표 연결선 156"/>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8" name="직선 화살표 연결선 157"/>
          <p:cNvCxnSpPr/>
          <p:nvPr/>
        </p:nvCxnSpPr>
        <p:spPr>
          <a:xfrm flipV="1">
            <a:off x="8937095" y="3813679"/>
            <a:ext cx="564352" cy="3417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9" name="직선 화살표 연결선 158"/>
          <p:cNvCxnSpPr/>
          <p:nvPr/>
        </p:nvCxnSpPr>
        <p:spPr>
          <a:xfrm flipV="1">
            <a:off x="10000867" y="2958032"/>
            <a:ext cx="1224" cy="8457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0" name="직선 화살표 연결선 159"/>
          <p:cNvCxnSpPr/>
          <p:nvPr/>
        </p:nvCxnSpPr>
        <p:spPr>
          <a:xfrm>
            <a:off x="10040230" y="2949372"/>
            <a:ext cx="647509" cy="8984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1" name="꺾인 연결선 160"/>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2" name="꺾인 연결선 161"/>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3" name="꺾인 연결선 162"/>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4" name="직선 화살표 연결선 163"/>
          <p:cNvCxnSpPr/>
          <p:nvPr/>
        </p:nvCxnSpPr>
        <p:spPr>
          <a:xfrm flipH="1">
            <a:off x="5798913" y="1414275"/>
            <a:ext cx="24180" cy="38726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5" name="직선 화살표 연결선 164"/>
          <p:cNvCxnSpPr/>
          <p:nvPr/>
        </p:nvCxnSpPr>
        <p:spPr>
          <a:xfrm flipV="1">
            <a:off x="6407760" y="2933319"/>
            <a:ext cx="2286" cy="15931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7222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20310"/>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910168" y="1281772"/>
            <a:ext cx="10443632" cy="5262979"/>
          </a:xfrm>
          <a:prstGeom prst="rect">
            <a:avLst/>
          </a:prstGeom>
          <a:noFill/>
        </p:spPr>
        <p:txBody>
          <a:bodyPr wrap="square" rtlCol="0">
            <a:spAutoFit/>
          </a:bodyPr>
          <a:lstStyle/>
          <a:p>
            <a:pPr>
              <a:lnSpc>
                <a:spcPct val="150000"/>
              </a:lnSpc>
            </a:pPr>
            <a:r>
              <a:rPr lang="ko-KR" altLang="en-US" sz="1400" dirty="0" smtClean="0"/>
              <a:t>던전 진행 중 용사가 사망하게 되면 게임이 종료되고</a:t>
            </a:r>
            <a:r>
              <a:rPr lang="en-US" altLang="ko-KR" sz="1400" dirty="0" smtClean="0"/>
              <a:t>, </a:t>
            </a:r>
            <a:r>
              <a:rPr lang="ko-KR" altLang="en-US" sz="1400" dirty="0" smtClean="0"/>
              <a:t>던전</a:t>
            </a:r>
            <a:r>
              <a:rPr lang="en-US" altLang="ko-KR" sz="1400" dirty="0" smtClean="0"/>
              <a:t> </a:t>
            </a:r>
            <a:r>
              <a:rPr lang="ko-KR" altLang="en-US" sz="1400" dirty="0" err="1" smtClean="0"/>
              <a:t>맵이</a:t>
            </a:r>
            <a:r>
              <a:rPr lang="ko-KR" altLang="en-US" sz="1400" dirty="0"/>
              <a:t> </a:t>
            </a:r>
            <a:r>
              <a:rPr lang="ko-KR" altLang="en-US" sz="1400" dirty="0" smtClean="0"/>
              <a:t>재설계된다</a:t>
            </a:r>
            <a:r>
              <a:rPr lang="en-US" altLang="ko-KR" sz="1400" dirty="0" smtClean="0"/>
              <a:t>.</a:t>
            </a:r>
            <a:endParaRPr lang="en-US" altLang="ko-KR" sz="1400" dirty="0"/>
          </a:p>
          <a:p>
            <a:pPr>
              <a:lnSpc>
                <a:spcPct val="150000"/>
              </a:lnSpc>
            </a:pPr>
            <a:r>
              <a:rPr lang="ko-KR" altLang="en-US" sz="1400" dirty="0" smtClean="0"/>
              <a:t>이 때</a:t>
            </a:r>
            <a:r>
              <a:rPr lang="en-US" altLang="ko-KR" sz="1400" dirty="0" smtClean="0"/>
              <a:t>, </a:t>
            </a:r>
            <a:r>
              <a:rPr lang="ko-KR" altLang="en-US" sz="1400" dirty="0" smtClean="0"/>
              <a:t>데이터의 종류에 따라 처리하는 방식에 차이를 둔다</a:t>
            </a:r>
            <a:r>
              <a:rPr lang="en-US" altLang="ko-KR" sz="1400" dirty="0" smtClean="0"/>
              <a:t>.</a:t>
            </a:r>
          </a:p>
          <a:p>
            <a:pPr>
              <a:lnSpc>
                <a:spcPct val="150000"/>
              </a:lnSpc>
            </a:pPr>
            <a:endParaRPr lang="en-US" altLang="ko-KR" sz="1400" dirty="0" smtClean="0"/>
          </a:p>
          <a:p>
            <a:pPr>
              <a:lnSpc>
                <a:spcPct val="150000"/>
              </a:lnSpc>
            </a:pPr>
            <a:r>
              <a:rPr lang="en-US" altLang="ko-KR" sz="1400" dirty="0" smtClean="0"/>
              <a:t>• </a:t>
            </a:r>
            <a:r>
              <a:rPr lang="ko-KR" altLang="en-US" sz="1400" dirty="0" smtClean="0"/>
              <a:t>사망 시 </a:t>
            </a:r>
            <a:r>
              <a:rPr lang="ko-KR" altLang="en-US" sz="1400" b="1" dirty="0" smtClean="0"/>
              <a:t>소멸</a:t>
            </a:r>
            <a:r>
              <a:rPr lang="ko-KR" altLang="en-US" sz="1400" dirty="0" smtClean="0"/>
              <a:t>되는 데이터</a:t>
            </a:r>
            <a:r>
              <a:rPr lang="en-US" altLang="ko-KR" sz="1400" dirty="0"/>
              <a:t/>
            </a:r>
            <a:br>
              <a:rPr lang="en-US" altLang="ko-KR" sz="1400" dirty="0"/>
            </a:br>
            <a:r>
              <a:rPr lang="en-US" altLang="ko-KR" sz="1400" dirty="0" smtClean="0"/>
              <a:t>1)  </a:t>
            </a:r>
            <a:r>
              <a:rPr lang="ko-KR" altLang="en-US" sz="1400" dirty="0" smtClean="0"/>
              <a:t>플레이어가 보유한 몬스터</a:t>
            </a:r>
            <a:r>
              <a:rPr lang="en-US" altLang="ko-KR" sz="1400" dirty="0"/>
              <a:t> </a:t>
            </a:r>
            <a:r>
              <a:rPr lang="en-US" altLang="ko-KR" sz="1400" dirty="0" smtClean="0"/>
              <a:t>/ </a:t>
            </a:r>
            <a:r>
              <a:rPr lang="ko-KR" altLang="en-US" sz="1400" dirty="0" err="1" smtClean="0"/>
              <a:t>아티팩트</a:t>
            </a:r>
            <a:r>
              <a:rPr lang="en-US" altLang="ko-KR" sz="1400" dirty="0"/>
              <a:t> </a:t>
            </a:r>
            <a:r>
              <a:rPr lang="en-US" altLang="ko-KR" sz="1400" dirty="0" smtClean="0"/>
              <a:t>/ </a:t>
            </a:r>
            <a:r>
              <a:rPr lang="ko-KR" altLang="en-US" sz="1400" dirty="0" smtClean="0"/>
              <a:t>아이템</a:t>
            </a:r>
            <a:endParaRPr lang="en-US" altLang="ko-KR" sz="1400" dirty="0"/>
          </a:p>
          <a:p>
            <a:pPr>
              <a:lnSpc>
                <a:spcPct val="150000"/>
              </a:lnSpc>
            </a:pPr>
            <a:r>
              <a:rPr lang="en-US" altLang="ko-KR" sz="1400" dirty="0" smtClean="0"/>
              <a:t>2)  </a:t>
            </a:r>
            <a:r>
              <a:rPr lang="ko-KR" altLang="en-US" sz="1400" dirty="0" smtClean="0"/>
              <a:t>던전 </a:t>
            </a:r>
            <a:r>
              <a:rPr lang="ko-KR" altLang="en-US" sz="1400" dirty="0"/>
              <a:t>진행 </a:t>
            </a:r>
            <a:r>
              <a:rPr lang="ko-KR" altLang="en-US" sz="1400" dirty="0" smtClean="0"/>
              <a:t>상황</a:t>
            </a:r>
            <a:endParaRPr lang="en-US" altLang="ko-KR" sz="1400" dirty="0" smtClean="0"/>
          </a:p>
          <a:p>
            <a:pPr>
              <a:lnSpc>
                <a:spcPct val="150000"/>
              </a:lnSpc>
            </a:pPr>
            <a:r>
              <a:rPr lang="en-US" altLang="ko-KR" sz="1400" dirty="0" smtClean="0"/>
              <a:t/>
            </a:r>
            <a:br>
              <a:rPr lang="en-US" altLang="ko-KR" sz="1400" dirty="0" smtClean="0"/>
            </a:br>
            <a:r>
              <a:rPr lang="en-US" altLang="ko-KR" sz="1400" dirty="0" smtClean="0"/>
              <a:t>• </a:t>
            </a:r>
            <a:r>
              <a:rPr lang="ko-KR" altLang="en-US" sz="1400" dirty="0" smtClean="0"/>
              <a:t>사망 시 </a:t>
            </a:r>
            <a:r>
              <a:rPr lang="ko-KR" altLang="en-US" sz="1400" b="1" dirty="0" smtClean="0"/>
              <a:t>유지</a:t>
            </a:r>
            <a:r>
              <a:rPr lang="ko-KR" altLang="en-US" sz="1400" dirty="0" smtClean="0"/>
              <a:t>되는 데이터</a:t>
            </a:r>
            <a:r>
              <a:rPr lang="en-US" altLang="ko-KR" sz="1400" dirty="0" smtClean="0"/>
              <a:t/>
            </a:r>
            <a:br>
              <a:rPr lang="en-US" altLang="ko-KR" sz="1400" dirty="0" smtClean="0"/>
            </a:br>
            <a:r>
              <a:rPr lang="en-US" altLang="ko-KR" sz="1400" dirty="0" smtClean="0"/>
              <a:t>1)   </a:t>
            </a:r>
            <a:r>
              <a:rPr lang="ko-KR" altLang="en-US" sz="1400" dirty="0" smtClean="0"/>
              <a:t>플레이어 계정 정보</a:t>
            </a:r>
            <a:endParaRPr lang="en-US" altLang="ko-KR" sz="1400" dirty="0"/>
          </a:p>
          <a:p>
            <a:pPr marL="342900" indent="-342900">
              <a:lnSpc>
                <a:spcPct val="150000"/>
              </a:lnSpc>
              <a:buAutoNum type="arabicParenR" startAt="2"/>
            </a:pPr>
            <a:r>
              <a:rPr lang="ko-KR" altLang="en-US" sz="1400" dirty="0" smtClean="0"/>
              <a:t>도전 과제</a:t>
            </a:r>
            <a:endParaRPr lang="en-US" altLang="ko-KR" sz="1400" dirty="0" smtClean="0"/>
          </a:p>
          <a:p>
            <a:pPr marL="342900" indent="-342900">
              <a:lnSpc>
                <a:spcPct val="150000"/>
              </a:lnSpc>
              <a:buAutoNum type="arabicParenR" startAt="2"/>
            </a:pPr>
            <a:r>
              <a:rPr lang="ko-KR" altLang="en-US" sz="1400" dirty="0" smtClean="0"/>
              <a:t>몬스터 도감</a:t>
            </a:r>
            <a:endParaRPr lang="en-US" altLang="ko-KR" sz="1400" dirty="0" smtClean="0"/>
          </a:p>
          <a:p>
            <a:pPr>
              <a:lnSpc>
                <a:spcPct val="150000"/>
              </a:lnSpc>
            </a:pPr>
            <a:endParaRPr lang="en-US" altLang="ko-KR" sz="1400" dirty="0" smtClean="0"/>
          </a:p>
          <a:p>
            <a:pPr>
              <a:lnSpc>
                <a:spcPct val="150000"/>
              </a:lnSpc>
            </a:pPr>
            <a:r>
              <a:rPr lang="en-US" altLang="ko-KR" sz="1400" dirty="0" smtClean="0"/>
              <a:t>• </a:t>
            </a:r>
            <a:r>
              <a:rPr lang="ko-KR" altLang="en-US" sz="1400" dirty="0" smtClean="0"/>
              <a:t>사망 시 </a:t>
            </a:r>
            <a:r>
              <a:rPr lang="ko-KR" altLang="en-US" sz="1400" b="1" dirty="0" smtClean="0"/>
              <a:t>재설정</a:t>
            </a:r>
            <a:r>
              <a:rPr lang="ko-KR" altLang="en-US" sz="1400" dirty="0" smtClean="0"/>
              <a:t>되는 데이터</a:t>
            </a:r>
            <a:endParaRPr lang="en-US" altLang="ko-KR" sz="1400" dirty="0" smtClean="0"/>
          </a:p>
          <a:p>
            <a:pPr marL="342900" indent="-342900">
              <a:lnSpc>
                <a:spcPct val="150000"/>
              </a:lnSpc>
              <a:buAutoNum type="arabicParenR"/>
            </a:pPr>
            <a:r>
              <a:rPr lang="ko-KR" altLang="en-US" sz="1400" dirty="0" err="1" smtClean="0"/>
              <a:t>에어리어</a:t>
            </a:r>
            <a:r>
              <a:rPr lang="ko-KR" altLang="en-US" sz="1400" dirty="0" smtClean="0"/>
              <a:t> 이벤트 </a:t>
            </a:r>
            <a:r>
              <a:rPr lang="en-US" altLang="ko-KR" sz="1400" dirty="0" smtClean="0"/>
              <a:t>/ </a:t>
            </a:r>
            <a:r>
              <a:rPr lang="ko-KR" altLang="en-US" sz="1400" dirty="0" err="1" smtClean="0"/>
              <a:t>에어리어</a:t>
            </a:r>
            <a:r>
              <a:rPr lang="ko-KR" altLang="en-US" sz="1400" dirty="0" smtClean="0"/>
              <a:t> 전리품 </a:t>
            </a:r>
            <a:r>
              <a:rPr lang="en-US" altLang="ko-KR" sz="1400" dirty="0" smtClean="0"/>
              <a:t>/ </a:t>
            </a:r>
            <a:r>
              <a:rPr lang="ko-KR" altLang="en-US" sz="1400" dirty="0" smtClean="0"/>
              <a:t>상인의 판매 물품</a:t>
            </a:r>
            <a:endParaRPr lang="en-US" altLang="ko-KR" sz="1400" dirty="0"/>
          </a:p>
          <a:p>
            <a:pPr marL="342900" indent="-342900">
              <a:lnSpc>
                <a:spcPct val="150000"/>
              </a:lnSpc>
              <a:buAutoNum type="arabicParenR"/>
            </a:pPr>
            <a:r>
              <a:rPr lang="ko-KR" altLang="en-US" sz="1400" dirty="0" smtClean="0"/>
              <a:t>보스</a:t>
            </a:r>
            <a:r>
              <a:rPr lang="en-US" altLang="ko-KR" sz="1400" dirty="0" smtClean="0"/>
              <a:t> </a:t>
            </a:r>
            <a:r>
              <a:rPr lang="ko-KR" altLang="en-US" sz="1400" dirty="0" smtClean="0"/>
              <a:t>몬스터</a:t>
            </a:r>
            <a:r>
              <a:rPr lang="en-US" altLang="ko-KR" sz="1400" dirty="0"/>
              <a:t> </a:t>
            </a:r>
            <a:r>
              <a:rPr lang="en-US" altLang="ko-KR" sz="1400" dirty="0" smtClean="0"/>
              <a:t>/ </a:t>
            </a:r>
            <a:r>
              <a:rPr lang="ko-KR" altLang="en-US" sz="1400" dirty="0" smtClean="0"/>
              <a:t>전투 이벤트에 등장하는 몬스터의 조합</a:t>
            </a:r>
            <a:r>
              <a:rPr lang="en-US" altLang="ko-KR" sz="1400" dirty="0"/>
              <a:t> </a:t>
            </a:r>
            <a:r>
              <a:rPr lang="en-US" altLang="ko-KR" sz="1400" dirty="0" smtClean="0"/>
              <a:t>/ </a:t>
            </a:r>
            <a:r>
              <a:rPr lang="ko-KR" altLang="en-US" sz="1400" dirty="0" err="1" smtClean="0"/>
              <a:t>비전투</a:t>
            </a:r>
            <a:r>
              <a:rPr lang="ko-KR" altLang="en-US" sz="1400" dirty="0" smtClean="0"/>
              <a:t> 이벤트에 등장하는 물품</a:t>
            </a:r>
            <a:endParaRPr lang="en-US" altLang="ko-KR" sz="1400" dirty="0"/>
          </a:p>
          <a:p>
            <a:pPr marL="342900" indent="-342900">
              <a:lnSpc>
                <a:spcPct val="150000"/>
              </a:lnSpc>
              <a:buAutoNum type="arabicParenR"/>
            </a:pPr>
            <a:r>
              <a:rPr lang="ko-KR" altLang="en-US" sz="1400" dirty="0" smtClean="0"/>
              <a:t>계단의 위치와 연결</a:t>
            </a:r>
            <a:endParaRPr lang="en-US" altLang="ko-KR" sz="1400" dirty="0" smtClean="0"/>
          </a:p>
        </p:txBody>
      </p:sp>
    </p:spTree>
    <p:extLst>
      <p:ext uri="{BB962C8B-B14F-4D97-AF65-F5344CB8AC3E}">
        <p14:creationId xmlns:p14="http://schemas.microsoft.com/office/powerpoint/2010/main" val="34256989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907070659"/>
              </p:ext>
            </p:extLst>
          </p:nvPr>
        </p:nvGraphicFramePr>
        <p:xfrm>
          <a:off x="5158710" y="1363390"/>
          <a:ext cx="5797464" cy="2225040"/>
        </p:xfrm>
        <a:graphic>
          <a:graphicData uri="http://schemas.openxmlformats.org/drawingml/2006/table">
            <a:tbl>
              <a:tblPr firstRow="1" bandRow="1">
                <a:tableStyleId>{0505E3EF-67EA-436B-97B2-0124C06EBD24}</a:tableStyleId>
              </a:tblPr>
              <a:tblGrid>
                <a:gridCol w="1882170">
                  <a:extLst>
                    <a:ext uri="{9D8B030D-6E8A-4147-A177-3AD203B41FA5}">
                      <a16:colId xmlns:a16="http://schemas.microsoft.com/office/drawing/2014/main" val="1000123877"/>
                    </a:ext>
                  </a:extLst>
                </a:gridCol>
                <a:gridCol w="3915294">
                  <a:extLst>
                    <a:ext uri="{9D8B030D-6E8A-4147-A177-3AD203B41FA5}">
                      <a16:colId xmlns:a16="http://schemas.microsoft.com/office/drawing/2014/main" val="3244025359"/>
                    </a:ext>
                  </a:extLst>
                </a:gridCol>
              </a:tblGrid>
              <a:tr h="370840">
                <a:tc>
                  <a:txBody>
                    <a:bodyPr/>
                    <a:lstStyle/>
                    <a:p>
                      <a:pPr algn="ctr" latinLnBrk="1"/>
                      <a:r>
                        <a:rPr lang="ko-KR" altLang="en-US" b="1" dirty="0" smtClean="0"/>
                        <a:t>위치</a:t>
                      </a:r>
                      <a:endParaRPr lang="ko-KR" altLang="en-US" b="1" dirty="0"/>
                    </a:p>
                  </a:txBody>
                  <a:tcPr anchor="ctr"/>
                </a:tc>
                <a:tc>
                  <a:txBody>
                    <a:bodyPr/>
                    <a:lstStyle/>
                    <a:p>
                      <a:pPr algn="ctr" latinLnBrk="1"/>
                      <a:r>
                        <a:rPr lang="ko-KR" altLang="en-US" sz="1600" b="0" dirty="0" smtClean="0"/>
                        <a:t>던전 가장 좌측</a:t>
                      </a:r>
                      <a:endParaRPr lang="ko-KR" altLang="en-US" sz="1600" b="0" dirty="0"/>
                    </a:p>
                  </a:txBody>
                  <a:tcPr anchor="ctr"/>
                </a:tc>
                <a:extLst>
                  <a:ext uri="{0D108BD9-81ED-4DB2-BD59-A6C34878D82A}">
                    <a16:rowId xmlns:a16="http://schemas.microsoft.com/office/drawing/2014/main" val="2754621803"/>
                  </a:ext>
                </a:extLst>
              </a:tr>
              <a:tr h="370840">
                <a:tc>
                  <a:txBody>
                    <a:bodyPr/>
                    <a:lstStyle/>
                    <a:p>
                      <a:pPr algn="ctr" latinLnBrk="1"/>
                      <a:r>
                        <a:rPr lang="ko-KR" altLang="en-US" b="1" dirty="0" smtClean="0"/>
                        <a:t>특징</a:t>
                      </a:r>
                      <a:endParaRPr lang="ko-KR" altLang="en-US" b="1" dirty="0"/>
                    </a:p>
                  </a:txBody>
                  <a:tcPr anchor="ctr"/>
                </a:tc>
                <a:tc>
                  <a:txBody>
                    <a:bodyPr/>
                    <a:lstStyle/>
                    <a:p>
                      <a:pPr algn="ctr" latinLnBrk="1"/>
                      <a:r>
                        <a:rPr lang="ko-KR" altLang="en-US" sz="1600" b="0" dirty="0" smtClean="0"/>
                        <a:t>던전 탐험의 시작점</a:t>
                      </a:r>
                      <a:endParaRPr lang="ko-KR" altLang="en-US" sz="1600" b="0" dirty="0"/>
                    </a:p>
                  </a:txBody>
                  <a:tcPr anchor="ctr"/>
                </a:tc>
                <a:extLst>
                  <a:ext uri="{0D108BD9-81ED-4DB2-BD59-A6C34878D82A}">
                    <a16:rowId xmlns:a16="http://schemas.microsoft.com/office/drawing/2014/main" val="1560411499"/>
                  </a:ext>
                </a:extLst>
              </a:tr>
              <a:tr h="370840">
                <a:tc>
                  <a:txBody>
                    <a:bodyPr/>
                    <a:lstStyle/>
                    <a:p>
                      <a:pPr algn="ctr" latinLnBrk="1"/>
                      <a:r>
                        <a:rPr lang="ko-KR" altLang="en-US" b="1" dirty="0" smtClean="0"/>
                        <a:t>보유 이벤트</a:t>
                      </a:r>
                      <a:endParaRPr lang="ko-KR" altLang="en-US" b="1" dirty="0"/>
                    </a:p>
                  </a:txBody>
                  <a:tcPr anchor="ctr"/>
                </a:tc>
                <a:tc>
                  <a:txBody>
                    <a:bodyPr/>
                    <a:lstStyle/>
                    <a:p>
                      <a:pPr algn="ctr" latinLnBrk="1"/>
                      <a:r>
                        <a:rPr lang="ko-KR" altLang="en-US" sz="1600" b="0" dirty="0" err="1" smtClean="0"/>
                        <a:t>아티팩트</a:t>
                      </a:r>
                      <a:r>
                        <a:rPr lang="ko-KR" altLang="en-US" sz="1600" b="0" dirty="0" smtClean="0"/>
                        <a:t> 획득 이벤트</a:t>
                      </a:r>
                      <a:endParaRPr lang="ko-KR" altLang="en-US" sz="1600" b="0" dirty="0"/>
                    </a:p>
                  </a:txBody>
                  <a:tcPr anchor="ctr"/>
                </a:tc>
                <a:extLst>
                  <a:ext uri="{0D108BD9-81ED-4DB2-BD59-A6C34878D82A}">
                    <a16:rowId xmlns:a16="http://schemas.microsoft.com/office/drawing/2014/main" val="73311811"/>
                  </a:ext>
                </a:extLst>
              </a:tr>
              <a:tr h="370840">
                <a:tc>
                  <a:txBody>
                    <a:bodyPr/>
                    <a:lstStyle/>
                    <a:p>
                      <a:pPr algn="ctr" latinLnBrk="1"/>
                      <a:r>
                        <a:rPr lang="ko-KR" altLang="en-US" b="1" dirty="0" smtClean="0"/>
                        <a:t>재설정 요소</a:t>
                      </a:r>
                      <a:endParaRPr lang="ko-KR" altLang="en-US" b="1" dirty="0"/>
                    </a:p>
                  </a:txBody>
                  <a:tcPr anchor="ctr"/>
                </a:tc>
                <a:tc>
                  <a:txBody>
                    <a:bodyPr/>
                    <a:lstStyle/>
                    <a:p>
                      <a:pPr algn="ctr" latinLnBrk="1"/>
                      <a:r>
                        <a:rPr lang="ko-KR" altLang="en-US" sz="1600" b="0" dirty="0" smtClean="0"/>
                        <a:t>이벤트의 </a:t>
                      </a:r>
                      <a:r>
                        <a:rPr lang="ko-KR" altLang="en-US" sz="1600" b="0" dirty="0" smtClean="0"/>
                        <a:t>내용</a:t>
                      </a:r>
                      <a:endParaRPr lang="ko-KR" altLang="en-US" sz="1600" b="0" dirty="0"/>
                    </a:p>
                  </a:txBody>
                  <a:tcPr anchor="ctr"/>
                </a:tc>
                <a:extLst>
                  <a:ext uri="{0D108BD9-81ED-4DB2-BD59-A6C34878D82A}">
                    <a16:rowId xmlns:a16="http://schemas.microsoft.com/office/drawing/2014/main" val="1850730600"/>
                  </a:ext>
                </a:extLst>
              </a:tr>
              <a:tr h="370840">
                <a:tc>
                  <a:txBody>
                    <a:bodyPr/>
                    <a:lstStyle/>
                    <a:p>
                      <a:pPr algn="ctr" latinLnBrk="1"/>
                      <a:r>
                        <a:rPr lang="ko-KR" altLang="en-US" b="1" dirty="0" smtClean="0"/>
                        <a:t>디자인 컨셉</a:t>
                      </a:r>
                      <a:endParaRPr lang="ko-KR" altLang="en-US" b="1" dirty="0"/>
                    </a:p>
                  </a:txBody>
                  <a:tcPr anchor="ctr"/>
                </a:tc>
                <a:tc>
                  <a:txBody>
                    <a:bodyPr/>
                    <a:lstStyle/>
                    <a:p>
                      <a:pPr algn="ctr" latinLnBrk="1"/>
                      <a:r>
                        <a:rPr lang="ko-KR" altLang="en-US" sz="1600" b="0" dirty="0" smtClean="0"/>
                        <a:t>석재 아치형 입구</a:t>
                      </a:r>
                      <a:endParaRPr lang="ko-KR" altLang="en-US" sz="1600" b="0" dirty="0"/>
                    </a:p>
                  </a:txBody>
                  <a:tcPr anchor="ctr"/>
                </a:tc>
                <a:extLst>
                  <a:ext uri="{0D108BD9-81ED-4DB2-BD59-A6C34878D82A}">
                    <a16:rowId xmlns:a16="http://schemas.microsoft.com/office/drawing/2014/main" val="4143942144"/>
                  </a:ext>
                </a:extLst>
              </a:tr>
              <a:tr h="370840">
                <a:tc>
                  <a:txBody>
                    <a:bodyPr/>
                    <a:lstStyle/>
                    <a:p>
                      <a:pPr algn="ctr" latinLnBrk="1"/>
                      <a:r>
                        <a:rPr lang="ko-KR" altLang="en-US" b="1" dirty="0" smtClean="0"/>
                        <a:t>디자인 형식</a:t>
                      </a:r>
                      <a:endParaRPr lang="ko-KR" altLang="en-US" b="1" dirty="0"/>
                    </a:p>
                  </a:txBody>
                  <a:tcPr anchor="ctr"/>
                </a:tc>
                <a:tc>
                  <a:txBody>
                    <a:bodyPr/>
                    <a:lstStyle/>
                    <a:p>
                      <a:pPr algn="ctr" latinLnBrk="1"/>
                      <a:r>
                        <a:rPr lang="en-US" altLang="ko-KR" sz="1600" b="0" dirty="0" smtClean="0"/>
                        <a:t>2D /</a:t>
                      </a:r>
                      <a:r>
                        <a:rPr lang="en-US" altLang="ko-KR" sz="1600" b="0" baseline="0" dirty="0" smtClean="0"/>
                        <a:t> </a:t>
                      </a:r>
                      <a:r>
                        <a:rPr lang="ko-KR" altLang="en-US" sz="1600" b="0" baseline="0" dirty="0" err="1" smtClean="0"/>
                        <a:t>프론트뷰</a:t>
                      </a:r>
                      <a:endParaRPr lang="ko-KR" altLang="en-US" sz="1600" b="0" dirty="0"/>
                    </a:p>
                  </a:txBody>
                  <a:tcPr anchor="ctr"/>
                </a:tc>
                <a:extLst>
                  <a:ext uri="{0D108BD9-81ED-4DB2-BD59-A6C34878D82A}">
                    <a16:rowId xmlns:a16="http://schemas.microsoft.com/office/drawing/2014/main" val="3261920433"/>
                  </a:ext>
                </a:extLst>
              </a:tr>
            </a:tbl>
          </a:graphicData>
        </a:graphic>
      </p:graphicFrame>
      <p:pic>
        <p:nvPicPr>
          <p:cNvPr id="6" name="그림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58710" y="4076088"/>
            <a:ext cx="2053102" cy="1539827"/>
          </a:xfrm>
          <a:prstGeom prst="rect">
            <a:avLst/>
          </a:prstGeom>
        </p:spPr>
      </p:pic>
      <p:sp>
        <p:nvSpPr>
          <p:cNvPr id="13" name="TextBox 12"/>
          <p:cNvSpPr txBox="1"/>
          <p:nvPr/>
        </p:nvSpPr>
        <p:spPr>
          <a:xfrm>
            <a:off x="5133077" y="5618952"/>
            <a:ext cx="2104368"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3</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입구  컨셉</a:t>
            </a:r>
            <a:endPar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a:p>
            <a:pPr algn="ct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마  비 노 기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1371" y="4076088"/>
            <a:ext cx="2373546" cy="1539827"/>
          </a:xfrm>
          <a:prstGeom prst="rect">
            <a:avLst/>
          </a:prstGeom>
        </p:spPr>
      </p:pic>
      <p:sp>
        <p:nvSpPr>
          <p:cNvPr id="15" name="TextBox 14"/>
          <p:cNvSpPr txBox="1"/>
          <p:nvPr/>
        </p:nvSpPr>
        <p:spPr>
          <a:xfrm>
            <a:off x="8475960" y="5618952"/>
            <a:ext cx="2104368"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3</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입구  컨셉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p>
          <a:p>
            <a:pPr algn="ct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 앤 파이터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grpSp>
        <p:nvGrpSpPr>
          <p:cNvPr id="8" name="그룹 7"/>
          <p:cNvGrpSpPr/>
          <p:nvPr/>
        </p:nvGrpSpPr>
        <p:grpSpPr>
          <a:xfrm>
            <a:off x="1715980" y="1507218"/>
            <a:ext cx="1512324" cy="2311532"/>
            <a:chOff x="1715980" y="1507218"/>
            <a:chExt cx="1512324" cy="2311532"/>
          </a:xfrm>
        </p:grpSpPr>
        <p:sp>
          <p:nvSpPr>
            <p:cNvPr id="17" name="직사각형 16"/>
            <p:cNvSpPr/>
            <p:nvPr/>
          </p:nvSpPr>
          <p:spPr>
            <a:xfrm>
              <a:off x="2114136" y="1780662"/>
              <a:ext cx="736749" cy="2031690"/>
            </a:xfrm>
            <a:prstGeom prst="rect">
              <a:avLst/>
            </a:prstGeom>
            <a:solidFill>
              <a:schemeClr val="tx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막힌 원호 9"/>
            <p:cNvSpPr/>
            <p:nvPr/>
          </p:nvSpPr>
          <p:spPr>
            <a:xfrm rot="21408896">
              <a:off x="1798048" y="1510955"/>
              <a:ext cx="1346810" cy="1354669"/>
            </a:xfrm>
            <a:prstGeom prst="blockArc">
              <a:avLst>
                <a:gd name="adj1" fmla="val 10800000"/>
                <a:gd name="adj2" fmla="val 12918177"/>
                <a:gd name="adj3" fmla="val 25427"/>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1715980" y="3544430"/>
              <a:ext cx="514095"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1799430" y="3277084"/>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p:cNvSpPr/>
            <p:nvPr/>
          </p:nvSpPr>
          <p:spPr>
            <a:xfrm>
              <a:off x="1799430" y="3004882"/>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p:cNvSpPr/>
            <p:nvPr/>
          </p:nvSpPr>
          <p:spPr>
            <a:xfrm>
              <a:off x="1799430" y="2731621"/>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p:cNvSpPr/>
            <p:nvPr/>
          </p:nvSpPr>
          <p:spPr>
            <a:xfrm>
              <a:off x="1799430" y="2457301"/>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1799430" y="2189955"/>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막힌 원호 28"/>
            <p:cNvSpPr/>
            <p:nvPr/>
          </p:nvSpPr>
          <p:spPr>
            <a:xfrm rot="1894514">
              <a:off x="1799431" y="1512621"/>
              <a:ext cx="1346810" cy="1354669"/>
            </a:xfrm>
            <a:prstGeom prst="blockArc">
              <a:avLst>
                <a:gd name="adj1" fmla="val 10800000"/>
                <a:gd name="adj2" fmla="val 12810949"/>
                <a:gd name="adj3" fmla="val 25561"/>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0" name="막힌 원호 29"/>
            <p:cNvSpPr/>
            <p:nvPr/>
          </p:nvSpPr>
          <p:spPr>
            <a:xfrm rot="3839201">
              <a:off x="1799430" y="1512620"/>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1" name="막힌 원호 30"/>
            <p:cNvSpPr/>
            <p:nvPr/>
          </p:nvSpPr>
          <p:spPr>
            <a:xfrm rot="5821177">
              <a:off x="1800121" y="1509491"/>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2" name="막힌 원호 31"/>
            <p:cNvSpPr/>
            <p:nvPr/>
          </p:nvSpPr>
          <p:spPr>
            <a:xfrm rot="7791411">
              <a:off x="1799431" y="1509490"/>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4" name="막힌 원호 33"/>
            <p:cNvSpPr/>
            <p:nvPr/>
          </p:nvSpPr>
          <p:spPr>
            <a:xfrm flipH="1">
              <a:off x="1798049" y="1507218"/>
              <a:ext cx="1346810" cy="1354669"/>
            </a:xfrm>
            <a:prstGeom prst="blockArc">
              <a:avLst>
                <a:gd name="adj1" fmla="val 10800000"/>
                <a:gd name="adj2" fmla="val 12798978"/>
                <a:gd name="adj3" fmla="val 25265"/>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5" name="직사각형 34"/>
            <p:cNvSpPr/>
            <p:nvPr/>
          </p:nvSpPr>
          <p:spPr>
            <a:xfrm>
              <a:off x="2714209" y="3544430"/>
              <a:ext cx="514095"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p:cNvSpPr/>
            <p:nvPr/>
          </p:nvSpPr>
          <p:spPr>
            <a:xfrm>
              <a:off x="2797659" y="3277084"/>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p:cNvSpPr/>
            <p:nvPr/>
          </p:nvSpPr>
          <p:spPr>
            <a:xfrm>
              <a:off x="2797659" y="2996569"/>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797659" y="2723308"/>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2797659" y="2448988"/>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2797659" y="2181642"/>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502327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
        <p:nvSpPr>
          <p:cNvPr id="9" name="이등변 삼각형 8"/>
          <p:cNvSpPr/>
          <p:nvPr/>
        </p:nvSpPr>
        <p:spPr>
          <a:xfrm rot="5400000">
            <a:off x="2010445" y="2423023"/>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ko-KR" altLang="en-US" dirty="0">
              <a:solidFill>
                <a:schemeClr val="tx1"/>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52270733"/>
              </p:ext>
            </p:extLst>
          </p:nvPr>
        </p:nvGraphicFramePr>
        <p:xfrm>
          <a:off x="5158710" y="1679273"/>
          <a:ext cx="5797464" cy="2225040"/>
        </p:xfrm>
        <a:graphic>
          <a:graphicData uri="http://schemas.openxmlformats.org/drawingml/2006/table">
            <a:tbl>
              <a:tblPr firstRow="1" bandRow="1">
                <a:tableStyleId>{0505E3EF-67EA-436B-97B2-0124C06EBD24}</a:tableStyleId>
              </a:tblPr>
              <a:tblGrid>
                <a:gridCol w="1882170">
                  <a:extLst>
                    <a:ext uri="{9D8B030D-6E8A-4147-A177-3AD203B41FA5}">
                      <a16:colId xmlns:a16="http://schemas.microsoft.com/office/drawing/2014/main" val="1000123877"/>
                    </a:ext>
                  </a:extLst>
                </a:gridCol>
                <a:gridCol w="3915294">
                  <a:extLst>
                    <a:ext uri="{9D8B030D-6E8A-4147-A177-3AD203B41FA5}">
                      <a16:colId xmlns:a16="http://schemas.microsoft.com/office/drawing/2014/main" val="3244025359"/>
                    </a:ext>
                  </a:extLst>
                </a:gridCol>
              </a:tblGrid>
              <a:tr h="370840">
                <a:tc>
                  <a:txBody>
                    <a:bodyPr/>
                    <a:lstStyle/>
                    <a:p>
                      <a:pPr algn="ctr" latinLnBrk="1"/>
                      <a:r>
                        <a:rPr lang="ko-KR" altLang="en-US" b="1" dirty="0" smtClean="0"/>
                        <a:t>위치</a:t>
                      </a:r>
                      <a:endParaRPr lang="ko-KR" altLang="en-US" b="1" dirty="0"/>
                    </a:p>
                  </a:txBody>
                  <a:tcPr anchor="ctr"/>
                </a:tc>
                <a:tc>
                  <a:txBody>
                    <a:bodyPr/>
                    <a:lstStyle/>
                    <a:p>
                      <a:pPr algn="ctr" latinLnBrk="1"/>
                      <a:r>
                        <a:rPr lang="ko-KR" altLang="en-US" b="0" dirty="0" smtClean="0"/>
                        <a:t>던전 가장 좌측</a:t>
                      </a:r>
                      <a:endParaRPr lang="ko-KR" altLang="en-US" b="0" dirty="0"/>
                    </a:p>
                  </a:txBody>
                  <a:tcPr anchor="ctr"/>
                </a:tc>
                <a:extLst>
                  <a:ext uri="{0D108BD9-81ED-4DB2-BD59-A6C34878D82A}">
                    <a16:rowId xmlns:a16="http://schemas.microsoft.com/office/drawing/2014/main" val="2754621803"/>
                  </a:ext>
                </a:extLst>
              </a:tr>
              <a:tr h="370840">
                <a:tc>
                  <a:txBody>
                    <a:bodyPr/>
                    <a:lstStyle/>
                    <a:p>
                      <a:pPr algn="ctr" latinLnBrk="1"/>
                      <a:r>
                        <a:rPr lang="ko-KR" altLang="en-US" b="1" dirty="0" smtClean="0"/>
                        <a:t>특징</a:t>
                      </a:r>
                      <a:endParaRPr lang="ko-KR" altLang="en-US" b="1" dirty="0"/>
                    </a:p>
                  </a:txBody>
                  <a:tcPr anchor="ctr"/>
                </a:tc>
                <a:tc>
                  <a:txBody>
                    <a:bodyPr/>
                    <a:lstStyle/>
                    <a:p>
                      <a:pPr algn="ctr" latinLnBrk="1"/>
                      <a:r>
                        <a:rPr lang="ko-KR" altLang="en-US" b="0" dirty="0" smtClean="0"/>
                        <a:t>던전 탐험의 시작점</a:t>
                      </a:r>
                      <a:endParaRPr lang="ko-KR" altLang="en-US" b="0" dirty="0"/>
                    </a:p>
                  </a:txBody>
                  <a:tcPr anchor="ctr"/>
                </a:tc>
                <a:extLst>
                  <a:ext uri="{0D108BD9-81ED-4DB2-BD59-A6C34878D82A}">
                    <a16:rowId xmlns:a16="http://schemas.microsoft.com/office/drawing/2014/main" val="1560411499"/>
                  </a:ext>
                </a:extLst>
              </a:tr>
              <a:tr h="370840">
                <a:tc>
                  <a:txBody>
                    <a:bodyPr/>
                    <a:lstStyle/>
                    <a:p>
                      <a:pPr algn="ctr" latinLnBrk="1"/>
                      <a:r>
                        <a:rPr lang="ko-KR" altLang="en-US" b="1" dirty="0" smtClean="0"/>
                        <a:t>보유 이벤트</a:t>
                      </a:r>
                      <a:endParaRPr lang="ko-KR" altLang="en-US" b="1" dirty="0"/>
                    </a:p>
                  </a:txBody>
                  <a:tcPr anchor="ctr"/>
                </a:tc>
                <a:tc>
                  <a:txBody>
                    <a:bodyPr/>
                    <a:lstStyle/>
                    <a:p>
                      <a:pPr algn="ctr" latinLnBrk="1"/>
                      <a:r>
                        <a:rPr lang="ko-KR" altLang="en-US" b="0" dirty="0" err="1" smtClean="0"/>
                        <a:t>아티팩트</a:t>
                      </a:r>
                      <a:r>
                        <a:rPr lang="ko-KR" altLang="en-US" b="0" dirty="0" smtClean="0"/>
                        <a:t> 획득 이벤트</a:t>
                      </a:r>
                      <a:endParaRPr lang="ko-KR" altLang="en-US" b="0" dirty="0"/>
                    </a:p>
                  </a:txBody>
                  <a:tcPr anchor="ctr"/>
                </a:tc>
                <a:extLst>
                  <a:ext uri="{0D108BD9-81ED-4DB2-BD59-A6C34878D82A}">
                    <a16:rowId xmlns:a16="http://schemas.microsoft.com/office/drawing/2014/main" val="73311811"/>
                  </a:ext>
                </a:extLst>
              </a:tr>
              <a:tr h="370840">
                <a:tc>
                  <a:txBody>
                    <a:bodyPr/>
                    <a:lstStyle/>
                    <a:p>
                      <a:pPr algn="ctr" latinLnBrk="1"/>
                      <a:r>
                        <a:rPr lang="ko-KR" altLang="en-US" b="1" dirty="0" smtClean="0"/>
                        <a:t>재설정 요소</a:t>
                      </a:r>
                      <a:endParaRPr lang="ko-KR" altLang="en-US" b="1" dirty="0"/>
                    </a:p>
                  </a:txBody>
                  <a:tcPr anchor="ctr"/>
                </a:tc>
                <a:tc>
                  <a:txBody>
                    <a:bodyPr/>
                    <a:lstStyle/>
                    <a:p>
                      <a:pPr algn="ctr" latinLnBrk="1"/>
                      <a:r>
                        <a:rPr lang="ko-KR" altLang="en-US" b="0" dirty="0" smtClean="0"/>
                        <a:t>이벤트 내용</a:t>
                      </a:r>
                      <a:endParaRPr lang="ko-KR" altLang="en-US" b="0" dirty="0"/>
                    </a:p>
                  </a:txBody>
                  <a:tcPr anchor="ctr"/>
                </a:tc>
                <a:extLst>
                  <a:ext uri="{0D108BD9-81ED-4DB2-BD59-A6C34878D82A}">
                    <a16:rowId xmlns:a16="http://schemas.microsoft.com/office/drawing/2014/main" val="1850730600"/>
                  </a:ext>
                </a:extLst>
              </a:tr>
              <a:tr h="370840">
                <a:tc>
                  <a:txBody>
                    <a:bodyPr/>
                    <a:lstStyle/>
                    <a:p>
                      <a:pPr algn="ctr" latinLnBrk="1"/>
                      <a:r>
                        <a:rPr lang="ko-KR" altLang="en-US" b="1" dirty="0" smtClean="0"/>
                        <a:t>디자인 컨셉</a:t>
                      </a:r>
                      <a:endParaRPr lang="ko-KR" altLang="en-US" b="1" dirty="0"/>
                    </a:p>
                  </a:txBody>
                  <a:tcPr anchor="ctr"/>
                </a:tc>
                <a:tc>
                  <a:txBody>
                    <a:bodyPr/>
                    <a:lstStyle/>
                    <a:p>
                      <a:pPr algn="ctr" latinLnBrk="1"/>
                      <a:r>
                        <a:rPr lang="ko-KR" altLang="en-US" b="0" dirty="0" smtClean="0"/>
                        <a:t>석재 아치형 입구</a:t>
                      </a:r>
                      <a:endParaRPr lang="ko-KR" altLang="en-US" b="0" dirty="0"/>
                    </a:p>
                  </a:txBody>
                  <a:tcPr anchor="ctr"/>
                </a:tc>
                <a:extLst>
                  <a:ext uri="{0D108BD9-81ED-4DB2-BD59-A6C34878D82A}">
                    <a16:rowId xmlns:a16="http://schemas.microsoft.com/office/drawing/2014/main" val="4143942144"/>
                  </a:ext>
                </a:extLst>
              </a:tr>
              <a:tr h="370840">
                <a:tc>
                  <a:txBody>
                    <a:bodyPr/>
                    <a:lstStyle/>
                    <a:p>
                      <a:pPr algn="ctr" latinLnBrk="1"/>
                      <a:r>
                        <a:rPr lang="ko-KR" altLang="en-US" b="1" dirty="0" smtClean="0"/>
                        <a:t>디자인 형식</a:t>
                      </a:r>
                      <a:endParaRPr lang="ko-KR" altLang="en-US" b="1" dirty="0"/>
                    </a:p>
                  </a:txBody>
                  <a:tcPr anchor="ctr"/>
                </a:tc>
                <a:tc>
                  <a:txBody>
                    <a:bodyPr/>
                    <a:lstStyle/>
                    <a:p>
                      <a:pPr algn="ctr" latinLnBrk="1"/>
                      <a:r>
                        <a:rPr lang="en-US" altLang="ko-KR" b="0" dirty="0" smtClean="0"/>
                        <a:t>2D /</a:t>
                      </a:r>
                      <a:r>
                        <a:rPr lang="en-US" altLang="ko-KR" b="0" baseline="0" dirty="0" smtClean="0"/>
                        <a:t> </a:t>
                      </a:r>
                      <a:r>
                        <a:rPr lang="ko-KR" altLang="en-US" b="0" baseline="0" dirty="0" err="1" smtClean="0"/>
                        <a:t>프론트뷰</a:t>
                      </a:r>
                      <a:endParaRPr lang="ko-KR" altLang="en-US" b="0" dirty="0"/>
                    </a:p>
                  </a:txBody>
                  <a:tcPr anchor="ctr"/>
                </a:tc>
                <a:extLst>
                  <a:ext uri="{0D108BD9-81ED-4DB2-BD59-A6C34878D82A}">
                    <a16:rowId xmlns:a16="http://schemas.microsoft.com/office/drawing/2014/main" val="3261920433"/>
                  </a:ext>
                </a:extLst>
              </a:tr>
            </a:tbl>
          </a:graphicData>
        </a:graphic>
      </p:graphicFrame>
      <p:pic>
        <p:nvPicPr>
          <p:cNvPr id="6" name="그림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58710" y="4076088"/>
            <a:ext cx="2053102" cy="1539827"/>
          </a:xfrm>
          <a:prstGeom prst="rect">
            <a:avLst/>
          </a:prstGeom>
        </p:spPr>
      </p:pic>
      <p:sp>
        <p:nvSpPr>
          <p:cNvPr id="13" name="TextBox 12"/>
          <p:cNvSpPr txBox="1"/>
          <p:nvPr/>
        </p:nvSpPr>
        <p:spPr>
          <a:xfrm>
            <a:off x="5133077" y="5618952"/>
            <a:ext cx="2104368"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3</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입구  컨셉</a:t>
            </a:r>
            <a:endPar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a:p>
            <a:pPr algn="ct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마  비 노 기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1371" y="4076088"/>
            <a:ext cx="2373546" cy="1539827"/>
          </a:xfrm>
          <a:prstGeom prst="rect">
            <a:avLst/>
          </a:prstGeom>
        </p:spPr>
      </p:pic>
      <p:sp>
        <p:nvSpPr>
          <p:cNvPr id="15" name="TextBox 14"/>
          <p:cNvSpPr txBox="1"/>
          <p:nvPr/>
        </p:nvSpPr>
        <p:spPr>
          <a:xfrm>
            <a:off x="8475960" y="5618952"/>
            <a:ext cx="2104368"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3</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입구  컨셉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p>
          <a:p>
            <a:pPr algn="ct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a:t>
            </a:r>
            <a:r>
              <a:rPr lang="ko-KR" altLang="en-US"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 앤 파이터 </a:t>
            </a:r>
            <a:r>
              <a:rPr lang="en-US" altLang="ko-KR" sz="14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4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grpSp>
        <p:nvGrpSpPr>
          <p:cNvPr id="20" name="그룹 19"/>
          <p:cNvGrpSpPr/>
          <p:nvPr/>
        </p:nvGrpSpPr>
        <p:grpSpPr>
          <a:xfrm>
            <a:off x="3272989" y="3689277"/>
            <a:ext cx="1512324" cy="2313447"/>
            <a:chOff x="3271603" y="3786018"/>
            <a:chExt cx="1512324" cy="2313447"/>
          </a:xfrm>
        </p:grpSpPr>
        <p:sp>
          <p:nvSpPr>
            <p:cNvPr id="17" name="직사각형 16"/>
            <p:cNvSpPr/>
            <p:nvPr/>
          </p:nvSpPr>
          <p:spPr>
            <a:xfrm>
              <a:off x="3669759" y="4067775"/>
              <a:ext cx="736749" cy="2031690"/>
            </a:xfrm>
            <a:prstGeom prst="rect">
              <a:avLst/>
            </a:prstGeom>
            <a:solidFill>
              <a:schemeClr val="tx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막힌 원호 9"/>
            <p:cNvSpPr/>
            <p:nvPr/>
          </p:nvSpPr>
          <p:spPr>
            <a:xfrm>
              <a:off x="3355053" y="3797166"/>
              <a:ext cx="1346810" cy="1354669"/>
            </a:xfrm>
            <a:prstGeom prst="blockArc">
              <a:avLst>
                <a:gd name="adj1" fmla="val 10800000"/>
                <a:gd name="adj2" fmla="val 12798978"/>
                <a:gd name="adj3" fmla="val 25265"/>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2" name="직사각형 11"/>
            <p:cNvSpPr/>
            <p:nvPr/>
          </p:nvSpPr>
          <p:spPr>
            <a:xfrm>
              <a:off x="3271603" y="5823230"/>
              <a:ext cx="514095"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3355053" y="5555884"/>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p:cNvSpPr/>
            <p:nvPr/>
          </p:nvSpPr>
          <p:spPr>
            <a:xfrm>
              <a:off x="3355053" y="5283682"/>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p:cNvSpPr/>
            <p:nvPr/>
          </p:nvSpPr>
          <p:spPr>
            <a:xfrm>
              <a:off x="3355053" y="5010421"/>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p:cNvSpPr/>
            <p:nvPr/>
          </p:nvSpPr>
          <p:spPr>
            <a:xfrm>
              <a:off x="3355053" y="4736101"/>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3355053" y="4468755"/>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막힌 원호 28"/>
            <p:cNvSpPr/>
            <p:nvPr/>
          </p:nvSpPr>
          <p:spPr>
            <a:xfrm rot="1894514">
              <a:off x="3355054" y="3791421"/>
              <a:ext cx="1346810" cy="1354669"/>
            </a:xfrm>
            <a:prstGeom prst="blockArc">
              <a:avLst>
                <a:gd name="adj1" fmla="val 10800000"/>
                <a:gd name="adj2" fmla="val 12810924"/>
                <a:gd name="adj3" fmla="val 25561"/>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0" name="막힌 원호 29"/>
            <p:cNvSpPr/>
            <p:nvPr/>
          </p:nvSpPr>
          <p:spPr>
            <a:xfrm rot="3839201">
              <a:off x="3355053" y="3791420"/>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1" name="막힌 원호 30"/>
            <p:cNvSpPr/>
            <p:nvPr/>
          </p:nvSpPr>
          <p:spPr>
            <a:xfrm rot="5821177">
              <a:off x="3355744" y="3788291"/>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2" name="막힌 원호 31"/>
            <p:cNvSpPr/>
            <p:nvPr/>
          </p:nvSpPr>
          <p:spPr>
            <a:xfrm rot="7791411">
              <a:off x="3355054" y="3788290"/>
              <a:ext cx="1346810" cy="1354669"/>
            </a:xfrm>
            <a:prstGeom prst="blockArc">
              <a:avLst>
                <a:gd name="adj1" fmla="val 10800000"/>
                <a:gd name="adj2" fmla="val 12763293"/>
                <a:gd name="adj3" fmla="val 25506"/>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4" name="막힌 원호 33"/>
            <p:cNvSpPr/>
            <p:nvPr/>
          </p:nvSpPr>
          <p:spPr>
            <a:xfrm flipH="1">
              <a:off x="3353672" y="3786018"/>
              <a:ext cx="1346810" cy="1354669"/>
            </a:xfrm>
            <a:prstGeom prst="blockArc">
              <a:avLst>
                <a:gd name="adj1" fmla="val 10800000"/>
                <a:gd name="adj2" fmla="val 12798978"/>
                <a:gd name="adj3" fmla="val 25265"/>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5" name="직사각형 34"/>
            <p:cNvSpPr/>
            <p:nvPr/>
          </p:nvSpPr>
          <p:spPr>
            <a:xfrm>
              <a:off x="4269832" y="5823230"/>
              <a:ext cx="514095"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p:cNvSpPr/>
            <p:nvPr/>
          </p:nvSpPr>
          <p:spPr>
            <a:xfrm>
              <a:off x="4353282" y="5555884"/>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p:cNvSpPr/>
            <p:nvPr/>
          </p:nvSpPr>
          <p:spPr>
            <a:xfrm>
              <a:off x="4353282" y="5275369"/>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4353282" y="5002108"/>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353282" y="4727788"/>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353282" y="4460442"/>
              <a:ext cx="347194" cy="274320"/>
            </a:xfrm>
            <a:prstGeom prst="rect">
              <a:avLst/>
            </a:prstGeom>
            <a:solidFill>
              <a:schemeClr val="bg2">
                <a:lumMod val="7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1" name="곱셈 기호 40"/>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814624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
        <p:nvSpPr>
          <p:cNvPr id="9" name="이등변 삼각형 8"/>
          <p:cNvSpPr/>
          <p:nvPr/>
        </p:nvSpPr>
        <p:spPr>
          <a:xfrm rot="5400000">
            <a:off x="2010445" y="2423023"/>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ko-KR" altLang="en-US" dirty="0">
              <a:solidFill>
                <a:schemeClr val="tx1"/>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883" y="1629828"/>
            <a:ext cx="6934917" cy="2400657"/>
          </a:xfrm>
          <a:prstGeom prst="rect">
            <a:avLst/>
          </a:prstGeom>
          <a:noFill/>
        </p:spPr>
        <p:txBody>
          <a:bodyPr wrap="square" rtlCol="0">
            <a:spAutoFit/>
          </a:bodyPr>
          <a:lstStyle/>
          <a:p>
            <a:pPr>
              <a:lnSpc>
                <a:spcPct val="150000"/>
              </a:lnSpc>
            </a:pPr>
            <a:r>
              <a:rPr lang="en-US" altLang="ko-KR" sz="1600" dirty="0"/>
              <a:t>• </a:t>
            </a:r>
            <a:r>
              <a:rPr lang="ko-KR" altLang="en-US" sz="1400" dirty="0" err="1" smtClean="0"/>
              <a:t>던전맵</a:t>
            </a:r>
            <a:r>
              <a:rPr lang="ko-KR" altLang="en-US" sz="1400" dirty="0" smtClean="0"/>
              <a:t> 가장 좌측에 고정적으로 위치한다</a:t>
            </a:r>
            <a:r>
              <a:rPr lang="en-US" altLang="ko-KR" sz="1400" dirty="0" smtClean="0"/>
              <a:t>.</a:t>
            </a:r>
          </a:p>
          <a:p>
            <a:pPr>
              <a:lnSpc>
                <a:spcPct val="150000"/>
              </a:lnSpc>
            </a:pPr>
            <a:endParaRPr lang="en-US" altLang="ko-KR" sz="1400" dirty="0" smtClean="0"/>
          </a:p>
          <a:p>
            <a:pPr>
              <a:lnSpc>
                <a:spcPct val="150000"/>
              </a:lnSpc>
            </a:pPr>
            <a:r>
              <a:rPr lang="en-US" altLang="ko-KR" sz="1400" dirty="0" smtClean="0"/>
              <a:t>• </a:t>
            </a:r>
            <a:r>
              <a:rPr lang="ko-KR" altLang="en-US" sz="1400" dirty="0" smtClean="0"/>
              <a:t>이벤트가 발생하지 않으며</a:t>
            </a:r>
            <a:r>
              <a:rPr lang="en-US" altLang="ko-KR" sz="1400" dirty="0" smtClean="0"/>
              <a:t>, </a:t>
            </a:r>
            <a:r>
              <a:rPr lang="ko-KR" altLang="en-US" sz="1400" dirty="0" err="1" smtClean="0"/>
              <a:t>아티팩트</a:t>
            </a:r>
            <a:r>
              <a:rPr lang="ko-KR" altLang="en-US" sz="1400" dirty="0" smtClean="0"/>
              <a:t> 획득 이벤트가 발생한다</a:t>
            </a:r>
            <a:r>
              <a:rPr lang="en-US" altLang="ko-KR" sz="1400" dirty="0" smtClean="0"/>
              <a:t>.</a:t>
            </a:r>
            <a:endParaRPr lang="en-US" altLang="ko-KR" sz="1400" dirty="0"/>
          </a:p>
          <a:p>
            <a:pPr>
              <a:lnSpc>
                <a:spcPct val="150000"/>
              </a:lnSpc>
            </a:pPr>
            <a:endParaRPr lang="en-US" altLang="ko-KR" sz="1400" dirty="0" smtClean="0"/>
          </a:p>
          <a:p>
            <a:pPr>
              <a:lnSpc>
                <a:spcPct val="150000"/>
              </a:lnSpc>
            </a:pPr>
            <a:r>
              <a:rPr lang="en-US" altLang="ko-KR" sz="1400" dirty="0" smtClean="0"/>
              <a:t>• </a:t>
            </a:r>
            <a:r>
              <a:rPr lang="ko-KR" altLang="en-US" sz="1400" dirty="0" smtClean="0"/>
              <a:t>캐릭터가 던전 탐험을 시작하거나</a:t>
            </a:r>
            <a:r>
              <a:rPr lang="en-US" altLang="ko-KR" sz="1400" dirty="0" smtClean="0"/>
              <a:t>,</a:t>
            </a:r>
            <a:r>
              <a:rPr lang="ko-KR" altLang="en-US" sz="1400" dirty="0" smtClean="0"/>
              <a:t> 던전 탐험 중 사망했을 때</a:t>
            </a:r>
            <a:r>
              <a:rPr lang="en-US" altLang="ko-KR" sz="1400" dirty="0"/>
              <a:t> </a:t>
            </a:r>
            <a:r>
              <a:rPr lang="ko-KR" altLang="en-US" sz="1400" dirty="0" smtClean="0"/>
              <a:t>돌아오는 위치이다</a:t>
            </a:r>
            <a:r>
              <a:rPr lang="en-US" altLang="ko-KR" sz="1400" dirty="0" smtClean="0"/>
              <a:t>.</a:t>
            </a:r>
          </a:p>
          <a:p>
            <a:pPr>
              <a:lnSpc>
                <a:spcPct val="150000"/>
              </a:lnSpc>
            </a:pPr>
            <a:endParaRPr lang="en-US" altLang="ko-KR" sz="1400" dirty="0" smtClean="0"/>
          </a:p>
          <a:p>
            <a:pPr>
              <a:lnSpc>
                <a:spcPct val="150000"/>
              </a:lnSpc>
            </a:pPr>
            <a:r>
              <a:rPr lang="en-US" altLang="ko-KR" sz="1400" dirty="0" smtClean="0"/>
              <a:t>• </a:t>
            </a:r>
            <a:r>
              <a:rPr lang="ko-KR" altLang="en-US" sz="1400" dirty="0" err="1" smtClean="0"/>
              <a:t>아티팩트</a:t>
            </a:r>
            <a:r>
              <a:rPr lang="ko-KR" altLang="en-US" sz="1400" dirty="0" smtClean="0"/>
              <a:t> 이벤트를 제하고</a:t>
            </a:r>
            <a:r>
              <a:rPr lang="en-US" altLang="ko-KR" sz="1400" dirty="0" smtClean="0"/>
              <a:t>, </a:t>
            </a:r>
            <a:r>
              <a:rPr lang="ko-KR" altLang="en-US" sz="1400" dirty="0" smtClean="0"/>
              <a:t>용사 사망으로 인한 </a:t>
            </a:r>
            <a:r>
              <a:rPr lang="ko-KR" altLang="en-US" sz="1400" b="1" dirty="0" smtClean="0"/>
              <a:t>맵 재설정에 영향을 받지 않는다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734353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877351" y="1905307"/>
            <a:ext cx="6610838" cy="1384995"/>
          </a:xfrm>
          <a:prstGeom prst="rect">
            <a:avLst/>
          </a:prstGeom>
          <a:noFill/>
        </p:spPr>
        <p:txBody>
          <a:bodyPr wrap="square" rtlCol="0">
            <a:spAutoFit/>
          </a:bodyPr>
          <a:lstStyle/>
          <a:p>
            <a:pPr>
              <a:lnSpc>
                <a:spcPct val="150000"/>
              </a:lnSpc>
            </a:pPr>
            <a:r>
              <a:rPr lang="en-US" altLang="ko-KR" sz="1400" dirty="0"/>
              <a:t>• </a:t>
            </a:r>
            <a:r>
              <a:rPr lang="ko-KR" altLang="en-US" sz="1400" b="1" dirty="0" smtClean="0"/>
              <a:t>맵 재생성과 상관없이</a:t>
            </a:r>
            <a:r>
              <a:rPr lang="ko-KR" altLang="en-US" sz="1400" dirty="0" smtClean="0"/>
              <a:t> 동일한 계층 내의 에어리어들을 수직으로 연결한다</a:t>
            </a:r>
            <a:r>
              <a:rPr lang="en-US" altLang="ko-KR" sz="1400" dirty="0" smtClean="0"/>
              <a:t>.</a:t>
            </a:r>
            <a:endParaRPr lang="en-US" altLang="ko-KR" sz="1400" dirty="0"/>
          </a:p>
          <a:p>
            <a:pPr>
              <a:lnSpc>
                <a:spcPct val="150000"/>
              </a:lnSpc>
            </a:pPr>
            <a:endParaRPr lang="en-US" altLang="ko-KR" sz="1400" dirty="0" smtClean="0"/>
          </a:p>
          <a:p>
            <a:pPr>
              <a:lnSpc>
                <a:spcPct val="150000"/>
              </a:lnSpc>
            </a:pPr>
            <a:r>
              <a:rPr lang="en-US" altLang="ko-KR" sz="1400" dirty="0" smtClean="0"/>
              <a:t>• </a:t>
            </a:r>
            <a:r>
              <a:rPr lang="ko-KR" altLang="en-US" sz="1400" b="1" dirty="0" smtClean="0"/>
              <a:t>양방향 왕복</a:t>
            </a:r>
            <a:r>
              <a:rPr lang="ko-KR" altLang="en-US" sz="1400" dirty="0" smtClean="0"/>
              <a:t>으로 오갈 수 있으며</a:t>
            </a:r>
            <a:r>
              <a:rPr lang="en-US" altLang="ko-KR" sz="1400" dirty="0" smtClean="0"/>
              <a:t>, </a:t>
            </a:r>
            <a:r>
              <a:rPr lang="ko-KR" altLang="en-US" sz="1400" dirty="0" smtClean="0"/>
              <a:t>한번의 이동에 하나의 복도를 지나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다음 </a:t>
            </a:r>
            <a:r>
              <a:rPr lang="ko-KR" altLang="en-US" sz="1400" dirty="0" err="1" smtClean="0"/>
              <a:t>에어리어로</a:t>
            </a:r>
            <a:r>
              <a:rPr lang="ko-KR" altLang="en-US" sz="1400" dirty="0" smtClean="0"/>
              <a:t> 이동할 수 있다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2" name="직선 연결선 11"/>
          <p:cNvCxnSpPr/>
          <p:nvPr/>
        </p:nvCxnSpPr>
        <p:spPr>
          <a:xfrm>
            <a:off x="2123955" y="2796988"/>
            <a:ext cx="802541" cy="8345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4203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746244" y="1296401"/>
            <a:ext cx="8279477" cy="4847481"/>
          </a:xfrm>
          <a:prstGeom prst="rect">
            <a:avLst/>
          </a:prstGeom>
          <a:noFill/>
        </p:spPr>
        <p:txBody>
          <a:bodyPr wrap="square" rtlCol="0">
            <a:spAutoFit/>
          </a:bodyPr>
          <a:lstStyle/>
          <a:p>
            <a:pPr>
              <a:lnSpc>
                <a:spcPct val="150000"/>
              </a:lnSpc>
            </a:pPr>
            <a:r>
              <a:rPr lang="en-US" altLang="ko-KR" sz="1200" dirty="0" smtClean="0"/>
              <a:t>• </a:t>
            </a:r>
            <a:r>
              <a:rPr lang="ko-KR" altLang="en-US" sz="1200" dirty="0"/>
              <a:t>동일한 계층 </a:t>
            </a:r>
            <a:r>
              <a:rPr lang="ko-KR" altLang="en-US" sz="1200" dirty="0" smtClean="0"/>
              <a:t>내에 </a:t>
            </a:r>
            <a:r>
              <a:rPr lang="en-US" altLang="ko-KR" sz="1200" b="1" dirty="0" smtClean="0"/>
              <a:t>7</a:t>
            </a:r>
            <a:r>
              <a:rPr lang="ko-KR" altLang="en-US" sz="1200" b="1" dirty="0"/>
              <a:t>개</a:t>
            </a:r>
            <a:r>
              <a:rPr lang="ko-KR" altLang="en-US" sz="1200" dirty="0"/>
              <a:t>의 </a:t>
            </a:r>
            <a:r>
              <a:rPr lang="ko-KR" altLang="en-US" sz="1200" dirty="0" err="1"/>
              <a:t>에어리어가</a:t>
            </a:r>
            <a:r>
              <a:rPr lang="ko-KR" altLang="en-US" sz="1200" dirty="0"/>
              <a:t> </a:t>
            </a:r>
            <a:r>
              <a:rPr lang="ko-KR" altLang="en-US" sz="1200" dirty="0" smtClean="0"/>
              <a:t>고정적으로 생성되며</a:t>
            </a:r>
            <a:r>
              <a:rPr lang="en-US" altLang="ko-KR" sz="1200" dirty="0" smtClean="0"/>
              <a:t>, </a:t>
            </a:r>
            <a:r>
              <a:rPr lang="ko-KR" altLang="en-US" sz="1200" dirty="0" smtClean="0"/>
              <a:t>복도를 따라 일정 거리에 따라 </a:t>
            </a:r>
            <a:r>
              <a:rPr lang="ko-KR" altLang="en-US" sz="1200" b="1" dirty="0" smtClean="0"/>
              <a:t>수직 </a:t>
            </a:r>
            <a:r>
              <a:rPr lang="ko-KR" altLang="en-US" sz="1200" b="1" dirty="0"/>
              <a:t>일렬로 연결</a:t>
            </a:r>
            <a:r>
              <a:rPr lang="ko-KR" altLang="en-US" sz="1200" dirty="0"/>
              <a:t>된다</a:t>
            </a:r>
            <a:r>
              <a:rPr lang="en-US" altLang="ko-KR" sz="1200" dirty="0" smtClean="0"/>
              <a:t>.</a:t>
            </a:r>
          </a:p>
          <a:p>
            <a:pPr>
              <a:lnSpc>
                <a:spcPct val="150000"/>
              </a:lnSpc>
            </a:pPr>
            <a:r>
              <a:rPr lang="en-US" altLang="ko-KR" sz="1200" dirty="0"/>
              <a:t>• </a:t>
            </a:r>
            <a:r>
              <a:rPr lang="ko-KR" altLang="en-US" sz="1200" dirty="0"/>
              <a:t>던전 진행중 탐색했던 </a:t>
            </a:r>
            <a:r>
              <a:rPr lang="ko-KR" altLang="en-US" sz="1200" dirty="0" err="1"/>
              <a:t>에어리어는</a:t>
            </a:r>
            <a:r>
              <a:rPr lang="ko-KR" altLang="en-US" sz="1200" dirty="0"/>
              <a:t> 흰색으로 표시하며 </a:t>
            </a:r>
            <a:r>
              <a:rPr lang="ko-KR" altLang="en-US" sz="1200" dirty="0" smtClean="0"/>
              <a:t>그렇지 않은 </a:t>
            </a:r>
            <a:r>
              <a:rPr lang="ko-KR" altLang="en-US" sz="1200" dirty="0"/>
              <a:t>곳은 회색으로 표시한다</a:t>
            </a:r>
            <a:r>
              <a:rPr lang="en-US" altLang="ko-KR" sz="1200" dirty="0" smtClean="0"/>
              <a:t>.</a:t>
            </a:r>
          </a:p>
          <a:p>
            <a:pPr>
              <a:lnSpc>
                <a:spcPct val="150000"/>
              </a:lnSpc>
            </a:pPr>
            <a:r>
              <a:rPr lang="en-US" altLang="ko-KR" sz="1200" dirty="0"/>
              <a:t>• </a:t>
            </a:r>
            <a:r>
              <a:rPr lang="ko-KR" altLang="en-US" sz="1200" dirty="0" err="1" smtClean="0"/>
              <a:t>재생성될</a:t>
            </a:r>
            <a:r>
              <a:rPr lang="ko-KR" altLang="en-US" sz="1200" dirty="0" smtClean="0"/>
              <a:t> 때 전투와 </a:t>
            </a:r>
            <a:r>
              <a:rPr lang="ko-KR" altLang="en-US" sz="1200" dirty="0" err="1"/>
              <a:t>비전투</a:t>
            </a:r>
            <a:r>
              <a:rPr lang="ko-KR" altLang="en-US" sz="1200" dirty="0"/>
              <a:t> </a:t>
            </a:r>
            <a:r>
              <a:rPr lang="ko-KR" altLang="en-US" sz="1200" dirty="0" smtClean="0"/>
              <a:t>중 하나의 </a:t>
            </a:r>
            <a:r>
              <a:rPr lang="ko-KR" altLang="en-US" sz="1200" b="1" dirty="0" smtClean="0"/>
              <a:t>이벤트</a:t>
            </a:r>
            <a:r>
              <a:rPr lang="ko-KR" altLang="en-US" sz="1200" dirty="0" smtClean="0"/>
              <a:t>를 가지며</a:t>
            </a:r>
            <a:r>
              <a:rPr lang="en-US" altLang="ko-KR" sz="1200" dirty="0" smtClean="0"/>
              <a:t>, </a:t>
            </a:r>
            <a:r>
              <a:rPr lang="ko-KR" altLang="en-US" sz="1200" dirty="0" err="1" smtClean="0"/>
              <a:t>비전투</a:t>
            </a:r>
            <a:r>
              <a:rPr lang="ko-KR" altLang="en-US" sz="1200" dirty="0" smtClean="0"/>
              <a:t> </a:t>
            </a:r>
            <a:r>
              <a:rPr lang="ko-KR" altLang="en-US" sz="1200" dirty="0" err="1" smtClean="0"/>
              <a:t>에어리어가</a:t>
            </a:r>
            <a:r>
              <a:rPr lang="ko-KR" altLang="en-US" sz="1200" dirty="0" smtClean="0"/>
              <a:t> 결정되고 난 후</a:t>
            </a:r>
            <a:r>
              <a:rPr lang="en-US" altLang="ko-KR" sz="1200" dirty="0" smtClean="0"/>
              <a:t>,  </a:t>
            </a:r>
            <a:r>
              <a:rPr lang="ko-KR" altLang="en-US" sz="1200" dirty="0" smtClean="0"/>
              <a:t>나머지 에어리어들은</a:t>
            </a:r>
            <a:endParaRPr lang="en-US" altLang="ko-KR" sz="1200" dirty="0" smtClean="0"/>
          </a:p>
          <a:p>
            <a:pPr>
              <a:lnSpc>
                <a:spcPct val="150000"/>
              </a:lnSpc>
            </a:pPr>
            <a:r>
              <a:rPr lang="ko-KR" altLang="en-US" sz="1200" dirty="0" smtClean="0"/>
              <a:t>  자동으로 전투 </a:t>
            </a:r>
            <a:r>
              <a:rPr lang="ko-KR" altLang="en-US" sz="1200" dirty="0" err="1" smtClean="0"/>
              <a:t>에어리어가</a:t>
            </a:r>
            <a:r>
              <a:rPr lang="ko-KR" altLang="en-US" sz="1200" dirty="0" smtClean="0"/>
              <a:t> 된다</a:t>
            </a:r>
            <a:r>
              <a:rPr lang="en-US" altLang="ko-KR" sz="1200" dirty="0" smtClean="0"/>
              <a:t>. </a:t>
            </a:r>
            <a:r>
              <a:rPr lang="ko-KR" altLang="en-US" sz="1200" dirty="0" smtClean="0"/>
              <a:t>이 때</a:t>
            </a:r>
            <a:r>
              <a:rPr lang="en-US" altLang="ko-KR" sz="1200" dirty="0"/>
              <a:t> </a:t>
            </a:r>
            <a:r>
              <a:rPr lang="ko-KR" altLang="en-US" sz="1200" dirty="0" smtClean="0"/>
              <a:t>전투 이벤트의 경우</a:t>
            </a:r>
            <a:r>
              <a:rPr lang="en-US" altLang="ko-KR" sz="1200" dirty="0"/>
              <a:t> </a:t>
            </a:r>
            <a:r>
              <a:rPr lang="ko-KR" altLang="en-US" sz="1200" dirty="0" err="1" smtClean="0"/>
              <a:t>몬스터들의</a:t>
            </a:r>
            <a:r>
              <a:rPr lang="ko-KR" altLang="en-US" sz="1200" dirty="0" smtClean="0"/>
              <a:t> 행동에 영향을 주는 </a:t>
            </a:r>
            <a:r>
              <a:rPr lang="ko-KR" altLang="en-US" sz="1200" b="1" dirty="0" smtClean="0"/>
              <a:t>저주</a:t>
            </a:r>
            <a:r>
              <a:rPr lang="ko-KR" altLang="en-US" sz="1200" dirty="0"/>
              <a:t>가</a:t>
            </a:r>
            <a:r>
              <a:rPr lang="en-US" altLang="ko-KR" sz="1200" dirty="0" smtClean="0"/>
              <a:t> </a:t>
            </a:r>
            <a:r>
              <a:rPr lang="ko-KR" altLang="en-US" sz="1200" dirty="0" smtClean="0"/>
              <a:t>붙을 수 있다</a:t>
            </a:r>
            <a:r>
              <a:rPr lang="en-US" altLang="ko-KR" sz="1200" dirty="0" smtClean="0"/>
              <a:t>.</a:t>
            </a:r>
          </a:p>
          <a:p>
            <a:pPr>
              <a:lnSpc>
                <a:spcPct val="150000"/>
              </a:lnSpc>
            </a:pPr>
            <a:endParaRPr lang="en-US" altLang="ko-KR" sz="500" dirty="0"/>
          </a:p>
          <a:p>
            <a:pPr>
              <a:lnSpc>
                <a:spcPct val="150000"/>
              </a:lnSpc>
            </a:pPr>
            <a:r>
              <a:rPr lang="ko-KR" altLang="en-US" sz="1400" b="1" dirty="0" smtClean="0"/>
              <a:t>전투 이벤트</a:t>
            </a:r>
            <a:endParaRPr lang="en-US" altLang="ko-KR" sz="1400" b="1" dirty="0"/>
          </a:p>
          <a:p>
            <a:pPr>
              <a:lnSpc>
                <a:spcPct val="150000"/>
              </a:lnSpc>
            </a:pPr>
            <a:r>
              <a:rPr lang="en-US" altLang="ko-KR" sz="1200" dirty="0"/>
              <a:t>•</a:t>
            </a:r>
            <a:r>
              <a:rPr lang="en-US" altLang="ko-KR" sz="1200" dirty="0" smtClean="0"/>
              <a:t> </a:t>
            </a:r>
            <a:r>
              <a:rPr lang="ko-KR" altLang="en-US" sz="1200" dirty="0" smtClean="0"/>
              <a:t>전투에서 </a:t>
            </a:r>
            <a:r>
              <a:rPr lang="ko-KR" altLang="en-US" sz="1200" dirty="0"/>
              <a:t>등장하는 몬스터는 각 계층에 출몰하는 </a:t>
            </a:r>
            <a:r>
              <a:rPr lang="ko-KR" altLang="en-US" sz="1200" dirty="0" err="1"/>
              <a:t>몬스터들의</a:t>
            </a:r>
            <a:r>
              <a:rPr lang="ko-KR" altLang="en-US" sz="1200" dirty="0"/>
              <a:t> 조합들 중 하나가 </a:t>
            </a:r>
            <a:r>
              <a:rPr lang="ko-KR" altLang="en-US" sz="1200" dirty="0" smtClean="0"/>
              <a:t>선택되어 결정된다</a:t>
            </a:r>
            <a:r>
              <a:rPr lang="en-US" altLang="ko-KR" sz="1200" dirty="0"/>
              <a:t>.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깊은 계층일수록 등장 </a:t>
            </a:r>
            <a:r>
              <a:rPr lang="ko-KR" altLang="en-US" sz="1200" dirty="0" err="1"/>
              <a:t>몬스터들이</a:t>
            </a:r>
            <a:r>
              <a:rPr lang="ko-KR" altLang="en-US" sz="1200" dirty="0"/>
              <a:t> 강력해진다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err="1"/>
              <a:t>에어리어가</a:t>
            </a:r>
            <a:r>
              <a:rPr lang="ko-KR" altLang="en-US" sz="1200" dirty="0"/>
              <a:t> </a:t>
            </a:r>
            <a:r>
              <a:rPr lang="ko-KR" altLang="en-US" sz="1200" dirty="0" err="1"/>
              <a:t>재생성될</a:t>
            </a:r>
            <a:r>
              <a:rPr lang="ko-KR" altLang="en-US" sz="1200" dirty="0"/>
              <a:t> 때</a:t>
            </a:r>
            <a:r>
              <a:rPr lang="en-US" altLang="ko-KR" sz="1200" dirty="0"/>
              <a:t>, </a:t>
            </a:r>
            <a:r>
              <a:rPr lang="ko-KR" altLang="en-US" sz="1200" dirty="0"/>
              <a:t>일정 확률로 적 </a:t>
            </a:r>
            <a:r>
              <a:rPr lang="ko-KR" altLang="en-US" sz="1200" dirty="0" err="1"/>
              <a:t>몬스터들의</a:t>
            </a:r>
            <a:r>
              <a:rPr lang="ko-KR" altLang="en-US" sz="1200" dirty="0"/>
              <a:t> 우선 순위 계산에 영향을 주는 </a:t>
            </a:r>
            <a:r>
              <a:rPr lang="en-US" altLang="ko-KR" sz="1200" dirty="0"/>
              <a:t>‘</a:t>
            </a:r>
            <a:r>
              <a:rPr lang="ko-KR" altLang="en-US" sz="1200" dirty="0"/>
              <a:t>저주</a:t>
            </a:r>
            <a:r>
              <a:rPr lang="en-US" altLang="ko-KR" sz="1200" dirty="0"/>
              <a:t>’</a:t>
            </a:r>
            <a:r>
              <a:rPr lang="ko-KR" altLang="en-US" sz="1200" dirty="0"/>
              <a:t>가 붙을 수 있다</a:t>
            </a:r>
            <a:r>
              <a:rPr lang="en-US" altLang="ko-KR" sz="1200" dirty="0"/>
              <a:t>.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어떤 </a:t>
            </a:r>
            <a:r>
              <a:rPr lang="ko-KR" altLang="en-US" sz="1200" dirty="0"/>
              <a:t>저주가 붙는가에 따라 적군의 우선 순위 계산이 부분적으로 </a:t>
            </a:r>
            <a:r>
              <a:rPr lang="ko-KR" altLang="en-US" sz="1200" dirty="0" smtClean="0"/>
              <a:t>달라지며</a:t>
            </a:r>
            <a:r>
              <a:rPr lang="en-US" altLang="ko-KR" sz="1200" dirty="0" smtClean="0"/>
              <a:t>, </a:t>
            </a:r>
            <a:r>
              <a:rPr lang="ko-KR" altLang="en-US" sz="1200" dirty="0" smtClean="0"/>
              <a:t>플레이어는 자신이 위치한 계층의</a:t>
            </a:r>
            <a:endParaRPr lang="en-US" altLang="ko-KR" sz="1200" dirty="0"/>
          </a:p>
          <a:p>
            <a:pPr>
              <a:lnSpc>
                <a:spcPct val="150000"/>
              </a:lnSpc>
            </a:pPr>
            <a:r>
              <a:rPr lang="en-US" altLang="ko-KR" sz="1200" dirty="0"/>
              <a:t> </a:t>
            </a:r>
            <a:r>
              <a:rPr lang="en-US" altLang="ko-KR" sz="1200" dirty="0" smtClean="0"/>
              <a:t> </a:t>
            </a:r>
            <a:r>
              <a:rPr lang="ko-KR" altLang="en-US" sz="1200" dirty="0" smtClean="0"/>
              <a:t>에어리어들이 어떤 저주를 갖고 있는지 볼 수 있다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a:t>전투 </a:t>
            </a:r>
            <a:r>
              <a:rPr lang="ko-KR" altLang="en-US" sz="1200" b="1" dirty="0"/>
              <a:t>전리품</a:t>
            </a:r>
            <a:r>
              <a:rPr lang="ko-KR" altLang="en-US" sz="1200" dirty="0"/>
              <a:t>을 가진다</a:t>
            </a:r>
            <a:r>
              <a:rPr lang="en-US" altLang="ko-KR" sz="1200" dirty="0"/>
              <a:t>. </a:t>
            </a:r>
            <a:r>
              <a:rPr lang="ko-KR" altLang="en-US" sz="1200" dirty="0"/>
              <a:t>플레이어가 </a:t>
            </a:r>
            <a:r>
              <a:rPr lang="ko-KR" altLang="en-US" sz="1200" dirty="0" err="1"/>
              <a:t>에어리어를</a:t>
            </a:r>
            <a:r>
              <a:rPr lang="ko-KR" altLang="en-US" sz="1200" dirty="0"/>
              <a:t> 클리어하면</a:t>
            </a:r>
            <a:r>
              <a:rPr lang="en-US" altLang="ko-KR" sz="1200" dirty="0"/>
              <a:t> </a:t>
            </a:r>
            <a:r>
              <a:rPr lang="ko-KR" altLang="en-US" sz="1200" dirty="0"/>
              <a:t>전리품 형식의 보상이</a:t>
            </a:r>
            <a:r>
              <a:rPr lang="en-US" altLang="ko-KR" sz="1200" dirty="0"/>
              <a:t> </a:t>
            </a:r>
            <a:r>
              <a:rPr lang="ko-KR" altLang="en-US" sz="1200" dirty="0"/>
              <a:t>주어지며</a:t>
            </a:r>
            <a:r>
              <a:rPr lang="en-US" altLang="ko-KR" sz="1200" dirty="0"/>
              <a:t>, </a:t>
            </a:r>
            <a:endParaRPr lang="en-US" altLang="ko-KR" sz="1200" dirty="0" smtClean="0"/>
          </a:p>
          <a:p>
            <a:pPr>
              <a:lnSpc>
                <a:spcPct val="150000"/>
              </a:lnSpc>
            </a:pPr>
            <a:r>
              <a:rPr lang="ko-KR" altLang="en-US" sz="1200" dirty="0" smtClean="0"/>
              <a:t>  전리품은 </a:t>
            </a:r>
            <a:r>
              <a:rPr lang="ko-KR" altLang="en-US" sz="1200" dirty="0"/>
              <a:t>골드 </a:t>
            </a:r>
            <a:r>
              <a:rPr lang="en-US" altLang="ko-KR" sz="1200" dirty="0"/>
              <a:t>/</a:t>
            </a:r>
            <a:r>
              <a:rPr lang="ko-KR" altLang="en-US" sz="1200" dirty="0"/>
              <a:t> </a:t>
            </a:r>
            <a:r>
              <a:rPr lang="ko-KR" altLang="en-US" sz="1200" dirty="0" err="1"/>
              <a:t>아티팩트</a:t>
            </a:r>
            <a:r>
              <a:rPr lang="ko-KR" altLang="en-US" sz="1200" dirty="0"/>
              <a:t> </a:t>
            </a:r>
            <a:r>
              <a:rPr lang="en-US" altLang="ko-KR" sz="1200" dirty="0"/>
              <a:t>/ </a:t>
            </a:r>
            <a:r>
              <a:rPr lang="ko-KR" altLang="en-US" sz="1200" dirty="0" smtClean="0"/>
              <a:t>아이템이 확률에 </a:t>
            </a:r>
            <a:r>
              <a:rPr lang="ko-KR" altLang="en-US" sz="1200" dirty="0"/>
              <a:t>따라 </a:t>
            </a:r>
            <a:r>
              <a:rPr lang="ko-KR" altLang="en-US" sz="1200" dirty="0" err="1"/>
              <a:t>드랍된다</a:t>
            </a:r>
            <a:r>
              <a:rPr lang="en-US" altLang="ko-KR" sz="1200" dirty="0"/>
              <a:t>. </a:t>
            </a:r>
            <a:r>
              <a:rPr lang="ko-KR" altLang="en-US" sz="1200" dirty="0"/>
              <a:t>이 때 서로 다른 </a:t>
            </a:r>
            <a:r>
              <a:rPr lang="ko-KR" altLang="en-US" sz="1200" dirty="0" smtClean="0"/>
              <a:t>종류가 중복으로 </a:t>
            </a:r>
            <a:r>
              <a:rPr lang="ko-KR" altLang="en-US" sz="1200" dirty="0" err="1"/>
              <a:t>드랍될</a:t>
            </a:r>
            <a:r>
              <a:rPr lang="ko-KR" altLang="en-US" sz="1200" dirty="0"/>
              <a:t> 수 있다</a:t>
            </a:r>
            <a:r>
              <a:rPr lang="en-US" altLang="ko-KR" sz="1200" dirty="0" smtClean="0"/>
              <a:t>.</a:t>
            </a:r>
          </a:p>
          <a:p>
            <a:pPr>
              <a:lnSpc>
                <a:spcPct val="150000"/>
              </a:lnSpc>
            </a:pPr>
            <a:endParaRPr lang="en-US" altLang="ko-KR" sz="500" dirty="0"/>
          </a:p>
          <a:p>
            <a:pPr>
              <a:lnSpc>
                <a:spcPct val="150000"/>
              </a:lnSpc>
            </a:pPr>
            <a:r>
              <a:rPr lang="ko-KR" altLang="en-US" sz="1400" b="1" dirty="0" err="1" smtClean="0"/>
              <a:t>비전투</a:t>
            </a:r>
            <a:r>
              <a:rPr lang="ko-KR" altLang="en-US" sz="1400" b="1" dirty="0" smtClean="0"/>
              <a:t> </a:t>
            </a:r>
            <a:r>
              <a:rPr lang="ko-KR" altLang="en-US" sz="1400" b="1" dirty="0"/>
              <a:t>이벤트</a:t>
            </a:r>
            <a:endParaRPr lang="en-US" altLang="ko-KR" sz="1400" b="1" dirty="0"/>
          </a:p>
          <a:p>
            <a:pPr>
              <a:lnSpc>
                <a:spcPct val="150000"/>
              </a:lnSpc>
            </a:pPr>
            <a:r>
              <a:rPr lang="en-US" altLang="ko-KR" sz="1200" dirty="0"/>
              <a:t>•</a:t>
            </a:r>
            <a:r>
              <a:rPr lang="en-US" altLang="ko-KR" sz="1200" dirty="0" smtClean="0"/>
              <a:t> </a:t>
            </a:r>
            <a:r>
              <a:rPr lang="ko-KR" altLang="en-US" sz="1200" dirty="0"/>
              <a:t>상인과 보물 상자 두 종류로 구분된다</a:t>
            </a:r>
            <a:r>
              <a:rPr lang="en-US" altLang="ko-KR" sz="1200" dirty="0"/>
              <a:t>. </a:t>
            </a:r>
            <a:r>
              <a:rPr lang="ko-KR" altLang="en-US" sz="1200" dirty="0" smtClean="0"/>
              <a:t>탐색 </a:t>
            </a:r>
            <a:r>
              <a:rPr lang="ko-KR" altLang="en-US" sz="1200" dirty="0"/>
              <a:t>후 다른 </a:t>
            </a:r>
            <a:r>
              <a:rPr lang="ko-KR" altLang="en-US" sz="1200" dirty="0" err="1"/>
              <a:t>에어리어를</a:t>
            </a:r>
            <a:r>
              <a:rPr lang="ko-KR" altLang="en-US" sz="1200" dirty="0"/>
              <a:t> 탐험했다가 </a:t>
            </a:r>
            <a:r>
              <a:rPr lang="ko-KR" altLang="en-US" sz="1200" dirty="0" smtClean="0"/>
              <a:t>돌아와도 물품 </a:t>
            </a:r>
            <a:r>
              <a:rPr lang="ko-KR" altLang="en-US" sz="1200" dirty="0"/>
              <a:t>데이터가</a:t>
            </a:r>
            <a:r>
              <a:rPr lang="en-US" altLang="ko-KR" sz="1200" dirty="0"/>
              <a:t> </a:t>
            </a:r>
            <a:r>
              <a:rPr lang="ko-KR" altLang="en-US" sz="1200" dirty="0"/>
              <a:t>유지된다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smtClean="0"/>
              <a:t>아이템의 </a:t>
            </a:r>
            <a:r>
              <a:rPr lang="ko-KR" altLang="en-US" sz="1200" dirty="0"/>
              <a:t>경우</a:t>
            </a:r>
            <a:r>
              <a:rPr lang="en-US" altLang="ko-KR" sz="1200" dirty="0"/>
              <a:t>,</a:t>
            </a:r>
            <a:r>
              <a:rPr lang="ko-KR" altLang="en-US" sz="1200" dirty="0"/>
              <a:t> 각 계층에 등장하는 아이템의 범위 중에서 선택되어 결정된다</a:t>
            </a:r>
            <a:r>
              <a:rPr lang="en-US" altLang="ko-KR" sz="1200" dirty="0"/>
              <a:t>. </a:t>
            </a:r>
            <a:r>
              <a:rPr lang="ko-KR" altLang="en-US" sz="1200" dirty="0" smtClean="0"/>
              <a:t>깊은 </a:t>
            </a:r>
            <a:r>
              <a:rPr lang="ko-KR" altLang="en-US" sz="1200" dirty="0"/>
              <a:t>계층일수록</a:t>
            </a:r>
            <a:r>
              <a:rPr lang="en-US" altLang="ko-KR" sz="1200" dirty="0"/>
              <a:t> </a:t>
            </a:r>
            <a:r>
              <a:rPr lang="ko-KR" altLang="en-US" sz="1200" dirty="0"/>
              <a:t>더 높은 등급과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효능을 </a:t>
            </a:r>
            <a:r>
              <a:rPr lang="ko-KR" altLang="en-US" sz="1200" dirty="0"/>
              <a:t>지닌 아이템이 판매된다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4392834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2" name="표 1"/>
          <p:cNvGraphicFramePr>
            <a:graphicFrameLocks noGrp="1"/>
          </p:cNvGraphicFramePr>
          <p:nvPr>
            <p:extLst>
              <p:ext uri="{D42A27DB-BD31-4B8C-83A1-F6EECF244321}">
                <p14:modId xmlns:p14="http://schemas.microsoft.com/office/powerpoint/2010/main" val="2358419825"/>
              </p:ext>
            </p:extLst>
          </p:nvPr>
        </p:nvGraphicFramePr>
        <p:xfrm>
          <a:off x="4329780" y="4353042"/>
          <a:ext cx="7083595" cy="1534160"/>
        </p:xfrm>
        <a:graphic>
          <a:graphicData uri="http://schemas.openxmlformats.org/drawingml/2006/table">
            <a:tbl>
              <a:tblPr firstRow="1" bandRow="1">
                <a:tableStyleId>{5940675A-B579-460E-94D1-54222C63F5DA}</a:tableStyleId>
              </a:tblPr>
              <a:tblGrid>
                <a:gridCol w="724358">
                  <a:extLst>
                    <a:ext uri="{9D8B030D-6E8A-4147-A177-3AD203B41FA5}">
                      <a16:colId xmlns:a16="http://schemas.microsoft.com/office/drawing/2014/main" val="2528112982"/>
                    </a:ext>
                  </a:extLst>
                </a:gridCol>
                <a:gridCol w="1859423">
                  <a:extLst>
                    <a:ext uri="{9D8B030D-6E8A-4147-A177-3AD203B41FA5}">
                      <a16:colId xmlns:a16="http://schemas.microsoft.com/office/drawing/2014/main" val="2319594186"/>
                    </a:ext>
                  </a:extLst>
                </a:gridCol>
                <a:gridCol w="883777">
                  <a:extLst>
                    <a:ext uri="{9D8B030D-6E8A-4147-A177-3AD203B41FA5}">
                      <a16:colId xmlns:a16="http://schemas.microsoft.com/office/drawing/2014/main" val="1950506110"/>
                    </a:ext>
                  </a:extLst>
                </a:gridCol>
                <a:gridCol w="2294313">
                  <a:extLst>
                    <a:ext uri="{9D8B030D-6E8A-4147-A177-3AD203B41FA5}">
                      <a16:colId xmlns:a16="http://schemas.microsoft.com/office/drawing/2014/main" val="1907676250"/>
                    </a:ext>
                  </a:extLst>
                </a:gridCol>
                <a:gridCol w="1321724">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종류</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확률</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골드</a:t>
                      </a:r>
                      <a:endParaRPr lang="ko-KR" altLang="en-US" sz="1000" b="1" dirty="0"/>
                    </a:p>
                  </a:txBody>
                  <a:tcPr anchor="ctr"/>
                </a:tc>
                <a:tc>
                  <a:txBody>
                    <a:bodyPr/>
                    <a:lstStyle/>
                    <a:p>
                      <a:pPr algn="ctr" latinLnBrk="1"/>
                      <a:r>
                        <a:rPr lang="en-US" altLang="ko-KR" sz="1000" dirty="0" smtClean="0"/>
                        <a:t>-</a:t>
                      </a:r>
                      <a:endParaRPr lang="ko-KR" altLang="en-US" sz="1000" dirty="0"/>
                    </a:p>
                  </a:txBody>
                  <a:tcPr anchor="ctr"/>
                </a:tc>
                <a:tc>
                  <a:txBody>
                    <a:bodyPr/>
                    <a:lstStyle/>
                    <a:p>
                      <a:pPr algn="ctr" latinLnBrk="1"/>
                      <a:r>
                        <a:rPr lang="en-US" altLang="ko-KR" sz="1000" dirty="0" smtClean="0"/>
                        <a:t>100%</a:t>
                      </a:r>
                      <a:endParaRPr lang="ko-KR" altLang="en-US" sz="1000" dirty="0"/>
                    </a:p>
                  </a:txBody>
                  <a:tcPr anchor="ctr"/>
                </a:tc>
                <a:tc>
                  <a:txBody>
                    <a:bodyPr/>
                    <a:lstStyle/>
                    <a:p>
                      <a:pPr algn="ctr" latinLnBrk="1"/>
                      <a:r>
                        <a:rPr lang="en-US" altLang="ko-KR" sz="1000" dirty="0" smtClean="0"/>
                        <a:t>(100 + </a:t>
                      </a:r>
                      <a:r>
                        <a:rPr lang="ko-KR" altLang="en-US" sz="1000" dirty="0" smtClean="0"/>
                        <a:t>층수</a:t>
                      </a:r>
                      <a:r>
                        <a:rPr lang="en-US" altLang="ko-KR" sz="1000" dirty="0" smtClean="0"/>
                        <a:t>x50) ~ (200 + </a:t>
                      </a:r>
                      <a:r>
                        <a:rPr lang="ko-KR" altLang="en-US" sz="1000" dirty="0" smtClean="0"/>
                        <a:t>층수</a:t>
                      </a:r>
                      <a:r>
                        <a:rPr lang="en-US" altLang="ko-KR" sz="1000" dirty="0" smtClean="0"/>
                        <a:t>x100)</a:t>
                      </a:r>
                    </a:p>
                    <a:p>
                      <a:pPr algn="ctr" latinLnBrk="1"/>
                      <a:r>
                        <a:rPr lang="ko-KR" altLang="en-US" sz="1000" dirty="0" smtClean="0"/>
                        <a:t>사이의 무작위 액수</a:t>
                      </a:r>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35212688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아이템</a:t>
                      </a:r>
                      <a:endParaRPr lang="ko-KR" altLang="en-US" sz="1000" dirty="0"/>
                    </a:p>
                  </a:txBody>
                  <a:tcPr anchor="ctr"/>
                </a:tc>
                <a:tc>
                  <a:txBody>
                    <a:bodyPr/>
                    <a:lstStyle/>
                    <a:p>
                      <a:pPr algn="ctr" latinLnBrk="1"/>
                      <a:r>
                        <a:rPr lang="en-US" altLang="ko-KR" sz="1000" dirty="0" smtClean="0"/>
                        <a:t>33%</a:t>
                      </a:r>
                      <a:endParaRPr lang="ko-KR" altLang="en-US" sz="1000" dirty="0"/>
                    </a:p>
                  </a:txBody>
                  <a:tcPr anchor="ctr"/>
                </a:tc>
                <a:tc>
                  <a:txBody>
                    <a:bodyPr/>
                    <a:lstStyle/>
                    <a:p>
                      <a:pPr algn="ctr">
                        <a:lnSpc>
                          <a:spcPct val="150000"/>
                        </a:lnSpc>
                      </a:pPr>
                      <a:r>
                        <a:rPr lang="en-US" altLang="ko-KR" sz="1000" dirty="0" smtClean="0"/>
                        <a:t>1</a:t>
                      </a:r>
                      <a:r>
                        <a:rPr lang="ko-KR" altLang="en-US" sz="1000" dirty="0" smtClean="0"/>
                        <a:t>개</a:t>
                      </a:r>
                      <a:r>
                        <a:rPr lang="en-US" altLang="ko-KR" sz="1000" dirty="0" smtClean="0"/>
                        <a:t>(75%) /</a:t>
                      </a:r>
                      <a:r>
                        <a:rPr lang="ko-KR" altLang="en-US" sz="1000" dirty="0" smtClean="0"/>
                        <a:t> </a:t>
                      </a:r>
                      <a:r>
                        <a:rPr lang="en-US" altLang="ko-KR" sz="1000" dirty="0" smtClean="0"/>
                        <a:t>2</a:t>
                      </a:r>
                      <a:r>
                        <a:rPr lang="ko-KR" altLang="en-US" sz="1000" dirty="0" smtClean="0"/>
                        <a:t>개</a:t>
                      </a:r>
                      <a:r>
                        <a:rPr lang="en-US" altLang="ko-KR" sz="1000" dirty="0" smtClean="0"/>
                        <a:t>(25%)</a:t>
                      </a:r>
                      <a:endParaRPr lang="en-US" altLang="ko-KR" sz="1000" dirty="0"/>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dirty="0" smtClean="0"/>
                        <a:t>특별</a:t>
                      </a:r>
                      <a:r>
                        <a:rPr lang="en-US" altLang="ko-KR" sz="1000" dirty="0" smtClean="0"/>
                        <a:t>(15%) / </a:t>
                      </a:r>
                      <a:r>
                        <a:rPr lang="ko-KR" altLang="en-US" sz="1000" dirty="0" smtClean="0"/>
                        <a:t>희귀</a:t>
                      </a:r>
                      <a:r>
                        <a:rPr lang="en-US" altLang="ko-KR" sz="1000" dirty="0" smtClean="0"/>
                        <a:t>(35%) / </a:t>
                      </a:r>
                      <a:r>
                        <a:rPr lang="ko-KR" altLang="en-US" sz="1000" dirty="0" smtClean="0"/>
                        <a:t>평범</a:t>
                      </a:r>
                      <a:r>
                        <a:rPr lang="en-US" altLang="ko-KR" sz="1000" dirty="0" smtClean="0"/>
                        <a:t>(50%)</a:t>
                      </a:r>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a:txBody>
                    <a:bodyPr/>
                    <a:lstStyle/>
                    <a:p>
                      <a:pPr algn="ctr" latinLnBrk="1"/>
                      <a:r>
                        <a:rPr lang="en-US" altLang="ko-KR" sz="1000" dirty="0" smtClean="0"/>
                        <a:t>5%</a:t>
                      </a:r>
                      <a:endParaRPr lang="ko-KR" altLang="en-US" sz="1000" dirty="0"/>
                    </a:p>
                  </a:txBody>
                  <a:tcPr anchor="ctr"/>
                </a:tc>
                <a:tc>
                  <a:txBody>
                    <a:bodyPr/>
                    <a:lstStyle/>
                    <a:p>
                      <a:pPr algn="ctr" latinLnBrk="1"/>
                      <a:r>
                        <a:rPr lang="en-US" altLang="ko-KR" sz="1000" dirty="0" smtClean="0"/>
                        <a:t>1</a:t>
                      </a:r>
                      <a:r>
                        <a:rPr lang="ko-KR" altLang="en-US" sz="1000" dirty="0" smtClean="0"/>
                        <a:t>개</a:t>
                      </a:r>
                      <a:r>
                        <a:rPr lang="en-US" altLang="ko-KR" sz="1000" dirty="0" smtClean="0"/>
                        <a:t>(100%)</a:t>
                      </a:r>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5" name="직사각형 4"/>
          <p:cNvSpPr/>
          <p:nvPr/>
        </p:nvSpPr>
        <p:spPr>
          <a:xfrm>
            <a:off x="4225871" y="1235893"/>
            <a:ext cx="7495074" cy="969496"/>
          </a:xfrm>
          <a:prstGeom prst="rect">
            <a:avLst/>
          </a:prstGeom>
        </p:spPr>
        <p:txBody>
          <a:bodyPr wrap="square">
            <a:spAutoFit/>
          </a:bodyPr>
          <a:lstStyle/>
          <a:p>
            <a:pPr>
              <a:lnSpc>
                <a:spcPct val="150000"/>
              </a:lnSpc>
            </a:pPr>
            <a:r>
              <a:rPr lang="ko-KR" altLang="en-US" sz="1400" b="1" dirty="0" smtClean="0"/>
              <a:t>계층의 심화에 따른 </a:t>
            </a:r>
            <a:r>
              <a:rPr lang="ko-KR" altLang="en-US" sz="1400" b="1" dirty="0" err="1" smtClean="0"/>
              <a:t>에어리어</a:t>
            </a:r>
            <a:r>
              <a:rPr lang="ko-KR" altLang="en-US" sz="1400" b="1" dirty="0" smtClean="0"/>
              <a:t> </a:t>
            </a:r>
            <a:r>
              <a:rPr lang="ko-KR" altLang="en-US" sz="1400" b="1" dirty="0"/>
              <a:t>강화 </a:t>
            </a:r>
            <a:r>
              <a:rPr lang="ko-KR" altLang="en-US" sz="1400" b="1" dirty="0" smtClean="0"/>
              <a:t>공식</a:t>
            </a:r>
            <a:endParaRPr lang="en-US" altLang="ko-KR" sz="1400" b="1" dirty="0" smtClean="0"/>
          </a:p>
          <a:p>
            <a:pPr>
              <a:lnSpc>
                <a:spcPct val="150000"/>
              </a:lnSpc>
            </a:pPr>
            <a:r>
              <a:rPr lang="en-US" altLang="ko-KR" sz="1200" dirty="0"/>
              <a:t>• </a:t>
            </a:r>
            <a:r>
              <a:rPr lang="ko-KR" altLang="en-US" sz="1200" i="1" dirty="0" smtClean="0"/>
              <a:t>몬스터 </a:t>
            </a:r>
            <a:r>
              <a:rPr lang="ko-KR" altLang="en-US" sz="1200" i="1" dirty="0" err="1"/>
              <a:t>능력치</a:t>
            </a:r>
            <a:r>
              <a:rPr lang="ko-KR" altLang="en-US" sz="1200" i="1" dirty="0"/>
              <a:t> </a:t>
            </a:r>
            <a:r>
              <a:rPr lang="en-US" altLang="ko-KR" sz="1200" i="1" dirty="0"/>
              <a:t>= </a:t>
            </a:r>
            <a:r>
              <a:rPr lang="ko-KR" altLang="en-US" sz="1200" i="1" dirty="0"/>
              <a:t>기본 </a:t>
            </a:r>
            <a:r>
              <a:rPr lang="ko-KR" altLang="en-US" sz="1200" i="1" dirty="0" err="1"/>
              <a:t>능력치</a:t>
            </a:r>
            <a:r>
              <a:rPr lang="ko-KR" altLang="en-US" sz="1200" i="1" dirty="0"/>
              <a:t> </a:t>
            </a:r>
            <a:r>
              <a:rPr lang="en-US" altLang="ko-KR" sz="1200" i="1" dirty="0"/>
              <a:t>+ (</a:t>
            </a:r>
            <a:r>
              <a:rPr lang="ko-KR" altLang="en-US" sz="1200" i="1" dirty="0"/>
              <a:t>기본 </a:t>
            </a:r>
            <a:r>
              <a:rPr lang="ko-KR" altLang="en-US" sz="1200" i="1" dirty="0" err="1"/>
              <a:t>능력치</a:t>
            </a:r>
            <a:r>
              <a:rPr lang="ko-KR" altLang="en-US" sz="1200" i="1" dirty="0"/>
              <a:t> </a:t>
            </a:r>
            <a:r>
              <a:rPr lang="en-US" altLang="ko-KR" sz="1200" i="1" dirty="0"/>
              <a:t>x (</a:t>
            </a:r>
            <a:r>
              <a:rPr lang="ko-KR" altLang="en-US" sz="1200" i="1" dirty="0"/>
              <a:t>층수</a:t>
            </a:r>
            <a:r>
              <a:rPr lang="en-US" altLang="ko-KR" sz="1200" i="1" dirty="0"/>
              <a:t>-1)</a:t>
            </a:r>
            <a:r>
              <a:rPr lang="ko-KR" altLang="en-US" sz="1200" i="1" dirty="0"/>
              <a:t> </a:t>
            </a:r>
            <a:r>
              <a:rPr lang="en-US" altLang="ko-KR" sz="1200" i="1" dirty="0"/>
              <a:t>x 10</a:t>
            </a:r>
            <a:r>
              <a:rPr lang="en-US" altLang="ko-KR" sz="1200" i="1" dirty="0" smtClean="0"/>
              <a:t>%)</a:t>
            </a:r>
            <a:r>
              <a:rPr lang="en-US" altLang="ko-KR" sz="1200" dirty="0" smtClean="0"/>
              <a:t/>
            </a:r>
            <a:br>
              <a:rPr lang="en-US" altLang="ko-KR" sz="1200" dirty="0" smtClean="0"/>
            </a:br>
            <a:r>
              <a:rPr lang="en-US" altLang="ko-KR" sz="1200" dirty="0" smtClean="0"/>
              <a:t>  </a:t>
            </a:r>
            <a:r>
              <a:rPr lang="ko-KR" altLang="en-US" sz="1200" dirty="0" smtClean="0"/>
              <a:t>한 층 깊어질수록 </a:t>
            </a:r>
            <a:r>
              <a:rPr lang="ko-KR" altLang="en-US" sz="1200" dirty="0" err="1" smtClean="0"/>
              <a:t>몬스터들이</a:t>
            </a:r>
            <a:r>
              <a:rPr lang="ko-KR" altLang="en-US" sz="1200" dirty="0" smtClean="0"/>
              <a:t> </a:t>
            </a:r>
            <a:r>
              <a:rPr lang="en-US" altLang="ko-KR" sz="1200" dirty="0" smtClean="0"/>
              <a:t>10%</a:t>
            </a:r>
            <a:r>
              <a:rPr lang="ko-KR" altLang="en-US" sz="1200" dirty="0" smtClean="0"/>
              <a:t>씩 강해진 상태로 출현하고</a:t>
            </a:r>
            <a:r>
              <a:rPr lang="en-US" altLang="ko-KR" sz="1200" dirty="0" smtClean="0"/>
              <a:t>, </a:t>
            </a:r>
            <a:r>
              <a:rPr lang="ko-KR" altLang="en-US" sz="1200" dirty="0" smtClean="0"/>
              <a:t>이 수치는 </a:t>
            </a:r>
            <a:r>
              <a:rPr lang="ko-KR" altLang="en-US" sz="1200" dirty="0" err="1" smtClean="0"/>
              <a:t>게임오버될</a:t>
            </a:r>
            <a:r>
              <a:rPr lang="ko-KR" altLang="en-US" sz="1200" dirty="0" smtClean="0"/>
              <a:t> 때까지 유지된다</a:t>
            </a:r>
            <a:r>
              <a:rPr lang="en-US" altLang="ko-KR" sz="1200" dirty="0" smtClean="0"/>
              <a:t>.</a:t>
            </a:r>
            <a:endParaRPr lang="en-US" altLang="ko-KR" sz="1200" dirty="0"/>
          </a:p>
        </p:txBody>
      </p:sp>
      <p:sp>
        <p:nvSpPr>
          <p:cNvPr id="6" name="직사각형 5"/>
          <p:cNvSpPr/>
          <p:nvPr/>
        </p:nvSpPr>
        <p:spPr>
          <a:xfrm>
            <a:off x="4225871" y="3950460"/>
            <a:ext cx="5028964" cy="373885"/>
          </a:xfrm>
          <a:prstGeom prst="rect">
            <a:avLst/>
          </a:prstGeom>
        </p:spPr>
        <p:txBody>
          <a:bodyPr wrap="square">
            <a:spAutoFit/>
          </a:bodyPr>
          <a:lstStyle/>
          <a:p>
            <a:pPr>
              <a:lnSpc>
                <a:spcPct val="150000"/>
              </a:lnSpc>
            </a:pPr>
            <a:r>
              <a:rPr lang="ko-KR" altLang="en-US" sz="1400" b="1" dirty="0" smtClean="0"/>
              <a:t>전투 전리품 보상</a:t>
            </a:r>
            <a:endParaRPr lang="en-US" altLang="ko-KR" sz="1400" b="1" dirty="0"/>
          </a:p>
        </p:txBody>
      </p:sp>
      <p:sp>
        <p:nvSpPr>
          <p:cNvPr id="13" name="직사각형 12"/>
          <p:cNvSpPr/>
          <p:nvPr/>
        </p:nvSpPr>
        <p:spPr>
          <a:xfrm>
            <a:off x="4225871" y="2646253"/>
            <a:ext cx="5028964" cy="969496"/>
          </a:xfrm>
          <a:prstGeom prst="rect">
            <a:avLst/>
          </a:prstGeom>
        </p:spPr>
        <p:txBody>
          <a:bodyPr wrap="square">
            <a:spAutoFit/>
          </a:bodyPr>
          <a:lstStyle/>
          <a:p>
            <a:pPr>
              <a:lnSpc>
                <a:spcPct val="150000"/>
              </a:lnSpc>
            </a:pPr>
            <a:r>
              <a:rPr lang="ko-KR" altLang="en-US" sz="1400" b="1" dirty="0" smtClean="0"/>
              <a:t>전투 </a:t>
            </a:r>
            <a:r>
              <a:rPr lang="ko-KR" altLang="en-US" sz="1400" b="1" dirty="0" err="1" smtClean="0"/>
              <a:t>에어리어</a:t>
            </a:r>
            <a:r>
              <a:rPr lang="ko-KR" altLang="en-US" sz="1400" b="1" dirty="0" smtClean="0"/>
              <a:t> 내 저주의 확률과 종류</a:t>
            </a:r>
            <a:endParaRPr lang="en-US" altLang="ko-KR" sz="1400" b="1" dirty="0"/>
          </a:p>
          <a:p>
            <a:pPr>
              <a:lnSpc>
                <a:spcPct val="150000"/>
              </a:lnSpc>
            </a:pPr>
            <a:r>
              <a:rPr lang="en-US" altLang="ko-KR" sz="1200" dirty="0"/>
              <a:t>• </a:t>
            </a:r>
            <a:r>
              <a:rPr lang="ko-KR" altLang="en-US" sz="1200" dirty="0" smtClean="0"/>
              <a:t>저주가 붙을 </a:t>
            </a:r>
            <a:r>
              <a:rPr lang="ko-KR" altLang="en-US" sz="1200" dirty="0"/>
              <a:t>확률 </a:t>
            </a:r>
            <a:r>
              <a:rPr lang="en-US" altLang="ko-KR" sz="1200" dirty="0"/>
              <a:t>: 20%</a:t>
            </a:r>
          </a:p>
          <a:p>
            <a:pPr>
              <a:lnSpc>
                <a:spcPct val="150000"/>
              </a:lnSpc>
            </a:pPr>
            <a:r>
              <a:rPr lang="en-US" altLang="ko-KR" sz="1200" dirty="0"/>
              <a:t>• </a:t>
            </a:r>
            <a:r>
              <a:rPr lang="ko-KR" altLang="en-US" sz="1200" dirty="0" smtClean="0"/>
              <a:t>저주의 종류 </a:t>
            </a:r>
            <a:r>
              <a:rPr lang="en-US" altLang="ko-KR" sz="1200" dirty="0"/>
              <a:t>: </a:t>
            </a:r>
            <a:r>
              <a:rPr lang="ko-KR" altLang="en-US" sz="1200" dirty="0"/>
              <a:t>고통의 방</a:t>
            </a:r>
            <a:r>
              <a:rPr lang="en-US" altLang="ko-KR" sz="1200" dirty="0"/>
              <a:t>(33%), </a:t>
            </a:r>
            <a:r>
              <a:rPr lang="ko-KR" altLang="en-US" sz="1200" dirty="0"/>
              <a:t>절망의 방</a:t>
            </a:r>
            <a:r>
              <a:rPr lang="en-US" altLang="ko-KR" sz="1200" dirty="0"/>
              <a:t>(33%), </a:t>
            </a:r>
            <a:r>
              <a:rPr lang="ko-KR" altLang="en-US" sz="1200" dirty="0"/>
              <a:t>약육강식의 방</a:t>
            </a:r>
            <a:r>
              <a:rPr lang="en-US" altLang="ko-KR" sz="1200" dirty="0"/>
              <a:t>(33%)</a:t>
            </a:r>
          </a:p>
        </p:txBody>
      </p:sp>
      <p:sp>
        <p:nvSpPr>
          <p:cNvPr id="15" name="직사각형 14"/>
          <p:cNvSpPr/>
          <p:nvPr/>
        </p:nvSpPr>
        <p:spPr>
          <a:xfrm>
            <a:off x="9734207" y="4063129"/>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Tree>
    <p:extLst>
      <p:ext uri="{BB962C8B-B14F-4D97-AF65-F5344CB8AC3E}">
        <p14:creationId xmlns:p14="http://schemas.microsoft.com/office/powerpoint/2010/main" val="33898548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38</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268888" y="1578423"/>
            <a:ext cx="1782772" cy="415498"/>
          </a:xfrm>
          <a:prstGeom prst="rect">
            <a:avLst/>
          </a:prstGeom>
          <a:noFill/>
        </p:spPr>
        <p:txBody>
          <a:bodyPr wrap="square" rtlCol="0">
            <a:spAutoFit/>
          </a:bodyPr>
          <a:lstStyle/>
          <a:p>
            <a:pPr>
              <a:lnSpc>
                <a:spcPct val="150000"/>
              </a:lnSpc>
            </a:pPr>
            <a:r>
              <a:rPr lang="ko-KR" altLang="en-US" sz="1400" b="1" dirty="0" smtClean="0"/>
              <a:t>상인의 물품 판매</a:t>
            </a:r>
            <a:endParaRPr lang="en-US" altLang="ko-KR" sz="1400" b="1"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12" name="표 11"/>
          <p:cNvGraphicFramePr>
            <a:graphicFrameLocks noGrp="1"/>
          </p:cNvGraphicFramePr>
          <p:nvPr>
            <p:extLst>
              <p:ext uri="{D42A27DB-BD31-4B8C-83A1-F6EECF244321}">
                <p14:modId xmlns:p14="http://schemas.microsoft.com/office/powerpoint/2010/main" val="368698676"/>
              </p:ext>
            </p:extLst>
          </p:nvPr>
        </p:nvGraphicFramePr>
        <p:xfrm>
          <a:off x="4352015" y="1959003"/>
          <a:ext cx="7235921" cy="1224280"/>
        </p:xfrm>
        <a:graphic>
          <a:graphicData uri="http://schemas.openxmlformats.org/drawingml/2006/table">
            <a:tbl>
              <a:tblPr firstRow="1" bandRow="1">
                <a:tableStyleId>{5940675A-B579-460E-94D1-54222C63F5DA}</a:tableStyleId>
              </a:tblPr>
              <a:tblGrid>
                <a:gridCol w="818497">
                  <a:extLst>
                    <a:ext uri="{9D8B030D-6E8A-4147-A177-3AD203B41FA5}">
                      <a16:colId xmlns:a16="http://schemas.microsoft.com/office/drawing/2014/main" val="2528112982"/>
                    </a:ext>
                  </a:extLst>
                </a:gridCol>
                <a:gridCol w="1221971">
                  <a:extLst>
                    <a:ext uri="{9D8B030D-6E8A-4147-A177-3AD203B41FA5}">
                      <a16:colId xmlns:a16="http://schemas.microsoft.com/office/drawing/2014/main" val="2319594186"/>
                    </a:ext>
                  </a:extLst>
                </a:gridCol>
                <a:gridCol w="565265">
                  <a:extLst>
                    <a:ext uri="{9D8B030D-6E8A-4147-A177-3AD203B41FA5}">
                      <a16:colId xmlns:a16="http://schemas.microsoft.com/office/drawing/2014/main" val="1950506110"/>
                    </a:ext>
                  </a:extLst>
                </a:gridCol>
                <a:gridCol w="631767">
                  <a:extLst>
                    <a:ext uri="{9D8B030D-6E8A-4147-A177-3AD203B41FA5}">
                      <a16:colId xmlns:a16="http://schemas.microsoft.com/office/drawing/2014/main" val="753451450"/>
                    </a:ext>
                  </a:extLst>
                </a:gridCol>
                <a:gridCol w="1787236">
                  <a:extLst>
                    <a:ext uri="{9D8B030D-6E8A-4147-A177-3AD203B41FA5}">
                      <a16:colId xmlns:a16="http://schemas.microsoft.com/office/drawing/2014/main" val="1907676250"/>
                    </a:ext>
                  </a:extLst>
                </a:gridCol>
                <a:gridCol w="2211185">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smtClean="0"/>
                        <a:t>판매 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가격</a:t>
                      </a:r>
                      <a:endParaRPr lang="ko-KR" altLang="en-US" sz="1200" b="1" dirty="0"/>
                    </a:p>
                  </a:txBody>
                  <a:tcPr anchor="ctr">
                    <a:solidFill>
                      <a:schemeClr val="bg1">
                        <a:lumMod val="75000"/>
                      </a:schemeClr>
                    </a:solidFill>
                  </a:tcPr>
                </a:tc>
                <a:tc>
                  <a:txBody>
                    <a:bodyPr/>
                    <a:lstStyle/>
                    <a:p>
                      <a:pPr algn="ctr" latinLnBrk="1"/>
                      <a:r>
                        <a:rPr lang="ko-KR" altLang="en-US" sz="1200" b="1" dirty="0" smtClean="0"/>
                        <a:t>판매 확률</a:t>
                      </a:r>
                      <a:endParaRPr lang="ko-KR" altLang="en-US" sz="1200" b="1" dirty="0"/>
                    </a:p>
                  </a:txBody>
                  <a:tcPr anchor="ctr">
                    <a:solidFill>
                      <a:schemeClr val="bg1">
                        <a:lumMod val="75000"/>
                      </a:schemeClr>
                    </a:solidFill>
                  </a:tcPr>
                </a:tc>
                <a:tc>
                  <a:txBody>
                    <a:bodyPr/>
                    <a:lstStyle/>
                    <a:p>
                      <a:pPr algn="ctr" latinLnBrk="1"/>
                      <a:r>
                        <a:rPr lang="ko-KR" altLang="en-US" sz="1200" b="1" dirty="0" smtClean="0"/>
                        <a:t>총 판매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아이템 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아이템</a:t>
                      </a:r>
                      <a:endParaRPr lang="ko-KR" altLang="en-US" sz="1000" dirty="0"/>
                    </a:p>
                  </a:txBody>
                  <a:tcPr anchor="ctr"/>
                </a:tc>
                <a:tc rowSpan="2">
                  <a:txBody>
                    <a:bodyPr/>
                    <a:lstStyle/>
                    <a:p>
                      <a:pPr algn="ctr" latinLnBrk="1"/>
                      <a:r>
                        <a:rPr lang="ko-KR" altLang="en-US" sz="1000" dirty="0" smtClean="0"/>
                        <a:t>고유 판매가</a:t>
                      </a:r>
                      <a:endParaRPr lang="ko-KR" altLang="en-US" sz="1000" dirty="0"/>
                    </a:p>
                  </a:txBody>
                  <a:tcPr anchor="ctr"/>
                </a:tc>
                <a:tc>
                  <a:txBody>
                    <a:bodyPr/>
                    <a:lstStyle/>
                    <a:p>
                      <a:pPr algn="ctr">
                        <a:lnSpc>
                          <a:spcPct val="150000"/>
                        </a:lnSpc>
                      </a:pPr>
                      <a:r>
                        <a:rPr lang="en-US" altLang="ko-KR" sz="1000" dirty="0" smtClean="0"/>
                        <a:t>92%</a:t>
                      </a:r>
                      <a:endParaRPr lang="en-US" altLang="ko-KR" sz="1000" dirty="0"/>
                    </a:p>
                  </a:txBody>
                  <a:tcPr anchor="ctr"/>
                </a:tc>
                <a:tc rowSpan="2">
                  <a:txBody>
                    <a:bodyPr/>
                    <a:lstStyle/>
                    <a:p>
                      <a:pPr algn="ctr">
                        <a:lnSpc>
                          <a:spcPct val="150000"/>
                        </a:lnSpc>
                      </a:pPr>
                      <a:r>
                        <a:rPr lang="en-US" altLang="ko-KR" sz="1000" dirty="0" smtClean="0"/>
                        <a:t>4 </a:t>
                      </a:r>
                      <a:r>
                        <a:rPr lang="ko-KR" altLang="en-US" sz="1000" dirty="0" smtClean="0"/>
                        <a:t>종류</a:t>
                      </a:r>
                      <a:r>
                        <a:rPr lang="en-US" altLang="ko-KR" sz="1000" dirty="0" smtClean="0"/>
                        <a:t>(80%) / 5 </a:t>
                      </a:r>
                      <a:r>
                        <a:rPr lang="ko-KR" altLang="en-US" sz="1000" dirty="0" smtClean="0"/>
                        <a:t>종류</a:t>
                      </a:r>
                      <a:r>
                        <a:rPr lang="en-US" altLang="ko-KR" sz="1000" dirty="0" smtClean="0"/>
                        <a:t>(20%)</a:t>
                      </a:r>
                    </a:p>
                    <a:p>
                      <a:pPr algn="ctr">
                        <a:lnSpc>
                          <a:spcPct val="150000"/>
                        </a:lnSpc>
                      </a:pPr>
                      <a:r>
                        <a:rPr lang="en-US" altLang="ko-KR" sz="1000" dirty="0" smtClean="0"/>
                        <a:t>(</a:t>
                      </a:r>
                      <a:r>
                        <a:rPr lang="ko-KR" altLang="en-US" sz="1000" dirty="0" smtClean="0"/>
                        <a:t>단</a:t>
                      </a:r>
                      <a:r>
                        <a:rPr lang="en-US" altLang="ko-KR" sz="1000" dirty="0" smtClean="0"/>
                        <a:t>, </a:t>
                      </a:r>
                      <a:r>
                        <a:rPr lang="ko-KR" altLang="en-US" sz="1000" dirty="0" err="1" smtClean="0"/>
                        <a:t>아티팩트는</a:t>
                      </a:r>
                      <a:r>
                        <a:rPr lang="ko-KR" altLang="en-US" sz="1000" dirty="0" smtClean="0"/>
                        <a:t> 최대 </a:t>
                      </a:r>
                      <a:r>
                        <a:rPr lang="en-US" altLang="ko-KR" sz="1000" dirty="0" smtClean="0"/>
                        <a:t>1</a:t>
                      </a:r>
                      <a:r>
                        <a:rPr lang="ko-KR" altLang="en-US" sz="1000" dirty="0" smtClean="0"/>
                        <a:t>개</a:t>
                      </a:r>
                      <a:r>
                        <a:rPr lang="en-US" altLang="ko-KR" sz="1000" dirty="0" smtClean="0"/>
                        <a:t>)</a:t>
                      </a:r>
                      <a:endParaRPr lang="en-US" altLang="ko-KR" sz="1000" dirty="0"/>
                    </a:p>
                  </a:txBody>
                  <a:tcPr anchor="ctr"/>
                </a:tc>
                <a:tc>
                  <a:txBody>
                    <a:bodyPr/>
                    <a:lstStyle/>
                    <a:p>
                      <a:pPr marL="0" indent="0">
                        <a:lnSpc>
                          <a:spcPct val="150000"/>
                        </a:lnSpc>
                        <a:buFontTx/>
                        <a:buNone/>
                      </a:pPr>
                      <a:r>
                        <a:rPr lang="ko-KR" altLang="en-US" sz="1000" dirty="0" smtClean="0"/>
                        <a:t>특별</a:t>
                      </a:r>
                      <a:r>
                        <a:rPr lang="en-US" altLang="ko-KR" sz="1000" dirty="0" smtClean="0"/>
                        <a:t>(20%) / </a:t>
                      </a:r>
                      <a:r>
                        <a:rPr lang="ko-KR" altLang="en-US" sz="1000" dirty="0" smtClean="0"/>
                        <a:t>희귀</a:t>
                      </a:r>
                      <a:r>
                        <a:rPr lang="en-US" altLang="ko-KR" sz="1000" dirty="0" smtClean="0"/>
                        <a:t>(40%) / </a:t>
                      </a:r>
                      <a:r>
                        <a:rPr lang="ko-KR" altLang="en-US" sz="1000" dirty="0" smtClean="0"/>
                        <a:t>평범</a:t>
                      </a:r>
                      <a:r>
                        <a:rPr lang="en-US" altLang="ko-KR" sz="1000" dirty="0" smtClean="0"/>
                        <a:t>(40%)</a:t>
                      </a:r>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8%</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13" name="직사각형 12"/>
          <p:cNvSpPr/>
          <p:nvPr/>
        </p:nvSpPr>
        <p:spPr>
          <a:xfrm>
            <a:off x="9915693" y="1676038"/>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
        <p:nvSpPr>
          <p:cNvPr id="15" name="TextBox 14"/>
          <p:cNvSpPr txBox="1"/>
          <p:nvPr/>
        </p:nvSpPr>
        <p:spPr>
          <a:xfrm>
            <a:off x="4268888" y="3861580"/>
            <a:ext cx="1782772" cy="373885"/>
          </a:xfrm>
          <a:prstGeom prst="rect">
            <a:avLst/>
          </a:prstGeom>
          <a:noFill/>
        </p:spPr>
        <p:txBody>
          <a:bodyPr wrap="square" rtlCol="0">
            <a:spAutoFit/>
          </a:bodyPr>
          <a:lstStyle/>
          <a:p>
            <a:pPr>
              <a:lnSpc>
                <a:spcPct val="150000"/>
              </a:lnSpc>
            </a:pPr>
            <a:r>
              <a:rPr lang="ko-KR" altLang="en-US" sz="1400" b="1" dirty="0" smtClean="0"/>
              <a:t>보물 상자</a:t>
            </a:r>
            <a:endParaRPr lang="en-US" altLang="ko-KR" sz="1400" b="1" dirty="0" smtClean="0"/>
          </a:p>
        </p:txBody>
      </p:sp>
      <p:graphicFrame>
        <p:nvGraphicFramePr>
          <p:cNvPr id="16" name="표 15"/>
          <p:cNvGraphicFramePr>
            <a:graphicFrameLocks noGrp="1"/>
          </p:cNvGraphicFramePr>
          <p:nvPr>
            <p:extLst>
              <p:ext uri="{D42A27DB-BD31-4B8C-83A1-F6EECF244321}">
                <p14:modId xmlns:p14="http://schemas.microsoft.com/office/powerpoint/2010/main" val="2392463994"/>
              </p:ext>
            </p:extLst>
          </p:nvPr>
        </p:nvGraphicFramePr>
        <p:xfrm>
          <a:off x="4352013" y="4252091"/>
          <a:ext cx="7235922" cy="1137920"/>
        </p:xfrm>
        <a:graphic>
          <a:graphicData uri="http://schemas.openxmlformats.org/drawingml/2006/table">
            <a:tbl>
              <a:tblPr firstRow="1" bandRow="1">
                <a:tableStyleId>{5940675A-B579-460E-94D1-54222C63F5DA}</a:tableStyleId>
              </a:tblPr>
              <a:tblGrid>
                <a:gridCol w="887856">
                  <a:extLst>
                    <a:ext uri="{9D8B030D-6E8A-4147-A177-3AD203B41FA5}">
                      <a16:colId xmlns:a16="http://schemas.microsoft.com/office/drawing/2014/main" val="2528112982"/>
                    </a:ext>
                  </a:extLst>
                </a:gridCol>
                <a:gridCol w="1485123">
                  <a:extLst>
                    <a:ext uri="{9D8B030D-6E8A-4147-A177-3AD203B41FA5}">
                      <a16:colId xmlns:a16="http://schemas.microsoft.com/office/drawing/2014/main" val="2319594186"/>
                    </a:ext>
                  </a:extLst>
                </a:gridCol>
                <a:gridCol w="872836">
                  <a:extLst>
                    <a:ext uri="{9D8B030D-6E8A-4147-A177-3AD203B41FA5}">
                      <a16:colId xmlns:a16="http://schemas.microsoft.com/office/drawing/2014/main" val="753451450"/>
                    </a:ext>
                  </a:extLst>
                </a:gridCol>
                <a:gridCol w="2527069">
                  <a:extLst>
                    <a:ext uri="{9D8B030D-6E8A-4147-A177-3AD203B41FA5}">
                      <a16:colId xmlns:a16="http://schemas.microsoft.com/office/drawing/2014/main" val="1907676250"/>
                    </a:ext>
                  </a:extLst>
                </a:gridCol>
                <a:gridCol w="1463038">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확률</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아이템 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희귀 이상 아이템</a:t>
                      </a:r>
                      <a:endParaRPr lang="ko-KR" altLang="en-US" sz="1000" dirty="0"/>
                    </a:p>
                  </a:txBody>
                  <a:tcPr anchor="ctr"/>
                </a:tc>
                <a:tc>
                  <a:txBody>
                    <a:bodyPr/>
                    <a:lstStyle/>
                    <a:p>
                      <a:pPr algn="ctr">
                        <a:lnSpc>
                          <a:spcPct val="150000"/>
                        </a:lnSpc>
                      </a:pPr>
                      <a:r>
                        <a:rPr lang="en-US" altLang="ko-KR" sz="1000" dirty="0" smtClean="0"/>
                        <a:t>80%</a:t>
                      </a:r>
                      <a:endParaRPr lang="en-US" altLang="ko-KR" sz="1000" dirty="0"/>
                    </a:p>
                  </a:txBody>
                  <a:tcPr anchor="ctr"/>
                </a:tc>
                <a:tc rowSpan="2">
                  <a:txBody>
                    <a:bodyPr/>
                    <a:lstStyle/>
                    <a:p>
                      <a:pPr algn="ctr">
                        <a:lnSpc>
                          <a:spcPct val="150000"/>
                        </a:lnSpc>
                      </a:pPr>
                      <a:r>
                        <a:rPr lang="en-US" altLang="ko-KR" sz="1000" dirty="0" smtClean="0"/>
                        <a:t>1</a:t>
                      </a:r>
                      <a:r>
                        <a:rPr lang="ko-KR" altLang="en-US" sz="1000" baseline="0" dirty="0" smtClean="0"/>
                        <a:t> 종류</a:t>
                      </a:r>
                      <a:r>
                        <a:rPr lang="en-US" altLang="ko-KR" sz="1000" dirty="0" smtClean="0"/>
                        <a:t>(50%) /</a:t>
                      </a:r>
                      <a:r>
                        <a:rPr lang="en-US" altLang="ko-KR" sz="1000" baseline="0" dirty="0" smtClean="0"/>
                        <a:t> 2 </a:t>
                      </a:r>
                      <a:r>
                        <a:rPr lang="ko-KR" altLang="en-US" sz="1000" baseline="0" dirty="0" smtClean="0"/>
                        <a:t>종류</a:t>
                      </a:r>
                      <a:r>
                        <a:rPr lang="en-US" altLang="ko-KR" sz="1000" baseline="0" dirty="0" smtClean="0"/>
                        <a:t>(40%) /</a:t>
                      </a:r>
                      <a:r>
                        <a:rPr lang="en-US" altLang="ko-KR" sz="1000" dirty="0" smtClean="0"/>
                        <a:t> 3 </a:t>
                      </a:r>
                      <a:r>
                        <a:rPr lang="ko-KR" altLang="en-US" sz="1000" dirty="0" smtClean="0"/>
                        <a:t>종류</a:t>
                      </a:r>
                      <a:r>
                        <a:rPr lang="en-US" altLang="ko-KR" sz="1000" dirty="0" smtClean="0"/>
                        <a:t>(10%)</a:t>
                      </a:r>
                    </a:p>
                    <a:p>
                      <a:pPr algn="ctr">
                        <a:lnSpc>
                          <a:spcPct val="150000"/>
                        </a:lnSpc>
                      </a:pPr>
                      <a:r>
                        <a:rPr lang="en-US" altLang="ko-KR" sz="1000" dirty="0" smtClean="0"/>
                        <a:t>(</a:t>
                      </a:r>
                      <a:r>
                        <a:rPr lang="ko-KR" altLang="en-US" sz="1000" dirty="0" smtClean="0"/>
                        <a:t>단</a:t>
                      </a:r>
                      <a:r>
                        <a:rPr lang="en-US" altLang="ko-KR" sz="1000" dirty="0" smtClean="0"/>
                        <a:t>, </a:t>
                      </a:r>
                      <a:r>
                        <a:rPr lang="ko-KR" altLang="en-US" sz="1000" dirty="0" err="1" smtClean="0"/>
                        <a:t>아티팩트는</a:t>
                      </a:r>
                      <a:r>
                        <a:rPr lang="ko-KR" altLang="en-US" sz="1000" dirty="0" smtClean="0"/>
                        <a:t> 최대 </a:t>
                      </a:r>
                      <a:r>
                        <a:rPr lang="en-US" altLang="ko-KR" sz="1000" dirty="0" smtClean="0"/>
                        <a:t>1</a:t>
                      </a:r>
                      <a:r>
                        <a:rPr lang="ko-KR" altLang="en-US" sz="1000" dirty="0" smtClean="0"/>
                        <a:t>개</a:t>
                      </a:r>
                      <a:r>
                        <a:rPr lang="en-US" altLang="ko-KR" sz="1000" dirty="0" smtClean="0"/>
                        <a:t>)</a:t>
                      </a:r>
                      <a:endParaRPr lang="en-US" altLang="ko-KR" sz="1000" dirty="0"/>
                    </a:p>
                  </a:txBody>
                  <a:tcPr anchor="ctr"/>
                </a:tc>
                <a:tc>
                  <a:txBody>
                    <a:bodyPr/>
                    <a:lstStyle/>
                    <a:p>
                      <a:pPr marL="0" indent="0">
                        <a:lnSpc>
                          <a:spcPct val="150000"/>
                        </a:lnSpc>
                        <a:buFontTx/>
                        <a:buNone/>
                      </a:pPr>
                      <a:r>
                        <a:rPr lang="ko-KR" altLang="en-US" sz="1000" dirty="0" smtClean="0"/>
                        <a:t>특별</a:t>
                      </a:r>
                      <a:r>
                        <a:rPr lang="en-US" altLang="ko-KR" sz="1000" dirty="0" smtClean="0"/>
                        <a:t>(25%) / </a:t>
                      </a:r>
                      <a:r>
                        <a:rPr lang="ko-KR" altLang="en-US" sz="1000" dirty="0" smtClean="0"/>
                        <a:t>희귀</a:t>
                      </a:r>
                      <a:r>
                        <a:rPr lang="en-US" altLang="ko-KR" sz="1000" dirty="0" smtClean="0"/>
                        <a:t>(75%)</a:t>
                      </a:r>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a:txBody>
                    <a:bodyPr/>
                    <a:lstStyle/>
                    <a:p>
                      <a:pPr algn="ctr" latinLnBrk="1"/>
                      <a:r>
                        <a:rPr lang="en-US" altLang="ko-KR" sz="1000" dirty="0" smtClean="0"/>
                        <a:t>20%</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17" name="직사각형 16"/>
          <p:cNvSpPr/>
          <p:nvPr/>
        </p:nvSpPr>
        <p:spPr>
          <a:xfrm>
            <a:off x="9915693" y="3969126"/>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Tree>
    <p:extLst>
      <p:ext uri="{BB962C8B-B14F-4D97-AF65-F5344CB8AC3E}">
        <p14:creationId xmlns:p14="http://schemas.microsoft.com/office/powerpoint/2010/main" val="31206246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39</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934603"/>
          </a:xfrm>
          <a:prstGeom prst="rect">
            <a:avLst/>
          </a:prstGeom>
          <a:noFill/>
        </p:spPr>
        <p:txBody>
          <a:bodyPr wrap="square" rtlCol="0">
            <a:spAutoFit/>
          </a:bodyPr>
          <a:lstStyle/>
          <a:p>
            <a:pPr>
              <a:lnSpc>
                <a:spcPct val="150000"/>
              </a:lnSpc>
            </a:pPr>
            <a:r>
              <a:rPr lang="en-US" altLang="ko-KR" sz="1200" dirty="0"/>
              <a:t>• </a:t>
            </a:r>
            <a:r>
              <a:rPr lang="ko-KR" altLang="en-US" sz="1200" dirty="0"/>
              <a:t>전투 </a:t>
            </a:r>
            <a:r>
              <a:rPr lang="ko-KR" altLang="en-US" sz="1200" dirty="0" smtClean="0"/>
              <a:t>이벤트 </a:t>
            </a:r>
            <a:r>
              <a:rPr lang="en-US" altLang="ko-KR" sz="1200" dirty="0" smtClean="0"/>
              <a:t>: </a:t>
            </a:r>
          </a:p>
          <a:p>
            <a:pPr>
              <a:lnSpc>
                <a:spcPct val="150000"/>
              </a:lnSpc>
            </a:pPr>
            <a:r>
              <a:rPr lang="en-US" altLang="ko-KR" sz="1200" dirty="0" smtClean="0"/>
              <a:t>1) </a:t>
            </a:r>
            <a:r>
              <a:rPr lang="ko-KR" altLang="en-US" sz="1200" dirty="0" smtClean="0"/>
              <a:t>전투에서 등장하는 몬스터는 </a:t>
            </a:r>
            <a:r>
              <a:rPr lang="ko-KR" altLang="en-US" sz="1200" dirty="0"/>
              <a:t>각 계층에 </a:t>
            </a:r>
            <a:r>
              <a:rPr lang="ko-KR" altLang="en-US" sz="1200" dirty="0" smtClean="0"/>
              <a:t>출몰하는 </a:t>
            </a:r>
            <a:r>
              <a:rPr lang="ko-KR" altLang="en-US" sz="1200" dirty="0" err="1" smtClean="0"/>
              <a:t>몬스터들의</a:t>
            </a:r>
            <a:r>
              <a:rPr lang="ko-KR" altLang="en-US" sz="1200" dirty="0" smtClean="0"/>
              <a:t> 조합들 중 하나가 선택되어</a:t>
            </a:r>
            <a:endParaRPr lang="en-US" altLang="ko-KR" sz="1200" dirty="0" smtClean="0"/>
          </a:p>
          <a:p>
            <a:pPr>
              <a:lnSpc>
                <a:spcPct val="150000"/>
              </a:lnSpc>
            </a:pPr>
            <a:r>
              <a:rPr lang="ko-KR" altLang="en-US" sz="1200" dirty="0" smtClean="0"/>
              <a:t>결정된다</a:t>
            </a:r>
            <a:r>
              <a:rPr lang="en-US" altLang="ko-KR" sz="1200" dirty="0" smtClean="0"/>
              <a:t>. </a:t>
            </a:r>
            <a:r>
              <a:rPr lang="ko-KR" altLang="en-US" sz="1200" dirty="0" smtClean="0"/>
              <a:t>더 깊은 계층일수록 등장 </a:t>
            </a:r>
            <a:r>
              <a:rPr lang="ko-KR" altLang="en-US" sz="1200" dirty="0" err="1" smtClean="0"/>
              <a:t>몬스터들이</a:t>
            </a:r>
            <a:r>
              <a:rPr lang="ko-KR" altLang="en-US" sz="1200" dirty="0" smtClean="0"/>
              <a:t> 강력해진다</a:t>
            </a:r>
            <a:r>
              <a:rPr lang="en-US" altLang="ko-KR" sz="1200" dirty="0" smtClean="0"/>
              <a:t>.</a:t>
            </a:r>
          </a:p>
          <a:p>
            <a:pPr>
              <a:lnSpc>
                <a:spcPct val="150000"/>
              </a:lnSpc>
            </a:pPr>
            <a:r>
              <a:rPr lang="en-US" altLang="ko-KR" sz="1200" dirty="0" smtClean="0"/>
              <a:t>- </a:t>
            </a:r>
            <a:r>
              <a:rPr lang="ko-KR" altLang="en-US" sz="1200" dirty="0" err="1" smtClean="0"/>
              <a:t>에어리어</a:t>
            </a:r>
            <a:r>
              <a:rPr lang="ko-KR" altLang="en-US" sz="1200" dirty="0" smtClean="0"/>
              <a:t> 강화 공식</a:t>
            </a:r>
            <a:r>
              <a:rPr lang="en-US" altLang="ko-KR" sz="1200" dirty="0" smtClean="0"/>
              <a:t> : </a:t>
            </a:r>
            <a:r>
              <a:rPr lang="ko-KR" altLang="en-US" sz="1200" dirty="0" smtClean="0"/>
              <a:t>몬스터 </a:t>
            </a:r>
            <a:r>
              <a:rPr lang="ko-KR" altLang="en-US" sz="1200" dirty="0" err="1" smtClean="0"/>
              <a:t>능력치</a:t>
            </a:r>
            <a:r>
              <a:rPr lang="ko-KR" altLang="en-US" sz="1200" dirty="0" smtClean="0"/>
              <a:t> </a:t>
            </a:r>
            <a:r>
              <a:rPr lang="en-US" altLang="ko-KR" sz="1200" dirty="0" smtClean="0"/>
              <a:t>= </a:t>
            </a:r>
            <a:r>
              <a:rPr lang="ko-KR" altLang="en-US" sz="1200" dirty="0" smtClean="0"/>
              <a:t>기본 </a:t>
            </a:r>
            <a:r>
              <a:rPr lang="ko-KR" altLang="en-US" sz="1200" dirty="0" err="1" smtClean="0"/>
              <a:t>능력치</a:t>
            </a:r>
            <a:r>
              <a:rPr lang="ko-KR" altLang="en-US" sz="1200" dirty="0" smtClean="0"/>
              <a:t> </a:t>
            </a:r>
            <a:r>
              <a:rPr lang="en-US" altLang="ko-KR" sz="1200" dirty="0" smtClean="0"/>
              <a:t>+ (</a:t>
            </a:r>
            <a:r>
              <a:rPr lang="ko-KR" altLang="en-US" sz="1200" dirty="0" smtClean="0"/>
              <a:t>기본 </a:t>
            </a:r>
            <a:r>
              <a:rPr lang="ko-KR" altLang="en-US" sz="1200" dirty="0" err="1" smtClean="0"/>
              <a:t>능력치</a:t>
            </a:r>
            <a:r>
              <a:rPr lang="ko-KR" altLang="en-US" sz="1200" dirty="0" smtClean="0"/>
              <a:t> </a:t>
            </a:r>
            <a:r>
              <a:rPr lang="en-US" altLang="ko-KR" sz="1200" dirty="0" smtClean="0"/>
              <a:t>x (</a:t>
            </a:r>
            <a:r>
              <a:rPr lang="ko-KR" altLang="en-US" sz="1200" dirty="0" smtClean="0"/>
              <a:t>층수</a:t>
            </a:r>
            <a:r>
              <a:rPr lang="en-US" altLang="ko-KR" sz="1200" dirty="0" smtClean="0"/>
              <a:t>-1)</a:t>
            </a:r>
            <a:r>
              <a:rPr lang="ko-KR" altLang="en-US" sz="1200" dirty="0" smtClean="0"/>
              <a:t> </a:t>
            </a:r>
            <a:r>
              <a:rPr lang="en-US" altLang="ko-KR" sz="1200" dirty="0" smtClean="0"/>
              <a:t>x 10%)</a:t>
            </a:r>
          </a:p>
          <a:p>
            <a:pPr>
              <a:lnSpc>
                <a:spcPct val="150000"/>
              </a:lnSpc>
            </a:pPr>
            <a:endParaRPr lang="en-US" altLang="ko-KR" sz="1200" dirty="0"/>
          </a:p>
          <a:p>
            <a:pPr>
              <a:lnSpc>
                <a:spcPct val="150000"/>
              </a:lnSpc>
            </a:pPr>
            <a:r>
              <a:rPr lang="en-US" altLang="ko-KR" sz="1200" dirty="0"/>
              <a:t>2) </a:t>
            </a:r>
            <a:r>
              <a:rPr lang="ko-KR" altLang="en-US" sz="1200" dirty="0" err="1"/>
              <a:t>에어리어가</a:t>
            </a:r>
            <a:r>
              <a:rPr lang="ko-KR" altLang="en-US" sz="1200" dirty="0"/>
              <a:t> </a:t>
            </a:r>
            <a:r>
              <a:rPr lang="ko-KR" altLang="en-US" sz="1200" dirty="0" err="1"/>
              <a:t>재생성될</a:t>
            </a:r>
            <a:r>
              <a:rPr lang="ko-KR" altLang="en-US" sz="1200" dirty="0"/>
              <a:t> 때</a:t>
            </a:r>
            <a:r>
              <a:rPr lang="en-US" altLang="ko-KR" sz="1200" dirty="0"/>
              <a:t>, </a:t>
            </a:r>
            <a:r>
              <a:rPr lang="ko-KR" altLang="en-US" sz="1200" dirty="0"/>
              <a:t>일정 확률로 적 </a:t>
            </a:r>
            <a:r>
              <a:rPr lang="ko-KR" altLang="en-US" sz="1200" dirty="0" err="1"/>
              <a:t>몬스터들의</a:t>
            </a:r>
            <a:r>
              <a:rPr lang="ko-KR" altLang="en-US" sz="1200" dirty="0"/>
              <a:t> 우선 </a:t>
            </a:r>
            <a:r>
              <a:rPr lang="ko-KR" altLang="en-US" sz="1200" dirty="0" smtClean="0"/>
              <a:t>순위 계산에 </a:t>
            </a:r>
            <a:r>
              <a:rPr lang="ko-KR" altLang="en-US" sz="1200" dirty="0"/>
              <a:t>영향을 </a:t>
            </a:r>
            <a:r>
              <a:rPr lang="ko-KR" altLang="en-US" sz="1200" dirty="0" smtClean="0"/>
              <a:t>주는 </a:t>
            </a:r>
            <a:r>
              <a:rPr lang="en-US" altLang="ko-KR" sz="1200" dirty="0" smtClean="0"/>
              <a:t>‘</a:t>
            </a:r>
            <a:r>
              <a:rPr lang="ko-KR" altLang="en-US" sz="1200" dirty="0"/>
              <a:t>저주</a:t>
            </a:r>
            <a:r>
              <a:rPr lang="en-US" altLang="ko-KR" sz="1200" dirty="0"/>
              <a:t>’</a:t>
            </a:r>
            <a:r>
              <a:rPr lang="ko-KR" altLang="en-US" sz="1200" dirty="0"/>
              <a:t>가 붙을 수 있다</a:t>
            </a:r>
            <a:r>
              <a:rPr lang="en-US" altLang="ko-KR" sz="1200" dirty="0"/>
              <a:t>. </a:t>
            </a:r>
            <a:r>
              <a:rPr lang="ko-KR" altLang="en-US" sz="1200" dirty="0"/>
              <a:t>어떤 저주가 </a:t>
            </a:r>
            <a:r>
              <a:rPr lang="ko-KR" altLang="en-US" sz="1200" dirty="0" smtClean="0"/>
              <a:t>붙는가에 따라 </a:t>
            </a:r>
            <a:r>
              <a:rPr lang="ko-KR" altLang="en-US" sz="1200" dirty="0"/>
              <a:t>적군의 우선 순위 계산이 부분적으로 </a:t>
            </a:r>
            <a:r>
              <a:rPr lang="ko-KR" altLang="en-US" sz="1200" dirty="0" smtClean="0"/>
              <a:t>달라진다</a:t>
            </a:r>
            <a:r>
              <a:rPr lang="en-US" altLang="ko-KR" sz="1200" dirty="0" smtClean="0"/>
              <a:t>.</a:t>
            </a:r>
            <a:endParaRPr lang="en-US" altLang="ko-KR" sz="1200" dirty="0"/>
          </a:p>
          <a:p>
            <a:pPr>
              <a:lnSpc>
                <a:spcPct val="150000"/>
              </a:lnSpc>
            </a:pPr>
            <a:r>
              <a:rPr lang="en-US" altLang="ko-KR" sz="1200" dirty="0" smtClean="0"/>
              <a:t>- </a:t>
            </a:r>
            <a:r>
              <a:rPr lang="ko-KR" altLang="en-US" sz="1200" dirty="0" smtClean="0"/>
              <a:t>저주 </a:t>
            </a:r>
            <a:r>
              <a:rPr lang="en-US" altLang="ko-KR" sz="1200" dirty="0"/>
              <a:t>:</a:t>
            </a:r>
          </a:p>
          <a:p>
            <a:pPr>
              <a:lnSpc>
                <a:spcPct val="150000"/>
              </a:lnSpc>
            </a:pPr>
            <a:r>
              <a:rPr lang="ko-KR" altLang="en-US" sz="1200" dirty="0" smtClean="0"/>
              <a:t>저주 확률 </a:t>
            </a:r>
            <a:r>
              <a:rPr lang="en-US" altLang="ko-KR" sz="1200" dirty="0" smtClean="0"/>
              <a:t>: 20%</a:t>
            </a:r>
          </a:p>
          <a:p>
            <a:pPr>
              <a:lnSpc>
                <a:spcPct val="150000"/>
              </a:lnSpc>
            </a:pPr>
            <a:r>
              <a:rPr lang="ko-KR" altLang="en-US" sz="1200" dirty="0" smtClean="0"/>
              <a:t>종류 </a:t>
            </a:r>
            <a:r>
              <a:rPr lang="en-US" altLang="ko-KR" sz="1200" dirty="0"/>
              <a:t>: </a:t>
            </a:r>
            <a:r>
              <a:rPr lang="ko-KR" altLang="en-US" sz="1200" dirty="0"/>
              <a:t>고통의 방</a:t>
            </a:r>
            <a:r>
              <a:rPr lang="en-US" altLang="ko-KR" sz="1200" dirty="0"/>
              <a:t>(33%), </a:t>
            </a:r>
            <a:r>
              <a:rPr lang="ko-KR" altLang="en-US" sz="1200" dirty="0"/>
              <a:t>절망의 방</a:t>
            </a:r>
            <a:r>
              <a:rPr lang="en-US" altLang="ko-KR" sz="1200" dirty="0"/>
              <a:t>(33%), </a:t>
            </a:r>
            <a:r>
              <a:rPr lang="ko-KR" altLang="en-US" sz="1200" dirty="0"/>
              <a:t>약육강식의 방</a:t>
            </a:r>
            <a:r>
              <a:rPr lang="en-US" altLang="ko-KR" sz="1200" dirty="0"/>
              <a:t>(33</a:t>
            </a:r>
            <a:r>
              <a:rPr lang="en-US" altLang="ko-KR" sz="1200" dirty="0" smtClean="0"/>
              <a:t>%)</a:t>
            </a:r>
          </a:p>
          <a:p>
            <a:pPr>
              <a:lnSpc>
                <a:spcPct val="150000"/>
              </a:lnSpc>
            </a:pPr>
            <a:endParaRPr lang="en-US" altLang="ko-KR" sz="1200" dirty="0"/>
          </a:p>
          <a:p>
            <a:pPr>
              <a:lnSpc>
                <a:spcPct val="150000"/>
              </a:lnSpc>
            </a:pPr>
            <a:r>
              <a:rPr lang="en-US" altLang="ko-KR" sz="1200" dirty="0"/>
              <a:t>3) </a:t>
            </a:r>
            <a:r>
              <a:rPr lang="ko-KR" altLang="en-US" sz="1200" dirty="0"/>
              <a:t>전투 전리품을 가진다</a:t>
            </a:r>
            <a:r>
              <a:rPr lang="en-US" altLang="ko-KR" sz="1200" dirty="0"/>
              <a:t>. </a:t>
            </a:r>
            <a:r>
              <a:rPr lang="ko-KR" altLang="en-US" sz="1200" dirty="0"/>
              <a:t>플레이어가 </a:t>
            </a:r>
            <a:r>
              <a:rPr lang="ko-KR" altLang="en-US" sz="1200" dirty="0" err="1"/>
              <a:t>에어리어를</a:t>
            </a:r>
            <a:r>
              <a:rPr lang="ko-KR" altLang="en-US" sz="1200" dirty="0"/>
              <a:t> 클리어하면</a:t>
            </a:r>
            <a:r>
              <a:rPr lang="en-US" altLang="ko-KR" sz="1200" dirty="0"/>
              <a:t> </a:t>
            </a:r>
            <a:r>
              <a:rPr lang="ko-KR" altLang="en-US" sz="1200" dirty="0"/>
              <a:t>전리품 형식의 보상이</a:t>
            </a:r>
            <a:r>
              <a:rPr lang="en-US" altLang="ko-KR" sz="1200" dirty="0"/>
              <a:t> </a:t>
            </a:r>
            <a:r>
              <a:rPr lang="ko-KR" altLang="en-US" sz="1200" dirty="0"/>
              <a:t>주어지며</a:t>
            </a:r>
            <a:r>
              <a:rPr lang="en-US" altLang="ko-KR" sz="1200" dirty="0"/>
              <a:t>, </a:t>
            </a:r>
            <a:r>
              <a:rPr lang="ko-KR" altLang="en-US" sz="1200" dirty="0"/>
              <a:t>전리품은 골드 </a:t>
            </a:r>
            <a:r>
              <a:rPr lang="en-US" altLang="ko-KR" sz="1200" dirty="0"/>
              <a:t>/</a:t>
            </a:r>
            <a:r>
              <a:rPr lang="ko-KR" altLang="en-US" sz="1200" dirty="0"/>
              <a:t> </a:t>
            </a:r>
            <a:r>
              <a:rPr lang="ko-KR" altLang="en-US" sz="1200" dirty="0" err="1"/>
              <a:t>아티팩트</a:t>
            </a:r>
            <a:r>
              <a:rPr lang="ko-KR" altLang="en-US" sz="1200" dirty="0"/>
              <a:t> </a:t>
            </a:r>
            <a:r>
              <a:rPr lang="en-US" altLang="ko-KR" sz="1200" dirty="0"/>
              <a:t>/ </a:t>
            </a:r>
            <a:r>
              <a:rPr lang="ko-KR" altLang="en-US" sz="1200" dirty="0"/>
              <a:t>아이템이 각각의 확률에 따라 </a:t>
            </a:r>
            <a:r>
              <a:rPr lang="ko-KR" altLang="en-US" sz="1200" dirty="0" err="1"/>
              <a:t>드랍된다</a:t>
            </a:r>
            <a:r>
              <a:rPr lang="en-US" altLang="ko-KR" sz="1200" dirty="0"/>
              <a:t>. </a:t>
            </a:r>
            <a:r>
              <a:rPr lang="ko-KR" altLang="en-US" sz="1200" dirty="0"/>
              <a:t>이 때 서로 다른 종류가</a:t>
            </a:r>
            <a:endParaRPr lang="en-US" altLang="ko-KR" sz="1200" dirty="0"/>
          </a:p>
          <a:p>
            <a:pPr>
              <a:lnSpc>
                <a:spcPct val="150000"/>
              </a:lnSpc>
            </a:pPr>
            <a:r>
              <a:rPr lang="ko-KR" altLang="en-US" sz="1200" dirty="0"/>
              <a:t>중복으로 </a:t>
            </a:r>
            <a:r>
              <a:rPr lang="ko-KR" altLang="en-US" sz="1200" dirty="0" err="1"/>
              <a:t>드랍될</a:t>
            </a:r>
            <a:r>
              <a:rPr lang="ko-KR" altLang="en-US" sz="1200" dirty="0"/>
              <a:t> 수 있다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295501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40</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4939814"/>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보상 </a:t>
            </a:r>
            <a:r>
              <a:rPr lang="ko-KR" altLang="en-US" sz="1400" dirty="0" err="1" smtClean="0"/>
              <a:t>드랍량</a:t>
            </a:r>
            <a:r>
              <a:rPr lang="ko-KR" altLang="en-US" sz="1400" dirty="0" smtClean="0"/>
              <a:t> 및 확률</a:t>
            </a:r>
            <a:r>
              <a:rPr lang="en-US" altLang="ko-KR" sz="1400" dirty="0" smtClean="0"/>
              <a:t> </a:t>
            </a:r>
            <a:r>
              <a:rPr lang="en-US" altLang="ko-KR" sz="1400" dirty="0"/>
              <a:t>:</a:t>
            </a:r>
            <a:br>
              <a:rPr lang="en-US" altLang="ko-KR" sz="1400" dirty="0"/>
            </a:br>
            <a:r>
              <a:rPr lang="en-US" altLang="ko-KR" sz="1400" dirty="0" smtClean="0"/>
              <a:t>1) </a:t>
            </a:r>
            <a:r>
              <a:rPr lang="ko-KR" altLang="en-US" sz="1400" dirty="0" smtClean="0"/>
              <a:t>골드</a:t>
            </a:r>
            <a:r>
              <a:rPr lang="en-US" altLang="ko-KR" sz="1400" dirty="0" smtClean="0"/>
              <a:t/>
            </a:r>
            <a:br>
              <a:rPr lang="en-US" altLang="ko-KR" sz="1400" dirty="0" smtClean="0"/>
            </a:br>
            <a:r>
              <a:rPr lang="ko-KR" altLang="en-US" sz="1400" dirty="0"/>
              <a:t>개</a:t>
            </a:r>
            <a:r>
              <a:rPr lang="ko-KR" altLang="en-US" sz="1400" dirty="0" smtClean="0"/>
              <a:t>수 </a:t>
            </a:r>
            <a:r>
              <a:rPr lang="en-US" altLang="ko-KR" sz="1400" dirty="0" smtClean="0"/>
              <a:t>: (100 + </a:t>
            </a:r>
            <a:r>
              <a:rPr lang="ko-KR" altLang="en-US" sz="1400" dirty="0" smtClean="0"/>
              <a:t>층수</a:t>
            </a:r>
            <a:r>
              <a:rPr lang="en-US" altLang="ko-KR" sz="1400" dirty="0" smtClean="0"/>
              <a:t>x50) ~ (200 + </a:t>
            </a:r>
            <a:r>
              <a:rPr lang="ko-KR" altLang="en-US" sz="1400" dirty="0" smtClean="0"/>
              <a:t>층수</a:t>
            </a:r>
            <a:r>
              <a:rPr lang="en-US" altLang="ko-KR" sz="1400" dirty="0" smtClean="0"/>
              <a:t>x100) </a:t>
            </a:r>
            <a:r>
              <a:rPr lang="ko-KR" altLang="en-US" sz="1400" dirty="0" smtClean="0"/>
              <a:t>사이의 무작위 액수</a:t>
            </a:r>
            <a:endParaRPr lang="en-US" altLang="ko-KR" sz="1400" dirty="0" smtClean="0"/>
          </a:p>
          <a:p>
            <a:pPr>
              <a:lnSpc>
                <a:spcPct val="150000"/>
              </a:lnSpc>
            </a:pPr>
            <a:r>
              <a:rPr lang="ko-KR" altLang="en-US" sz="1400" dirty="0" smtClean="0"/>
              <a:t>확률 </a:t>
            </a:r>
            <a:r>
              <a:rPr lang="en-US" altLang="ko-KR" sz="1400" dirty="0" smtClean="0"/>
              <a:t>: 100%</a:t>
            </a:r>
          </a:p>
          <a:p>
            <a:pPr>
              <a:lnSpc>
                <a:spcPct val="150000"/>
              </a:lnSpc>
            </a:pPr>
            <a:endParaRPr lang="en-US" altLang="ko-KR" sz="1400" dirty="0" smtClean="0"/>
          </a:p>
          <a:p>
            <a:pPr>
              <a:lnSpc>
                <a:spcPct val="150000"/>
              </a:lnSpc>
            </a:pPr>
            <a:r>
              <a:rPr lang="en-US" altLang="ko-KR" sz="1400" dirty="0"/>
              <a:t>2) </a:t>
            </a:r>
            <a:r>
              <a:rPr lang="ko-KR" altLang="en-US" sz="1400" dirty="0"/>
              <a:t>아이템</a:t>
            </a:r>
            <a:r>
              <a:rPr lang="en-US" altLang="ko-KR" sz="1400" dirty="0"/>
              <a:t/>
            </a:r>
            <a:br>
              <a:rPr lang="en-US" altLang="ko-KR" sz="1400" dirty="0"/>
            </a:br>
            <a:r>
              <a:rPr lang="ko-KR" altLang="en-US" sz="1400" dirty="0"/>
              <a:t>종류 </a:t>
            </a:r>
            <a:r>
              <a:rPr lang="en-US" altLang="ko-KR" sz="1400" dirty="0"/>
              <a:t>: </a:t>
            </a:r>
            <a:r>
              <a:rPr lang="ko-KR" altLang="en-US" sz="1400" dirty="0"/>
              <a:t>해당 계층에서 출현하는 아이템</a:t>
            </a:r>
            <a:endParaRPr lang="en-US" altLang="ko-KR" sz="1400" dirty="0"/>
          </a:p>
          <a:p>
            <a:pPr>
              <a:lnSpc>
                <a:spcPct val="150000"/>
              </a:lnSpc>
            </a:pPr>
            <a:r>
              <a:rPr lang="ko-KR" altLang="en-US" sz="1400" dirty="0"/>
              <a:t>등급 </a:t>
            </a:r>
            <a:r>
              <a:rPr lang="en-US" altLang="ko-KR" sz="1400" dirty="0"/>
              <a:t>: </a:t>
            </a:r>
            <a:r>
              <a:rPr lang="ko-KR" altLang="en-US" sz="1400" dirty="0"/>
              <a:t>특별</a:t>
            </a:r>
            <a:r>
              <a:rPr lang="en-US" altLang="ko-KR" sz="1400" dirty="0"/>
              <a:t>(15%) / </a:t>
            </a:r>
            <a:r>
              <a:rPr lang="ko-KR" altLang="en-US" sz="1400" dirty="0"/>
              <a:t>희귀</a:t>
            </a:r>
            <a:r>
              <a:rPr lang="en-US" altLang="ko-KR" sz="1400" dirty="0"/>
              <a:t>(35%) / </a:t>
            </a:r>
            <a:r>
              <a:rPr lang="ko-KR" altLang="en-US" sz="1400" dirty="0"/>
              <a:t>평범</a:t>
            </a:r>
            <a:r>
              <a:rPr lang="en-US" altLang="ko-KR" sz="1400" dirty="0"/>
              <a:t>(50%)</a:t>
            </a:r>
          </a:p>
          <a:p>
            <a:pPr>
              <a:lnSpc>
                <a:spcPct val="150000"/>
              </a:lnSpc>
            </a:pPr>
            <a:r>
              <a:rPr lang="ko-KR" altLang="en-US" sz="1400" dirty="0"/>
              <a:t>개수 </a:t>
            </a:r>
            <a:r>
              <a:rPr lang="en-US" altLang="ko-KR" sz="1400" dirty="0"/>
              <a:t>: 1</a:t>
            </a:r>
            <a:r>
              <a:rPr lang="ko-KR" altLang="en-US" sz="1400" dirty="0"/>
              <a:t>개</a:t>
            </a:r>
            <a:r>
              <a:rPr lang="en-US" altLang="ko-KR" sz="1400" dirty="0"/>
              <a:t>(75%) /</a:t>
            </a:r>
            <a:r>
              <a:rPr lang="ko-KR" altLang="en-US" sz="1400" dirty="0"/>
              <a:t> </a:t>
            </a:r>
            <a:r>
              <a:rPr lang="en-US" altLang="ko-KR" sz="1400" dirty="0"/>
              <a:t>2</a:t>
            </a:r>
            <a:r>
              <a:rPr lang="ko-KR" altLang="en-US" sz="1400" dirty="0"/>
              <a:t>개</a:t>
            </a:r>
            <a:r>
              <a:rPr lang="en-US" altLang="ko-KR" sz="1400" dirty="0"/>
              <a:t>(25</a:t>
            </a:r>
            <a:r>
              <a:rPr lang="en-US" altLang="ko-KR" sz="1400" dirty="0" smtClean="0"/>
              <a:t>%)</a:t>
            </a:r>
            <a:endParaRPr lang="en-US" altLang="ko-KR" sz="1400" dirty="0"/>
          </a:p>
          <a:p>
            <a:pPr>
              <a:lnSpc>
                <a:spcPct val="150000"/>
              </a:lnSpc>
            </a:pPr>
            <a:r>
              <a:rPr lang="ko-KR" altLang="en-US" sz="1400" dirty="0"/>
              <a:t>확률 </a:t>
            </a:r>
            <a:r>
              <a:rPr lang="en-US" altLang="ko-KR" sz="1400" dirty="0"/>
              <a:t>: 33</a:t>
            </a:r>
            <a:r>
              <a:rPr lang="en-US" altLang="ko-KR" sz="1400" dirty="0" smtClean="0"/>
              <a:t>%</a:t>
            </a:r>
          </a:p>
          <a:p>
            <a:pPr>
              <a:lnSpc>
                <a:spcPct val="150000"/>
              </a:lnSpc>
            </a:pPr>
            <a:endParaRPr lang="en-US" altLang="ko-KR" sz="1400" dirty="0"/>
          </a:p>
          <a:p>
            <a:pPr>
              <a:lnSpc>
                <a:spcPct val="150000"/>
              </a:lnSpc>
            </a:pPr>
            <a:r>
              <a:rPr lang="en-US" altLang="ko-KR" sz="1400" dirty="0"/>
              <a:t>3) </a:t>
            </a:r>
            <a:r>
              <a:rPr lang="ko-KR" altLang="en-US" sz="1400" dirty="0" err="1"/>
              <a:t>아티팩트</a:t>
            </a:r>
            <a:endParaRPr lang="en-US" altLang="ko-KR" sz="1400" dirty="0"/>
          </a:p>
          <a:p>
            <a:pPr>
              <a:lnSpc>
                <a:spcPct val="150000"/>
              </a:lnSpc>
            </a:pPr>
            <a:r>
              <a:rPr lang="ko-KR" altLang="en-US" sz="1400" dirty="0"/>
              <a:t>종류 </a:t>
            </a:r>
            <a:r>
              <a:rPr lang="en-US" altLang="ko-KR" sz="1400" dirty="0"/>
              <a:t>: </a:t>
            </a:r>
            <a:r>
              <a:rPr lang="ko-KR" altLang="en-US" sz="1400" dirty="0"/>
              <a:t>모든 </a:t>
            </a:r>
            <a:r>
              <a:rPr lang="ko-KR" altLang="en-US" sz="1400" dirty="0" err="1"/>
              <a:t>아티팩트</a:t>
            </a:r>
            <a:r>
              <a:rPr lang="ko-KR" altLang="en-US" sz="1400" dirty="0"/>
              <a:t> 중 무작위</a:t>
            </a:r>
            <a:endParaRPr lang="en-US" altLang="ko-KR" sz="1400" dirty="0"/>
          </a:p>
          <a:p>
            <a:pPr>
              <a:lnSpc>
                <a:spcPct val="150000"/>
              </a:lnSpc>
            </a:pPr>
            <a:r>
              <a:rPr lang="ko-KR" altLang="en-US" sz="1400" dirty="0"/>
              <a:t>개수 </a:t>
            </a:r>
            <a:r>
              <a:rPr lang="en-US" altLang="ko-KR" sz="1400" dirty="0"/>
              <a:t>: 1</a:t>
            </a:r>
            <a:r>
              <a:rPr lang="ko-KR" altLang="en-US" sz="1400" dirty="0" smtClean="0"/>
              <a:t>개</a:t>
            </a:r>
            <a:endParaRPr lang="en-US" altLang="ko-KR" sz="1400" dirty="0" smtClean="0"/>
          </a:p>
          <a:p>
            <a:pPr>
              <a:lnSpc>
                <a:spcPct val="150000"/>
              </a:lnSpc>
            </a:pPr>
            <a:r>
              <a:rPr lang="ko-KR" altLang="en-US" sz="1400" dirty="0" smtClean="0"/>
              <a:t>확률 </a:t>
            </a:r>
            <a:r>
              <a:rPr lang="en-US" altLang="ko-KR" sz="1400" dirty="0"/>
              <a:t>: 5</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2" name="표 1"/>
          <p:cNvGraphicFramePr>
            <a:graphicFrameLocks noGrp="1"/>
          </p:cNvGraphicFramePr>
          <p:nvPr>
            <p:extLst>
              <p:ext uri="{D42A27DB-BD31-4B8C-83A1-F6EECF244321}">
                <p14:modId xmlns:p14="http://schemas.microsoft.com/office/powerpoint/2010/main" val="583487511"/>
              </p:ext>
            </p:extLst>
          </p:nvPr>
        </p:nvGraphicFramePr>
        <p:xfrm>
          <a:off x="4499315" y="1668462"/>
          <a:ext cx="6773335" cy="332740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2528112982"/>
                    </a:ext>
                  </a:extLst>
                </a:gridCol>
                <a:gridCol w="1354667">
                  <a:extLst>
                    <a:ext uri="{9D8B030D-6E8A-4147-A177-3AD203B41FA5}">
                      <a16:colId xmlns:a16="http://schemas.microsoft.com/office/drawing/2014/main" val="2319594186"/>
                    </a:ext>
                  </a:extLst>
                </a:gridCol>
                <a:gridCol w="1354667">
                  <a:extLst>
                    <a:ext uri="{9D8B030D-6E8A-4147-A177-3AD203B41FA5}">
                      <a16:colId xmlns:a16="http://schemas.microsoft.com/office/drawing/2014/main" val="1907676250"/>
                    </a:ext>
                  </a:extLst>
                </a:gridCol>
                <a:gridCol w="1354667">
                  <a:extLst>
                    <a:ext uri="{9D8B030D-6E8A-4147-A177-3AD203B41FA5}">
                      <a16:colId xmlns:a16="http://schemas.microsoft.com/office/drawing/2014/main" val="418668448"/>
                    </a:ext>
                  </a:extLst>
                </a:gridCol>
                <a:gridCol w="1354667">
                  <a:extLst>
                    <a:ext uri="{9D8B030D-6E8A-4147-A177-3AD203B41FA5}">
                      <a16:colId xmlns:a16="http://schemas.microsoft.com/office/drawing/2014/main" val="2445529215"/>
                    </a:ext>
                  </a:extLst>
                </a:gridCol>
              </a:tblGrid>
              <a:tr h="370840">
                <a:tc>
                  <a:txBody>
                    <a:bodyPr/>
                    <a:lstStyle/>
                    <a:p>
                      <a:pPr latinLnBrk="1"/>
                      <a:r>
                        <a:rPr lang="ko-KR" altLang="en-US" sz="1600" dirty="0" smtClean="0"/>
                        <a:t>항목</a:t>
                      </a:r>
                      <a:endParaRPr lang="ko-KR" altLang="en-US" sz="1600" dirty="0"/>
                    </a:p>
                  </a:txBody>
                  <a:tcPr/>
                </a:tc>
                <a:tc>
                  <a:txBody>
                    <a:bodyPr/>
                    <a:lstStyle/>
                    <a:p>
                      <a:pPr latinLnBrk="1"/>
                      <a:r>
                        <a:rPr lang="ko-KR" altLang="en-US" sz="1600" dirty="0" smtClean="0"/>
                        <a:t>종류</a:t>
                      </a:r>
                      <a:endParaRPr lang="ko-KR" altLang="en-US" sz="1600" dirty="0"/>
                    </a:p>
                  </a:txBody>
                  <a:tcPr/>
                </a:tc>
                <a:tc>
                  <a:txBody>
                    <a:bodyPr/>
                    <a:lstStyle/>
                    <a:p>
                      <a:pPr latinLnBrk="1"/>
                      <a:r>
                        <a:rPr lang="ko-KR" altLang="en-US" sz="1600" dirty="0" smtClean="0"/>
                        <a:t>개수</a:t>
                      </a:r>
                      <a:endParaRPr lang="ko-KR" altLang="en-US" sz="1600" dirty="0"/>
                    </a:p>
                  </a:txBody>
                  <a:tcPr/>
                </a:tc>
                <a:tc>
                  <a:txBody>
                    <a:bodyPr/>
                    <a:lstStyle/>
                    <a:p>
                      <a:pPr latinLnBrk="1"/>
                      <a:r>
                        <a:rPr lang="ko-KR" altLang="en-US" sz="1600" dirty="0" smtClean="0"/>
                        <a:t>등급</a:t>
                      </a:r>
                      <a:endParaRPr lang="ko-KR" altLang="en-US" sz="1600" dirty="0"/>
                    </a:p>
                  </a:txBody>
                  <a:tcPr/>
                </a:tc>
                <a:tc>
                  <a:txBody>
                    <a:bodyPr/>
                    <a:lstStyle/>
                    <a:p>
                      <a:pPr latinLnBrk="1"/>
                      <a:r>
                        <a:rPr lang="ko-KR" altLang="en-US" sz="1600" dirty="0" smtClean="0"/>
                        <a:t>확률</a:t>
                      </a:r>
                      <a:endParaRPr lang="ko-KR" altLang="en-US" sz="1600" dirty="0"/>
                    </a:p>
                  </a:txBody>
                  <a:tcPr/>
                </a:tc>
                <a:extLst>
                  <a:ext uri="{0D108BD9-81ED-4DB2-BD59-A6C34878D82A}">
                    <a16:rowId xmlns:a16="http://schemas.microsoft.com/office/drawing/2014/main" val="4291234351"/>
                  </a:ext>
                </a:extLst>
              </a:tr>
              <a:tr h="370840">
                <a:tc>
                  <a:txBody>
                    <a:bodyPr/>
                    <a:lstStyle/>
                    <a:p>
                      <a:pPr latinLnBrk="1"/>
                      <a:r>
                        <a:rPr lang="ko-KR" altLang="en-US" sz="1600" dirty="0" smtClean="0"/>
                        <a:t>골드</a:t>
                      </a:r>
                      <a:endParaRPr lang="ko-KR" altLang="en-US" sz="1600" dirty="0"/>
                    </a:p>
                  </a:txBody>
                  <a:tcPr/>
                </a:tc>
                <a:tc>
                  <a:txBody>
                    <a:bodyPr/>
                    <a:lstStyle/>
                    <a:p>
                      <a:pPr latinLnBrk="1"/>
                      <a:r>
                        <a:rPr lang="en-US" altLang="ko-KR" sz="1600" dirty="0" smtClean="0"/>
                        <a:t>-</a:t>
                      </a:r>
                      <a:endParaRPr lang="ko-KR" altLang="en-US" sz="1600" dirty="0"/>
                    </a:p>
                  </a:txBody>
                  <a:tcPr/>
                </a:tc>
                <a:tc>
                  <a:txBody>
                    <a:bodyPr/>
                    <a:lstStyle/>
                    <a:p>
                      <a:pPr latinLnBrk="1"/>
                      <a:r>
                        <a:rPr lang="en-US" altLang="ko-KR" sz="1600" dirty="0" smtClean="0"/>
                        <a:t>(100 + </a:t>
                      </a:r>
                      <a:r>
                        <a:rPr lang="ko-KR" altLang="en-US" sz="1600" dirty="0" smtClean="0"/>
                        <a:t>층수</a:t>
                      </a:r>
                      <a:r>
                        <a:rPr lang="en-US" altLang="ko-KR" sz="1600" dirty="0" smtClean="0"/>
                        <a:t>x50) ~ (200 + </a:t>
                      </a:r>
                      <a:r>
                        <a:rPr lang="ko-KR" altLang="en-US" sz="1600" dirty="0" smtClean="0"/>
                        <a:t>층수</a:t>
                      </a:r>
                      <a:r>
                        <a:rPr lang="en-US" altLang="ko-KR" sz="1600" dirty="0" smtClean="0"/>
                        <a:t>x100) </a:t>
                      </a:r>
                      <a:r>
                        <a:rPr lang="ko-KR" altLang="en-US" sz="1600" dirty="0" smtClean="0"/>
                        <a:t>사이의 무작위 액수</a:t>
                      </a:r>
                      <a:endParaRPr lang="ko-KR" altLang="en-US" sz="1600" dirty="0"/>
                    </a:p>
                  </a:txBody>
                  <a:tcPr/>
                </a:tc>
                <a:tc>
                  <a:txBody>
                    <a:bodyPr/>
                    <a:lstStyle/>
                    <a:p>
                      <a:pPr latinLnBrk="1"/>
                      <a:r>
                        <a:rPr lang="en-US" altLang="ko-KR" sz="1600" dirty="0" smtClean="0"/>
                        <a:t>-</a:t>
                      </a:r>
                      <a:endParaRPr lang="ko-KR" altLang="en-US" sz="1600" dirty="0"/>
                    </a:p>
                  </a:txBody>
                  <a:tcPr/>
                </a:tc>
                <a:tc>
                  <a:txBody>
                    <a:bodyPr/>
                    <a:lstStyle/>
                    <a:p>
                      <a:pPr latinLnBrk="1"/>
                      <a:r>
                        <a:rPr lang="en-US" altLang="ko-KR" sz="1600" dirty="0" smtClean="0"/>
                        <a:t>100%</a:t>
                      </a:r>
                      <a:endParaRPr lang="ko-KR" altLang="en-US" sz="1600" dirty="0"/>
                    </a:p>
                  </a:txBody>
                  <a:tcPr/>
                </a:tc>
                <a:extLst>
                  <a:ext uri="{0D108BD9-81ED-4DB2-BD59-A6C34878D82A}">
                    <a16:rowId xmlns:a16="http://schemas.microsoft.com/office/drawing/2014/main" val="3521268851"/>
                  </a:ext>
                </a:extLst>
              </a:tr>
              <a:tr h="370840">
                <a:tc>
                  <a:txBody>
                    <a:bodyPr/>
                    <a:lstStyle/>
                    <a:p>
                      <a:pPr latinLnBrk="1"/>
                      <a:r>
                        <a:rPr lang="ko-KR" altLang="en-US" sz="1600" dirty="0" smtClean="0"/>
                        <a:t>아이템</a:t>
                      </a:r>
                      <a:endParaRPr lang="ko-KR" altLang="en-US" sz="1600" dirty="0"/>
                    </a:p>
                  </a:txBody>
                  <a:tcPr/>
                </a:tc>
                <a:tc>
                  <a:txBody>
                    <a:bodyPr/>
                    <a:lstStyle/>
                    <a:p>
                      <a:pPr latinLnBrk="1"/>
                      <a:r>
                        <a:rPr lang="ko-KR" altLang="en-US" sz="1600" dirty="0" smtClean="0"/>
                        <a:t>해당 계층에 출현하는 아이템</a:t>
                      </a:r>
                      <a:endParaRPr lang="ko-KR" altLang="en-US" sz="1600" dirty="0"/>
                    </a:p>
                  </a:txBody>
                  <a:tcPr/>
                </a:tc>
                <a:tc>
                  <a:txBody>
                    <a:bodyPr/>
                    <a:lstStyle/>
                    <a:p>
                      <a:pPr>
                        <a:lnSpc>
                          <a:spcPct val="150000"/>
                        </a:lnSpc>
                      </a:pPr>
                      <a:r>
                        <a:rPr lang="en-US" altLang="ko-KR" sz="1600" dirty="0" smtClean="0"/>
                        <a:t>1</a:t>
                      </a:r>
                      <a:r>
                        <a:rPr lang="ko-KR" altLang="en-US" sz="1600" dirty="0" smtClean="0"/>
                        <a:t>개</a:t>
                      </a:r>
                      <a:r>
                        <a:rPr lang="en-US" altLang="ko-KR" sz="1600" dirty="0" smtClean="0"/>
                        <a:t>(75%) /</a:t>
                      </a:r>
                      <a:r>
                        <a:rPr lang="ko-KR" altLang="en-US" sz="1600" dirty="0" smtClean="0"/>
                        <a:t> </a:t>
                      </a:r>
                      <a:r>
                        <a:rPr lang="en-US" altLang="ko-KR" sz="1600" dirty="0" smtClean="0"/>
                        <a:t>2</a:t>
                      </a:r>
                      <a:r>
                        <a:rPr lang="ko-KR" altLang="en-US" sz="1600" dirty="0" smtClean="0"/>
                        <a:t>개</a:t>
                      </a:r>
                      <a:r>
                        <a:rPr lang="en-US" altLang="ko-KR" sz="1600" dirty="0" smtClean="0"/>
                        <a:t>(25%)</a:t>
                      </a:r>
                      <a:endParaRPr lang="en-US" altLang="ko-KR" sz="1600" dirty="0"/>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600" dirty="0" smtClean="0"/>
                        <a:t>특별</a:t>
                      </a:r>
                      <a:r>
                        <a:rPr lang="en-US" altLang="ko-KR" sz="1600" dirty="0" smtClean="0"/>
                        <a:t>(15%) / </a:t>
                      </a:r>
                      <a:r>
                        <a:rPr lang="ko-KR" altLang="en-US" sz="1600" dirty="0" smtClean="0"/>
                        <a:t>희귀</a:t>
                      </a:r>
                      <a:r>
                        <a:rPr lang="en-US" altLang="ko-KR" sz="1600" dirty="0" smtClean="0"/>
                        <a:t>(35%) / </a:t>
                      </a:r>
                      <a:r>
                        <a:rPr lang="ko-KR" altLang="en-US" sz="1600" dirty="0" smtClean="0"/>
                        <a:t>평범</a:t>
                      </a:r>
                      <a:r>
                        <a:rPr lang="en-US" altLang="ko-KR" sz="1600" dirty="0" smtClean="0"/>
                        <a:t>(50%)</a:t>
                      </a:r>
                    </a:p>
                    <a:p>
                      <a:pPr latinLnBrk="1"/>
                      <a:endParaRPr lang="ko-KR" altLang="en-US" sz="1600" dirty="0"/>
                    </a:p>
                  </a:txBody>
                  <a:tcPr/>
                </a:tc>
                <a:tc>
                  <a:txBody>
                    <a:bodyPr/>
                    <a:lstStyle/>
                    <a:p>
                      <a:pPr latinLnBrk="1"/>
                      <a:r>
                        <a:rPr lang="en-US" altLang="ko-KR" sz="1600" dirty="0" smtClean="0"/>
                        <a:t>33%</a:t>
                      </a:r>
                      <a:endParaRPr lang="ko-KR" altLang="en-US" sz="1600" dirty="0"/>
                    </a:p>
                  </a:txBody>
                  <a:tcPr/>
                </a:tc>
                <a:extLst>
                  <a:ext uri="{0D108BD9-81ED-4DB2-BD59-A6C34878D82A}">
                    <a16:rowId xmlns:a16="http://schemas.microsoft.com/office/drawing/2014/main" val="1863844965"/>
                  </a:ext>
                </a:extLst>
              </a:tr>
              <a:tr h="370840">
                <a:tc>
                  <a:txBody>
                    <a:bodyPr/>
                    <a:lstStyle/>
                    <a:p>
                      <a:pPr latinLnBrk="1"/>
                      <a:r>
                        <a:rPr lang="ko-KR" altLang="en-US" sz="1600" dirty="0" err="1" smtClean="0"/>
                        <a:t>아티팩트</a:t>
                      </a:r>
                      <a:endParaRPr lang="ko-KR" altLang="en-US" sz="1600" dirty="0"/>
                    </a:p>
                  </a:txBody>
                  <a:tcPr/>
                </a:tc>
                <a:tc>
                  <a:txBody>
                    <a:bodyPr/>
                    <a:lstStyle/>
                    <a:p>
                      <a:pPr latinLnBrk="1"/>
                      <a:r>
                        <a:rPr lang="ko-KR" altLang="en-US" sz="1600" dirty="0" smtClean="0"/>
                        <a:t>모든 </a:t>
                      </a:r>
                      <a:r>
                        <a:rPr lang="ko-KR" altLang="en-US" sz="1600" dirty="0" err="1" smtClean="0"/>
                        <a:t>아티팩트</a:t>
                      </a:r>
                      <a:endParaRPr lang="ko-KR" altLang="en-US" sz="1600" dirty="0"/>
                    </a:p>
                  </a:txBody>
                  <a:tcPr/>
                </a:tc>
                <a:tc>
                  <a:txBody>
                    <a:bodyPr/>
                    <a:lstStyle/>
                    <a:p>
                      <a:pPr latinLnBrk="1"/>
                      <a:r>
                        <a:rPr lang="en-US" altLang="ko-KR" sz="1600" dirty="0" smtClean="0"/>
                        <a:t>1</a:t>
                      </a:r>
                      <a:r>
                        <a:rPr lang="ko-KR" altLang="en-US" sz="1600" dirty="0" smtClean="0"/>
                        <a:t>개</a:t>
                      </a:r>
                      <a:endParaRPr lang="ko-KR" altLang="en-US" sz="1600" dirty="0"/>
                    </a:p>
                  </a:txBody>
                  <a:tcPr/>
                </a:tc>
                <a:tc>
                  <a:txBody>
                    <a:bodyPr/>
                    <a:lstStyle/>
                    <a:p>
                      <a:pPr latinLnBrk="1"/>
                      <a:r>
                        <a:rPr lang="en-US" altLang="ko-KR" sz="1600" dirty="0" smtClean="0"/>
                        <a:t>5%</a:t>
                      </a:r>
                      <a:endParaRPr lang="ko-KR" altLang="en-US" sz="1600" dirty="0"/>
                    </a:p>
                  </a:txBody>
                  <a:tcPr/>
                </a:tc>
                <a:tc>
                  <a:txBody>
                    <a:bodyPr/>
                    <a:lstStyle/>
                    <a:p>
                      <a:pPr latinLnBrk="1"/>
                      <a:endParaRPr lang="ko-KR" altLang="en-US" sz="1600" dirty="0"/>
                    </a:p>
                  </a:txBody>
                  <a:tcPr/>
                </a:tc>
                <a:extLst>
                  <a:ext uri="{0D108BD9-81ED-4DB2-BD59-A6C34878D82A}">
                    <a16:rowId xmlns:a16="http://schemas.microsoft.com/office/drawing/2014/main" val="594036080"/>
                  </a:ext>
                </a:extLst>
              </a:tr>
            </a:tbl>
          </a:graphicData>
        </a:graphic>
      </p:graphicFrame>
      <p:sp>
        <p:nvSpPr>
          <p:cNvPr id="5" name="직사각형 4"/>
          <p:cNvSpPr/>
          <p:nvPr/>
        </p:nvSpPr>
        <p:spPr>
          <a:xfrm>
            <a:off x="756695" y="5216555"/>
            <a:ext cx="6096000" cy="923330"/>
          </a:xfrm>
          <a:prstGeom prst="rect">
            <a:avLst/>
          </a:prstGeom>
        </p:spPr>
        <p:txBody>
          <a:bodyPr>
            <a:spAutoFit/>
          </a:bodyPr>
          <a:lstStyle/>
          <a:p>
            <a:pPr>
              <a:lnSpc>
                <a:spcPct val="150000"/>
              </a:lnSpc>
            </a:pPr>
            <a:r>
              <a:rPr lang="en-US" altLang="ko-KR" dirty="0"/>
              <a:t>- </a:t>
            </a:r>
            <a:r>
              <a:rPr lang="ko-KR" altLang="en-US" dirty="0" err="1"/>
              <a:t>에어리어</a:t>
            </a:r>
            <a:r>
              <a:rPr lang="ko-KR" altLang="en-US" dirty="0"/>
              <a:t> 강화 공식</a:t>
            </a:r>
            <a:r>
              <a:rPr lang="en-US" altLang="ko-KR" dirty="0"/>
              <a:t> : </a:t>
            </a:r>
            <a:r>
              <a:rPr lang="ko-KR" altLang="en-US" dirty="0"/>
              <a:t>몬스터 </a:t>
            </a:r>
            <a:r>
              <a:rPr lang="ko-KR" altLang="en-US" dirty="0" err="1"/>
              <a:t>능력치</a:t>
            </a:r>
            <a:r>
              <a:rPr lang="ko-KR" altLang="en-US" dirty="0"/>
              <a:t> </a:t>
            </a:r>
            <a:r>
              <a:rPr lang="en-US" altLang="ko-KR" dirty="0"/>
              <a:t>= </a:t>
            </a:r>
            <a:r>
              <a:rPr lang="ko-KR" altLang="en-US" dirty="0"/>
              <a:t>기본 </a:t>
            </a:r>
            <a:r>
              <a:rPr lang="ko-KR" altLang="en-US" dirty="0" err="1"/>
              <a:t>능력치</a:t>
            </a:r>
            <a:r>
              <a:rPr lang="ko-KR" altLang="en-US" dirty="0"/>
              <a:t> </a:t>
            </a:r>
            <a:r>
              <a:rPr lang="en-US" altLang="ko-KR" dirty="0"/>
              <a:t>+ (</a:t>
            </a:r>
            <a:r>
              <a:rPr lang="ko-KR" altLang="en-US" dirty="0"/>
              <a:t>기본 </a:t>
            </a:r>
            <a:r>
              <a:rPr lang="ko-KR" altLang="en-US" dirty="0" err="1"/>
              <a:t>능력치</a:t>
            </a:r>
            <a:r>
              <a:rPr lang="ko-KR" altLang="en-US" dirty="0"/>
              <a:t> </a:t>
            </a:r>
            <a:r>
              <a:rPr lang="en-US" altLang="ko-KR" dirty="0"/>
              <a:t>x (</a:t>
            </a:r>
            <a:r>
              <a:rPr lang="ko-KR" altLang="en-US" dirty="0"/>
              <a:t>층수</a:t>
            </a:r>
            <a:r>
              <a:rPr lang="en-US" altLang="ko-KR" dirty="0"/>
              <a:t>-1)</a:t>
            </a:r>
            <a:r>
              <a:rPr lang="ko-KR" altLang="en-US" dirty="0"/>
              <a:t> </a:t>
            </a:r>
            <a:r>
              <a:rPr lang="en-US" altLang="ko-KR" dirty="0"/>
              <a:t>x 10%)</a:t>
            </a:r>
          </a:p>
        </p:txBody>
      </p:sp>
      <p:sp>
        <p:nvSpPr>
          <p:cNvPr id="6" name="직사각형 5"/>
          <p:cNvSpPr/>
          <p:nvPr/>
        </p:nvSpPr>
        <p:spPr>
          <a:xfrm>
            <a:off x="6282267" y="4516864"/>
            <a:ext cx="6096000" cy="1754326"/>
          </a:xfrm>
          <a:prstGeom prst="rect">
            <a:avLst/>
          </a:prstGeom>
        </p:spPr>
        <p:txBody>
          <a:bodyPr>
            <a:spAutoFit/>
          </a:bodyPr>
          <a:lstStyle/>
          <a:p>
            <a:pPr>
              <a:lnSpc>
                <a:spcPct val="150000"/>
              </a:lnSpc>
            </a:pPr>
            <a:r>
              <a:rPr lang="en-US" altLang="ko-KR" dirty="0"/>
              <a:t>- </a:t>
            </a:r>
            <a:r>
              <a:rPr lang="ko-KR" altLang="en-US" dirty="0"/>
              <a:t>저주 </a:t>
            </a:r>
            <a:r>
              <a:rPr lang="en-US" altLang="ko-KR" dirty="0"/>
              <a:t>:</a:t>
            </a:r>
          </a:p>
          <a:p>
            <a:pPr>
              <a:lnSpc>
                <a:spcPct val="150000"/>
              </a:lnSpc>
            </a:pPr>
            <a:r>
              <a:rPr lang="ko-KR" altLang="en-US" dirty="0"/>
              <a:t>저주 확률 </a:t>
            </a:r>
            <a:r>
              <a:rPr lang="en-US" altLang="ko-KR" dirty="0"/>
              <a:t>: 20%</a:t>
            </a:r>
          </a:p>
          <a:p>
            <a:pPr>
              <a:lnSpc>
                <a:spcPct val="150000"/>
              </a:lnSpc>
            </a:pPr>
            <a:r>
              <a:rPr lang="ko-KR" altLang="en-US" dirty="0"/>
              <a:t>종류 </a:t>
            </a:r>
            <a:r>
              <a:rPr lang="en-US" altLang="ko-KR" dirty="0"/>
              <a:t>: </a:t>
            </a:r>
            <a:r>
              <a:rPr lang="ko-KR" altLang="en-US" dirty="0"/>
              <a:t>고통의 방</a:t>
            </a:r>
            <a:r>
              <a:rPr lang="en-US" altLang="ko-KR" dirty="0"/>
              <a:t>(33%), </a:t>
            </a:r>
            <a:r>
              <a:rPr lang="ko-KR" altLang="en-US" dirty="0"/>
              <a:t>절망의 방</a:t>
            </a:r>
            <a:r>
              <a:rPr lang="en-US" altLang="ko-KR" dirty="0"/>
              <a:t>(33%), </a:t>
            </a:r>
            <a:r>
              <a:rPr lang="ko-KR" altLang="en-US" dirty="0"/>
              <a:t>약육강식의 방</a:t>
            </a:r>
            <a:r>
              <a:rPr lang="en-US" altLang="ko-KR" dirty="0"/>
              <a:t>(33%)</a:t>
            </a: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985918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384456" cy="1800493"/>
          </a:xfrm>
          <a:prstGeom prst="rect">
            <a:avLst/>
          </a:prstGeom>
          <a:noFill/>
        </p:spPr>
        <p:txBody>
          <a:bodyPr wrap="square" rtlCol="0">
            <a:spAutoFit/>
          </a:bodyPr>
          <a:lstStyle/>
          <a:p>
            <a:pPr>
              <a:lnSpc>
                <a:spcPct val="150000"/>
              </a:lnSpc>
            </a:pPr>
            <a:r>
              <a:rPr lang="en-US" altLang="ko-KR" sz="1400" b="1" dirty="0" smtClean="0"/>
              <a:t>• </a:t>
            </a:r>
            <a:r>
              <a:rPr lang="ko-KR" altLang="en-US" sz="1400" b="1" dirty="0" err="1" smtClean="0"/>
              <a:t>비전투</a:t>
            </a:r>
            <a:r>
              <a:rPr lang="ko-KR" altLang="en-US" sz="1400" b="1" dirty="0" smtClean="0"/>
              <a:t> 이벤트</a:t>
            </a:r>
            <a:endParaRPr lang="en-US" altLang="ko-KR" sz="1400" b="1" dirty="0" smtClean="0"/>
          </a:p>
          <a:p>
            <a:pPr>
              <a:lnSpc>
                <a:spcPct val="150000"/>
              </a:lnSpc>
            </a:pPr>
            <a:r>
              <a:rPr lang="en-US" altLang="ko-KR" sz="1200" dirty="0" smtClean="0"/>
              <a:t>1) </a:t>
            </a:r>
            <a:r>
              <a:rPr lang="ko-KR" altLang="en-US" sz="1200" dirty="0" smtClean="0"/>
              <a:t>상인과 보물 상자 두 종류로 구분된다</a:t>
            </a:r>
            <a:r>
              <a:rPr lang="en-US" altLang="ko-KR" sz="1200" dirty="0" smtClean="0"/>
              <a:t>. </a:t>
            </a:r>
            <a:r>
              <a:rPr lang="ko-KR" altLang="en-US" sz="1200" dirty="0" smtClean="0"/>
              <a:t>전투가 발생하지 않고</a:t>
            </a:r>
            <a:r>
              <a:rPr lang="en-US" altLang="ko-KR" sz="1200" dirty="0" smtClean="0"/>
              <a:t>, </a:t>
            </a:r>
            <a:r>
              <a:rPr lang="ko-KR" altLang="en-US" sz="1200" dirty="0" smtClean="0"/>
              <a:t>탐색 후 다른 </a:t>
            </a:r>
            <a:r>
              <a:rPr lang="ko-KR" altLang="en-US" sz="1200" dirty="0" err="1" smtClean="0"/>
              <a:t>에어리어를</a:t>
            </a:r>
            <a:r>
              <a:rPr lang="ko-KR" altLang="en-US" sz="1200" dirty="0" smtClean="0"/>
              <a:t> 탐험했다가 </a:t>
            </a:r>
            <a:endParaRPr lang="en-US" altLang="ko-KR" sz="1200" dirty="0" smtClean="0"/>
          </a:p>
          <a:p>
            <a:pPr>
              <a:lnSpc>
                <a:spcPct val="150000"/>
              </a:lnSpc>
            </a:pPr>
            <a:r>
              <a:rPr lang="ko-KR" altLang="en-US" sz="1200" dirty="0" smtClean="0"/>
              <a:t>다시 돌아와도 목록</a:t>
            </a:r>
            <a:r>
              <a:rPr lang="en-US" altLang="ko-KR" sz="1200" dirty="0" smtClean="0"/>
              <a:t>, </a:t>
            </a:r>
            <a:r>
              <a:rPr lang="ko-KR" altLang="en-US" sz="1200" dirty="0" smtClean="0"/>
              <a:t>구매 데이터가</a:t>
            </a:r>
            <a:r>
              <a:rPr lang="en-US" altLang="ko-KR" sz="1200" dirty="0" smtClean="0"/>
              <a:t> </a:t>
            </a:r>
            <a:r>
              <a:rPr lang="ko-KR" altLang="en-US" sz="1200" dirty="0" smtClean="0"/>
              <a:t>유지된다</a:t>
            </a:r>
            <a:r>
              <a:rPr lang="en-US" altLang="ko-KR" sz="1200" dirty="0" smtClean="0"/>
              <a:t>.</a:t>
            </a:r>
          </a:p>
          <a:p>
            <a:pPr>
              <a:lnSpc>
                <a:spcPct val="150000"/>
              </a:lnSpc>
            </a:pPr>
            <a:endParaRPr lang="en-US" altLang="ko-KR" sz="1200" dirty="0"/>
          </a:p>
          <a:p>
            <a:pPr>
              <a:lnSpc>
                <a:spcPct val="150000"/>
              </a:lnSpc>
            </a:pPr>
            <a:r>
              <a:rPr lang="en-US" altLang="ko-KR" sz="1200" dirty="0" smtClean="0"/>
              <a:t>2) </a:t>
            </a:r>
            <a:r>
              <a:rPr lang="ko-KR" altLang="en-US" sz="1200" dirty="0" smtClean="0"/>
              <a:t>상인은 아이템과 </a:t>
            </a:r>
            <a:r>
              <a:rPr lang="ko-KR" altLang="en-US" sz="1200" dirty="0" err="1" smtClean="0"/>
              <a:t>아티팩트를</a:t>
            </a:r>
            <a:r>
              <a:rPr lang="ko-KR" altLang="en-US" sz="1200" dirty="0" smtClean="0"/>
              <a:t> 판매한다</a:t>
            </a:r>
            <a:r>
              <a:rPr lang="en-US" altLang="ko-KR" sz="1200" dirty="0" smtClean="0"/>
              <a:t>. </a:t>
            </a:r>
            <a:r>
              <a:rPr lang="ko-KR" altLang="en-US" sz="1200" dirty="0" smtClean="0"/>
              <a:t>아이템의 경우</a:t>
            </a:r>
            <a:r>
              <a:rPr lang="en-US" altLang="ko-KR" sz="1200" dirty="0" smtClean="0"/>
              <a:t>,</a:t>
            </a:r>
            <a:r>
              <a:rPr lang="ko-KR" altLang="en-US" sz="1200" dirty="0" smtClean="0"/>
              <a:t> 각 </a:t>
            </a:r>
            <a:r>
              <a:rPr lang="ko-KR" altLang="en-US" sz="1200" dirty="0"/>
              <a:t>계층에 </a:t>
            </a:r>
            <a:r>
              <a:rPr lang="ko-KR" altLang="en-US" sz="1200" dirty="0" smtClean="0"/>
              <a:t>등장하는 아이템의 범위 중에서 선택되어 </a:t>
            </a:r>
            <a:r>
              <a:rPr lang="ko-KR" altLang="en-US" sz="1200" dirty="0"/>
              <a:t>결정된다</a:t>
            </a:r>
            <a:r>
              <a:rPr lang="en-US" altLang="ko-KR" sz="1200" dirty="0" smtClean="0"/>
              <a:t>. </a:t>
            </a:r>
            <a:r>
              <a:rPr lang="ko-KR" altLang="en-US" sz="1200" dirty="0" smtClean="0"/>
              <a:t>더 깊은 계층일수록</a:t>
            </a:r>
            <a:r>
              <a:rPr lang="en-US" altLang="ko-KR" sz="1200" dirty="0" smtClean="0"/>
              <a:t> </a:t>
            </a:r>
            <a:r>
              <a:rPr lang="ko-KR" altLang="en-US" sz="1200" dirty="0" smtClean="0"/>
              <a:t>더 높은 등급과 효능을 지닌 아이템이 판매된다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2269031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605539"/>
          </a:xfrm>
          <a:prstGeom prst="rect">
            <a:avLst/>
          </a:prstGeom>
          <a:noFill/>
        </p:spPr>
        <p:txBody>
          <a:bodyPr wrap="square" rtlCol="0">
            <a:spAutoFit/>
          </a:bodyPr>
          <a:lstStyle/>
          <a:p>
            <a:pPr>
              <a:lnSpc>
                <a:spcPct val="150000"/>
              </a:lnSpc>
            </a:pPr>
            <a:r>
              <a:rPr lang="en-US" altLang="ko-KR" sz="1400" dirty="0" smtClean="0"/>
              <a:t>-</a:t>
            </a:r>
            <a:r>
              <a:rPr lang="ko-KR" altLang="en-US" sz="1400" dirty="0" smtClean="0"/>
              <a:t>판매 아이템 </a:t>
            </a:r>
            <a:r>
              <a:rPr lang="en-US" altLang="ko-KR" sz="1400" dirty="0" smtClean="0"/>
              <a:t>:</a:t>
            </a:r>
          </a:p>
          <a:p>
            <a:pPr marL="457200" indent="-457200">
              <a:lnSpc>
                <a:spcPct val="150000"/>
              </a:lnSpc>
              <a:buAutoNum type="arabicParenR"/>
            </a:pPr>
            <a:r>
              <a:rPr lang="ko-KR" altLang="en-US" sz="1400" dirty="0" smtClean="0"/>
              <a:t>종류 </a:t>
            </a:r>
            <a:r>
              <a:rPr lang="en-US" altLang="ko-KR" sz="1400" dirty="0" smtClean="0"/>
              <a:t>: </a:t>
            </a:r>
            <a:r>
              <a:rPr lang="ko-KR" altLang="en-US" sz="1400" dirty="0" smtClean="0"/>
              <a:t>현재 계층에서 등장하는 아이템</a:t>
            </a:r>
            <a:r>
              <a:rPr lang="en-US" altLang="ko-KR" sz="1400" dirty="0" smtClean="0"/>
              <a:t>(92%)</a:t>
            </a:r>
            <a:r>
              <a:rPr lang="ko-KR" altLang="en-US" sz="1400" dirty="0" smtClean="0"/>
              <a:t> </a:t>
            </a:r>
            <a:r>
              <a:rPr lang="en-US" altLang="ko-KR" sz="1400" dirty="0" smtClean="0"/>
              <a:t>/ </a:t>
            </a:r>
            <a:r>
              <a:rPr lang="ko-KR" altLang="en-US" sz="1400" dirty="0" err="1" smtClean="0"/>
              <a:t>아티팩트</a:t>
            </a:r>
            <a:r>
              <a:rPr lang="en-US" altLang="ko-KR" sz="1400" dirty="0" smtClean="0"/>
              <a:t>(8%)</a:t>
            </a:r>
          </a:p>
          <a:p>
            <a:pPr marL="457200" indent="-457200">
              <a:lnSpc>
                <a:spcPct val="150000"/>
              </a:lnSpc>
              <a:buAutoNum type="arabicParenR"/>
            </a:pPr>
            <a:r>
              <a:rPr lang="ko-KR" altLang="en-US" sz="1400" dirty="0" smtClean="0"/>
              <a:t>가격 </a:t>
            </a:r>
            <a:r>
              <a:rPr lang="en-US" altLang="ko-KR" sz="1400" dirty="0" smtClean="0"/>
              <a:t>: </a:t>
            </a:r>
            <a:r>
              <a:rPr lang="ko-KR" altLang="en-US" sz="1400" dirty="0" smtClean="0"/>
              <a:t>고유의 판매가</a:t>
            </a:r>
            <a:endParaRPr lang="en-US" altLang="ko-KR" sz="1400" dirty="0" smtClean="0"/>
          </a:p>
          <a:p>
            <a:pPr marL="457200" indent="-457200">
              <a:lnSpc>
                <a:spcPct val="150000"/>
              </a:lnSpc>
              <a:buAutoNum type="arabicParenR"/>
            </a:pPr>
            <a:r>
              <a:rPr lang="ko-KR" altLang="en-US" sz="1400" dirty="0" smtClean="0"/>
              <a:t>개수 </a:t>
            </a:r>
            <a:r>
              <a:rPr lang="en-US" altLang="ko-KR" sz="1400" dirty="0" smtClean="0"/>
              <a:t>: 4</a:t>
            </a:r>
            <a:r>
              <a:rPr lang="ko-KR" altLang="en-US" sz="1400" dirty="0" smtClean="0"/>
              <a:t>개</a:t>
            </a:r>
            <a:r>
              <a:rPr lang="en-US" altLang="ko-KR" sz="1400" dirty="0" smtClean="0"/>
              <a:t>(80%) ~ 5</a:t>
            </a:r>
            <a:r>
              <a:rPr lang="ko-KR" altLang="en-US" sz="1400" dirty="0" smtClean="0"/>
              <a:t>개</a:t>
            </a:r>
            <a:r>
              <a:rPr lang="en-US" altLang="ko-KR" sz="1400" dirty="0"/>
              <a:t>(20</a:t>
            </a:r>
            <a:r>
              <a:rPr lang="en-US" altLang="ko-KR" sz="1400" dirty="0" smtClean="0"/>
              <a:t>%) (</a:t>
            </a:r>
            <a:r>
              <a:rPr lang="ko-KR" altLang="en-US" sz="1400" dirty="0" smtClean="0"/>
              <a:t>단</a:t>
            </a:r>
            <a:r>
              <a:rPr lang="en-US" altLang="ko-KR" sz="1400" dirty="0" smtClean="0"/>
              <a:t>, </a:t>
            </a:r>
            <a:r>
              <a:rPr lang="ko-KR" altLang="en-US" sz="1400" dirty="0" err="1" smtClean="0"/>
              <a:t>아티팩트는</a:t>
            </a:r>
            <a:r>
              <a:rPr lang="ko-KR" altLang="en-US" sz="1400" dirty="0" smtClean="0"/>
              <a:t> 최대 </a:t>
            </a:r>
            <a:r>
              <a:rPr lang="en-US" altLang="ko-KR" sz="1400" dirty="0" smtClean="0"/>
              <a:t>1</a:t>
            </a:r>
            <a:r>
              <a:rPr lang="ko-KR" altLang="en-US" sz="1400" dirty="0" smtClean="0"/>
              <a:t>개</a:t>
            </a:r>
            <a:r>
              <a:rPr lang="en-US" altLang="ko-KR" sz="1400" dirty="0" smtClean="0"/>
              <a:t>)</a:t>
            </a:r>
          </a:p>
          <a:p>
            <a:pPr marL="457200" indent="-457200">
              <a:lnSpc>
                <a:spcPct val="150000"/>
              </a:lnSpc>
              <a:buFontTx/>
              <a:buAutoNum type="arabicParenR"/>
            </a:pPr>
            <a:r>
              <a:rPr lang="ko-KR" altLang="en-US" sz="1400" dirty="0" smtClean="0"/>
              <a:t>아이템 등급 </a:t>
            </a:r>
            <a:r>
              <a:rPr lang="en-US" altLang="ko-KR" sz="1400" dirty="0" smtClean="0"/>
              <a:t>: </a:t>
            </a:r>
            <a:r>
              <a:rPr lang="ko-KR" altLang="en-US" sz="1400" dirty="0"/>
              <a:t>특별</a:t>
            </a:r>
            <a:r>
              <a:rPr lang="en-US" altLang="ko-KR" sz="1400" dirty="0" smtClean="0"/>
              <a:t>(20%) </a:t>
            </a:r>
            <a:r>
              <a:rPr lang="en-US" altLang="ko-KR" sz="1400" dirty="0"/>
              <a:t>/ </a:t>
            </a:r>
            <a:r>
              <a:rPr lang="ko-KR" altLang="en-US" sz="1400" dirty="0"/>
              <a:t>희귀</a:t>
            </a:r>
            <a:r>
              <a:rPr lang="en-US" altLang="ko-KR" sz="1400" dirty="0" smtClean="0"/>
              <a:t>(40%) </a:t>
            </a:r>
            <a:r>
              <a:rPr lang="en-US" altLang="ko-KR" sz="1400" dirty="0"/>
              <a:t>/ </a:t>
            </a:r>
            <a:r>
              <a:rPr lang="ko-KR" altLang="en-US" sz="1400" dirty="0"/>
              <a:t>평범</a:t>
            </a:r>
            <a:r>
              <a:rPr lang="en-US" altLang="ko-KR" sz="1400" dirty="0" smtClean="0"/>
              <a:t>(40%)</a:t>
            </a:r>
          </a:p>
          <a:p>
            <a:pPr marL="457200" indent="-457200">
              <a:lnSpc>
                <a:spcPct val="150000"/>
              </a:lnSpc>
              <a:buFontTx/>
              <a:buAutoNum type="arabicParenR"/>
            </a:pPr>
            <a:endParaRPr lang="en-US" altLang="ko-KR" sz="1400" dirty="0"/>
          </a:p>
          <a:p>
            <a:pPr>
              <a:lnSpc>
                <a:spcPct val="150000"/>
              </a:lnSpc>
            </a:pPr>
            <a:r>
              <a:rPr lang="en-US" altLang="ko-KR" sz="1400" dirty="0" smtClean="0"/>
              <a:t>-</a:t>
            </a:r>
            <a:r>
              <a:rPr lang="ko-KR" altLang="en-US" sz="1400" dirty="0" smtClean="0"/>
              <a:t>보물 상자 </a:t>
            </a:r>
            <a:r>
              <a:rPr lang="en-US" altLang="ko-KR" sz="1400" dirty="0"/>
              <a:t>:</a:t>
            </a:r>
          </a:p>
          <a:p>
            <a:pPr marL="457200" indent="-457200">
              <a:lnSpc>
                <a:spcPct val="150000"/>
              </a:lnSpc>
              <a:buAutoNum type="arabicParenR"/>
            </a:pPr>
            <a:r>
              <a:rPr lang="ko-KR" altLang="en-US" sz="1400" dirty="0"/>
              <a:t>종류 </a:t>
            </a:r>
            <a:r>
              <a:rPr lang="en-US" altLang="ko-KR" sz="1400" dirty="0"/>
              <a:t>: </a:t>
            </a:r>
            <a:r>
              <a:rPr lang="ko-KR" altLang="en-US" sz="1400" dirty="0"/>
              <a:t>현재 계층에서 등장하는 </a:t>
            </a:r>
            <a:r>
              <a:rPr lang="ko-KR" altLang="en-US" sz="1400" dirty="0" smtClean="0"/>
              <a:t>희귀 이상 아이템</a:t>
            </a:r>
            <a:r>
              <a:rPr lang="en-US" altLang="ko-KR" sz="1400" dirty="0" smtClean="0"/>
              <a:t>(80%)</a:t>
            </a:r>
            <a:r>
              <a:rPr lang="ko-KR" altLang="en-US" sz="1400" dirty="0" smtClean="0"/>
              <a:t> </a:t>
            </a:r>
            <a:r>
              <a:rPr lang="en-US" altLang="ko-KR" sz="1400" dirty="0"/>
              <a:t>/ </a:t>
            </a:r>
            <a:r>
              <a:rPr lang="en-US" altLang="ko-KR" sz="1400" dirty="0" smtClean="0"/>
              <a:t/>
            </a:r>
            <a:br>
              <a:rPr lang="en-US" altLang="ko-KR" sz="1400" dirty="0" smtClean="0"/>
            </a:br>
            <a:r>
              <a:rPr lang="en-US" altLang="ko-KR" sz="1400" dirty="0" smtClean="0"/>
              <a:t>        </a:t>
            </a:r>
            <a:r>
              <a:rPr lang="ko-KR" altLang="en-US" sz="1400" dirty="0" err="1" smtClean="0"/>
              <a:t>아티팩트</a:t>
            </a:r>
            <a:r>
              <a:rPr lang="en-US" altLang="ko-KR" sz="1400" dirty="0" smtClean="0"/>
              <a:t>(20%)</a:t>
            </a:r>
            <a:endParaRPr lang="en-US" altLang="ko-KR" sz="1400" dirty="0"/>
          </a:p>
          <a:p>
            <a:pPr marL="457200" indent="-457200">
              <a:lnSpc>
                <a:spcPct val="150000"/>
              </a:lnSpc>
              <a:buAutoNum type="arabicParenR"/>
            </a:pPr>
            <a:r>
              <a:rPr lang="ko-KR" altLang="en-US" sz="1400" dirty="0" smtClean="0"/>
              <a:t>개수 </a:t>
            </a:r>
            <a:r>
              <a:rPr lang="en-US" altLang="ko-KR" sz="1400" dirty="0"/>
              <a:t>: 1</a:t>
            </a:r>
            <a:r>
              <a:rPr lang="ko-KR" altLang="en-US" sz="1400" dirty="0" smtClean="0"/>
              <a:t>개</a:t>
            </a:r>
            <a:r>
              <a:rPr lang="en-US" altLang="ko-KR" sz="1400" dirty="0" smtClean="0"/>
              <a:t> </a:t>
            </a:r>
            <a:r>
              <a:rPr lang="en-US" altLang="ko-KR" sz="1400" dirty="0"/>
              <a:t>~ </a:t>
            </a:r>
            <a:r>
              <a:rPr lang="en-US" altLang="ko-KR" sz="1400" dirty="0" smtClean="0"/>
              <a:t>3</a:t>
            </a:r>
            <a:r>
              <a:rPr lang="ko-KR" altLang="en-US" sz="1400" dirty="0" smtClean="0"/>
              <a:t>개</a:t>
            </a:r>
            <a:r>
              <a:rPr lang="en-US" altLang="ko-KR" sz="1400" dirty="0" smtClean="0"/>
              <a:t> </a:t>
            </a:r>
            <a:r>
              <a:rPr lang="en-US" altLang="ko-KR" sz="1400" dirty="0"/>
              <a:t>(</a:t>
            </a:r>
            <a:r>
              <a:rPr lang="ko-KR" altLang="en-US" sz="1400" dirty="0"/>
              <a:t>단</a:t>
            </a:r>
            <a:r>
              <a:rPr lang="en-US" altLang="ko-KR" sz="1400" dirty="0"/>
              <a:t>, </a:t>
            </a:r>
            <a:r>
              <a:rPr lang="ko-KR" altLang="en-US" sz="1400" dirty="0" err="1"/>
              <a:t>아티팩트는</a:t>
            </a:r>
            <a:r>
              <a:rPr lang="ko-KR" altLang="en-US" sz="1400" dirty="0"/>
              <a:t> 최대 </a:t>
            </a:r>
            <a:r>
              <a:rPr lang="en-US" altLang="ko-KR" sz="1400" dirty="0"/>
              <a:t>1</a:t>
            </a:r>
            <a:r>
              <a:rPr lang="ko-KR" altLang="en-US" sz="1400" dirty="0"/>
              <a:t>개</a:t>
            </a:r>
            <a:r>
              <a:rPr lang="en-US" altLang="ko-KR" sz="1400" dirty="0"/>
              <a:t>)</a:t>
            </a:r>
          </a:p>
          <a:p>
            <a:pPr marL="457200" indent="-457200">
              <a:lnSpc>
                <a:spcPct val="150000"/>
              </a:lnSpc>
              <a:buFontTx/>
              <a:buAutoNum type="arabicParenR"/>
            </a:pPr>
            <a:r>
              <a:rPr lang="ko-KR" altLang="en-US" sz="1400" dirty="0"/>
              <a:t>아이템 등급 </a:t>
            </a:r>
            <a:r>
              <a:rPr lang="en-US" altLang="ko-KR" sz="1400" dirty="0"/>
              <a:t>: </a:t>
            </a:r>
            <a:r>
              <a:rPr lang="ko-KR" altLang="en-US" sz="1400" dirty="0"/>
              <a:t>특별</a:t>
            </a:r>
            <a:r>
              <a:rPr lang="en-US" altLang="ko-KR" sz="1400" dirty="0" smtClean="0"/>
              <a:t>(25%) </a:t>
            </a:r>
            <a:r>
              <a:rPr lang="en-US" altLang="ko-KR" sz="1400" dirty="0"/>
              <a:t>/ </a:t>
            </a:r>
            <a:r>
              <a:rPr lang="ko-KR" altLang="en-US" sz="1400" dirty="0"/>
              <a:t>희귀</a:t>
            </a:r>
            <a:r>
              <a:rPr lang="en-US" altLang="ko-KR" sz="1400" dirty="0" smtClean="0"/>
              <a:t>(75%)</a:t>
            </a:r>
            <a:endParaRPr lang="en-US" altLang="ko-KR" sz="14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231238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43</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27737" y="1524889"/>
            <a:ext cx="7517899" cy="2862322"/>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다음 계층으로 향하는 길로서</a:t>
            </a:r>
            <a:r>
              <a:rPr lang="en-US" altLang="ko-KR" sz="1200" dirty="0" smtClean="0"/>
              <a:t>, </a:t>
            </a:r>
            <a:r>
              <a:rPr lang="ko-KR" altLang="en-US" sz="1200" b="1" dirty="0" smtClean="0"/>
              <a:t>편도로만</a:t>
            </a:r>
            <a:r>
              <a:rPr lang="ko-KR" altLang="en-US" sz="1200" dirty="0" smtClean="0"/>
              <a:t> 사용되기</a:t>
            </a:r>
            <a:r>
              <a:rPr lang="en-US" altLang="ko-KR" sz="1200" dirty="0" smtClean="0"/>
              <a:t> </a:t>
            </a:r>
            <a:r>
              <a:rPr lang="ko-KR" altLang="en-US" sz="1200" dirty="0" smtClean="0"/>
              <a:t>때문에</a:t>
            </a:r>
            <a:r>
              <a:rPr lang="en-US" altLang="ko-KR" sz="1200" dirty="0" smtClean="0"/>
              <a:t> </a:t>
            </a:r>
            <a:r>
              <a:rPr lang="ko-KR" altLang="en-US" sz="1200" dirty="0" smtClean="0"/>
              <a:t>한번 계단을 통해 다음 계층으로 넘어갔다면</a:t>
            </a:r>
            <a:r>
              <a:rPr lang="en-US" altLang="ko-KR" sz="1200" dirty="0" smtClean="0"/>
              <a:t/>
            </a:r>
            <a:br>
              <a:rPr lang="en-US" altLang="ko-KR" sz="1200" dirty="0" smtClean="0"/>
            </a:br>
            <a:r>
              <a:rPr lang="en-US" altLang="ko-KR" sz="1200" dirty="0" smtClean="0"/>
              <a:t> </a:t>
            </a:r>
            <a:r>
              <a:rPr lang="ko-KR" altLang="en-US" sz="1200" dirty="0" smtClean="0"/>
              <a:t> 이전 계층으로 되돌아갈 수 없다</a:t>
            </a:r>
            <a:r>
              <a:rPr lang="en-US" altLang="ko-KR" sz="1200" dirty="0" smtClean="0"/>
              <a:t>.</a:t>
            </a:r>
            <a:endParaRPr lang="en-US" altLang="ko-KR" sz="1200" dirty="0"/>
          </a:p>
          <a:p>
            <a:pPr>
              <a:lnSpc>
                <a:spcPct val="150000"/>
              </a:lnSpc>
            </a:pPr>
            <a:endParaRPr lang="en-US" altLang="ko-KR" sz="1200" dirty="0" smtClean="0"/>
          </a:p>
          <a:p>
            <a:pPr>
              <a:lnSpc>
                <a:spcPct val="150000"/>
              </a:lnSpc>
            </a:pPr>
            <a:r>
              <a:rPr lang="en-US" altLang="ko-KR" sz="1200" dirty="0" smtClean="0"/>
              <a:t>• </a:t>
            </a:r>
            <a:r>
              <a:rPr lang="ko-KR" altLang="en-US" sz="1200" dirty="0" smtClean="0"/>
              <a:t>기본적으로 플레이어는 현재 자신이 위치한 계층의 </a:t>
            </a:r>
            <a:r>
              <a:rPr lang="ko-KR" altLang="en-US" sz="1200" dirty="0" err="1" smtClean="0"/>
              <a:t>아랫</a:t>
            </a:r>
            <a:r>
              <a:rPr lang="ko-KR" altLang="en-US" sz="1200" dirty="0" smtClean="0"/>
              <a:t> 계단의 </a:t>
            </a:r>
            <a:r>
              <a:rPr lang="ko-KR" altLang="en-US" sz="1200" b="1" dirty="0" smtClean="0"/>
              <a:t>위치를 알 수 없다</a:t>
            </a:r>
            <a:r>
              <a:rPr lang="en-US" altLang="ko-KR" sz="1200" dirty="0" smtClean="0"/>
              <a:t>. </a:t>
            </a:r>
            <a:r>
              <a:rPr lang="ko-KR" altLang="en-US" sz="1200" dirty="0" smtClean="0"/>
              <a:t>만약 플레이어가</a:t>
            </a:r>
            <a:r>
              <a:rPr lang="en-US" altLang="ko-KR" sz="1200" dirty="0" smtClean="0"/>
              <a:t/>
            </a:r>
            <a:br>
              <a:rPr lang="en-US" altLang="ko-KR" sz="1200" dirty="0" smtClean="0"/>
            </a:br>
            <a:r>
              <a:rPr lang="en-US" altLang="ko-KR" sz="1200" dirty="0" smtClean="0"/>
              <a:t>  </a:t>
            </a:r>
            <a:r>
              <a:rPr lang="ko-KR" altLang="en-US" sz="1200" dirty="0" smtClean="0"/>
              <a:t>계단이 연결되어있는 </a:t>
            </a:r>
            <a:r>
              <a:rPr lang="ko-KR" altLang="en-US" sz="1200" dirty="0" err="1" smtClean="0"/>
              <a:t>에어리어를</a:t>
            </a:r>
            <a:r>
              <a:rPr lang="ko-KR" altLang="en-US" sz="1200" dirty="0" smtClean="0"/>
              <a:t> 탐색했을 경우</a:t>
            </a:r>
            <a:r>
              <a:rPr lang="en-US" altLang="ko-KR" sz="1200" dirty="0" smtClean="0"/>
              <a:t>, </a:t>
            </a:r>
            <a:r>
              <a:rPr lang="ko-KR" altLang="en-US" sz="1200" dirty="0" smtClean="0"/>
              <a:t>계단의 위치가 보이며 다음 계층으로 넘어갈 수 있다</a:t>
            </a:r>
            <a:r>
              <a:rPr lang="en-US" altLang="ko-KR" sz="1200" dirty="0" smtClean="0"/>
              <a:t>.</a:t>
            </a:r>
            <a:endParaRPr lang="en-US" altLang="ko-KR" sz="1200" dirty="0"/>
          </a:p>
          <a:p>
            <a:pPr>
              <a:lnSpc>
                <a:spcPct val="150000"/>
              </a:lnSpc>
            </a:pPr>
            <a:endParaRPr lang="en-US" altLang="ko-KR" sz="1200" dirty="0" smtClean="0"/>
          </a:p>
          <a:p>
            <a:pPr>
              <a:lnSpc>
                <a:spcPct val="150000"/>
              </a:lnSpc>
            </a:pPr>
            <a:r>
              <a:rPr lang="en-US" altLang="ko-KR" sz="1200" dirty="0"/>
              <a:t>•</a:t>
            </a:r>
            <a:r>
              <a:rPr lang="ko-KR" altLang="en-US" sz="1200" dirty="0"/>
              <a:t> </a:t>
            </a:r>
            <a:r>
              <a:rPr lang="ko-KR" altLang="en-US" sz="1200" dirty="0" err="1" smtClean="0"/>
              <a:t>아랫</a:t>
            </a:r>
            <a:r>
              <a:rPr lang="ko-KR" altLang="en-US" sz="1200" dirty="0" smtClean="0"/>
              <a:t> 계단은 동일 계층 내 </a:t>
            </a:r>
            <a:r>
              <a:rPr lang="ko-KR" altLang="en-US" sz="1200" dirty="0" err="1"/>
              <a:t>에어리어</a:t>
            </a:r>
            <a:r>
              <a:rPr lang="ko-KR" altLang="en-US" sz="1200" dirty="0"/>
              <a:t> 중 </a:t>
            </a:r>
            <a:r>
              <a:rPr lang="ko-KR" altLang="en-US" sz="1200" dirty="0" smtClean="0"/>
              <a:t>하나의 </a:t>
            </a:r>
            <a:r>
              <a:rPr lang="ko-KR" altLang="en-US" sz="1200" dirty="0" err="1"/>
              <a:t>에어리어에</a:t>
            </a:r>
            <a:r>
              <a:rPr lang="en-US" altLang="ko-KR" sz="1200" dirty="0"/>
              <a:t> </a:t>
            </a:r>
            <a:r>
              <a:rPr lang="ko-KR" altLang="en-US" sz="1200" dirty="0" smtClean="0"/>
              <a:t>붙어 </a:t>
            </a:r>
            <a:r>
              <a:rPr lang="ko-KR" altLang="en-US" sz="1200" dirty="0"/>
              <a:t>생성된다</a:t>
            </a:r>
            <a:r>
              <a:rPr lang="en-US" altLang="ko-KR" sz="1200" dirty="0"/>
              <a:t>. </a:t>
            </a:r>
            <a:r>
              <a:rPr lang="ko-KR" altLang="en-US" sz="1200" dirty="0" smtClean="0"/>
              <a:t>단</a:t>
            </a:r>
            <a:r>
              <a:rPr lang="en-US" altLang="ko-KR" sz="1200" dirty="0" smtClean="0"/>
              <a:t>,</a:t>
            </a:r>
            <a:r>
              <a:rPr lang="ko-KR" altLang="en-US" sz="1200" dirty="0" smtClean="0"/>
              <a:t> 계단이 붙는 </a:t>
            </a:r>
            <a:r>
              <a:rPr lang="ko-KR" altLang="en-US" sz="1200" dirty="0" err="1" smtClean="0"/>
              <a:t>에어리어는</a:t>
            </a:r>
            <a:endParaRPr lang="en-US" altLang="ko-KR" sz="1200" dirty="0" smtClean="0"/>
          </a:p>
          <a:p>
            <a:pPr>
              <a:lnSpc>
                <a:spcPct val="150000"/>
              </a:lnSpc>
            </a:pPr>
            <a:r>
              <a:rPr lang="en-US" altLang="ko-KR" sz="1200" dirty="0"/>
              <a:t> </a:t>
            </a:r>
            <a:r>
              <a:rPr lang="en-US" altLang="ko-KR" sz="1200" dirty="0" smtClean="0"/>
              <a:t> </a:t>
            </a:r>
            <a:r>
              <a:rPr lang="ko-KR" altLang="en-US" sz="1200" dirty="0" err="1" smtClean="0"/>
              <a:t>윗</a:t>
            </a:r>
            <a:r>
              <a:rPr lang="ko-KR" altLang="en-US" sz="1200" dirty="0" smtClean="0"/>
              <a:t> 계단과 </a:t>
            </a:r>
            <a:r>
              <a:rPr lang="en-US" altLang="ko-KR" sz="1200" dirty="0" smtClean="0"/>
              <a:t>1~3 </a:t>
            </a:r>
            <a:r>
              <a:rPr lang="ko-KR" altLang="en-US" sz="1200" dirty="0" smtClean="0"/>
              <a:t>에어리어만큼 떨어진 </a:t>
            </a:r>
            <a:r>
              <a:rPr lang="ko-KR" altLang="en-US" sz="1200" dirty="0" err="1" smtClean="0"/>
              <a:t>에어리어들</a:t>
            </a:r>
            <a:r>
              <a:rPr lang="ko-KR" altLang="en-US" sz="1200" dirty="0" smtClean="0"/>
              <a:t> 중에서 선택된다</a:t>
            </a:r>
            <a:r>
              <a:rPr lang="en-US" altLang="ko-KR" sz="1200" dirty="0"/>
              <a:t>.</a:t>
            </a:r>
          </a:p>
          <a:p>
            <a:pPr>
              <a:lnSpc>
                <a:spcPct val="150000"/>
              </a:lnSpc>
            </a:pPr>
            <a:endParaRPr lang="en-US" altLang="ko-KR" sz="1200" dirty="0"/>
          </a:p>
          <a:p>
            <a:pPr>
              <a:lnSpc>
                <a:spcPct val="150000"/>
              </a:lnSpc>
            </a:pPr>
            <a:r>
              <a:rPr lang="en-US" altLang="ko-KR" sz="1200" dirty="0" smtClean="0"/>
              <a:t>• </a:t>
            </a:r>
            <a:r>
              <a:rPr lang="ko-KR" altLang="en-US" sz="1200" dirty="0" smtClean="0"/>
              <a:t>모든 계층의 </a:t>
            </a:r>
            <a:r>
              <a:rPr lang="ko-KR" altLang="en-US" sz="1200" dirty="0" err="1" smtClean="0"/>
              <a:t>아랫</a:t>
            </a:r>
            <a:r>
              <a:rPr lang="ko-KR" altLang="en-US" sz="1200" dirty="0" smtClean="0"/>
              <a:t> 계단은 다음 계층의 </a:t>
            </a:r>
            <a:r>
              <a:rPr lang="ko-KR" altLang="en-US" sz="1200" dirty="0" err="1" smtClean="0"/>
              <a:t>에어리어들</a:t>
            </a:r>
            <a:r>
              <a:rPr lang="ko-KR" altLang="en-US" sz="1200" dirty="0" smtClean="0"/>
              <a:t> 중 무작위 한 곳과 이어진다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 name="꺾인 연결선 9"/>
          <p:cNvCxnSpPr/>
          <p:nvPr/>
        </p:nvCxnSpPr>
        <p:spPr>
          <a:xfrm flipV="1">
            <a:off x="2080590" y="2757932"/>
            <a:ext cx="1007166" cy="60968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420824" y="1336381"/>
            <a:ext cx="1091363" cy="1546662"/>
            <a:chOff x="338426" y="747651"/>
            <a:chExt cx="1131010" cy="2443537"/>
          </a:xfrm>
        </p:grpSpPr>
        <p:grpSp>
          <p:nvGrpSpPr>
            <p:cNvPr id="12" name="그룹 11"/>
            <p:cNvGrpSpPr/>
            <p:nvPr/>
          </p:nvGrpSpPr>
          <p:grpSpPr>
            <a:xfrm>
              <a:off x="787547" y="747651"/>
              <a:ext cx="215096" cy="2443537"/>
              <a:chOff x="2279278" y="1239463"/>
              <a:chExt cx="371025" cy="5069532"/>
            </a:xfrm>
          </p:grpSpPr>
          <p:cxnSp>
            <p:nvCxnSpPr>
              <p:cNvPr id="13" name="직선 연결선 12"/>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타원 14"/>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3" name="꺾인 연결선 22"/>
            <p:cNvCxnSpPr>
              <a:endCxn id="22" idx="2"/>
            </p:cNvCxnSpPr>
            <p:nvPr/>
          </p:nvCxnSpPr>
          <p:spPr>
            <a:xfrm flipV="1">
              <a:off x="338426" y="234858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꺾인 연결선 23"/>
            <p:cNvCxnSpPr>
              <a:stCxn id="17" idx="6"/>
            </p:cNvCxnSpPr>
            <p:nvPr/>
          </p:nvCxnSpPr>
          <p:spPr>
            <a:xfrm>
              <a:off x="1002178" y="120784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도넛 24"/>
          <p:cNvSpPr/>
          <p:nvPr/>
        </p:nvSpPr>
        <p:spPr>
          <a:xfrm>
            <a:off x="1079280" y="1592664"/>
            <a:ext cx="491069" cy="447430"/>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6" name="도넛 25"/>
          <p:cNvSpPr/>
          <p:nvPr/>
        </p:nvSpPr>
        <p:spPr>
          <a:xfrm>
            <a:off x="444056" y="2218588"/>
            <a:ext cx="491069" cy="447430"/>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7" name="TextBox 26"/>
          <p:cNvSpPr txBox="1"/>
          <p:nvPr/>
        </p:nvSpPr>
        <p:spPr>
          <a:xfrm>
            <a:off x="1368132" y="1403997"/>
            <a:ext cx="766585"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 </a:t>
            </a:r>
            <a:r>
              <a:rPr lang="ko-KR" altLang="en-US" sz="12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랫</a:t>
            </a: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계 단</a:t>
            </a:r>
            <a:endParaRPr lang="ko-KR" altLang="en-US" sz="12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83167" y="2706842"/>
            <a:ext cx="766585" cy="276999"/>
          </a:xfrm>
          <a:prstGeom prst="rect">
            <a:avLst/>
          </a:prstGeom>
          <a:noFill/>
        </p:spPr>
        <p:txBody>
          <a:bodyPr wrap="square" rtlCol="0">
            <a:spAutoFit/>
          </a:bodyPr>
          <a:lstStyle/>
          <a:p>
            <a:pPr algn="ctr"/>
            <a:r>
              <a:rPr lang="ko-KR" altLang="en-US" sz="12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윗</a:t>
            </a: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계 단</a:t>
            </a:r>
            <a:endParaRPr lang="ko-KR" altLang="en-US" sz="12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직사각형 7"/>
          <p:cNvSpPr/>
          <p:nvPr/>
        </p:nvSpPr>
        <p:spPr>
          <a:xfrm>
            <a:off x="145745" y="771448"/>
            <a:ext cx="4262514" cy="553998"/>
          </a:xfrm>
          <a:prstGeom prst="rect">
            <a:avLst/>
          </a:prstGeom>
        </p:spPr>
        <p:txBody>
          <a:bodyPr wrap="square">
            <a:spAutoFit/>
          </a:bodyPr>
          <a:lstStyle/>
          <a:p>
            <a:pPr>
              <a:lnSpc>
                <a:spcPct val="150000"/>
              </a:lnSpc>
            </a:pPr>
            <a:r>
              <a:rPr lang="en-US" altLang="ko-KR" sz="1000" spc="-300" dirty="0">
                <a:gradFill>
                  <a:gsLst>
                    <a:gs pos="0">
                      <a:schemeClr val="tx1"/>
                    </a:gs>
                    <a:gs pos="100000">
                      <a:schemeClr val="tx1"/>
                    </a:gs>
                  </a:gsLst>
                  <a:lin ang="5400000" scaled="1"/>
                </a:gradFill>
                <a:latin typeface="맑은 고딕" panose="020B0503020000020004" pitchFamily="50" charset="-127"/>
              </a:rPr>
              <a:t>※ </a:t>
            </a: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작성의 용이함을 </a:t>
            </a:r>
            <a:r>
              <a:rPr lang="ko-KR" altLang="en-US" sz="1000" dirty="0"/>
              <a:t>위해</a:t>
            </a:r>
            <a:r>
              <a:rPr lang="en-US" altLang="ko-KR" sz="1000" dirty="0"/>
              <a:t>, </a:t>
            </a:r>
            <a:r>
              <a:rPr lang="ko-KR" altLang="en-US" sz="1000" dirty="0" smtClean="0"/>
              <a:t>현재 계층에서 이전 계층과 이어지면 </a:t>
            </a:r>
            <a:r>
              <a:rPr lang="ko-KR" altLang="en-US" sz="1000" dirty="0" err="1"/>
              <a:t>윗</a:t>
            </a:r>
            <a:r>
              <a:rPr lang="ko-KR" altLang="en-US" sz="1000" dirty="0"/>
              <a:t> </a:t>
            </a:r>
            <a:r>
              <a:rPr lang="ko-KR" altLang="en-US" sz="1000" dirty="0" smtClean="0"/>
              <a:t>계단</a:t>
            </a:r>
            <a:r>
              <a:rPr lang="en-US" altLang="ko-KR" sz="1000" dirty="0" smtClean="0"/>
              <a:t>,</a:t>
            </a:r>
            <a:endParaRPr lang="en-US" altLang="ko-KR" sz="1000" dirty="0"/>
          </a:p>
          <a:p>
            <a:pPr>
              <a:lnSpc>
                <a:spcPct val="150000"/>
              </a:lnSpc>
            </a:pPr>
            <a:r>
              <a:rPr lang="ko-KR" altLang="en-US" sz="1000" dirty="0" smtClean="0"/>
              <a:t>   다음 </a:t>
            </a:r>
            <a:r>
              <a:rPr lang="ko-KR" altLang="en-US" sz="1000" dirty="0"/>
              <a:t>계층으로 </a:t>
            </a:r>
            <a:r>
              <a:rPr lang="ko-KR" altLang="en-US" sz="1000" dirty="0" smtClean="0"/>
              <a:t>이어지면 </a:t>
            </a:r>
            <a:r>
              <a:rPr lang="ko-KR" altLang="en-US" sz="1000" dirty="0" err="1"/>
              <a:t>아랫</a:t>
            </a:r>
            <a:r>
              <a:rPr lang="ko-KR" altLang="en-US" sz="1000" dirty="0"/>
              <a:t> 계단이라 칭한다</a:t>
            </a:r>
            <a:r>
              <a:rPr lang="en-US" altLang="ko-KR" sz="1000" dirty="0"/>
              <a:t>.</a:t>
            </a:r>
          </a:p>
        </p:txBody>
      </p:sp>
    </p:spTree>
    <p:extLst>
      <p:ext uri="{BB962C8B-B14F-4D97-AF65-F5344CB8AC3E}">
        <p14:creationId xmlns:p14="http://schemas.microsoft.com/office/powerpoint/2010/main" val="10438276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44</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60332" y="1400825"/>
            <a:ext cx="7684810" cy="2031325"/>
          </a:xfrm>
          <a:prstGeom prst="rect">
            <a:avLst/>
          </a:prstGeom>
          <a:noFill/>
        </p:spPr>
        <p:txBody>
          <a:bodyPr wrap="square" rtlCol="0">
            <a:spAutoFit/>
          </a:bodyPr>
          <a:lstStyle/>
          <a:p>
            <a:pPr>
              <a:lnSpc>
                <a:spcPct val="150000"/>
              </a:lnSpc>
            </a:pPr>
            <a:r>
              <a:rPr lang="en-US" altLang="ko-KR" sz="1200" dirty="0"/>
              <a:t>• </a:t>
            </a:r>
            <a:r>
              <a:rPr lang="ko-KR" altLang="en-US" sz="1200" b="1" dirty="0" err="1" smtClean="0"/>
              <a:t>에어리어가</a:t>
            </a:r>
            <a:r>
              <a:rPr lang="ko-KR" altLang="en-US" sz="1200" b="1" dirty="0" smtClean="0"/>
              <a:t> 일렬로 연결</a:t>
            </a:r>
            <a:r>
              <a:rPr lang="ko-KR" altLang="en-US" sz="1200" dirty="0" smtClean="0"/>
              <a:t>되어 구성된 층계로서</a:t>
            </a:r>
            <a:r>
              <a:rPr lang="en-US" altLang="ko-KR" sz="1200" dirty="0" smtClean="0"/>
              <a:t> </a:t>
            </a:r>
            <a:r>
              <a:rPr lang="ko-KR" altLang="en-US" sz="1200" dirty="0" smtClean="0"/>
              <a:t>총 </a:t>
            </a:r>
            <a:r>
              <a:rPr lang="en-US" altLang="ko-KR" sz="1200" dirty="0" smtClean="0"/>
              <a:t>9</a:t>
            </a:r>
            <a:r>
              <a:rPr lang="ko-KR" altLang="en-US" sz="1200" dirty="0" smtClean="0"/>
              <a:t>개가 존재하고</a:t>
            </a:r>
            <a:r>
              <a:rPr lang="en-US" altLang="ko-KR" sz="1200" dirty="0" smtClean="0"/>
              <a:t>,</a:t>
            </a:r>
            <a:r>
              <a:rPr lang="ko-KR" altLang="en-US" sz="1200" dirty="0" smtClean="0"/>
              <a:t> 다른 </a:t>
            </a:r>
            <a:r>
              <a:rPr lang="ko-KR" altLang="en-US" sz="1200" dirty="0"/>
              <a:t>계층과 </a:t>
            </a:r>
            <a:r>
              <a:rPr lang="ko-KR" altLang="en-US" sz="1200" dirty="0" smtClean="0"/>
              <a:t>연결되는 </a:t>
            </a:r>
            <a:r>
              <a:rPr lang="ko-KR" altLang="en-US" sz="1200" b="1" dirty="0" smtClean="0"/>
              <a:t>계단</a:t>
            </a:r>
            <a:r>
              <a:rPr lang="ko-KR" altLang="en-US" sz="1200" dirty="0" smtClean="0"/>
              <a:t>을 가지고 있다</a:t>
            </a:r>
            <a:r>
              <a:rPr lang="en-US" altLang="ko-KR" sz="1200" dirty="0" smtClean="0"/>
              <a:t>.</a:t>
            </a:r>
          </a:p>
          <a:p>
            <a:pPr>
              <a:lnSpc>
                <a:spcPct val="150000"/>
              </a:lnSpc>
            </a:pPr>
            <a:r>
              <a:rPr lang="en-US" altLang="ko-KR" sz="1200" dirty="0"/>
              <a:t>• </a:t>
            </a:r>
            <a:r>
              <a:rPr lang="ko-KR" altLang="en-US" sz="1200" dirty="0"/>
              <a:t>계층이 깊어질수록 등장하는 몬스터의 조합과 </a:t>
            </a:r>
            <a:r>
              <a:rPr lang="ko-KR" altLang="en-US" sz="1200" dirty="0" smtClean="0"/>
              <a:t>위력이 강해지고</a:t>
            </a:r>
            <a:r>
              <a:rPr lang="en-US" altLang="ko-KR" sz="1200" dirty="0"/>
              <a:t>, </a:t>
            </a:r>
            <a:r>
              <a:rPr lang="ko-KR" altLang="en-US" sz="1200" dirty="0" smtClean="0"/>
              <a:t>아이템과 </a:t>
            </a:r>
            <a:r>
              <a:rPr lang="ko-KR" altLang="en-US" sz="1200" dirty="0"/>
              <a:t>보물들의 성능이 강화된다</a:t>
            </a:r>
            <a:r>
              <a:rPr lang="en-US" altLang="ko-KR" sz="1200" dirty="0" smtClean="0"/>
              <a:t>.</a:t>
            </a:r>
          </a:p>
          <a:p>
            <a:pPr>
              <a:lnSpc>
                <a:spcPct val="150000"/>
              </a:lnSpc>
            </a:pPr>
            <a:r>
              <a:rPr lang="en-US" altLang="ko-KR" sz="1200" dirty="0"/>
              <a:t>• </a:t>
            </a:r>
            <a:r>
              <a:rPr lang="ko-KR" altLang="en-US" sz="1200" dirty="0" smtClean="0"/>
              <a:t>동일 계층 내에서</a:t>
            </a:r>
            <a:r>
              <a:rPr lang="en-US" altLang="ko-KR" sz="1200" dirty="0" smtClean="0"/>
              <a:t>, </a:t>
            </a:r>
            <a:r>
              <a:rPr lang="ko-KR" altLang="en-US" sz="1200" dirty="0" smtClean="0"/>
              <a:t>에어리어들이 가지는 이벤트</a:t>
            </a:r>
            <a:r>
              <a:rPr lang="en-US" altLang="ko-KR" sz="1200" dirty="0" smtClean="0"/>
              <a:t>,</a:t>
            </a:r>
            <a:r>
              <a:rPr lang="ko-KR" altLang="en-US" sz="1200" dirty="0" smtClean="0"/>
              <a:t> 저주의</a:t>
            </a:r>
            <a:r>
              <a:rPr lang="en-US" altLang="ko-KR" sz="1200" dirty="0" smtClean="0"/>
              <a:t> </a:t>
            </a:r>
            <a:r>
              <a:rPr lang="ko-KR" altLang="en-US" sz="1200" dirty="0" smtClean="0"/>
              <a:t>종류와 개수에 제한이 있다</a:t>
            </a:r>
            <a:r>
              <a:rPr lang="en-US" altLang="ko-KR" sz="1200" dirty="0" smtClean="0"/>
              <a:t>.</a:t>
            </a:r>
          </a:p>
          <a:p>
            <a:pPr>
              <a:lnSpc>
                <a:spcPct val="150000"/>
              </a:lnSpc>
            </a:pPr>
            <a:endParaRPr lang="en-US" altLang="ko-KR" sz="1200" dirty="0" smtClean="0"/>
          </a:p>
          <a:p>
            <a:pPr>
              <a:lnSpc>
                <a:spcPct val="150000"/>
              </a:lnSpc>
            </a:pPr>
            <a:r>
              <a:rPr lang="ko-KR" altLang="en-US" sz="1200" b="1" dirty="0" smtClean="0"/>
              <a:t>동일 </a:t>
            </a:r>
            <a:r>
              <a:rPr lang="ko-KR" altLang="en-US" sz="1200" b="1" dirty="0"/>
              <a:t>계층 내 </a:t>
            </a:r>
            <a:r>
              <a:rPr lang="ko-KR" altLang="en-US" sz="1200" b="1" dirty="0" smtClean="0"/>
              <a:t>전투 </a:t>
            </a:r>
            <a:r>
              <a:rPr lang="ko-KR" altLang="en-US" sz="1200" b="1" dirty="0" err="1" smtClean="0"/>
              <a:t>에어리어</a:t>
            </a:r>
            <a:r>
              <a:rPr lang="ko-KR" altLang="en-US" sz="1200" b="1" dirty="0" smtClean="0"/>
              <a:t> </a:t>
            </a:r>
            <a:r>
              <a:rPr lang="en-US" altLang="ko-KR" sz="1200" b="1" dirty="0" smtClean="0"/>
              <a:t>‘</a:t>
            </a:r>
            <a:r>
              <a:rPr lang="ko-KR" altLang="en-US" sz="1200" b="1" dirty="0" smtClean="0"/>
              <a:t>저주</a:t>
            </a:r>
            <a:r>
              <a:rPr lang="en-US" altLang="ko-KR" sz="1200" b="1" dirty="0" smtClean="0"/>
              <a:t>’</a:t>
            </a:r>
            <a:r>
              <a:rPr lang="ko-KR" altLang="en-US" sz="1200" b="1" dirty="0" smtClean="0"/>
              <a:t> 제한</a:t>
            </a:r>
            <a:endParaRPr lang="en-US" altLang="ko-KR" sz="1200" b="1" dirty="0" smtClean="0"/>
          </a:p>
          <a:p>
            <a:pPr>
              <a:lnSpc>
                <a:spcPct val="150000"/>
              </a:lnSpc>
            </a:pPr>
            <a:r>
              <a:rPr lang="en-US" altLang="ko-KR" sz="1200" dirty="0"/>
              <a:t>• </a:t>
            </a:r>
            <a:r>
              <a:rPr lang="en-US" altLang="ko-KR" sz="1200" dirty="0" smtClean="0"/>
              <a:t> </a:t>
            </a:r>
            <a:r>
              <a:rPr lang="ko-KR" altLang="en-US" sz="1200" dirty="0" smtClean="0"/>
              <a:t>종류 </a:t>
            </a:r>
            <a:r>
              <a:rPr lang="en-US" altLang="ko-KR" sz="1200" dirty="0"/>
              <a:t>: </a:t>
            </a:r>
            <a:r>
              <a:rPr lang="ko-KR" altLang="en-US" sz="1200" dirty="0"/>
              <a:t>고통의 방 </a:t>
            </a:r>
            <a:r>
              <a:rPr lang="en-US" altLang="ko-KR" sz="1200" dirty="0"/>
              <a:t>/ </a:t>
            </a:r>
            <a:r>
              <a:rPr lang="ko-KR" altLang="en-US" sz="1200" dirty="0"/>
              <a:t>절망의 방</a:t>
            </a:r>
            <a:r>
              <a:rPr lang="en-US" altLang="ko-KR" sz="1200" dirty="0"/>
              <a:t> / </a:t>
            </a:r>
            <a:r>
              <a:rPr lang="ko-KR" altLang="en-US" sz="1200" dirty="0"/>
              <a:t>약육강식의 </a:t>
            </a:r>
            <a:r>
              <a:rPr lang="ko-KR" altLang="en-US" sz="1200" dirty="0" smtClean="0"/>
              <a:t>방 </a:t>
            </a:r>
            <a:r>
              <a:rPr lang="en-US" altLang="ko-KR" sz="1200" dirty="0" smtClean="0"/>
              <a:t>3</a:t>
            </a:r>
            <a:r>
              <a:rPr lang="ko-KR" altLang="en-US" sz="1200" dirty="0" smtClean="0"/>
              <a:t>개 중 무작위 </a:t>
            </a:r>
            <a:r>
              <a:rPr lang="en-US" altLang="ko-KR" sz="1200" dirty="0" smtClean="0"/>
              <a:t>1</a:t>
            </a:r>
            <a:r>
              <a:rPr lang="ko-KR" altLang="en-US" sz="1200" dirty="0" smtClean="0"/>
              <a:t>개</a:t>
            </a:r>
            <a:endParaRPr lang="en-US" altLang="ko-KR" sz="1200" dirty="0"/>
          </a:p>
          <a:p>
            <a:pPr>
              <a:lnSpc>
                <a:spcPct val="150000"/>
              </a:lnSpc>
            </a:pPr>
            <a:r>
              <a:rPr lang="en-US" altLang="ko-KR" sz="1200" dirty="0"/>
              <a:t>•</a:t>
            </a:r>
            <a:r>
              <a:rPr lang="en-US" altLang="ko-KR" sz="1200" dirty="0" smtClean="0"/>
              <a:t>  </a:t>
            </a:r>
            <a:r>
              <a:rPr lang="ko-KR" altLang="en-US" sz="1200" dirty="0"/>
              <a:t>계층당 </a:t>
            </a:r>
            <a:r>
              <a:rPr lang="ko-KR" altLang="en-US" sz="1200" dirty="0" smtClean="0"/>
              <a:t>생성 </a:t>
            </a:r>
            <a:r>
              <a:rPr lang="ko-KR" altLang="en-US" sz="1200" dirty="0"/>
              <a:t>개수 </a:t>
            </a:r>
            <a:r>
              <a:rPr lang="en-US" altLang="ko-KR" sz="1200" dirty="0"/>
              <a:t>: </a:t>
            </a:r>
            <a:r>
              <a:rPr lang="ko-KR" altLang="en-US" sz="1200" dirty="0" smtClean="0"/>
              <a:t>최대 </a:t>
            </a:r>
            <a:r>
              <a:rPr lang="en-US" altLang="ko-KR" sz="1200" dirty="0" smtClean="0"/>
              <a:t>3</a:t>
            </a:r>
            <a:r>
              <a:rPr lang="ko-KR" altLang="en-US" sz="1200" dirty="0" smtClean="0"/>
              <a:t>개까지 무작위</a:t>
            </a:r>
            <a:r>
              <a:rPr lang="en-US" altLang="ko-KR" sz="1200" dirty="0"/>
              <a:t> </a:t>
            </a:r>
            <a:r>
              <a:rPr lang="ko-KR" altLang="en-US" sz="1200" dirty="0" smtClean="0"/>
              <a:t>개수</a:t>
            </a:r>
            <a:endParaRPr lang="en-US" altLang="ko-KR" sz="12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표 22"/>
          <p:cNvGraphicFramePr>
            <a:graphicFrameLocks noGrp="1"/>
          </p:cNvGraphicFramePr>
          <p:nvPr>
            <p:extLst>
              <p:ext uri="{D42A27DB-BD31-4B8C-83A1-F6EECF244321}">
                <p14:modId xmlns:p14="http://schemas.microsoft.com/office/powerpoint/2010/main" val="526081140"/>
              </p:ext>
            </p:extLst>
          </p:nvPr>
        </p:nvGraphicFramePr>
        <p:xfrm>
          <a:off x="4443460" y="4038427"/>
          <a:ext cx="7269174" cy="1112520"/>
        </p:xfrm>
        <a:graphic>
          <a:graphicData uri="http://schemas.openxmlformats.org/drawingml/2006/table">
            <a:tbl>
              <a:tblPr firstRow="1" bandRow="1">
                <a:tableStyleId>{5940675A-B579-460E-94D1-54222C63F5DA}</a:tableStyleId>
              </a:tblPr>
              <a:tblGrid>
                <a:gridCol w="1117982">
                  <a:extLst>
                    <a:ext uri="{9D8B030D-6E8A-4147-A177-3AD203B41FA5}">
                      <a16:colId xmlns:a16="http://schemas.microsoft.com/office/drawing/2014/main" val="2528112982"/>
                    </a:ext>
                  </a:extLst>
                </a:gridCol>
                <a:gridCol w="2144459">
                  <a:extLst>
                    <a:ext uri="{9D8B030D-6E8A-4147-A177-3AD203B41FA5}">
                      <a16:colId xmlns:a16="http://schemas.microsoft.com/office/drawing/2014/main" val="2319594186"/>
                    </a:ext>
                  </a:extLst>
                </a:gridCol>
                <a:gridCol w="1986742">
                  <a:extLst>
                    <a:ext uri="{9D8B030D-6E8A-4147-A177-3AD203B41FA5}">
                      <a16:colId xmlns:a16="http://schemas.microsoft.com/office/drawing/2014/main" val="753451450"/>
                    </a:ext>
                  </a:extLst>
                </a:gridCol>
                <a:gridCol w="2019991">
                  <a:extLst>
                    <a:ext uri="{9D8B030D-6E8A-4147-A177-3AD203B41FA5}">
                      <a16:colId xmlns:a16="http://schemas.microsoft.com/office/drawing/2014/main" val="1907676250"/>
                    </a:ext>
                  </a:extLst>
                </a:gridCol>
              </a:tblGrid>
              <a:tr h="370840">
                <a:tc>
                  <a:txBody>
                    <a:bodyPr/>
                    <a:lstStyle/>
                    <a:p>
                      <a:pPr algn="ctr" latinLnBrk="1"/>
                      <a:r>
                        <a:rPr lang="ko-KR" altLang="en-US" sz="1200" b="1" dirty="0" smtClean="0"/>
                        <a:t>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계층 내 생성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위치</a:t>
                      </a:r>
                      <a:endParaRPr lang="ko-KR" altLang="en-US" sz="1200" b="1" dirty="0"/>
                    </a:p>
                  </a:txBody>
                  <a:tcPr anchor="ctr">
                    <a:solidFill>
                      <a:schemeClr val="bg1">
                        <a:lumMod val="75000"/>
                      </a:schemeClr>
                    </a:solidFill>
                  </a:tcPr>
                </a:tc>
                <a:tc>
                  <a:txBody>
                    <a:bodyPr/>
                    <a:lstStyle/>
                    <a:p>
                      <a:pPr algn="ctr" latinLnBrk="1"/>
                      <a:r>
                        <a:rPr lang="ko-KR" altLang="en-US" sz="1200" b="1" dirty="0" smtClean="0"/>
                        <a:t>제한</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상인</a:t>
                      </a:r>
                      <a:endParaRPr lang="ko-KR" altLang="en-US" sz="1000" b="1" dirty="0"/>
                    </a:p>
                  </a:txBody>
                  <a:tcPr anchor="ctr"/>
                </a:tc>
                <a:tc rowSpan="2">
                  <a:txBody>
                    <a:bodyPr/>
                    <a:lstStyle/>
                    <a:p>
                      <a:pPr algn="ctr" latinLnBrk="1"/>
                      <a:r>
                        <a:rPr lang="en-US" altLang="ko-KR" sz="1000" dirty="0" smtClean="0"/>
                        <a:t>0</a:t>
                      </a:r>
                      <a:r>
                        <a:rPr lang="ko-KR" altLang="en-US" sz="1000" dirty="0" smtClean="0"/>
                        <a:t>개</a:t>
                      </a:r>
                      <a:r>
                        <a:rPr lang="en-US" altLang="ko-KR" sz="1000" dirty="0" smtClean="0"/>
                        <a:t>(20%) / 1</a:t>
                      </a:r>
                      <a:r>
                        <a:rPr lang="ko-KR" altLang="en-US" sz="1000" dirty="0" smtClean="0"/>
                        <a:t>개</a:t>
                      </a:r>
                      <a:r>
                        <a:rPr lang="en-US" altLang="ko-KR" sz="1000" dirty="0" smtClean="0"/>
                        <a:t>(50%)</a:t>
                      </a:r>
                      <a:r>
                        <a:rPr lang="en-US" altLang="ko-KR" sz="1000" baseline="0" dirty="0" smtClean="0"/>
                        <a:t> / 2</a:t>
                      </a:r>
                      <a:r>
                        <a:rPr lang="ko-KR" altLang="en-US" sz="1000" baseline="0" dirty="0" smtClean="0"/>
                        <a:t>개</a:t>
                      </a:r>
                      <a:r>
                        <a:rPr lang="en-US" altLang="ko-KR" sz="1000" baseline="0" dirty="0" smtClean="0"/>
                        <a:t>(30%)</a:t>
                      </a:r>
                      <a:endParaRPr lang="ko-KR" altLang="en-US" sz="1000" dirty="0"/>
                    </a:p>
                  </a:txBody>
                  <a:tcPr anchor="ctr"/>
                </a:tc>
                <a:tc rowSpan="2">
                  <a:txBody>
                    <a:bodyPr/>
                    <a:lstStyle/>
                    <a:p>
                      <a:pPr algn="ctr">
                        <a:lnSpc>
                          <a:spcPct val="150000"/>
                        </a:lnSpc>
                      </a:pPr>
                      <a:r>
                        <a:rPr lang="ko-KR" altLang="en-US" sz="1000" dirty="0" smtClean="0"/>
                        <a:t>무작위</a:t>
                      </a:r>
                      <a:endParaRPr lang="en-US" altLang="ko-KR" sz="1000" dirty="0" smtClean="0"/>
                    </a:p>
                    <a:p>
                      <a:pPr algn="ctr">
                        <a:lnSpc>
                          <a:spcPct val="150000"/>
                        </a:lnSpc>
                      </a:pPr>
                      <a:r>
                        <a:rPr lang="en-US" altLang="ko-KR" sz="1000" dirty="0" smtClean="0"/>
                        <a:t>(</a:t>
                      </a:r>
                      <a:r>
                        <a:rPr lang="ko-KR" altLang="en-US" sz="1000" dirty="0" smtClean="0"/>
                        <a:t>단</a:t>
                      </a:r>
                      <a:r>
                        <a:rPr lang="en-US" altLang="ko-KR" sz="1000" dirty="0" smtClean="0"/>
                        <a:t>, 2</a:t>
                      </a:r>
                      <a:r>
                        <a:rPr lang="ko-KR" altLang="en-US" sz="1000" dirty="0" smtClean="0"/>
                        <a:t>개일 경우 서로 인접</a:t>
                      </a:r>
                      <a:r>
                        <a:rPr lang="ko-KR" altLang="en-US" sz="1000" baseline="0" dirty="0" smtClean="0"/>
                        <a:t> 불가</a:t>
                      </a:r>
                      <a:r>
                        <a:rPr lang="en-US" altLang="ko-KR" sz="1000" dirty="0" smtClean="0"/>
                        <a:t>)</a:t>
                      </a:r>
                      <a:endParaRPr lang="ko-KR" altLang="en-US" sz="1000" dirty="0"/>
                    </a:p>
                  </a:txBody>
                  <a:tcPr anchor="ctr"/>
                </a:tc>
                <a:tc rowSpan="2">
                  <a:txBody>
                    <a:bodyPr/>
                    <a:lstStyle/>
                    <a:p>
                      <a:pPr algn="ctr">
                        <a:lnSpc>
                          <a:spcPct val="150000"/>
                        </a:lnSpc>
                      </a:pPr>
                      <a:r>
                        <a:rPr lang="en-US" altLang="ko-KR" sz="1000" dirty="0" smtClean="0"/>
                        <a:t>2</a:t>
                      </a:r>
                      <a:r>
                        <a:rPr lang="ko-KR" altLang="en-US" sz="1000" dirty="0" smtClean="0"/>
                        <a:t>개 </a:t>
                      </a:r>
                      <a:r>
                        <a:rPr lang="ko-KR" altLang="en-US" sz="1000" dirty="0" err="1" smtClean="0"/>
                        <a:t>생성됐을</a:t>
                      </a:r>
                      <a:r>
                        <a:rPr lang="ko-KR" altLang="en-US" sz="1000" dirty="0" smtClean="0"/>
                        <a:t> 경우</a:t>
                      </a:r>
                      <a:r>
                        <a:rPr lang="en-US" altLang="ko-KR" sz="1000" dirty="0" smtClean="0"/>
                        <a:t>,</a:t>
                      </a:r>
                      <a:r>
                        <a:rPr lang="ko-KR" altLang="en-US" sz="1000" dirty="0" smtClean="0"/>
                        <a:t> 같은 종류의 이벤트가 배정될 수 없음</a:t>
                      </a:r>
                      <a:endParaRPr lang="en-US" altLang="ko-KR" sz="1000" dirty="0"/>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smtClean="0"/>
                        <a:t>보물 상자</a:t>
                      </a:r>
                      <a:endParaRPr lang="ko-KR" altLang="en-US" sz="1000" b="1" dirty="0"/>
                    </a:p>
                  </a:txBody>
                  <a:tcPr anchor="ctr"/>
                </a:tc>
                <a:tc vMerge="1">
                  <a:txBody>
                    <a:bodyPr/>
                    <a:lstStyle/>
                    <a:p>
                      <a:pPr algn="ctr" latinLnBrk="1"/>
                      <a:endParaRPr lang="ko-KR" altLang="en-US" sz="1000" dirty="0"/>
                    </a:p>
                  </a:txBody>
                  <a:tcPr anchor="ctr"/>
                </a:tc>
                <a:tc vMerge="1">
                  <a:txBody>
                    <a:bodyPr/>
                    <a:lstStyle/>
                    <a:p>
                      <a:pPr algn="ctr" latinLnBrk="1"/>
                      <a:endParaRPr lang="ko-KR" altLang="en-US" sz="1000" dirty="0"/>
                    </a:p>
                  </a:txBody>
                  <a:tcPr anchor="ctr"/>
                </a:tc>
                <a:tc vMerge="1">
                  <a:txBody>
                    <a:bodyPr/>
                    <a:lstStyle/>
                    <a:p>
                      <a:pPr algn="ctr" latinLnBrk="1"/>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26" name="직사각형 25"/>
          <p:cNvSpPr/>
          <p:nvPr/>
        </p:nvSpPr>
        <p:spPr>
          <a:xfrm>
            <a:off x="10007142" y="3755462"/>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
        <p:nvSpPr>
          <p:cNvPr id="6" name="직사각형 5"/>
          <p:cNvSpPr/>
          <p:nvPr/>
        </p:nvSpPr>
        <p:spPr>
          <a:xfrm>
            <a:off x="4327739" y="3669286"/>
            <a:ext cx="2611612" cy="333617"/>
          </a:xfrm>
          <a:prstGeom prst="rect">
            <a:avLst/>
          </a:prstGeom>
        </p:spPr>
        <p:txBody>
          <a:bodyPr wrap="none">
            <a:spAutoFit/>
          </a:bodyPr>
          <a:lstStyle/>
          <a:p>
            <a:pPr>
              <a:lnSpc>
                <a:spcPct val="150000"/>
              </a:lnSpc>
            </a:pPr>
            <a:r>
              <a:rPr lang="ko-KR" altLang="en-US" sz="1200" b="1" dirty="0"/>
              <a:t>동일 계층 내 </a:t>
            </a:r>
            <a:r>
              <a:rPr lang="ko-KR" altLang="en-US" sz="1200" b="1" dirty="0" err="1"/>
              <a:t>비전투</a:t>
            </a:r>
            <a:r>
              <a:rPr lang="ko-KR" altLang="en-US" sz="1200" b="1" dirty="0"/>
              <a:t> </a:t>
            </a:r>
            <a:r>
              <a:rPr lang="ko-KR" altLang="en-US" sz="1200" b="1" dirty="0" err="1"/>
              <a:t>에어리어</a:t>
            </a:r>
            <a:r>
              <a:rPr lang="ko-KR" altLang="en-US" sz="1200" b="1" dirty="0"/>
              <a:t> 제한</a:t>
            </a:r>
            <a:endParaRPr lang="en-US" altLang="ko-KR" sz="1200" b="1" dirty="0"/>
          </a:p>
        </p:txBody>
      </p:sp>
    </p:spTree>
    <p:extLst>
      <p:ext uri="{BB962C8B-B14F-4D97-AF65-F5344CB8AC3E}">
        <p14:creationId xmlns:p14="http://schemas.microsoft.com/office/powerpoint/2010/main" val="26944590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68645" y="1400825"/>
            <a:ext cx="7734688" cy="5078313"/>
          </a:xfrm>
          <a:prstGeom prst="rect">
            <a:avLst/>
          </a:prstGeom>
          <a:noFill/>
        </p:spPr>
        <p:txBody>
          <a:bodyPr wrap="square" rtlCol="0">
            <a:spAutoFit/>
          </a:bodyPr>
          <a:lstStyle/>
          <a:p>
            <a:pPr>
              <a:lnSpc>
                <a:spcPct val="150000"/>
              </a:lnSpc>
            </a:pPr>
            <a:r>
              <a:rPr lang="ko-KR" altLang="en-US" sz="1400" b="1" dirty="0"/>
              <a:t>예상 </a:t>
            </a:r>
            <a:r>
              <a:rPr lang="ko-KR" altLang="en-US" sz="1400" b="1" dirty="0" err="1"/>
              <a:t>에어리어</a:t>
            </a:r>
            <a:r>
              <a:rPr lang="ko-KR" altLang="en-US" sz="1400" b="1" dirty="0"/>
              <a:t> </a:t>
            </a:r>
            <a:r>
              <a:rPr lang="ko-KR" altLang="en-US" sz="1400" b="1" dirty="0" err="1"/>
              <a:t>클리어</a:t>
            </a:r>
            <a:r>
              <a:rPr lang="ko-KR" altLang="en-US" sz="1400" b="1" dirty="0"/>
              <a:t> </a:t>
            </a:r>
            <a:r>
              <a:rPr lang="ko-KR" altLang="en-US" sz="1400" b="1" dirty="0" smtClean="0"/>
              <a:t>횟수</a:t>
            </a:r>
            <a:endParaRPr lang="en-US" altLang="ko-KR" sz="1400" dirty="0" smtClean="0"/>
          </a:p>
          <a:p>
            <a:pPr>
              <a:lnSpc>
                <a:spcPct val="150000"/>
              </a:lnSpc>
            </a:pPr>
            <a:r>
              <a:rPr lang="en-US" altLang="ko-KR" sz="1200" dirty="0" smtClean="0"/>
              <a:t>• </a:t>
            </a:r>
            <a:r>
              <a:rPr lang="ko-KR" altLang="en-US" sz="1200" dirty="0" smtClean="0"/>
              <a:t>계단 위치의 유격으로 인해</a:t>
            </a:r>
            <a:r>
              <a:rPr lang="en-US" altLang="ko-KR" sz="1200" dirty="0"/>
              <a:t> </a:t>
            </a:r>
            <a:r>
              <a:rPr lang="ko-KR" altLang="en-US" sz="1200" dirty="0" smtClean="0"/>
              <a:t>플레이어는 다음 계층으로 가기 위해 어느 정도 </a:t>
            </a:r>
            <a:r>
              <a:rPr lang="ko-KR" altLang="en-US" sz="1200" dirty="0" err="1" smtClean="0"/>
              <a:t>에어리어를</a:t>
            </a:r>
            <a:r>
              <a:rPr lang="ko-KR" altLang="en-US" sz="1200" dirty="0" smtClean="0"/>
              <a:t> 클리어해야 한다</a:t>
            </a:r>
            <a:r>
              <a:rPr lang="en-US" altLang="ko-KR" sz="1200" dirty="0" smtClean="0"/>
              <a:t>.</a:t>
            </a:r>
            <a:br>
              <a:rPr lang="en-US" altLang="ko-KR" sz="1200" dirty="0" smtClean="0"/>
            </a:br>
            <a:r>
              <a:rPr lang="en-US" altLang="ko-KR" sz="1200" dirty="0"/>
              <a:t> </a:t>
            </a:r>
            <a:r>
              <a:rPr lang="en-US" altLang="ko-KR" sz="1200" dirty="0" smtClean="0"/>
              <a:t> </a:t>
            </a:r>
            <a:r>
              <a:rPr lang="ko-KR" altLang="en-US" sz="1200" dirty="0" smtClean="0"/>
              <a:t>이 때</a:t>
            </a:r>
            <a:r>
              <a:rPr lang="en-US" altLang="ko-KR" sz="1200" dirty="0" smtClean="0"/>
              <a:t> </a:t>
            </a:r>
            <a:r>
              <a:rPr lang="ko-KR" altLang="en-US" sz="1200" dirty="0" smtClean="0"/>
              <a:t>두 계단 사이의 거리는 </a:t>
            </a:r>
            <a:r>
              <a:rPr lang="en-US" altLang="ko-KR" sz="1200" dirty="0" smtClean="0"/>
              <a:t>1~3 </a:t>
            </a:r>
            <a:r>
              <a:rPr lang="ko-KR" altLang="en-US" sz="1200" dirty="0" err="1" smtClean="0"/>
              <a:t>에어리어이므로</a:t>
            </a:r>
            <a:r>
              <a:rPr lang="en-US" altLang="ko-KR" sz="1200" dirty="0" smtClean="0"/>
              <a:t>, </a:t>
            </a:r>
            <a:r>
              <a:rPr lang="ko-KR" altLang="en-US" sz="1200" dirty="0" smtClean="0"/>
              <a:t>계층 시작 에어리어부터</a:t>
            </a:r>
            <a:r>
              <a:rPr lang="en-US" altLang="ko-KR" sz="1200" dirty="0" smtClean="0"/>
              <a:t> </a:t>
            </a:r>
            <a:r>
              <a:rPr lang="ko-KR" altLang="en-US" sz="1200" dirty="0" smtClean="0"/>
              <a:t>한번에 최단 루트로 갈 경우 </a:t>
            </a:r>
            <a:r>
              <a:rPr lang="en-US" altLang="ko-KR" sz="1200" dirty="0" smtClean="0"/>
              <a:t>3</a:t>
            </a:r>
            <a:r>
              <a:rPr lang="ko-KR" altLang="en-US" sz="1200" dirty="0" smtClean="0"/>
              <a:t>개</a:t>
            </a:r>
            <a:r>
              <a:rPr lang="en-US" altLang="ko-KR" sz="1200" dirty="0" smtClean="0"/>
              <a:t>,</a:t>
            </a:r>
          </a:p>
          <a:p>
            <a:pPr>
              <a:lnSpc>
                <a:spcPct val="150000"/>
              </a:lnSpc>
            </a:pPr>
            <a:r>
              <a:rPr lang="en-US" altLang="ko-KR" sz="1200" dirty="0"/>
              <a:t> </a:t>
            </a:r>
            <a:r>
              <a:rPr lang="en-US" altLang="ko-KR" sz="1200" dirty="0" smtClean="0"/>
              <a:t> </a:t>
            </a:r>
            <a:r>
              <a:rPr lang="ko-KR" altLang="en-US" sz="1200" dirty="0" smtClean="0"/>
              <a:t>모든 방을 돌 경우 최대 </a:t>
            </a:r>
            <a:r>
              <a:rPr lang="en-US" altLang="ko-KR" sz="1200" dirty="0"/>
              <a:t>6</a:t>
            </a:r>
            <a:r>
              <a:rPr lang="ko-KR" altLang="en-US" sz="1200" dirty="0" smtClean="0"/>
              <a:t>개의 </a:t>
            </a:r>
            <a:r>
              <a:rPr lang="ko-KR" altLang="en-US" sz="1200" dirty="0" err="1" smtClean="0"/>
              <a:t>에어리어를</a:t>
            </a:r>
            <a:r>
              <a:rPr lang="ko-KR" altLang="en-US" sz="1200" dirty="0" smtClean="0"/>
              <a:t> 탐색해야 한다</a:t>
            </a:r>
            <a:r>
              <a:rPr lang="en-US" altLang="ko-KR" sz="1200" dirty="0" smtClean="0"/>
              <a:t>.</a:t>
            </a:r>
          </a:p>
          <a:p>
            <a:pPr>
              <a:lnSpc>
                <a:spcPct val="150000"/>
              </a:lnSpc>
            </a:pPr>
            <a:endParaRPr lang="en-US" altLang="ko-KR" sz="1000" dirty="0" smtClean="0"/>
          </a:p>
          <a:p>
            <a:pPr>
              <a:lnSpc>
                <a:spcPct val="150000"/>
              </a:lnSpc>
            </a:pPr>
            <a:r>
              <a:rPr lang="en-US" altLang="ko-KR" sz="1200" dirty="0" smtClean="0"/>
              <a:t>• </a:t>
            </a:r>
            <a:r>
              <a:rPr lang="ko-KR" altLang="en-US" sz="1200" dirty="0" smtClean="0"/>
              <a:t>이를 토대로</a:t>
            </a:r>
            <a:r>
              <a:rPr lang="en-US" altLang="ko-KR" sz="1200" dirty="0"/>
              <a:t> </a:t>
            </a:r>
            <a:r>
              <a:rPr lang="ko-KR" altLang="en-US" sz="1200" dirty="0" smtClean="0"/>
              <a:t>하여</a:t>
            </a:r>
            <a:r>
              <a:rPr lang="en-US" altLang="ko-KR" sz="1200" dirty="0" smtClean="0"/>
              <a:t> </a:t>
            </a:r>
            <a:r>
              <a:rPr lang="ko-KR" altLang="en-US" sz="1200" dirty="0" smtClean="0"/>
              <a:t>만약 플레이어가 가능한 최단 루트로 던전을 정복하려 한다고 가정했을 때</a:t>
            </a:r>
            <a:r>
              <a:rPr lang="en-US" altLang="ko-KR" sz="1200" dirty="0" smtClean="0"/>
              <a:t>,</a:t>
            </a:r>
            <a:r>
              <a:rPr lang="ko-KR" altLang="en-US" sz="1200" dirty="0" smtClean="0"/>
              <a:t> 평균적으로</a:t>
            </a:r>
            <a:r>
              <a:rPr lang="en-US" altLang="ko-KR" sz="1200" dirty="0" smtClean="0"/>
              <a:t/>
            </a:r>
            <a:br>
              <a:rPr lang="en-US" altLang="ko-KR" sz="1200" dirty="0" smtClean="0"/>
            </a:br>
            <a:r>
              <a:rPr lang="en-US" altLang="ko-KR" sz="1200" dirty="0" smtClean="0"/>
              <a:t> </a:t>
            </a:r>
            <a:r>
              <a:rPr lang="ko-KR" altLang="en-US" sz="1200" dirty="0" smtClean="0"/>
              <a:t> 한 계층에서 </a:t>
            </a:r>
            <a:r>
              <a:rPr lang="en-US" altLang="ko-KR" sz="1200" dirty="0" smtClean="0"/>
              <a:t>4</a:t>
            </a:r>
            <a:r>
              <a:rPr lang="ko-KR" altLang="en-US" sz="1200" dirty="0" smtClean="0"/>
              <a:t>개의 </a:t>
            </a:r>
            <a:r>
              <a:rPr lang="ko-KR" altLang="en-US" sz="1200" dirty="0" err="1" smtClean="0"/>
              <a:t>에어리어를</a:t>
            </a:r>
            <a:r>
              <a:rPr lang="ko-KR" altLang="en-US" sz="1200" dirty="0" smtClean="0"/>
              <a:t> 탐색한다고 생각하면</a:t>
            </a:r>
            <a:r>
              <a:rPr lang="en-US" altLang="ko-KR" sz="1200" dirty="0" smtClean="0"/>
              <a:t>, </a:t>
            </a:r>
            <a:r>
              <a:rPr lang="ko-KR" altLang="en-US" sz="1200" dirty="0" smtClean="0"/>
              <a:t>보스 에어리어까지 포함하여 던전 탐험을 완료하기까지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약 </a:t>
            </a:r>
            <a:r>
              <a:rPr lang="en-US" altLang="ko-KR" sz="1200" dirty="0" smtClean="0"/>
              <a:t>30</a:t>
            </a:r>
            <a:r>
              <a:rPr lang="ko-KR" altLang="en-US" sz="1200" dirty="0" smtClean="0"/>
              <a:t>여개의 </a:t>
            </a:r>
            <a:r>
              <a:rPr lang="ko-KR" altLang="en-US" sz="1200" dirty="0" err="1" smtClean="0"/>
              <a:t>에어리어를</a:t>
            </a:r>
            <a:r>
              <a:rPr lang="ko-KR" altLang="en-US" sz="1200" dirty="0" smtClean="0"/>
              <a:t> 탐색한다고 할 수 있다</a:t>
            </a:r>
            <a:r>
              <a:rPr lang="en-US" altLang="ko-KR" sz="1200" dirty="0" smtClean="0"/>
              <a:t>.</a:t>
            </a:r>
          </a:p>
          <a:p>
            <a:pPr>
              <a:lnSpc>
                <a:spcPct val="150000"/>
              </a:lnSpc>
            </a:pPr>
            <a:endParaRPr lang="en-US" altLang="ko-KR" sz="1200" dirty="0" smtClean="0"/>
          </a:p>
          <a:p>
            <a:pPr>
              <a:lnSpc>
                <a:spcPct val="150000"/>
              </a:lnSpc>
            </a:pPr>
            <a:r>
              <a:rPr lang="en-US" altLang="ko-KR" sz="1200" dirty="0"/>
              <a:t>• </a:t>
            </a:r>
            <a:r>
              <a:rPr lang="ko-KR" altLang="en-US" sz="1200" dirty="0"/>
              <a:t>나아가 한 계층에서 생성되는 </a:t>
            </a:r>
            <a:r>
              <a:rPr lang="ko-KR" altLang="en-US" sz="1200" dirty="0" err="1"/>
              <a:t>비전투</a:t>
            </a:r>
            <a:r>
              <a:rPr lang="ko-KR" altLang="en-US" sz="1200" dirty="0"/>
              <a:t> 이벤트를 평균 </a:t>
            </a:r>
            <a:r>
              <a:rPr lang="en-US" altLang="ko-KR" sz="1200" dirty="0"/>
              <a:t>1</a:t>
            </a:r>
            <a:r>
              <a:rPr lang="ko-KR" altLang="en-US" sz="1200" dirty="0"/>
              <a:t>개로 가정했을 때</a:t>
            </a:r>
            <a:r>
              <a:rPr lang="en-US" altLang="ko-KR" sz="1200" dirty="0"/>
              <a:t>, </a:t>
            </a:r>
            <a:r>
              <a:rPr lang="ko-KR" altLang="en-US" sz="1200" dirty="0"/>
              <a:t>앞선 </a:t>
            </a:r>
            <a:r>
              <a:rPr lang="en-US" altLang="ko-KR" sz="1200" dirty="0"/>
              <a:t>30</a:t>
            </a:r>
            <a:r>
              <a:rPr lang="ko-KR" altLang="en-US" sz="1200" dirty="0"/>
              <a:t>번의 </a:t>
            </a:r>
            <a:r>
              <a:rPr lang="ko-KR" altLang="en-US" sz="1200" dirty="0" err="1"/>
              <a:t>에어리어</a:t>
            </a:r>
            <a:r>
              <a:rPr lang="ko-KR" altLang="en-US" sz="1200" dirty="0"/>
              <a:t> 이벤트들은 </a:t>
            </a:r>
            <a:endParaRPr lang="en-US" altLang="ko-KR" sz="1200" dirty="0"/>
          </a:p>
          <a:p>
            <a:pPr>
              <a:lnSpc>
                <a:spcPct val="150000"/>
              </a:lnSpc>
            </a:pPr>
            <a:r>
              <a:rPr lang="en-US" altLang="ko-KR" sz="1200" dirty="0"/>
              <a:t>  25</a:t>
            </a:r>
            <a:r>
              <a:rPr lang="ko-KR" altLang="en-US" sz="1200" dirty="0"/>
              <a:t>번의 전투 이벤트와 </a:t>
            </a:r>
            <a:r>
              <a:rPr lang="en-US" altLang="ko-KR" sz="1200" dirty="0"/>
              <a:t>5</a:t>
            </a:r>
            <a:r>
              <a:rPr lang="ko-KR" altLang="en-US" sz="1200" dirty="0"/>
              <a:t>번의 </a:t>
            </a:r>
            <a:r>
              <a:rPr lang="ko-KR" altLang="en-US" sz="1200" dirty="0" err="1"/>
              <a:t>비전투</a:t>
            </a:r>
            <a:r>
              <a:rPr lang="ko-KR" altLang="en-US" sz="1200" dirty="0"/>
              <a:t> 이벤트의 발생으로 구분할 수 있다</a:t>
            </a:r>
            <a:r>
              <a:rPr lang="en-US" altLang="ko-KR" sz="1200" dirty="0"/>
              <a:t>.</a:t>
            </a:r>
          </a:p>
          <a:p>
            <a:pPr>
              <a:lnSpc>
                <a:spcPct val="150000"/>
              </a:lnSpc>
            </a:pPr>
            <a:endParaRPr lang="en-US" altLang="ko-KR" sz="1200" dirty="0" smtClean="0"/>
          </a:p>
          <a:p>
            <a:pPr>
              <a:lnSpc>
                <a:spcPct val="150000"/>
              </a:lnSpc>
            </a:pPr>
            <a:r>
              <a:rPr lang="en-US" altLang="ko-KR" sz="1200" dirty="0" smtClean="0"/>
              <a:t>• </a:t>
            </a:r>
            <a:r>
              <a:rPr lang="ko-KR" altLang="en-US" sz="1200" dirty="0"/>
              <a:t>위의 가정을 토대로 </a:t>
            </a:r>
            <a:r>
              <a:rPr lang="ko-KR" altLang="en-US" sz="1200" dirty="0" smtClean="0"/>
              <a:t>하여</a:t>
            </a:r>
            <a:r>
              <a:rPr lang="en-US" altLang="ko-KR" sz="1200" dirty="0" smtClean="0"/>
              <a:t> </a:t>
            </a:r>
            <a:r>
              <a:rPr lang="ko-KR" altLang="en-US" sz="1200" dirty="0" smtClean="0"/>
              <a:t>한 전투에 소모되는 시간을 </a:t>
            </a:r>
            <a:r>
              <a:rPr lang="en-US" altLang="ko-KR" sz="1200" dirty="0" smtClean="0"/>
              <a:t>10</a:t>
            </a:r>
            <a:r>
              <a:rPr lang="ko-KR" altLang="en-US" sz="1200" dirty="0" smtClean="0"/>
              <a:t>분으로 잡았을 때</a:t>
            </a:r>
            <a:r>
              <a:rPr lang="en-US" altLang="ko-KR" sz="1200" dirty="0" smtClean="0"/>
              <a:t>, </a:t>
            </a:r>
            <a:r>
              <a:rPr lang="ko-KR" altLang="en-US" sz="1200" dirty="0" smtClean="0"/>
              <a:t>막힘없이 보스까지 클리어할 경우</a:t>
            </a:r>
            <a:endParaRPr lang="en-US" altLang="ko-KR" sz="1200" dirty="0" smtClean="0"/>
          </a:p>
          <a:p>
            <a:pPr>
              <a:lnSpc>
                <a:spcPct val="150000"/>
              </a:lnSpc>
            </a:pPr>
            <a:r>
              <a:rPr lang="en-US" altLang="ko-KR" sz="1200" dirty="0"/>
              <a:t> </a:t>
            </a:r>
            <a:r>
              <a:rPr lang="ko-KR" altLang="en-US" sz="1200" dirty="0" smtClean="0"/>
              <a:t> 해당 </a:t>
            </a:r>
            <a:r>
              <a:rPr lang="ko-KR" altLang="en-US" sz="1200" dirty="0" err="1" smtClean="0"/>
              <a:t>회차</a:t>
            </a:r>
            <a:r>
              <a:rPr lang="ko-KR" altLang="en-US" sz="1200" dirty="0" smtClean="0"/>
              <a:t> </a:t>
            </a:r>
            <a:r>
              <a:rPr lang="ko-KR" altLang="en-US" sz="1200" dirty="0" err="1" smtClean="0"/>
              <a:t>클리어에</a:t>
            </a:r>
            <a:r>
              <a:rPr lang="ko-KR" altLang="en-US" sz="1200" dirty="0" smtClean="0"/>
              <a:t> 소요되는 총 플레이 타임은 약 </a:t>
            </a:r>
            <a:r>
              <a:rPr lang="en-US" altLang="ko-KR" sz="1200" dirty="0" smtClean="0"/>
              <a:t>300</a:t>
            </a:r>
            <a:r>
              <a:rPr lang="ko-KR" altLang="en-US" sz="1200" dirty="0" smtClean="0"/>
              <a:t>분이 될 것이다</a:t>
            </a:r>
            <a:r>
              <a:rPr lang="en-US" altLang="ko-KR" sz="1200" dirty="0" smtClean="0"/>
              <a:t>.</a:t>
            </a:r>
          </a:p>
          <a:p>
            <a:pPr>
              <a:lnSpc>
                <a:spcPct val="150000"/>
              </a:lnSpc>
            </a:pPr>
            <a:endParaRPr lang="en-US" altLang="ko-KR" sz="1200" dirty="0"/>
          </a:p>
          <a:p>
            <a:pPr>
              <a:lnSpc>
                <a:spcPct val="150000"/>
              </a:lnSpc>
            </a:pPr>
            <a:r>
              <a:rPr lang="en-US" altLang="ko-KR" sz="1200" dirty="0" smtClean="0"/>
              <a:t>• </a:t>
            </a:r>
            <a:r>
              <a:rPr lang="ko-KR" altLang="en-US" sz="1200" dirty="0" smtClean="0"/>
              <a:t>보스 </a:t>
            </a:r>
            <a:r>
              <a:rPr lang="ko-KR" altLang="en-US" sz="1200" dirty="0" err="1" smtClean="0"/>
              <a:t>에어리어마다</a:t>
            </a:r>
            <a:r>
              <a:rPr lang="ko-KR" altLang="en-US" sz="1200" dirty="0" smtClean="0"/>
              <a:t> 시행착오</a:t>
            </a:r>
            <a:r>
              <a:rPr lang="en-US" altLang="ko-KR" sz="1200" dirty="0" smtClean="0"/>
              <a:t>, </a:t>
            </a:r>
            <a:r>
              <a:rPr lang="ko-KR" altLang="en-US" sz="1200" dirty="0" smtClean="0"/>
              <a:t>종종 등장하는 정예 몬스터에 시행착오</a:t>
            </a:r>
            <a:r>
              <a:rPr lang="en-US" altLang="ko-KR" sz="1200" dirty="0" smtClean="0"/>
              <a:t>, </a:t>
            </a:r>
            <a:r>
              <a:rPr lang="ko-KR" altLang="en-US" sz="1200" dirty="0" smtClean="0"/>
              <a:t>완전 상성인 </a:t>
            </a:r>
            <a:r>
              <a:rPr lang="ko-KR" altLang="en-US" sz="1200" dirty="0" err="1" smtClean="0"/>
              <a:t>몬스터들에</a:t>
            </a:r>
            <a:r>
              <a:rPr lang="ko-KR" altLang="en-US" sz="1200" dirty="0" smtClean="0"/>
              <a:t> 시행착오</a:t>
            </a:r>
            <a:r>
              <a:rPr lang="en-US" altLang="ko-KR" sz="1200" dirty="0" smtClean="0"/>
              <a:t>,</a:t>
            </a:r>
          </a:p>
          <a:p>
            <a:pPr>
              <a:lnSpc>
                <a:spcPct val="150000"/>
              </a:lnSpc>
            </a:pPr>
            <a:r>
              <a:rPr lang="ko-KR" altLang="en-US" sz="1200" dirty="0" smtClean="0"/>
              <a:t>최종보스에서 시행착오</a:t>
            </a:r>
            <a:r>
              <a:rPr lang="en-US" altLang="ko-KR" sz="1200" dirty="0" smtClean="0"/>
              <a:t>, </a:t>
            </a:r>
            <a:r>
              <a:rPr lang="ko-KR" altLang="en-US" sz="1200" dirty="0" smtClean="0"/>
              <a:t>길을 잘못 들었을 때 시행착오</a:t>
            </a:r>
            <a:r>
              <a:rPr lang="en-US" altLang="ko-KR" sz="1200" dirty="0" smtClean="0"/>
              <a:t>, </a:t>
            </a:r>
            <a:r>
              <a:rPr lang="ko-KR" altLang="en-US" sz="1200" dirty="0" smtClean="0"/>
              <a:t>초반 플레이어의 미숙한 운영에 시행착오</a:t>
            </a:r>
            <a:r>
              <a:rPr lang="en-US" altLang="ko-KR" sz="1200" dirty="0" smtClean="0"/>
              <a:t>,</a:t>
            </a:r>
          </a:p>
          <a:p>
            <a:pPr>
              <a:lnSpc>
                <a:spcPct val="150000"/>
              </a:lnSpc>
            </a:pPr>
            <a:r>
              <a:rPr lang="ko-KR" altLang="en-US" sz="1200" dirty="0" smtClean="0"/>
              <a:t>운이든 실력이든 원하는 혹은 강력한 조합을 구성하지 못하여 시행착오</a:t>
            </a:r>
            <a:r>
              <a:rPr lang="en-US" altLang="ko-KR" sz="12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8554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46</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548189" cy="3323987"/>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동일 계층 내 </a:t>
            </a:r>
            <a:r>
              <a:rPr lang="ko-KR" altLang="en-US" sz="1400" dirty="0" err="1" smtClean="0"/>
              <a:t>에어리어</a:t>
            </a:r>
            <a:r>
              <a:rPr lang="ko-KR" altLang="en-US" sz="1400" dirty="0" smtClean="0"/>
              <a:t> 이벤트 및 컨셉 개수 제한 </a:t>
            </a:r>
            <a:r>
              <a:rPr lang="en-US" altLang="ko-KR" sz="1400" dirty="0" smtClean="0"/>
              <a:t>: </a:t>
            </a:r>
          </a:p>
          <a:p>
            <a:pPr>
              <a:lnSpc>
                <a:spcPct val="150000"/>
              </a:lnSpc>
            </a:pPr>
            <a:r>
              <a:rPr lang="en-US" altLang="ko-KR" sz="1400" dirty="0" smtClean="0"/>
              <a:t>1) </a:t>
            </a:r>
            <a:r>
              <a:rPr lang="ko-KR" altLang="en-US" sz="1400" dirty="0" err="1" smtClean="0"/>
              <a:t>비전투</a:t>
            </a:r>
            <a:r>
              <a:rPr lang="ko-KR" altLang="en-US" sz="1400" dirty="0" smtClean="0"/>
              <a:t> </a:t>
            </a:r>
            <a:r>
              <a:rPr lang="ko-KR" altLang="en-US" sz="1400" dirty="0" err="1" smtClean="0"/>
              <a:t>에어리어</a:t>
            </a:r>
            <a:r>
              <a:rPr lang="en-US" altLang="ko-KR" sz="1400" dirty="0" smtClean="0"/>
              <a:t/>
            </a:r>
            <a:br>
              <a:rPr lang="en-US" altLang="ko-KR" sz="1400" dirty="0" smtClean="0"/>
            </a:br>
            <a:r>
              <a:rPr lang="en-US" altLang="ko-KR" sz="1400" dirty="0" smtClean="0"/>
              <a:t>  </a:t>
            </a:r>
            <a:r>
              <a:rPr lang="ko-KR" altLang="en-US" sz="1400" dirty="0" smtClean="0"/>
              <a:t>종류 </a:t>
            </a:r>
            <a:r>
              <a:rPr lang="en-US" altLang="ko-KR" sz="1400" dirty="0" smtClean="0"/>
              <a:t>: </a:t>
            </a:r>
            <a:r>
              <a:rPr lang="ko-KR" altLang="en-US" sz="1400" dirty="0" smtClean="0"/>
              <a:t>상인 </a:t>
            </a:r>
            <a:r>
              <a:rPr lang="en-US" altLang="ko-KR" sz="1400" dirty="0" smtClean="0"/>
              <a:t>/ </a:t>
            </a:r>
            <a:r>
              <a:rPr lang="ko-KR" altLang="en-US" sz="1400" dirty="0" smtClean="0"/>
              <a:t>보물 상자</a:t>
            </a:r>
            <a:endParaRPr lang="en-US" altLang="ko-KR" sz="1400" dirty="0" smtClean="0"/>
          </a:p>
          <a:p>
            <a:pPr>
              <a:lnSpc>
                <a:spcPct val="150000"/>
              </a:lnSpc>
            </a:pPr>
            <a:r>
              <a:rPr lang="en-US" altLang="ko-KR" sz="1400" dirty="0" smtClean="0"/>
              <a:t>  </a:t>
            </a:r>
            <a:r>
              <a:rPr lang="ko-KR" altLang="en-US" sz="1400" dirty="0" smtClean="0"/>
              <a:t>생성 개수 </a:t>
            </a:r>
            <a:r>
              <a:rPr lang="en-US" altLang="ko-KR" sz="1400" dirty="0" smtClean="0"/>
              <a:t>: 0</a:t>
            </a:r>
            <a:r>
              <a:rPr lang="ko-KR" altLang="en-US" sz="1400" dirty="0" smtClean="0"/>
              <a:t>개</a:t>
            </a:r>
            <a:r>
              <a:rPr lang="en-US" altLang="ko-KR" sz="1400" dirty="0" smtClean="0"/>
              <a:t>(20%)</a:t>
            </a:r>
            <a:r>
              <a:rPr lang="ko-KR" altLang="en-US" sz="1400" dirty="0" smtClean="0"/>
              <a:t> </a:t>
            </a:r>
            <a:r>
              <a:rPr lang="en-US" altLang="ko-KR" sz="1400" dirty="0" smtClean="0"/>
              <a:t>/ 1</a:t>
            </a:r>
            <a:r>
              <a:rPr lang="ko-KR" altLang="en-US" sz="1400" dirty="0" smtClean="0"/>
              <a:t>개</a:t>
            </a:r>
            <a:r>
              <a:rPr lang="en-US" altLang="ko-KR" sz="1400" dirty="0" smtClean="0"/>
              <a:t>(50%)</a:t>
            </a:r>
            <a:r>
              <a:rPr lang="ko-KR" altLang="en-US" sz="1400" dirty="0" smtClean="0"/>
              <a:t> </a:t>
            </a:r>
            <a:r>
              <a:rPr lang="en-US" altLang="ko-KR" sz="1400" dirty="0" smtClean="0"/>
              <a:t>/ 2</a:t>
            </a:r>
            <a:r>
              <a:rPr lang="ko-KR" altLang="en-US" sz="1400" dirty="0" smtClean="0"/>
              <a:t>개</a:t>
            </a:r>
            <a:r>
              <a:rPr lang="en-US" altLang="ko-KR" sz="1400" dirty="0" smtClean="0"/>
              <a:t>(30%)</a:t>
            </a:r>
            <a:br>
              <a:rPr lang="en-US" altLang="ko-KR" sz="1400" dirty="0" smtClean="0"/>
            </a:br>
            <a:r>
              <a:rPr lang="en-US" altLang="ko-KR" sz="1400" dirty="0" smtClean="0"/>
              <a:t>  </a:t>
            </a:r>
            <a:r>
              <a:rPr lang="ko-KR" altLang="en-US" sz="1400" dirty="0" smtClean="0"/>
              <a:t>위치 </a:t>
            </a:r>
            <a:r>
              <a:rPr lang="en-US" altLang="ko-KR" sz="1400" dirty="0" smtClean="0"/>
              <a:t>: </a:t>
            </a:r>
            <a:r>
              <a:rPr lang="ko-KR" altLang="en-US" sz="1400" dirty="0" smtClean="0"/>
              <a:t>무작위</a:t>
            </a:r>
            <a:r>
              <a:rPr lang="en-US" altLang="ko-KR" sz="1400" dirty="0" smtClean="0"/>
              <a:t>(</a:t>
            </a:r>
            <a:r>
              <a:rPr lang="ko-KR" altLang="en-US" sz="1400" dirty="0" smtClean="0"/>
              <a:t>단</a:t>
            </a:r>
            <a:r>
              <a:rPr lang="en-US" altLang="ko-KR" sz="1400" dirty="0" smtClean="0"/>
              <a:t>, 2</a:t>
            </a:r>
            <a:r>
              <a:rPr lang="ko-KR" altLang="en-US" sz="1400" dirty="0" smtClean="0"/>
              <a:t>개일 경우 </a:t>
            </a:r>
            <a:r>
              <a:rPr lang="ko-KR" altLang="en-US" sz="1400" dirty="0" err="1" smtClean="0"/>
              <a:t>에어리어가</a:t>
            </a:r>
            <a:r>
              <a:rPr lang="ko-KR" altLang="en-US" sz="1400" dirty="0" smtClean="0"/>
              <a:t> 서로 인접할 수 없음</a:t>
            </a:r>
            <a:r>
              <a:rPr lang="en-US" altLang="ko-KR" sz="1400" dirty="0" smtClean="0"/>
              <a:t>)</a:t>
            </a:r>
            <a:br>
              <a:rPr lang="en-US" altLang="ko-KR" sz="1400" dirty="0" smtClean="0"/>
            </a:br>
            <a:r>
              <a:rPr lang="en-US" altLang="ko-KR" sz="1400" dirty="0" smtClean="0"/>
              <a:t>  </a:t>
            </a:r>
            <a:r>
              <a:rPr lang="ko-KR" altLang="en-US" sz="1400" dirty="0" smtClean="0"/>
              <a:t>제한 </a:t>
            </a:r>
            <a:r>
              <a:rPr lang="en-US" altLang="ko-KR" sz="1400" dirty="0" smtClean="0"/>
              <a:t>: </a:t>
            </a:r>
            <a:r>
              <a:rPr lang="ko-KR" altLang="en-US" sz="1400" dirty="0" smtClean="0"/>
              <a:t>동일 계층에 같은 종류의 이벤트가 </a:t>
            </a:r>
            <a:r>
              <a:rPr lang="en-US" altLang="ko-KR" sz="1400" dirty="0" smtClean="0"/>
              <a:t>2</a:t>
            </a:r>
            <a:r>
              <a:rPr lang="ko-KR" altLang="en-US" sz="1400" dirty="0" smtClean="0"/>
              <a:t>개 배정될 수 없음</a:t>
            </a:r>
            <a:endParaRPr lang="en-US" altLang="ko-KR" sz="1400" dirty="0" smtClean="0"/>
          </a:p>
          <a:p>
            <a:pPr>
              <a:lnSpc>
                <a:spcPct val="150000"/>
              </a:lnSpc>
            </a:pPr>
            <a:endParaRPr lang="en-US" altLang="ko-KR" sz="1400" dirty="0"/>
          </a:p>
          <a:p>
            <a:pPr>
              <a:lnSpc>
                <a:spcPct val="150000"/>
              </a:lnSpc>
            </a:pPr>
            <a:r>
              <a:rPr lang="en-US" altLang="ko-KR" sz="1400" dirty="0" smtClean="0"/>
              <a:t>2) (</a:t>
            </a:r>
            <a:r>
              <a:rPr lang="ko-KR" altLang="en-US" sz="1400" dirty="0" smtClean="0"/>
              <a:t>전투 </a:t>
            </a:r>
            <a:r>
              <a:rPr lang="ko-KR" altLang="en-US" sz="1400" dirty="0" err="1" smtClean="0"/>
              <a:t>에어리어</a:t>
            </a:r>
            <a:r>
              <a:rPr lang="en-US" altLang="ko-KR" sz="1400" dirty="0" smtClean="0"/>
              <a:t>) </a:t>
            </a:r>
            <a:r>
              <a:rPr lang="ko-KR" altLang="en-US" sz="1400" dirty="0" smtClean="0"/>
              <a:t>저주</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종류 </a:t>
            </a:r>
            <a:r>
              <a:rPr lang="en-US" altLang="ko-KR" sz="1400" dirty="0" smtClean="0"/>
              <a:t>: </a:t>
            </a:r>
            <a:r>
              <a:rPr lang="ko-KR" altLang="en-US" sz="1400" dirty="0" smtClean="0"/>
              <a:t>고통의 방 </a:t>
            </a:r>
            <a:r>
              <a:rPr lang="en-US" altLang="ko-KR" sz="1400" dirty="0" smtClean="0"/>
              <a:t>/ </a:t>
            </a:r>
            <a:r>
              <a:rPr lang="ko-KR" altLang="en-US" sz="1400" dirty="0" smtClean="0"/>
              <a:t>절망의 방</a:t>
            </a:r>
            <a:r>
              <a:rPr lang="en-US" altLang="ko-KR" sz="1400" dirty="0"/>
              <a:t> </a:t>
            </a:r>
            <a:r>
              <a:rPr lang="en-US" altLang="ko-KR" sz="1400" dirty="0" smtClean="0"/>
              <a:t>/ </a:t>
            </a:r>
            <a:r>
              <a:rPr lang="ko-KR" altLang="en-US" sz="1400" dirty="0" smtClean="0"/>
              <a:t>약육강식의 방</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계층당 생성 개수 </a:t>
            </a:r>
            <a:r>
              <a:rPr lang="en-US" altLang="ko-KR" sz="1400" dirty="0" smtClean="0"/>
              <a:t>: </a:t>
            </a:r>
            <a:r>
              <a:rPr lang="ko-KR" altLang="en-US" sz="1400" dirty="0" smtClean="0"/>
              <a:t>최대 </a:t>
            </a:r>
            <a:r>
              <a:rPr lang="en-US" altLang="ko-KR" sz="1400" dirty="0" smtClean="0"/>
              <a:t>3</a:t>
            </a:r>
            <a:r>
              <a:rPr lang="ko-KR" altLang="en-US" sz="1400" dirty="0" smtClean="0"/>
              <a:t>개</a:t>
            </a:r>
            <a:r>
              <a:rPr lang="en-US" altLang="ko-KR" sz="1400" dirty="0" smtClean="0"/>
              <a:t>(</a:t>
            </a:r>
            <a:r>
              <a:rPr lang="ko-KR" altLang="en-US" sz="1400" dirty="0" smtClean="0"/>
              <a:t>무작위</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곱셈 기호 2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823795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47</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728333"/>
            <a:ext cx="7626619" cy="2031325"/>
          </a:xfrm>
          <a:prstGeom prst="rect">
            <a:avLst/>
          </a:prstGeom>
          <a:noFill/>
        </p:spPr>
        <p:txBody>
          <a:bodyPr wrap="square" rtlCol="0">
            <a:spAutoFit/>
          </a:bodyPr>
          <a:lstStyle/>
          <a:p>
            <a:pPr>
              <a:lnSpc>
                <a:spcPct val="150000"/>
              </a:lnSpc>
            </a:pPr>
            <a:r>
              <a:rPr lang="en-US" altLang="ko-KR" sz="1400" dirty="0"/>
              <a:t>• </a:t>
            </a:r>
            <a:r>
              <a:rPr lang="en-US" altLang="ko-KR" sz="1400" dirty="0" smtClean="0"/>
              <a:t>3</a:t>
            </a:r>
            <a:r>
              <a:rPr lang="ko-KR" altLang="en-US" sz="1400" dirty="0" smtClean="0"/>
              <a:t>배수 계층</a:t>
            </a:r>
            <a:r>
              <a:rPr lang="en-US" altLang="ko-KR" sz="1400" dirty="0" smtClean="0"/>
              <a:t>(3,6…)</a:t>
            </a:r>
            <a:r>
              <a:rPr lang="ko-KR" altLang="en-US" sz="1400" dirty="0" smtClean="0"/>
              <a:t>은</a:t>
            </a:r>
            <a:r>
              <a:rPr lang="en-US" altLang="ko-KR" sz="1400" dirty="0"/>
              <a:t> </a:t>
            </a:r>
            <a:r>
              <a:rPr lang="ko-KR" altLang="en-US" sz="1400" b="1" dirty="0" smtClean="0"/>
              <a:t>중간 보스</a:t>
            </a:r>
            <a:r>
              <a:rPr lang="ko-KR" altLang="en-US" sz="1400" dirty="0" smtClean="0"/>
              <a:t>가 등장하는 보스 </a:t>
            </a:r>
            <a:r>
              <a:rPr lang="ko-KR" altLang="en-US" sz="1400" dirty="0" err="1" smtClean="0"/>
              <a:t>에어리어가</a:t>
            </a:r>
            <a:r>
              <a:rPr lang="ko-KR" altLang="en-US" sz="1400" dirty="0" smtClean="0"/>
              <a:t> 된다</a:t>
            </a:r>
            <a:r>
              <a:rPr lang="en-US" altLang="ko-KR" sz="1400" dirty="0"/>
              <a:t>. </a:t>
            </a:r>
            <a:endParaRPr lang="en-US" altLang="ko-KR" sz="1400" dirty="0" smtClean="0"/>
          </a:p>
          <a:p>
            <a:pPr>
              <a:lnSpc>
                <a:spcPct val="150000"/>
              </a:lnSpc>
            </a:pPr>
            <a:endParaRPr lang="en-US" altLang="ko-KR" sz="1400" dirty="0"/>
          </a:p>
          <a:p>
            <a:pPr>
              <a:lnSpc>
                <a:spcPct val="150000"/>
              </a:lnSpc>
            </a:pPr>
            <a:r>
              <a:rPr lang="en-US" altLang="ko-KR" sz="1400" dirty="0"/>
              <a:t>• </a:t>
            </a:r>
            <a:r>
              <a:rPr lang="ko-KR" altLang="en-US" sz="1400" dirty="0" smtClean="0"/>
              <a:t>등장하는</a:t>
            </a:r>
            <a:r>
              <a:rPr lang="en-US" altLang="ko-KR" sz="1400" dirty="0" smtClean="0"/>
              <a:t> </a:t>
            </a:r>
            <a:r>
              <a:rPr lang="ko-KR" altLang="en-US" sz="1400" dirty="0" smtClean="0"/>
              <a:t>보스는 보스의 </a:t>
            </a:r>
            <a:r>
              <a:rPr lang="ko-KR" altLang="en-US" sz="1400" dirty="0"/>
              <a:t>가짓수 중 </a:t>
            </a:r>
            <a:r>
              <a:rPr lang="ko-KR" altLang="en-US" sz="1400" dirty="0" smtClean="0"/>
              <a:t>하나가 </a:t>
            </a:r>
            <a:r>
              <a:rPr lang="ko-KR" altLang="en-US" sz="1400" dirty="0"/>
              <a:t>무작위로 </a:t>
            </a:r>
            <a:r>
              <a:rPr lang="ko-KR" altLang="en-US" sz="1400" dirty="0" smtClean="0"/>
              <a:t>배정되며</a:t>
            </a:r>
            <a:r>
              <a:rPr lang="en-US" altLang="ko-KR" sz="1400" dirty="0" smtClean="0"/>
              <a:t>, </a:t>
            </a:r>
            <a:r>
              <a:rPr lang="ko-KR" altLang="en-US" sz="1400" dirty="0" smtClean="0"/>
              <a:t>계층이 깊은 에어리어일수록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배정된 보스가 강해진다</a:t>
            </a:r>
            <a:r>
              <a:rPr lang="en-US" altLang="ko-KR" sz="1400" dirty="0" smtClean="0"/>
              <a:t>. </a:t>
            </a:r>
            <a:r>
              <a:rPr lang="ko-KR" altLang="en-US" sz="1400" dirty="0" err="1" smtClean="0"/>
              <a:t>클리어</a:t>
            </a:r>
            <a:r>
              <a:rPr lang="ko-KR" altLang="en-US" sz="1400" dirty="0" smtClean="0"/>
              <a:t> 시</a:t>
            </a:r>
            <a:r>
              <a:rPr lang="en-US" altLang="ko-KR" sz="1400" dirty="0" smtClean="0"/>
              <a:t>, </a:t>
            </a:r>
            <a:r>
              <a:rPr lang="ko-KR" altLang="en-US" sz="1400" dirty="0" smtClean="0"/>
              <a:t>전리품으로 </a:t>
            </a:r>
            <a:r>
              <a:rPr lang="ko-KR" altLang="en-US" sz="1400" dirty="0" err="1" smtClean="0"/>
              <a:t>아티팩트를</a:t>
            </a:r>
            <a:r>
              <a:rPr lang="ko-KR" altLang="en-US" sz="1400" dirty="0" smtClean="0"/>
              <a:t> 확정적으로 얻을 수 있다</a:t>
            </a:r>
            <a:r>
              <a:rPr lang="en-US" altLang="ko-KR" sz="1400" dirty="0" smtClean="0"/>
              <a:t>.</a:t>
            </a:r>
          </a:p>
          <a:p>
            <a:pPr>
              <a:lnSpc>
                <a:spcPct val="150000"/>
              </a:lnSpc>
            </a:pPr>
            <a:endParaRPr lang="en-US" altLang="ko-KR" sz="1400" dirty="0"/>
          </a:p>
          <a:p>
            <a:pPr>
              <a:lnSpc>
                <a:spcPct val="150000"/>
              </a:lnSpc>
            </a:pPr>
            <a:r>
              <a:rPr lang="en-US" altLang="ko-KR" sz="1400" dirty="0"/>
              <a:t>• </a:t>
            </a:r>
            <a:r>
              <a:rPr lang="ko-KR" altLang="en-US" sz="1400" dirty="0" smtClean="0"/>
              <a:t>마지막 계층</a:t>
            </a:r>
            <a:r>
              <a:rPr lang="en-US" altLang="ko-KR" sz="1400" dirty="0" smtClean="0"/>
              <a:t>(9)</a:t>
            </a:r>
            <a:r>
              <a:rPr lang="ko-KR" altLang="en-US" sz="1400" dirty="0" smtClean="0"/>
              <a:t>은</a:t>
            </a:r>
            <a:r>
              <a:rPr lang="en-US" altLang="ko-KR" sz="1400" dirty="0" smtClean="0"/>
              <a:t> </a:t>
            </a:r>
            <a:r>
              <a:rPr lang="ko-KR" altLang="en-US" sz="1400" dirty="0" smtClean="0"/>
              <a:t>자동으로 최종 </a:t>
            </a:r>
            <a:r>
              <a:rPr lang="ko-KR" altLang="en-US" sz="1400" dirty="0"/>
              <a:t>보스인 </a:t>
            </a:r>
            <a:r>
              <a:rPr lang="en-US" altLang="ko-KR" sz="1400" dirty="0"/>
              <a:t>‘</a:t>
            </a:r>
            <a:r>
              <a:rPr lang="ko-KR" altLang="en-US" sz="1400" b="1" dirty="0"/>
              <a:t>마왕</a:t>
            </a:r>
            <a:r>
              <a:rPr lang="en-US" altLang="ko-KR" sz="1400" dirty="0"/>
              <a:t>’</a:t>
            </a:r>
            <a:r>
              <a:rPr lang="ko-KR" altLang="en-US" sz="1400" dirty="0"/>
              <a:t>이 </a:t>
            </a:r>
            <a:r>
              <a:rPr lang="ko-KR" altLang="en-US" sz="1400" dirty="0" smtClean="0"/>
              <a:t>등장한다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직사각형 9"/>
          <p:cNvSpPr/>
          <p:nvPr/>
        </p:nvSpPr>
        <p:spPr>
          <a:xfrm>
            <a:off x="1633040" y="2836783"/>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 name="직사각형 12"/>
          <p:cNvSpPr/>
          <p:nvPr/>
        </p:nvSpPr>
        <p:spPr>
          <a:xfrm>
            <a:off x="2674631" y="2836784"/>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Tree>
    <p:extLst>
      <p:ext uri="{BB962C8B-B14F-4D97-AF65-F5344CB8AC3E}">
        <p14:creationId xmlns:p14="http://schemas.microsoft.com/office/powerpoint/2010/main" val="33422449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48</a:t>
            </a:fld>
            <a:endParaRPr lang="ko-KR" altLang="en-US" sz="1800" dirty="0"/>
          </a:p>
        </p:txBody>
      </p:sp>
      <p:sp>
        <p:nvSpPr>
          <p:cNvPr id="15" name="타원 14"/>
          <p:cNvSpPr/>
          <p:nvPr/>
        </p:nvSpPr>
        <p:spPr>
          <a:xfrm>
            <a:off x="838842" y="4785709"/>
            <a:ext cx="851617" cy="85684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9" name="이등변 삼각형 8"/>
          <p:cNvSpPr/>
          <p:nvPr/>
        </p:nvSpPr>
        <p:spPr>
          <a:xfrm rot="5400000">
            <a:off x="649132" y="1204321"/>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9714783" y="1247504"/>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414030" y="1247506"/>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64" name="직선 연결선 163"/>
          <p:cNvCxnSpPr/>
          <p:nvPr/>
        </p:nvCxnSpPr>
        <p:spPr>
          <a:xfrm>
            <a:off x="10734194" y="2217568"/>
            <a:ext cx="758165" cy="8000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1993900" y="1014611"/>
            <a:ext cx="5740400" cy="1615827"/>
          </a:xfrm>
          <a:prstGeom prst="rect">
            <a:avLst/>
          </a:prstGeom>
          <a:noFill/>
        </p:spPr>
        <p:txBody>
          <a:bodyPr wrap="square" rtlCol="0">
            <a:spAutoFit/>
          </a:bodyPr>
          <a:lstStyle/>
          <a:p>
            <a:pPr>
              <a:lnSpc>
                <a:spcPct val="150000"/>
              </a:lnSpc>
            </a:pPr>
            <a:r>
              <a:rPr lang="en-US" altLang="ko-KR" dirty="0"/>
              <a:t>• </a:t>
            </a:r>
            <a:r>
              <a:rPr lang="ko-KR" altLang="en-US" sz="1600" dirty="0" err="1" smtClean="0"/>
              <a:t>던전맵</a:t>
            </a:r>
            <a:r>
              <a:rPr lang="ko-KR" altLang="en-US" sz="1600" dirty="0" smtClean="0"/>
              <a:t> 가장 좌측에 고정적으로 위치한다</a:t>
            </a:r>
            <a:r>
              <a:rPr lang="en-US" altLang="ko-KR" sz="1600" dirty="0" smtClean="0"/>
              <a:t>.</a:t>
            </a:r>
          </a:p>
          <a:p>
            <a:pPr>
              <a:lnSpc>
                <a:spcPct val="150000"/>
              </a:lnSpc>
            </a:pPr>
            <a:r>
              <a:rPr lang="en-US" altLang="ko-KR" sz="1600" dirty="0" smtClean="0"/>
              <a:t>• </a:t>
            </a:r>
            <a:r>
              <a:rPr lang="ko-KR" altLang="en-US" sz="1600" dirty="0" smtClean="0"/>
              <a:t>캐릭터가 던전 탐험을 시작하는 위치이다</a:t>
            </a:r>
            <a:r>
              <a:rPr lang="en-US" altLang="ko-KR" sz="1600" dirty="0" smtClean="0"/>
              <a:t>.</a:t>
            </a:r>
          </a:p>
          <a:p>
            <a:pPr>
              <a:lnSpc>
                <a:spcPct val="150000"/>
              </a:lnSpc>
            </a:pPr>
            <a:r>
              <a:rPr lang="en-US" altLang="ko-KR" sz="1600" dirty="0"/>
              <a:t>• </a:t>
            </a:r>
            <a:r>
              <a:rPr lang="ko-KR" altLang="en-US" sz="1600" dirty="0" smtClean="0"/>
              <a:t>캐릭터가 던전 탐험 중 사망했을 때</a:t>
            </a:r>
            <a:r>
              <a:rPr lang="en-US" altLang="ko-KR" sz="1600" dirty="0"/>
              <a:t> </a:t>
            </a:r>
            <a:r>
              <a:rPr lang="ko-KR" altLang="en-US" sz="1600" dirty="0" smtClean="0"/>
              <a:t>돌아오는 위치이다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않는다</a:t>
            </a:r>
            <a:r>
              <a:rPr lang="en-US" altLang="ko-KR" sz="1600" dirty="0" smtClean="0"/>
              <a:t>.</a:t>
            </a:r>
          </a:p>
        </p:txBody>
      </p:sp>
      <p:sp>
        <p:nvSpPr>
          <p:cNvPr id="105" name="TextBox 104"/>
          <p:cNvSpPr txBox="1"/>
          <p:nvPr/>
        </p:nvSpPr>
        <p:spPr>
          <a:xfrm>
            <a:off x="1993899" y="4400445"/>
            <a:ext cx="9359900" cy="1615827"/>
          </a:xfrm>
          <a:prstGeom prst="rect">
            <a:avLst/>
          </a:prstGeom>
          <a:noFill/>
        </p:spPr>
        <p:txBody>
          <a:bodyPr wrap="square" rtlCol="0">
            <a:spAutoFit/>
          </a:bodyPr>
          <a:lstStyle/>
          <a:p>
            <a:pPr>
              <a:lnSpc>
                <a:spcPct val="150000"/>
              </a:lnSpc>
            </a:pPr>
            <a:r>
              <a:rPr lang="en-US" altLang="ko-KR" dirty="0" smtClean="0"/>
              <a:t>• </a:t>
            </a:r>
            <a:r>
              <a:rPr lang="ko-KR" altLang="en-US" sz="1600" dirty="0" smtClean="0"/>
              <a:t>동일한 계층 내에 고정적으로 </a:t>
            </a:r>
            <a:r>
              <a:rPr lang="en-US" altLang="ko-KR" sz="1600" dirty="0" smtClean="0"/>
              <a:t>7</a:t>
            </a:r>
            <a:r>
              <a:rPr lang="ko-KR" altLang="en-US" sz="1600" dirty="0" smtClean="0"/>
              <a:t>개의 </a:t>
            </a:r>
            <a:r>
              <a:rPr lang="ko-KR" altLang="en-US" sz="1600" dirty="0" err="1" smtClean="0"/>
              <a:t>에어리어가</a:t>
            </a:r>
            <a:r>
              <a:rPr lang="ko-KR" altLang="en-US" sz="1600" dirty="0" smtClean="0"/>
              <a:t> 수직 일렬로 연결된다</a:t>
            </a:r>
            <a:r>
              <a:rPr lang="en-US" altLang="ko-KR" sz="1600" dirty="0" smtClean="0"/>
              <a:t>.</a:t>
            </a:r>
            <a:endParaRPr lang="en-US" altLang="ko-KR" dirty="0" smtClean="0"/>
          </a:p>
          <a:p>
            <a:pPr>
              <a:lnSpc>
                <a:spcPct val="150000"/>
              </a:lnSpc>
            </a:pPr>
            <a:r>
              <a:rPr lang="en-US" altLang="ko-KR" sz="1600" dirty="0" smtClean="0"/>
              <a:t>• </a:t>
            </a:r>
            <a:r>
              <a:rPr lang="ko-KR" altLang="en-US" sz="1600" dirty="0" err="1" smtClean="0"/>
              <a:t>에어리어</a:t>
            </a:r>
            <a:r>
              <a:rPr lang="ko-KR" altLang="en-US" sz="1600" dirty="0" smtClean="0"/>
              <a:t> 마다 이벤트를 품고 있으며</a:t>
            </a:r>
            <a:r>
              <a:rPr lang="en-US" altLang="ko-KR" sz="1600" dirty="0" smtClean="0"/>
              <a:t>, </a:t>
            </a:r>
            <a:r>
              <a:rPr lang="ko-KR" altLang="en-US" sz="1600" dirty="0" smtClean="0"/>
              <a:t>재생성 시 일부 </a:t>
            </a:r>
            <a:r>
              <a:rPr lang="ko-KR" altLang="en-US" sz="1600" dirty="0" err="1" smtClean="0"/>
              <a:t>에어리어를</a:t>
            </a:r>
            <a:r>
              <a:rPr lang="ko-KR" altLang="en-US" sz="1600" dirty="0" smtClean="0"/>
              <a:t> 제외하고 무작위로 변경된다</a:t>
            </a:r>
            <a:r>
              <a:rPr lang="en-US" altLang="ko-KR" sz="1600" dirty="0" smtClean="0"/>
              <a:t>.</a:t>
            </a:r>
            <a:br>
              <a:rPr lang="en-US" altLang="ko-KR" sz="1600" dirty="0" smtClean="0"/>
            </a:br>
            <a:r>
              <a:rPr lang="en-US" altLang="ko-KR" sz="1600" dirty="0" smtClean="0"/>
              <a:t>• </a:t>
            </a:r>
            <a:r>
              <a:rPr lang="ko-KR" altLang="en-US" sz="1600" dirty="0" smtClean="0"/>
              <a:t>서로 다른 계층을 잇는 길에 연결된 </a:t>
            </a:r>
            <a:r>
              <a:rPr lang="ko-KR" altLang="en-US" sz="1600" dirty="0" err="1" smtClean="0"/>
              <a:t>에어리어는</a:t>
            </a:r>
            <a:r>
              <a:rPr lang="ko-KR" altLang="en-US" sz="1600" dirty="0" smtClean="0"/>
              <a:t> 전투 이벤트를 가지고있다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않음</a:t>
            </a:r>
            <a:endParaRPr lang="en-US" altLang="ko-KR" sz="1600" dirty="0" smtClean="0"/>
          </a:p>
        </p:txBody>
      </p:sp>
      <p:sp>
        <p:nvSpPr>
          <p:cNvPr id="106" name="곱셈 기호 10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164951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49</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89468" y="1105085"/>
            <a:ext cx="11383432" cy="5216813"/>
          </a:xfrm>
          <a:prstGeom prst="rect">
            <a:avLst/>
          </a:prstGeom>
          <a:noFill/>
        </p:spPr>
        <p:txBody>
          <a:bodyPr wrap="square" rtlCol="0">
            <a:spAutoFit/>
          </a:bodyPr>
          <a:lstStyle/>
          <a:p>
            <a:pPr>
              <a:lnSpc>
                <a:spcPct val="150000"/>
              </a:lnSpc>
            </a:pPr>
            <a:r>
              <a:rPr lang="en-US" altLang="ko-KR" dirty="0"/>
              <a:t>• </a:t>
            </a:r>
            <a:r>
              <a:rPr lang="ko-KR" altLang="en-US" dirty="0" smtClean="0"/>
              <a:t>규칙 </a:t>
            </a:r>
            <a:r>
              <a:rPr lang="en-US" altLang="ko-KR" dirty="0" smtClean="0"/>
              <a:t>1 : </a:t>
            </a:r>
            <a:r>
              <a:rPr lang="ko-KR" altLang="en-US" dirty="0" smtClean="0"/>
              <a:t>고정 요소</a:t>
            </a:r>
            <a:endParaRPr lang="en-US" altLang="ko-KR" dirty="0" smtClean="0"/>
          </a:p>
          <a:p>
            <a:pPr>
              <a:lnSpc>
                <a:spcPct val="150000"/>
              </a:lnSpc>
            </a:pPr>
            <a:r>
              <a:rPr lang="en-US" altLang="ko-KR" dirty="0" smtClean="0"/>
              <a:t>- </a:t>
            </a:r>
            <a:r>
              <a:rPr lang="ko-KR" altLang="en-US" dirty="0" smtClean="0"/>
              <a:t>입구는 </a:t>
            </a:r>
            <a:r>
              <a:rPr lang="ko-KR" altLang="en-US" dirty="0" err="1" smtClean="0"/>
              <a:t>최좌측</a:t>
            </a:r>
            <a:r>
              <a:rPr lang="en-US" altLang="ko-KR" dirty="0" smtClean="0"/>
              <a:t>, </a:t>
            </a:r>
            <a:r>
              <a:rPr lang="ko-KR" altLang="en-US" dirty="0" err="1" smtClean="0"/>
              <a:t>최심부는</a:t>
            </a:r>
            <a:r>
              <a:rPr lang="ko-KR" altLang="en-US" dirty="0" smtClean="0"/>
              <a:t> </a:t>
            </a:r>
            <a:r>
              <a:rPr lang="ko-KR" altLang="en-US" dirty="0" err="1" smtClean="0"/>
              <a:t>최우측에</a:t>
            </a:r>
            <a:r>
              <a:rPr lang="ko-KR" altLang="en-US" dirty="0" smtClean="0"/>
              <a:t> 위치하며 길과 계층을 따라 선형적으로 연결되어 있다</a:t>
            </a:r>
            <a:r>
              <a:rPr lang="en-US" altLang="ko-KR" dirty="0" smtClean="0"/>
              <a:t>.</a:t>
            </a:r>
          </a:p>
          <a:p>
            <a:pPr>
              <a:lnSpc>
                <a:spcPct val="150000"/>
              </a:lnSpc>
            </a:pPr>
            <a:r>
              <a:rPr lang="en-US" altLang="ko-KR" dirty="0" smtClean="0"/>
              <a:t>- </a:t>
            </a:r>
            <a:r>
              <a:rPr lang="ko-KR" altLang="en-US" dirty="0" smtClean="0"/>
              <a:t>한 계층에서 다른 계층으로 이동할 수 있는 길은</a:t>
            </a:r>
            <a:r>
              <a:rPr lang="en-US" altLang="ko-KR" dirty="0" smtClean="0"/>
              <a:t>, </a:t>
            </a:r>
            <a:r>
              <a:rPr lang="ko-KR" altLang="en-US" dirty="0" smtClean="0"/>
              <a:t>계층 내 하나의 에어리어에만 존재한다</a:t>
            </a:r>
            <a:r>
              <a:rPr lang="en-US" altLang="ko-KR" dirty="0" smtClean="0"/>
              <a:t>.</a:t>
            </a:r>
          </a:p>
          <a:p>
            <a:pPr>
              <a:lnSpc>
                <a:spcPct val="150000"/>
              </a:lnSpc>
            </a:pPr>
            <a:r>
              <a:rPr lang="en-US" altLang="ko-KR" dirty="0" smtClean="0"/>
              <a:t>- </a:t>
            </a:r>
            <a:r>
              <a:rPr lang="ko-KR" altLang="en-US" dirty="0" smtClean="0"/>
              <a:t>입구</a:t>
            </a:r>
            <a:r>
              <a:rPr lang="en-US" altLang="ko-KR" dirty="0" smtClean="0"/>
              <a:t>, 3</a:t>
            </a:r>
            <a:r>
              <a:rPr lang="ko-KR" altLang="en-US" dirty="0" smtClean="0"/>
              <a:t>의 배수 계층</a:t>
            </a:r>
            <a:r>
              <a:rPr lang="en-US" altLang="ko-KR" dirty="0" smtClean="0"/>
              <a:t>(</a:t>
            </a:r>
            <a:r>
              <a:rPr lang="ko-KR" altLang="en-US" dirty="0" smtClean="0"/>
              <a:t>보스 </a:t>
            </a:r>
            <a:r>
              <a:rPr lang="ko-KR" altLang="en-US" dirty="0" err="1" smtClean="0"/>
              <a:t>에어리어</a:t>
            </a:r>
            <a:r>
              <a:rPr lang="en-US" altLang="ko-KR" dirty="0" smtClean="0"/>
              <a:t>)</a:t>
            </a:r>
            <a:r>
              <a:rPr lang="ko-KR" altLang="en-US" dirty="0" smtClean="0"/>
              <a:t>의 위치는 게임의 리셋과 상관없이 고정적이다</a:t>
            </a:r>
            <a:r>
              <a:rPr lang="en-US" altLang="ko-KR" dirty="0" smtClean="0"/>
              <a:t>.</a:t>
            </a:r>
          </a:p>
          <a:p>
            <a:pPr>
              <a:lnSpc>
                <a:spcPct val="150000"/>
              </a:lnSpc>
            </a:pPr>
            <a:r>
              <a:rPr lang="en-US" altLang="ko-KR" dirty="0" smtClean="0"/>
              <a:t>- 3</a:t>
            </a:r>
            <a:r>
              <a:rPr lang="ko-KR" altLang="en-US" dirty="0" smtClean="0"/>
              <a:t>의 배수 계층에는 보스 몬스터가 존재한다</a:t>
            </a:r>
            <a:r>
              <a:rPr lang="en-US" altLang="ko-KR" dirty="0" smtClean="0"/>
              <a:t>.</a:t>
            </a:r>
            <a:endParaRPr lang="en-US" altLang="ko-KR" dirty="0"/>
          </a:p>
          <a:p>
            <a:pPr>
              <a:lnSpc>
                <a:spcPct val="150000"/>
              </a:lnSpc>
            </a:pPr>
            <a:endParaRPr lang="en-US" altLang="ko-KR" dirty="0" smtClean="0"/>
          </a:p>
          <a:p>
            <a:pPr>
              <a:lnSpc>
                <a:spcPct val="150000"/>
              </a:lnSpc>
            </a:pPr>
            <a:r>
              <a:rPr lang="en-US" altLang="ko-KR" dirty="0" smtClean="0"/>
              <a:t>• </a:t>
            </a:r>
            <a:r>
              <a:rPr lang="ko-KR" altLang="en-US" dirty="0" smtClean="0"/>
              <a:t>규칙 </a:t>
            </a:r>
            <a:r>
              <a:rPr lang="en-US" altLang="ko-KR" dirty="0" smtClean="0"/>
              <a:t>2 : </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584445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50</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107" name="TextBox 106"/>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6" name="TextBox 115"/>
          <p:cNvSpPr txBox="1"/>
          <p:nvPr/>
        </p:nvSpPr>
        <p:spPr>
          <a:xfrm>
            <a:off x="4316878" y="392472"/>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곱셈 기호 9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51</a:t>
            </a:fld>
            <a:endParaRPr lang="ko-KR" altLang="en-US" sz="1800" dirty="0"/>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cxnSp>
        <p:nvCxnSpPr>
          <p:cNvPr id="130" name="직선 연결선 129"/>
          <p:cNvCxnSpPr/>
          <p:nvPr/>
        </p:nvCxnSpPr>
        <p:spPr>
          <a:xfrm rot="5400000" flipH="1">
            <a:off x="6324047" y="-254260"/>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타원 6"/>
          <p:cNvSpPr/>
          <p:nvPr/>
        </p:nvSpPr>
        <p:spPr>
          <a:xfrm rot="5400000">
            <a:off x="6142093" y="175058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rot="5400000">
            <a:off x="6922022" y="175607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rot="5400000">
            <a:off x="7715396" y="175607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rot="5400000">
            <a:off x="8495324" y="175688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5400000">
            <a:off x="3775416" y="174892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rot="5400000">
            <a:off x="4555343" y="174892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rot="5400000">
            <a:off x="5348718" y="17497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2" name="직선 연결선 141"/>
          <p:cNvCxnSpPr>
            <a:stCxn id="14" idx="6"/>
          </p:cNvCxnSpPr>
          <p:nvPr/>
        </p:nvCxnSpPr>
        <p:spPr>
          <a:xfrm rot="5400000">
            <a:off x="7164068" y="2051915"/>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endCxn id="24" idx="2"/>
          </p:cNvCxnSpPr>
          <p:nvPr/>
        </p:nvCxnSpPr>
        <p:spPr>
          <a:xfrm rot="5400000">
            <a:off x="5551220" y="963877"/>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586462" y="1692907"/>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타원 94"/>
          <p:cNvSpPr/>
          <p:nvPr/>
        </p:nvSpPr>
        <p:spPr>
          <a:xfrm rot="5400000">
            <a:off x="6166407" y="67824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p:cNvSpPr txBox="1"/>
          <p:nvPr/>
        </p:nvSpPr>
        <p:spPr>
          <a:xfrm>
            <a:off x="3714007"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6720246"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2850190" y="73680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2852951" y="176672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TextBox 106"/>
          <p:cNvSpPr txBox="1"/>
          <p:nvPr/>
        </p:nvSpPr>
        <p:spPr>
          <a:xfrm>
            <a:off x="2850190" y="279703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타원 107"/>
          <p:cNvSpPr/>
          <p:nvPr/>
        </p:nvSpPr>
        <p:spPr>
          <a:xfrm rot="5400000">
            <a:off x="6957556" y="277475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TextBox 111"/>
          <p:cNvSpPr txBox="1"/>
          <p:nvPr/>
        </p:nvSpPr>
        <p:spPr>
          <a:xfrm>
            <a:off x="4505156"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3" name="TextBox 112"/>
          <p:cNvSpPr txBox="1"/>
          <p:nvPr/>
        </p:nvSpPr>
        <p:spPr>
          <a:xfrm>
            <a:off x="7511395"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액자 31"/>
          <p:cNvSpPr/>
          <p:nvPr/>
        </p:nvSpPr>
        <p:spPr>
          <a:xfrm>
            <a:off x="8944960" y="1596946"/>
            <a:ext cx="1867339" cy="1820490"/>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모서리가 둥근 사각형 설명선 32"/>
          <p:cNvSpPr/>
          <p:nvPr/>
        </p:nvSpPr>
        <p:spPr>
          <a:xfrm>
            <a:off x="8284898" y="3530426"/>
            <a:ext cx="2713851" cy="226149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smtClean="0">
                <a:solidFill>
                  <a:sysClr val="windowText" lastClr="000000"/>
                </a:solidFill>
              </a:rPr>
              <a:t>‘</a:t>
            </a:r>
            <a:r>
              <a:rPr lang="ko-KR" altLang="en-US" sz="1400" b="1" dirty="0" smtClean="0">
                <a:solidFill>
                  <a:sysClr val="windowText" lastClr="000000"/>
                </a:solidFill>
              </a:rPr>
              <a:t>캐릭터</a:t>
            </a:r>
            <a:r>
              <a:rPr lang="en-US" altLang="ko-KR" sz="14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- 30x30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크기 제작의 기준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a:t>
            </a:r>
          </a:p>
        </p:txBody>
      </p:sp>
      <p:sp>
        <p:nvSpPr>
          <p:cNvPr id="35" name="곱셈 기호 3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565254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52</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53</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128569" y="2123288"/>
            <a:ext cx="1511256" cy="143749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407641" y="1531919"/>
            <a:ext cx="3274456" cy="3536600"/>
          </a:xfrm>
          <a:prstGeom prst="wedgeRoundRectCallout">
            <a:avLst>
              <a:gd name="adj1" fmla="val -66725"/>
              <a:gd name="adj2" fmla="val 401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용사</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요소의 크기의 척도</a:t>
            </a:r>
            <a:r>
              <a:rPr lang="en-US" altLang="ko-KR" sz="1400" dirty="0" smtClean="0">
                <a:solidFill>
                  <a:sysClr val="windowText" lastClr="000000"/>
                </a:solidFill>
              </a:rPr>
              <a:t>, </a:t>
            </a:r>
            <a:r>
              <a:rPr lang="ko-KR" altLang="en-US" sz="1400" dirty="0" smtClean="0">
                <a:solidFill>
                  <a:sysClr val="windowText" lastClr="000000"/>
                </a:solidFill>
              </a:rPr>
              <a:t>기준 단위 </a:t>
            </a:r>
            <a:r>
              <a:rPr lang="en-US" altLang="ko-KR" sz="1400" dirty="0" smtClean="0">
                <a:solidFill>
                  <a:sysClr val="windowText" lastClr="000000"/>
                </a:solidFill>
              </a:rPr>
              <a:t>C</a:t>
            </a:r>
            <a:br>
              <a:rPr lang="en-US" altLang="ko-KR" sz="1400" dirty="0" smtClean="0">
                <a:solidFill>
                  <a:sysClr val="windowText" lastClr="000000"/>
                </a:solidFill>
              </a:rPr>
            </a:b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항상 고정된 자리</a:t>
            </a:r>
            <a:r>
              <a:rPr lang="en-US" altLang="ko-KR" sz="1400" dirty="0" smtClean="0">
                <a:solidFill>
                  <a:sysClr val="windowText" lastClr="000000"/>
                </a:solidFill>
              </a:rPr>
              <a:t>(</a:t>
            </a:r>
            <a:r>
              <a:rPr lang="en-US" altLang="ko-KR" sz="1400" dirty="0">
                <a:solidFill>
                  <a:sysClr val="windowText" lastClr="000000"/>
                </a:solidFill>
              </a:rPr>
              <a:t>75, 100</a:t>
            </a:r>
            <a:r>
              <a:rPr lang="en-US" altLang="ko-KR" sz="1400" dirty="0" smtClean="0">
                <a:solidFill>
                  <a:sysClr val="windowText" lastClr="000000"/>
                </a:solidFill>
              </a:rPr>
              <a:t>)</a:t>
            </a:r>
            <a:r>
              <a:rPr lang="ko-KR" altLang="en-US" sz="1400" dirty="0" smtClean="0">
                <a:solidFill>
                  <a:sysClr val="windowText" lastClr="000000"/>
                </a:solidFill>
              </a:rPr>
              <a:t>에 위치해있으며 </a:t>
            </a:r>
            <a:r>
              <a:rPr lang="en-US" altLang="ko-KR" sz="1400" dirty="0" smtClean="0">
                <a:solidFill>
                  <a:sysClr val="windowText" lastClr="000000"/>
                </a:solidFill>
              </a:rPr>
              <a:t>HP, 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오른쪽</a:t>
            </a:r>
            <a:r>
              <a:rPr lang="en-US" altLang="ko-KR" sz="1400" dirty="0" smtClean="0">
                <a:solidFill>
                  <a:sysClr val="windowText" lastClr="000000"/>
                </a:solidFill>
              </a:rPr>
              <a:t>(</a:t>
            </a:r>
            <a:r>
              <a:rPr lang="ko-KR" altLang="en-US" sz="1400" dirty="0" smtClean="0">
                <a:solidFill>
                  <a:sysClr val="windowText" lastClr="000000"/>
                </a:solidFill>
              </a:rPr>
              <a:t>적</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마우스 클릭으로 선택 시 하단에 원형이 그려져 선택되었음을 알림</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899553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54</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64119" y="947892"/>
            <a:ext cx="10234311" cy="5457199"/>
          </a:xfrm>
          <a:prstGeom prst="frame">
            <a:avLst>
              <a:gd name="adj1" fmla="val 110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8460926" y="1351472"/>
            <a:ext cx="3517564" cy="2688168"/>
          </a:xfrm>
          <a:prstGeom prst="wedgeRoundRectCallout">
            <a:avLst>
              <a:gd name="adj1" fmla="val -63616"/>
              <a:gd name="adj2" fmla="val -508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화면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- 300 x 150 unit</a:t>
            </a:r>
            <a:br>
              <a:rPr lang="en-US" altLang="ko-KR" sz="1400" dirty="0" smtClean="0">
                <a:solidFill>
                  <a:sysClr val="windowText" lastClr="000000"/>
                </a:solidFill>
              </a:rPr>
            </a:br>
            <a:r>
              <a:rPr lang="en-US" altLang="ko-KR" sz="1400" dirty="0" smtClean="0">
                <a:solidFill>
                  <a:sysClr val="windowText" lastClr="000000"/>
                </a:solidFill>
              </a:rPr>
              <a:t>( C*12 x C*6 )</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전투</a:t>
            </a:r>
            <a:r>
              <a:rPr lang="en-US" altLang="ko-KR" sz="1400" dirty="0">
                <a:solidFill>
                  <a:sysClr val="windowText" lastClr="000000"/>
                </a:solidFill>
              </a:rPr>
              <a:t>, </a:t>
            </a:r>
            <a:r>
              <a:rPr lang="ko-KR" altLang="en-US" sz="1400" dirty="0">
                <a:solidFill>
                  <a:sysClr val="windowText" lastClr="000000"/>
                </a:solidFill>
              </a:rPr>
              <a:t>상점</a:t>
            </a:r>
            <a:r>
              <a:rPr lang="en-US" altLang="ko-KR" sz="1400" dirty="0">
                <a:solidFill>
                  <a:sysClr val="windowText" lastClr="000000"/>
                </a:solidFill>
              </a:rPr>
              <a:t>, </a:t>
            </a:r>
            <a:r>
              <a:rPr lang="ko-KR" altLang="en-US" sz="1400" dirty="0" smtClean="0">
                <a:solidFill>
                  <a:sysClr val="windowText" lastClr="000000"/>
                </a:solidFill>
              </a:rPr>
              <a:t>이벤트</a:t>
            </a:r>
            <a:r>
              <a:rPr lang="en-US" altLang="ko-KR" sz="1400" dirty="0" smtClean="0">
                <a:solidFill>
                  <a:sysClr val="windowText" lastClr="000000"/>
                </a:solidFill>
              </a:rPr>
              <a:t> </a:t>
            </a:r>
            <a:r>
              <a:rPr lang="ko-KR" altLang="en-US" sz="1400" dirty="0" smtClean="0">
                <a:solidFill>
                  <a:sysClr val="windowText" lastClr="000000"/>
                </a:solidFill>
              </a:rPr>
              <a:t>등 에어리어에서 볼 수 있는 한 </a:t>
            </a:r>
            <a:r>
              <a:rPr lang="ko-KR" altLang="en-US" sz="1400" dirty="0">
                <a:solidFill>
                  <a:sysClr val="windowText" lastClr="000000"/>
                </a:solidFill>
              </a:rPr>
              <a:t>화면의 크기를 나타냄</a:t>
            </a:r>
            <a:endParaRPr lang="en-US" altLang="ko-KR" sz="1400" dirty="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좌측 하단을 원점</a:t>
            </a:r>
            <a:r>
              <a:rPr lang="en-US" altLang="ko-KR" sz="1400" dirty="0" smtClean="0">
                <a:solidFill>
                  <a:sysClr val="windowText" lastClr="000000"/>
                </a:solidFill>
              </a:rPr>
              <a:t>(0,0) </a:t>
            </a:r>
            <a:r>
              <a:rPr lang="ko-KR" altLang="en-US" sz="1400" dirty="0" smtClean="0">
                <a:solidFill>
                  <a:sysClr val="windowText" lastClr="000000"/>
                </a:solidFill>
              </a:rPr>
              <a:t>으로 하여</a:t>
            </a:r>
            <a:r>
              <a:rPr lang="en-US" altLang="ko-KR" sz="1400" dirty="0" smtClean="0">
                <a:solidFill>
                  <a:sysClr val="windowText" lastClr="000000"/>
                </a:solidFill>
              </a:rPr>
              <a:t>,</a:t>
            </a:r>
            <a:br>
              <a:rPr lang="en-US" altLang="ko-KR" sz="1400" dirty="0" smtClean="0">
                <a:solidFill>
                  <a:sysClr val="windowText" lastClr="000000"/>
                </a:solidFill>
              </a:rPr>
            </a:br>
            <a:r>
              <a:rPr lang="ko-KR" altLang="en-US" sz="1400" dirty="0" smtClean="0">
                <a:solidFill>
                  <a:sysClr val="windowText" lastClr="000000"/>
                </a:solidFill>
              </a:rPr>
              <a:t>오브젝트들의 중점을 기준으로 </a:t>
            </a:r>
            <a:r>
              <a:rPr lang="ko-KR" altLang="en-US" sz="1400" dirty="0" err="1" smtClean="0">
                <a:solidFill>
                  <a:sysClr val="windowText" lastClr="000000"/>
                </a:solidFill>
              </a:rPr>
              <a:t>좌표값을</a:t>
            </a:r>
            <a:r>
              <a:rPr lang="ko-KR" altLang="en-US" sz="1400" dirty="0" smtClean="0">
                <a:solidFill>
                  <a:sysClr val="windowText" lastClr="000000"/>
                </a:solidFill>
              </a:rPr>
              <a:t> 설정</a:t>
            </a:r>
            <a:endParaRPr lang="en-US" altLang="ko-KR" sz="1400" dirty="0" smtClean="0">
              <a:solidFill>
                <a:sysClr val="windowText" lastClr="000000"/>
              </a:solidFill>
            </a:endParaRPr>
          </a:p>
        </p:txBody>
      </p:sp>
      <p:cxnSp>
        <p:nvCxnSpPr>
          <p:cNvPr id="6" name="직선 화살표 연결선 5"/>
          <p:cNvCxnSpPr/>
          <p:nvPr/>
        </p:nvCxnSpPr>
        <p:spPr>
          <a:xfrm>
            <a:off x="783771" y="1094825"/>
            <a:ext cx="0" cy="3449338"/>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6386" y="2432157"/>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1 0 0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9" name="직선 화살표 연결선 78"/>
          <p:cNvCxnSpPr/>
          <p:nvPr/>
        </p:nvCxnSpPr>
        <p:spPr>
          <a:xfrm>
            <a:off x="783771" y="4544163"/>
            <a:ext cx="0" cy="1726736"/>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59876" y="5260912"/>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0</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97" name="직선 화살표 연결선 96"/>
          <p:cNvCxnSpPr/>
          <p:nvPr/>
        </p:nvCxnSpPr>
        <p:spPr>
          <a:xfrm flipH="1">
            <a:off x="1244980" y="4455740"/>
            <a:ext cx="4839842" cy="6112"/>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p:cNvCxnSpPr/>
          <p:nvPr/>
        </p:nvCxnSpPr>
        <p:spPr>
          <a:xfrm flipH="1" flipV="1">
            <a:off x="6084821" y="4450927"/>
            <a:ext cx="4876506" cy="829"/>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25275" y="4081595"/>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00" name="TextBox 99"/>
          <p:cNvSpPr txBox="1"/>
          <p:nvPr/>
        </p:nvSpPr>
        <p:spPr>
          <a:xfrm>
            <a:off x="9430710" y="4081595"/>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2" name="직선 화살표 연결선 101"/>
          <p:cNvCxnSpPr/>
          <p:nvPr/>
        </p:nvCxnSpPr>
        <p:spPr>
          <a:xfrm flipH="1">
            <a:off x="8624483" y="5305311"/>
            <a:ext cx="2421746" cy="0"/>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393333" y="4960950"/>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4" name="직선 화살표 연결선 103"/>
          <p:cNvCxnSpPr/>
          <p:nvPr/>
        </p:nvCxnSpPr>
        <p:spPr>
          <a:xfrm flipV="1">
            <a:off x="8497498" y="4574750"/>
            <a:ext cx="8612" cy="808843"/>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935981" y="4568997"/>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7" name="직선 화살표 연결선 106"/>
          <p:cNvCxnSpPr/>
          <p:nvPr/>
        </p:nvCxnSpPr>
        <p:spPr>
          <a:xfrm flipH="1">
            <a:off x="1219540" y="1222908"/>
            <a:ext cx="9753663" cy="10891"/>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30369" y="1288199"/>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rPr>
              <a:t>3 0 0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11" name="TextBox 110"/>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189556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55</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C00000"/>
                  </a:solidFill>
                </a:ln>
                <a:solidFill>
                  <a:sysClr val="windowText" lastClr="000000"/>
                </a:solidFill>
              </a:rPr>
              <a:t>정예</a:t>
            </a:r>
            <a:endParaRPr lang="en-US" altLang="ko-KR" sz="1200" dirty="0" smtClean="0">
              <a:ln>
                <a:solidFill>
                  <a:srgbClr val="C00000"/>
                </a:solidFill>
              </a:ln>
              <a:solidFill>
                <a:sysClr val="windowText" lastClr="000000"/>
              </a:solidFill>
            </a:endParaRPr>
          </a:p>
          <a:p>
            <a:pPr algn="ctr"/>
            <a:r>
              <a:rPr lang="ko-KR" altLang="en-US" sz="1200" dirty="0" err="1" smtClean="0">
                <a:ln>
                  <a:solidFill>
                    <a:srgbClr val="C00000"/>
                  </a:solidFill>
                </a:ln>
                <a:solidFill>
                  <a:sysClr val="windowText" lastClr="000000"/>
                </a:solidFill>
              </a:rPr>
              <a:t>몬스터</a:t>
            </a:r>
            <a:endParaRPr lang="en-US" altLang="ko-KR" sz="1200"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3529937" y="1182889"/>
            <a:ext cx="1511256"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5528447" y="1816796"/>
            <a:ext cx="3021236" cy="3541498"/>
          </a:xfrm>
          <a:prstGeom prst="wedgeRoundRectCallout">
            <a:avLst>
              <a:gd name="adj1" fmla="val -63946"/>
              <a:gd name="adj2" fmla="val -3598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아군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유저가 컨트롤하는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오른쪽</a:t>
            </a:r>
            <a:r>
              <a:rPr lang="en-US" altLang="ko-KR" sz="1400" dirty="0">
                <a:solidFill>
                  <a:sysClr val="windowText" lastClr="000000"/>
                </a:solidFill>
              </a:rPr>
              <a:t>(</a:t>
            </a:r>
            <a:r>
              <a:rPr lang="ko-KR" altLang="en-US" sz="1400" dirty="0">
                <a:solidFill>
                  <a:sysClr val="windowText" lastClr="000000"/>
                </a:solidFill>
              </a:rPr>
              <a:t>적</a:t>
            </a:r>
            <a:r>
              <a:rPr lang="en-US" altLang="ko-KR" sz="1400" dirty="0">
                <a:solidFill>
                  <a:sysClr val="windowText" lastClr="000000"/>
                </a:solidFill>
              </a:rPr>
              <a:t>)</a:t>
            </a:r>
            <a:r>
              <a:rPr lang="ko-KR" altLang="en-US" sz="1400" dirty="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하단에 청색 원 표시</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27915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타원 21"/>
          <p:cNvSpPr/>
          <p:nvPr/>
        </p:nvSpPr>
        <p:spPr>
          <a:xfrm rot="1265973" flipH="1">
            <a:off x="10071741" y="493949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303732" y="36593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6103367" y="299551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56</a:t>
            </a:fld>
            <a:endParaRPr lang="ko-KR" altLang="en-US" sz="1800" dirty="0"/>
          </a:p>
        </p:txBody>
      </p:sp>
      <p:sp>
        <p:nvSpPr>
          <p:cNvPr id="25" name="타원 24"/>
          <p:cNvSpPr/>
          <p:nvPr/>
        </p:nvSpPr>
        <p:spPr>
          <a:xfrm>
            <a:off x="6269829" y="24400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475087" y="31477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10241764" y="441043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32" name="TextBox 31"/>
          <p:cNvSpPr txBox="1"/>
          <p:nvPr/>
        </p:nvSpPr>
        <p:spPr>
          <a:xfrm>
            <a:off x="555572"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이등변 삼각형 32"/>
          <p:cNvSpPr/>
          <p:nvPr/>
        </p:nvSpPr>
        <p:spPr>
          <a:xfrm rot="19319858">
            <a:off x="582237"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p:cNvSpPr/>
          <p:nvPr/>
        </p:nvSpPr>
        <p:spPr>
          <a:xfrm>
            <a:off x="904866"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용사</a:t>
            </a:r>
            <a:endParaRPr lang="ko-KR" altLang="en-US" sz="2400" dirty="0">
              <a:ln>
                <a:solidFill>
                  <a:srgbClr val="0BC10F"/>
                </a:solidFill>
              </a:ln>
              <a:solidFill>
                <a:schemeClr val="tx1"/>
              </a:solidFill>
            </a:endParaRPr>
          </a:p>
        </p:txBody>
      </p:sp>
      <p:sp>
        <p:nvSpPr>
          <p:cNvPr id="35" name="TextBox 34"/>
          <p:cNvSpPr txBox="1"/>
          <p:nvPr/>
        </p:nvSpPr>
        <p:spPr>
          <a:xfrm>
            <a:off x="4403069"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8205440" y="1403432"/>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타원 36"/>
          <p:cNvSpPr/>
          <p:nvPr/>
        </p:nvSpPr>
        <p:spPr>
          <a:xfrm rot="1265973" flipH="1">
            <a:off x="6098474" y="421533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6269829" y="370373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39" name="이등변 삼각형 38"/>
          <p:cNvSpPr/>
          <p:nvPr/>
        </p:nvSpPr>
        <p:spPr>
          <a:xfrm rot="19319858">
            <a:off x="4424479" y="3439113"/>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747108" y="3154107"/>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41" name="타원 40"/>
          <p:cNvSpPr/>
          <p:nvPr/>
        </p:nvSpPr>
        <p:spPr>
          <a:xfrm rot="1265973" flipH="1">
            <a:off x="10065021" y="243872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10231483" y="188330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43" name="타원 42"/>
          <p:cNvSpPr/>
          <p:nvPr/>
        </p:nvSpPr>
        <p:spPr>
          <a:xfrm rot="1265973" flipH="1">
            <a:off x="10060128" y="365854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10231483" y="314694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45" name="이등변 삼각형 44"/>
          <p:cNvSpPr/>
          <p:nvPr/>
        </p:nvSpPr>
        <p:spPr>
          <a:xfrm rot="19319858">
            <a:off x="8373784"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8696413"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6310413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464467" y="1158585"/>
            <a:ext cx="4042164"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3050202" y="1451897"/>
            <a:ext cx="2896175" cy="4048085"/>
          </a:xfrm>
          <a:prstGeom prst="wedgeRoundRectCallout">
            <a:avLst>
              <a:gd name="adj1" fmla="val 63575"/>
              <a:gd name="adj2" fmla="val -377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적</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던전에서 적으로 출현하는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왼쪽</a:t>
            </a:r>
            <a:r>
              <a:rPr lang="en-US" altLang="ko-KR" sz="1400" dirty="0" smtClean="0">
                <a:solidFill>
                  <a:sysClr val="windowText" lastClr="000000"/>
                </a:solidFill>
              </a:rPr>
              <a:t>(</a:t>
            </a:r>
            <a:r>
              <a:rPr lang="ko-KR" altLang="en-US" sz="1400" dirty="0" smtClean="0">
                <a:solidFill>
                  <a:sysClr val="windowText" lastClr="000000"/>
                </a:solidFill>
              </a:rPr>
              <a:t>아군</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위</a:t>
            </a:r>
            <a:r>
              <a:rPr lang="en-US" altLang="ko-KR" sz="1400" dirty="0" smtClean="0">
                <a:solidFill>
                  <a:sysClr val="windowText" lastClr="000000"/>
                </a:solidFill>
              </a:rPr>
              <a:t>, </a:t>
            </a:r>
            <a:r>
              <a:rPr lang="ko-KR" altLang="en-US" sz="1400" dirty="0" smtClean="0">
                <a:solidFill>
                  <a:sysClr val="windowText" lastClr="000000"/>
                </a:solidFill>
              </a:rPr>
              <a:t>왼쪽부터 차례가 시작됨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차례 시 하단에 적색 원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1086009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그룹 72"/>
          <p:cNvGrpSpPr/>
          <p:nvPr/>
        </p:nvGrpSpPr>
        <p:grpSpPr>
          <a:xfrm>
            <a:off x="8065852" y="3034568"/>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58</a:t>
            </a:fld>
            <a:endParaRPr lang="ko-KR" altLang="en-US" sz="1800" dirty="0"/>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8701578" y="190230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7958240" y="1797067"/>
            <a:ext cx="2087264" cy="1896792"/>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550534" y="1290064"/>
            <a:ext cx="2889648" cy="2588974"/>
          </a:xfrm>
          <a:prstGeom prst="wedgeRoundRectCallout">
            <a:avLst>
              <a:gd name="adj1" fmla="val 65061"/>
              <a:gd name="adj2" fmla="val 2458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보스</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보스 에어리어에서 등장하는 강력한 몬스터</a:t>
            </a:r>
            <a:r>
              <a:rPr lang="en-US" altLang="ko-KR" sz="1400" dirty="0">
                <a:solidFill>
                  <a:sysClr val="windowText" lastClr="000000"/>
                </a:solidFill>
              </a:rPr>
              <a:t/>
            </a:r>
            <a:br>
              <a:rPr lang="en-US" altLang="ko-KR" sz="1400" dirty="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주로 </a:t>
            </a:r>
            <a:r>
              <a:rPr lang="ko-KR" altLang="en-US" sz="1400" dirty="0" err="1" smtClean="0">
                <a:solidFill>
                  <a:sysClr val="windowText" lastClr="000000"/>
                </a:solidFill>
              </a:rPr>
              <a:t>혼자거나</a:t>
            </a:r>
            <a:r>
              <a:rPr lang="en-US" altLang="ko-KR" sz="1400" dirty="0" smtClean="0">
                <a:solidFill>
                  <a:sysClr val="windowText" lastClr="000000"/>
                </a:solidFill>
              </a:rPr>
              <a:t>,</a:t>
            </a:r>
            <a:r>
              <a:rPr lang="ko-KR" altLang="en-US" sz="1400" dirty="0" smtClean="0">
                <a:solidFill>
                  <a:sysClr val="windowText" lastClr="000000"/>
                </a:solidFill>
              </a:rPr>
              <a:t> </a:t>
            </a:r>
            <a:r>
              <a:rPr lang="en-US" altLang="ko-KR" sz="1400" dirty="0" smtClean="0">
                <a:solidFill>
                  <a:sysClr val="windowText" lastClr="000000"/>
                </a:solidFill>
              </a:rPr>
              <a:t>2</a:t>
            </a:r>
            <a:r>
              <a:rPr lang="ko-KR" altLang="en-US" sz="1400" dirty="0" smtClean="0">
                <a:solidFill>
                  <a:sysClr val="windowText" lastClr="000000"/>
                </a:solidFill>
              </a:rPr>
              <a:t>마리의 몬스터를 대동하고 등장함</a:t>
            </a:r>
            <a:endParaRPr lang="en-US" altLang="ko-KR" sz="1400" dirty="0">
              <a:solidFill>
                <a:sysClr val="windowText" lastClr="000000"/>
              </a:solidFill>
            </a:endParaRPr>
          </a:p>
        </p:txBody>
      </p:sp>
      <p:sp>
        <p:nvSpPr>
          <p:cNvPr id="85" name="포인트가 5개인 별 84"/>
          <p:cNvSpPr/>
          <p:nvPr/>
        </p:nvSpPr>
        <p:spPr>
          <a:xfrm>
            <a:off x="8276269" y="2025724"/>
            <a:ext cx="1451207" cy="1258931"/>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n>
                  <a:solidFill>
                    <a:srgbClr val="FF0000"/>
                  </a:solidFill>
                </a:ln>
                <a:solidFill>
                  <a:sysClr val="windowText" lastClr="000000"/>
                </a:solidFill>
              </a:rPr>
              <a:t>보스</a:t>
            </a:r>
            <a:endParaRPr lang="en-US" altLang="ko-KR" sz="1400" dirty="0" smtClean="0">
              <a:ln>
                <a:solidFill>
                  <a:srgbClr val="FF0000"/>
                </a:solidFill>
              </a:ln>
              <a:solidFill>
                <a:sysClr val="windowText" lastClr="000000"/>
              </a:solidFill>
            </a:endParaRPr>
          </a:p>
        </p:txBody>
      </p:sp>
      <p:sp>
        <p:nvSpPr>
          <p:cNvPr id="98" name="TextBox 97"/>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8358578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59</a:t>
            </a:fld>
            <a:endParaRPr lang="ko-KR" altLang="en-US" sz="1800" dirty="0"/>
          </a:p>
        </p:txBody>
      </p:sp>
      <p:sp>
        <p:nvSpPr>
          <p:cNvPr id="32" name="TextBox 31"/>
          <p:cNvSpPr txBox="1"/>
          <p:nvPr/>
        </p:nvSpPr>
        <p:spPr>
          <a:xfrm>
            <a:off x="1398720" y="1545840"/>
            <a:ext cx="179197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246217" y="1545840"/>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9048588" y="1545841"/>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2647915" y="33892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a:off x="1502501" y="309877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0" name="이등변 삼각형 29"/>
          <p:cNvSpPr/>
          <p:nvPr/>
        </p:nvSpPr>
        <p:spPr>
          <a:xfrm rot="2940484">
            <a:off x="6511168" y="278175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5365754" y="2491319"/>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6511168" y="389315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5365754" y="360272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10374421" y="260443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9229007" y="231400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10374421" y="354154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9229007" y="325111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10374421" y="44768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9229007" y="418638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TextBox 22"/>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307902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60</a:t>
            </a:fld>
            <a:endParaRPr lang="ko-KR" altLang="en-US" sz="1800" dirty="0"/>
          </a:p>
        </p:txBody>
      </p:sp>
      <p:sp>
        <p:nvSpPr>
          <p:cNvPr id="35" name="TextBox 34"/>
          <p:cNvSpPr txBox="1"/>
          <p:nvPr/>
        </p:nvSpPr>
        <p:spPr>
          <a:xfrm>
            <a:off x="2432260" y="1600316"/>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4</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7840684" y="1545840"/>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5</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0" name="이등변 삼각형 29"/>
          <p:cNvSpPr/>
          <p:nvPr/>
        </p:nvSpPr>
        <p:spPr>
          <a:xfrm rot="2940484">
            <a:off x="4690221"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3544807"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4690221"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3544807"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8365656" y="25691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7220242" y="227868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8365656" y="350622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7220242" y="321579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8365656" y="444150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7220242" y="415106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2" name="이등변 삼각형 21"/>
          <p:cNvSpPr/>
          <p:nvPr/>
        </p:nvSpPr>
        <p:spPr>
          <a:xfrm rot="2940484">
            <a:off x="2888888"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a:off x="1743474"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4" name="이등변 삼각형 23"/>
          <p:cNvSpPr/>
          <p:nvPr/>
        </p:nvSpPr>
        <p:spPr>
          <a:xfrm rot="2940484">
            <a:off x="2888888"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a:off x="1743474"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6" name="이등변 삼각형 25"/>
          <p:cNvSpPr/>
          <p:nvPr/>
        </p:nvSpPr>
        <p:spPr>
          <a:xfrm rot="2940484">
            <a:off x="10145117" y="296367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26"/>
          <p:cNvSpPr/>
          <p:nvPr/>
        </p:nvSpPr>
        <p:spPr>
          <a:xfrm>
            <a:off x="8999703" y="26732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rot="2940484">
            <a:off x="10145117" y="390078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p:cNvSpPr/>
          <p:nvPr/>
        </p:nvSpPr>
        <p:spPr>
          <a:xfrm>
            <a:off x="8999703" y="361035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9686600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61</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정보창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93293" y="4421955"/>
            <a:ext cx="5251613" cy="1976845"/>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7082526" y="3051619"/>
            <a:ext cx="2896175" cy="2205661"/>
          </a:xfrm>
          <a:prstGeom prst="wedgeRoundRectCallout">
            <a:avLst>
              <a:gd name="adj1" fmla="val -75837"/>
              <a:gd name="adj2" fmla="val 373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정보창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플레이어가 마우스 클릭으로 선택한 아군</a:t>
            </a:r>
            <a:r>
              <a:rPr lang="en-US" altLang="ko-KR" sz="1400" dirty="0" smtClean="0">
                <a:solidFill>
                  <a:sysClr val="windowText" lastClr="000000"/>
                </a:solidFill>
              </a:rPr>
              <a:t>, </a:t>
            </a:r>
            <a:r>
              <a:rPr lang="ko-KR" altLang="en-US" sz="1400" dirty="0" smtClean="0">
                <a:solidFill>
                  <a:sysClr val="windowText" lastClr="000000"/>
                </a:solidFill>
              </a:rPr>
              <a:t>적군 혹은 사물의 정보와 상태를 표시함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9223993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초상화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5551" y="4573915"/>
            <a:ext cx="1142550" cy="113662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47918" y="3004245"/>
            <a:ext cx="3081853" cy="2491318"/>
          </a:xfrm>
          <a:prstGeom prst="wedgeRoundRectCallout">
            <a:avLst>
              <a:gd name="adj1" fmla="val -63946"/>
              <a:gd name="adj2" fmla="val 2927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초상화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사물을 간략하게 그려낸 초상화를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바로 밑에 해당 개체의 이름을 명시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338819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63</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게이지 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2354" y="5683697"/>
            <a:ext cx="1142550" cy="521046"/>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24804" y="3524747"/>
            <a:ext cx="3170128" cy="2491318"/>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게이지 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5 unit</a:t>
            </a:r>
            <a:br>
              <a:rPr lang="en-US" altLang="ko-KR" sz="1400" dirty="0" smtClean="0">
                <a:solidFill>
                  <a:sysClr val="windowText" lastClr="000000"/>
                </a:solidFill>
              </a:rPr>
            </a:br>
            <a:r>
              <a:rPr lang="en-US" altLang="ko-KR" sz="1400" dirty="0" smtClean="0">
                <a:solidFill>
                  <a:sysClr val="windowText" lastClr="000000"/>
                </a:solidFill>
              </a:rPr>
              <a:t>( C x C*0.2 )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사물이 체력을 가진 개체라면</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a:t>
            </a:r>
            <a:r>
              <a:rPr lang="ko-KR" altLang="en-US" sz="1400" dirty="0" smtClean="0">
                <a:solidFill>
                  <a:sysClr val="windowText" lastClr="000000"/>
                </a:solidFill>
              </a:rPr>
              <a:t>를 게이지 바 형태로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우측에 구체적인 수치를 기입</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3540480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64</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459216" y="4595720"/>
            <a:ext cx="184918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841306" y="2609721"/>
            <a:ext cx="3170128" cy="2964050"/>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스탯</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개체의 </a:t>
            </a:r>
            <a:r>
              <a:rPr lang="ko-KR" altLang="en-US" sz="1400" dirty="0" err="1" smtClean="0">
                <a:solidFill>
                  <a:sysClr val="windowText" lastClr="000000"/>
                </a:solidFill>
              </a:rPr>
              <a:t>스탯을</a:t>
            </a:r>
            <a:r>
              <a:rPr lang="ko-KR" altLang="en-US" sz="1400" dirty="0" smtClean="0">
                <a:solidFill>
                  <a:sysClr val="windowText" lastClr="000000"/>
                </a:solidFill>
              </a:rPr>
              <a:t>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TYPE : Type, </a:t>
            </a:r>
            <a:r>
              <a:rPr lang="ko-KR" altLang="en-US" sz="1400" dirty="0" smtClean="0">
                <a:solidFill>
                  <a:sysClr val="windowText" lastClr="000000"/>
                </a:solidFill>
              </a:rPr>
              <a:t>속성</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CRT : Critical, </a:t>
            </a:r>
            <a:r>
              <a:rPr lang="ko-KR" altLang="en-US" sz="1400" dirty="0" smtClean="0">
                <a:solidFill>
                  <a:sysClr val="windowText" lastClr="000000"/>
                </a:solidFill>
              </a:rPr>
              <a:t>크리티컬 확률</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ATK : Attack, </a:t>
            </a:r>
            <a:r>
              <a:rPr lang="ko-KR" altLang="en-US" sz="1400" dirty="0" smtClean="0">
                <a:solidFill>
                  <a:sysClr val="windowText" lastClr="000000"/>
                </a:solidFill>
              </a:rPr>
              <a:t>공격력</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DEF : Defense, </a:t>
            </a:r>
            <a:r>
              <a:rPr lang="ko-KR" altLang="en-US" sz="1400" dirty="0" smtClean="0">
                <a:solidFill>
                  <a:sysClr val="windowText" lastClr="000000"/>
                </a:solidFill>
              </a:rPr>
              <a:t>방어력</a:t>
            </a:r>
            <a:endParaRPr lang="en-US" altLang="ko-KR" sz="1400" dirty="0" smtClean="0">
              <a:solidFill>
                <a:sysClr val="windowText" lastClr="000000"/>
              </a:solidFill>
            </a:endParaRPr>
          </a:p>
          <a:p>
            <a:r>
              <a:rPr lang="en-US" altLang="ko-KR" sz="1400" dirty="0" smtClean="0">
                <a:solidFill>
                  <a:sysClr val="windowText" lastClr="000000"/>
                </a:solidFill>
              </a:rPr>
              <a:t>  AVD : Avoid, </a:t>
            </a:r>
            <a:r>
              <a:rPr lang="ko-KR" altLang="en-US" sz="1400" dirty="0" err="1" smtClean="0">
                <a:solidFill>
                  <a:sysClr val="windowText" lastClr="000000"/>
                </a:solidFill>
              </a:rPr>
              <a:t>회피율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2176561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65</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상태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4444391" y="4595721"/>
            <a:ext cx="147939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6399784" y="2616908"/>
            <a:ext cx="3294183" cy="2624444"/>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상태</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능력</a:t>
            </a:r>
            <a:r>
              <a:rPr lang="en-US" altLang="ko-KR" sz="1400" dirty="0" smtClean="0">
                <a:solidFill>
                  <a:sysClr val="windowText" lastClr="000000"/>
                </a:solidFill>
              </a:rPr>
              <a:t>, </a:t>
            </a:r>
            <a:r>
              <a:rPr lang="ko-KR" altLang="en-US" sz="1400" dirty="0" smtClean="0">
                <a:solidFill>
                  <a:sysClr val="windowText" lastClr="000000"/>
                </a:solidFill>
              </a:rPr>
              <a:t>상태이상</a:t>
            </a:r>
            <a:r>
              <a:rPr lang="en-US" altLang="ko-KR" sz="1400" dirty="0" smtClean="0">
                <a:solidFill>
                  <a:sysClr val="windowText" lastClr="000000"/>
                </a:solidFill>
              </a:rPr>
              <a:t>, </a:t>
            </a:r>
            <a:r>
              <a:rPr lang="ko-KR" altLang="en-US" sz="1400" dirty="0" smtClean="0">
                <a:solidFill>
                  <a:sysClr val="windowText" lastClr="000000"/>
                </a:solidFill>
              </a:rPr>
              <a:t>버프</a:t>
            </a:r>
            <a:r>
              <a:rPr lang="en-US" altLang="ko-KR" sz="1400" dirty="0" smtClean="0">
                <a:solidFill>
                  <a:sysClr val="windowText" lastClr="000000"/>
                </a:solidFill>
              </a:rPr>
              <a:t>, </a:t>
            </a:r>
            <a:r>
              <a:rPr lang="ko-KR" altLang="en-US" sz="1400" dirty="0" err="1" smtClean="0">
                <a:solidFill>
                  <a:sysClr val="windowText" lastClr="000000"/>
                </a:solidFill>
              </a:rPr>
              <a:t>디버프</a:t>
            </a:r>
            <a:r>
              <a:rPr lang="ko-KR" altLang="en-US" sz="1400" dirty="0" smtClean="0">
                <a:solidFill>
                  <a:sysClr val="windowText" lastClr="000000"/>
                </a:solidFill>
              </a:rPr>
              <a:t> 등 개체의 현재 상태를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직관성을</a:t>
            </a:r>
            <a:r>
              <a:rPr lang="ko-KR" altLang="en-US" sz="1400" dirty="0" smtClean="0">
                <a:solidFill>
                  <a:sysClr val="windowText" lastClr="000000"/>
                </a:solidFill>
              </a:rPr>
              <a:t> 높이기 위해</a:t>
            </a:r>
            <a:r>
              <a:rPr lang="en-US" altLang="ko-KR" sz="1400" dirty="0" smtClean="0">
                <a:solidFill>
                  <a:sysClr val="windowText" lastClr="000000"/>
                </a:solidFill>
              </a:rPr>
              <a:t>, </a:t>
            </a:r>
            <a:r>
              <a:rPr lang="ko-KR" altLang="en-US" sz="1400" dirty="0" smtClean="0">
                <a:solidFill>
                  <a:sysClr val="windowText" lastClr="000000"/>
                </a:solidFill>
              </a:rPr>
              <a:t>각 상태에 해당하는 정사각형의 아이콘을 통해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2129824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66</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행동창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5973857" y="4469547"/>
            <a:ext cx="5150193" cy="1867617"/>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535786" y="1451898"/>
            <a:ext cx="3294183" cy="3514084"/>
          </a:xfrm>
          <a:prstGeom prst="wedgeRoundRectCallout">
            <a:avLst>
              <a:gd name="adj1" fmla="val 62662"/>
              <a:gd name="adj2" fmla="val 3599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행동창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아군 개체가 자신의 턴에 행동할 수 있는 옵션들을 나타냄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 턴에 하나의 옵션만 행할 수 있으며</a:t>
            </a:r>
            <a:r>
              <a:rPr lang="en-US" altLang="ko-KR" sz="1400" dirty="0" smtClean="0">
                <a:solidFill>
                  <a:sysClr val="windowText" lastClr="000000"/>
                </a:solidFill>
              </a:rPr>
              <a:t>, </a:t>
            </a:r>
            <a:r>
              <a:rPr lang="ko-KR" altLang="en-US" sz="1400" dirty="0" smtClean="0">
                <a:solidFill>
                  <a:sysClr val="windowText" lastClr="000000"/>
                </a:solidFill>
              </a:rPr>
              <a:t>확정하기 전까지 이전으로 되돌릴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일부 옵션은 선택 시 세부 옵션을 살펴볼 수 있음</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6280553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6376" y="4473815"/>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466590" y="2338121"/>
            <a:ext cx="3019729" cy="2997631"/>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공격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통상 공격을 명령하는 버튼</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버튼 클릭 시</a:t>
            </a:r>
            <a:r>
              <a:rPr lang="en-US" altLang="ko-KR" sz="1400" dirty="0" smtClean="0">
                <a:solidFill>
                  <a:sysClr val="windowText" lastClr="000000"/>
                </a:solidFill>
              </a:rPr>
              <a:t>, </a:t>
            </a:r>
            <a:r>
              <a:rPr lang="ko-KR" altLang="en-US" sz="1400" dirty="0" smtClean="0">
                <a:solidFill>
                  <a:sysClr val="windowText" lastClr="000000"/>
                </a:solidFill>
              </a:rPr>
              <a:t>적 </a:t>
            </a:r>
            <a:r>
              <a:rPr lang="ko-KR" altLang="en-US" sz="1400" dirty="0" err="1" smtClean="0">
                <a:solidFill>
                  <a:sysClr val="windowText" lastClr="000000"/>
                </a:solidFill>
              </a:rPr>
              <a:t>몬스터</a:t>
            </a:r>
            <a:r>
              <a:rPr lang="ko-KR" altLang="en-US" sz="1400" dirty="0" smtClean="0">
                <a:solidFill>
                  <a:sysClr val="windowText" lastClr="000000"/>
                </a:solidFill>
              </a:rPr>
              <a:t> 위에 표시가 생김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공격할 적을 선택하면 공격을 실행함</a:t>
            </a:r>
            <a:endParaRPr lang="en-US" altLang="ko-KR" sz="1400" dirty="0" smtClean="0">
              <a:solidFill>
                <a:sysClr val="windowText" lastClr="000000"/>
              </a:solidFill>
            </a:endParaRPr>
          </a:p>
        </p:txBody>
      </p:sp>
      <p:sp>
        <p:nvSpPr>
          <p:cNvPr id="5" name="이등변 삼각형 4"/>
          <p:cNvSpPr/>
          <p:nvPr/>
        </p:nvSpPr>
        <p:spPr>
          <a:xfrm rot="10800000">
            <a:off x="9276637" y="1215960"/>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이등변 삼각형 84"/>
          <p:cNvSpPr/>
          <p:nvPr/>
        </p:nvSpPr>
        <p:spPr>
          <a:xfrm rot="10800000">
            <a:off x="9276637" y="2577737"/>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이등변 삼각형 96"/>
          <p:cNvSpPr/>
          <p:nvPr/>
        </p:nvSpPr>
        <p:spPr>
          <a:xfrm rot="10800000">
            <a:off x="7502113" y="310105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이등변 삼각형 97"/>
          <p:cNvSpPr/>
          <p:nvPr/>
        </p:nvSpPr>
        <p:spPr>
          <a:xfrm rot="10800000">
            <a:off x="7518567" y="996369"/>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이등변 삼각형 98"/>
          <p:cNvSpPr/>
          <p:nvPr/>
        </p:nvSpPr>
        <p:spPr>
          <a:xfrm rot="10800000">
            <a:off x="7518567" y="204242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도넛 99"/>
          <p:cNvSpPr/>
          <p:nvPr/>
        </p:nvSpPr>
        <p:spPr>
          <a:xfrm>
            <a:off x="7197689" y="2876540"/>
            <a:ext cx="694007" cy="64834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2" name="직선 화살표 연결선 101"/>
          <p:cNvCxnSpPr/>
          <p:nvPr/>
        </p:nvCxnSpPr>
        <p:spPr>
          <a:xfrm flipV="1">
            <a:off x="5285008" y="3395248"/>
            <a:ext cx="1834303" cy="734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9272814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68</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86141" y="447581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907920" y="3536642"/>
            <a:ext cx="3036677" cy="1701786"/>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방어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방어 태세를 </a:t>
            </a:r>
            <a:r>
              <a:rPr lang="ko-KR" altLang="en-US" sz="1400" dirty="0">
                <a:solidFill>
                  <a:sysClr val="windowText" lastClr="000000"/>
                </a:solidFill>
              </a:rPr>
              <a:t>명령하는 </a:t>
            </a:r>
            <a:r>
              <a:rPr lang="ko-KR" altLang="en-US" sz="1400" dirty="0" smtClean="0">
                <a:solidFill>
                  <a:sysClr val="windowText" lastClr="000000"/>
                </a:solidFill>
              </a:rPr>
              <a:t>버튼</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3332581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69</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9478" y="5331071"/>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312126" y="2953326"/>
            <a:ext cx="3202577" cy="3020563"/>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특수 기능을 </a:t>
            </a:r>
            <a:r>
              <a:rPr lang="ko-KR" altLang="en-US" sz="1400" dirty="0">
                <a:solidFill>
                  <a:sysClr val="windowText" lastClr="000000"/>
                </a:solidFill>
              </a:rPr>
              <a:t>명령하는 </a:t>
            </a:r>
            <a:r>
              <a:rPr lang="ko-KR" altLang="en-US" sz="1400" dirty="0" smtClean="0">
                <a:solidFill>
                  <a:sysClr val="windowText" lastClr="000000"/>
                </a:solidFill>
              </a:rPr>
              <a:t>버튼으로</a:t>
            </a:r>
            <a:r>
              <a:rPr lang="en-US" altLang="ko-KR" sz="1400" dirty="0" smtClean="0">
                <a:solidFill>
                  <a:sysClr val="windowText" lastClr="000000"/>
                </a:solidFill>
              </a:rPr>
              <a:t>, </a:t>
            </a:r>
            <a:r>
              <a:rPr lang="ko-KR" altLang="en-US" sz="1400" dirty="0" smtClean="0">
                <a:solidFill>
                  <a:sysClr val="windowText" lastClr="000000"/>
                </a:solidFill>
              </a:rPr>
              <a:t>기술들을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사용 대상을 정한 뒤</a:t>
            </a:r>
            <a:r>
              <a:rPr lang="en-US" altLang="ko-KR" sz="1400" dirty="0" smtClean="0">
                <a:solidFill>
                  <a:sysClr val="windowText" lastClr="000000"/>
                </a:solidFill>
              </a:rPr>
              <a:t> </a:t>
            </a:r>
            <a:r>
              <a:rPr lang="ko-KR" altLang="en-US" sz="1400" dirty="0" smtClean="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49456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70</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109655" y="4765331"/>
            <a:ext cx="4936574" cy="1261884"/>
          </a:xfrm>
          <a:prstGeom prst="rect">
            <a:avLst/>
          </a:prstGeom>
          <a:noFill/>
        </p:spPr>
        <p:txBody>
          <a:bodyPr wrap="square" rtlCol="0">
            <a:spAutoFit/>
          </a:bodyPr>
          <a:lstStyle/>
          <a:p>
            <a:r>
              <a:rPr lang="en-US" altLang="ko-KR" sz="2000" dirty="0" smtClean="0"/>
              <a:t>•</a:t>
            </a:r>
            <a:r>
              <a:rPr lang="ko-KR" altLang="en-US" sz="2000" dirty="0" smtClean="0"/>
              <a:t>         기술이름</a:t>
            </a:r>
            <a:r>
              <a:rPr lang="en-US" altLang="ko-KR" sz="2000" dirty="0" smtClean="0"/>
              <a:t>1     •         </a:t>
            </a:r>
            <a:r>
              <a:rPr lang="ko-KR" altLang="en-US" sz="2000" dirty="0" smtClean="0"/>
              <a:t>기술이름</a:t>
            </a:r>
            <a:r>
              <a:rPr lang="en-US" altLang="ko-KR" sz="2000" dirty="0" smtClean="0"/>
              <a:t>2</a:t>
            </a:r>
            <a:endParaRPr lang="en-US" altLang="ko-KR" sz="2000" dirty="0"/>
          </a:p>
          <a:p>
            <a:endParaRPr lang="en-US" altLang="ko-KR" dirty="0" smtClean="0"/>
          </a:p>
          <a:p>
            <a:endParaRPr lang="en-US" altLang="ko-KR" dirty="0" smtClean="0"/>
          </a:p>
          <a:p>
            <a:r>
              <a:rPr lang="en-US" altLang="ko-KR" sz="2000" dirty="0" smtClean="0"/>
              <a:t>•         </a:t>
            </a:r>
            <a:r>
              <a:rPr lang="ko-KR" altLang="en-US" sz="2000" dirty="0" smtClean="0"/>
              <a:t>기술이름</a:t>
            </a:r>
            <a:r>
              <a:rPr lang="en-US" altLang="ko-KR" sz="2000" dirty="0" smtClean="0"/>
              <a:t>3</a:t>
            </a:r>
            <a:endParaRPr lang="en-US" altLang="ko-KR" sz="2000"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9821219" y="5635409"/>
            <a:ext cx="990173"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8" name="액자 97"/>
          <p:cNvSpPr/>
          <p:nvPr/>
        </p:nvSpPr>
        <p:spPr>
          <a:xfrm>
            <a:off x="6366312" y="4683073"/>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9" name="액자 98"/>
          <p:cNvSpPr/>
          <p:nvPr/>
        </p:nvSpPr>
        <p:spPr>
          <a:xfrm>
            <a:off x="8877526" y="4670946"/>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0" name="액자 99"/>
          <p:cNvSpPr/>
          <p:nvPr/>
        </p:nvSpPr>
        <p:spPr>
          <a:xfrm>
            <a:off x="6366311" y="5537019"/>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 name="사각형 설명선 4"/>
          <p:cNvSpPr/>
          <p:nvPr/>
        </p:nvSpPr>
        <p:spPr>
          <a:xfrm>
            <a:off x="6449755" y="3907451"/>
            <a:ext cx="2360030"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기술 설명</a:t>
            </a:r>
            <a:r>
              <a:rPr lang="en-US" altLang="ko-KR" dirty="0" smtClean="0"/>
              <a:t>, </a:t>
            </a:r>
            <a:r>
              <a:rPr lang="ko-KR" altLang="en-US" dirty="0" smtClean="0"/>
              <a:t>소모</a:t>
            </a:r>
            <a:r>
              <a:rPr lang="en-US" altLang="ko-KR" dirty="0" smtClean="0"/>
              <a:t>SP </a:t>
            </a:r>
            <a:r>
              <a:rPr lang="ko-KR" altLang="en-US" dirty="0" smtClean="0"/>
              <a:t>등</a:t>
            </a:r>
            <a:endParaRPr lang="ko-KR" altLang="en-US" dirty="0"/>
          </a:p>
        </p:txBody>
      </p:sp>
      <p:sp>
        <p:nvSpPr>
          <p:cNvPr id="102" name="모서리가 둥근 사각형 설명선 101"/>
          <p:cNvSpPr/>
          <p:nvPr/>
        </p:nvSpPr>
        <p:spPr>
          <a:xfrm>
            <a:off x="2351314" y="1672954"/>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캐릭터의 기술을 </a:t>
            </a:r>
            <a:r>
              <a:rPr lang="en-US" altLang="ko-KR" sz="1400" dirty="0" smtClean="0">
                <a:solidFill>
                  <a:sysClr val="windowText" lastClr="000000"/>
                </a:solidFill>
              </a:rPr>
              <a:t>3</a:t>
            </a:r>
            <a:r>
              <a:rPr lang="ko-KR" altLang="en-US" sz="1400" dirty="0" smtClean="0">
                <a:solidFill>
                  <a:sysClr val="windowText" lastClr="000000"/>
                </a:solidFill>
              </a:rPr>
              <a:t>개까지</a:t>
            </a:r>
            <a:r>
              <a:rPr lang="en-US" altLang="ko-KR" sz="1400" dirty="0" smtClean="0">
                <a:solidFill>
                  <a:sysClr val="windowText" lastClr="000000"/>
                </a:solidFill>
              </a:rPr>
              <a:t>,</a:t>
            </a:r>
            <a:r>
              <a:rPr lang="ko-KR" altLang="en-US" sz="1400" dirty="0" smtClean="0">
                <a:solidFill>
                  <a:sysClr val="windowText" lastClr="000000"/>
                </a:solidFill>
              </a:rPr>
              <a:t> 아이콘과 이름을 표시함</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기술 아이콘에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기술에 대한 설명</a:t>
            </a:r>
            <a:r>
              <a:rPr lang="en-US" altLang="ko-KR" sz="1400" dirty="0" smtClean="0">
                <a:solidFill>
                  <a:sysClr val="windowText" lastClr="000000"/>
                </a:solidFill>
              </a:rPr>
              <a:t>(</a:t>
            </a:r>
            <a:r>
              <a:rPr lang="ko-KR" altLang="en-US" sz="1400" dirty="0" err="1" smtClean="0">
                <a:solidFill>
                  <a:sysClr val="windowText" lastClr="000000"/>
                </a:solidFill>
              </a:rPr>
              <a:t>데미지</a:t>
            </a:r>
            <a:r>
              <a:rPr lang="en-US" altLang="ko-KR" sz="1400" dirty="0" smtClean="0">
                <a:solidFill>
                  <a:sysClr val="windowText" lastClr="000000"/>
                </a:solidFill>
              </a:rPr>
              <a:t>, </a:t>
            </a:r>
            <a:r>
              <a:rPr lang="ko-KR" altLang="en-US" sz="1400" dirty="0" err="1" smtClean="0">
                <a:solidFill>
                  <a:sysClr val="windowText" lastClr="000000"/>
                </a:solidFill>
              </a:rPr>
              <a:t>버프</a:t>
            </a:r>
            <a:r>
              <a:rPr lang="ko-KR" altLang="en-US" sz="1400" dirty="0" smtClean="0">
                <a:solidFill>
                  <a:sysClr val="windowText" lastClr="000000"/>
                </a:solidFill>
              </a:rPr>
              <a:t> 수치</a:t>
            </a:r>
            <a:r>
              <a:rPr lang="en-US" altLang="ko-KR" sz="1400" dirty="0" smtClean="0">
                <a:solidFill>
                  <a:sysClr val="windowText" lastClr="000000"/>
                </a:solidFill>
              </a:rPr>
              <a:t>, </a:t>
            </a:r>
            <a:r>
              <a:rPr lang="ko-KR" altLang="en-US" sz="1400" dirty="0" smtClean="0">
                <a:solidFill>
                  <a:sysClr val="windowText" lastClr="000000"/>
                </a:solidFill>
              </a:rPr>
              <a:t>속성</a:t>
            </a:r>
            <a:r>
              <a:rPr lang="en-US" altLang="ko-KR" sz="1400" dirty="0" smtClean="0">
                <a:solidFill>
                  <a:sysClr val="windowText" lastClr="000000"/>
                </a:solidFill>
              </a:rPr>
              <a:t>, </a:t>
            </a:r>
            <a:r>
              <a:rPr lang="ko-KR" altLang="en-US" sz="1400" dirty="0" err="1" smtClean="0">
                <a:solidFill>
                  <a:sysClr val="windowText" lastClr="000000"/>
                </a:solidFill>
              </a:rPr>
              <a:t>타겟범위</a:t>
            </a:r>
            <a:r>
              <a:rPr lang="ko-KR" altLang="en-US" sz="1400" dirty="0" smtClean="0">
                <a:solidFill>
                  <a:sysClr val="windowText" lastClr="000000"/>
                </a:solidFill>
              </a:rPr>
              <a:t> 등</a:t>
            </a:r>
            <a:r>
              <a:rPr lang="en-US" altLang="ko-KR" sz="1400" dirty="0" smtClean="0">
                <a:solidFill>
                  <a:sysClr val="windowText" lastClr="000000"/>
                </a:solidFill>
              </a:rPr>
              <a:t>)</a:t>
            </a:r>
            <a:r>
              <a:rPr lang="ko-KR" altLang="en-US" sz="1400" dirty="0" smtClean="0">
                <a:solidFill>
                  <a:sysClr val="windowText" lastClr="000000"/>
                </a:solidFill>
              </a:rPr>
              <a:t>과 사용에 필요한 </a:t>
            </a:r>
            <a:r>
              <a:rPr lang="en-US" altLang="ko-KR" sz="1400" dirty="0" smtClean="0">
                <a:solidFill>
                  <a:sysClr val="windowText" lastClr="000000"/>
                </a:solidFill>
              </a:rPr>
              <a:t>SP</a:t>
            </a:r>
            <a:r>
              <a:rPr lang="ko-KR" altLang="en-US" sz="1400" dirty="0" smtClean="0">
                <a:solidFill>
                  <a:sysClr val="windowText" lastClr="000000"/>
                </a:solidFill>
              </a:rPr>
              <a:t>에 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endParaRPr lang="en-US" altLang="ko-KR" sz="1400" dirty="0" smtClean="0">
              <a:solidFill>
                <a:sysClr val="windowText" lastClr="000000"/>
              </a:solidFill>
            </a:endParaRPr>
          </a:p>
          <a:p>
            <a:r>
              <a:rPr lang="ko-KR" altLang="en-US" sz="1400" dirty="0" smtClean="0">
                <a:solidFill>
                  <a:sysClr val="windowText" lastClr="000000"/>
                </a:solidFill>
              </a:rPr>
              <a:t>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8411343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71</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91944" y="534336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701646" y="2649227"/>
            <a:ext cx="3283220" cy="3482222"/>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아이템 사용을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가방을 살펴보아 원하는 아이템을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a:solidFill>
                  <a:sysClr val="windowText" lastClr="000000"/>
                </a:solidFill>
              </a:rPr>
              <a:t>최종적으로 사용 대상을 정한 뒤</a:t>
            </a:r>
            <a:r>
              <a:rPr lang="en-US" altLang="ko-KR" sz="1400" dirty="0">
                <a:solidFill>
                  <a:sysClr val="windowText" lastClr="000000"/>
                </a:solidFill>
              </a:rPr>
              <a:t> </a:t>
            </a:r>
            <a:r>
              <a:rPr lang="ko-KR" altLang="en-US" sz="1400" dirty="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3636113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72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083529" y="4621638"/>
            <a:ext cx="4936574" cy="1477328"/>
          </a:xfrm>
          <a:prstGeom prst="rect">
            <a:avLst/>
          </a:prstGeom>
          <a:noFill/>
        </p:spPr>
        <p:txBody>
          <a:bodyPr wrap="square" rtlCol="0">
            <a:spAutoFit/>
          </a:bodyPr>
          <a:lstStyle/>
          <a:p>
            <a:r>
              <a:rPr lang="en-US" altLang="ko-KR" dirty="0" smtClean="0"/>
              <a:t>•</a:t>
            </a:r>
            <a:r>
              <a:rPr lang="ko-KR" altLang="en-US" dirty="0" smtClean="0"/>
              <a:t> </a:t>
            </a:r>
            <a:r>
              <a:rPr lang="en-US" altLang="ko-KR" dirty="0" smtClean="0"/>
              <a:t>ITEM</a:t>
            </a:r>
            <a:r>
              <a:rPr lang="ko-KR" altLang="en-US" dirty="0" smtClean="0"/>
              <a:t>이름</a:t>
            </a:r>
            <a:r>
              <a:rPr lang="en-US" altLang="ko-KR" dirty="0" smtClean="0"/>
              <a:t>1x</a:t>
            </a:r>
            <a:r>
              <a:rPr lang="ko-KR" altLang="en-US" dirty="0" smtClean="0"/>
              <a:t>개수</a:t>
            </a:r>
            <a:r>
              <a:rPr lang="en-US" altLang="ko-KR" dirty="0" smtClean="0"/>
              <a:t>     • ITEM</a:t>
            </a:r>
            <a:r>
              <a:rPr lang="ko-KR" altLang="en-US" dirty="0" smtClean="0"/>
              <a:t>이름</a:t>
            </a:r>
            <a:r>
              <a:rPr lang="en-US" altLang="ko-KR" dirty="0" smtClean="0"/>
              <a:t>2x</a:t>
            </a:r>
            <a:r>
              <a:rPr lang="ko-KR" altLang="en-US" dirty="0" smtClean="0"/>
              <a:t>개수</a:t>
            </a:r>
            <a:endParaRPr lang="en-US" altLang="ko-KR" dirty="0" smtClean="0"/>
          </a:p>
          <a:p>
            <a:endParaRPr lang="en-US" altLang="ko-KR" spc="-300" dirty="0">
              <a:gradFill>
                <a:gsLst>
                  <a:gs pos="0">
                    <a:schemeClr val="tx1"/>
                  </a:gs>
                  <a:gs pos="100000">
                    <a:schemeClr val="tx1"/>
                  </a:gs>
                </a:gsLst>
                <a:lin ang="5400000" scaled="1"/>
              </a:gradFill>
              <a:ea typeface="돋움" panose="020B0600000101010101" pitchFamily="50" charset="-127"/>
            </a:endParaRPr>
          </a:p>
          <a:p>
            <a:r>
              <a:rPr lang="en-US" altLang="ko-KR" dirty="0"/>
              <a:t>•</a:t>
            </a:r>
            <a:r>
              <a:rPr lang="ko-KR" altLang="en-US" dirty="0"/>
              <a:t> </a:t>
            </a:r>
            <a:r>
              <a:rPr lang="en-US" altLang="ko-KR" dirty="0" smtClean="0"/>
              <a:t>ITEM</a:t>
            </a:r>
            <a:r>
              <a:rPr lang="ko-KR" altLang="en-US" dirty="0" smtClean="0"/>
              <a:t>이름</a:t>
            </a:r>
            <a:r>
              <a:rPr lang="en-US" altLang="ko-KR" dirty="0" smtClean="0"/>
              <a:t>3x</a:t>
            </a:r>
            <a:r>
              <a:rPr lang="ko-KR" altLang="en-US" dirty="0" smtClean="0"/>
              <a:t>개수</a:t>
            </a:r>
            <a:r>
              <a:rPr lang="en-US" altLang="ko-KR" dirty="0" smtClean="0"/>
              <a:t>     • ITEM</a:t>
            </a:r>
            <a:r>
              <a:rPr lang="ko-KR" altLang="en-US" dirty="0" smtClean="0"/>
              <a:t>이름</a:t>
            </a:r>
            <a:r>
              <a:rPr lang="en-US" altLang="ko-KR" dirty="0" smtClean="0"/>
              <a:t>4x</a:t>
            </a:r>
            <a:r>
              <a:rPr lang="ko-KR" altLang="en-US" dirty="0" smtClean="0"/>
              <a:t>개수</a:t>
            </a:r>
            <a:endParaRPr lang="en-US" altLang="ko-KR" dirty="0" smtClean="0"/>
          </a:p>
          <a:p>
            <a:endParaRPr lang="en-US" altLang="ko-KR" dirty="0" smtClean="0"/>
          </a:p>
          <a:p>
            <a:r>
              <a:rPr lang="en-US" altLang="ko-KR" dirty="0" smtClean="0"/>
              <a:t>•</a:t>
            </a:r>
            <a:r>
              <a:rPr lang="ko-KR" altLang="en-US" dirty="0" smtClean="0"/>
              <a:t> </a:t>
            </a:r>
            <a:r>
              <a:rPr lang="en-US" altLang="ko-KR" dirty="0" smtClean="0"/>
              <a:t>ITEM</a:t>
            </a:r>
            <a:r>
              <a:rPr lang="ko-KR" altLang="en-US" dirty="0" smtClean="0"/>
              <a:t>이름</a:t>
            </a:r>
            <a:r>
              <a:rPr lang="en-US" altLang="ko-KR" dirty="0" smtClean="0"/>
              <a:t>5x</a:t>
            </a:r>
            <a:r>
              <a:rPr lang="ko-KR" altLang="en-US" dirty="0" smtClean="0"/>
              <a:t>개수</a:t>
            </a:r>
            <a:r>
              <a:rPr lang="en-US" altLang="ko-KR" dirty="0" smtClean="0"/>
              <a:t>     </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10131774" y="5726803"/>
            <a:ext cx="771888" cy="400110"/>
          </a:xfrm>
          <a:prstGeom prst="rect">
            <a:avLst/>
          </a:prstGeom>
          <a:noFill/>
        </p:spPr>
        <p:txBody>
          <a:bodyPr wrap="square" rtlCol="0">
            <a:spAutoFit/>
          </a:bodyPr>
          <a:lstStyle/>
          <a:p>
            <a:pPr algn="ct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사각형 설명선 4"/>
          <p:cNvSpPr/>
          <p:nvPr/>
        </p:nvSpPr>
        <p:spPr>
          <a:xfrm>
            <a:off x="6681241" y="3771464"/>
            <a:ext cx="1958331"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아이</a:t>
            </a:r>
            <a:r>
              <a:rPr lang="ko-KR" altLang="en-US" dirty="0"/>
              <a:t>템</a:t>
            </a:r>
            <a:r>
              <a:rPr lang="ko-KR" altLang="en-US" dirty="0" smtClean="0"/>
              <a:t> 설명</a:t>
            </a:r>
            <a:endParaRPr lang="ko-KR" altLang="en-US" dirty="0"/>
          </a:p>
        </p:txBody>
      </p:sp>
      <p:sp>
        <p:nvSpPr>
          <p:cNvPr id="102" name="모서리가 둥근 사각형 설명선 101"/>
          <p:cNvSpPr/>
          <p:nvPr/>
        </p:nvSpPr>
        <p:spPr>
          <a:xfrm>
            <a:off x="2129977" y="1786745"/>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보유한 아이템의 정보를 페이지의 형식으로 표시하여</a:t>
            </a:r>
            <a:r>
              <a:rPr lang="en-US" altLang="ko-KR" sz="1400" dirty="0" smtClean="0">
                <a:solidFill>
                  <a:sysClr val="windowText" lastClr="000000"/>
                </a:solidFill>
              </a:rPr>
              <a:t>, </a:t>
            </a:r>
            <a:r>
              <a:rPr lang="ko-KR" altLang="en-US" sz="1400" dirty="0" smtClean="0">
                <a:solidFill>
                  <a:sysClr val="windowText" lastClr="000000"/>
                </a:solidFill>
              </a:rPr>
              <a:t>화살표를 클릭해 이전</a:t>
            </a:r>
            <a:r>
              <a:rPr lang="en-US" altLang="ko-KR" sz="1400" dirty="0" smtClean="0">
                <a:solidFill>
                  <a:sysClr val="windowText" lastClr="000000"/>
                </a:solidFill>
              </a:rPr>
              <a:t>, </a:t>
            </a:r>
            <a:r>
              <a:rPr lang="ko-KR" altLang="en-US" sz="1400" dirty="0" smtClean="0">
                <a:solidFill>
                  <a:sysClr val="windowText" lastClr="000000"/>
                </a:solidFill>
              </a:rPr>
              <a:t>다음 페이지로 넘어갈 수 있음</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아이템 이름에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아이템에 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r>
              <a:rPr lang="ko-KR" altLang="en-US" sz="1400" dirty="0" smtClean="0">
                <a:solidFill>
                  <a:sysClr val="windowText" lastClr="000000"/>
                </a:solidFill>
              </a:rPr>
              <a:t> 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8" name="그룹 7"/>
          <p:cNvGrpSpPr/>
          <p:nvPr/>
        </p:nvGrpSpPr>
        <p:grpSpPr>
          <a:xfrm>
            <a:off x="8427514" y="5567811"/>
            <a:ext cx="1404733" cy="646331"/>
            <a:chOff x="8346340" y="5543233"/>
            <a:chExt cx="1404733" cy="646331"/>
          </a:xfrm>
        </p:grpSpPr>
        <p:sp>
          <p:nvSpPr>
            <p:cNvPr id="71" name="오른쪽 화살표 70"/>
            <p:cNvSpPr/>
            <p:nvPr/>
          </p:nvSpPr>
          <p:spPr>
            <a:xfrm flipH="1">
              <a:off x="8346340"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TextBox 74"/>
            <p:cNvSpPr txBox="1"/>
            <p:nvPr/>
          </p:nvSpPr>
          <p:spPr>
            <a:xfrm>
              <a:off x="8711193" y="5543233"/>
              <a:ext cx="687619" cy="646331"/>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ea typeface="돋움" panose="020B0600000101010101" pitchFamily="50" charset="-127"/>
                </a:rPr>
                <a:t>P a g e</a:t>
              </a:r>
            </a:p>
            <a:p>
              <a:r>
                <a:rPr lang="en-US" altLang="ko-KR" spc="-300" dirty="0">
                  <a:gradFill>
                    <a:gsLst>
                      <a:gs pos="0">
                        <a:schemeClr val="tx1"/>
                      </a:gs>
                      <a:gs pos="100000">
                        <a:schemeClr val="tx1"/>
                      </a:gs>
                    </a:gsLst>
                    <a:lin ang="5400000" scaled="1"/>
                  </a:gradFill>
                  <a:ea typeface="돋움" panose="020B0600000101010101" pitchFamily="50" charset="-127"/>
                </a:rPr>
                <a:t> </a:t>
              </a:r>
              <a:r>
                <a:rPr lang="en-US" altLang="ko-KR" spc="-300" dirty="0" smtClean="0">
                  <a:gradFill>
                    <a:gsLst>
                      <a:gs pos="0">
                        <a:schemeClr val="tx1"/>
                      </a:gs>
                      <a:gs pos="100000">
                        <a:schemeClr val="tx1"/>
                      </a:gs>
                    </a:gsLst>
                    <a:lin ang="5400000" scaled="1"/>
                  </a:gradFill>
                  <a:ea typeface="돋움" panose="020B0600000101010101" pitchFamily="50" charset="-127"/>
                </a:rPr>
                <a:t> 1  /  2</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76" name="오른쪽 화살표 75"/>
            <p:cNvSpPr/>
            <p:nvPr/>
          </p:nvSpPr>
          <p:spPr>
            <a:xfrm>
              <a:off x="9418402"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7275353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73</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472674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532315" y="190490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10904997" y="229643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532316" y="331750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10889712" y="4045998"/>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532314" y="474826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819737" y="31953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2835146" y="49103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833814" y="34218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2838707" y="2060988"/>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74</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16757"/>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935139"/>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3005169" y="150556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3005169" y="29102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3005169" y="43812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1142366" y="29102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7022248" y="150838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7022248" y="2917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7022248" y="435451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9379647" y="1902690"/>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9379646" y="3652247"/>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7560226" y="537865"/>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곱셈 기호 3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577244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75</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
        <p:nvSpPr>
          <p:cNvPr id="18" name="TextBox 1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76</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
        <p:nvSpPr>
          <p:cNvPr id="15" name="TextBox 14"/>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곱셈 기호 1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77</a:t>
            </a:fld>
            <a:endParaRPr lang="ko-KR" altLang="en-US" sz="1800" dirty="0"/>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곱셈 기호 2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시스템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78</a:t>
            </a:fld>
            <a:endParaRPr lang="ko-KR" altLang="en-US" dirty="0">
              <a:solidFill>
                <a:prstClr val="black">
                  <a:tint val="75000"/>
                </a:prstClr>
              </a:solidFill>
            </a:endParaRPr>
          </a:p>
        </p:txBody>
      </p:sp>
    </p:spTree>
    <p:extLst>
      <p:ext uri="{BB962C8B-B14F-4D97-AF65-F5344CB8AC3E}">
        <p14:creationId xmlns:p14="http://schemas.microsoft.com/office/powerpoint/2010/main" val="248813968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타원 48"/>
          <p:cNvSpPr/>
          <p:nvPr/>
        </p:nvSpPr>
        <p:spPr>
          <a:xfrm rot="1265973" flipH="1">
            <a:off x="2890997" y="454698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파티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79</a:t>
            </a:fld>
            <a:endParaRPr lang="ko-KR" altLang="en-US" sz="1800" dirty="0"/>
          </a:p>
        </p:txBody>
      </p:sp>
      <p:sp>
        <p:nvSpPr>
          <p:cNvPr id="13" name="TextBox 12"/>
          <p:cNvSpPr txBox="1"/>
          <p:nvPr/>
        </p:nvSpPr>
        <p:spPr>
          <a:xfrm>
            <a:off x="4801017" y="1446636"/>
            <a:ext cx="6148229" cy="3416320"/>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플레이어는 게임 시작 시 캐릭터 </a:t>
            </a:r>
            <a:r>
              <a:rPr lang="ko-KR" altLang="en-US" sz="1200" dirty="0" err="1" smtClean="0"/>
              <a:t>혼자부터</a:t>
            </a:r>
            <a:r>
              <a:rPr lang="ko-KR" altLang="en-US" sz="1200" dirty="0" smtClean="0"/>
              <a:t> 출발하여</a:t>
            </a:r>
            <a:r>
              <a:rPr lang="en-US" altLang="ko-KR" sz="1200" dirty="0" smtClean="0"/>
              <a:t>, </a:t>
            </a:r>
            <a:r>
              <a:rPr lang="ko-KR" altLang="en-US" sz="1200" dirty="0" smtClean="0"/>
              <a:t>던전의 몬스터를 정화하고</a:t>
            </a:r>
            <a:endParaRPr lang="en-US" altLang="ko-KR" sz="1200" dirty="0" smtClean="0"/>
          </a:p>
          <a:p>
            <a:pPr>
              <a:lnSpc>
                <a:spcPct val="150000"/>
              </a:lnSpc>
            </a:pPr>
            <a:r>
              <a:rPr lang="ko-KR" altLang="en-US" sz="1200" dirty="0" smtClean="0"/>
              <a:t>  자신의 파티로 귀속시킨다</a:t>
            </a:r>
            <a:r>
              <a:rPr lang="en-US" altLang="ko-KR" sz="1200" dirty="0" smtClean="0"/>
              <a:t>. </a:t>
            </a:r>
            <a:r>
              <a:rPr lang="ko-KR" altLang="en-US" sz="1200" dirty="0" smtClean="0"/>
              <a:t>아군 몬스터는 용사와 함께 전투를 치른다</a:t>
            </a:r>
            <a:r>
              <a:rPr lang="en-US" altLang="ko-KR" sz="1200" dirty="0" smtClean="0"/>
              <a:t>.</a:t>
            </a:r>
          </a:p>
          <a:p>
            <a:pPr>
              <a:lnSpc>
                <a:spcPct val="150000"/>
              </a:lnSpc>
            </a:pPr>
            <a:endParaRPr lang="en-US" altLang="ko-KR" sz="1200" dirty="0" smtClean="0"/>
          </a:p>
          <a:p>
            <a:pPr>
              <a:lnSpc>
                <a:spcPct val="150000"/>
              </a:lnSpc>
            </a:pPr>
            <a:r>
              <a:rPr lang="en-US" altLang="ko-KR" sz="1200" dirty="0"/>
              <a:t>• </a:t>
            </a:r>
            <a:r>
              <a:rPr lang="ko-KR" altLang="en-US" sz="1200" dirty="0"/>
              <a:t>플레이어는 던전 지도 화면에서 파티 버튼을 </a:t>
            </a:r>
            <a:r>
              <a:rPr lang="ko-KR" altLang="en-US" sz="1200" dirty="0" smtClean="0"/>
              <a:t>클릭해</a:t>
            </a:r>
            <a:r>
              <a:rPr lang="en-US" altLang="ko-KR" sz="1200" dirty="0" smtClean="0"/>
              <a:t> </a:t>
            </a:r>
            <a:r>
              <a:rPr lang="ko-KR" altLang="en-US" sz="1200" dirty="0" err="1"/>
              <a:t>파티창을</a:t>
            </a:r>
            <a:r>
              <a:rPr lang="ko-KR" altLang="en-US" sz="1200" dirty="0"/>
              <a:t> 열어</a:t>
            </a:r>
            <a:r>
              <a:rPr lang="en-US" altLang="ko-KR" sz="1200" dirty="0"/>
              <a:t> </a:t>
            </a:r>
            <a:r>
              <a:rPr lang="ko-KR" altLang="en-US" sz="1200" dirty="0"/>
              <a:t>아군의 </a:t>
            </a:r>
            <a:r>
              <a:rPr lang="ko-KR" altLang="en-US" sz="1200" dirty="0" smtClean="0"/>
              <a:t>정보와</a:t>
            </a:r>
            <a:endParaRPr lang="en-US" altLang="ko-KR" sz="1200" dirty="0" smtClean="0"/>
          </a:p>
          <a:p>
            <a:pPr>
              <a:lnSpc>
                <a:spcPct val="150000"/>
              </a:lnSpc>
            </a:pPr>
            <a:r>
              <a:rPr lang="en-US" altLang="ko-KR" sz="1200" dirty="0"/>
              <a:t> </a:t>
            </a:r>
            <a:r>
              <a:rPr lang="ko-KR" altLang="en-US" sz="1200" dirty="0" smtClean="0"/>
              <a:t> </a:t>
            </a:r>
            <a:r>
              <a:rPr lang="ko-KR" altLang="en-US" sz="1200" dirty="0"/>
              <a:t>파티 구성과 살펴볼 </a:t>
            </a:r>
            <a:r>
              <a:rPr lang="ko-KR" altLang="en-US" sz="1200" dirty="0" smtClean="0"/>
              <a:t>수 있으며</a:t>
            </a:r>
            <a:r>
              <a:rPr lang="en-US" altLang="ko-KR" sz="1200" dirty="0" smtClean="0"/>
              <a:t> </a:t>
            </a:r>
            <a:r>
              <a:rPr lang="ko-KR" altLang="en-US" sz="1200" dirty="0"/>
              <a:t>아군 몬스터의 배치 순서를 변경할 수 있다</a:t>
            </a:r>
            <a:r>
              <a:rPr lang="en-US" altLang="ko-KR" sz="1200" dirty="0" smtClean="0"/>
              <a:t>.</a:t>
            </a:r>
            <a:endParaRPr lang="en-US" altLang="ko-KR" sz="1200" dirty="0"/>
          </a:p>
          <a:p>
            <a:pPr>
              <a:lnSpc>
                <a:spcPct val="150000"/>
              </a:lnSpc>
            </a:pPr>
            <a:endParaRPr lang="en-US" altLang="ko-KR" sz="1200" dirty="0"/>
          </a:p>
          <a:p>
            <a:pPr>
              <a:lnSpc>
                <a:spcPct val="150000"/>
              </a:lnSpc>
            </a:pPr>
            <a:r>
              <a:rPr lang="en-US" altLang="ko-KR" sz="1200" dirty="0" smtClean="0"/>
              <a:t>• </a:t>
            </a:r>
            <a:r>
              <a:rPr lang="ko-KR" altLang="en-US" sz="1200" dirty="0" smtClean="0"/>
              <a:t>몬스터는 최대 </a:t>
            </a:r>
            <a:r>
              <a:rPr lang="en-US" altLang="ko-KR" sz="1200" dirty="0" smtClean="0"/>
              <a:t>3</a:t>
            </a:r>
            <a:r>
              <a:rPr lang="ko-KR" altLang="en-US" sz="1200" dirty="0" smtClean="0"/>
              <a:t>마리까지 자신의 파티로서 데려갈 수</a:t>
            </a:r>
            <a:r>
              <a:rPr lang="en-US" altLang="ko-KR" sz="1200" dirty="0" smtClean="0"/>
              <a:t> </a:t>
            </a:r>
            <a:r>
              <a:rPr lang="ko-KR" altLang="en-US" sz="1200" dirty="0" smtClean="0"/>
              <a:t>있으며 정화를 통해 </a:t>
            </a:r>
            <a:r>
              <a:rPr lang="en-US" altLang="ko-KR" sz="1200" dirty="0" smtClean="0"/>
              <a:t>3</a:t>
            </a:r>
            <a:r>
              <a:rPr lang="ko-KR" altLang="en-US" sz="1200" dirty="0" smtClean="0"/>
              <a:t>마리를</a:t>
            </a:r>
            <a:endParaRPr lang="en-US" altLang="ko-KR" sz="1200" dirty="0" smtClean="0"/>
          </a:p>
          <a:p>
            <a:pPr>
              <a:lnSpc>
                <a:spcPct val="150000"/>
              </a:lnSpc>
            </a:pPr>
            <a:r>
              <a:rPr lang="en-US" altLang="ko-KR" sz="1200" dirty="0"/>
              <a:t> </a:t>
            </a:r>
            <a:r>
              <a:rPr lang="ko-KR" altLang="en-US" sz="1200" dirty="0" smtClean="0"/>
              <a:t> 초과하여 보유하게 될 경우 기존 몬스터 중 </a:t>
            </a:r>
            <a:r>
              <a:rPr lang="en-US" altLang="ko-KR" sz="1200" dirty="0" smtClean="0"/>
              <a:t>1</a:t>
            </a:r>
            <a:r>
              <a:rPr lang="ko-KR" altLang="en-US" sz="1200" dirty="0" smtClean="0"/>
              <a:t>체</a:t>
            </a:r>
            <a:r>
              <a:rPr lang="en-US" altLang="ko-KR" sz="1200" dirty="0" smtClean="0"/>
              <a:t> </a:t>
            </a:r>
            <a:r>
              <a:rPr lang="ko-KR" altLang="en-US" sz="1200" dirty="0" smtClean="0"/>
              <a:t>혹은 새로 얻은 몬스터를 버려야한다</a:t>
            </a:r>
            <a:r>
              <a:rPr lang="en-US" altLang="ko-KR" sz="1200" dirty="0" smtClean="0"/>
              <a:t>.</a:t>
            </a:r>
          </a:p>
          <a:p>
            <a:pPr>
              <a:lnSpc>
                <a:spcPct val="150000"/>
              </a:lnSpc>
            </a:pPr>
            <a:endParaRPr lang="en-US" altLang="ko-KR" sz="1200" dirty="0"/>
          </a:p>
          <a:p>
            <a:pPr>
              <a:lnSpc>
                <a:spcPct val="150000"/>
              </a:lnSpc>
            </a:pPr>
            <a:r>
              <a:rPr lang="en-US" altLang="ko-KR" sz="1200" dirty="0" smtClean="0"/>
              <a:t>• </a:t>
            </a:r>
            <a:r>
              <a:rPr lang="ko-KR" altLang="en-US" sz="1200" dirty="0" smtClean="0"/>
              <a:t>전투 중 아군 몬스터가 사망할 경우</a:t>
            </a:r>
            <a:r>
              <a:rPr lang="en-US" altLang="ko-KR" sz="1200" dirty="0" smtClean="0"/>
              <a:t>, </a:t>
            </a:r>
            <a:r>
              <a:rPr lang="ko-KR" altLang="en-US" sz="1200" dirty="0" smtClean="0"/>
              <a:t>더 이상 해당 몬스터를 사용할 수 없다</a:t>
            </a:r>
            <a:r>
              <a:rPr lang="en-US" altLang="ko-KR" sz="1200" dirty="0" smtClean="0"/>
              <a:t>.</a:t>
            </a:r>
          </a:p>
          <a:p>
            <a:pPr>
              <a:lnSpc>
                <a:spcPct val="150000"/>
              </a:lnSpc>
            </a:pPr>
            <a:endParaRPr lang="en-US" altLang="ko-KR" sz="1200" dirty="0"/>
          </a:p>
          <a:p>
            <a:pPr>
              <a:lnSpc>
                <a:spcPct val="150000"/>
              </a:lnSpc>
            </a:pPr>
            <a:r>
              <a:rPr lang="en-US" altLang="ko-KR" sz="1200" dirty="0"/>
              <a:t>• </a:t>
            </a:r>
            <a:r>
              <a:rPr lang="ko-KR" altLang="en-US" sz="1200" dirty="0" smtClean="0"/>
              <a:t>전투가 종료된 후</a:t>
            </a:r>
            <a:r>
              <a:rPr lang="en-US" altLang="ko-KR" sz="1200" dirty="0" smtClean="0"/>
              <a:t>, </a:t>
            </a:r>
            <a:r>
              <a:rPr lang="ko-KR" altLang="en-US" sz="1200" dirty="0" smtClean="0"/>
              <a:t>살아남은 모든 아군 캐릭터는 </a:t>
            </a:r>
            <a:r>
              <a:rPr lang="en-US" altLang="ko-KR" sz="1200" dirty="0" smtClean="0"/>
              <a:t>HP</a:t>
            </a:r>
            <a:r>
              <a:rPr lang="ko-KR" altLang="en-US" sz="1200" dirty="0" smtClean="0"/>
              <a:t>와 </a:t>
            </a:r>
            <a:r>
              <a:rPr lang="en-US" altLang="ko-KR" sz="1200" dirty="0" smtClean="0"/>
              <a:t>SP</a:t>
            </a:r>
            <a:r>
              <a:rPr lang="ko-KR" altLang="en-US" sz="1200" dirty="0" smtClean="0"/>
              <a:t>를 완전히 회복한다</a:t>
            </a:r>
            <a:r>
              <a:rPr lang="en-US" altLang="ko-KR" sz="1200" dirty="0" smtClean="0"/>
              <a:t>.</a:t>
            </a:r>
          </a:p>
        </p:txBody>
      </p:sp>
      <p:sp>
        <p:nvSpPr>
          <p:cNvPr id="15" name="TextBox 14"/>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1372147" y="328358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2881488" y="345176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2885154" y="244165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009900" y="202940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009900" y="307204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009900" y="416386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1613924" y="307204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7" name="직사각형 36"/>
          <p:cNvSpPr/>
          <p:nvPr/>
        </p:nvSpPr>
        <p:spPr>
          <a:xfrm>
            <a:off x="3170694" y="19454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1759484" y="29011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3148637" y="298460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3148637" y="408213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1759484" y="295173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5482987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정화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80</a:t>
            </a:fld>
            <a:endParaRPr lang="ko-KR" altLang="en-US" sz="1800" dirty="0"/>
          </a:p>
        </p:txBody>
      </p:sp>
      <p:sp>
        <p:nvSpPr>
          <p:cNvPr id="22" name="이등변 삼각형 21"/>
          <p:cNvSpPr/>
          <p:nvPr/>
        </p:nvSpPr>
        <p:spPr>
          <a:xfrm rot="2940484">
            <a:off x="3173134" y="133187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이등변 삼각형 34"/>
          <p:cNvSpPr/>
          <p:nvPr/>
        </p:nvSpPr>
        <p:spPr>
          <a:xfrm>
            <a:off x="2027720" y="104144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3" name="직사각형 42"/>
          <p:cNvSpPr/>
          <p:nvPr/>
        </p:nvSpPr>
        <p:spPr>
          <a:xfrm>
            <a:off x="2422605" y="935250"/>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TextBox 46"/>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8" name="TextBox 47"/>
          <p:cNvSpPr txBox="1"/>
          <p:nvPr/>
        </p:nvSpPr>
        <p:spPr>
          <a:xfrm>
            <a:off x="4800191" y="1449699"/>
            <a:ext cx="6769100" cy="3139321"/>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보스를 제외한 던전의 모든 </a:t>
            </a:r>
            <a:r>
              <a:rPr lang="ko-KR" altLang="en-US" sz="1200" dirty="0" err="1" smtClean="0"/>
              <a:t>몬스터들은</a:t>
            </a:r>
            <a:r>
              <a:rPr lang="ko-KR" altLang="en-US" sz="1200" dirty="0" smtClean="0"/>
              <a:t> 마왕의 저주를 받은 상태다</a:t>
            </a:r>
            <a:r>
              <a:rPr lang="en-US" altLang="ko-KR" sz="1200" dirty="0" smtClean="0"/>
              <a:t>.</a:t>
            </a:r>
          </a:p>
          <a:p>
            <a:pPr>
              <a:lnSpc>
                <a:spcPct val="150000"/>
              </a:lnSpc>
            </a:pPr>
            <a:endParaRPr lang="en-US" altLang="ko-KR" sz="1200" dirty="0" smtClean="0"/>
          </a:p>
          <a:p>
            <a:pPr>
              <a:lnSpc>
                <a:spcPct val="150000"/>
              </a:lnSpc>
            </a:pPr>
            <a:r>
              <a:rPr lang="en-US" altLang="ko-KR" sz="1200" dirty="0" smtClean="0"/>
              <a:t>• </a:t>
            </a:r>
            <a:r>
              <a:rPr lang="ko-KR" altLang="en-US" sz="1200" dirty="0" smtClean="0"/>
              <a:t>플레이어는 저주에 걸린 </a:t>
            </a:r>
            <a:r>
              <a:rPr lang="ko-KR" altLang="en-US" sz="1200" dirty="0" err="1" smtClean="0"/>
              <a:t>몬스터들을</a:t>
            </a:r>
            <a:r>
              <a:rPr lang="ko-KR" altLang="en-US" sz="1200" dirty="0" smtClean="0"/>
              <a:t> 쓰러트려</a:t>
            </a:r>
            <a:r>
              <a:rPr lang="en-US" altLang="ko-KR" sz="1200" dirty="0" smtClean="0"/>
              <a:t> </a:t>
            </a:r>
            <a:r>
              <a:rPr lang="ko-KR" altLang="en-US" sz="1200" dirty="0" smtClean="0"/>
              <a:t>진정시킨 후</a:t>
            </a:r>
            <a:r>
              <a:rPr lang="en-US" altLang="ko-KR" sz="1200" dirty="0" smtClean="0"/>
              <a:t>, </a:t>
            </a:r>
            <a:r>
              <a:rPr lang="ko-KR" altLang="en-US" sz="1200" dirty="0" smtClean="0"/>
              <a:t>전투가 종료된 뒤 저주를 정화한다</a:t>
            </a:r>
            <a:r>
              <a:rPr lang="en-US" altLang="ko-KR" sz="1200" dirty="0" smtClean="0"/>
              <a:t>.</a:t>
            </a:r>
          </a:p>
          <a:p>
            <a:pPr>
              <a:lnSpc>
                <a:spcPct val="150000"/>
              </a:lnSpc>
            </a:pPr>
            <a:endParaRPr lang="en-US" altLang="ko-KR" sz="1200" dirty="0" smtClean="0"/>
          </a:p>
          <a:p>
            <a:pPr>
              <a:lnSpc>
                <a:spcPct val="150000"/>
              </a:lnSpc>
            </a:pPr>
            <a:r>
              <a:rPr lang="en-US" altLang="ko-KR" sz="1200" dirty="0"/>
              <a:t>• </a:t>
            </a:r>
            <a:r>
              <a:rPr lang="ko-KR" altLang="en-US" sz="1200" dirty="0" smtClean="0"/>
              <a:t>정화 의식을 통해 특별한 비용 없이 전투 이벤트에서 등장한 적 몬스터 전부가 정화된다</a:t>
            </a:r>
            <a:r>
              <a:rPr lang="en-US" altLang="ko-KR" sz="1200" dirty="0" smtClean="0"/>
              <a:t>.</a:t>
            </a:r>
            <a:br>
              <a:rPr lang="en-US" altLang="ko-KR" sz="1200" dirty="0" smtClean="0"/>
            </a:br>
            <a:r>
              <a:rPr lang="en-US" altLang="ko-KR" sz="1200" dirty="0" smtClean="0"/>
              <a:t/>
            </a:r>
            <a:br>
              <a:rPr lang="en-US" altLang="ko-KR" sz="1200" dirty="0" smtClean="0"/>
            </a:br>
            <a:r>
              <a:rPr lang="en-US" altLang="ko-KR" sz="1200" dirty="0"/>
              <a:t>• </a:t>
            </a:r>
            <a:r>
              <a:rPr lang="ko-KR" altLang="en-US" sz="1200" dirty="0" smtClean="0"/>
              <a:t>플레이어는 전투에서 정화된</a:t>
            </a:r>
            <a:r>
              <a:rPr lang="en-US" altLang="ko-KR" sz="1200" dirty="0" smtClean="0"/>
              <a:t> </a:t>
            </a:r>
            <a:r>
              <a:rPr lang="ko-KR" altLang="en-US" sz="1200" dirty="0" smtClean="0"/>
              <a:t>몬스터 중 </a:t>
            </a:r>
            <a:r>
              <a:rPr lang="en-US" altLang="ko-KR" sz="1200" dirty="0" smtClean="0"/>
              <a:t>1</a:t>
            </a:r>
            <a:r>
              <a:rPr lang="ko-KR" altLang="en-US" sz="1200" dirty="0" smtClean="0"/>
              <a:t>체를 선택하여 자신의 파티에 편입할 수 있다</a:t>
            </a:r>
            <a:r>
              <a:rPr lang="en-US" altLang="ko-KR" sz="1200" dirty="0" smtClean="0"/>
              <a:t>.</a:t>
            </a:r>
            <a:br>
              <a:rPr lang="en-US" altLang="ko-KR" sz="1200" dirty="0" smtClean="0"/>
            </a:br>
            <a:r>
              <a:rPr lang="en-US" altLang="ko-KR" sz="1200" dirty="0" smtClean="0"/>
              <a:t>  </a:t>
            </a:r>
            <a:r>
              <a:rPr lang="ko-KR" altLang="en-US" sz="1200" dirty="0" smtClean="0"/>
              <a:t>파티에 들어간 몬스터는 유저와 동행하며 마왕을 무찌르기 위해 던전 탐험과 전투를 함께한다</a:t>
            </a:r>
            <a:r>
              <a:rPr lang="en-US" altLang="ko-KR" sz="1200" dirty="0" smtClean="0"/>
              <a:t>.</a:t>
            </a:r>
            <a:br>
              <a:rPr lang="en-US" altLang="ko-KR" sz="1200" dirty="0" smtClean="0"/>
            </a:br>
            <a:r>
              <a:rPr lang="en-US" altLang="ko-KR" sz="1200" dirty="0"/>
              <a:t/>
            </a:r>
            <a:br>
              <a:rPr lang="en-US" altLang="ko-KR" sz="1200" dirty="0"/>
            </a:br>
            <a:r>
              <a:rPr lang="en-US" altLang="ko-KR" sz="1200" dirty="0" smtClean="0"/>
              <a:t>• </a:t>
            </a:r>
            <a:r>
              <a:rPr lang="ko-KR" altLang="en-US" sz="1200" dirty="0" smtClean="0"/>
              <a:t>깊은 계층일수록 등장 몬스터의 </a:t>
            </a:r>
            <a:r>
              <a:rPr lang="ko-KR" altLang="en-US" sz="1200" dirty="0" err="1" smtClean="0"/>
              <a:t>능력치가</a:t>
            </a:r>
            <a:r>
              <a:rPr lang="ko-KR" altLang="en-US" sz="1200" dirty="0" smtClean="0"/>
              <a:t> 강해지고</a:t>
            </a:r>
            <a:r>
              <a:rPr lang="en-US" altLang="ko-KR" sz="1200" dirty="0" smtClean="0"/>
              <a:t>, </a:t>
            </a:r>
            <a:r>
              <a:rPr lang="ko-KR" altLang="en-US" sz="1200" dirty="0" smtClean="0"/>
              <a:t>강화된 몬스터를 정화했을 경우에는</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강해진 </a:t>
            </a:r>
            <a:r>
              <a:rPr lang="ko-KR" altLang="en-US" sz="1200" dirty="0" err="1" smtClean="0"/>
              <a:t>능력치를</a:t>
            </a:r>
            <a:r>
              <a:rPr lang="ko-KR" altLang="en-US" sz="1200" dirty="0" smtClean="0"/>
              <a:t> 그대로 유지한 채 아군의 편이 된다</a:t>
            </a:r>
            <a:r>
              <a:rPr lang="en-US" altLang="ko-KR" sz="1200" dirty="0" smtClean="0"/>
              <a:t>.</a:t>
            </a:r>
          </a:p>
        </p:txBody>
      </p:sp>
      <p:sp>
        <p:nvSpPr>
          <p:cNvPr id="2" name="구름 1"/>
          <p:cNvSpPr/>
          <p:nvPr/>
        </p:nvSpPr>
        <p:spPr>
          <a:xfrm>
            <a:off x="2200868" y="1129450"/>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p:cNvSpPr txBox="1"/>
          <p:nvPr/>
        </p:nvSpPr>
        <p:spPr>
          <a:xfrm>
            <a:off x="1842650" y="1877536"/>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저주에  걸린  몬스터</a:t>
            </a:r>
            <a:endParaRPr lang="ko-KR" altLang="en-US" sz="1200" spc="-300" dirty="0">
              <a:gradFill>
                <a:gsLst>
                  <a:gs pos="0">
                    <a:schemeClr val="tx1"/>
                  </a:gs>
                  <a:gs pos="100000">
                    <a:schemeClr val="tx1"/>
                  </a:gs>
                </a:gsLst>
                <a:lin ang="5400000" scaled="1"/>
              </a:gradFill>
              <a:latin typeface="+mn-ea"/>
            </a:endParaRPr>
          </a:p>
        </p:txBody>
      </p:sp>
      <p:sp>
        <p:nvSpPr>
          <p:cNvPr id="50" name="이등변 삼각형 49"/>
          <p:cNvSpPr/>
          <p:nvPr/>
        </p:nvSpPr>
        <p:spPr>
          <a:xfrm rot="2940484">
            <a:off x="3173134" y="537428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이등변 삼각형 50"/>
          <p:cNvSpPr/>
          <p:nvPr/>
        </p:nvSpPr>
        <p:spPr>
          <a:xfrm>
            <a:off x="2027720" y="508385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4" name="TextBox 53"/>
          <p:cNvSpPr txBox="1"/>
          <p:nvPr/>
        </p:nvSpPr>
        <p:spPr>
          <a:xfrm>
            <a:off x="1832566" y="5896930"/>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정화된 몬스터</a:t>
            </a:r>
            <a:endParaRPr lang="ko-KR" altLang="en-US" sz="1200" spc="-300" dirty="0">
              <a:gradFill>
                <a:gsLst>
                  <a:gs pos="0">
                    <a:schemeClr val="tx1"/>
                  </a:gs>
                  <a:gs pos="100000">
                    <a:schemeClr val="tx1"/>
                  </a:gs>
                </a:gsLst>
                <a:lin ang="5400000" scaled="1"/>
              </a:gradFill>
              <a:latin typeface="+mn-ea"/>
            </a:endParaRPr>
          </a:p>
        </p:txBody>
      </p:sp>
      <p:sp>
        <p:nvSpPr>
          <p:cNvPr id="3" name="아래쪽 화살표 2"/>
          <p:cNvSpPr/>
          <p:nvPr/>
        </p:nvSpPr>
        <p:spPr>
          <a:xfrm>
            <a:off x="2570007" y="2189336"/>
            <a:ext cx="325945" cy="536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이등변 삼각형 17"/>
          <p:cNvSpPr/>
          <p:nvPr/>
        </p:nvSpPr>
        <p:spPr>
          <a:xfrm rot="2940484">
            <a:off x="3173134" y="3284167"/>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이등변 삼각형 18"/>
          <p:cNvSpPr/>
          <p:nvPr/>
        </p:nvSpPr>
        <p:spPr>
          <a:xfrm>
            <a:off x="2027720" y="2993735"/>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구름 22"/>
          <p:cNvSpPr/>
          <p:nvPr/>
        </p:nvSpPr>
        <p:spPr>
          <a:xfrm>
            <a:off x="2200868" y="3081739"/>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p:cNvSpPr txBox="1"/>
          <p:nvPr/>
        </p:nvSpPr>
        <p:spPr>
          <a:xfrm>
            <a:off x="1832567" y="3829838"/>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쓰러진  몬스터</a:t>
            </a:r>
            <a:endParaRPr lang="ko-KR" altLang="en-US" sz="1200" spc="-300" dirty="0">
              <a:gradFill>
                <a:gsLst>
                  <a:gs pos="0">
                    <a:schemeClr val="tx1"/>
                  </a:gs>
                  <a:gs pos="100000">
                    <a:schemeClr val="tx1"/>
                  </a:gs>
                </a:gsLst>
                <a:lin ang="5400000" scaled="1"/>
              </a:gradFill>
              <a:latin typeface="+mn-ea"/>
            </a:endParaRPr>
          </a:p>
        </p:txBody>
      </p:sp>
      <p:sp>
        <p:nvSpPr>
          <p:cNvPr id="25" name="직사각형 24"/>
          <p:cNvSpPr/>
          <p:nvPr/>
        </p:nvSpPr>
        <p:spPr>
          <a:xfrm>
            <a:off x="2422603" y="2887539"/>
            <a:ext cx="600588" cy="4975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p:cNvSpPr txBox="1"/>
          <p:nvPr/>
        </p:nvSpPr>
        <p:spPr>
          <a:xfrm>
            <a:off x="2742488" y="2273613"/>
            <a:ext cx="441285"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전투</a:t>
            </a:r>
            <a:endParaRPr lang="ko-KR" altLang="en-US" sz="1200" spc="-300" dirty="0">
              <a:gradFill>
                <a:gsLst>
                  <a:gs pos="0">
                    <a:schemeClr val="tx1"/>
                  </a:gs>
                  <a:gs pos="100000">
                    <a:schemeClr val="tx1"/>
                  </a:gs>
                </a:gsLst>
                <a:lin ang="5400000" scaled="1"/>
              </a:gradFill>
              <a:latin typeface="+mn-ea"/>
            </a:endParaRPr>
          </a:p>
        </p:txBody>
      </p:sp>
      <p:sp>
        <p:nvSpPr>
          <p:cNvPr id="27" name="아래쪽 화살표 26"/>
          <p:cNvSpPr/>
          <p:nvPr/>
        </p:nvSpPr>
        <p:spPr>
          <a:xfrm>
            <a:off x="2570007" y="4251595"/>
            <a:ext cx="325945" cy="536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p:cNvSpPr txBox="1"/>
          <p:nvPr/>
        </p:nvSpPr>
        <p:spPr>
          <a:xfrm>
            <a:off x="2742488" y="4335872"/>
            <a:ext cx="675590"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정화 의식</a:t>
            </a:r>
            <a:endParaRPr lang="ko-KR" altLang="en-US" sz="1200" spc="-300" dirty="0">
              <a:gradFill>
                <a:gsLst>
                  <a:gs pos="0">
                    <a:schemeClr val="tx1"/>
                  </a:gs>
                  <a:gs pos="100000">
                    <a:schemeClr val="tx1"/>
                  </a:gs>
                </a:gsLst>
                <a:lin ang="5400000" scaled="1"/>
              </a:gradFill>
              <a:latin typeface="+mn-ea"/>
            </a:endParaRPr>
          </a:p>
        </p:txBody>
      </p:sp>
      <p:sp>
        <p:nvSpPr>
          <p:cNvPr id="36" name="직사각형 35"/>
          <p:cNvSpPr/>
          <p:nvPr/>
        </p:nvSpPr>
        <p:spPr>
          <a:xfrm>
            <a:off x="2422602" y="4974669"/>
            <a:ext cx="600588" cy="4975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598722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81</a:t>
            </a:fld>
            <a:endParaRPr lang="ko-KR" altLang="en-US" sz="1800" dirty="0"/>
          </a:p>
        </p:txBody>
      </p:sp>
      <p:sp>
        <p:nvSpPr>
          <p:cNvPr id="13" name="TextBox 12"/>
          <p:cNvSpPr txBox="1"/>
          <p:nvPr/>
        </p:nvSpPr>
        <p:spPr>
          <a:xfrm>
            <a:off x="2464852" y="4007329"/>
            <a:ext cx="8374944" cy="1708160"/>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턴은 크게 아군의 턴과 적군의 턴으로 구분할 수 있다</a:t>
            </a:r>
            <a:r>
              <a:rPr lang="en-US" altLang="ko-KR" sz="1400" dirty="0"/>
              <a:t>. </a:t>
            </a:r>
            <a:br>
              <a:rPr lang="en-US" altLang="ko-KR" sz="1400" dirty="0"/>
            </a:br>
            <a:r>
              <a:rPr lang="en-US" altLang="ko-KR" sz="1400" dirty="0"/>
              <a:t>• </a:t>
            </a:r>
            <a:r>
              <a:rPr lang="ko-KR" altLang="en-US" sz="1400" dirty="0" smtClean="0"/>
              <a:t>아군의 </a:t>
            </a:r>
            <a:r>
              <a:rPr lang="ko-KR" altLang="en-US" sz="1400" dirty="0"/>
              <a:t>선공으로 시작하여 파티 구성원 전체가 </a:t>
            </a:r>
            <a:r>
              <a:rPr lang="ko-KR" altLang="en-US" sz="1400" dirty="0" smtClean="0"/>
              <a:t>동시에 </a:t>
            </a:r>
            <a:r>
              <a:rPr lang="ko-KR" altLang="en-US" sz="1400" dirty="0"/>
              <a:t>전투에 임하게 된다</a:t>
            </a:r>
            <a:r>
              <a:rPr lang="en-US" altLang="ko-KR" sz="1400" dirty="0" smtClean="0"/>
              <a:t>.</a:t>
            </a:r>
          </a:p>
          <a:p>
            <a:pPr>
              <a:lnSpc>
                <a:spcPct val="150000"/>
              </a:lnSpc>
            </a:pPr>
            <a:r>
              <a:rPr lang="en-US" altLang="ko-KR" sz="1400" dirty="0" smtClean="0"/>
              <a:t>• </a:t>
            </a:r>
            <a:r>
              <a:rPr lang="ko-KR" altLang="en-US" sz="1400" dirty="0" smtClean="0"/>
              <a:t>아군의 턴 동안</a:t>
            </a:r>
            <a:r>
              <a:rPr lang="en-US" altLang="ko-KR" sz="1400" dirty="0"/>
              <a:t> </a:t>
            </a:r>
            <a:r>
              <a:rPr lang="ko-KR" altLang="en-US" sz="1400" dirty="0" smtClean="0"/>
              <a:t>아군만 행동할 수 있으며</a:t>
            </a:r>
            <a:r>
              <a:rPr lang="en-US" altLang="ko-KR" sz="1400" dirty="0" smtClean="0"/>
              <a:t>, </a:t>
            </a:r>
            <a:r>
              <a:rPr lang="ko-KR" altLang="en-US" sz="1400" dirty="0" smtClean="0"/>
              <a:t>아군 캐릭터 각자의 차례 때 하나씩 행동을 선택</a:t>
            </a:r>
            <a:r>
              <a:rPr lang="en-US" altLang="ko-KR" sz="1400" dirty="0" smtClean="0"/>
              <a:t>, </a:t>
            </a:r>
            <a:r>
              <a:rPr lang="ko-KR" altLang="en-US" sz="1400" dirty="0" smtClean="0"/>
              <a:t>수행한다</a:t>
            </a:r>
            <a:r>
              <a:rPr lang="en-US" altLang="ko-KR" sz="1400" dirty="0" smtClean="0"/>
              <a:t>. </a:t>
            </a:r>
          </a:p>
          <a:p>
            <a:pPr>
              <a:lnSpc>
                <a:spcPct val="150000"/>
              </a:lnSpc>
            </a:pPr>
            <a:r>
              <a:rPr lang="en-US" altLang="ko-KR" sz="1400" dirty="0"/>
              <a:t> </a:t>
            </a:r>
            <a:r>
              <a:rPr lang="en-US" altLang="ko-KR" sz="1400" dirty="0" smtClean="0"/>
              <a:t> </a:t>
            </a:r>
            <a:r>
              <a:rPr lang="ko-KR" altLang="en-US" sz="1400" dirty="0" smtClean="0"/>
              <a:t>적군의 턴 역시 마찬가지로 진행된다</a:t>
            </a:r>
            <a:r>
              <a:rPr lang="en-US" altLang="ko-KR" sz="1400" dirty="0" smtClean="0"/>
              <a:t>.</a:t>
            </a:r>
            <a:br>
              <a:rPr lang="en-US" altLang="ko-KR" sz="1400" dirty="0" smtClean="0"/>
            </a:br>
            <a:r>
              <a:rPr lang="en-US" altLang="ko-KR" sz="1400" dirty="0" smtClean="0"/>
              <a:t>• </a:t>
            </a:r>
            <a:r>
              <a:rPr lang="ko-KR" altLang="en-US" sz="1400" dirty="0" smtClean="0"/>
              <a:t>모든 아군이 행동을 마치면 적군의 턴이 진행되고</a:t>
            </a:r>
            <a:r>
              <a:rPr lang="en-US" altLang="ko-KR" sz="1400" dirty="0" smtClean="0"/>
              <a:t>, </a:t>
            </a:r>
            <a:r>
              <a:rPr lang="ko-KR" altLang="en-US" sz="1400" dirty="0" smtClean="0"/>
              <a:t>그 후 아군과 적군의 턴이 번갈아 진행된다</a:t>
            </a:r>
            <a:r>
              <a:rPr lang="en-US" altLang="ko-KR" sz="1400"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3" name="그룹 2"/>
          <p:cNvGrpSpPr/>
          <p:nvPr/>
        </p:nvGrpSpPr>
        <p:grpSpPr>
          <a:xfrm>
            <a:off x="1593118" y="1131783"/>
            <a:ext cx="9595581" cy="2716318"/>
            <a:chOff x="1466118" y="1102444"/>
            <a:chExt cx="9647693" cy="3691575"/>
          </a:xfrm>
        </p:grpSpPr>
        <p:sp>
          <p:nvSpPr>
            <p:cNvPr id="50" name="타원 49"/>
            <p:cNvSpPr/>
            <p:nvPr/>
          </p:nvSpPr>
          <p:spPr>
            <a:xfrm rot="1265973" flipH="1">
              <a:off x="3770640" y="409115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도넛 1"/>
            <p:cNvSpPr/>
            <p:nvPr/>
          </p:nvSpPr>
          <p:spPr>
            <a:xfrm>
              <a:off x="1979045" y="1169744"/>
              <a:ext cx="4027130" cy="3624275"/>
            </a:xfrm>
            <a:prstGeom prst="donut">
              <a:avLst>
                <a:gd name="adj" fmla="val 15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1" name="TextBox 50"/>
            <p:cNvSpPr txBox="1"/>
            <p:nvPr/>
          </p:nvSpPr>
          <p:spPr>
            <a:xfrm>
              <a:off x="1466118" y="1169744"/>
              <a:ext cx="1595010" cy="400110"/>
            </a:xfrm>
            <a:prstGeom prst="rect">
              <a:avLst/>
            </a:prstGeom>
            <a:noFill/>
          </p:spPr>
          <p:txBody>
            <a:bodyPr wrap="square" rtlCol="0">
              <a:spAutoFit/>
            </a:bodyPr>
            <a:lstStyle/>
            <a:p>
              <a:pPr algn="ctr"/>
              <a:r>
                <a:rPr lang="ko-KR" altLang="en-US" sz="2000" spc="-300" dirty="0" smtClean="0">
                  <a:solidFill>
                    <a:srgbClr val="00B050"/>
                  </a:solidFill>
                  <a:latin typeface="맑은 고딕" panose="020B0503020000020004" pitchFamily="50" charset="-127"/>
                  <a:ea typeface="맑은 고딕" panose="020B0503020000020004" pitchFamily="50" charset="-127"/>
                </a:rPr>
                <a:t>아군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2" name="도넛 51"/>
            <p:cNvSpPr/>
            <p:nvPr/>
          </p:nvSpPr>
          <p:spPr>
            <a:xfrm>
              <a:off x="6234744" y="1102444"/>
              <a:ext cx="4254541" cy="3691575"/>
            </a:xfrm>
            <a:prstGeom prst="donut">
              <a:avLst>
                <a:gd name="adj" fmla="val 151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3" name="TextBox 52"/>
            <p:cNvSpPr txBox="1"/>
            <p:nvPr/>
          </p:nvSpPr>
          <p:spPr>
            <a:xfrm>
              <a:off x="9518801" y="1169744"/>
              <a:ext cx="1595010" cy="400110"/>
            </a:xfrm>
            <a:prstGeom prst="rect">
              <a:avLst/>
            </a:prstGeom>
            <a:noFill/>
          </p:spPr>
          <p:txBody>
            <a:bodyPr wrap="square" rtlCol="0">
              <a:spAutoFit/>
            </a:bodyPr>
            <a:lstStyle/>
            <a:p>
              <a:pPr algn="ctr"/>
              <a:r>
                <a:rPr lang="ko-KR" altLang="en-US" sz="2000" spc="-300" dirty="0">
                  <a:solidFill>
                    <a:srgbClr val="7030A0"/>
                  </a:solidFill>
                  <a:latin typeface="맑은 고딕" panose="020B0503020000020004" pitchFamily="50" charset="-127"/>
                  <a:ea typeface="맑은 고딕" panose="020B0503020000020004" pitchFamily="50" charset="-127"/>
                </a:rPr>
                <a:t>적</a:t>
              </a:r>
              <a:r>
                <a:rPr lang="ko-KR" altLang="en-US" sz="2000" spc="-300" dirty="0" smtClean="0">
                  <a:solidFill>
                    <a:srgbClr val="7030A0"/>
                  </a:solidFill>
                  <a:latin typeface="맑은 고딕" panose="020B0503020000020004" pitchFamily="50" charset="-127"/>
                  <a:ea typeface="맑은 고딕" panose="020B0503020000020004" pitchFamily="50" charset="-127"/>
                </a:rPr>
                <a:t>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354371083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타원 53"/>
          <p:cNvSpPr/>
          <p:nvPr/>
        </p:nvSpPr>
        <p:spPr>
          <a:xfrm rot="1265973" flipH="1">
            <a:off x="3767419" y="4091979"/>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82</a:t>
            </a:fld>
            <a:endParaRPr lang="ko-KR" altLang="en-US" sz="1800" dirty="0"/>
          </a:p>
        </p:txBody>
      </p:sp>
      <p:sp>
        <p:nvSpPr>
          <p:cNvPr id="13" name="TextBox 12"/>
          <p:cNvSpPr txBox="1"/>
          <p:nvPr/>
        </p:nvSpPr>
        <p:spPr>
          <a:xfrm>
            <a:off x="2930030" y="4689388"/>
            <a:ext cx="7386276" cy="1061829"/>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플레이어는 아직 행동을 수행하지 않은</a:t>
            </a:r>
            <a:r>
              <a:rPr lang="en-US" altLang="ko-KR" sz="1400" dirty="0" smtClean="0"/>
              <a:t> </a:t>
            </a:r>
            <a:r>
              <a:rPr lang="ko-KR" altLang="en-US" sz="1400" dirty="0" smtClean="0"/>
              <a:t>아군 중 하나를 선택하여 행동을 명령한다</a:t>
            </a:r>
            <a:r>
              <a:rPr lang="en-US" altLang="ko-KR" sz="1400" dirty="0" smtClean="0"/>
              <a:t>. </a:t>
            </a:r>
          </a:p>
          <a:p>
            <a:pPr>
              <a:lnSpc>
                <a:spcPct val="150000"/>
              </a:lnSpc>
            </a:pPr>
            <a:r>
              <a:rPr lang="en-US" altLang="ko-KR" sz="1400" dirty="0"/>
              <a:t> </a:t>
            </a:r>
            <a:r>
              <a:rPr lang="en-US" altLang="ko-KR" sz="1400" dirty="0" smtClean="0"/>
              <a:t> </a:t>
            </a:r>
            <a:r>
              <a:rPr lang="ko-KR" altLang="en-US" sz="1400" dirty="0" smtClean="0"/>
              <a:t>그 후 모든 아군이 저마다 한 개의 행동을 수행할 때까지 반복한다</a:t>
            </a:r>
            <a:r>
              <a:rPr lang="en-US" altLang="ko-KR" sz="1400" dirty="0" smtClean="0"/>
              <a:t>.</a:t>
            </a:r>
            <a:br>
              <a:rPr lang="en-US" altLang="ko-KR" sz="1400" dirty="0" smtClean="0"/>
            </a:br>
            <a:r>
              <a:rPr lang="en-US" altLang="ko-KR" sz="1400" dirty="0" smtClean="0"/>
              <a:t>• </a:t>
            </a:r>
            <a:r>
              <a:rPr lang="ko-KR" altLang="en-US" sz="1400" dirty="0" smtClean="0"/>
              <a:t>모든 아군 캐릭터가 각자의 행동을 마치면</a:t>
            </a:r>
            <a:r>
              <a:rPr lang="en-US" altLang="ko-KR" sz="1400" dirty="0" smtClean="0"/>
              <a:t>, </a:t>
            </a:r>
            <a:r>
              <a:rPr lang="ko-KR" altLang="en-US" sz="1400" dirty="0" smtClean="0"/>
              <a:t>적군의 턴으로 넘어간다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1255206">
            <a:off x="4607352" y="2300292"/>
            <a:ext cx="2769312"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0746983">
            <a:off x="3301550" y="2326010"/>
            <a:ext cx="3748625"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297992">
            <a:off x="4653426" y="3381130"/>
            <a:ext cx="2701911"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20371291">
            <a:off x="4602517" y="3419494"/>
            <a:ext cx="2689543"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057677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1" idx="2"/>
          </p:cNvCxnSpPr>
          <p:nvPr/>
        </p:nvCxnSpPr>
        <p:spPr>
          <a:xfrm rot="5400000" flipH="1">
            <a:off x="3888143" y="2986132"/>
            <a:ext cx="336666" cy="2058524"/>
          </a:xfrm>
          <a:prstGeom prst="bentConnector3">
            <a:avLst>
              <a:gd name="adj1" fmla="val -162208"/>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944814" y="4180295"/>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855010" y="316348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3404261" y="4747483"/>
            <a:ext cx="114089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명령 불가능</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86517" y="3254184"/>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턴 시작</a:t>
            </a:r>
            <a:endParaRPr lang="en-US" altLang="ko-KR" sz="1400" dirty="0" smtClean="0">
              <a:solidFill>
                <a:schemeClr val="tx1"/>
              </a:solidFill>
            </a:endParaRPr>
          </a:p>
        </p:txBody>
      </p:sp>
      <p:cxnSp>
        <p:nvCxnSpPr>
          <p:cNvPr id="159" name="직선 화살표 연결선 158"/>
          <p:cNvCxnSpPr/>
          <p:nvPr/>
        </p:nvCxnSpPr>
        <p:spPr>
          <a:xfrm>
            <a:off x="1932595"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83</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2254679" y="3249135"/>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캐릭터</a:t>
            </a:r>
            <a:endParaRPr lang="en-US" altLang="ko-KR" sz="1400" dirty="0" smtClean="0">
              <a:solidFill>
                <a:schemeClr val="tx1"/>
              </a:solidFill>
            </a:endParaRPr>
          </a:p>
          <a:p>
            <a:pPr algn="ctr"/>
            <a:r>
              <a:rPr lang="ko-KR" altLang="en-US" sz="1400" dirty="0" smtClean="0">
                <a:solidFill>
                  <a:schemeClr val="tx1"/>
                </a:solidFill>
              </a:rPr>
              <a:t>선택</a:t>
            </a:r>
            <a:endParaRPr lang="en-US" altLang="ko-KR" sz="1400" dirty="0" smtClean="0">
              <a:solidFill>
                <a:schemeClr val="tx1"/>
              </a:solidFill>
            </a:endParaRPr>
          </a:p>
        </p:txBody>
      </p:sp>
      <p:grpSp>
        <p:nvGrpSpPr>
          <p:cNvPr id="7" name="그룹 6"/>
          <p:cNvGrpSpPr/>
          <p:nvPr/>
        </p:nvGrpSpPr>
        <p:grpSpPr>
          <a:xfrm>
            <a:off x="3960184" y="2911341"/>
            <a:ext cx="2281727" cy="1272386"/>
            <a:chOff x="4711507" y="2867828"/>
            <a:chExt cx="2281727" cy="1272386"/>
          </a:xfrm>
        </p:grpSpPr>
        <p:sp>
          <p:nvSpPr>
            <p:cNvPr id="82" name="다이아몬드 81"/>
            <p:cNvSpPr/>
            <p:nvPr/>
          </p:nvSpPr>
          <p:spPr>
            <a:xfrm>
              <a:off x="4894329" y="2867828"/>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4711507" y="3214037"/>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마쳤는가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43" name="직선 화살표 연결선 42"/>
          <p:cNvCxnSpPr/>
          <p:nvPr/>
        </p:nvCxnSpPr>
        <p:spPr>
          <a:xfrm>
            <a:off x="3810707"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4" name="직선 화살표 연결선 43"/>
          <p:cNvCxnSpPr/>
          <p:nvPr/>
        </p:nvCxnSpPr>
        <p:spPr>
          <a:xfrm>
            <a:off x="6034589" y="3560234"/>
            <a:ext cx="414563" cy="1001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6446697" y="3244271"/>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grpSp>
        <p:nvGrpSpPr>
          <p:cNvPr id="15" name="그룹 14"/>
          <p:cNvGrpSpPr/>
          <p:nvPr/>
        </p:nvGrpSpPr>
        <p:grpSpPr>
          <a:xfrm>
            <a:off x="8126905" y="2936741"/>
            <a:ext cx="2281727" cy="1272386"/>
            <a:chOff x="8253905" y="2936741"/>
            <a:chExt cx="2281727" cy="1272386"/>
          </a:xfrm>
        </p:grpSpPr>
        <p:sp>
          <p:nvSpPr>
            <p:cNvPr id="50" name="다이아몬드 49"/>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8253905" y="3271161"/>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모 든  캐릭터 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 쳤 는 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52" name="직선 화살표 연결선 51"/>
          <p:cNvCxnSpPr/>
          <p:nvPr/>
        </p:nvCxnSpPr>
        <p:spPr>
          <a:xfrm>
            <a:off x="7997031" y="357279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순서도: 문서 18"/>
          <p:cNvSpPr/>
          <p:nvPr/>
        </p:nvSpPr>
        <p:spPr>
          <a:xfrm>
            <a:off x="10605416" y="3181745"/>
            <a:ext cx="1320800" cy="807778"/>
          </a:xfrm>
          <a:prstGeom prst="flowChart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t>아군 턴 종료</a:t>
            </a:r>
            <a:endParaRPr lang="ko-KR" altLang="en-US" sz="1400" dirty="0"/>
          </a:p>
        </p:txBody>
      </p:sp>
      <p:cxnSp>
        <p:nvCxnSpPr>
          <p:cNvPr id="69" name="꺾인 연결선 68"/>
          <p:cNvCxnSpPr>
            <a:stCxn id="50" idx="0"/>
            <a:endCxn id="41" idx="0"/>
          </p:cNvCxnSpPr>
          <p:nvPr/>
        </p:nvCxnSpPr>
        <p:spPr>
          <a:xfrm rot="16200000" flipH="1" flipV="1">
            <a:off x="5991294" y="-27339"/>
            <a:ext cx="312394" cy="6240554"/>
          </a:xfrm>
          <a:prstGeom prst="bentConnector3">
            <a:avLst>
              <a:gd name="adj1" fmla="val -182943"/>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 턴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3" name="직선 화살표 연결선 82"/>
          <p:cNvCxnSpPr>
            <a:endCxn id="19" idx="1"/>
          </p:cNvCxnSpPr>
          <p:nvPr/>
        </p:nvCxnSpPr>
        <p:spPr>
          <a:xfrm>
            <a:off x="10205274" y="3585634"/>
            <a:ext cx="40014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10015768" y="323324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8" name="TextBox 87"/>
          <p:cNvSpPr txBox="1"/>
          <p:nvPr/>
        </p:nvSpPr>
        <p:spPr>
          <a:xfrm>
            <a:off x="9248775" y="2514560"/>
            <a:ext cx="568325"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9" name="TextBox 88"/>
          <p:cNvSpPr txBox="1"/>
          <p:nvPr/>
        </p:nvSpPr>
        <p:spPr>
          <a:xfrm>
            <a:off x="5496181" y="2030714"/>
            <a:ext cx="1491378" cy="338554"/>
          </a:xfrm>
          <a:prstGeom prst="rect">
            <a:avLst/>
          </a:prstGeom>
          <a:noFill/>
        </p:spPr>
        <p:txBody>
          <a:bodyPr wrap="square" rtlCol="0">
            <a:spAutoFit/>
          </a:bodyPr>
          <a:lstStyle/>
          <a:p>
            <a:pPr algn="ctr"/>
            <a:r>
              <a:rPr lang="ko-KR" altLang="en-US" sz="1600"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다른 개체 선택</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2400558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타원 47"/>
          <p:cNvSpPr/>
          <p:nvPr/>
        </p:nvSpPr>
        <p:spPr>
          <a:xfrm rot="1265973" flipH="1">
            <a:off x="3757787" y="410427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a:gradFill>
                  <a:gsLst>
                    <a:gs pos="0">
                      <a:schemeClr val="tx1"/>
                    </a:gs>
                    <a:gs pos="100000">
                      <a:schemeClr val="tx1"/>
                    </a:gs>
                  </a:gsLst>
                  <a:lin ang="5400000" scaled="1"/>
                </a:gradFill>
                <a:latin typeface="맑은 고딕" panose="020B0503020000020004" pitchFamily="50" charset="-127"/>
              </a:rPr>
              <a:t>적</a:t>
            </a:r>
            <a:r>
              <a:rPr lang="ko-KR" altLang="en-US" sz="3200" b="1" dirty="0" smtClean="0">
                <a:gradFill>
                  <a:gsLst>
                    <a:gs pos="0">
                      <a:schemeClr val="tx1"/>
                    </a:gs>
                    <a:gs pos="100000">
                      <a:schemeClr val="tx1"/>
                    </a:gs>
                  </a:gsLst>
                  <a:lin ang="5400000" scaled="1"/>
                </a:gradFill>
                <a:latin typeface="맑은 고딕" panose="020B0503020000020004" pitchFamily="50" charset="-127"/>
              </a:rPr>
              <a:t>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84</a:t>
            </a:fld>
            <a:endParaRPr lang="ko-KR" altLang="en-US" sz="1800" dirty="0"/>
          </a:p>
        </p:txBody>
      </p:sp>
      <p:sp>
        <p:nvSpPr>
          <p:cNvPr id="13" name="TextBox 12"/>
          <p:cNvSpPr txBox="1"/>
          <p:nvPr/>
        </p:nvSpPr>
        <p:spPr>
          <a:xfrm>
            <a:off x="2930030" y="4689388"/>
            <a:ext cx="7386276" cy="1343381"/>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공격</a:t>
            </a:r>
            <a:r>
              <a:rPr lang="en-US" altLang="ko-KR" sz="1400" dirty="0" smtClean="0"/>
              <a:t>, </a:t>
            </a:r>
            <a:r>
              <a:rPr lang="ko-KR" altLang="en-US" sz="1400" dirty="0" smtClean="0"/>
              <a:t>특수 중 하나의 행동을 취한다</a:t>
            </a:r>
            <a:r>
              <a:rPr lang="en-US" altLang="ko-KR" sz="1400" dirty="0" smtClean="0"/>
              <a:t>.</a:t>
            </a:r>
            <a:br>
              <a:rPr lang="en-US" altLang="ko-KR" sz="1400" dirty="0" smtClean="0"/>
            </a:br>
            <a:r>
              <a:rPr lang="en-US" altLang="ko-KR" sz="1400" dirty="0" smtClean="0"/>
              <a:t>• </a:t>
            </a:r>
            <a:r>
              <a:rPr lang="ko-KR" altLang="en-US" sz="1400" dirty="0" smtClean="0"/>
              <a:t>위치에 따라 위에서 아래로</a:t>
            </a:r>
            <a:r>
              <a:rPr lang="en-US" altLang="ko-KR" sz="1400" dirty="0" smtClean="0"/>
              <a:t>, </a:t>
            </a:r>
            <a:r>
              <a:rPr lang="ko-KR" altLang="en-US" sz="1400" dirty="0" smtClean="0"/>
              <a:t>왼쪽에서 오른쪽으로 차례를 수행한다</a:t>
            </a:r>
            <a:r>
              <a:rPr lang="en-US" altLang="ko-KR" sz="1400" dirty="0" smtClean="0"/>
              <a:t>.</a:t>
            </a:r>
          </a:p>
          <a:p>
            <a:pPr>
              <a:lnSpc>
                <a:spcPct val="150000"/>
              </a:lnSpc>
            </a:pPr>
            <a:r>
              <a:rPr lang="en-US" altLang="ko-KR" sz="1400" dirty="0"/>
              <a:t>• </a:t>
            </a:r>
            <a:r>
              <a:rPr lang="ko-KR" altLang="en-US" sz="1400" dirty="0" smtClean="0"/>
              <a:t>적은 우선 순위에 따라 인공지능으로 행동한다</a:t>
            </a:r>
            <a:r>
              <a:rPr lang="en-US" altLang="ko-KR" sz="1400" dirty="0" smtClean="0"/>
              <a:t>.</a:t>
            </a:r>
            <a:br>
              <a:rPr lang="en-US" altLang="ko-KR" sz="1400" dirty="0" smtClean="0"/>
            </a:br>
            <a:r>
              <a:rPr lang="en-US" altLang="ko-KR" sz="1400" dirty="0" smtClean="0"/>
              <a:t>• </a:t>
            </a:r>
            <a:r>
              <a:rPr lang="ko-KR" altLang="en-US" sz="1400" dirty="0" smtClean="0"/>
              <a:t>모든 적군 개체가 각자의 행동을 마치면</a:t>
            </a:r>
            <a:r>
              <a:rPr lang="en-US" altLang="ko-KR" sz="1400" dirty="0" smtClean="0"/>
              <a:t>, </a:t>
            </a:r>
            <a:r>
              <a:rPr lang="ko-KR" altLang="en-US" sz="1400" dirty="0" smtClean="0"/>
              <a:t>아군의 턴이 돌아온다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20858472" flipH="1">
            <a:off x="3234368" y="2367194"/>
            <a:ext cx="3954968"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32648" flipH="1">
            <a:off x="4656310" y="1741759"/>
            <a:ext cx="4470219"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20302008" flipH="1">
            <a:off x="4653426" y="3381130"/>
            <a:ext cx="2701911"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1228709" flipH="1">
            <a:off x="4600994" y="3451724"/>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531830" flipH="1">
            <a:off x="4637113" y="3108850"/>
            <a:ext cx="4285383"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0" name="타원 49"/>
          <p:cNvSpPr/>
          <p:nvPr/>
        </p:nvSpPr>
        <p:spPr>
          <a:xfrm>
            <a:off x="7945775" y="1440905"/>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54" name="타원 53"/>
          <p:cNvSpPr/>
          <p:nvPr/>
        </p:nvSpPr>
        <p:spPr>
          <a:xfrm>
            <a:off x="9703961" y="1791650"/>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55" name="타원 54"/>
          <p:cNvSpPr/>
          <p:nvPr/>
        </p:nvSpPr>
        <p:spPr>
          <a:xfrm>
            <a:off x="7890910" y="254158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56" name="타원 55"/>
          <p:cNvSpPr/>
          <p:nvPr/>
        </p:nvSpPr>
        <p:spPr>
          <a:xfrm>
            <a:off x="9652639" y="311410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4</a:t>
            </a:r>
            <a:endParaRPr lang="ko-KR" altLang="en-US" dirty="0"/>
          </a:p>
        </p:txBody>
      </p:sp>
      <p:sp>
        <p:nvSpPr>
          <p:cNvPr id="57" name="타원 56"/>
          <p:cNvSpPr/>
          <p:nvPr/>
        </p:nvSpPr>
        <p:spPr>
          <a:xfrm>
            <a:off x="7862169" y="36470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5</a:t>
            </a:r>
            <a:endParaRPr lang="ko-KR" altLang="en-US" dirty="0"/>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p:cNvSpPr txBox="1"/>
          <p:nvPr/>
        </p:nvSpPr>
        <p:spPr>
          <a:xfrm>
            <a:off x="8144135" y="1176564"/>
            <a:ext cx="89032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차례 순서</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067250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이등변 삼각형 15"/>
          <p:cNvSpPr/>
          <p:nvPr/>
        </p:nvSpPr>
        <p:spPr>
          <a:xfrm rot="19319858">
            <a:off x="2249693" y="2829209"/>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p:cNvSpPr/>
          <p:nvPr/>
        </p:nvSpPr>
        <p:spPr>
          <a:xfrm>
            <a:off x="2491470" y="2617667"/>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 name="오른쪽 화살표 2"/>
          <p:cNvSpPr/>
          <p:nvPr/>
        </p:nvSpPr>
        <p:spPr>
          <a:xfrm rot="20858472" flipH="1">
            <a:off x="3201522" y="2376565"/>
            <a:ext cx="4091815"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p:cNvSpPr/>
          <p:nvPr/>
        </p:nvSpPr>
        <p:spPr>
          <a:xfrm rot="1265973" flipH="1">
            <a:off x="3759034" y="410259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설정</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85</a:t>
            </a:fld>
            <a:endParaRPr lang="ko-KR" altLang="en-US" sz="1800" dirty="0"/>
          </a:p>
        </p:txBody>
      </p:sp>
      <p:sp>
        <p:nvSpPr>
          <p:cNvPr id="13" name="TextBox 12"/>
          <p:cNvSpPr txBox="1"/>
          <p:nvPr/>
        </p:nvSpPr>
        <p:spPr>
          <a:xfrm>
            <a:off x="2502346" y="4713126"/>
            <a:ext cx="7647494" cy="1061829"/>
          </a:xfrm>
          <a:prstGeom prst="rect">
            <a:avLst/>
          </a:prstGeom>
          <a:noFill/>
        </p:spPr>
        <p:txBody>
          <a:bodyPr wrap="square" rtlCol="0">
            <a:spAutoFit/>
          </a:bodyPr>
          <a:lstStyle/>
          <a:p>
            <a:pPr>
              <a:lnSpc>
                <a:spcPct val="150000"/>
              </a:lnSpc>
            </a:pPr>
            <a:r>
              <a:rPr lang="en-US" altLang="ko-KR" sz="1400" dirty="0"/>
              <a:t>• </a:t>
            </a:r>
            <a:r>
              <a:rPr lang="ko-KR" altLang="en-US" sz="1400" dirty="0" smtClean="0"/>
              <a:t>적이 공격을 실행할 때</a:t>
            </a:r>
            <a:r>
              <a:rPr lang="en-US" altLang="ko-KR" sz="1400" dirty="0" smtClean="0"/>
              <a:t>, </a:t>
            </a:r>
            <a:r>
              <a:rPr lang="ko-KR" altLang="en-US" sz="1400" dirty="0" smtClean="0"/>
              <a:t>아군 캐릭터의 상태와 정보 등을 토대로 항목마다 점수를 매긴 후</a:t>
            </a:r>
            <a:r>
              <a:rPr lang="en-US" altLang="ko-KR" sz="1400" dirty="0" smtClean="0"/>
              <a:t>, </a:t>
            </a:r>
          </a:p>
          <a:p>
            <a:pPr>
              <a:lnSpc>
                <a:spcPct val="150000"/>
              </a:lnSpc>
            </a:pPr>
            <a:r>
              <a:rPr lang="en-US" altLang="ko-KR" sz="1400" dirty="0"/>
              <a:t> </a:t>
            </a:r>
            <a:r>
              <a:rPr lang="en-US" altLang="ko-KR" sz="1400" dirty="0" smtClean="0"/>
              <a:t> </a:t>
            </a:r>
            <a:r>
              <a:rPr lang="ko-KR" altLang="en-US" sz="1400" dirty="0" smtClean="0"/>
              <a:t>가장 높은 점수가 나온 아군 캐릭터를 우선하여 공격하게 된다</a:t>
            </a:r>
            <a:r>
              <a:rPr lang="en-US" altLang="ko-KR" sz="1400" dirty="0" smtClean="0"/>
              <a:t>.</a:t>
            </a:r>
            <a:br>
              <a:rPr lang="en-US" altLang="ko-KR" sz="1400" dirty="0" smtClean="0"/>
            </a:br>
            <a:r>
              <a:rPr lang="en-US" altLang="ko-KR" sz="1400" dirty="0" smtClean="0"/>
              <a:t>• </a:t>
            </a:r>
            <a:r>
              <a:rPr lang="ko-KR" altLang="en-US" sz="1400" dirty="0" smtClean="0"/>
              <a:t>동점일 경우</a:t>
            </a:r>
            <a:r>
              <a:rPr lang="en-US" altLang="ko-KR" sz="1400" dirty="0" smtClean="0"/>
              <a:t>, </a:t>
            </a:r>
            <a:r>
              <a:rPr lang="ko-KR" altLang="en-US" sz="1400" dirty="0" err="1" smtClean="0"/>
              <a:t>동점자</a:t>
            </a:r>
            <a:r>
              <a:rPr lang="ko-KR" altLang="en-US" sz="1400" dirty="0" smtClean="0"/>
              <a:t> 중 무작위로 한 캐릭터를 공격하게 된다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이등변 삼각형 19"/>
          <p:cNvSpPr/>
          <p:nvPr/>
        </p:nvSpPr>
        <p:spPr>
          <a:xfrm rot="2940484">
            <a:off x="8008154" y="18675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6232" y="2158125"/>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8155" y="291600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4777" y="345671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8154" y="39779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9034" y="2997392"/>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2700" y="1987279"/>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7446" y="1575024"/>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7446" y="370949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4" name="이등변 삼각형 33"/>
          <p:cNvSpPr/>
          <p:nvPr/>
        </p:nvSpPr>
        <p:spPr>
          <a:xfrm>
            <a:off x="6874194" y="36875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40818" y="1867693"/>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40818" y="316627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8240" y="149104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7030" y="244682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6183" y="253023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6183" y="362775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61178" y="35715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5703" y="304562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5703" y="174487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9079" y="145509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61178" y="250131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7030" y="2497360"/>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3887446" y="2617667"/>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215038" flipH="1">
            <a:off x="4666999" y="1870679"/>
            <a:ext cx="2512442"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4194" y="262099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3" name="오른쪽 화살표 52"/>
          <p:cNvSpPr/>
          <p:nvPr/>
        </p:nvSpPr>
        <p:spPr>
          <a:xfrm rot="20565422" flipH="1">
            <a:off x="4560850" y="2359223"/>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9569313" flipH="1">
            <a:off x="4306460" y="2877991"/>
            <a:ext cx="3220010"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4194" y="157502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TextBox 48"/>
          <p:cNvSpPr txBox="1"/>
          <p:nvPr/>
        </p:nvSpPr>
        <p:spPr>
          <a:xfrm>
            <a:off x="5441296" y="1853165"/>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45</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0" name="TextBox 49"/>
          <p:cNvSpPr txBox="1"/>
          <p:nvPr/>
        </p:nvSpPr>
        <p:spPr>
          <a:xfrm>
            <a:off x="5454519" y="3006961"/>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37</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479224" y="2422248"/>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68</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5" name="TextBox 54"/>
          <p:cNvSpPr txBox="1"/>
          <p:nvPr/>
        </p:nvSpPr>
        <p:spPr>
          <a:xfrm>
            <a:off x="4781471" y="2409302"/>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6" name="도넛 55"/>
          <p:cNvSpPr/>
          <p:nvPr/>
        </p:nvSpPr>
        <p:spPr>
          <a:xfrm>
            <a:off x="5393063" y="2299897"/>
            <a:ext cx="674307" cy="666067"/>
          </a:xfrm>
          <a:prstGeom prst="donut">
            <a:avLst>
              <a:gd name="adj" fmla="val 72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15634400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항목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86</a:t>
            </a:fld>
            <a:endParaRPr lang="ko-KR" altLang="en-US" sz="1800" dirty="0"/>
          </a:p>
        </p:txBody>
      </p:sp>
      <p:sp>
        <p:nvSpPr>
          <p:cNvPr id="13" name="TextBox 12"/>
          <p:cNvSpPr txBox="1"/>
          <p:nvPr/>
        </p:nvSpPr>
        <p:spPr>
          <a:xfrm>
            <a:off x="1420464" y="1529195"/>
            <a:ext cx="4082561" cy="3323987"/>
          </a:xfrm>
          <a:prstGeom prst="rect">
            <a:avLst/>
          </a:prstGeom>
          <a:noFill/>
        </p:spPr>
        <p:txBody>
          <a:bodyPr wrap="square" rtlCol="0">
            <a:spAutoFit/>
          </a:bodyPr>
          <a:lstStyle/>
          <a:p>
            <a:pPr marL="342900" indent="-342900">
              <a:lnSpc>
                <a:spcPct val="150000"/>
              </a:lnSpc>
              <a:buAutoNum type="arabicParenR"/>
            </a:pPr>
            <a:r>
              <a:rPr lang="ko-KR" altLang="en-US" sz="1400" dirty="0" smtClean="0"/>
              <a:t>상대방에게 유리한 상성일 때 </a:t>
            </a:r>
            <a:r>
              <a:rPr lang="en-US" altLang="ko-KR" sz="1400" dirty="0"/>
              <a:t>:</a:t>
            </a:r>
            <a:r>
              <a:rPr lang="en-US" altLang="ko-KR" sz="1400" dirty="0" smtClean="0"/>
              <a:t> +30</a:t>
            </a:r>
          </a:p>
          <a:p>
            <a:pPr marL="342900" indent="-342900">
              <a:lnSpc>
                <a:spcPct val="150000"/>
              </a:lnSpc>
              <a:buAutoNum type="arabicParenR"/>
            </a:pPr>
            <a:r>
              <a:rPr lang="ko-KR" altLang="en-US" sz="1400" dirty="0" smtClean="0"/>
              <a:t>상대방과 상성 관계가 없을 때 </a:t>
            </a:r>
            <a:r>
              <a:rPr lang="en-US" altLang="ko-KR" sz="1400" dirty="0"/>
              <a:t>: </a:t>
            </a:r>
            <a:r>
              <a:rPr lang="en-US" altLang="ko-KR" sz="1400" dirty="0" smtClean="0"/>
              <a:t>+10</a:t>
            </a:r>
          </a:p>
          <a:p>
            <a:pPr marL="342900" indent="-342900">
              <a:lnSpc>
                <a:spcPct val="150000"/>
              </a:lnSpc>
              <a:buAutoNum type="arabicParenR"/>
            </a:pPr>
            <a:r>
              <a:rPr lang="ko-KR" altLang="en-US" sz="1400" dirty="0" smtClean="0"/>
              <a:t>상대방 체력이 </a:t>
            </a:r>
            <a:r>
              <a:rPr lang="en-US" altLang="ko-KR" sz="1400" dirty="0" smtClean="0"/>
              <a:t>50% </a:t>
            </a:r>
            <a:r>
              <a:rPr lang="ko-KR" altLang="en-US" sz="1400" dirty="0" smtClean="0"/>
              <a:t>미만일 때 </a:t>
            </a:r>
            <a:r>
              <a:rPr lang="en-US" altLang="ko-KR" sz="1400" dirty="0"/>
              <a:t>: </a:t>
            </a:r>
            <a:r>
              <a:rPr lang="en-US" altLang="ko-KR" sz="1400" dirty="0" smtClean="0"/>
              <a:t>+15</a:t>
            </a:r>
          </a:p>
          <a:p>
            <a:pPr marL="342900" indent="-342900">
              <a:lnSpc>
                <a:spcPct val="150000"/>
              </a:lnSpc>
              <a:buAutoNum type="arabicParenR"/>
            </a:pPr>
            <a:r>
              <a:rPr lang="ko-KR" altLang="en-US" sz="1400" dirty="0" smtClean="0"/>
              <a:t>최근에 자신에게 피해를 입혔을 때 </a:t>
            </a:r>
            <a:r>
              <a:rPr lang="en-US" altLang="ko-KR" sz="1400" dirty="0" smtClean="0"/>
              <a:t>:</a:t>
            </a:r>
            <a:r>
              <a:rPr lang="en-US" altLang="ko-KR" sz="1400" dirty="0"/>
              <a:t> </a:t>
            </a:r>
            <a:r>
              <a:rPr lang="en-US" altLang="ko-KR" sz="1400" dirty="0" smtClean="0"/>
              <a:t>+10</a:t>
            </a:r>
          </a:p>
          <a:p>
            <a:pPr marL="342900" indent="-342900">
              <a:lnSpc>
                <a:spcPct val="150000"/>
              </a:lnSpc>
              <a:buAutoNum type="arabicParenR"/>
            </a:pPr>
            <a:r>
              <a:rPr lang="ko-KR" altLang="en-US" sz="1400" dirty="0" err="1" smtClean="0"/>
              <a:t>디버프를</a:t>
            </a:r>
            <a:r>
              <a:rPr lang="ko-KR" altLang="en-US" sz="1400" dirty="0" smtClean="0"/>
              <a:t> 보유하고 있을 때</a:t>
            </a:r>
            <a:r>
              <a:rPr lang="en-US" altLang="ko-KR" sz="1400" dirty="0" smtClean="0"/>
              <a:t>, 1</a:t>
            </a:r>
            <a:r>
              <a:rPr lang="ko-KR" altLang="en-US" sz="1400" dirty="0" smtClean="0"/>
              <a:t>개당 </a:t>
            </a:r>
            <a:r>
              <a:rPr lang="en-US" altLang="ko-KR" sz="1400" dirty="0"/>
              <a:t>: </a:t>
            </a:r>
            <a:r>
              <a:rPr lang="en-US" altLang="ko-KR" sz="1400" dirty="0" smtClean="0"/>
              <a:t>+5</a:t>
            </a:r>
          </a:p>
          <a:p>
            <a:pPr marL="342900" indent="-342900">
              <a:lnSpc>
                <a:spcPct val="150000"/>
              </a:lnSpc>
              <a:buAutoNum type="arabicParenR"/>
            </a:pPr>
            <a:r>
              <a:rPr lang="ko-KR" altLang="en-US" sz="1400" dirty="0" smtClean="0"/>
              <a:t>타입이 </a:t>
            </a:r>
            <a:r>
              <a:rPr lang="ko-KR" altLang="en-US" sz="1400" dirty="0" err="1" smtClean="0"/>
              <a:t>체력형일</a:t>
            </a:r>
            <a:r>
              <a:rPr lang="ko-KR" altLang="en-US" sz="1400" dirty="0" smtClean="0"/>
              <a:t> 때 </a:t>
            </a:r>
            <a:r>
              <a:rPr lang="en-US" altLang="ko-KR" sz="1400" dirty="0" smtClean="0"/>
              <a:t>: +10</a:t>
            </a:r>
          </a:p>
          <a:p>
            <a:pPr marL="342900" indent="-342900">
              <a:lnSpc>
                <a:spcPct val="150000"/>
              </a:lnSpc>
              <a:buAutoNum type="arabicParenR"/>
            </a:pPr>
            <a:r>
              <a:rPr lang="ko-KR" altLang="en-US" sz="1400" dirty="0" smtClean="0"/>
              <a:t>타입이 보조형일 때 </a:t>
            </a:r>
            <a:r>
              <a:rPr lang="en-US" altLang="ko-KR" sz="1400" dirty="0" smtClean="0"/>
              <a:t>: +5</a:t>
            </a:r>
          </a:p>
          <a:p>
            <a:pPr marL="342900" indent="-342900">
              <a:lnSpc>
                <a:spcPct val="150000"/>
              </a:lnSpc>
              <a:buAutoNum type="arabicParenR"/>
            </a:pPr>
            <a:r>
              <a:rPr lang="ko-KR" altLang="en-US" sz="1400" dirty="0" smtClean="0"/>
              <a:t>아군에게 가장 높은 피해를 주었을 때 </a:t>
            </a:r>
            <a:r>
              <a:rPr lang="en-US" altLang="ko-KR" sz="1400" dirty="0" smtClean="0"/>
              <a:t>: +20</a:t>
            </a:r>
          </a:p>
          <a:p>
            <a:pPr marL="342900" indent="-342900">
              <a:lnSpc>
                <a:spcPct val="150000"/>
              </a:lnSpc>
              <a:buAutoNum type="arabicParenR"/>
            </a:pPr>
            <a:r>
              <a:rPr lang="ko-KR" altLang="en-US" sz="1400" dirty="0" smtClean="0"/>
              <a:t>최근에 적군에게 버프를 주었을 때 </a:t>
            </a:r>
            <a:r>
              <a:rPr lang="en-US" altLang="ko-KR" sz="1400" dirty="0" smtClean="0"/>
              <a:t>: +10</a:t>
            </a:r>
          </a:p>
          <a:p>
            <a:pPr marL="342900" indent="-342900">
              <a:lnSpc>
                <a:spcPct val="150000"/>
              </a:lnSpc>
              <a:buAutoNum type="arabicParenR"/>
            </a:pPr>
            <a:r>
              <a:rPr lang="en-US" altLang="ko-KR" sz="1400" dirty="0" smtClean="0"/>
              <a:t> </a:t>
            </a:r>
            <a:r>
              <a:rPr lang="ko-KR" altLang="en-US" sz="1400" dirty="0" smtClean="0"/>
              <a:t>최근에 적군을 회복시켜 주었을 때 </a:t>
            </a:r>
            <a:r>
              <a:rPr lang="en-US" altLang="ko-KR" sz="1400" dirty="0" smtClean="0"/>
              <a:t>: +15</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TextBox 7"/>
          <p:cNvSpPr txBox="1"/>
          <p:nvPr/>
        </p:nvSpPr>
        <p:spPr>
          <a:xfrm>
            <a:off x="6129337" y="1512223"/>
            <a:ext cx="4763581" cy="1708160"/>
          </a:xfrm>
          <a:prstGeom prst="rect">
            <a:avLst/>
          </a:prstGeom>
          <a:noFill/>
        </p:spPr>
        <p:txBody>
          <a:bodyPr wrap="square" rtlCol="0">
            <a:spAutoFit/>
          </a:bodyPr>
          <a:lstStyle/>
          <a:p>
            <a:pPr>
              <a:lnSpc>
                <a:spcPct val="150000"/>
              </a:lnSpc>
            </a:pPr>
            <a:r>
              <a:rPr lang="en-US" altLang="ko-KR" sz="1400" dirty="0" smtClean="0"/>
              <a:t>11) (</a:t>
            </a:r>
            <a:r>
              <a:rPr lang="ko-KR" altLang="en-US" sz="1400" dirty="0" smtClean="0"/>
              <a:t>고통</a:t>
            </a:r>
            <a:r>
              <a:rPr lang="en-US" altLang="ko-KR" sz="1400" dirty="0" smtClean="0"/>
              <a:t>)</a:t>
            </a:r>
            <a:r>
              <a:rPr lang="ko-KR" altLang="en-US" sz="1400" dirty="0" smtClean="0"/>
              <a:t>용사 캐릭터일 때 </a:t>
            </a:r>
            <a:r>
              <a:rPr lang="en-US" altLang="ko-KR" sz="1400" dirty="0"/>
              <a:t>:</a:t>
            </a:r>
            <a:r>
              <a:rPr lang="en-US" altLang="ko-KR" sz="1400" dirty="0" smtClean="0"/>
              <a:t> +30</a:t>
            </a:r>
          </a:p>
          <a:p>
            <a:pPr marL="342900" indent="-342900">
              <a:lnSpc>
                <a:spcPct val="150000"/>
              </a:lnSpc>
              <a:buAutoNum type="arabicParenR" startAt="12"/>
            </a:pPr>
            <a:r>
              <a:rPr lang="en-US" altLang="ko-KR" sz="1400" dirty="0" smtClean="0"/>
              <a:t> (</a:t>
            </a:r>
            <a:r>
              <a:rPr lang="ko-KR" altLang="en-US" sz="1400" dirty="0" smtClean="0"/>
              <a:t>절망</a:t>
            </a:r>
            <a:r>
              <a:rPr lang="en-US" altLang="ko-KR" sz="1400" dirty="0" smtClean="0"/>
              <a:t>)</a:t>
            </a:r>
            <a:r>
              <a:rPr lang="ko-KR" altLang="en-US" sz="1400" dirty="0" smtClean="0"/>
              <a:t>최근 적군을 회복시켜 주었을 때 </a:t>
            </a:r>
            <a:r>
              <a:rPr lang="en-US" altLang="ko-KR" sz="1400" dirty="0"/>
              <a:t>: </a:t>
            </a:r>
            <a:r>
              <a:rPr lang="en-US" altLang="ko-KR" sz="1400" dirty="0" smtClean="0"/>
              <a:t>+25</a:t>
            </a:r>
          </a:p>
          <a:p>
            <a:pPr marL="342900" indent="-342900">
              <a:lnSpc>
                <a:spcPct val="150000"/>
              </a:lnSpc>
              <a:buAutoNum type="arabicParenR" startAt="12"/>
            </a:pPr>
            <a:r>
              <a:rPr lang="en-US" altLang="ko-KR" sz="1400" dirty="0"/>
              <a:t> </a:t>
            </a:r>
            <a:r>
              <a:rPr lang="en-US" altLang="ko-KR" sz="1400" dirty="0" smtClean="0"/>
              <a:t>(</a:t>
            </a:r>
            <a:r>
              <a:rPr lang="ko-KR" altLang="en-US" sz="1400" dirty="0" smtClean="0"/>
              <a:t>절망</a:t>
            </a:r>
            <a:r>
              <a:rPr lang="en-US" altLang="ko-KR" sz="1400" dirty="0" smtClean="0"/>
              <a:t>)</a:t>
            </a:r>
            <a:r>
              <a:rPr lang="ko-KR" altLang="en-US" sz="1400" dirty="0" smtClean="0"/>
              <a:t>최근 회복 받았을 때 </a:t>
            </a:r>
            <a:r>
              <a:rPr lang="en-US" altLang="ko-KR" sz="1400" dirty="0" smtClean="0"/>
              <a:t>: +15</a:t>
            </a:r>
          </a:p>
          <a:p>
            <a:pPr marL="342900" indent="-342900">
              <a:lnSpc>
                <a:spcPct val="150000"/>
              </a:lnSpc>
              <a:buAutoNum type="arabicParenR" startAt="12"/>
            </a:pPr>
            <a:r>
              <a:rPr lang="en-US" altLang="ko-KR" sz="1400" dirty="0" smtClean="0"/>
              <a:t> (</a:t>
            </a:r>
            <a:r>
              <a:rPr lang="ko-KR" altLang="en-US" sz="1400" dirty="0" smtClean="0"/>
              <a:t>약육강식</a:t>
            </a:r>
            <a:r>
              <a:rPr lang="en-US" altLang="ko-KR" sz="1400" dirty="0" smtClean="0"/>
              <a:t>)</a:t>
            </a:r>
            <a:r>
              <a:rPr lang="ko-KR" altLang="en-US" sz="1400" dirty="0" smtClean="0"/>
              <a:t>최대 체력 비율이 가장 낮을 때 </a:t>
            </a:r>
            <a:r>
              <a:rPr lang="en-US" altLang="ko-KR" sz="1400" dirty="0"/>
              <a:t>: </a:t>
            </a:r>
            <a:r>
              <a:rPr lang="en-US" altLang="ko-KR" sz="1400" dirty="0" smtClean="0"/>
              <a:t>+20</a:t>
            </a:r>
          </a:p>
          <a:p>
            <a:pPr marL="342900" indent="-342900">
              <a:lnSpc>
                <a:spcPct val="150000"/>
              </a:lnSpc>
              <a:buAutoNum type="arabicParenR" startAt="12"/>
            </a:pPr>
            <a:r>
              <a:rPr lang="en-US" altLang="ko-KR" sz="1400" dirty="0"/>
              <a:t> </a:t>
            </a:r>
            <a:r>
              <a:rPr lang="en-US" altLang="ko-KR" sz="1400" dirty="0" smtClean="0"/>
              <a:t>(</a:t>
            </a:r>
            <a:r>
              <a:rPr lang="ko-KR" altLang="en-US" sz="1400" dirty="0" smtClean="0"/>
              <a:t>약육강식</a:t>
            </a:r>
            <a:r>
              <a:rPr lang="en-US" altLang="ko-KR" sz="1400" dirty="0" smtClean="0"/>
              <a:t>)</a:t>
            </a:r>
            <a:r>
              <a:rPr lang="ko-KR" altLang="en-US" sz="1400" dirty="0" smtClean="0"/>
              <a:t>현재 체력 비율이 가장 낮을 때 </a:t>
            </a:r>
            <a:r>
              <a:rPr lang="en-US" altLang="ko-KR" sz="1400" dirty="0" smtClean="0"/>
              <a:t>: +15</a:t>
            </a:r>
          </a:p>
        </p:txBody>
      </p:sp>
    </p:spTree>
    <p:extLst>
      <p:ext uri="{BB962C8B-B14F-4D97-AF65-F5344CB8AC3E}">
        <p14:creationId xmlns:p14="http://schemas.microsoft.com/office/powerpoint/2010/main" val="387190546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다이아몬드 81"/>
          <p:cNvSpPr/>
          <p:nvPr/>
        </p:nvSpPr>
        <p:spPr>
          <a:xfrm>
            <a:off x="162820" y="2678107"/>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92204" y="2989392"/>
            <a:ext cx="2026561"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j-ea"/>
                <a:ea typeface="+mj-ea"/>
              </a:rPr>
              <a:t>아군 체력이  </a:t>
            </a:r>
            <a:r>
              <a:rPr lang="en-US" altLang="ko-KR" sz="1400" spc="-300" dirty="0">
                <a:gradFill>
                  <a:gsLst>
                    <a:gs pos="0">
                      <a:schemeClr val="tx1"/>
                    </a:gs>
                    <a:gs pos="100000">
                      <a:schemeClr val="tx1"/>
                    </a:gs>
                  </a:gsLst>
                  <a:lin ang="5400000" scaled="1"/>
                </a:gradFill>
                <a:latin typeface="+mj-ea"/>
                <a:ea typeface="+mj-ea"/>
              </a:rPr>
              <a:t>6</a:t>
            </a:r>
            <a:r>
              <a:rPr lang="en-US" altLang="ko-KR" sz="1400" spc="-300" dirty="0" smtClean="0">
                <a:gradFill>
                  <a:gsLst>
                    <a:gs pos="0">
                      <a:schemeClr val="tx1"/>
                    </a:gs>
                    <a:gs pos="100000">
                      <a:schemeClr val="tx1"/>
                    </a:gs>
                  </a:gsLst>
                  <a:lin ang="5400000" scaled="1"/>
                </a:gradFill>
                <a:latin typeface="+mj-ea"/>
                <a:ea typeface="+mj-ea"/>
              </a:rPr>
              <a:t> 0 %  </a:t>
            </a:r>
          </a:p>
          <a:p>
            <a:pPr algn="ctr"/>
            <a:r>
              <a:rPr lang="ko-KR" altLang="en-US" sz="1400" spc="-300" dirty="0" smtClean="0">
                <a:gradFill>
                  <a:gsLst>
                    <a:gs pos="0">
                      <a:schemeClr val="tx1"/>
                    </a:gs>
                    <a:gs pos="100000">
                      <a:schemeClr val="tx1"/>
                    </a:gs>
                  </a:gsLst>
                  <a:lin ang="5400000" scaled="1"/>
                </a:gradFill>
                <a:latin typeface="+mj-ea"/>
                <a:ea typeface="+mj-ea"/>
              </a:rPr>
              <a:t>이 하이며 </a:t>
            </a:r>
            <a:r>
              <a:rPr lang="en-US" altLang="ko-KR" sz="1400" spc="-300" dirty="0" smtClean="0">
                <a:gradFill>
                  <a:gsLst>
                    <a:gs pos="0">
                      <a:schemeClr val="tx1"/>
                    </a:gs>
                    <a:gs pos="100000">
                      <a:schemeClr val="tx1"/>
                    </a:gs>
                  </a:gsLst>
                  <a:lin ang="5400000" scaled="1"/>
                </a:gradFill>
                <a:latin typeface="+mj-ea"/>
                <a:ea typeface="+mj-ea"/>
              </a:rPr>
              <a:t>,  </a:t>
            </a:r>
            <a:r>
              <a:rPr lang="ko-KR" altLang="en-US" sz="1400" spc="-300" dirty="0" smtClean="0">
                <a:gradFill>
                  <a:gsLst>
                    <a:gs pos="0">
                      <a:schemeClr val="tx1"/>
                    </a:gs>
                    <a:gs pos="100000">
                      <a:schemeClr val="tx1"/>
                    </a:gs>
                  </a:gsLst>
                  <a:lin ang="5400000" scaled="1"/>
                </a:gradFill>
                <a:latin typeface="+mj-ea"/>
                <a:ea typeface="+mj-ea"/>
              </a:rPr>
              <a:t>회복 스킬이 </a:t>
            </a:r>
            <a:endParaRPr lang="en-US" altLang="ko-KR" sz="1400" spc="-300" dirty="0" smtClean="0">
              <a:gradFill>
                <a:gsLst>
                  <a:gs pos="0">
                    <a:schemeClr val="tx1"/>
                  </a:gs>
                  <a:gs pos="100000">
                    <a:schemeClr val="tx1"/>
                  </a:gs>
                </a:gsLst>
                <a:lin ang="5400000" scaled="1"/>
              </a:gradFill>
              <a:latin typeface="+mj-ea"/>
              <a:ea typeface="+mj-ea"/>
            </a:endParaRPr>
          </a:p>
          <a:p>
            <a:pPr algn="ctr"/>
            <a:r>
              <a:rPr lang="ko-KR" altLang="en-US" sz="1400" spc="-300" dirty="0" smtClean="0">
                <a:gradFill>
                  <a:gsLst>
                    <a:gs pos="0">
                      <a:schemeClr val="tx1"/>
                    </a:gs>
                    <a:gs pos="100000">
                      <a:schemeClr val="tx1"/>
                    </a:gs>
                  </a:gsLst>
                  <a:lin ang="5400000" scaled="1"/>
                </a:gradFill>
                <a:latin typeface="+mj-ea"/>
                <a:ea typeface="+mj-ea"/>
              </a:rPr>
              <a:t>사용 가능한가 </a:t>
            </a:r>
            <a:r>
              <a:rPr lang="en-US" altLang="ko-KR" sz="1400" spc="-300" dirty="0" smtClean="0">
                <a:gradFill>
                  <a:gsLst>
                    <a:gs pos="0">
                      <a:schemeClr val="tx1"/>
                    </a:gs>
                    <a:gs pos="100000">
                      <a:schemeClr val="tx1"/>
                    </a:gs>
                  </a:gsLst>
                  <a:lin ang="5400000" scaled="1"/>
                </a:gradFill>
                <a:latin typeface="+mj-ea"/>
                <a:ea typeface="+mj-ea"/>
              </a:rPr>
              <a:t>?</a:t>
            </a:r>
            <a:endParaRPr lang="ko-KR" altLang="en-US" sz="1400" spc="-300" dirty="0">
              <a:gradFill>
                <a:gsLst>
                  <a:gs pos="0">
                    <a:schemeClr val="tx1"/>
                  </a:gs>
                  <a:gs pos="100000">
                    <a:schemeClr val="tx1"/>
                  </a:gs>
                </a:gsLst>
                <a:lin ang="5400000" scaled="1"/>
              </a:gradFill>
              <a:latin typeface="+mj-ea"/>
              <a:ea typeface="+mj-ea"/>
            </a:endParaRPr>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8" idx="0"/>
          </p:cNvCxnSpPr>
          <p:nvPr/>
        </p:nvCxnSpPr>
        <p:spPr>
          <a:xfrm rot="16200000" flipH="1">
            <a:off x="3908222" y="1147822"/>
            <a:ext cx="1291682" cy="689702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75141" y="387699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1830473" y="298939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650461" y="4730229"/>
            <a:ext cx="142817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해당 스킬 사용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35628" y="100996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a:solidFill>
                  <a:schemeClr val="tx1"/>
                </a:solidFill>
              </a:rPr>
              <a:t>적</a:t>
            </a:r>
            <a:r>
              <a:rPr lang="ko-KR" altLang="en-US" sz="1400" dirty="0" smtClean="0">
                <a:solidFill>
                  <a:schemeClr val="tx1"/>
                </a:solidFill>
              </a:rPr>
              <a:t>군 턴 시작</a:t>
            </a:r>
            <a:endParaRPr lang="en-US" altLang="ko-KR" sz="1400" dirty="0" smtClean="0">
              <a:solidFill>
                <a:schemeClr val="tx1"/>
              </a:solidFill>
            </a:endParaRPr>
          </a:p>
        </p:txBody>
      </p:sp>
      <p:cxnSp>
        <p:nvCxnSpPr>
          <p:cNvPr id="159" name="직선 화살표 연결선 158"/>
          <p:cNvCxnSpPr>
            <a:stCxn id="152" idx="2"/>
            <a:endCxn id="41" idx="0"/>
          </p:cNvCxnSpPr>
          <p:nvPr/>
        </p:nvCxnSpPr>
        <p:spPr>
          <a:xfrm>
            <a:off x="1108163" y="1607891"/>
            <a:ext cx="0" cy="25480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87</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335628" y="1862692"/>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순서대로</a:t>
            </a:r>
            <a:endParaRPr lang="en-US" altLang="ko-KR" sz="1400" dirty="0" smtClean="0">
              <a:solidFill>
                <a:schemeClr val="tx1"/>
              </a:solidFill>
            </a:endParaRPr>
          </a:p>
          <a:p>
            <a:pPr algn="ctr"/>
            <a:r>
              <a:rPr lang="ko-KR" altLang="en-US" sz="1400" dirty="0" smtClean="0">
                <a:solidFill>
                  <a:schemeClr val="tx1"/>
                </a:solidFill>
              </a:rPr>
              <a:t>행동 개시</a:t>
            </a:r>
            <a:endParaRPr lang="en-US" altLang="ko-KR" sz="1400" dirty="0" smtClean="0">
              <a:solidFill>
                <a:schemeClr val="tx1"/>
              </a:solidFill>
            </a:endParaRPr>
          </a:p>
        </p:txBody>
      </p:sp>
      <p:cxnSp>
        <p:nvCxnSpPr>
          <p:cNvPr id="43" name="직선 화살표 연결선 42"/>
          <p:cNvCxnSpPr>
            <a:stCxn id="41" idx="2"/>
            <a:endCxn id="82" idx="0"/>
          </p:cNvCxnSpPr>
          <p:nvPr/>
        </p:nvCxnSpPr>
        <p:spPr>
          <a:xfrm flipH="1">
            <a:off x="1105552" y="2460618"/>
            <a:ext cx="2611" cy="21748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7230040" y="524217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sp>
        <p:nvSpPr>
          <p:cNvPr id="50" name="다이아몬드 49"/>
          <p:cNvSpPr/>
          <p:nvPr/>
        </p:nvSpPr>
        <p:spPr>
          <a:xfrm>
            <a:off x="2376795" y="2678107"/>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2180613" y="2962775"/>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아군을 강화하는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버프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sp>
        <p:nvSpPr>
          <p:cNvPr id="19" name="순서도: 문서 18"/>
          <p:cNvSpPr/>
          <p:nvPr/>
        </p:nvSpPr>
        <p:spPr>
          <a:xfrm>
            <a:off x="2575778" y="5141070"/>
            <a:ext cx="1320800" cy="807778"/>
          </a:xfrm>
          <a:prstGeom prst="flowChartDocumen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적군 턴 종료</a:t>
            </a:r>
            <a:endParaRPr lang="ko-KR" altLang="en-US" sz="1400" dirty="0">
              <a:solidFill>
                <a:schemeClr val="tx1"/>
              </a:solidFill>
            </a:endParaRPr>
          </a:p>
        </p:txBody>
      </p:sp>
      <p:cxnSp>
        <p:nvCxnSpPr>
          <p:cNvPr id="69" name="꺾인 연결선 68"/>
          <p:cNvCxnSpPr>
            <a:stCxn id="103" idx="3"/>
            <a:endCxn id="48" idx="3"/>
          </p:cNvCxnSpPr>
          <p:nvPr/>
        </p:nvCxnSpPr>
        <p:spPr>
          <a:xfrm flipH="1">
            <a:off x="8775109" y="3324587"/>
            <a:ext cx="2527544" cy="2216551"/>
          </a:xfrm>
          <a:prstGeom prst="bentConnector3">
            <a:avLst>
              <a:gd name="adj1" fmla="val -9044"/>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적군 행동 알고리즘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45" name="그룹 44"/>
          <p:cNvGrpSpPr/>
          <p:nvPr/>
        </p:nvGrpSpPr>
        <p:grpSpPr>
          <a:xfrm>
            <a:off x="4486255" y="2687056"/>
            <a:ext cx="2410863" cy="1272386"/>
            <a:chOff x="8265923" y="2936741"/>
            <a:chExt cx="2281727" cy="1272386"/>
          </a:xfrm>
        </p:grpSpPr>
        <p:sp>
          <p:nvSpPr>
            <p:cNvPr id="46" name="다이아몬드 45"/>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7" name="TextBox 46"/>
            <p:cNvSpPr txBox="1"/>
            <p:nvPr/>
          </p:nvSpPr>
          <p:spPr>
            <a:xfrm>
              <a:off x="8265923" y="32329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적을 약 화시키는</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err="1" smtClean="0">
                  <a:gradFill>
                    <a:gsLst>
                      <a:gs pos="0">
                        <a:schemeClr val="tx1"/>
                      </a:gs>
                      <a:gs pos="100000">
                        <a:schemeClr val="tx1"/>
                      </a:gs>
                    </a:gsLst>
                    <a:lin ang="5400000" scaled="1"/>
                  </a:gradFill>
                  <a:latin typeface="+mn-ea"/>
                </a:rPr>
                <a:t>디버프</a:t>
              </a:r>
              <a:r>
                <a:rPr lang="ko-KR" altLang="en-US" sz="1400" spc="-300" dirty="0" smtClean="0">
                  <a:gradFill>
                    <a:gsLst>
                      <a:gs pos="0">
                        <a:schemeClr val="tx1"/>
                      </a:gs>
                      <a:gs pos="100000">
                        <a:schemeClr val="tx1"/>
                      </a:gs>
                    </a:gsLst>
                    <a:lin ang="5400000" scaled="1"/>
                  </a:gradFill>
                  <a:latin typeface="+mn-ea"/>
                </a:rPr>
                <a:t>  스킬이</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grpSp>
      <p:cxnSp>
        <p:nvCxnSpPr>
          <p:cNvPr id="71" name="직선 화살표 연결선 70"/>
          <p:cNvCxnSpPr/>
          <p:nvPr/>
        </p:nvCxnSpPr>
        <p:spPr>
          <a:xfrm flipV="1">
            <a:off x="2056918" y="3318359"/>
            <a:ext cx="331704" cy="5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2" name="직선 화살표 연결선 71"/>
          <p:cNvCxnSpPr/>
          <p:nvPr/>
        </p:nvCxnSpPr>
        <p:spPr>
          <a:xfrm>
            <a:off x="4364473"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4128236"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4" name="직선 화살표 연결선 73"/>
          <p:cNvCxnSpPr/>
          <p:nvPr/>
        </p:nvCxnSpPr>
        <p:spPr>
          <a:xfrm>
            <a:off x="6682559" y="332253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5" name="TextBox 74"/>
          <p:cNvSpPr txBox="1"/>
          <p:nvPr/>
        </p:nvSpPr>
        <p:spPr>
          <a:xfrm>
            <a:off x="6458089"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76" name="그룹 75"/>
          <p:cNvGrpSpPr/>
          <p:nvPr/>
        </p:nvGrpSpPr>
        <p:grpSpPr>
          <a:xfrm>
            <a:off x="6797144" y="2686337"/>
            <a:ext cx="2410863" cy="1272386"/>
            <a:chOff x="8265923" y="2936741"/>
            <a:chExt cx="2281727" cy="1272386"/>
          </a:xfrm>
        </p:grpSpPr>
        <p:sp>
          <p:nvSpPr>
            <p:cNvPr id="77" name="다이아몬드 76"/>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78" name="TextBox 77"/>
            <p:cNvSpPr txBox="1"/>
            <p:nvPr/>
          </p:nvSpPr>
          <p:spPr>
            <a:xfrm>
              <a:off x="8265923" y="32456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전체를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광역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grpSp>
      <p:cxnSp>
        <p:nvCxnSpPr>
          <p:cNvPr id="79" name="직선 화살표 연결선 78"/>
          <p:cNvCxnSpPr/>
          <p:nvPr/>
        </p:nvCxnSpPr>
        <p:spPr>
          <a:xfrm>
            <a:off x="8987945"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1" name="TextBox 80"/>
          <p:cNvSpPr txBox="1"/>
          <p:nvPr/>
        </p:nvSpPr>
        <p:spPr>
          <a:xfrm>
            <a:off x="8757930" y="2981927"/>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4" name="꺾인 연결선 83"/>
          <p:cNvCxnSpPr>
            <a:stCxn id="50" idx="2"/>
            <a:endCxn id="48" idx="0"/>
          </p:cNvCxnSpPr>
          <p:nvPr/>
        </p:nvCxnSpPr>
        <p:spPr>
          <a:xfrm rot="16200000" flipH="1">
            <a:off x="5041887" y="2281487"/>
            <a:ext cx="1291682" cy="462969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5" name="꺾인 연결선 84"/>
          <p:cNvCxnSpPr>
            <a:stCxn id="46" idx="2"/>
            <a:endCxn id="48" idx="0"/>
          </p:cNvCxnSpPr>
          <p:nvPr/>
        </p:nvCxnSpPr>
        <p:spPr>
          <a:xfrm rot="16200000" flipH="1">
            <a:off x="6199415" y="3439014"/>
            <a:ext cx="1282733" cy="232358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6" name="꺾인 연결선 85"/>
          <p:cNvCxnSpPr>
            <a:stCxn id="77" idx="2"/>
            <a:endCxn id="48" idx="0"/>
          </p:cNvCxnSpPr>
          <p:nvPr/>
        </p:nvCxnSpPr>
        <p:spPr>
          <a:xfrm rot="16200000" flipH="1">
            <a:off x="7354500" y="4594100"/>
            <a:ext cx="1283452" cy="12698"/>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2806680" y="38874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2" name="TextBox 91"/>
          <p:cNvSpPr txBox="1"/>
          <p:nvPr/>
        </p:nvSpPr>
        <p:spPr>
          <a:xfrm>
            <a:off x="5116411" y="39272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3" name="TextBox 92"/>
          <p:cNvSpPr txBox="1"/>
          <p:nvPr/>
        </p:nvSpPr>
        <p:spPr>
          <a:xfrm>
            <a:off x="7427489" y="394262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3" name="다이아몬드 102"/>
          <p:cNvSpPr/>
          <p:nvPr/>
        </p:nvSpPr>
        <p:spPr>
          <a:xfrm>
            <a:off x="9310480" y="2688394"/>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04" name="TextBox 103"/>
          <p:cNvSpPr txBox="1"/>
          <p:nvPr/>
        </p:nvSpPr>
        <p:spPr>
          <a:xfrm>
            <a:off x="9104400" y="2984900"/>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을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단일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cxnSp>
        <p:nvCxnSpPr>
          <p:cNvPr id="110" name="꺾인 연결선 109"/>
          <p:cNvCxnSpPr>
            <a:stCxn id="103" idx="2"/>
            <a:endCxn id="48" idx="0"/>
          </p:cNvCxnSpPr>
          <p:nvPr/>
        </p:nvCxnSpPr>
        <p:spPr>
          <a:xfrm rot="5400000">
            <a:off x="8513874" y="3449481"/>
            <a:ext cx="1281395" cy="2303992"/>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113" name="TextBox 112"/>
          <p:cNvSpPr txBox="1"/>
          <p:nvPr/>
        </p:nvSpPr>
        <p:spPr>
          <a:xfrm>
            <a:off x="9625645" y="392802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0" name="TextBox 149"/>
          <p:cNvSpPr txBox="1"/>
          <p:nvPr/>
        </p:nvSpPr>
        <p:spPr>
          <a:xfrm>
            <a:off x="11043233" y="29807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4" name="TextBox 163"/>
          <p:cNvSpPr txBox="1"/>
          <p:nvPr/>
        </p:nvSpPr>
        <p:spPr>
          <a:xfrm>
            <a:off x="9607178" y="5177657"/>
            <a:ext cx="110556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공격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6" name="다이아몬드 175"/>
          <p:cNvSpPr/>
          <p:nvPr/>
        </p:nvSpPr>
        <p:spPr>
          <a:xfrm>
            <a:off x="4696195" y="4904945"/>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77" name="TextBox 176"/>
          <p:cNvSpPr txBox="1"/>
          <p:nvPr/>
        </p:nvSpPr>
        <p:spPr>
          <a:xfrm>
            <a:off x="5039104" y="5275335"/>
            <a:ext cx="1314781"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모든 아군이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행동을 마쳤는가</a:t>
            </a:r>
            <a:r>
              <a:rPr lang="en-US" altLang="ko-KR" sz="1400" spc="-300" dirty="0" smtClean="0">
                <a:gradFill>
                  <a:gsLst>
                    <a:gs pos="0">
                      <a:schemeClr val="tx1"/>
                    </a:gs>
                    <a:gs pos="100000">
                      <a:schemeClr val="tx1"/>
                    </a:gs>
                  </a:gsLst>
                  <a:lin ang="5400000" scaled="1"/>
                </a:gradFill>
                <a:latin typeface="+mn-ea"/>
              </a:rPr>
              <a:t>?</a:t>
            </a:r>
          </a:p>
        </p:txBody>
      </p:sp>
      <p:cxnSp>
        <p:nvCxnSpPr>
          <p:cNvPr id="180" name="직선 화살표 연결선 179"/>
          <p:cNvCxnSpPr>
            <a:stCxn id="176" idx="1"/>
            <a:endCxn id="19" idx="3"/>
          </p:cNvCxnSpPr>
          <p:nvPr/>
        </p:nvCxnSpPr>
        <p:spPr>
          <a:xfrm flipH="1">
            <a:off x="3896578" y="5541138"/>
            <a:ext cx="799617" cy="382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6" name="꺾인 연결선 185"/>
          <p:cNvCxnSpPr>
            <a:stCxn id="176" idx="2"/>
            <a:endCxn id="41" idx="3"/>
          </p:cNvCxnSpPr>
          <p:nvPr/>
        </p:nvCxnSpPr>
        <p:spPr>
          <a:xfrm rot="5400000" flipH="1">
            <a:off x="1778652" y="2263701"/>
            <a:ext cx="4015676" cy="3811585"/>
          </a:xfrm>
          <a:prstGeom prst="bentConnector4">
            <a:avLst>
              <a:gd name="adj1" fmla="val -5693"/>
              <a:gd name="adj2" fmla="val -163172"/>
            </a:avLst>
          </a:prstGeom>
          <a:ln>
            <a:tailEnd type="arrow"/>
          </a:ln>
        </p:spPr>
        <p:style>
          <a:lnRef idx="3">
            <a:schemeClr val="dk1"/>
          </a:lnRef>
          <a:fillRef idx="0">
            <a:schemeClr val="dk1"/>
          </a:fillRef>
          <a:effectRef idx="2">
            <a:schemeClr val="dk1"/>
          </a:effectRef>
          <a:fontRef idx="minor">
            <a:schemeClr val="tx1"/>
          </a:fontRef>
        </p:style>
      </p:cxnSp>
      <p:cxnSp>
        <p:nvCxnSpPr>
          <p:cNvPr id="195" name="직선 화살표 연결선 194"/>
          <p:cNvCxnSpPr>
            <a:stCxn id="48" idx="1"/>
            <a:endCxn id="176" idx="3"/>
          </p:cNvCxnSpPr>
          <p:nvPr/>
        </p:nvCxnSpPr>
        <p:spPr>
          <a:xfrm flipH="1">
            <a:off x="6688368" y="5541138"/>
            <a:ext cx="54167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8" name="TextBox 197"/>
          <p:cNvSpPr txBox="1"/>
          <p:nvPr/>
        </p:nvSpPr>
        <p:spPr>
          <a:xfrm>
            <a:off x="5178595" y="6087831"/>
            <a:ext cx="50039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9" name="TextBox 198"/>
          <p:cNvSpPr txBox="1"/>
          <p:nvPr/>
        </p:nvSpPr>
        <p:spPr>
          <a:xfrm>
            <a:off x="3963995" y="5204356"/>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77876130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방식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88</a:t>
            </a:fld>
            <a:endParaRPr lang="ko-KR" altLang="en-US" sz="1800" dirty="0"/>
          </a:p>
        </p:txBody>
      </p:sp>
      <p:sp>
        <p:nvSpPr>
          <p:cNvPr id="13" name="TextBox 12"/>
          <p:cNvSpPr txBox="1"/>
          <p:nvPr/>
        </p:nvSpPr>
        <p:spPr>
          <a:xfrm>
            <a:off x="832486" y="5039568"/>
            <a:ext cx="6317614" cy="923330"/>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smtClean="0"/>
              <a:t>. </a:t>
            </a:r>
          </a:p>
          <a:p>
            <a:pPr>
              <a:lnSpc>
                <a:spcPct val="150000"/>
              </a:lnSpc>
            </a:pPr>
            <a:r>
              <a:rPr lang="en-US" altLang="ko-KR" dirty="0"/>
              <a:t>• </a:t>
            </a:r>
            <a:r>
              <a:rPr lang="ko-KR" altLang="en-US" dirty="0" smtClean="0"/>
              <a:t>전투 이벤트가 시작되면</a:t>
            </a:r>
            <a:r>
              <a:rPr lang="en-US" altLang="ko-KR" dirty="0" smtClean="0"/>
              <a:t> </a:t>
            </a:r>
            <a:r>
              <a:rPr lang="ko-KR" altLang="en-US" dirty="0" smtClean="0"/>
              <a:t>아군의 선공으로 시작된다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4129813" y="2778254"/>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5639154" y="2946437"/>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5642820" y="1936324"/>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767566" y="1524069"/>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5767566" y="256671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5767566" y="365853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4371590" y="2566712"/>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37" name="직사각형 36"/>
          <p:cNvSpPr/>
          <p:nvPr/>
        </p:nvSpPr>
        <p:spPr>
          <a:xfrm>
            <a:off x="5928360" y="144008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4517150" y="239586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5906303" y="247927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5906303" y="357680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4517150" y="2446405"/>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a:off x="5397080" y="1349047"/>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22" name="타원 21"/>
          <p:cNvSpPr/>
          <p:nvPr/>
        </p:nvSpPr>
        <p:spPr>
          <a:xfrm>
            <a:off x="5384800" y="24008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23" name="타원 22"/>
          <p:cNvSpPr/>
          <p:nvPr/>
        </p:nvSpPr>
        <p:spPr>
          <a:xfrm>
            <a:off x="5384800" y="3455408"/>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24" name="곱셈 기호 23"/>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015035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89</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93</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94</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97</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98</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99</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100</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101</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102</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103</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104</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105</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106</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107</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108</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곱셈 기호 10"/>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109</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110</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111</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112</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113</a:t>
            </a:fld>
            <a:endParaRPr lang="ko-KR" altLang="en-US" dirty="0"/>
          </a:p>
        </p:txBody>
      </p:sp>
      <p:sp>
        <p:nvSpPr>
          <p:cNvPr id="9" name="곱셈 기호 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114</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10956</TotalTime>
  <Words>7768</Words>
  <Application>Microsoft Office PowerPoint</Application>
  <PresentationFormat>와이드스크린</PresentationFormat>
  <Paragraphs>2495</Paragraphs>
  <Slides>114</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114</vt:i4>
      </vt:variant>
    </vt:vector>
  </HeadingPairs>
  <TitlesOfParts>
    <vt:vector size="121" baseType="lpstr">
      <vt:lpstr>Arial</vt:lpstr>
      <vt:lpstr>HY견명조</vt:lpstr>
      <vt:lpstr>맑은 고딕</vt:lpstr>
      <vt:lpstr>210 앱굴림 R</vt:lpstr>
      <vt:lpstr>돋움</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681</cp:revision>
  <dcterms:created xsi:type="dcterms:W3CDTF">2017-06-15T12:10:59Z</dcterms:created>
  <dcterms:modified xsi:type="dcterms:W3CDTF">2019-01-24T07:09:15Z</dcterms:modified>
</cp:coreProperties>
</file>