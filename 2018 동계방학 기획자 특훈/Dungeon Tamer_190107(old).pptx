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0" r:id="rId2"/>
  </p:sldMasterIdLst>
  <p:notesMasterIdLst>
    <p:notesMasterId r:id="rId46"/>
  </p:notesMasterIdLst>
  <p:sldIdLst>
    <p:sldId id="273" r:id="rId3"/>
    <p:sldId id="260" r:id="rId4"/>
    <p:sldId id="288" r:id="rId5"/>
    <p:sldId id="289" r:id="rId6"/>
    <p:sldId id="266" r:id="rId7"/>
    <p:sldId id="290" r:id="rId8"/>
    <p:sldId id="276" r:id="rId9"/>
    <p:sldId id="332" r:id="rId10"/>
    <p:sldId id="291" r:id="rId11"/>
    <p:sldId id="333" r:id="rId12"/>
    <p:sldId id="334" r:id="rId13"/>
    <p:sldId id="329" r:id="rId14"/>
    <p:sldId id="330" r:id="rId15"/>
    <p:sldId id="335" r:id="rId16"/>
    <p:sldId id="336" r:id="rId17"/>
    <p:sldId id="338" r:id="rId18"/>
    <p:sldId id="337" r:id="rId19"/>
    <p:sldId id="315" r:id="rId20"/>
    <p:sldId id="325" r:id="rId21"/>
    <p:sldId id="316" r:id="rId22"/>
    <p:sldId id="317" r:id="rId23"/>
    <p:sldId id="318" r:id="rId24"/>
    <p:sldId id="324" r:id="rId25"/>
    <p:sldId id="323" r:id="rId26"/>
    <p:sldId id="327" r:id="rId27"/>
    <p:sldId id="328" r:id="rId28"/>
    <p:sldId id="319" r:id="rId29"/>
    <p:sldId id="320" r:id="rId30"/>
    <p:sldId id="321" r:id="rId31"/>
    <p:sldId id="326" r:id="rId32"/>
    <p:sldId id="322" r:id="rId33"/>
    <p:sldId id="294" r:id="rId34"/>
    <p:sldId id="293" r:id="rId35"/>
    <p:sldId id="295" r:id="rId36"/>
    <p:sldId id="308" r:id="rId37"/>
    <p:sldId id="296" r:id="rId38"/>
    <p:sldId id="309" r:id="rId39"/>
    <p:sldId id="302" r:id="rId40"/>
    <p:sldId id="303" r:id="rId41"/>
    <p:sldId id="306" r:id="rId42"/>
    <p:sldId id="314" r:id="rId43"/>
    <p:sldId id="307" r:id="rId44"/>
    <p:sldId id="275" r:id="rId45"/>
  </p:sldIdLst>
  <p:sldSz cx="12192000" cy="6858000"/>
  <p:notesSz cx="6858000" cy="9144000"/>
  <p:embeddedFontLst>
    <p:embeddedFont>
      <p:font typeface="HY견명조" pitchFamily="18" charset="-127"/>
      <p:regular r:id="rId47"/>
    </p:embeddedFont>
    <p:embeddedFont>
      <p:font typeface="맑은 고딕" pitchFamily="50" charset="-127"/>
      <p:regular r:id="rId48"/>
      <p:bold r:id="rId49"/>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사용자" initials="W사" lastIdx="1" clrIdx="0">
    <p:extLst>
      <p:ext uri="{19B8F6BF-5375-455C-9EA6-DF929625EA0E}">
        <p15:presenceInfo xmlns:p15="http://schemas.microsoft.com/office/powerpoint/2012/main" xmlns="" userId="Windows 사용자" providerId="None"/>
      </p:ext>
    </p:extLst>
  </p:cmAuthor>
  <p:cmAuthor id="2" name="user" initials="u" lastIdx="19"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C10F"/>
    <a:srgbClr val="88B6E0"/>
    <a:srgbClr val="8EBA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EB344D84-9AFB-497E-A393-DC336BA19D2E}" styleName="보통 스타일 3 - 강조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15" autoAdjust="0"/>
    <p:restoredTop sz="94660" autoAdjust="0"/>
  </p:normalViewPr>
  <p:slideViewPr>
    <p:cSldViewPr snapToGrid="0">
      <p:cViewPr varScale="1">
        <p:scale>
          <a:sx n="72" d="100"/>
          <a:sy n="72" d="100"/>
        </p:scale>
        <p:origin x="-420" y="-96"/>
      </p:cViewPr>
      <p:guideLst>
        <p:guide orient="horz" pos="2160"/>
        <p:guide pos="3840"/>
      </p:guideLst>
    </p:cSldViewPr>
  </p:slideViewPr>
  <p:outlineViewPr>
    <p:cViewPr>
      <p:scale>
        <a:sx n="33" d="100"/>
        <a:sy n="33" d="100"/>
      </p:scale>
      <p:origin x="0" y="142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font" Target="fonts/font1.fntdata"/><Relationship Id="rId50" Type="http://schemas.openxmlformats.org/officeDocument/2006/relationships/commentAuthors" Target="commen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3.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font" Target="fonts/font2.fntdata"/><Relationship Id="rId8" Type="http://schemas.openxmlformats.org/officeDocument/2006/relationships/slide" Target="slides/slide6.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DEB80D-BC7F-423F-9B95-3633B0A8F55B}" type="datetimeFigureOut">
              <a:rPr lang="ko-KR" altLang="en-US" smtClean="0"/>
              <a:t>2019-01-07</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94FA5D-5FE6-4026-B2CA-93DADBB0FBE6}" type="slidenum">
              <a:rPr lang="ko-KR" altLang="en-US" smtClean="0"/>
              <a:t>‹#›</a:t>
            </a:fld>
            <a:endParaRPr lang="ko-KR" altLang="en-US"/>
          </a:p>
        </p:txBody>
      </p:sp>
    </p:spTree>
    <p:extLst>
      <p:ext uri="{BB962C8B-B14F-4D97-AF65-F5344CB8AC3E}">
        <p14:creationId xmlns:p14="http://schemas.microsoft.com/office/powerpoint/2010/main" val="82634538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B894FA5D-5FE6-4026-B2CA-93DADBB0FBE6}" type="slidenum">
              <a:rPr lang="ko-KR" altLang="en-US" smtClean="0"/>
              <a:t>1</a:t>
            </a:fld>
            <a:endParaRPr lang="ko-KR" altLang="en-US"/>
          </a:p>
        </p:txBody>
      </p:sp>
    </p:spTree>
    <p:extLst>
      <p:ext uri="{BB962C8B-B14F-4D97-AF65-F5344CB8AC3E}">
        <p14:creationId xmlns:p14="http://schemas.microsoft.com/office/powerpoint/2010/main" val="867218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B894FA5D-5FE6-4026-B2CA-93DADBB0FBE6}" type="slidenum">
              <a:rPr lang="ko-KR" altLang="en-US" smtClean="0"/>
              <a:t>2</a:t>
            </a:fld>
            <a:endParaRPr lang="ko-KR" altLang="en-US"/>
          </a:p>
        </p:txBody>
      </p:sp>
    </p:spTree>
    <p:extLst>
      <p:ext uri="{BB962C8B-B14F-4D97-AF65-F5344CB8AC3E}">
        <p14:creationId xmlns:p14="http://schemas.microsoft.com/office/powerpoint/2010/main" val="4076130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p:cNvSpPr>
            <a:spLocks noGrp="1"/>
          </p:cNvSpPr>
          <p:nvPr>
            <p:ph type="dt" sz="half" idx="10"/>
          </p:nvPr>
        </p:nvSpPr>
        <p:spPr/>
        <p:txBody>
          <a:bodyPr/>
          <a:lstStyle/>
          <a:p>
            <a:fld id="{EC3AB0CA-3A26-4F16-8C8D-1B3625A31A00}" type="datetime1">
              <a:rPr lang="ko-KR" altLang="en-US" smtClean="0"/>
              <a:t>2019-01-07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473838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F7685CB9-AAEC-4501-983B-23D9B3A40981}" type="datetime1">
              <a:rPr lang="ko-KR" altLang="en-US" smtClean="0"/>
              <a:t>2019-01-07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929115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p:cNvSpPr>
            <a:spLocks noGrp="1"/>
          </p:cNvSpPr>
          <p:nvPr>
            <p:ph type="dt" sz="half" idx="10"/>
          </p:nvPr>
        </p:nvSpPr>
        <p:spPr/>
        <p:txBody>
          <a:bodyPr/>
          <a:lstStyle/>
          <a:p>
            <a:fld id="{1D2FE8F3-BBC3-4016-B12E-DEE91B8C70D1}" type="datetime1">
              <a:rPr lang="ko-KR" altLang="en-US" smtClean="0"/>
              <a:t>2019-01-07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448590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666A834B-F951-4846-895A-0477317BA5B4}" type="datetime1">
              <a:rPr lang="ko-KR" altLang="en-US" smtClean="0"/>
              <a:t>2019-01-07</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526981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5B85590D-5B44-4A15-A6FA-238D48DB53C8}" type="datetime1">
              <a:rPr lang="ko-KR" altLang="en-US" smtClean="0"/>
              <a:t>2019-01-07</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4149263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5E312041-A6D6-4EAF-81C3-6AF3590D9B2E}" type="datetime1">
              <a:rPr lang="ko-KR" altLang="en-US" smtClean="0"/>
              <a:t>2019-01-07</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980559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BE6731DD-6728-4529-B4AC-150F5EA6CDA5}" type="datetime1">
              <a:rPr lang="ko-KR" altLang="en-US" smtClean="0"/>
              <a:t>2019-01-07</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953436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2412BC3E-02B2-4BA3-88C6-D876B9132BEE}" type="datetime1">
              <a:rPr lang="ko-KR" altLang="en-US" smtClean="0"/>
              <a:t>2019-01-07</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312490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A791F1B8-4AB0-450E-BA30-A393CBEEE0B9}" type="datetime1">
              <a:rPr lang="ko-KR" altLang="en-US" smtClean="0"/>
              <a:t>2019-01-07</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786154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96B5077E-4D09-4D7F-AED2-3ECFB52B4B2F}" type="datetime1">
              <a:rPr lang="ko-KR" altLang="en-US" smtClean="0"/>
              <a:t>2019-01-07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3075455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F804BD64-D2A7-4DBC-9C22-C35FF2171F88}" type="datetime1">
              <a:rPr lang="ko-KR" altLang="en-US" smtClean="0"/>
              <a:t>2019-01-07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3359191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p:cNvSpPr>
            <a:spLocks noGrp="1"/>
          </p:cNvSpPr>
          <p:nvPr>
            <p:ph type="dt" sz="half" idx="10"/>
          </p:nvPr>
        </p:nvSpPr>
        <p:spPr/>
        <p:txBody>
          <a:bodyPr/>
          <a:lstStyle/>
          <a:p>
            <a:fld id="{09789B80-0F68-4808-8308-7E8CB701F80B}" type="datetime1">
              <a:rPr lang="ko-KR" altLang="en-US" smtClean="0">
                <a:solidFill>
                  <a:prstClr val="black">
                    <a:tint val="75000"/>
                  </a:prstClr>
                </a:solidFill>
              </a:rPr>
              <a:t>2019-01-07</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692701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38146DA0-A543-443B-9976-4C13D64EFF49}" type="datetime1">
              <a:rPr lang="ko-KR" altLang="en-US" smtClean="0">
                <a:solidFill>
                  <a:prstClr val="black">
                    <a:tint val="75000"/>
                  </a:prstClr>
                </a:solidFill>
              </a:rPr>
              <a:t>2019-01-07</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8034367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p:cNvSpPr>
            <a:spLocks noGrp="1"/>
          </p:cNvSpPr>
          <p:nvPr>
            <p:ph type="dt" sz="half" idx="10"/>
          </p:nvPr>
        </p:nvSpPr>
        <p:spPr/>
        <p:txBody>
          <a:bodyPr/>
          <a:lstStyle/>
          <a:p>
            <a:fld id="{04E0AC1A-42E2-4BCB-8C04-467EB6812828}" type="datetime1">
              <a:rPr lang="ko-KR" altLang="en-US" smtClean="0">
                <a:solidFill>
                  <a:prstClr val="black">
                    <a:tint val="75000"/>
                  </a:prstClr>
                </a:solidFill>
              </a:rPr>
              <a:t>2019-01-07</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6363861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78C9E740-A4F3-48E1-ADE5-C768671A5022}" type="datetime1">
              <a:rPr lang="ko-KR" altLang="en-US" smtClean="0">
                <a:solidFill>
                  <a:prstClr val="black">
                    <a:tint val="75000"/>
                  </a:prstClr>
                </a:solidFill>
              </a:rPr>
              <a:t>2019-01-07</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502852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FB71890C-30A4-4F38-AE2E-EDCBC5B32417}" type="datetime1">
              <a:rPr lang="ko-KR" altLang="en-US" smtClean="0">
                <a:solidFill>
                  <a:prstClr val="black">
                    <a:tint val="75000"/>
                  </a:prstClr>
                </a:solidFill>
              </a:rPr>
              <a:t>2019-01-07</a:t>
            </a:fld>
            <a:endParaRPr lang="ko-KR" altLang="en-US">
              <a:solidFill>
                <a:prstClr val="black">
                  <a:tint val="75000"/>
                </a:prstClr>
              </a:solidFill>
            </a:endParaRPr>
          </a:p>
        </p:txBody>
      </p:sp>
      <p:sp>
        <p:nvSpPr>
          <p:cNvPr id="8" name="바닥글 개체 틀 7"/>
          <p:cNvSpPr>
            <a:spLocks noGrp="1"/>
          </p:cNvSpPr>
          <p:nvPr>
            <p:ph type="ftr" sz="quarter" idx="11"/>
          </p:nvPr>
        </p:nvSpPr>
        <p:spPr/>
        <p:txBody>
          <a:bodyPr/>
          <a:lstStyle/>
          <a:p>
            <a:endParaRPr lang="ko-KR" altLang="en-US">
              <a:solidFill>
                <a:prstClr val="black">
                  <a:tint val="75000"/>
                </a:prstClr>
              </a:solidFill>
            </a:endParaRPr>
          </a:p>
        </p:txBody>
      </p:sp>
      <p:sp>
        <p:nvSpPr>
          <p:cNvPr id="9" name="슬라이드 번호 개체 틀 8"/>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42485647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562C9AAE-3A71-4E68-B2DF-A4796799849E}" type="datetime1">
              <a:rPr lang="ko-KR" altLang="en-US" smtClean="0">
                <a:solidFill>
                  <a:prstClr val="black">
                    <a:tint val="75000"/>
                  </a:prstClr>
                </a:solidFill>
              </a:rPr>
              <a:t>2019-01-07</a:t>
            </a:fld>
            <a:endParaRPr lang="ko-KR" altLang="en-US">
              <a:solidFill>
                <a:prstClr val="black">
                  <a:tint val="75000"/>
                </a:prstClr>
              </a:solidFill>
            </a:endParaRPr>
          </a:p>
        </p:txBody>
      </p:sp>
      <p:sp>
        <p:nvSpPr>
          <p:cNvPr id="4" name="바닥글 개체 틀 3"/>
          <p:cNvSpPr>
            <a:spLocks noGrp="1"/>
          </p:cNvSpPr>
          <p:nvPr>
            <p:ph type="ftr" sz="quarter" idx="11"/>
          </p:nvPr>
        </p:nvSpPr>
        <p:spPr/>
        <p:txBody>
          <a:bodyPr/>
          <a:lstStyle/>
          <a:p>
            <a:endParaRPr lang="ko-KR" altLang="en-US">
              <a:solidFill>
                <a:prstClr val="black">
                  <a:tint val="75000"/>
                </a:prstClr>
              </a:solidFill>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8375930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1B4F376A-881F-4F83-8BAA-2452AC86BF07}" type="datetime1">
              <a:rPr lang="ko-KR" altLang="en-US" smtClean="0">
                <a:solidFill>
                  <a:prstClr val="black">
                    <a:tint val="75000"/>
                  </a:prstClr>
                </a:solidFill>
              </a:rPr>
              <a:t>2019-01-07</a:t>
            </a:fld>
            <a:endParaRPr lang="ko-KR" altLang="en-US">
              <a:solidFill>
                <a:prstClr val="black">
                  <a:tint val="75000"/>
                </a:prstClr>
              </a:solidFill>
            </a:endParaRPr>
          </a:p>
        </p:txBody>
      </p:sp>
      <p:sp>
        <p:nvSpPr>
          <p:cNvPr id="3" name="바닥글 개체 틀 2"/>
          <p:cNvSpPr>
            <a:spLocks noGrp="1"/>
          </p:cNvSpPr>
          <p:nvPr>
            <p:ph type="ftr" sz="quarter" idx="11"/>
          </p:nvPr>
        </p:nvSpPr>
        <p:spPr/>
        <p:txBody>
          <a:bodyPr/>
          <a:lstStyle/>
          <a:p>
            <a:endParaRPr lang="ko-KR" altLang="en-US">
              <a:solidFill>
                <a:prstClr val="black">
                  <a:tint val="75000"/>
                </a:prstClr>
              </a:solidFill>
            </a:endParaRPr>
          </a:p>
        </p:txBody>
      </p:sp>
      <p:sp>
        <p:nvSpPr>
          <p:cNvPr id="4" name="슬라이드 번호 개체 틀 3"/>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4911532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277745D6-926D-49A4-A0BD-75E92CE8DBD3}" type="datetime1">
              <a:rPr lang="ko-KR" altLang="en-US" smtClean="0">
                <a:solidFill>
                  <a:prstClr val="black">
                    <a:tint val="75000"/>
                  </a:prstClr>
                </a:solidFill>
              </a:rPr>
              <a:t>2019-01-07</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8934710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8B1A9945-754F-4F4C-BDBA-3A0C250A3228}" type="datetime1">
              <a:rPr lang="ko-KR" altLang="en-US" smtClean="0">
                <a:solidFill>
                  <a:prstClr val="black">
                    <a:tint val="75000"/>
                  </a:prstClr>
                </a:solidFill>
              </a:rPr>
              <a:t>2019-01-07</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5874289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8DF61253-3998-40D1-84D1-14DDCA9B525D}" type="datetime1">
              <a:rPr lang="ko-KR" altLang="en-US" smtClean="0">
                <a:solidFill>
                  <a:prstClr val="black">
                    <a:tint val="75000"/>
                  </a:prstClr>
                </a:solidFill>
              </a:rPr>
              <a:t>2019-01-07</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2647052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DC893902-BCC8-459F-A9CB-F37808573195}" type="datetime1">
              <a:rPr lang="ko-KR" altLang="en-US" smtClean="0">
                <a:solidFill>
                  <a:prstClr val="black">
                    <a:tint val="75000"/>
                  </a:prstClr>
                </a:solidFill>
              </a:rPr>
              <a:t>2019-01-07</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345848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784D16-1F4A-4F5E-B3BB-0CA00F5D809F}" type="datetime1">
              <a:rPr lang="ko-KR" altLang="en-US" smtClean="0"/>
              <a:t>2019-01-07</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8308090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3CA10-B9BB-4BE8-B178-00EC3ABEC49F}" type="datetime1">
              <a:rPr lang="ko-KR" altLang="en-US" smtClean="0">
                <a:solidFill>
                  <a:prstClr val="black">
                    <a:tint val="75000"/>
                  </a:prstClr>
                </a:solidFill>
              </a:rPr>
              <a:t>2019-01-07</a:t>
            </a:fld>
            <a:endParaRPr lang="ko-KR" altLang="en-US">
              <a:solidFill>
                <a:prstClr val="black">
                  <a:tint val="75000"/>
                </a:prstClr>
              </a:solidFill>
            </a:endParaRPr>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solidFill>
                <a:prstClr val="black">
                  <a:tint val="75000"/>
                </a:prstClr>
              </a:solidFill>
            </a:endParaRPr>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7733858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www.kukinews.com/news/article.html?no=467851" TargetMode="External"/><Relationship Id="rId7" Type="http://schemas.openxmlformats.org/officeDocument/2006/relationships/hyperlink" Target="https://minimap.net/game/dungeon-maker/review" TargetMode="External"/><Relationship Id="rId2" Type="http://schemas.openxmlformats.org/officeDocument/2006/relationships/hyperlink" Target="https://www.clien.net/service/board/park/12754454" TargetMode="External"/><Relationship Id="rId1" Type="http://schemas.openxmlformats.org/officeDocument/2006/relationships/slideLayout" Target="../slideLayouts/slideLayout2.xml"/><Relationship Id="rId6" Type="http://schemas.openxmlformats.org/officeDocument/2006/relationships/hyperlink" Target="https://entropymag.org/hobby-horse-anatomy-bawdy-and-body-in-the-binding-of-isaac-ch-3/" TargetMode="External"/><Relationship Id="rId5" Type="http://schemas.openxmlformats.org/officeDocument/2006/relationships/hyperlink" Target="https://steamcommunity.com/sharedfiles/filedetails/?id=396427946" TargetMode="External"/><Relationship Id="rId4" Type="http://schemas.openxmlformats.org/officeDocument/2006/relationships/hyperlink" Target="https://www.vingle.net/posts/2320991" TargetMode="External"/></Relationships>
</file>

<file path=ppt/slides/_rels/slide41.xml.rels><?xml version="1.0" encoding="UTF-8" standalone="yes"?>
<Relationships xmlns="http://schemas.openxmlformats.org/package/2006/relationships"><Relationship Id="rId8" Type="http://schemas.openxmlformats.org/officeDocument/2006/relationships/hyperlink" Target="https://taskandpurpose.com/xcom2-war-chosen-review/" TargetMode="External"/><Relationship Id="rId3" Type="http://schemas.openxmlformats.org/officeDocument/2006/relationships/hyperlink" Target="http://www.thisisgame.com/webzine/game/nboard/19/?page=13&amp;n=64534" TargetMode="External"/><Relationship Id="rId7" Type="http://schemas.openxmlformats.org/officeDocument/2006/relationships/hyperlink" Target="https://store.steampowered.com/app/785740/This_Is_the_Police_2/" TargetMode="External"/><Relationship Id="rId2" Type="http://schemas.openxmlformats.org/officeDocument/2006/relationships/hyperlink" Target="https://realust.tistory.com/506" TargetMode="External"/><Relationship Id="rId1" Type="http://schemas.openxmlformats.org/officeDocument/2006/relationships/slideLayout" Target="../slideLayouts/slideLayout2.xml"/><Relationship Id="rId6" Type="http://schemas.openxmlformats.org/officeDocument/2006/relationships/hyperlink" Target="http://www.thisisgame.com/mobile/nboard/1/?n=51285" TargetMode="External"/><Relationship Id="rId5" Type="http://schemas.openxmlformats.org/officeDocument/2006/relationships/hyperlink" Target="http://www.thisisgame.com/mobile/nboard/1/?n=55660&amp;mode=print" TargetMode="External"/><Relationship Id="rId4" Type="http://schemas.openxmlformats.org/officeDocument/2006/relationships/hyperlink" Target="http://www.thisisgame.com/pad/tboard/?board=37&amp;n=286482"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7" name="직선 연결선 6"/>
          <p:cNvCxnSpPr/>
          <p:nvPr/>
        </p:nvCxnSpPr>
        <p:spPr>
          <a:xfrm flipH="1">
            <a:off x="0" y="580571"/>
            <a:ext cx="12467772" cy="627742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 name="그룹 1"/>
          <p:cNvGrpSpPr/>
          <p:nvPr/>
        </p:nvGrpSpPr>
        <p:grpSpPr>
          <a:xfrm>
            <a:off x="3066386" y="3090656"/>
            <a:ext cx="6716243" cy="2906180"/>
            <a:chOff x="3066386" y="3090656"/>
            <a:chExt cx="6716243" cy="2906180"/>
          </a:xfrm>
          <a:solidFill>
            <a:schemeClr val="tx1"/>
          </a:solidFill>
        </p:grpSpPr>
        <p:sp>
          <p:nvSpPr>
            <p:cNvPr id="11" name="TextBox 10"/>
            <p:cNvSpPr txBox="1"/>
            <p:nvPr/>
          </p:nvSpPr>
          <p:spPr>
            <a:xfrm>
              <a:off x="3066386" y="3090656"/>
              <a:ext cx="6059229" cy="830997"/>
            </a:xfrm>
            <a:prstGeom prst="rect">
              <a:avLst/>
            </a:prstGeom>
            <a:grpFill/>
          </p:spPr>
          <p:txBody>
            <a:bodyPr wrap="square" rtlCol="0">
              <a:spAutoFit/>
            </a:bodyPr>
            <a:lstStyle/>
            <a:p>
              <a:pPr algn="ctr"/>
              <a:r>
                <a:rPr lang="en-US" altLang="ko-KR" sz="4800" i="1" spc="-150" dirty="0" smtClean="0">
                  <a:gradFill>
                    <a:gsLst>
                      <a:gs pos="0">
                        <a:prstClr val="white"/>
                      </a:gs>
                      <a:gs pos="100000">
                        <a:prstClr val="white"/>
                      </a:gs>
                    </a:gsLst>
                    <a:lin ang="5400000" scaled="1"/>
                  </a:gradFill>
                  <a:effectLst>
                    <a:glow rad="139700">
                      <a:schemeClr val="bg1">
                        <a:alpha val="20000"/>
                      </a:schemeClr>
                    </a:glow>
                  </a:effectLst>
                  <a:latin typeface="HY견명조" panose="02030600000101010101" pitchFamily="18" charset="-127"/>
                  <a:ea typeface="HY견명조" panose="02030600000101010101" pitchFamily="18" charset="-127"/>
                </a:rPr>
                <a:t>Dungeon Tamer</a:t>
              </a:r>
              <a:endParaRPr lang="ko-KR" altLang="en-US" sz="4800" i="1" spc="-150" dirty="0">
                <a:gradFill>
                  <a:gsLst>
                    <a:gs pos="0">
                      <a:prstClr val="white"/>
                    </a:gs>
                    <a:gs pos="100000">
                      <a:prstClr val="white"/>
                    </a:gs>
                  </a:gsLst>
                  <a:lin ang="5400000" scaled="1"/>
                </a:gradFill>
                <a:effectLst>
                  <a:glow rad="139700">
                    <a:schemeClr val="bg1">
                      <a:alpha val="20000"/>
                    </a:schemeClr>
                  </a:glow>
                </a:effectLst>
                <a:latin typeface="HY견명조" panose="02030600000101010101" pitchFamily="18" charset="-127"/>
                <a:ea typeface="HY견명조" panose="02030600000101010101" pitchFamily="18" charset="-127"/>
              </a:endParaRPr>
            </a:p>
          </p:txBody>
        </p:sp>
        <p:sp>
          <p:nvSpPr>
            <p:cNvPr id="9" name="TextBox 8"/>
            <p:cNvSpPr txBox="1"/>
            <p:nvPr/>
          </p:nvSpPr>
          <p:spPr>
            <a:xfrm>
              <a:off x="3066386" y="5658282"/>
              <a:ext cx="6716243" cy="338554"/>
            </a:xfrm>
            <a:prstGeom prst="rect">
              <a:avLst/>
            </a:prstGeom>
            <a:grpFill/>
          </p:spPr>
          <p:txBody>
            <a:bodyPr wrap="square" rtlCol="0">
              <a:spAutoFit/>
            </a:bodyPr>
            <a:lstStyle/>
            <a:p>
              <a:endParaRPr lang="ko-KR" altLang="en-US" sz="1600" b="1" dirty="0">
                <a:gradFill>
                  <a:gsLst>
                    <a:gs pos="0">
                      <a:schemeClr val="bg1"/>
                    </a:gs>
                    <a:gs pos="100000">
                      <a:schemeClr val="bg1"/>
                    </a:gs>
                  </a:gsLst>
                  <a:lin ang="5400000" scaled="1"/>
                </a:gradFill>
                <a:latin typeface="+mj-ea"/>
                <a:ea typeface="+mj-ea"/>
              </a:endParaRPr>
            </a:p>
          </p:txBody>
        </p:sp>
      </p:grpSp>
      <p:sp>
        <p:nvSpPr>
          <p:cNvPr id="5" name="직사각형 4"/>
          <p:cNvSpPr/>
          <p:nvPr/>
        </p:nvSpPr>
        <p:spPr>
          <a:xfrm>
            <a:off x="5164486" y="4596452"/>
            <a:ext cx="6339255" cy="923330"/>
          </a:xfrm>
          <a:prstGeom prst="rect">
            <a:avLst/>
          </a:prstGeom>
        </p:spPr>
        <p:txBody>
          <a:bodyPr wrap="square">
            <a:spAutoFit/>
          </a:bodyPr>
          <a:lstStyle/>
          <a:p>
            <a:r>
              <a:rPr lang="ko-KR" altLang="ko-KR" dirty="0">
                <a:solidFill>
                  <a:schemeClr val="bg1"/>
                </a:solidFill>
                <a:latin typeface="+mn-ea"/>
              </a:rPr>
              <a:t>던전을 탐험하며 몬스터를 물리치고</a:t>
            </a:r>
            <a:r>
              <a:rPr lang="en-US" altLang="ko-KR" dirty="0">
                <a:solidFill>
                  <a:schemeClr val="bg1"/>
                </a:solidFill>
                <a:latin typeface="+mn-ea"/>
              </a:rPr>
              <a:t>, </a:t>
            </a:r>
            <a:r>
              <a:rPr lang="ko-KR" altLang="ko-KR" dirty="0">
                <a:solidFill>
                  <a:schemeClr val="bg1"/>
                </a:solidFill>
                <a:latin typeface="+mn-ea"/>
              </a:rPr>
              <a:t>처치한 </a:t>
            </a:r>
            <a:r>
              <a:rPr lang="ko-KR" altLang="ko-KR" dirty="0" smtClean="0">
                <a:solidFill>
                  <a:schemeClr val="bg1"/>
                </a:solidFill>
                <a:latin typeface="+mn-ea"/>
              </a:rPr>
              <a:t>몬스터를</a:t>
            </a:r>
            <a:endParaRPr lang="en-US" altLang="ko-KR" dirty="0" smtClean="0">
              <a:solidFill>
                <a:schemeClr val="bg1"/>
              </a:solidFill>
              <a:latin typeface="+mn-ea"/>
            </a:endParaRPr>
          </a:p>
          <a:p>
            <a:r>
              <a:rPr lang="ko-KR" altLang="ko-KR" dirty="0" smtClean="0">
                <a:solidFill>
                  <a:schemeClr val="bg1"/>
                </a:solidFill>
                <a:latin typeface="+mn-ea"/>
              </a:rPr>
              <a:t>자신의 </a:t>
            </a:r>
            <a:r>
              <a:rPr lang="ko-KR" altLang="ko-KR" dirty="0">
                <a:solidFill>
                  <a:schemeClr val="bg1"/>
                </a:solidFill>
                <a:latin typeface="+mn-ea"/>
              </a:rPr>
              <a:t>것으로 만들어 성장시키고 장비를 </a:t>
            </a:r>
            <a:r>
              <a:rPr lang="ko-KR" altLang="ko-KR" dirty="0" smtClean="0">
                <a:solidFill>
                  <a:schemeClr val="bg1"/>
                </a:solidFill>
                <a:latin typeface="+mn-ea"/>
              </a:rPr>
              <a:t>업그레이드</a:t>
            </a:r>
            <a:endParaRPr lang="en-US" altLang="ko-KR" dirty="0" smtClean="0">
              <a:solidFill>
                <a:schemeClr val="bg1"/>
              </a:solidFill>
              <a:latin typeface="+mn-ea"/>
            </a:endParaRPr>
          </a:p>
          <a:p>
            <a:r>
              <a:rPr lang="ko-KR" altLang="ko-KR" dirty="0" smtClean="0">
                <a:solidFill>
                  <a:schemeClr val="bg1"/>
                </a:solidFill>
                <a:latin typeface="+mn-ea"/>
              </a:rPr>
              <a:t>하여 던전 </a:t>
            </a:r>
            <a:r>
              <a:rPr lang="ko-KR" altLang="ko-KR" dirty="0" err="1">
                <a:solidFill>
                  <a:schemeClr val="bg1"/>
                </a:solidFill>
                <a:latin typeface="+mn-ea"/>
              </a:rPr>
              <a:t>최심부까지</a:t>
            </a:r>
            <a:r>
              <a:rPr lang="ko-KR" altLang="ko-KR" dirty="0">
                <a:solidFill>
                  <a:schemeClr val="bg1"/>
                </a:solidFill>
                <a:latin typeface="+mn-ea"/>
              </a:rPr>
              <a:t> 정복하는 </a:t>
            </a:r>
            <a:r>
              <a:rPr lang="ko-KR" altLang="en-US" dirty="0" err="1" smtClean="0">
                <a:solidFill>
                  <a:schemeClr val="bg1"/>
                </a:solidFill>
                <a:latin typeface="+mn-ea"/>
              </a:rPr>
              <a:t>로그라이크</a:t>
            </a:r>
            <a:r>
              <a:rPr lang="ko-KR" altLang="ko-KR" dirty="0" smtClean="0">
                <a:solidFill>
                  <a:schemeClr val="bg1"/>
                </a:solidFill>
                <a:latin typeface="+mn-ea"/>
              </a:rPr>
              <a:t> </a:t>
            </a:r>
            <a:r>
              <a:rPr lang="ko-KR" altLang="en-US" dirty="0" err="1" smtClean="0">
                <a:solidFill>
                  <a:schemeClr val="bg1"/>
                </a:solidFill>
                <a:latin typeface="+mn-ea"/>
              </a:rPr>
              <a:t>턴제</a:t>
            </a:r>
            <a:r>
              <a:rPr lang="ko-KR" altLang="en-US" dirty="0" smtClean="0">
                <a:solidFill>
                  <a:schemeClr val="bg1"/>
                </a:solidFill>
                <a:latin typeface="+mn-ea"/>
              </a:rPr>
              <a:t> </a:t>
            </a:r>
            <a:r>
              <a:rPr lang="en-US" altLang="ko-KR" dirty="0" smtClean="0">
                <a:solidFill>
                  <a:schemeClr val="bg1"/>
                </a:solidFill>
                <a:latin typeface="+mn-ea"/>
              </a:rPr>
              <a:t>RPG </a:t>
            </a:r>
            <a:r>
              <a:rPr lang="ko-KR" altLang="ko-KR" dirty="0">
                <a:solidFill>
                  <a:schemeClr val="bg1"/>
                </a:solidFill>
                <a:latin typeface="+mn-ea"/>
              </a:rPr>
              <a:t>게임</a:t>
            </a: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a:t>
            </a:fld>
            <a:endParaRPr lang="ko-KR" altLang="en-US" sz="1800" dirty="0"/>
          </a:p>
        </p:txBody>
      </p:sp>
    </p:spTree>
    <p:extLst>
      <p:ext uri="{BB962C8B-B14F-4D97-AF65-F5344CB8AC3E}">
        <p14:creationId xmlns:p14="http://schemas.microsoft.com/office/powerpoint/2010/main" val="30321945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4" name="직사각형 33"/>
          <p:cNvSpPr/>
          <p:nvPr/>
        </p:nvSpPr>
        <p:spPr>
          <a:xfrm>
            <a:off x="2944830" y="209989"/>
            <a:ext cx="9082006" cy="6431797"/>
          </a:xfrm>
          <a:prstGeom prst="rect">
            <a:avLst/>
          </a:prstGeom>
          <a:solidFill>
            <a:schemeClr val="bg1"/>
          </a:soli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23871" y="0"/>
            <a:ext cx="32391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p:cNvSpPr txBox="1"/>
          <p:nvPr/>
        </p:nvSpPr>
        <p:spPr>
          <a:xfrm>
            <a:off x="123871" y="626716"/>
            <a:ext cx="3239146" cy="584775"/>
          </a:xfrm>
          <a:prstGeom prst="rect">
            <a:avLst/>
          </a:prstGeom>
          <a:noFill/>
        </p:spPr>
        <p:txBody>
          <a:bodyPr wrap="square" rtlCol="0">
            <a:spAutoFit/>
          </a:bodyPr>
          <a:lstStyle/>
          <a:p>
            <a:pPr algn="ctr"/>
            <a:r>
              <a:rPr lang="ko-KR" altLang="en-US" sz="3200" b="1" dirty="0" smtClean="0">
                <a:gradFill>
                  <a:gsLst>
                    <a:gs pos="0">
                      <a:schemeClr val="bg1"/>
                    </a:gs>
                    <a:gs pos="100000">
                      <a:schemeClr val="bg1"/>
                    </a:gs>
                  </a:gsLst>
                  <a:lin ang="5400000" scaled="1"/>
                </a:gradFill>
                <a:latin typeface="+mj-ea"/>
                <a:ea typeface="+mj-ea"/>
              </a:rPr>
              <a:t>목차</a:t>
            </a:r>
            <a:endParaRPr lang="ko-KR" altLang="en-US" sz="3200" b="1" dirty="0">
              <a:gradFill>
                <a:gsLst>
                  <a:gs pos="0">
                    <a:schemeClr val="bg1"/>
                  </a:gs>
                  <a:gs pos="100000">
                    <a:schemeClr val="bg1"/>
                  </a:gs>
                </a:gsLst>
                <a:lin ang="5400000" scaled="1"/>
              </a:gradFill>
              <a:latin typeface="+mj-ea"/>
              <a:ea typeface="+mj-ea"/>
            </a:endParaRPr>
          </a:p>
        </p:txBody>
      </p:sp>
      <p:cxnSp>
        <p:nvCxnSpPr>
          <p:cNvPr id="7" name="직선 연결선 6"/>
          <p:cNvCxnSpPr/>
          <p:nvPr/>
        </p:nvCxnSpPr>
        <p:spPr>
          <a:xfrm flipH="1">
            <a:off x="123871" y="1244817"/>
            <a:ext cx="1183038" cy="71321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flipH="1">
            <a:off x="2393154" y="9034"/>
            <a:ext cx="975566" cy="58814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직선 연결선 11"/>
          <p:cNvCxnSpPr>
            <a:endCxn id="4" idx="3"/>
          </p:cNvCxnSpPr>
          <p:nvPr/>
        </p:nvCxnSpPr>
        <p:spPr>
          <a:xfrm>
            <a:off x="123871" y="1952786"/>
            <a:ext cx="3239146" cy="1476214"/>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4127868" y="628787"/>
            <a:ext cx="7599138"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 및 개요   〮〮〮〮〮〮〮〮〮〮〮〮〮〮〮〮〮〮〮〮〮〮〮〮〮〮〮〮〮〮〮〮〮〮〮〮〮〮〮  </a:t>
            </a:r>
            <a:r>
              <a:rPr lang="en-US" altLang="ko-KR"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3" name="TextBox 22"/>
          <p:cNvSpPr txBox="1"/>
          <p:nvPr/>
        </p:nvSpPr>
        <p:spPr>
          <a:xfrm>
            <a:off x="4127868" y="3024604"/>
            <a:ext cx="7599137"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1" name="TextBox 40"/>
          <p:cNvSpPr txBox="1"/>
          <p:nvPr/>
        </p:nvSpPr>
        <p:spPr>
          <a:xfrm>
            <a:off x="5470435" y="3529592"/>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4" name="TextBox 43"/>
          <p:cNvSpPr txBox="1"/>
          <p:nvPr/>
        </p:nvSpPr>
        <p:spPr>
          <a:xfrm>
            <a:off x="5470435" y="409263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2-2.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로그라이트</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5" name="TextBox 44"/>
          <p:cNvSpPr txBox="1"/>
          <p:nvPr/>
        </p:nvSpPr>
        <p:spPr>
          <a:xfrm>
            <a:off x="5468973" y="465331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개성 있는 </a:t>
            </a:r>
            <a:r>
              <a:rPr lang="ko-KR" altLang="en-US" sz="2200" b="1" dirty="0" smtClean="0">
                <a:gradFill>
                  <a:gsLst>
                    <a:gs pos="0">
                      <a:schemeClr val="tx1"/>
                    </a:gs>
                    <a:gs pos="100000">
                      <a:schemeClr val="tx1"/>
                    </a:gs>
                  </a:gsLst>
                  <a:lin ang="5400000" scaled="1"/>
                </a:gradFill>
                <a:latin typeface="맑은 고딕" panose="020B0503020000020004" pitchFamily="50" charset="-127"/>
              </a:rPr>
              <a:t>캐릭터와 몬스터</a:t>
            </a:r>
            <a:endParaRPr lang="en-US" altLang="ko-KR" sz="2200" b="1" dirty="0">
              <a:gradFill>
                <a:gsLst>
                  <a:gs pos="0">
                    <a:schemeClr val="tx1"/>
                  </a:gs>
                  <a:gs pos="100000">
                    <a:schemeClr val="tx1"/>
                  </a:gs>
                </a:gsLst>
                <a:lin ang="5400000" scaled="1"/>
              </a:gradFill>
              <a:latin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2</a:t>
            </a:fld>
            <a:endParaRPr lang="ko-KR" altLang="en-US" sz="1800" dirty="0"/>
          </a:p>
        </p:txBody>
      </p:sp>
      <p:sp>
        <p:nvSpPr>
          <p:cNvPr id="18" name="TextBox 17"/>
          <p:cNvSpPr txBox="1"/>
          <p:nvPr/>
        </p:nvSpPr>
        <p:spPr>
          <a:xfrm>
            <a:off x="5470434" y="1200814"/>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0" name="TextBox 19"/>
          <p:cNvSpPr txBox="1"/>
          <p:nvPr/>
        </p:nvSpPr>
        <p:spPr>
          <a:xfrm>
            <a:off x="5470434" y="1763858"/>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개요</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1" name="TextBox 20"/>
          <p:cNvSpPr txBox="1"/>
          <p:nvPr/>
        </p:nvSpPr>
        <p:spPr>
          <a:xfrm>
            <a:off x="5468972" y="2324538"/>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필요 사양</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2" name="TextBox 21"/>
          <p:cNvSpPr txBox="1"/>
          <p:nvPr/>
        </p:nvSpPr>
        <p:spPr>
          <a:xfrm>
            <a:off x="5468971" y="5230874"/>
            <a:ext cx="4862402" cy="430887"/>
          </a:xfrm>
          <a:prstGeom prst="rect">
            <a:avLst/>
          </a:prstGeom>
          <a:noFill/>
        </p:spPr>
        <p:txBody>
          <a:bodyPr wrap="square" rtlCol="0">
            <a:spAutoFit/>
          </a:bodyPr>
          <a:lstStyle/>
          <a:p>
            <a:r>
              <a:rPr lang="en-US" altLang="ko-KR" sz="2200" b="1" dirty="0">
                <a:gradFill>
                  <a:gsLst>
                    <a:gs pos="0">
                      <a:schemeClr val="tx1"/>
                    </a:gs>
                    <a:gs pos="100000">
                      <a:schemeClr val="tx1"/>
                    </a:gs>
                  </a:gsLst>
                  <a:lin ang="5400000" scaled="1"/>
                </a:gradFill>
                <a:latin typeface="맑은 고딕" panose="020B0503020000020004" pitchFamily="50" charset="-127"/>
              </a:rPr>
              <a:t>2-4. </a:t>
            </a:r>
            <a:r>
              <a:rPr lang="ko-KR" altLang="en-US" sz="2200" b="1" dirty="0" err="1">
                <a:gradFill>
                  <a:gsLst>
                    <a:gs pos="0">
                      <a:schemeClr val="tx1"/>
                    </a:gs>
                    <a:gs pos="100000">
                      <a:schemeClr val="tx1"/>
                    </a:gs>
                  </a:gsLst>
                  <a:lin ang="5400000" scaled="1"/>
                </a:gradFill>
                <a:latin typeface="맑은 고딕" panose="020B0503020000020004" pitchFamily="50" charset="-127"/>
              </a:rPr>
              <a:t>테이밍과</a:t>
            </a:r>
            <a:r>
              <a:rPr lang="ko-KR" altLang="en-US" sz="2200" b="1" dirty="0">
                <a:gradFill>
                  <a:gsLst>
                    <a:gs pos="0">
                      <a:schemeClr val="tx1"/>
                    </a:gs>
                    <a:gs pos="100000">
                      <a:schemeClr val="tx1"/>
                    </a:gs>
                  </a:gsLst>
                  <a:lin ang="5400000" scaled="1"/>
                </a:gradFill>
                <a:latin typeface="맑은 고딕" panose="020B0503020000020004" pitchFamily="50" charset="-127"/>
              </a:rPr>
              <a:t> 육성 시스템</a:t>
            </a:r>
            <a:endParaRPr lang="en-US" altLang="ko-KR" sz="2200" b="1" dirty="0">
              <a:gradFill>
                <a:gsLst>
                  <a:gs pos="0">
                    <a:schemeClr val="tx1"/>
                  </a:gs>
                  <a:gs pos="100000">
                    <a:schemeClr val="tx1"/>
                  </a:gs>
                </a:gsLst>
                <a:lin ang="5400000" scaled="1"/>
              </a:gradFill>
              <a:latin typeface="맑은 고딕" panose="020B0503020000020004" pitchFamily="50" charset="-127"/>
            </a:endParaRPr>
          </a:p>
        </p:txBody>
      </p:sp>
      <p:sp>
        <p:nvSpPr>
          <p:cNvPr id="24" name="TextBox 23"/>
          <p:cNvSpPr txBox="1"/>
          <p:nvPr/>
        </p:nvSpPr>
        <p:spPr>
          <a:xfrm>
            <a:off x="5468971" y="5791134"/>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2-5.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턴방식</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전략 전투</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3558336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4" name="직사각형 33"/>
          <p:cNvSpPr/>
          <p:nvPr/>
        </p:nvSpPr>
        <p:spPr>
          <a:xfrm>
            <a:off x="2944830" y="209989"/>
            <a:ext cx="9082006" cy="6431797"/>
          </a:xfrm>
          <a:prstGeom prst="rect">
            <a:avLst/>
          </a:prstGeom>
          <a:solidFill>
            <a:schemeClr val="bg1"/>
          </a:soli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23871" y="0"/>
            <a:ext cx="32391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p:cNvSpPr txBox="1"/>
          <p:nvPr/>
        </p:nvSpPr>
        <p:spPr>
          <a:xfrm>
            <a:off x="123871" y="626716"/>
            <a:ext cx="3239146" cy="584775"/>
          </a:xfrm>
          <a:prstGeom prst="rect">
            <a:avLst/>
          </a:prstGeom>
          <a:noFill/>
        </p:spPr>
        <p:txBody>
          <a:bodyPr wrap="square" rtlCol="0">
            <a:spAutoFit/>
          </a:bodyPr>
          <a:lstStyle/>
          <a:p>
            <a:pPr algn="ctr"/>
            <a:r>
              <a:rPr lang="ko-KR" altLang="en-US" sz="3200" b="1" dirty="0" smtClean="0">
                <a:gradFill>
                  <a:gsLst>
                    <a:gs pos="0">
                      <a:schemeClr val="bg1"/>
                    </a:gs>
                    <a:gs pos="100000">
                      <a:schemeClr val="bg1"/>
                    </a:gs>
                  </a:gsLst>
                  <a:lin ang="5400000" scaled="1"/>
                </a:gradFill>
                <a:latin typeface="+mj-ea"/>
                <a:ea typeface="+mj-ea"/>
              </a:rPr>
              <a:t>목차</a:t>
            </a:r>
            <a:endParaRPr lang="ko-KR" altLang="en-US" sz="3200" b="1" dirty="0">
              <a:gradFill>
                <a:gsLst>
                  <a:gs pos="0">
                    <a:schemeClr val="bg1"/>
                  </a:gs>
                  <a:gs pos="100000">
                    <a:schemeClr val="bg1"/>
                  </a:gs>
                </a:gsLst>
                <a:lin ang="5400000" scaled="1"/>
              </a:gradFill>
              <a:latin typeface="+mj-ea"/>
              <a:ea typeface="+mj-ea"/>
            </a:endParaRPr>
          </a:p>
        </p:txBody>
      </p:sp>
      <p:cxnSp>
        <p:nvCxnSpPr>
          <p:cNvPr id="7" name="직선 연결선 6"/>
          <p:cNvCxnSpPr/>
          <p:nvPr/>
        </p:nvCxnSpPr>
        <p:spPr>
          <a:xfrm flipH="1">
            <a:off x="123871" y="1244817"/>
            <a:ext cx="1183038" cy="71321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flipH="1">
            <a:off x="2393154" y="9034"/>
            <a:ext cx="975566" cy="58814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직선 연결선 11"/>
          <p:cNvCxnSpPr>
            <a:endCxn id="4" idx="3"/>
          </p:cNvCxnSpPr>
          <p:nvPr/>
        </p:nvCxnSpPr>
        <p:spPr>
          <a:xfrm>
            <a:off x="123871" y="1952786"/>
            <a:ext cx="3239146" cy="1476214"/>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151583" y="4462788"/>
            <a:ext cx="7558195" cy="430887"/>
          </a:xfrm>
          <a:prstGeom prst="rect">
            <a:avLst/>
          </a:prstGeom>
          <a:noFill/>
        </p:spPr>
        <p:txBody>
          <a:bodyPr wrap="square" rtlCol="0">
            <a:spAutoFit/>
          </a:bodyPr>
          <a:lstStyle/>
          <a:p>
            <a:r>
              <a:rPr lang="en-US" altLang="ko-KR"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기획서 제작 계획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25p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4" name="TextBox 23"/>
          <p:cNvSpPr txBox="1"/>
          <p:nvPr/>
        </p:nvSpPr>
        <p:spPr>
          <a:xfrm>
            <a:off x="5492688" y="503730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세부 기획 컨텐츠</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5" name="TextBox 24"/>
          <p:cNvSpPr txBox="1"/>
          <p:nvPr/>
        </p:nvSpPr>
        <p:spPr>
          <a:xfrm>
            <a:off x="5492688" y="5634945"/>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보완점</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3</a:t>
            </a:fld>
            <a:endParaRPr lang="ko-KR" altLang="en-US" sz="1800" dirty="0"/>
          </a:p>
        </p:txBody>
      </p:sp>
      <p:sp>
        <p:nvSpPr>
          <p:cNvPr id="18" name="TextBox 17"/>
          <p:cNvSpPr txBox="1"/>
          <p:nvPr/>
        </p:nvSpPr>
        <p:spPr>
          <a:xfrm>
            <a:off x="4151583" y="626716"/>
            <a:ext cx="7708320"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3" name="TextBox 22"/>
          <p:cNvSpPr txBox="1"/>
          <p:nvPr/>
        </p:nvSpPr>
        <p:spPr>
          <a:xfrm>
            <a:off x="5492687" y="115976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6" name="TextBox 25"/>
          <p:cNvSpPr txBox="1"/>
          <p:nvPr/>
        </p:nvSpPr>
        <p:spPr>
          <a:xfrm>
            <a:off x="5492687" y="1731793"/>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7" name="TextBox 26"/>
          <p:cNvSpPr txBox="1"/>
          <p:nvPr/>
        </p:nvSpPr>
        <p:spPr>
          <a:xfrm>
            <a:off x="5492687" y="2309351"/>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9" name="TextBox 28"/>
          <p:cNvSpPr txBox="1"/>
          <p:nvPr/>
        </p:nvSpPr>
        <p:spPr>
          <a:xfrm>
            <a:off x="5492687" y="2883920"/>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3-4.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아이템</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0" name="TextBox 19"/>
          <p:cNvSpPr txBox="1"/>
          <p:nvPr/>
        </p:nvSpPr>
        <p:spPr>
          <a:xfrm>
            <a:off x="5492687" y="3455947"/>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3-5.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3310411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4" name="직사각형 33"/>
          <p:cNvSpPr/>
          <p:nvPr/>
        </p:nvSpPr>
        <p:spPr>
          <a:xfrm>
            <a:off x="2944830" y="209989"/>
            <a:ext cx="9082006" cy="6431797"/>
          </a:xfrm>
          <a:prstGeom prst="rect">
            <a:avLst/>
          </a:prstGeom>
          <a:solidFill>
            <a:schemeClr val="bg1"/>
          </a:soli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23871" y="0"/>
            <a:ext cx="32391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p:cNvSpPr txBox="1"/>
          <p:nvPr/>
        </p:nvSpPr>
        <p:spPr>
          <a:xfrm>
            <a:off x="123871" y="626716"/>
            <a:ext cx="3239146" cy="584775"/>
          </a:xfrm>
          <a:prstGeom prst="rect">
            <a:avLst/>
          </a:prstGeom>
          <a:noFill/>
        </p:spPr>
        <p:txBody>
          <a:bodyPr wrap="square" rtlCol="0">
            <a:spAutoFit/>
          </a:bodyPr>
          <a:lstStyle/>
          <a:p>
            <a:pPr algn="ctr"/>
            <a:r>
              <a:rPr lang="ko-KR" altLang="en-US" sz="3200" b="1" dirty="0" smtClean="0">
                <a:gradFill>
                  <a:gsLst>
                    <a:gs pos="0">
                      <a:schemeClr val="bg1"/>
                    </a:gs>
                    <a:gs pos="100000">
                      <a:schemeClr val="bg1"/>
                    </a:gs>
                  </a:gsLst>
                  <a:lin ang="5400000" scaled="1"/>
                </a:gradFill>
                <a:latin typeface="+mj-ea"/>
                <a:ea typeface="+mj-ea"/>
              </a:rPr>
              <a:t>목차</a:t>
            </a:r>
            <a:endParaRPr lang="ko-KR" altLang="en-US" sz="3200" b="1" dirty="0">
              <a:gradFill>
                <a:gsLst>
                  <a:gs pos="0">
                    <a:schemeClr val="bg1"/>
                  </a:gs>
                  <a:gs pos="100000">
                    <a:schemeClr val="bg1"/>
                  </a:gs>
                </a:gsLst>
                <a:lin ang="5400000" scaled="1"/>
              </a:gradFill>
              <a:latin typeface="+mj-ea"/>
              <a:ea typeface="+mj-ea"/>
            </a:endParaRPr>
          </a:p>
        </p:txBody>
      </p:sp>
      <p:cxnSp>
        <p:nvCxnSpPr>
          <p:cNvPr id="7" name="직선 연결선 6"/>
          <p:cNvCxnSpPr/>
          <p:nvPr/>
        </p:nvCxnSpPr>
        <p:spPr>
          <a:xfrm flipH="1">
            <a:off x="123871" y="1244817"/>
            <a:ext cx="1183038" cy="71321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flipH="1">
            <a:off x="2393154" y="9034"/>
            <a:ext cx="975566" cy="58814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직선 연결선 11"/>
          <p:cNvCxnSpPr>
            <a:endCxn id="4" idx="3"/>
          </p:cNvCxnSpPr>
          <p:nvPr/>
        </p:nvCxnSpPr>
        <p:spPr>
          <a:xfrm>
            <a:off x="123871" y="1952786"/>
            <a:ext cx="3239146" cy="1476214"/>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218259" y="626716"/>
            <a:ext cx="751725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참고문헌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29p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8" name="TextBox 27"/>
          <p:cNvSpPr txBox="1"/>
          <p:nvPr/>
        </p:nvSpPr>
        <p:spPr>
          <a:xfrm>
            <a:off x="4218258" y="1934167"/>
            <a:ext cx="7694673"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부록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31p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4</a:t>
            </a:fld>
            <a:endParaRPr lang="ko-KR" altLang="en-US" sz="1800" dirty="0"/>
          </a:p>
        </p:txBody>
      </p:sp>
    </p:spTree>
    <p:extLst>
      <p:ext uri="{BB962C8B-B14F-4D97-AF65-F5344CB8AC3E}">
        <p14:creationId xmlns:p14="http://schemas.microsoft.com/office/powerpoint/2010/main" val="10812117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210 앱굴림 R" panose="02020603020101020101" pitchFamily="18" charset="-127"/>
              <a:ea typeface="210 앱굴림 R" panose="02020603020101020101" pitchFamily="18" charset="-127"/>
            </a:endParaRPr>
          </a:p>
        </p:txBody>
      </p:sp>
      <p:sp>
        <p:nvSpPr>
          <p:cNvPr id="5" name="TextBox 4"/>
          <p:cNvSpPr txBox="1"/>
          <p:nvPr/>
        </p:nvSpPr>
        <p:spPr>
          <a:xfrm>
            <a:off x="4699192" y="620053"/>
            <a:ext cx="23086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 name="TextBox 5"/>
          <p:cNvSpPr txBox="1"/>
          <p:nvPr/>
        </p:nvSpPr>
        <p:spPr>
          <a:xfrm>
            <a:off x="72570" y="250721"/>
            <a:ext cx="6935297"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 및 개요</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7" name="TextBox 36"/>
          <p:cNvSpPr txBox="1"/>
          <p:nvPr/>
        </p:nvSpPr>
        <p:spPr>
          <a:xfrm>
            <a:off x="4949374" y="1151764"/>
            <a:ext cx="6924178" cy="1269578"/>
          </a:xfrm>
          <a:prstGeom prst="rect">
            <a:avLst/>
          </a:prstGeom>
          <a:noFill/>
        </p:spPr>
        <p:txBody>
          <a:bodyPr wrap="square" rtlCol="0">
            <a:spAutoFit/>
          </a:bodyPr>
          <a:lstStyle/>
          <a:p>
            <a:pPr>
              <a:lnSpc>
                <a:spcPct val="150000"/>
              </a:lnSpc>
            </a:pP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플레이어가 선택할 캐릭터와 </a:t>
            </a:r>
            <a:r>
              <a:rPr lang="ko-KR" altLang="en-US" sz="1700"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테이밍할</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수 있는 </a:t>
            </a:r>
            <a:r>
              <a:rPr lang="ko-KR" altLang="en-US" sz="1700"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몬스터들을</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중심으로</a:t>
            </a:r>
            <a:r>
              <a:rPr lang="en-US" altLang="ko-KR"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각각의 특징과 능력에 따른 다양한 조합과 </a:t>
            </a:r>
            <a:r>
              <a:rPr lang="ko-KR" altLang="en-US" sz="1700"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턴제</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1700"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임의 전략적 플레이에서 기인하는 재미를 구체적으로 제시하는 데에 중점을 둔다</a:t>
            </a:r>
            <a:r>
              <a:rPr lang="en-US" altLang="ko-KR"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endParaRPr lang="en-US" altLang="ko-KR" sz="1700"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22991" y="2818021"/>
            <a:ext cx="24610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개요</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3" name="표 2"/>
          <p:cNvGraphicFramePr>
            <a:graphicFrameLocks noGrp="1"/>
          </p:cNvGraphicFramePr>
          <p:nvPr>
            <p:extLst>
              <p:ext uri="{D42A27DB-BD31-4B8C-83A1-F6EECF244321}">
                <p14:modId xmlns:p14="http://schemas.microsoft.com/office/powerpoint/2010/main" val="2555973262"/>
              </p:ext>
            </p:extLst>
          </p:nvPr>
        </p:nvGraphicFramePr>
        <p:xfrm>
          <a:off x="4949374" y="3443220"/>
          <a:ext cx="6995883" cy="2595880"/>
        </p:xfrm>
        <a:graphic>
          <a:graphicData uri="http://schemas.openxmlformats.org/drawingml/2006/table">
            <a:tbl>
              <a:tblPr firstRow="1" bandRow="1">
                <a:tableStyleId>{073A0DAA-6AF3-43AB-8588-CEC1D06C72B9}</a:tableStyleId>
              </a:tblPr>
              <a:tblGrid>
                <a:gridCol w="1804448">
                  <a:extLst>
                    <a:ext uri="{9D8B030D-6E8A-4147-A177-3AD203B41FA5}">
                      <a16:colId xmlns:a16="http://schemas.microsoft.com/office/drawing/2014/main" xmlns="" val="3475047078"/>
                    </a:ext>
                  </a:extLst>
                </a:gridCol>
                <a:gridCol w="5191435">
                  <a:extLst>
                    <a:ext uri="{9D8B030D-6E8A-4147-A177-3AD203B41FA5}">
                      <a16:colId xmlns:a16="http://schemas.microsoft.com/office/drawing/2014/main" xmlns="" val="1305153539"/>
                    </a:ext>
                  </a:extLst>
                </a:gridCol>
              </a:tblGrid>
              <a:tr h="370840">
                <a:tc gridSpan="2">
                  <a:txBody>
                    <a:bodyPr/>
                    <a:lstStyle/>
                    <a:p>
                      <a:pPr algn="ctr" latinLnBrk="1"/>
                      <a:r>
                        <a:rPr lang="ko-KR" altLang="en-US" dirty="0" smtClean="0"/>
                        <a:t>개요</a:t>
                      </a:r>
                      <a:endParaRPr lang="ko-KR" altLang="en-US" dirty="0"/>
                    </a:p>
                  </a:txBody>
                  <a:tcPr anchor="ctr"/>
                </a:tc>
                <a:tc hMerge="1">
                  <a:txBody>
                    <a:bodyPr/>
                    <a:lstStyle/>
                    <a:p>
                      <a:pPr latinLnBrk="1"/>
                      <a:endParaRPr lang="ko-KR" altLang="en-US" dirty="0"/>
                    </a:p>
                  </a:txBody>
                  <a:tcPr/>
                </a:tc>
                <a:extLst>
                  <a:ext uri="{0D108BD9-81ED-4DB2-BD59-A6C34878D82A}">
                    <a16:rowId xmlns:a16="http://schemas.microsoft.com/office/drawing/2014/main" xmlns="" val="1178596490"/>
                  </a:ext>
                </a:extLst>
              </a:tr>
              <a:tr h="370840">
                <a:tc>
                  <a:txBody>
                    <a:bodyPr/>
                    <a:lstStyle/>
                    <a:p>
                      <a:pPr algn="ctr" latinLnBrk="1"/>
                      <a:r>
                        <a:rPr lang="ko-KR" altLang="en-US" dirty="0" smtClean="0"/>
                        <a:t>제목</a:t>
                      </a:r>
                      <a:endParaRPr lang="ko-KR" altLang="en-US" dirty="0"/>
                    </a:p>
                  </a:txBody>
                  <a:tcPr anchor="ctr"/>
                </a:tc>
                <a:tc>
                  <a:txBody>
                    <a:bodyPr/>
                    <a:lstStyle/>
                    <a:p>
                      <a:pPr algn="ctr" latinLnBrk="1"/>
                      <a:r>
                        <a:rPr lang="en-US" altLang="ko-KR" dirty="0" smtClean="0"/>
                        <a:t>Dungeon</a:t>
                      </a:r>
                      <a:r>
                        <a:rPr lang="en-US" altLang="ko-KR" baseline="0" dirty="0" smtClean="0"/>
                        <a:t> Tamer</a:t>
                      </a:r>
                      <a:endParaRPr lang="ko-KR" altLang="en-US" dirty="0"/>
                    </a:p>
                  </a:txBody>
                  <a:tcPr anchor="ctr"/>
                </a:tc>
                <a:extLst>
                  <a:ext uri="{0D108BD9-81ED-4DB2-BD59-A6C34878D82A}">
                    <a16:rowId xmlns:a16="http://schemas.microsoft.com/office/drawing/2014/main" xmlns="" val="1039901684"/>
                  </a:ext>
                </a:extLst>
              </a:tr>
              <a:tr h="370840">
                <a:tc>
                  <a:txBody>
                    <a:bodyPr/>
                    <a:lstStyle/>
                    <a:p>
                      <a:pPr algn="ctr" latinLnBrk="1"/>
                      <a:r>
                        <a:rPr lang="ko-KR" altLang="en-US" dirty="0" smtClean="0"/>
                        <a:t>장르</a:t>
                      </a:r>
                      <a:endParaRPr lang="ko-KR" altLang="en-US" dirty="0"/>
                    </a:p>
                  </a:txBody>
                  <a:tcPr anchor="ctr"/>
                </a:tc>
                <a:tc>
                  <a:txBody>
                    <a:bodyPr/>
                    <a:lstStyle/>
                    <a:p>
                      <a:pPr algn="ctr" latinLnBrk="1"/>
                      <a:r>
                        <a:rPr lang="en-US" altLang="ko-KR" dirty="0" smtClean="0"/>
                        <a:t>2D TRPG</a:t>
                      </a:r>
                      <a:endParaRPr lang="ko-KR" altLang="en-US" dirty="0"/>
                    </a:p>
                  </a:txBody>
                  <a:tcPr anchor="ctr"/>
                </a:tc>
                <a:extLst>
                  <a:ext uri="{0D108BD9-81ED-4DB2-BD59-A6C34878D82A}">
                    <a16:rowId xmlns:a16="http://schemas.microsoft.com/office/drawing/2014/main" xmlns="" val="1243071007"/>
                  </a:ext>
                </a:extLst>
              </a:tr>
              <a:tr h="370840">
                <a:tc>
                  <a:txBody>
                    <a:bodyPr/>
                    <a:lstStyle/>
                    <a:p>
                      <a:pPr algn="ctr" latinLnBrk="1"/>
                      <a:r>
                        <a:rPr lang="ko-KR" altLang="en-US" dirty="0" smtClean="0"/>
                        <a:t>플랫폼</a:t>
                      </a:r>
                      <a:endParaRPr lang="ko-KR" altLang="en-US" dirty="0"/>
                    </a:p>
                  </a:txBody>
                  <a:tcPr anchor="ctr"/>
                </a:tc>
                <a:tc>
                  <a:txBody>
                    <a:bodyPr/>
                    <a:lstStyle/>
                    <a:p>
                      <a:pPr algn="ctr" latinLnBrk="1"/>
                      <a:r>
                        <a:rPr lang="en-US" altLang="ko-KR" dirty="0" smtClean="0"/>
                        <a:t>PC, PS4,</a:t>
                      </a:r>
                      <a:r>
                        <a:rPr lang="en-US" altLang="ko-KR" baseline="0" dirty="0" smtClean="0"/>
                        <a:t> XB1, NSW</a:t>
                      </a:r>
                      <a:endParaRPr lang="ko-KR" altLang="en-US" dirty="0"/>
                    </a:p>
                  </a:txBody>
                  <a:tcPr anchor="ctr"/>
                </a:tc>
                <a:extLst>
                  <a:ext uri="{0D108BD9-81ED-4DB2-BD59-A6C34878D82A}">
                    <a16:rowId xmlns:a16="http://schemas.microsoft.com/office/drawing/2014/main" xmlns="" val="3415024306"/>
                  </a:ext>
                </a:extLst>
              </a:tr>
              <a:tr h="370840">
                <a:tc>
                  <a:txBody>
                    <a:bodyPr/>
                    <a:lstStyle/>
                    <a:p>
                      <a:pPr algn="ctr" latinLnBrk="1"/>
                      <a:r>
                        <a:rPr lang="ko-KR" altLang="en-US" dirty="0" smtClean="0"/>
                        <a:t>플레이 유형</a:t>
                      </a:r>
                      <a:endParaRPr lang="ko-KR" altLang="en-US" dirty="0"/>
                    </a:p>
                  </a:txBody>
                  <a:tcPr anchor="ctr"/>
                </a:tc>
                <a:tc>
                  <a:txBody>
                    <a:bodyPr/>
                    <a:lstStyle/>
                    <a:p>
                      <a:pPr algn="ctr" latinLnBrk="1"/>
                      <a:r>
                        <a:rPr lang="ko-KR" altLang="en-US" dirty="0" smtClean="0"/>
                        <a:t>싱글 플레이</a:t>
                      </a:r>
                      <a:endParaRPr lang="ko-KR" altLang="en-US" dirty="0"/>
                    </a:p>
                  </a:txBody>
                  <a:tcPr anchor="ctr"/>
                </a:tc>
                <a:extLst>
                  <a:ext uri="{0D108BD9-81ED-4DB2-BD59-A6C34878D82A}">
                    <a16:rowId xmlns:a16="http://schemas.microsoft.com/office/drawing/2014/main" xmlns="" val="3365250972"/>
                  </a:ext>
                </a:extLst>
              </a:tr>
              <a:tr h="741680">
                <a:tc>
                  <a:txBody>
                    <a:bodyPr/>
                    <a:lstStyle/>
                    <a:p>
                      <a:pPr algn="ctr" latinLnBrk="1"/>
                      <a:r>
                        <a:rPr lang="ko-KR" altLang="en-US" dirty="0" smtClean="0"/>
                        <a:t>주 타겟 유저</a:t>
                      </a:r>
                      <a:endParaRPr lang="ko-KR" altLang="en-US" dirty="0"/>
                    </a:p>
                  </a:txBody>
                  <a:tcPr anchor="ctr"/>
                </a:tc>
                <a:tc>
                  <a:txBody>
                    <a:bodyPr/>
                    <a:lstStyle/>
                    <a:p>
                      <a:pPr algn="ctr" latinLnBrk="1"/>
                      <a:r>
                        <a:rPr lang="ko-KR" altLang="en-US" dirty="0" smtClean="0"/>
                        <a:t>턴 방식의 전략 게임과 </a:t>
                      </a:r>
                      <a:r>
                        <a:rPr lang="ko-KR" altLang="en-US" dirty="0" err="1" smtClean="0"/>
                        <a:t>로그라이크</a:t>
                      </a:r>
                      <a:r>
                        <a:rPr lang="ko-KR" altLang="en-US" dirty="0" smtClean="0"/>
                        <a:t> 장르를</a:t>
                      </a:r>
                      <a:r>
                        <a:rPr lang="ko-KR" altLang="en-US" baseline="0" dirty="0" smtClean="0"/>
                        <a:t> </a:t>
                      </a:r>
                      <a:endParaRPr lang="en-US" altLang="ko-KR" baseline="0" dirty="0" smtClean="0"/>
                    </a:p>
                    <a:p>
                      <a:pPr algn="ctr" latinLnBrk="1"/>
                      <a:r>
                        <a:rPr lang="ko-KR" altLang="en-US" baseline="0" dirty="0" smtClean="0"/>
                        <a:t>선호하는 </a:t>
                      </a:r>
                      <a:r>
                        <a:rPr lang="en-US" altLang="ko-KR" dirty="0" smtClean="0"/>
                        <a:t>10~30</a:t>
                      </a:r>
                      <a:r>
                        <a:rPr lang="ko-KR" altLang="en-US" dirty="0" smtClean="0"/>
                        <a:t>대 게이머</a:t>
                      </a:r>
                      <a:endParaRPr lang="ko-KR" altLang="en-US" dirty="0"/>
                    </a:p>
                  </a:txBody>
                  <a:tcPr anchor="ctr"/>
                </a:tc>
                <a:extLst>
                  <a:ext uri="{0D108BD9-81ED-4DB2-BD59-A6C34878D82A}">
                    <a16:rowId xmlns:a16="http://schemas.microsoft.com/office/drawing/2014/main" xmlns="" val="1780395460"/>
                  </a:ext>
                </a:extLst>
              </a:tr>
            </a:tbl>
          </a:graphicData>
        </a:graphic>
      </p:graphicFrame>
      <p:sp>
        <p:nvSpPr>
          <p:cNvPr id="7" name="슬라이드 번호 개체 틀 6"/>
          <p:cNvSpPr>
            <a:spLocks noGrp="1"/>
          </p:cNvSpPr>
          <p:nvPr>
            <p:ph type="sldNum" sz="quarter" idx="12"/>
          </p:nvPr>
        </p:nvSpPr>
        <p:spPr/>
        <p:txBody>
          <a:bodyPr/>
          <a:lstStyle/>
          <a:p>
            <a:fld id="{95F8FB6C-4300-4EF3-AEA9-23A98D8A74E1}" type="slidenum">
              <a:rPr lang="ko-KR" altLang="en-US" sz="1800" smtClean="0"/>
              <a:t>5</a:t>
            </a:fld>
            <a:endParaRPr lang="ko-KR" altLang="en-US" sz="1800"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40266" y="777408"/>
            <a:ext cx="4196874" cy="236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Box 14"/>
          <p:cNvSpPr txBox="1"/>
          <p:nvPr/>
        </p:nvSpPr>
        <p:spPr>
          <a:xfrm>
            <a:off x="1155469" y="3125709"/>
            <a:ext cx="294270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1 - 1)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턴제</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전투 </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1</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6" name="TextBox 15"/>
          <p:cNvSpPr txBox="1"/>
          <p:nvPr/>
        </p:nvSpPr>
        <p:spPr>
          <a:xfrm>
            <a:off x="1155469" y="6125918"/>
            <a:ext cx="294270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1 - 2)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조합과  상성이  있는  전투</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031" name="Picture 7"/>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39071" y="3640508"/>
            <a:ext cx="4199265" cy="2360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635706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210 앱굴림 R" panose="02020603020101020101" pitchFamily="18" charset="-127"/>
              <a:ea typeface="210 앱굴림 R" panose="02020603020101020101" pitchFamily="18" charset="-127"/>
            </a:endParaRPr>
          </a:p>
        </p:txBody>
      </p:sp>
      <p:sp>
        <p:nvSpPr>
          <p:cNvPr id="6" name="TextBox 5"/>
          <p:cNvSpPr txBox="1"/>
          <p:nvPr/>
        </p:nvSpPr>
        <p:spPr>
          <a:xfrm>
            <a:off x="72570" y="250721"/>
            <a:ext cx="6935297" cy="369332"/>
          </a:xfrm>
          <a:prstGeom prst="rect">
            <a:avLst/>
          </a:prstGeom>
          <a:noFill/>
        </p:spPr>
        <p:txBody>
          <a:bodyPr wrap="square" rtlCol="0">
            <a:spAutoFit/>
          </a:bodyPr>
          <a:lstStyle/>
          <a:p>
            <a:r>
              <a:rPr lang="en-US" altLang="ko-KR" spc="-300" dirty="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a:gradFill>
                  <a:gsLst>
                    <a:gs pos="0">
                      <a:schemeClr val="tx1"/>
                    </a:gs>
                    <a:gs pos="100000">
                      <a:schemeClr val="tx1"/>
                    </a:gs>
                  </a:gsLst>
                  <a:lin ang="5400000" scaled="1"/>
                </a:gradFill>
                <a:latin typeface="맑은 고딕" panose="020B0503020000020004" pitchFamily="50" charset="-127"/>
              </a:rPr>
              <a:t>기획 컨셉 및 </a:t>
            </a:r>
            <a:r>
              <a:rPr lang="ko-KR" altLang="en-US" b="1" dirty="0" smtClean="0">
                <a:gradFill>
                  <a:gsLst>
                    <a:gs pos="0">
                      <a:schemeClr val="tx1"/>
                    </a:gs>
                    <a:gs pos="100000">
                      <a:schemeClr val="tx1"/>
                    </a:gs>
                  </a:gsLst>
                  <a:lin ang="5400000" scaled="1"/>
                </a:gradFill>
                <a:latin typeface="맑은 고딕" panose="020B0503020000020004" pitchFamily="50" charset="-127"/>
              </a:rPr>
              <a:t>개요</a:t>
            </a:r>
            <a:endParaRPr lang="ko-KR" altLang="en-US" b="1" dirty="0">
              <a:gradFill>
                <a:gsLst>
                  <a:gs pos="0">
                    <a:schemeClr val="tx1"/>
                  </a:gs>
                  <a:gs pos="100000">
                    <a:schemeClr val="tx1"/>
                  </a:gs>
                </a:gsLst>
                <a:lin ang="5400000" scaled="1"/>
              </a:gradFill>
              <a:latin typeface="맑은 고딕" panose="020B0503020000020004" pitchFamily="50" charset="-127"/>
            </a:endParaRPr>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754747" y="1257383"/>
            <a:ext cx="2322282"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필요 사양</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7" name="표 6"/>
          <p:cNvGraphicFramePr>
            <a:graphicFrameLocks noGrp="1"/>
          </p:cNvGraphicFramePr>
          <p:nvPr>
            <p:extLst>
              <p:ext uri="{D42A27DB-BD31-4B8C-83A1-F6EECF244321}">
                <p14:modId xmlns:p14="http://schemas.microsoft.com/office/powerpoint/2010/main" val="276476328"/>
              </p:ext>
            </p:extLst>
          </p:nvPr>
        </p:nvGraphicFramePr>
        <p:xfrm>
          <a:off x="754747" y="1894709"/>
          <a:ext cx="10609938" cy="3421728"/>
        </p:xfrm>
        <a:graphic>
          <a:graphicData uri="http://schemas.openxmlformats.org/drawingml/2006/table">
            <a:tbl>
              <a:tblPr firstRow="1" bandRow="1">
                <a:tableStyleId>{073A0DAA-6AF3-43AB-8588-CEC1D06C72B9}</a:tableStyleId>
              </a:tblPr>
              <a:tblGrid>
                <a:gridCol w="1712682">
                  <a:extLst>
                    <a:ext uri="{9D8B030D-6E8A-4147-A177-3AD203B41FA5}">
                      <a16:colId xmlns:a16="http://schemas.microsoft.com/office/drawing/2014/main" xmlns="" val="389885132"/>
                    </a:ext>
                  </a:extLst>
                </a:gridCol>
                <a:gridCol w="3991428">
                  <a:extLst>
                    <a:ext uri="{9D8B030D-6E8A-4147-A177-3AD203B41FA5}">
                      <a16:colId xmlns:a16="http://schemas.microsoft.com/office/drawing/2014/main" xmlns="" val="2257908711"/>
                    </a:ext>
                  </a:extLst>
                </a:gridCol>
                <a:gridCol w="4905828">
                  <a:extLst>
                    <a:ext uri="{9D8B030D-6E8A-4147-A177-3AD203B41FA5}">
                      <a16:colId xmlns:a16="http://schemas.microsoft.com/office/drawing/2014/main" xmlns="" val="4230724851"/>
                    </a:ext>
                  </a:extLst>
                </a:gridCol>
              </a:tblGrid>
              <a:tr h="570288">
                <a:tc>
                  <a:txBody>
                    <a:bodyPr/>
                    <a:lstStyle/>
                    <a:p>
                      <a:pPr algn="ctr" latinLnBrk="1"/>
                      <a:r>
                        <a:rPr lang="en-US" altLang="ko-KR" dirty="0" smtClean="0"/>
                        <a:t>Requirements</a:t>
                      </a:r>
                      <a:endParaRPr lang="ko-KR" altLang="en-US" dirty="0"/>
                    </a:p>
                  </a:txBody>
                  <a:tcPr anchor="ctr"/>
                </a:tc>
                <a:tc>
                  <a:txBody>
                    <a:bodyPr/>
                    <a:lstStyle/>
                    <a:p>
                      <a:pPr algn="ctr" latinLnBrk="1"/>
                      <a:r>
                        <a:rPr lang="en-US" altLang="ko-KR" dirty="0" smtClean="0"/>
                        <a:t>Minimum</a:t>
                      </a:r>
                      <a:endParaRPr lang="ko-KR" altLang="en-US" dirty="0"/>
                    </a:p>
                  </a:txBody>
                  <a:tcPr anchor="ctr"/>
                </a:tc>
                <a:tc>
                  <a:txBody>
                    <a:bodyPr/>
                    <a:lstStyle/>
                    <a:p>
                      <a:pPr algn="ctr" latinLnBrk="1"/>
                      <a:r>
                        <a:rPr lang="en-US" altLang="ko-KR" dirty="0" smtClean="0"/>
                        <a:t>Recommended</a:t>
                      </a:r>
                      <a:endParaRPr lang="ko-KR" altLang="en-US" dirty="0"/>
                    </a:p>
                  </a:txBody>
                  <a:tcPr anchor="ctr"/>
                </a:tc>
                <a:extLst>
                  <a:ext uri="{0D108BD9-81ED-4DB2-BD59-A6C34878D82A}">
                    <a16:rowId xmlns:a16="http://schemas.microsoft.com/office/drawing/2014/main" xmlns="" val="2153952193"/>
                  </a:ext>
                </a:extLst>
              </a:tr>
              <a:tr h="570288">
                <a:tc>
                  <a:txBody>
                    <a:bodyPr/>
                    <a:lstStyle/>
                    <a:p>
                      <a:pPr algn="ctr" latinLnBrk="1"/>
                      <a:r>
                        <a:rPr lang="en-US" altLang="ko-KR" dirty="0" smtClean="0"/>
                        <a:t>OS</a:t>
                      </a:r>
                      <a:endParaRPr lang="ko-KR" altLang="en-US" dirty="0"/>
                    </a:p>
                  </a:txBody>
                  <a:tcPr anchor="ctr"/>
                </a:tc>
                <a:tc>
                  <a:txBody>
                    <a:bodyPr/>
                    <a:lstStyle/>
                    <a:p>
                      <a:pPr algn="ctr" latinLnBrk="1"/>
                      <a:r>
                        <a:rPr lang="en-US" altLang="ko-KR" dirty="0" smtClean="0"/>
                        <a:t>Windows 7+</a:t>
                      </a:r>
                      <a:endParaRPr lang="ko-KR" altLang="en-US" dirty="0"/>
                    </a:p>
                  </a:txBody>
                  <a:tcPr anchor="ctr"/>
                </a:tc>
                <a:tc>
                  <a:txBody>
                    <a:bodyPr/>
                    <a:lstStyle/>
                    <a:p>
                      <a:pPr algn="ctr" latinLnBrk="1"/>
                      <a:r>
                        <a:rPr lang="en-US" altLang="ko-KR" dirty="0" smtClean="0"/>
                        <a:t>Windows 7+</a:t>
                      </a:r>
                      <a:endParaRPr lang="ko-KR" altLang="en-US" dirty="0"/>
                    </a:p>
                  </a:txBody>
                  <a:tcPr anchor="ctr"/>
                </a:tc>
                <a:extLst>
                  <a:ext uri="{0D108BD9-81ED-4DB2-BD59-A6C34878D82A}">
                    <a16:rowId xmlns:a16="http://schemas.microsoft.com/office/drawing/2014/main" xmlns="" val="1269054755"/>
                  </a:ext>
                </a:extLst>
              </a:tr>
              <a:tr h="570288">
                <a:tc>
                  <a:txBody>
                    <a:bodyPr/>
                    <a:lstStyle/>
                    <a:p>
                      <a:pPr algn="ctr" latinLnBrk="1"/>
                      <a:r>
                        <a:rPr lang="en-US" altLang="ko-KR" dirty="0" smtClean="0"/>
                        <a:t>Processor</a:t>
                      </a:r>
                      <a:endParaRPr lang="ko-KR" altLang="en-US" dirty="0"/>
                    </a:p>
                  </a:txBody>
                  <a:tcPr anchor="ctr"/>
                </a:tc>
                <a:tc>
                  <a:txBody>
                    <a:bodyPr/>
                    <a:lstStyle/>
                    <a:p>
                      <a:pPr algn="ctr" latinLnBrk="1"/>
                      <a:r>
                        <a:rPr lang="en-US" altLang="ko-KR" dirty="0" smtClean="0"/>
                        <a:t>Dual core</a:t>
                      </a:r>
                      <a:r>
                        <a:rPr lang="en-US" altLang="ko-KR" baseline="0" dirty="0" smtClean="0"/>
                        <a:t> </a:t>
                      </a:r>
                      <a:r>
                        <a:rPr lang="en-US" altLang="ko-KR" dirty="0" smtClean="0"/>
                        <a:t>2.6 </a:t>
                      </a:r>
                      <a:r>
                        <a:rPr lang="en-US" altLang="ko-KR" dirty="0" err="1" smtClean="0"/>
                        <a:t>ghz</a:t>
                      </a:r>
                      <a:r>
                        <a:rPr lang="en-US" altLang="ko-KR" dirty="0" smtClean="0"/>
                        <a:t> +</a:t>
                      </a:r>
                      <a:endParaRPr lang="ko-KR" altLang="en-US" dirty="0"/>
                    </a:p>
                  </a:txBody>
                  <a:tcPr anchor="ctr"/>
                </a:tc>
                <a:tc>
                  <a:txBody>
                    <a:bodyPr/>
                    <a:lstStyle/>
                    <a:p>
                      <a:pPr algn="ctr" latinLnBrk="1"/>
                      <a:r>
                        <a:rPr lang="en-US" altLang="ko-KR" dirty="0" smtClean="0"/>
                        <a:t>Intel core</a:t>
                      </a:r>
                      <a:r>
                        <a:rPr lang="en-US" altLang="ko-KR" baseline="0" dirty="0" smtClean="0"/>
                        <a:t> i5 series +</a:t>
                      </a:r>
                      <a:endParaRPr lang="ko-KR" altLang="en-US" dirty="0"/>
                    </a:p>
                  </a:txBody>
                  <a:tcPr anchor="ctr"/>
                </a:tc>
                <a:extLst>
                  <a:ext uri="{0D108BD9-81ED-4DB2-BD59-A6C34878D82A}">
                    <a16:rowId xmlns:a16="http://schemas.microsoft.com/office/drawing/2014/main" xmlns="" val="3493674192"/>
                  </a:ext>
                </a:extLst>
              </a:tr>
              <a:tr h="570288">
                <a:tc>
                  <a:txBody>
                    <a:bodyPr/>
                    <a:lstStyle/>
                    <a:p>
                      <a:pPr algn="ctr" latinLnBrk="1"/>
                      <a:r>
                        <a:rPr lang="en-US" altLang="ko-KR" dirty="0" smtClean="0"/>
                        <a:t>Memory</a:t>
                      </a:r>
                      <a:endParaRPr lang="ko-KR" altLang="en-US" dirty="0"/>
                    </a:p>
                  </a:txBody>
                  <a:tcPr anchor="ctr"/>
                </a:tc>
                <a:tc>
                  <a:txBody>
                    <a:bodyPr/>
                    <a:lstStyle/>
                    <a:p>
                      <a:pPr algn="ctr" latinLnBrk="1"/>
                      <a:r>
                        <a:rPr lang="en-US" altLang="ko-KR" dirty="0" smtClean="0"/>
                        <a:t>1 GB</a:t>
                      </a:r>
                      <a:endParaRPr lang="ko-KR" altLang="en-US" dirty="0"/>
                    </a:p>
                  </a:txBody>
                  <a:tcPr anchor="ctr"/>
                </a:tc>
                <a:tc>
                  <a:txBody>
                    <a:bodyPr/>
                    <a:lstStyle/>
                    <a:p>
                      <a:pPr algn="ctr" latinLnBrk="1"/>
                      <a:r>
                        <a:rPr lang="en-US" altLang="ko-KR" dirty="0" smtClean="0"/>
                        <a:t>2 GB</a:t>
                      </a:r>
                    </a:p>
                  </a:txBody>
                  <a:tcPr anchor="ctr"/>
                </a:tc>
                <a:extLst>
                  <a:ext uri="{0D108BD9-81ED-4DB2-BD59-A6C34878D82A}">
                    <a16:rowId xmlns:a16="http://schemas.microsoft.com/office/drawing/2014/main" xmlns="" val="2897240585"/>
                  </a:ext>
                </a:extLst>
              </a:tr>
              <a:tr h="570288">
                <a:tc>
                  <a:txBody>
                    <a:bodyPr/>
                    <a:lstStyle/>
                    <a:p>
                      <a:pPr algn="ctr" latinLnBrk="1"/>
                      <a:r>
                        <a:rPr lang="en-US" altLang="ko-KR" dirty="0" smtClean="0"/>
                        <a:t>Graphics</a:t>
                      </a:r>
                      <a:endParaRPr lang="ko-KR" altLang="en-US" dirty="0"/>
                    </a:p>
                  </a:txBody>
                  <a:tcPr anchor="ctr"/>
                </a:tc>
                <a:tc>
                  <a:txBody>
                    <a:bodyPr/>
                    <a:lstStyle/>
                    <a:p>
                      <a:pPr algn="ctr" latinLnBrk="1"/>
                      <a:r>
                        <a:rPr lang="en-US" altLang="ko-KR" dirty="0" err="1" smtClean="0"/>
                        <a:t>nVidia</a:t>
                      </a:r>
                      <a:r>
                        <a:rPr lang="en-US" altLang="ko-KR" dirty="0" smtClean="0"/>
                        <a:t> GTS 450 +</a:t>
                      </a:r>
                      <a:endParaRPr lang="ko-KR" altLang="en-US" dirty="0"/>
                    </a:p>
                  </a:txBody>
                  <a:tcPr anchor="ctr"/>
                </a:tc>
                <a:tc>
                  <a:txBody>
                    <a:bodyPr/>
                    <a:lstStyle/>
                    <a:p>
                      <a:pPr marL="0" indent="0" algn="ctr" latinLnBrk="1">
                        <a:buNone/>
                      </a:pPr>
                      <a:r>
                        <a:rPr lang="en-US" altLang="ko-KR" dirty="0" err="1" smtClean="0"/>
                        <a:t>nVidia</a:t>
                      </a:r>
                      <a:r>
                        <a:rPr lang="en-US" altLang="ko-KR" dirty="0" smtClean="0"/>
                        <a:t> GTS 450 +</a:t>
                      </a:r>
                      <a:endParaRPr lang="ko-KR" altLang="en-US" dirty="0"/>
                    </a:p>
                  </a:txBody>
                  <a:tcPr anchor="ctr"/>
                </a:tc>
                <a:extLst>
                  <a:ext uri="{0D108BD9-81ED-4DB2-BD59-A6C34878D82A}">
                    <a16:rowId xmlns:a16="http://schemas.microsoft.com/office/drawing/2014/main" xmlns="" val="2410361268"/>
                  </a:ext>
                </a:extLst>
              </a:tr>
              <a:tr h="570288">
                <a:tc>
                  <a:txBody>
                    <a:bodyPr/>
                    <a:lstStyle/>
                    <a:p>
                      <a:pPr algn="ctr" latinLnBrk="1"/>
                      <a:r>
                        <a:rPr lang="en-US" altLang="ko-KR" dirty="0" smtClean="0"/>
                        <a:t>Storage</a:t>
                      </a:r>
                      <a:endParaRPr lang="ko-KR" altLang="en-US" dirty="0"/>
                    </a:p>
                  </a:txBody>
                  <a:tcPr anchor="ctr"/>
                </a:tc>
                <a:tc>
                  <a:txBody>
                    <a:bodyPr/>
                    <a:lstStyle/>
                    <a:p>
                      <a:pPr algn="ctr" latinLnBrk="1"/>
                      <a:r>
                        <a:rPr lang="en-US" altLang="ko-KR" dirty="0" smtClean="0"/>
                        <a:t>400 MB</a:t>
                      </a:r>
                      <a:endParaRPr lang="ko-KR" altLang="en-US" dirty="0"/>
                    </a:p>
                  </a:txBody>
                  <a:tcPr anchor="ctr"/>
                </a:tc>
                <a:tc>
                  <a:txBody>
                    <a:bodyPr/>
                    <a:lstStyle/>
                    <a:p>
                      <a:pPr algn="ctr" latinLnBrk="1"/>
                      <a:r>
                        <a:rPr lang="en-US" altLang="ko-KR" dirty="0" smtClean="0"/>
                        <a:t>1 GB</a:t>
                      </a:r>
                      <a:endParaRPr lang="ko-KR" altLang="en-US" dirty="0"/>
                    </a:p>
                  </a:txBody>
                  <a:tcPr anchor="ctr"/>
                </a:tc>
                <a:extLst>
                  <a:ext uri="{0D108BD9-81ED-4DB2-BD59-A6C34878D82A}">
                    <a16:rowId xmlns:a16="http://schemas.microsoft.com/office/drawing/2014/main" xmlns="" val="1747673497"/>
                  </a:ext>
                </a:extLst>
              </a:tr>
            </a:tbl>
          </a:graphicData>
        </a:graphic>
      </p:graphicFrame>
      <p:sp>
        <p:nvSpPr>
          <p:cNvPr id="2" name="슬라이드 번호 개체 틀 1"/>
          <p:cNvSpPr>
            <a:spLocks noGrp="1"/>
          </p:cNvSpPr>
          <p:nvPr>
            <p:ph type="sldNum" sz="quarter" idx="12"/>
          </p:nvPr>
        </p:nvSpPr>
        <p:spPr/>
        <p:txBody>
          <a:bodyPr/>
          <a:lstStyle/>
          <a:p>
            <a:fld id="{95F8FB6C-4300-4EF3-AEA9-23A98D8A74E1}" type="slidenum">
              <a:rPr lang="ko-KR" altLang="en-US" sz="1800" smtClean="0"/>
              <a:t>6</a:t>
            </a:fld>
            <a:endParaRPr lang="ko-KR" altLang="en-US" sz="1800" dirty="0"/>
          </a:p>
        </p:txBody>
      </p:sp>
    </p:spTree>
    <p:extLst>
      <p:ext uri="{BB962C8B-B14F-4D97-AF65-F5344CB8AC3E}">
        <p14:creationId xmlns:p14="http://schemas.microsoft.com/office/powerpoint/2010/main" val="21777600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257802" y="719382"/>
            <a:ext cx="192439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2" name="TextBox 11"/>
          <p:cNvSpPr txBox="1"/>
          <p:nvPr/>
        </p:nvSpPr>
        <p:spPr>
          <a:xfrm>
            <a:off x="5257803" y="1348401"/>
            <a:ext cx="5950972" cy="4662815"/>
          </a:xfrm>
          <a:prstGeom prst="rect">
            <a:avLst/>
          </a:prstGeom>
          <a:noFill/>
        </p:spPr>
        <p:txBody>
          <a:bodyPr wrap="square" rtlCol="0">
            <a:spAutoFit/>
          </a:bodyPr>
          <a:lstStyle/>
          <a:p>
            <a:pPr>
              <a:lnSpc>
                <a:spcPct val="150000"/>
              </a:lnSpc>
            </a:pPr>
            <a:r>
              <a:rPr lang="ko-KR" altLang="en-US" dirty="0" smtClean="0">
                <a:latin typeface="+mn-ea"/>
              </a:rPr>
              <a:t> 동부 왕국의 평화롭고 한적한 마을 </a:t>
            </a:r>
            <a:r>
              <a:rPr lang="en-US" altLang="ko-KR" dirty="0" smtClean="0">
                <a:latin typeface="+mn-ea"/>
              </a:rPr>
              <a:t>‘</a:t>
            </a:r>
            <a:r>
              <a:rPr lang="ko-KR" altLang="en-US" dirty="0" err="1" smtClean="0">
                <a:latin typeface="+mn-ea"/>
              </a:rPr>
              <a:t>리안</a:t>
            </a:r>
            <a:r>
              <a:rPr lang="en-US" altLang="ko-KR" dirty="0" smtClean="0">
                <a:latin typeface="+mn-ea"/>
              </a:rPr>
              <a:t>’.</a:t>
            </a:r>
          </a:p>
          <a:p>
            <a:pPr>
              <a:lnSpc>
                <a:spcPct val="150000"/>
              </a:lnSpc>
            </a:pPr>
            <a:r>
              <a:rPr lang="ko-KR" altLang="en-US" dirty="0" smtClean="0">
                <a:latin typeface="+mn-ea"/>
              </a:rPr>
              <a:t>어느 날 돌연</a:t>
            </a:r>
            <a:r>
              <a:rPr lang="en-US" altLang="ko-KR" dirty="0" smtClean="0">
                <a:latin typeface="+mn-ea"/>
              </a:rPr>
              <a:t> </a:t>
            </a:r>
            <a:r>
              <a:rPr lang="ko-KR" altLang="en-US" dirty="0" smtClean="0">
                <a:latin typeface="+mn-ea"/>
              </a:rPr>
              <a:t>마을 주변에 정체불명의 던전이 출현한다</a:t>
            </a:r>
            <a:r>
              <a:rPr lang="en-US" altLang="ko-KR" dirty="0" smtClean="0">
                <a:latin typeface="+mn-ea"/>
              </a:rPr>
              <a:t>.</a:t>
            </a:r>
          </a:p>
          <a:p>
            <a:pPr>
              <a:lnSpc>
                <a:spcPct val="150000"/>
              </a:lnSpc>
            </a:pPr>
            <a:r>
              <a:rPr lang="ko-KR" altLang="en-US" dirty="0" smtClean="0">
                <a:latin typeface="+mn-ea"/>
              </a:rPr>
              <a:t>던전 안에는 수많은 다양한 </a:t>
            </a:r>
            <a:r>
              <a:rPr lang="ko-KR" altLang="en-US" dirty="0" err="1" smtClean="0">
                <a:latin typeface="+mn-ea"/>
              </a:rPr>
              <a:t>몬스터들이</a:t>
            </a:r>
            <a:r>
              <a:rPr lang="ko-KR" altLang="en-US" dirty="0" smtClean="0">
                <a:latin typeface="+mn-ea"/>
              </a:rPr>
              <a:t> 존재했고</a:t>
            </a:r>
            <a:r>
              <a:rPr lang="en-US" altLang="ko-KR" dirty="0" smtClean="0">
                <a:latin typeface="+mn-ea"/>
              </a:rPr>
              <a:t>, </a:t>
            </a:r>
          </a:p>
          <a:p>
            <a:pPr>
              <a:lnSpc>
                <a:spcPct val="150000"/>
              </a:lnSpc>
            </a:pPr>
            <a:r>
              <a:rPr lang="ko-KR" altLang="en-US" dirty="0" smtClean="0">
                <a:latin typeface="+mn-ea"/>
              </a:rPr>
              <a:t>그들은 점차 밖으로 나와 마을 주민들을 위협했다</a:t>
            </a:r>
            <a:r>
              <a:rPr lang="en-US" altLang="ko-KR" dirty="0" smtClean="0">
                <a:latin typeface="+mn-ea"/>
              </a:rPr>
              <a:t>.</a:t>
            </a:r>
          </a:p>
          <a:p>
            <a:pPr>
              <a:lnSpc>
                <a:spcPct val="150000"/>
              </a:lnSpc>
            </a:pPr>
            <a:endParaRPr lang="en-US" altLang="ko-KR" dirty="0">
              <a:latin typeface="+mn-ea"/>
            </a:endParaRPr>
          </a:p>
          <a:p>
            <a:pPr>
              <a:lnSpc>
                <a:spcPct val="150000"/>
              </a:lnSpc>
            </a:pPr>
            <a:r>
              <a:rPr lang="ko-KR" altLang="en-US" dirty="0" smtClean="0">
                <a:latin typeface="+mn-ea"/>
              </a:rPr>
              <a:t> 이를 해결하기 위해 왕국은 </a:t>
            </a:r>
            <a:r>
              <a:rPr lang="ko-KR" altLang="en-US" dirty="0" err="1" smtClean="0">
                <a:latin typeface="+mn-ea"/>
              </a:rPr>
              <a:t>몬스터들을</a:t>
            </a:r>
            <a:r>
              <a:rPr lang="ko-KR" altLang="en-US" dirty="0" smtClean="0">
                <a:latin typeface="+mn-ea"/>
              </a:rPr>
              <a:t> 길들이는 </a:t>
            </a:r>
            <a:endParaRPr lang="en-US" altLang="ko-KR" dirty="0" smtClean="0">
              <a:latin typeface="+mn-ea"/>
            </a:endParaRPr>
          </a:p>
          <a:p>
            <a:pPr>
              <a:lnSpc>
                <a:spcPct val="150000"/>
              </a:lnSpc>
            </a:pPr>
            <a:r>
              <a:rPr lang="ko-KR" altLang="en-US" dirty="0" smtClean="0">
                <a:latin typeface="+mn-ea"/>
              </a:rPr>
              <a:t>전설의 용사를 마을로 파견하여 던전을 탐험하고 </a:t>
            </a:r>
            <a:endParaRPr lang="en-US" altLang="ko-KR" dirty="0" smtClean="0">
              <a:latin typeface="+mn-ea"/>
            </a:endParaRPr>
          </a:p>
          <a:p>
            <a:pPr>
              <a:lnSpc>
                <a:spcPct val="150000"/>
              </a:lnSpc>
            </a:pPr>
            <a:r>
              <a:rPr lang="ko-KR" altLang="en-US" dirty="0" smtClean="0">
                <a:latin typeface="+mn-ea"/>
              </a:rPr>
              <a:t>위험을 없애라는 명을 내린다</a:t>
            </a:r>
            <a:r>
              <a:rPr lang="en-US" altLang="ko-KR" dirty="0" smtClean="0">
                <a:latin typeface="+mn-ea"/>
              </a:rPr>
              <a:t>.</a:t>
            </a:r>
          </a:p>
          <a:p>
            <a:pPr>
              <a:lnSpc>
                <a:spcPct val="150000"/>
              </a:lnSpc>
            </a:pPr>
            <a:endParaRPr lang="en-US" altLang="ko-KR" dirty="0">
              <a:latin typeface="+mn-ea"/>
            </a:endParaRPr>
          </a:p>
          <a:p>
            <a:pPr>
              <a:lnSpc>
                <a:spcPct val="150000"/>
              </a:lnSpc>
            </a:pPr>
            <a:r>
              <a:rPr lang="ko-KR" altLang="en-US" dirty="0" smtClean="0">
                <a:latin typeface="+mn-ea"/>
              </a:rPr>
              <a:t> 과연 용사는 무사히 던전을 정복하고 마을에 평화를</a:t>
            </a:r>
            <a:endParaRPr lang="en-US" altLang="ko-KR" dirty="0" smtClean="0">
              <a:latin typeface="+mn-ea"/>
            </a:endParaRPr>
          </a:p>
          <a:p>
            <a:pPr>
              <a:lnSpc>
                <a:spcPct val="150000"/>
              </a:lnSpc>
            </a:pPr>
            <a:r>
              <a:rPr lang="ko-KR" altLang="en-US" dirty="0" smtClean="0">
                <a:latin typeface="+mn-ea"/>
              </a:rPr>
              <a:t>가져다 줄 수 있을 것인가</a:t>
            </a:r>
            <a:r>
              <a:rPr lang="en-US" altLang="ko-KR" dirty="0" smtClean="0">
                <a:latin typeface="+mn-ea"/>
              </a:rPr>
              <a:t>?</a:t>
            </a: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7</a:t>
            </a:fld>
            <a:endParaRPr lang="ko-KR" altLang="en-US" sz="1800" dirty="0"/>
          </a:p>
        </p:txBody>
      </p:sp>
      <p:pic>
        <p:nvPicPr>
          <p:cNvPr id="6" name="그림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746" y="1931553"/>
            <a:ext cx="4849360" cy="3123306"/>
          </a:xfrm>
          <a:prstGeom prst="rect">
            <a:avLst/>
          </a:prstGeom>
        </p:spPr>
      </p:pic>
      <p:sp>
        <p:nvSpPr>
          <p:cNvPr id="13" name="TextBox 12"/>
          <p:cNvSpPr txBox="1"/>
          <p:nvPr/>
        </p:nvSpPr>
        <p:spPr>
          <a:xfrm>
            <a:off x="1767579" y="5054859"/>
            <a:ext cx="214771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1)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던전의 출현</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36263143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로그라이트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a:t>
            </a:fld>
            <a:endParaRPr lang="ko-KR" altLang="en-US" sz="1800" dirty="0"/>
          </a:p>
        </p:txBody>
      </p:sp>
      <p:sp>
        <p:nvSpPr>
          <p:cNvPr id="13" name="TextBox 12"/>
          <p:cNvSpPr txBox="1"/>
          <p:nvPr/>
        </p:nvSpPr>
        <p:spPr>
          <a:xfrm>
            <a:off x="5621868" y="1172029"/>
            <a:ext cx="6340148" cy="5078313"/>
          </a:xfrm>
          <a:prstGeom prst="rect">
            <a:avLst/>
          </a:prstGeom>
          <a:noFill/>
        </p:spPr>
        <p:txBody>
          <a:bodyPr wrap="square" rtlCol="0">
            <a:spAutoFit/>
          </a:bodyPr>
          <a:lstStyle/>
          <a:p>
            <a:pPr>
              <a:lnSpc>
                <a:spcPct val="150000"/>
              </a:lnSpc>
            </a:pPr>
            <a:r>
              <a:rPr lang="en-US" altLang="ko-KR" dirty="0"/>
              <a:t>• </a:t>
            </a:r>
            <a:r>
              <a:rPr lang="ko-KR" altLang="en-US" dirty="0" err="1" smtClean="0"/>
              <a:t>로그라이크</a:t>
            </a:r>
            <a:r>
              <a:rPr lang="ko-KR" altLang="en-US" dirty="0" smtClean="0"/>
              <a:t> 게임의 요소를 일부 채용한 </a:t>
            </a:r>
            <a:r>
              <a:rPr lang="en-US" altLang="ko-KR" dirty="0" smtClean="0"/>
              <a:t>‘</a:t>
            </a:r>
            <a:r>
              <a:rPr lang="ko-KR" altLang="en-US" b="1" dirty="0" err="1" smtClean="0"/>
              <a:t>로그라이트</a:t>
            </a:r>
            <a:r>
              <a:rPr lang="en-US" altLang="ko-KR" dirty="0" smtClean="0"/>
              <a:t>’</a:t>
            </a:r>
          </a:p>
          <a:p>
            <a:pPr>
              <a:lnSpc>
                <a:spcPct val="150000"/>
              </a:lnSpc>
            </a:pPr>
            <a:r>
              <a:rPr lang="en-US" altLang="ko-KR" dirty="0"/>
              <a:t> </a:t>
            </a:r>
            <a:r>
              <a:rPr lang="en-US" altLang="ko-KR" dirty="0" smtClean="0"/>
              <a:t> </a:t>
            </a:r>
            <a:r>
              <a:rPr lang="ko-KR" altLang="en-US" dirty="0" smtClean="0"/>
              <a:t>장르를 도입</a:t>
            </a:r>
            <a:r>
              <a:rPr lang="en-US" altLang="ko-KR" dirty="0" smtClean="0"/>
              <a:t>, </a:t>
            </a:r>
            <a:r>
              <a:rPr lang="ko-KR" altLang="en-US" dirty="0" smtClean="0"/>
              <a:t>기존의 장르에 익숙한 유저들의 높은 </a:t>
            </a:r>
            <a:endParaRPr lang="en-US" altLang="ko-KR" dirty="0" smtClean="0"/>
          </a:p>
          <a:p>
            <a:pPr>
              <a:lnSpc>
                <a:spcPct val="150000"/>
              </a:lnSpc>
            </a:pPr>
            <a:r>
              <a:rPr lang="en-US" altLang="ko-KR" dirty="0" smtClean="0"/>
              <a:t>  </a:t>
            </a:r>
            <a:r>
              <a:rPr lang="ko-KR" altLang="en-US" b="1" dirty="0" smtClean="0"/>
              <a:t>접근성과 홍보 효과</a:t>
            </a:r>
            <a:r>
              <a:rPr lang="ko-KR" altLang="en-US" dirty="0" smtClean="0"/>
              <a:t>를 기대할 수 있습니다</a:t>
            </a:r>
            <a:r>
              <a:rPr lang="en-US" altLang="ko-KR" dirty="0" smtClean="0"/>
              <a:t>.</a:t>
            </a:r>
          </a:p>
          <a:p>
            <a:pPr>
              <a:lnSpc>
                <a:spcPct val="150000"/>
              </a:lnSpc>
            </a:pPr>
            <a:endParaRPr lang="en-US" altLang="ko-KR" sz="1200" dirty="0" smtClean="0">
              <a:latin typeface="+mn-ea"/>
            </a:endParaRPr>
          </a:p>
          <a:p>
            <a:pPr>
              <a:lnSpc>
                <a:spcPct val="150000"/>
              </a:lnSpc>
            </a:pPr>
            <a:r>
              <a:rPr lang="en-US" altLang="ko-KR" dirty="0" smtClean="0"/>
              <a:t>• </a:t>
            </a:r>
            <a:r>
              <a:rPr lang="en-US" altLang="ko-KR" b="1" dirty="0" smtClean="0"/>
              <a:t>1</a:t>
            </a:r>
            <a:r>
              <a:rPr lang="ko-KR" altLang="en-US" b="1" dirty="0" smtClean="0"/>
              <a:t>번 뿐인 목숨</a:t>
            </a:r>
            <a:r>
              <a:rPr lang="ko-KR" altLang="en-US" dirty="0" smtClean="0"/>
              <a:t>과</a:t>
            </a:r>
            <a:r>
              <a:rPr lang="en-US" altLang="ko-KR" dirty="0" smtClean="0"/>
              <a:t>,</a:t>
            </a:r>
            <a:r>
              <a:rPr lang="ko-KR" altLang="en-US" dirty="0" smtClean="0"/>
              <a:t> </a:t>
            </a:r>
            <a:r>
              <a:rPr lang="ko-KR" altLang="en-US" b="1" dirty="0" smtClean="0"/>
              <a:t>랜덤</a:t>
            </a:r>
            <a:r>
              <a:rPr lang="ko-KR" altLang="en-US" dirty="0" smtClean="0"/>
              <a:t>으로 배치되는 던전의 구조를 </a:t>
            </a:r>
            <a:endParaRPr lang="en-US" altLang="ko-KR" dirty="0" smtClean="0"/>
          </a:p>
          <a:p>
            <a:pPr>
              <a:lnSpc>
                <a:spcPct val="150000"/>
              </a:lnSpc>
            </a:pPr>
            <a:r>
              <a:rPr lang="en-US" altLang="ko-KR" dirty="0"/>
              <a:t> </a:t>
            </a:r>
            <a:r>
              <a:rPr lang="en-US" altLang="ko-KR" dirty="0" smtClean="0"/>
              <a:t> </a:t>
            </a:r>
            <a:r>
              <a:rPr lang="ko-KR" altLang="en-US" dirty="0" smtClean="0"/>
              <a:t>통해 게임의 긴장감과 </a:t>
            </a:r>
            <a:r>
              <a:rPr lang="ko-KR" altLang="en-US" dirty="0" err="1" smtClean="0"/>
              <a:t>몰입감을</a:t>
            </a:r>
            <a:r>
              <a:rPr lang="ko-KR" altLang="en-US" dirty="0" smtClean="0"/>
              <a:t> 높이고</a:t>
            </a:r>
            <a:r>
              <a:rPr lang="en-US" altLang="ko-KR" dirty="0" smtClean="0"/>
              <a:t>, </a:t>
            </a:r>
            <a:r>
              <a:rPr lang="ko-KR" altLang="en-US" dirty="0" smtClean="0"/>
              <a:t>플레이의 </a:t>
            </a:r>
            <a:endParaRPr lang="en-US" altLang="ko-KR" dirty="0" smtClean="0"/>
          </a:p>
          <a:p>
            <a:pPr>
              <a:lnSpc>
                <a:spcPct val="150000"/>
              </a:lnSpc>
            </a:pPr>
            <a:r>
              <a:rPr lang="en-US" altLang="ko-KR" dirty="0"/>
              <a:t> </a:t>
            </a:r>
            <a:r>
              <a:rPr lang="en-US" altLang="ko-KR" dirty="0" smtClean="0"/>
              <a:t> </a:t>
            </a:r>
            <a:r>
              <a:rPr lang="ko-KR" altLang="en-US" dirty="0" smtClean="0"/>
              <a:t>신선함과 도전 정신을 고취시킬 수 있습니다</a:t>
            </a:r>
            <a:r>
              <a:rPr lang="en-US" altLang="ko-KR" dirty="0" smtClean="0"/>
              <a:t>.</a:t>
            </a:r>
          </a:p>
          <a:p>
            <a:pPr>
              <a:lnSpc>
                <a:spcPct val="150000"/>
              </a:lnSpc>
            </a:pPr>
            <a:endParaRPr lang="en-US" altLang="ko-KR" sz="1200" dirty="0">
              <a:latin typeface="+mn-ea"/>
            </a:endParaRPr>
          </a:p>
          <a:p>
            <a:pPr>
              <a:lnSpc>
                <a:spcPct val="150000"/>
              </a:lnSpc>
            </a:pPr>
            <a:r>
              <a:rPr lang="en-US" altLang="ko-KR" dirty="0" smtClean="0"/>
              <a:t>• </a:t>
            </a:r>
            <a:r>
              <a:rPr lang="ko-KR" altLang="en-US" dirty="0" smtClean="0"/>
              <a:t>임의 저장과 불러오기가 불가능하며</a:t>
            </a:r>
            <a:r>
              <a:rPr lang="en-US" altLang="ko-KR" dirty="0" smtClean="0"/>
              <a:t>, </a:t>
            </a:r>
            <a:r>
              <a:rPr lang="ko-KR" altLang="en-US" dirty="0" smtClean="0"/>
              <a:t>캐릭터 사망 시</a:t>
            </a:r>
            <a:endParaRPr lang="en-US" altLang="ko-KR" dirty="0" smtClean="0"/>
          </a:p>
          <a:p>
            <a:pPr>
              <a:lnSpc>
                <a:spcPct val="150000"/>
              </a:lnSpc>
            </a:pPr>
            <a:r>
              <a:rPr lang="en-US" altLang="ko-KR" dirty="0"/>
              <a:t> </a:t>
            </a:r>
            <a:r>
              <a:rPr lang="ko-KR" altLang="en-US" dirty="0" smtClean="0"/>
              <a:t> 레벨</a:t>
            </a:r>
            <a:r>
              <a:rPr lang="en-US" altLang="ko-KR" dirty="0" smtClean="0"/>
              <a:t>, </a:t>
            </a:r>
            <a:r>
              <a:rPr lang="ko-KR" altLang="en-US" dirty="0" smtClean="0"/>
              <a:t>아이템 등의 데이터를 잃고 </a:t>
            </a:r>
            <a:r>
              <a:rPr lang="ko-KR" altLang="en-US" b="1" dirty="0" smtClean="0"/>
              <a:t>게임이 </a:t>
            </a:r>
            <a:r>
              <a:rPr lang="ko-KR" altLang="en-US" b="1" dirty="0" err="1" smtClean="0"/>
              <a:t>리셋</a:t>
            </a:r>
            <a:r>
              <a:rPr lang="ko-KR" altLang="en-US" dirty="0" err="1" smtClean="0"/>
              <a:t>됩니다</a:t>
            </a:r>
            <a:r>
              <a:rPr lang="en-US" altLang="ko-KR" dirty="0" smtClean="0"/>
              <a:t>.</a:t>
            </a:r>
          </a:p>
          <a:p>
            <a:pPr>
              <a:lnSpc>
                <a:spcPct val="150000"/>
              </a:lnSpc>
            </a:pPr>
            <a:endParaRPr lang="en-US" altLang="ko-KR" sz="1200" dirty="0"/>
          </a:p>
          <a:p>
            <a:pPr>
              <a:lnSpc>
                <a:spcPct val="150000"/>
              </a:lnSpc>
            </a:pPr>
            <a:r>
              <a:rPr lang="en-US" altLang="ko-KR" dirty="0" smtClean="0"/>
              <a:t>• </a:t>
            </a:r>
            <a:r>
              <a:rPr lang="ko-KR" altLang="en-US" dirty="0" smtClean="0"/>
              <a:t>접근성과 성취감을 높이고 </a:t>
            </a:r>
            <a:r>
              <a:rPr lang="ko-KR" altLang="en-US" dirty="0" err="1" smtClean="0"/>
              <a:t>다회차</a:t>
            </a:r>
            <a:r>
              <a:rPr lang="ko-KR" altLang="en-US" dirty="0" smtClean="0"/>
              <a:t> 플레이어의 형평성을</a:t>
            </a:r>
            <a:endParaRPr lang="en-US" altLang="ko-KR" dirty="0" smtClean="0"/>
          </a:p>
          <a:p>
            <a:pPr>
              <a:lnSpc>
                <a:spcPct val="150000"/>
              </a:lnSpc>
            </a:pPr>
            <a:r>
              <a:rPr lang="en-US" altLang="ko-KR" dirty="0"/>
              <a:t> </a:t>
            </a:r>
            <a:r>
              <a:rPr lang="ko-KR" altLang="en-US" dirty="0" smtClean="0"/>
              <a:t> 위해</a:t>
            </a:r>
            <a:r>
              <a:rPr lang="en-US" altLang="ko-KR" dirty="0" smtClean="0"/>
              <a:t>, </a:t>
            </a:r>
            <a:r>
              <a:rPr lang="ko-KR" altLang="en-US" dirty="0" smtClean="0"/>
              <a:t>사망해도 </a:t>
            </a:r>
            <a:r>
              <a:rPr lang="ko-KR" altLang="en-US" b="1" dirty="0" smtClean="0"/>
              <a:t>잃지 않는 데이터가</a:t>
            </a:r>
            <a:r>
              <a:rPr lang="en-US" altLang="ko-KR" b="1" dirty="0" smtClean="0"/>
              <a:t> </a:t>
            </a:r>
            <a:r>
              <a:rPr lang="ko-KR" altLang="en-US" dirty="0" smtClean="0"/>
              <a:t>존재합니다</a:t>
            </a:r>
            <a:r>
              <a:rPr lang="en-US" altLang="ko-KR" dirty="0" smtClean="0"/>
              <a:t>.</a:t>
            </a:r>
            <a:endParaRPr lang="en-US" altLang="ko-KR" dirty="0"/>
          </a:p>
        </p:txBody>
      </p:sp>
      <p:pic>
        <p:nvPicPr>
          <p:cNvPr id="9" name="그림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1515" y="1087359"/>
            <a:ext cx="4014931" cy="2113595"/>
          </a:xfrm>
          <a:prstGeom prst="rect">
            <a:avLst/>
          </a:prstGeom>
        </p:spPr>
      </p:pic>
      <p:sp>
        <p:nvSpPr>
          <p:cNvPr id="12" name="TextBox 11"/>
          <p:cNvSpPr txBox="1"/>
          <p:nvPr/>
        </p:nvSpPr>
        <p:spPr>
          <a:xfrm>
            <a:off x="1430007" y="3196379"/>
            <a:ext cx="2497044" cy="584775"/>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2 )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로그라이트</a:t>
            </a:r>
            <a:r>
              <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게임</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다키스트</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던전</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4" name="그림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515" y="3921984"/>
            <a:ext cx="4203018" cy="1953932"/>
          </a:xfrm>
          <a:prstGeom prst="rect">
            <a:avLst/>
          </a:prstGeom>
        </p:spPr>
      </p:pic>
      <p:sp>
        <p:nvSpPr>
          <p:cNvPr id="15" name="TextBox 14"/>
          <p:cNvSpPr txBox="1"/>
          <p:nvPr/>
        </p:nvSpPr>
        <p:spPr>
          <a:xfrm>
            <a:off x="1473823" y="5875916"/>
            <a:ext cx="2409412" cy="584775"/>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3 )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로그라이트</a:t>
            </a:r>
            <a:r>
              <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게임</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아이작의</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번제</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10068762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3009900" y="517669"/>
            <a:ext cx="5962650" cy="584775"/>
          </a:xfrm>
          <a:prstGeom prst="rect">
            <a:avLst/>
          </a:prstGeom>
          <a:noFill/>
        </p:spPr>
        <p:txBody>
          <a:bodyPr wrap="square" rtlCol="0">
            <a:spAutoFit/>
          </a:bodyPr>
          <a:lstStyle/>
          <a:p>
            <a:pPr algn="ctr"/>
            <a:r>
              <a:rPr lang="en-US" altLang="ko-KR" sz="3200" b="1" spc="-30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개성 있는 캐릭터와 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a:t>
            </a:fld>
            <a:endParaRPr lang="ko-KR" altLang="en-US" sz="1800" dirty="0"/>
          </a:p>
        </p:txBody>
      </p:sp>
      <p:sp>
        <p:nvSpPr>
          <p:cNvPr id="13" name="TextBox 12"/>
          <p:cNvSpPr txBox="1"/>
          <p:nvPr/>
        </p:nvSpPr>
        <p:spPr>
          <a:xfrm>
            <a:off x="5276851" y="1243002"/>
            <a:ext cx="6467474" cy="4801314"/>
          </a:xfrm>
          <a:prstGeom prst="rect">
            <a:avLst/>
          </a:prstGeom>
          <a:noFill/>
        </p:spPr>
        <p:txBody>
          <a:bodyPr wrap="square" rtlCol="0">
            <a:spAutoFit/>
          </a:bodyPr>
          <a:lstStyle/>
          <a:p>
            <a:pPr>
              <a:lnSpc>
                <a:spcPct val="150000"/>
              </a:lnSpc>
            </a:pPr>
            <a:r>
              <a:rPr lang="en-US" altLang="ko-KR" dirty="0"/>
              <a:t>• </a:t>
            </a:r>
            <a:r>
              <a:rPr lang="ko-KR" altLang="en-US" dirty="0" smtClean="0">
                <a:latin typeface="+mn-ea"/>
              </a:rPr>
              <a:t>플레이어는 용사가 되어 던전을 탐험하게 됩니다</a:t>
            </a:r>
            <a:r>
              <a:rPr lang="en-US" altLang="ko-KR" dirty="0" smtClean="0">
                <a:latin typeface="+mn-ea"/>
              </a:rPr>
              <a:t>. </a:t>
            </a:r>
          </a:p>
          <a:p>
            <a:pPr>
              <a:lnSpc>
                <a:spcPct val="150000"/>
              </a:lnSpc>
            </a:pPr>
            <a:r>
              <a:rPr lang="en-US" altLang="ko-KR" dirty="0">
                <a:latin typeface="+mn-ea"/>
              </a:rPr>
              <a:t> </a:t>
            </a:r>
            <a:r>
              <a:rPr lang="en-US" altLang="ko-KR" dirty="0" smtClean="0">
                <a:latin typeface="+mn-ea"/>
              </a:rPr>
              <a:t> </a:t>
            </a:r>
            <a:r>
              <a:rPr lang="ko-KR" altLang="en-US" dirty="0" smtClean="0">
                <a:latin typeface="+mn-ea"/>
              </a:rPr>
              <a:t>용사들은 각기 </a:t>
            </a:r>
            <a:r>
              <a:rPr lang="ko-KR" altLang="en-US" b="1" dirty="0" smtClean="0">
                <a:latin typeface="+mn-ea"/>
              </a:rPr>
              <a:t>다른 컨셉과 능력</a:t>
            </a:r>
            <a:r>
              <a:rPr lang="ko-KR" altLang="en-US" dirty="0" smtClean="0">
                <a:latin typeface="+mn-ea"/>
              </a:rPr>
              <a:t>을 보유하고 있으며</a:t>
            </a:r>
            <a:r>
              <a:rPr lang="en-US" altLang="ko-KR" dirty="0" smtClean="0">
                <a:latin typeface="+mn-ea"/>
              </a:rPr>
              <a:t>, </a:t>
            </a:r>
          </a:p>
          <a:p>
            <a:pPr>
              <a:lnSpc>
                <a:spcPct val="150000"/>
              </a:lnSpc>
            </a:pPr>
            <a:r>
              <a:rPr lang="en-US" altLang="ko-KR" dirty="0">
                <a:latin typeface="+mn-ea"/>
              </a:rPr>
              <a:t> </a:t>
            </a:r>
            <a:r>
              <a:rPr lang="en-US" altLang="ko-KR" dirty="0" smtClean="0">
                <a:latin typeface="+mn-ea"/>
              </a:rPr>
              <a:t> </a:t>
            </a:r>
            <a:r>
              <a:rPr lang="ko-KR" altLang="en-US" dirty="0" smtClean="0">
                <a:latin typeface="+mn-ea"/>
              </a:rPr>
              <a:t>던전을 탐험하며 </a:t>
            </a:r>
            <a:r>
              <a:rPr lang="ko-KR" altLang="en-US" dirty="0" err="1" smtClean="0">
                <a:latin typeface="+mn-ea"/>
              </a:rPr>
              <a:t>테이밍한</a:t>
            </a:r>
            <a:r>
              <a:rPr lang="ko-KR" altLang="en-US" dirty="0" smtClean="0">
                <a:latin typeface="+mn-ea"/>
              </a:rPr>
              <a:t> </a:t>
            </a:r>
            <a:r>
              <a:rPr lang="ko-KR" altLang="en-US" dirty="0" err="1" smtClean="0">
                <a:latin typeface="+mn-ea"/>
              </a:rPr>
              <a:t>몬스터들과</a:t>
            </a:r>
            <a:r>
              <a:rPr lang="ko-KR" altLang="en-US" dirty="0" smtClean="0">
                <a:latin typeface="+mn-ea"/>
              </a:rPr>
              <a:t> 함께 더욱 깊은</a:t>
            </a:r>
            <a:endParaRPr lang="en-US" altLang="ko-KR" dirty="0" smtClean="0">
              <a:latin typeface="+mn-ea"/>
            </a:endParaRPr>
          </a:p>
          <a:p>
            <a:pPr>
              <a:lnSpc>
                <a:spcPct val="150000"/>
              </a:lnSpc>
            </a:pPr>
            <a:r>
              <a:rPr lang="en-US" altLang="ko-KR" dirty="0">
                <a:latin typeface="+mn-ea"/>
              </a:rPr>
              <a:t> </a:t>
            </a:r>
            <a:r>
              <a:rPr lang="en-US" altLang="ko-KR" dirty="0" smtClean="0">
                <a:latin typeface="+mn-ea"/>
              </a:rPr>
              <a:t> </a:t>
            </a:r>
            <a:r>
              <a:rPr lang="ko-KR" altLang="en-US" dirty="0" smtClean="0">
                <a:latin typeface="+mn-ea"/>
              </a:rPr>
              <a:t>곳을 향해 나아갑니다</a:t>
            </a:r>
            <a:r>
              <a:rPr lang="en-US" altLang="ko-KR" dirty="0" smtClean="0">
                <a:latin typeface="+mn-ea"/>
              </a:rPr>
              <a:t>.</a:t>
            </a:r>
          </a:p>
          <a:p>
            <a:pPr>
              <a:lnSpc>
                <a:spcPct val="150000"/>
              </a:lnSpc>
            </a:pPr>
            <a:endParaRPr lang="en-US" altLang="ko-KR" sz="1200" dirty="0">
              <a:latin typeface="+mn-ea"/>
            </a:endParaRPr>
          </a:p>
          <a:p>
            <a:pPr>
              <a:lnSpc>
                <a:spcPct val="150000"/>
              </a:lnSpc>
            </a:pPr>
            <a:r>
              <a:rPr lang="en-US" altLang="ko-KR" dirty="0" smtClean="0"/>
              <a:t>• </a:t>
            </a:r>
            <a:r>
              <a:rPr lang="ko-KR" altLang="en-US" dirty="0" smtClean="0"/>
              <a:t>용사와 몬스터는 성장과 아이템을 통해 한층 더 강해집니다</a:t>
            </a:r>
            <a:r>
              <a:rPr lang="en-US" altLang="ko-KR" dirty="0" smtClean="0"/>
              <a:t>. </a:t>
            </a:r>
          </a:p>
          <a:p>
            <a:pPr>
              <a:lnSpc>
                <a:spcPct val="150000"/>
              </a:lnSpc>
            </a:pPr>
            <a:r>
              <a:rPr lang="en-US" altLang="ko-KR" dirty="0">
                <a:latin typeface="+mn-ea"/>
              </a:rPr>
              <a:t> </a:t>
            </a:r>
            <a:r>
              <a:rPr lang="en-US" altLang="ko-KR" dirty="0" smtClean="0">
                <a:latin typeface="+mn-ea"/>
              </a:rPr>
              <a:t> </a:t>
            </a:r>
            <a:r>
              <a:rPr lang="ko-KR" altLang="en-US" dirty="0" smtClean="0">
                <a:latin typeface="+mn-ea"/>
              </a:rPr>
              <a:t>각각의 독특하고 고유한 능력과 기술로 </a:t>
            </a:r>
            <a:r>
              <a:rPr lang="ko-KR" altLang="en-US" dirty="0">
                <a:latin typeface="+mn-ea"/>
              </a:rPr>
              <a:t>색다르고 강력한 </a:t>
            </a:r>
            <a:endParaRPr lang="en-US" altLang="ko-KR" dirty="0" smtClean="0">
              <a:latin typeface="+mn-ea"/>
            </a:endParaRPr>
          </a:p>
          <a:p>
            <a:pPr>
              <a:lnSpc>
                <a:spcPct val="150000"/>
              </a:lnSpc>
            </a:pPr>
            <a:r>
              <a:rPr lang="en-US" altLang="ko-KR" dirty="0">
                <a:latin typeface="+mn-ea"/>
              </a:rPr>
              <a:t> </a:t>
            </a:r>
            <a:r>
              <a:rPr lang="en-US" altLang="ko-KR" dirty="0" smtClean="0">
                <a:latin typeface="+mn-ea"/>
              </a:rPr>
              <a:t> </a:t>
            </a:r>
            <a:r>
              <a:rPr lang="ko-KR" altLang="en-US" b="1" dirty="0" smtClean="0">
                <a:latin typeface="+mn-ea"/>
              </a:rPr>
              <a:t>조합을 연구</a:t>
            </a:r>
            <a:r>
              <a:rPr lang="ko-KR" altLang="en-US" dirty="0" smtClean="0">
                <a:latin typeface="+mn-ea"/>
              </a:rPr>
              <a:t>하고</a:t>
            </a:r>
            <a:r>
              <a:rPr lang="en-US" altLang="ko-KR" dirty="0" smtClean="0">
                <a:latin typeface="+mn-ea"/>
              </a:rPr>
              <a:t>, </a:t>
            </a:r>
            <a:r>
              <a:rPr lang="ko-KR" altLang="en-US" b="1" dirty="0">
                <a:latin typeface="+mn-ea"/>
              </a:rPr>
              <a:t>다채로운 </a:t>
            </a:r>
            <a:r>
              <a:rPr lang="ko-KR" altLang="en-US" b="1" dirty="0" smtClean="0">
                <a:latin typeface="+mn-ea"/>
              </a:rPr>
              <a:t>전략</a:t>
            </a:r>
            <a:r>
              <a:rPr lang="ko-KR" altLang="en-US" dirty="0" smtClean="0">
                <a:latin typeface="+mn-ea"/>
              </a:rPr>
              <a:t>을 펼칠 수 있습니다</a:t>
            </a:r>
            <a:r>
              <a:rPr lang="en-US" altLang="ko-KR" dirty="0" smtClean="0">
                <a:latin typeface="+mn-ea"/>
              </a:rPr>
              <a:t>.</a:t>
            </a:r>
          </a:p>
          <a:p>
            <a:pPr>
              <a:lnSpc>
                <a:spcPct val="150000"/>
              </a:lnSpc>
            </a:pPr>
            <a:endParaRPr lang="en-US" altLang="ko-KR" sz="1200" dirty="0">
              <a:latin typeface="+mn-ea"/>
            </a:endParaRPr>
          </a:p>
          <a:p>
            <a:pPr>
              <a:lnSpc>
                <a:spcPct val="150000"/>
              </a:lnSpc>
            </a:pPr>
            <a:r>
              <a:rPr lang="en-US" altLang="ko-KR" dirty="0" smtClean="0"/>
              <a:t>• </a:t>
            </a:r>
            <a:r>
              <a:rPr lang="ko-KR" altLang="en-US" dirty="0" smtClean="0"/>
              <a:t>이를 통해 개인의 성향에 맞는 </a:t>
            </a:r>
            <a:r>
              <a:rPr lang="ko-KR" altLang="en-US" b="1" dirty="0" smtClean="0"/>
              <a:t>각양각색의 플레이</a:t>
            </a:r>
            <a:r>
              <a:rPr lang="ko-KR" altLang="en-US" dirty="0" smtClean="0"/>
              <a:t>를 </a:t>
            </a:r>
            <a:endParaRPr lang="en-US" altLang="ko-KR" dirty="0" smtClean="0"/>
          </a:p>
          <a:p>
            <a:pPr>
              <a:lnSpc>
                <a:spcPct val="150000"/>
              </a:lnSpc>
            </a:pPr>
            <a:r>
              <a:rPr lang="en-US" altLang="ko-KR" dirty="0"/>
              <a:t> </a:t>
            </a:r>
            <a:r>
              <a:rPr lang="en-US" altLang="ko-KR" dirty="0" smtClean="0"/>
              <a:t> </a:t>
            </a:r>
            <a:r>
              <a:rPr lang="ko-KR" altLang="en-US" dirty="0" smtClean="0"/>
              <a:t>제공하고</a:t>
            </a:r>
            <a:r>
              <a:rPr lang="en-US" altLang="ko-KR" dirty="0" smtClean="0"/>
              <a:t>, </a:t>
            </a:r>
            <a:r>
              <a:rPr lang="ko-KR" altLang="en-US" dirty="0" smtClean="0"/>
              <a:t>지속적인 </a:t>
            </a:r>
            <a:r>
              <a:rPr lang="ko-KR" altLang="en-US" dirty="0" err="1" smtClean="0"/>
              <a:t>컨텐츠을</a:t>
            </a:r>
            <a:r>
              <a:rPr lang="ko-KR" altLang="en-US" dirty="0" smtClean="0"/>
              <a:t> 확보하면서 유저로 하여금</a:t>
            </a:r>
            <a:endParaRPr lang="en-US" altLang="ko-KR" dirty="0" smtClean="0"/>
          </a:p>
          <a:p>
            <a:pPr>
              <a:lnSpc>
                <a:spcPct val="150000"/>
              </a:lnSpc>
            </a:pPr>
            <a:r>
              <a:rPr lang="en-US" altLang="ko-KR" dirty="0"/>
              <a:t> </a:t>
            </a:r>
            <a:r>
              <a:rPr lang="ko-KR" altLang="en-US" dirty="0" smtClean="0"/>
              <a:t> 게임에 더욱</a:t>
            </a:r>
            <a:r>
              <a:rPr lang="en-US" altLang="ko-KR" dirty="0" smtClean="0"/>
              <a:t> </a:t>
            </a:r>
            <a:r>
              <a:rPr lang="ko-KR" altLang="en-US" dirty="0" smtClean="0"/>
              <a:t>몰입할 수 있도록 유도합니다</a:t>
            </a:r>
            <a:r>
              <a:rPr lang="en-US" altLang="ko-KR" dirty="0" smtClean="0"/>
              <a:t>.</a:t>
            </a:r>
            <a:endParaRPr lang="en-US" altLang="ko-KR" dirty="0" smtClean="0">
              <a:latin typeface="+mn-ea"/>
            </a:endParaRPr>
          </a:p>
        </p:txBody>
      </p:sp>
      <p:pic>
        <p:nvPicPr>
          <p:cNvPr id="8" name="그림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515" y="1274142"/>
            <a:ext cx="4014931" cy="2160507"/>
          </a:xfrm>
          <a:prstGeom prst="rect">
            <a:avLst/>
          </a:prstGeom>
        </p:spPr>
      </p:pic>
      <p:sp>
        <p:nvSpPr>
          <p:cNvPr id="9" name="TextBox 8"/>
          <p:cNvSpPr txBox="1"/>
          <p:nvPr/>
        </p:nvSpPr>
        <p:spPr>
          <a:xfrm>
            <a:off x="1401192" y="3434650"/>
            <a:ext cx="269557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4</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다채로운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몬스터들</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2" name="그림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5292" y="3864818"/>
            <a:ext cx="3840901" cy="2160507"/>
          </a:xfrm>
          <a:prstGeom prst="rect">
            <a:avLst/>
          </a:prstGeom>
        </p:spPr>
      </p:pic>
      <p:sp>
        <p:nvSpPr>
          <p:cNvPr id="14" name="TextBox 13"/>
          <p:cNvSpPr txBox="1"/>
          <p:nvPr/>
        </p:nvSpPr>
        <p:spPr>
          <a:xfrm>
            <a:off x="1246581" y="6025325"/>
            <a:ext cx="3058321"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5 )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다른 </a:t>
            </a:r>
            <a:r>
              <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컨셉의 용사  캐릭터</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14353368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err="1">
                <a:gradFill>
                  <a:gsLst>
                    <a:gs pos="0">
                      <a:schemeClr val="tx1"/>
                    </a:gs>
                    <a:gs pos="100000">
                      <a:schemeClr val="tx1"/>
                    </a:gs>
                  </a:gsLst>
                  <a:lin ang="5400000" scaled="1"/>
                </a:gradFill>
                <a:latin typeface="맑은 고딕" panose="020B0503020000020004" pitchFamily="50" charset="-127"/>
              </a:rPr>
              <a:t>테이밍과</a:t>
            </a:r>
            <a:r>
              <a:rPr lang="ko-KR" altLang="en-US" sz="3200" b="1" dirty="0">
                <a:gradFill>
                  <a:gsLst>
                    <a:gs pos="0">
                      <a:schemeClr val="tx1"/>
                    </a:gs>
                    <a:gs pos="100000">
                      <a:schemeClr val="tx1"/>
                    </a:gs>
                  </a:gsLst>
                  <a:lin ang="5400000" scaled="1"/>
                </a:gradFill>
                <a:latin typeface="맑은 고딕" panose="020B0503020000020004" pitchFamily="50" charset="-127"/>
              </a:rPr>
              <a:t> 육성 </a:t>
            </a:r>
            <a:r>
              <a:rPr lang="ko-KR" altLang="en-US" sz="3200" b="1" dirty="0" smtClean="0">
                <a:gradFill>
                  <a:gsLst>
                    <a:gs pos="0">
                      <a:schemeClr val="tx1"/>
                    </a:gs>
                    <a:gs pos="100000">
                      <a:schemeClr val="tx1"/>
                    </a:gs>
                  </a:gsLst>
                  <a:lin ang="5400000" scaled="1"/>
                </a:gradFill>
                <a:latin typeface="맑은 고딕" panose="020B0503020000020004" pitchFamily="50" charset="-127"/>
              </a:rPr>
              <a:t>시스템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10</a:t>
            </a:fld>
            <a:endParaRPr lang="ko-KR" altLang="en-US" sz="1800" dirty="0"/>
          </a:p>
        </p:txBody>
      </p:sp>
      <p:sp>
        <p:nvSpPr>
          <p:cNvPr id="13" name="TextBox 12"/>
          <p:cNvSpPr txBox="1"/>
          <p:nvPr/>
        </p:nvSpPr>
        <p:spPr>
          <a:xfrm>
            <a:off x="5280347" y="1347170"/>
            <a:ext cx="6660506" cy="5078313"/>
          </a:xfrm>
          <a:prstGeom prst="rect">
            <a:avLst/>
          </a:prstGeom>
          <a:noFill/>
        </p:spPr>
        <p:txBody>
          <a:bodyPr wrap="square" rtlCol="0">
            <a:spAutoFit/>
          </a:bodyPr>
          <a:lstStyle/>
          <a:p>
            <a:pPr>
              <a:lnSpc>
                <a:spcPct val="150000"/>
              </a:lnSpc>
            </a:pPr>
            <a:r>
              <a:rPr lang="en-US" altLang="ko-KR" dirty="0"/>
              <a:t>• </a:t>
            </a:r>
            <a:r>
              <a:rPr lang="ko-KR" altLang="en-US" dirty="0" smtClean="0">
                <a:latin typeface="+mn-ea"/>
              </a:rPr>
              <a:t>용사가 던전을 탐험하고 몬스터를 쓰러트리면</a:t>
            </a:r>
            <a:r>
              <a:rPr lang="en-US" altLang="ko-KR" dirty="0" smtClean="0">
                <a:latin typeface="+mn-ea"/>
              </a:rPr>
              <a:t>, </a:t>
            </a:r>
            <a:r>
              <a:rPr lang="ko-KR" altLang="en-US" dirty="0" smtClean="0">
                <a:latin typeface="+mn-ea"/>
              </a:rPr>
              <a:t>전투 종료 후</a:t>
            </a:r>
            <a:endParaRPr lang="en-US" altLang="ko-KR" dirty="0" smtClean="0">
              <a:latin typeface="+mn-ea"/>
            </a:endParaRPr>
          </a:p>
          <a:p>
            <a:pPr>
              <a:lnSpc>
                <a:spcPct val="150000"/>
              </a:lnSpc>
            </a:pPr>
            <a:r>
              <a:rPr lang="en-US" altLang="ko-KR" dirty="0">
                <a:latin typeface="+mn-ea"/>
              </a:rPr>
              <a:t> </a:t>
            </a:r>
            <a:r>
              <a:rPr lang="en-US" altLang="ko-KR" dirty="0" smtClean="0">
                <a:latin typeface="+mn-ea"/>
              </a:rPr>
              <a:t> </a:t>
            </a:r>
            <a:r>
              <a:rPr lang="ko-KR" altLang="en-US" dirty="0" smtClean="0">
                <a:latin typeface="+mn-ea"/>
              </a:rPr>
              <a:t>해당 </a:t>
            </a:r>
            <a:r>
              <a:rPr lang="ko-KR" altLang="en-US" dirty="0" err="1" smtClean="0">
                <a:latin typeface="+mn-ea"/>
              </a:rPr>
              <a:t>몬스터들을</a:t>
            </a:r>
            <a:r>
              <a:rPr lang="ko-KR" altLang="en-US" dirty="0" smtClean="0">
                <a:latin typeface="+mn-ea"/>
              </a:rPr>
              <a:t> 자신의 것으로 </a:t>
            </a:r>
            <a:r>
              <a:rPr lang="ko-KR" altLang="en-US" b="1" dirty="0" err="1" smtClean="0">
                <a:latin typeface="+mn-ea"/>
              </a:rPr>
              <a:t>테이밍</a:t>
            </a:r>
            <a:r>
              <a:rPr lang="ko-KR" altLang="en-US" dirty="0" smtClean="0">
                <a:latin typeface="+mn-ea"/>
              </a:rPr>
              <a:t> 할 수 있습니다</a:t>
            </a:r>
            <a:r>
              <a:rPr lang="en-US" altLang="ko-KR" dirty="0" smtClean="0">
                <a:latin typeface="+mn-ea"/>
              </a:rPr>
              <a:t>.</a:t>
            </a:r>
          </a:p>
          <a:p>
            <a:pPr>
              <a:lnSpc>
                <a:spcPct val="150000"/>
              </a:lnSpc>
            </a:pPr>
            <a:endParaRPr lang="en-US" altLang="ko-KR" sz="1200" dirty="0">
              <a:latin typeface="+mn-ea"/>
            </a:endParaRPr>
          </a:p>
          <a:p>
            <a:pPr>
              <a:lnSpc>
                <a:spcPct val="150000"/>
              </a:lnSpc>
            </a:pPr>
            <a:r>
              <a:rPr lang="en-US" altLang="ko-KR" dirty="0" smtClean="0"/>
              <a:t>• </a:t>
            </a:r>
            <a:r>
              <a:rPr lang="ko-KR" altLang="en-US" dirty="0" smtClean="0">
                <a:latin typeface="+mn-ea"/>
              </a:rPr>
              <a:t>이 때 </a:t>
            </a:r>
            <a:r>
              <a:rPr lang="ko-KR" altLang="en-US" dirty="0" smtClean="0"/>
              <a:t>몬스터에 따라 획득 방법과 제한이 상이하며</a:t>
            </a:r>
            <a:r>
              <a:rPr lang="en-US" altLang="ko-KR" dirty="0" smtClean="0"/>
              <a:t>, </a:t>
            </a:r>
            <a:r>
              <a:rPr lang="ko-KR" altLang="en-US" dirty="0" smtClean="0"/>
              <a:t>원하는 </a:t>
            </a:r>
            <a:endParaRPr lang="en-US" altLang="ko-KR" dirty="0" smtClean="0"/>
          </a:p>
          <a:p>
            <a:pPr>
              <a:lnSpc>
                <a:spcPct val="150000"/>
              </a:lnSpc>
            </a:pPr>
            <a:r>
              <a:rPr lang="en-US" altLang="ko-KR" dirty="0"/>
              <a:t> </a:t>
            </a:r>
            <a:r>
              <a:rPr lang="en-US" altLang="ko-KR" dirty="0" smtClean="0"/>
              <a:t> </a:t>
            </a:r>
            <a:r>
              <a:rPr lang="ko-KR" altLang="en-US" dirty="0" smtClean="0"/>
              <a:t>몬스터를 얻기</a:t>
            </a:r>
            <a:r>
              <a:rPr lang="en-US" altLang="ko-KR" dirty="0" smtClean="0"/>
              <a:t> </a:t>
            </a:r>
            <a:r>
              <a:rPr lang="ko-KR" altLang="en-US" dirty="0" smtClean="0"/>
              <a:t>위해선 </a:t>
            </a:r>
            <a:r>
              <a:rPr lang="ko-KR" altLang="en-US" b="1" dirty="0" smtClean="0"/>
              <a:t>몬스터의 요구사항</a:t>
            </a:r>
            <a:r>
              <a:rPr lang="ko-KR" altLang="en-US" dirty="0" smtClean="0"/>
              <a:t>을 들어줘야 합니다</a:t>
            </a:r>
            <a:r>
              <a:rPr lang="en-US" altLang="ko-KR" dirty="0" smtClean="0"/>
              <a:t>.</a:t>
            </a:r>
            <a:endParaRPr lang="en-US" altLang="ko-KR" sz="1200" dirty="0">
              <a:latin typeface="+mn-ea"/>
            </a:endParaRPr>
          </a:p>
          <a:p>
            <a:pPr>
              <a:lnSpc>
                <a:spcPct val="150000"/>
              </a:lnSpc>
            </a:pPr>
            <a:r>
              <a:rPr lang="ko-KR" altLang="en-US" dirty="0" smtClean="0"/>
              <a:t>  </a:t>
            </a:r>
            <a:r>
              <a:rPr lang="ko-KR" altLang="en-US" dirty="0" err="1" smtClean="0"/>
              <a:t>테이밍한</a:t>
            </a:r>
            <a:r>
              <a:rPr lang="ko-KR" altLang="en-US" dirty="0" smtClean="0"/>
              <a:t> 몬스터는 플레이어의 몬스터가 되어</a:t>
            </a:r>
            <a:r>
              <a:rPr lang="en-US" altLang="ko-KR" dirty="0"/>
              <a:t> </a:t>
            </a:r>
            <a:r>
              <a:rPr lang="ko-KR" altLang="en-US" dirty="0" smtClean="0"/>
              <a:t>전투를 도와줄</a:t>
            </a:r>
            <a:endParaRPr lang="en-US" altLang="ko-KR" dirty="0" smtClean="0"/>
          </a:p>
          <a:p>
            <a:pPr>
              <a:lnSpc>
                <a:spcPct val="150000"/>
              </a:lnSpc>
            </a:pPr>
            <a:r>
              <a:rPr lang="en-US" altLang="ko-KR" dirty="0"/>
              <a:t> </a:t>
            </a:r>
            <a:r>
              <a:rPr lang="ko-KR" altLang="en-US" dirty="0" smtClean="0"/>
              <a:t> 것 입니다</a:t>
            </a:r>
            <a:r>
              <a:rPr lang="en-US" altLang="ko-KR" dirty="0" smtClean="0"/>
              <a:t>. </a:t>
            </a:r>
          </a:p>
          <a:p>
            <a:pPr>
              <a:lnSpc>
                <a:spcPct val="150000"/>
              </a:lnSpc>
            </a:pPr>
            <a:endParaRPr lang="en-US" altLang="ko-KR" sz="1200" dirty="0" smtClean="0"/>
          </a:p>
          <a:p>
            <a:pPr>
              <a:lnSpc>
                <a:spcPct val="150000"/>
              </a:lnSpc>
            </a:pPr>
            <a:r>
              <a:rPr lang="en-US" altLang="ko-KR" dirty="0" smtClean="0"/>
              <a:t>• </a:t>
            </a:r>
            <a:r>
              <a:rPr lang="ko-KR" altLang="en-US" dirty="0" smtClean="0"/>
              <a:t>캐릭터와 몬스터는 </a:t>
            </a:r>
            <a:r>
              <a:rPr lang="ko-KR" altLang="en-US" b="1" dirty="0" smtClean="0"/>
              <a:t>아이템을 장비</a:t>
            </a:r>
            <a:r>
              <a:rPr lang="ko-KR" altLang="en-US" dirty="0" smtClean="0"/>
              <a:t>하거나</a:t>
            </a:r>
            <a:r>
              <a:rPr lang="en-US" altLang="ko-KR" dirty="0" smtClean="0"/>
              <a:t>, </a:t>
            </a:r>
            <a:r>
              <a:rPr lang="ko-KR" altLang="en-US" dirty="0" smtClean="0"/>
              <a:t> 전투에서 </a:t>
            </a:r>
            <a:r>
              <a:rPr lang="ko-KR" altLang="en-US" b="1" dirty="0" smtClean="0"/>
              <a:t>경험치를  </a:t>
            </a:r>
            <a:endParaRPr lang="en-US" altLang="ko-KR" b="1" dirty="0" smtClean="0"/>
          </a:p>
          <a:p>
            <a:pPr>
              <a:lnSpc>
                <a:spcPct val="150000"/>
              </a:lnSpc>
            </a:pPr>
            <a:r>
              <a:rPr lang="en-US" altLang="ko-KR" b="1" dirty="0"/>
              <a:t> </a:t>
            </a:r>
            <a:r>
              <a:rPr lang="en-US" altLang="ko-KR" b="1" dirty="0" smtClean="0"/>
              <a:t> </a:t>
            </a:r>
            <a:r>
              <a:rPr lang="ko-KR" altLang="en-US" b="1" dirty="0" smtClean="0"/>
              <a:t>획득</a:t>
            </a:r>
            <a:r>
              <a:rPr lang="ko-KR" altLang="en-US" dirty="0" smtClean="0"/>
              <a:t>하고 성장함으로써 강해질 수 있습니다</a:t>
            </a:r>
            <a:r>
              <a:rPr lang="en-US" altLang="ko-KR" dirty="0" smtClean="0"/>
              <a:t>. </a:t>
            </a:r>
            <a:r>
              <a:rPr lang="ko-KR" altLang="en-US" dirty="0" smtClean="0"/>
              <a:t>이러한 육성을 </a:t>
            </a:r>
            <a:endParaRPr lang="en-US" altLang="ko-KR" dirty="0" smtClean="0"/>
          </a:p>
          <a:p>
            <a:pPr>
              <a:lnSpc>
                <a:spcPct val="150000"/>
              </a:lnSpc>
            </a:pPr>
            <a:r>
              <a:rPr lang="en-US" altLang="ko-KR" dirty="0"/>
              <a:t> </a:t>
            </a:r>
            <a:r>
              <a:rPr lang="en-US" altLang="ko-KR" dirty="0" smtClean="0"/>
              <a:t> </a:t>
            </a:r>
            <a:r>
              <a:rPr lang="ko-KR" altLang="en-US" dirty="0" smtClean="0"/>
              <a:t>통해 아군의 </a:t>
            </a:r>
            <a:r>
              <a:rPr lang="ko-KR" altLang="en-US" dirty="0" err="1" smtClean="0"/>
              <a:t>능력치가</a:t>
            </a:r>
            <a:r>
              <a:rPr lang="ko-KR" altLang="en-US" dirty="0" smtClean="0"/>
              <a:t> 상승하고 스킬이 강화되어 던전을 더</a:t>
            </a:r>
            <a:endParaRPr lang="en-US" altLang="ko-KR" dirty="0" smtClean="0"/>
          </a:p>
          <a:p>
            <a:pPr>
              <a:lnSpc>
                <a:spcPct val="150000"/>
              </a:lnSpc>
            </a:pPr>
            <a:r>
              <a:rPr lang="en-US" altLang="ko-KR" dirty="0"/>
              <a:t> </a:t>
            </a:r>
            <a:r>
              <a:rPr lang="en-US" altLang="ko-KR" dirty="0" smtClean="0"/>
              <a:t> </a:t>
            </a:r>
            <a:r>
              <a:rPr lang="ko-KR" altLang="en-US" dirty="0" smtClean="0"/>
              <a:t>쉽게 헤쳐나갈 수 있습니다</a:t>
            </a:r>
            <a:r>
              <a:rPr lang="en-US" altLang="ko-KR" dirty="0" smtClean="0"/>
              <a:t>.</a:t>
            </a:r>
          </a:p>
          <a:p>
            <a:pPr>
              <a:lnSpc>
                <a:spcPct val="150000"/>
              </a:lnSpc>
            </a:pPr>
            <a:endParaRPr lang="en-US" altLang="ko-KR" sz="1200" dirty="0" smtClean="0"/>
          </a:p>
        </p:txBody>
      </p:sp>
      <p:pic>
        <p:nvPicPr>
          <p:cNvPr id="8" name="그림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2578" y="1255092"/>
            <a:ext cx="3892805" cy="2160507"/>
          </a:xfrm>
          <a:prstGeom prst="rect">
            <a:avLst/>
          </a:prstGeom>
        </p:spPr>
      </p:pic>
      <p:sp>
        <p:nvSpPr>
          <p:cNvPr id="9" name="TextBox 8"/>
          <p:cNvSpPr txBox="1"/>
          <p:nvPr/>
        </p:nvSpPr>
        <p:spPr>
          <a:xfrm>
            <a:off x="1401192" y="3415600"/>
            <a:ext cx="269557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6 )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다채로운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몬스터들</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2" name="그림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578" y="3817287"/>
            <a:ext cx="3969447" cy="2287946"/>
          </a:xfrm>
          <a:prstGeom prst="rect">
            <a:avLst/>
          </a:prstGeom>
        </p:spPr>
      </p:pic>
      <p:sp>
        <p:nvSpPr>
          <p:cNvPr id="14" name="TextBox 13"/>
          <p:cNvSpPr txBox="1"/>
          <p:nvPr/>
        </p:nvSpPr>
        <p:spPr>
          <a:xfrm>
            <a:off x="1246581" y="6025325"/>
            <a:ext cx="3058321"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7</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다른 </a:t>
            </a:r>
            <a:r>
              <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컨셉의 용사  캐릭터</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7905986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err="1">
                <a:gradFill>
                  <a:gsLst>
                    <a:gs pos="0">
                      <a:schemeClr val="tx1"/>
                    </a:gs>
                    <a:gs pos="100000">
                      <a:schemeClr val="tx1"/>
                    </a:gs>
                  </a:gsLst>
                  <a:lin ang="5400000" scaled="1"/>
                </a:gradFill>
                <a:latin typeface="맑은 고딕" panose="020B0503020000020004" pitchFamily="50" charset="-127"/>
              </a:rPr>
              <a:t>턴방식</a:t>
            </a:r>
            <a:r>
              <a:rPr lang="ko-KR" altLang="en-US" sz="3200" b="1" dirty="0">
                <a:gradFill>
                  <a:gsLst>
                    <a:gs pos="0">
                      <a:schemeClr val="tx1"/>
                    </a:gs>
                    <a:gs pos="100000">
                      <a:schemeClr val="tx1"/>
                    </a:gs>
                  </a:gsLst>
                  <a:lin ang="5400000" scaled="1"/>
                </a:gradFill>
                <a:latin typeface="맑은 고딕" panose="020B0503020000020004" pitchFamily="50" charset="-127"/>
              </a:rPr>
              <a:t> 전략 </a:t>
            </a:r>
            <a:r>
              <a:rPr lang="ko-KR" altLang="en-US" sz="3200" b="1" dirty="0" smtClean="0">
                <a:gradFill>
                  <a:gsLst>
                    <a:gs pos="0">
                      <a:schemeClr val="tx1"/>
                    </a:gs>
                    <a:gs pos="100000">
                      <a:schemeClr val="tx1"/>
                    </a:gs>
                  </a:gsLst>
                  <a:lin ang="5400000" scaled="1"/>
                </a:gradFill>
                <a:latin typeface="맑은 고딕" panose="020B0503020000020004" pitchFamily="50" charset="-127"/>
              </a:rPr>
              <a:t>전투</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11</a:t>
            </a:fld>
            <a:endParaRPr lang="ko-KR" altLang="en-US" sz="1800" dirty="0"/>
          </a:p>
        </p:txBody>
      </p:sp>
      <p:sp>
        <p:nvSpPr>
          <p:cNvPr id="13" name="TextBox 12"/>
          <p:cNvSpPr txBox="1"/>
          <p:nvPr/>
        </p:nvSpPr>
        <p:spPr>
          <a:xfrm>
            <a:off x="5280347" y="1347170"/>
            <a:ext cx="6660506" cy="4662815"/>
          </a:xfrm>
          <a:prstGeom prst="rect">
            <a:avLst/>
          </a:prstGeom>
          <a:noFill/>
        </p:spPr>
        <p:txBody>
          <a:bodyPr wrap="square" rtlCol="0">
            <a:spAutoFit/>
          </a:bodyPr>
          <a:lstStyle/>
          <a:p>
            <a:pPr>
              <a:lnSpc>
                <a:spcPct val="150000"/>
              </a:lnSpc>
            </a:pPr>
            <a:r>
              <a:rPr lang="en-US" altLang="ko-KR" dirty="0"/>
              <a:t>• </a:t>
            </a:r>
            <a:r>
              <a:rPr lang="ko-KR" altLang="en-US" dirty="0" smtClean="0"/>
              <a:t>플레이어는 </a:t>
            </a:r>
            <a:r>
              <a:rPr lang="ko-KR" altLang="en-US" dirty="0" smtClean="0">
                <a:latin typeface="+mn-ea"/>
              </a:rPr>
              <a:t>다양한 개성을 지닌 </a:t>
            </a:r>
            <a:r>
              <a:rPr lang="ko-KR" altLang="en-US" b="1" dirty="0" smtClean="0">
                <a:latin typeface="+mn-ea"/>
              </a:rPr>
              <a:t>캐릭터와 몬스터를 조합</a:t>
            </a:r>
            <a:r>
              <a:rPr lang="ko-KR" altLang="en-US" dirty="0" smtClean="0">
                <a:latin typeface="+mn-ea"/>
              </a:rPr>
              <a:t>하여</a:t>
            </a:r>
            <a:r>
              <a:rPr lang="en-US" altLang="ko-KR" dirty="0" smtClean="0">
                <a:latin typeface="+mn-ea"/>
              </a:rPr>
              <a:t>, </a:t>
            </a:r>
          </a:p>
          <a:p>
            <a:pPr>
              <a:lnSpc>
                <a:spcPct val="150000"/>
              </a:lnSpc>
            </a:pPr>
            <a:r>
              <a:rPr lang="en-US" altLang="ko-KR" dirty="0">
                <a:latin typeface="+mn-ea"/>
              </a:rPr>
              <a:t> </a:t>
            </a:r>
            <a:r>
              <a:rPr lang="en-US" altLang="ko-KR" dirty="0" smtClean="0">
                <a:latin typeface="+mn-ea"/>
              </a:rPr>
              <a:t> </a:t>
            </a:r>
            <a:r>
              <a:rPr lang="ko-KR" altLang="en-US" dirty="0" smtClean="0">
                <a:latin typeface="+mn-ea"/>
              </a:rPr>
              <a:t>던전 속</a:t>
            </a:r>
            <a:r>
              <a:rPr lang="en-US" altLang="ko-KR" dirty="0" smtClean="0">
                <a:latin typeface="+mn-ea"/>
              </a:rPr>
              <a:t> </a:t>
            </a:r>
            <a:r>
              <a:rPr lang="ko-KR" altLang="en-US" dirty="0" err="1" smtClean="0">
                <a:latin typeface="+mn-ea"/>
              </a:rPr>
              <a:t>몬스터들을</a:t>
            </a:r>
            <a:r>
              <a:rPr lang="ko-KR" altLang="en-US" dirty="0" smtClean="0">
                <a:latin typeface="+mn-ea"/>
              </a:rPr>
              <a:t> 최대한 피해 없이 쓰러트려야 합니다</a:t>
            </a:r>
            <a:r>
              <a:rPr lang="en-US" altLang="ko-KR" dirty="0" smtClean="0">
                <a:latin typeface="+mn-ea"/>
              </a:rPr>
              <a:t>.</a:t>
            </a:r>
          </a:p>
          <a:p>
            <a:pPr>
              <a:lnSpc>
                <a:spcPct val="150000"/>
              </a:lnSpc>
            </a:pPr>
            <a:endParaRPr lang="en-US" altLang="ko-KR" sz="1200" dirty="0">
              <a:latin typeface="+mn-ea"/>
            </a:endParaRPr>
          </a:p>
          <a:p>
            <a:pPr>
              <a:lnSpc>
                <a:spcPct val="150000"/>
              </a:lnSpc>
            </a:pPr>
            <a:r>
              <a:rPr lang="en-US" altLang="ko-KR" dirty="0"/>
              <a:t>• </a:t>
            </a:r>
            <a:r>
              <a:rPr lang="ko-KR" altLang="en-US" dirty="0"/>
              <a:t>아군과 적군의 성장 차이</a:t>
            </a:r>
            <a:r>
              <a:rPr lang="en-US" altLang="ko-KR" dirty="0"/>
              <a:t>, </a:t>
            </a:r>
            <a:r>
              <a:rPr lang="ko-KR" altLang="en-US" dirty="0"/>
              <a:t>상성</a:t>
            </a:r>
            <a:r>
              <a:rPr lang="en-US" altLang="ko-KR" dirty="0"/>
              <a:t>, </a:t>
            </a:r>
            <a:r>
              <a:rPr lang="ko-KR" altLang="en-US" dirty="0"/>
              <a:t>아이템의 현황</a:t>
            </a:r>
            <a:r>
              <a:rPr lang="en-US" altLang="ko-KR" dirty="0"/>
              <a:t>, </a:t>
            </a:r>
            <a:r>
              <a:rPr lang="ko-KR" altLang="en-US" dirty="0"/>
              <a:t>파티의 컨셉과 </a:t>
            </a:r>
            <a:endParaRPr lang="en-US" altLang="ko-KR" dirty="0"/>
          </a:p>
          <a:p>
            <a:pPr>
              <a:lnSpc>
                <a:spcPct val="150000"/>
              </a:lnSpc>
            </a:pPr>
            <a:r>
              <a:rPr lang="en-US" altLang="ko-KR" dirty="0"/>
              <a:t>  </a:t>
            </a:r>
            <a:r>
              <a:rPr lang="ko-KR" altLang="en-US" dirty="0"/>
              <a:t>장단점 등 </a:t>
            </a:r>
            <a:r>
              <a:rPr lang="ko-KR" altLang="en-US" b="1" dirty="0"/>
              <a:t>다양한 전략적 변수</a:t>
            </a:r>
            <a:r>
              <a:rPr lang="ko-KR" altLang="en-US" dirty="0"/>
              <a:t>들이 존재합니다</a:t>
            </a:r>
            <a:r>
              <a:rPr lang="en-US" altLang="ko-KR" dirty="0" smtClean="0"/>
              <a:t>. </a:t>
            </a:r>
          </a:p>
          <a:p>
            <a:pPr>
              <a:lnSpc>
                <a:spcPct val="150000"/>
              </a:lnSpc>
            </a:pPr>
            <a:endParaRPr lang="en-US" altLang="ko-KR" sz="1200" dirty="0"/>
          </a:p>
          <a:p>
            <a:pPr>
              <a:lnSpc>
                <a:spcPct val="150000"/>
              </a:lnSpc>
            </a:pPr>
            <a:r>
              <a:rPr lang="en-US" altLang="ko-KR" dirty="0" smtClean="0"/>
              <a:t>• </a:t>
            </a:r>
            <a:r>
              <a:rPr lang="ko-KR" altLang="en-US" dirty="0" smtClean="0">
                <a:latin typeface="+mn-ea"/>
              </a:rPr>
              <a:t>턴 방식을 통해 이러한 다양한 변수를 고려하며</a:t>
            </a:r>
            <a:r>
              <a:rPr lang="en-US" altLang="ko-KR" dirty="0" smtClean="0">
                <a:latin typeface="+mn-ea"/>
              </a:rPr>
              <a:t> </a:t>
            </a:r>
            <a:r>
              <a:rPr lang="ko-KR" altLang="en-US" b="1" dirty="0" smtClean="0">
                <a:latin typeface="+mn-ea"/>
              </a:rPr>
              <a:t>효율적이고</a:t>
            </a:r>
            <a:r>
              <a:rPr lang="en-US" altLang="ko-KR" dirty="0" smtClean="0"/>
              <a:t> </a:t>
            </a:r>
          </a:p>
          <a:p>
            <a:pPr>
              <a:lnSpc>
                <a:spcPct val="150000"/>
              </a:lnSpc>
            </a:pPr>
            <a:r>
              <a:rPr lang="en-US" altLang="ko-KR" dirty="0"/>
              <a:t> </a:t>
            </a:r>
            <a:r>
              <a:rPr lang="en-US" altLang="ko-KR" dirty="0" smtClean="0"/>
              <a:t> </a:t>
            </a:r>
            <a:r>
              <a:rPr lang="ko-KR" altLang="en-US" b="1" dirty="0" smtClean="0"/>
              <a:t>합리적인 선택</a:t>
            </a:r>
            <a:r>
              <a:rPr lang="ko-KR" altLang="en-US" dirty="0" smtClean="0"/>
              <a:t>을 내리게끔 하여</a:t>
            </a:r>
            <a:r>
              <a:rPr lang="en-US" altLang="ko-KR" dirty="0" smtClean="0"/>
              <a:t>, </a:t>
            </a:r>
            <a:r>
              <a:rPr lang="ko-KR" altLang="en-US" dirty="0" smtClean="0"/>
              <a:t>게임에 </a:t>
            </a:r>
            <a:r>
              <a:rPr lang="ko-KR" altLang="en-US" dirty="0" err="1" smtClean="0"/>
              <a:t>전략성을</a:t>
            </a:r>
            <a:r>
              <a:rPr lang="ko-KR" altLang="en-US" dirty="0" smtClean="0"/>
              <a:t> 부여합니다</a:t>
            </a:r>
            <a:r>
              <a:rPr lang="en-US" altLang="ko-KR" dirty="0" smtClean="0"/>
              <a:t>.</a:t>
            </a:r>
            <a:endParaRPr lang="en-US" altLang="ko-KR" dirty="0"/>
          </a:p>
          <a:p>
            <a:pPr>
              <a:lnSpc>
                <a:spcPct val="150000"/>
              </a:lnSpc>
            </a:pPr>
            <a:endParaRPr lang="en-US" altLang="ko-KR" sz="1200" dirty="0" smtClean="0"/>
          </a:p>
          <a:p>
            <a:pPr>
              <a:lnSpc>
                <a:spcPct val="150000"/>
              </a:lnSpc>
            </a:pPr>
            <a:r>
              <a:rPr lang="en-US" altLang="ko-KR" dirty="0" smtClean="0"/>
              <a:t>• </a:t>
            </a:r>
            <a:r>
              <a:rPr lang="ko-KR" altLang="en-US" dirty="0" smtClean="0"/>
              <a:t>실시간으로 플레이어의 컨트롤 능력을 요구하는 대신</a:t>
            </a:r>
            <a:r>
              <a:rPr lang="en-US" altLang="ko-KR" dirty="0" smtClean="0"/>
              <a:t> </a:t>
            </a:r>
            <a:r>
              <a:rPr lang="ko-KR" altLang="en-US" b="1" dirty="0" smtClean="0"/>
              <a:t>적절한   </a:t>
            </a:r>
            <a:endParaRPr lang="en-US" altLang="ko-KR" b="1" dirty="0" smtClean="0"/>
          </a:p>
          <a:p>
            <a:pPr>
              <a:lnSpc>
                <a:spcPct val="150000"/>
              </a:lnSpc>
            </a:pPr>
            <a:r>
              <a:rPr lang="en-US" altLang="ko-KR" b="1" dirty="0"/>
              <a:t> </a:t>
            </a:r>
            <a:r>
              <a:rPr lang="en-US" altLang="ko-KR" b="1" dirty="0" smtClean="0"/>
              <a:t> </a:t>
            </a:r>
            <a:r>
              <a:rPr lang="ko-KR" altLang="en-US" b="1" dirty="0" smtClean="0"/>
              <a:t>판단을 필요</a:t>
            </a:r>
            <a:r>
              <a:rPr lang="ko-KR" altLang="en-US" dirty="0" smtClean="0"/>
              <a:t>로 하기 때문에</a:t>
            </a:r>
            <a:r>
              <a:rPr lang="en-US" altLang="ko-KR" dirty="0" smtClean="0"/>
              <a:t>, </a:t>
            </a:r>
            <a:r>
              <a:rPr lang="ko-KR" altLang="en-US" dirty="0" smtClean="0"/>
              <a:t>누구나 손쉽게 접근할 </a:t>
            </a:r>
            <a:r>
              <a:rPr lang="ko-KR" altLang="en-US" dirty="0" smtClean="0"/>
              <a:t>수 있고</a:t>
            </a:r>
            <a:endParaRPr lang="en-US" altLang="ko-KR" dirty="0" smtClean="0"/>
          </a:p>
          <a:p>
            <a:pPr>
              <a:lnSpc>
                <a:spcPct val="150000"/>
              </a:lnSpc>
            </a:pPr>
            <a:r>
              <a:rPr lang="ko-KR" altLang="en-US" dirty="0" smtClean="0"/>
              <a:t>  게임의 기술적 구현에 있어서도 장점을 가지고 있습니다</a:t>
            </a:r>
            <a:r>
              <a:rPr lang="en-US" altLang="ko-KR" dirty="0" smtClean="0"/>
              <a:t>.</a:t>
            </a:r>
            <a:endParaRPr lang="en-US" altLang="ko-KR" dirty="0"/>
          </a:p>
        </p:txBody>
      </p:sp>
      <p:pic>
        <p:nvPicPr>
          <p:cNvPr id="8" name="그림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530" y="1255092"/>
            <a:ext cx="3840901" cy="2160507"/>
          </a:xfrm>
          <a:prstGeom prst="rect">
            <a:avLst/>
          </a:prstGeom>
        </p:spPr>
      </p:pic>
      <p:sp>
        <p:nvSpPr>
          <p:cNvPr id="9" name="TextBox 8"/>
          <p:cNvSpPr txBox="1"/>
          <p:nvPr/>
        </p:nvSpPr>
        <p:spPr>
          <a:xfrm>
            <a:off x="1401192" y="3415600"/>
            <a:ext cx="269557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8 )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턴  방식의  전투</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2" name="그림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530" y="3859452"/>
            <a:ext cx="3840901" cy="2160506"/>
          </a:xfrm>
          <a:prstGeom prst="rect">
            <a:avLst/>
          </a:prstGeom>
        </p:spPr>
      </p:pic>
      <p:sp>
        <p:nvSpPr>
          <p:cNvPr id="14" name="TextBox 13"/>
          <p:cNvSpPr txBox="1"/>
          <p:nvPr/>
        </p:nvSpPr>
        <p:spPr>
          <a:xfrm>
            <a:off x="1246581" y="6025325"/>
            <a:ext cx="3058321"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9 )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턴  방식의  전투</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34541366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12</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타원 14"/>
          <p:cNvSpPr/>
          <p:nvPr/>
        </p:nvSpPr>
        <p:spPr>
          <a:xfrm>
            <a:off x="2287232" y="1239463"/>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a:off x="2279278" y="595937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타원 22"/>
          <p:cNvSpPr/>
          <p:nvPr/>
        </p:nvSpPr>
        <p:spPr>
          <a:xfrm>
            <a:off x="2279279"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타원 38"/>
          <p:cNvSpPr/>
          <p:nvPr/>
        </p:nvSpPr>
        <p:spPr>
          <a:xfrm>
            <a:off x="3321853" y="20059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p:cNvSpPr/>
          <p:nvPr/>
        </p:nvSpPr>
        <p:spPr>
          <a:xfrm>
            <a:off x="3322656" y="12260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p:cNvSpPr/>
          <p:nvPr/>
        </p:nvSpPr>
        <p:spPr>
          <a:xfrm>
            <a:off x="3314702"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타원 42"/>
          <p:cNvSpPr/>
          <p:nvPr/>
        </p:nvSpPr>
        <p:spPr>
          <a:xfrm>
            <a:off x="3314703"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타원 56"/>
          <p:cNvSpPr/>
          <p:nvPr/>
        </p:nvSpPr>
        <p:spPr>
          <a:xfrm>
            <a:off x="540254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타원 57"/>
          <p:cNvSpPr/>
          <p:nvPr/>
        </p:nvSpPr>
        <p:spPr>
          <a:xfrm>
            <a:off x="540804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타원 58"/>
          <p:cNvSpPr/>
          <p:nvPr/>
        </p:nvSpPr>
        <p:spPr>
          <a:xfrm>
            <a:off x="5408041" y="203283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 name="타원 59"/>
          <p:cNvSpPr/>
          <p:nvPr/>
        </p:nvSpPr>
        <p:spPr>
          <a:xfrm>
            <a:off x="5408844" y="12260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2" name="타원 61"/>
          <p:cNvSpPr/>
          <p:nvPr/>
        </p:nvSpPr>
        <p:spPr>
          <a:xfrm>
            <a:off x="540089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3" name="타원 62"/>
          <p:cNvSpPr/>
          <p:nvPr/>
        </p:nvSpPr>
        <p:spPr>
          <a:xfrm>
            <a:off x="5400891"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4" name="타원 63"/>
          <p:cNvSpPr/>
          <p:nvPr/>
        </p:nvSpPr>
        <p:spPr>
          <a:xfrm>
            <a:off x="5401694"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타원 66"/>
          <p:cNvSpPr/>
          <p:nvPr/>
        </p:nvSpPr>
        <p:spPr>
          <a:xfrm>
            <a:off x="645141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4" name="타원 73"/>
          <p:cNvSpPr/>
          <p:nvPr/>
        </p:nvSpPr>
        <p:spPr>
          <a:xfrm>
            <a:off x="6450564" y="43995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grpSp>
        <p:nvGrpSpPr>
          <p:cNvPr id="111" name="그룹 110"/>
          <p:cNvGrpSpPr/>
          <p:nvPr/>
        </p:nvGrpSpPr>
        <p:grpSpPr>
          <a:xfrm>
            <a:off x="10407884" y="346837"/>
            <a:ext cx="1641552" cy="389965"/>
            <a:chOff x="516703" y="972856"/>
            <a:chExt cx="1641552" cy="389965"/>
          </a:xfrm>
        </p:grpSpPr>
        <p:sp>
          <p:nvSpPr>
            <p:cNvPr id="109" name="타원 108"/>
            <p:cNvSpPr/>
            <p:nvPr/>
          </p:nvSpPr>
          <p:spPr>
            <a:xfrm>
              <a:off x="516703" y="101319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TextBox 109"/>
            <p:cNvSpPr txBox="1"/>
            <p:nvPr/>
          </p:nvSpPr>
          <p:spPr>
            <a:xfrm>
              <a:off x="874059" y="972856"/>
              <a:ext cx="1284196" cy="369332"/>
            </a:xfrm>
            <a:prstGeom prst="rect">
              <a:avLst/>
            </a:prstGeom>
            <a:noFill/>
          </p:spPr>
          <p:txBody>
            <a:bodyPr wrap="square" rtlCol="0">
              <a:spAutoFit/>
            </a:bodyPr>
            <a:lstStyle/>
            <a:p>
              <a:r>
                <a:rPr lang="en-US" altLang="ko-KR" dirty="0" smtClean="0"/>
                <a:t>: </a:t>
              </a:r>
              <a:r>
                <a:rPr lang="ko-KR" altLang="en-US" dirty="0" err="1" smtClean="0"/>
                <a:t>에어리어</a:t>
              </a:r>
              <a:endParaRPr lang="ko-KR" altLang="en-US" dirty="0"/>
            </a:p>
          </p:txBody>
        </p:sp>
      </p:grpSp>
      <p:sp>
        <p:nvSpPr>
          <p:cNvPr id="134" name="직사각형 133"/>
          <p:cNvSpPr/>
          <p:nvPr/>
        </p:nvSpPr>
        <p:spPr>
          <a:xfrm>
            <a:off x="4195481" y="3394351"/>
            <a:ext cx="699247" cy="781370"/>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ysClr val="windowText" lastClr="000000"/>
                </a:solidFill>
              </a:rPr>
              <a:t>중간</a:t>
            </a:r>
            <a:endParaRPr lang="en-US" altLang="ko-KR" dirty="0" smtClean="0">
              <a:solidFill>
                <a:sysClr val="windowText" lastClr="000000"/>
              </a:solidFill>
            </a:endParaRPr>
          </a:p>
          <a:p>
            <a:pPr algn="ctr"/>
            <a:r>
              <a:rPr lang="ko-KR" altLang="en-US" dirty="0" smtClean="0">
                <a:solidFill>
                  <a:sysClr val="windowText" lastClr="000000"/>
                </a:solidFill>
              </a:rPr>
              <a:t>보</a:t>
            </a:r>
            <a:r>
              <a:rPr lang="ko-KR" altLang="en-US" dirty="0">
                <a:solidFill>
                  <a:sysClr val="windowText" lastClr="000000"/>
                </a:solidFill>
              </a:rPr>
              <a:t>스</a:t>
            </a:r>
          </a:p>
        </p:txBody>
      </p:sp>
      <p:sp>
        <p:nvSpPr>
          <p:cNvPr id="135" name="직사각형 134"/>
          <p:cNvSpPr/>
          <p:nvPr/>
        </p:nvSpPr>
        <p:spPr>
          <a:xfrm>
            <a:off x="7346576" y="3380904"/>
            <a:ext cx="699247" cy="781370"/>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ysClr val="windowText" lastClr="000000"/>
                </a:solidFill>
              </a:rPr>
              <a:t>중간</a:t>
            </a:r>
            <a:endParaRPr lang="en-US" altLang="ko-KR" dirty="0" smtClean="0">
              <a:solidFill>
                <a:sysClr val="windowText" lastClr="000000"/>
              </a:solidFill>
            </a:endParaRPr>
          </a:p>
          <a:p>
            <a:pPr algn="ctr"/>
            <a:r>
              <a:rPr lang="ko-KR" altLang="en-US" dirty="0" smtClean="0">
                <a:solidFill>
                  <a:sysClr val="windowText" lastClr="000000"/>
                </a:solidFill>
              </a:rPr>
              <a:t>보</a:t>
            </a:r>
            <a:r>
              <a:rPr lang="ko-KR" altLang="en-US" dirty="0">
                <a:solidFill>
                  <a:sysClr val="windowText" lastClr="000000"/>
                </a:solidFill>
              </a:rPr>
              <a:t>스</a:t>
            </a:r>
          </a:p>
        </p:txBody>
      </p:sp>
      <p:sp>
        <p:nvSpPr>
          <p:cNvPr id="136" name="직사각형 135"/>
          <p:cNvSpPr/>
          <p:nvPr/>
        </p:nvSpPr>
        <p:spPr>
          <a:xfrm>
            <a:off x="10765240" y="3380903"/>
            <a:ext cx="699247" cy="781371"/>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ysClr val="windowText" lastClr="000000"/>
                </a:solidFill>
              </a:rPr>
              <a:t>최종</a:t>
            </a:r>
            <a:endParaRPr lang="en-US" altLang="ko-KR" dirty="0" smtClean="0">
              <a:solidFill>
                <a:sysClr val="windowText" lastClr="000000"/>
              </a:solidFill>
            </a:endParaRPr>
          </a:p>
          <a:p>
            <a:pPr algn="ctr"/>
            <a:r>
              <a:rPr lang="ko-KR" altLang="en-US" dirty="0" smtClean="0">
                <a:solidFill>
                  <a:sysClr val="windowText" lastClr="000000"/>
                </a:solidFill>
              </a:rPr>
              <a:t>보</a:t>
            </a:r>
            <a:r>
              <a:rPr lang="ko-KR" altLang="en-US" dirty="0">
                <a:solidFill>
                  <a:sysClr val="windowText" lastClr="000000"/>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a:stCxn id="44" idx="6"/>
            <a:endCxn id="134" idx="1"/>
          </p:cNvCxnSpPr>
          <p:nvPr/>
        </p:nvCxnSpPr>
        <p:spPr>
          <a:xfrm flipV="1">
            <a:off x="3692024" y="3785036"/>
            <a:ext cx="503457" cy="77584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8" name="직선 연결선 147"/>
          <p:cNvCxnSpPr>
            <a:endCxn id="73" idx="2"/>
          </p:cNvCxnSpPr>
          <p:nvPr/>
        </p:nvCxnSpPr>
        <p:spPr>
          <a:xfrm flipV="1">
            <a:off x="5763961" y="5367703"/>
            <a:ext cx="685800" cy="78225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a:stCxn id="68" idx="6"/>
            <a:endCxn id="135" idx="1"/>
          </p:cNvCxnSpPr>
          <p:nvPr/>
        </p:nvCxnSpPr>
        <p:spPr>
          <a:xfrm>
            <a:off x="6819981" y="2987577"/>
            <a:ext cx="526595" cy="78401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stCxn id="9" idx="0"/>
            <a:endCxn id="24"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2" name="그룹 1"/>
          <p:cNvGrpSpPr/>
          <p:nvPr/>
        </p:nvGrpSpPr>
        <p:grpSpPr>
          <a:xfrm>
            <a:off x="10374267" y="802896"/>
            <a:ext cx="1943240" cy="369332"/>
            <a:chOff x="10374267" y="802896"/>
            <a:chExt cx="1943240" cy="369332"/>
          </a:xfrm>
        </p:grpSpPr>
        <p:sp>
          <p:nvSpPr>
            <p:cNvPr id="75" name="TextBox 74"/>
            <p:cNvSpPr txBox="1"/>
            <p:nvPr/>
          </p:nvSpPr>
          <p:spPr>
            <a:xfrm>
              <a:off x="10762253" y="802896"/>
              <a:ext cx="1555254" cy="369332"/>
            </a:xfrm>
            <a:prstGeom prst="rect">
              <a:avLst/>
            </a:prstGeom>
            <a:noFill/>
          </p:spPr>
          <p:txBody>
            <a:bodyPr wrap="square" rtlCol="0">
              <a:spAutoFit/>
            </a:bodyPr>
            <a:lstStyle/>
            <a:p>
              <a:r>
                <a:rPr lang="en-US" altLang="ko-KR" dirty="0" smtClean="0"/>
                <a:t>: </a:t>
              </a:r>
              <a:r>
                <a:rPr lang="ko-KR" altLang="en-US" dirty="0" smtClean="0"/>
                <a:t>예상 경로</a:t>
              </a:r>
              <a:endParaRPr lang="ko-KR" altLang="en-US" dirty="0"/>
            </a:p>
          </p:txBody>
        </p:sp>
        <p:cxnSp>
          <p:nvCxnSpPr>
            <p:cNvPr id="76" name="직선 화살표 연결선 75"/>
            <p:cNvCxnSpPr/>
            <p:nvPr/>
          </p:nvCxnSpPr>
          <p:spPr>
            <a:xfrm>
              <a:off x="10374267" y="1000346"/>
              <a:ext cx="387986"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5941350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13</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타원 14"/>
          <p:cNvSpPr/>
          <p:nvPr/>
        </p:nvSpPr>
        <p:spPr>
          <a:xfrm>
            <a:off x="2287232" y="1239463"/>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a:off x="2279278" y="595937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타원 22"/>
          <p:cNvSpPr/>
          <p:nvPr/>
        </p:nvSpPr>
        <p:spPr>
          <a:xfrm>
            <a:off x="2279279"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타원 38"/>
          <p:cNvSpPr/>
          <p:nvPr/>
        </p:nvSpPr>
        <p:spPr>
          <a:xfrm>
            <a:off x="3321853" y="20059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p:cNvSpPr/>
          <p:nvPr/>
        </p:nvSpPr>
        <p:spPr>
          <a:xfrm>
            <a:off x="3322656" y="12260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p:cNvSpPr/>
          <p:nvPr/>
        </p:nvSpPr>
        <p:spPr>
          <a:xfrm>
            <a:off x="3314702"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타원 42"/>
          <p:cNvSpPr/>
          <p:nvPr/>
        </p:nvSpPr>
        <p:spPr>
          <a:xfrm>
            <a:off x="3314703"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타원 56"/>
          <p:cNvSpPr/>
          <p:nvPr/>
        </p:nvSpPr>
        <p:spPr>
          <a:xfrm>
            <a:off x="540254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타원 57"/>
          <p:cNvSpPr/>
          <p:nvPr/>
        </p:nvSpPr>
        <p:spPr>
          <a:xfrm>
            <a:off x="540804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타원 58"/>
          <p:cNvSpPr/>
          <p:nvPr/>
        </p:nvSpPr>
        <p:spPr>
          <a:xfrm>
            <a:off x="5408041" y="203283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 name="타원 59"/>
          <p:cNvSpPr/>
          <p:nvPr/>
        </p:nvSpPr>
        <p:spPr>
          <a:xfrm>
            <a:off x="5408844" y="12260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2" name="타원 61"/>
          <p:cNvSpPr/>
          <p:nvPr/>
        </p:nvSpPr>
        <p:spPr>
          <a:xfrm>
            <a:off x="540089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3" name="타원 62"/>
          <p:cNvSpPr/>
          <p:nvPr/>
        </p:nvSpPr>
        <p:spPr>
          <a:xfrm>
            <a:off x="5400891"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4" name="타원 63"/>
          <p:cNvSpPr/>
          <p:nvPr/>
        </p:nvSpPr>
        <p:spPr>
          <a:xfrm>
            <a:off x="5401694"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타원 66"/>
          <p:cNvSpPr/>
          <p:nvPr/>
        </p:nvSpPr>
        <p:spPr>
          <a:xfrm>
            <a:off x="645141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4" name="타원 73"/>
          <p:cNvSpPr/>
          <p:nvPr/>
        </p:nvSpPr>
        <p:spPr>
          <a:xfrm>
            <a:off x="6450564" y="43995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grpSp>
        <p:nvGrpSpPr>
          <p:cNvPr id="111" name="그룹 110"/>
          <p:cNvGrpSpPr/>
          <p:nvPr/>
        </p:nvGrpSpPr>
        <p:grpSpPr>
          <a:xfrm>
            <a:off x="10407884" y="346837"/>
            <a:ext cx="1641552" cy="389965"/>
            <a:chOff x="516703" y="972856"/>
            <a:chExt cx="1641552" cy="389965"/>
          </a:xfrm>
        </p:grpSpPr>
        <p:sp>
          <p:nvSpPr>
            <p:cNvPr id="109" name="타원 108"/>
            <p:cNvSpPr/>
            <p:nvPr/>
          </p:nvSpPr>
          <p:spPr>
            <a:xfrm>
              <a:off x="516703" y="101319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TextBox 109"/>
            <p:cNvSpPr txBox="1"/>
            <p:nvPr/>
          </p:nvSpPr>
          <p:spPr>
            <a:xfrm>
              <a:off x="874059" y="972856"/>
              <a:ext cx="1284196" cy="369332"/>
            </a:xfrm>
            <a:prstGeom prst="rect">
              <a:avLst/>
            </a:prstGeom>
            <a:noFill/>
          </p:spPr>
          <p:txBody>
            <a:bodyPr wrap="square" rtlCol="0">
              <a:spAutoFit/>
            </a:bodyPr>
            <a:lstStyle/>
            <a:p>
              <a:r>
                <a:rPr lang="en-US" altLang="ko-KR" dirty="0" smtClean="0"/>
                <a:t>: </a:t>
              </a:r>
              <a:r>
                <a:rPr lang="ko-KR" altLang="en-US" dirty="0" err="1" smtClean="0"/>
                <a:t>에어리어</a:t>
              </a:r>
              <a:endParaRPr lang="ko-KR" altLang="en-US" dirty="0"/>
            </a:p>
          </p:txBody>
        </p:sp>
      </p:grpSp>
      <p:sp>
        <p:nvSpPr>
          <p:cNvPr id="134" name="직사각형 133"/>
          <p:cNvSpPr/>
          <p:nvPr/>
        </p:nvSpPr>
        <p:spPr>
          <a:xfrm>
            <a:off x="4195481" y="3394351"/>
            <a:ext cx="699247" cy="781370"/>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ysClr val="windowText" lastClr="000000"/>
                </a:solidFill>
              </a:rPr>
              <a:t>중간</a:t>
            </a:r>
            <a:endParaRPr lang="en-US" altLang="ko-KR" dirty="0" smtClean="0">
              <a:solidFill>
                <a:sysClr val="windowText" lastClr="000000"/>
              </a:solidFill>
            </a:endParaRPr>
          </a:p>
          <a:p>
            <a:pPr algn="ctr"/>
            <a:r>
              <a:rPr lang="ko-KR" altLang="en-US" dirty="0" smtClean="0">
                <a:solidFill>
                  <a:sysClr val="windowText" lastClr="000000"/>
                </a:solidFill>
              </a:rPr>
              <a:t>보</a:t>
            </a:r>
            <a:r>
              <a:rPr lang="ko-KR" altLang="en-US" dirty="0">
                <a:solidFill>
                  <a:sysClr val="windowText" lastClr="000000"/>
                </a:solidFill>
              </a:rPr>
              <a:t>스</a:t>
            </a:r>
          </a:p>
        </p:txBody>
      </p:sp>
      <p:sp>
        <p:nvSpPr>
          <p:cNvPr id="135" name="직사각형 134"/>
          <p:cNvSpPr/>
          <p:nvPr/>
        </p:nvSpPr>
        <p:spPr>
          <a:xfrm>
            <a:off x="7346576" y="3380904"/>
            <a:ext cx="699247" cy="781370"/>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ysClr val="windowText" lastClr="000000"/>
                </a:solidFill>
              </a:rPr>
              <a:t>중간</a:t>
            </a:r>
            <a:endParaRPr lang="en-US" altLang="ko-KR" dirty="0" smtClean="0">
              <a:solidFill>
                <a:sysClr val="windowText" lastClr="000000"/>
              </a:solidFill>
            </a:endParaRPr>
          </a:p>
          <a:p>
            <a:pPr algn="ctr"/>
            <a:r>
              <a:rPr lang="ko-KR" altLang="en-US" dirty="0" smtClean="0">
                <a:solidFill>
                  <a:sysClr val="windowText" lastClr="000000"/>
                </a:solidFill>
              </a:rPr>
              <a:t>보</a:t>
            </a:r>
            <a:r>
              <a:rPr lang="ko-KR" altLang="en-US" dirty="0">
                <a:solidFill>
                  <a:sysClr val="windowText" lastClr="000000"/>
                </a:solidFill>
              </a:rPr>
              <a:t>스</a:t>
            </a:r>
          </a:p>
        </p:txBody>
      </p:sp>
      <p:sp>
        <p:nvSpPr>
          <p:cNvPr id="136" name="직사각형 135"/>
          <p:cNvSpPr/>
          <p:nvPr/>
        </p:nvSpPr>
        <p:spPr>
          <a:xfrm>
            <a:off x="10765240" y="3380903"/>
            <a:ext cx="699247" cy="781371"/>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ysClr val="windowText" lastClr="000000"/>
                </a:solidFill>
              </a:rPr>
              <a:t>최종</a:t>
            </a:r>
            <a:endParaRPr lang="en-US" altLang="ko-KR" dirty="0" smtClean="0">
              <a:solidFill>
                <a:sysClr val="windowText" lastClr="000000"/>
              </a:solidFill>
            </a:endParaRPr>
          </a:p>
          <a:p>
            <a:pPr algn="ctr"/>
            <a:r>
              <a:rPr lang="ko-KR" altLang="en-US" dirty="0" smtClean="0">
                <a:solidFill>
                  <a:sysClr val="windowText" lastClr="000000"/>
                </a:solidFill>
              </a:rPr>
              <a:t>보</a:t>
            </a:r>
            <a:r>
              <a:rPr lang="ko-KR" altLang="en-US" dirty="0">
                <a:solidFill>
                  <a:sysClr val="windowText" lastClr="000000"/>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a:stCxn id="44" idx="6"/>
            <a:endCxn id="134" idx="1"/>
          </p:cNvCxnSpPr>
          <p:nvPr/>
        </p:nvCxnSpPr>
        <p:spPr>
          <a:xfrm flipV="1">
            <a:off x="3692024" y="3785036"/>
            <a:ext cx="503457" cy="77584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8" name="직선 연결선 147"/>
          <p:cNvCxnSpPr>
            <a:endCxn id="73" idx="2"/>
          </p:cNvCxnSpPr>
          <p:nvPr/>
        </p:nvCxnSpPr>
        <p:spPr>
          <a:xfrm flipV="1">
            <a:off x="5763961" y="5367703"/>
            <a:ext cx="685800" cy="78225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a:stCxn id="68" idx="6"/>
            <a:endCxn id="135" idx="1"/>
          </p:cNvCxnSpPr>
          <p:nvPr/>
        </p:nvCxnSpPr>
        <p:spPr>
          <a:xfrm>
            <a:off x="6819981" y="2987577"/>
            <a:ext cx="526595" cy="78401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stCxn id="9" idx="0"/>
            <a:endCxn id="24"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71" name="직선 화살표 연결선 70"/>
          <p:cNvCxnSpPr/>
          <p:nvPr/>
        </p:nvCxnSpPr>
        <p:spPr>
          <a:xfrm>
            <a:off x="1521917" y="3942318"/>
            <a:ext cx="757361" cy="79337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5" name="직선 화살표 연결선 74"/>
          <p:cNvCxnSpPr/>
          <p:nvPr/>
        </p:nvCxnSpPr>
        <p:spPr>
          <a:xfrm flipH="1" flipV="1">
            <a:off x="2705753" y="2422643"/>
            <a:ext cx="104682" cy="208195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6" name="직선 화살표 연결선 75"/>
          <p:cNvCxnSpPr/>
          <p:nvPr/>
        </p:nvCxnSpPr>
        <p:spPr>
          <a:xfrm>
            <a:off x="2606995" y="1958880"/>
            <a:ext cx="757361" cy="79337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7" name="직선 화살표 연결선 76"/>
          <p:cNvCxnSpPr/>
          <p:nvPr/>
        </p:nvCxnSpPr>
        <p:spPr>
          <a:xfrm>
            <a:off x="3747969" y="2961121"/>
            <a:ext cx="14251" cy="14605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8" name="직선 화살표 연결선 77"/>
          <p:cNvCxnSpPr/>
          <p:nvPr/>
        </p:nvCxnSpPr>
        <p:spPr>
          <a:xfrm flipV="1">
            <a:off x="3621384" y="4176696"/>
            <a:ext cx="466522" cy="79526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직선 화살표 연결선 78"/>
          <p:cNvCxnSpPr/>
          <p:nvPr/>
        </p:nvCxnSpPr>
        <p:spPr>
          <a:xfrm>
            <a:off x="4942322" y="3677956"/>
            <a:ext cx="466522"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0" name="직선 화살표 연결선 79"/>
          <p:cNvCxnSpPr/>
          <p:nvPr/>
        </p:nvCxnSpPr>
        <p:spPr>
          <a:xfrm flipV="1">
            <a:off x="5252976" y="1694329"/>
            <a:ext cx="155064" cy="185802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1" name="직선 화살표 연결선 80"/>
          <p:cNvCxnSpPr/>
          <p:nvPr/>
        </p:nvCxnSpPr>
        <p:spPr>
          <a:xfrm>
            <a:off x="5875515" y="1360487"/>
            <a:ext cx="0" cy="45846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2" name="직선 화살표 연결선 81"/>
          <p:cNvCxnSpPr/>
          <p:nvPr/>
        </p:nvCxnSpPr>
        <p:spPr>
          <a:xfrm flipV="1">
            <a:off x="5862737" y="5542516"/>
            <a:ext cx="594173" cy="76647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3" name="직선 화살표 연결선 82"/>
          <p:cNvCxnSpPr/>
          <p:nvPr/>
        </p:nvCxnSpPr>
        <p:spPr>
          <a:xfrm flipV="1">
            <a:off x="6369078" y="3154206"/>
            <a:ext cx="0" cy="203868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5" name="직선 화살표 연결선 84"/>
          <p:cNvCxnSpPr/>
          <p:nvPr/>
        </p:nvCxnSpPr>
        <p:spPr>
          <a:xfrm>
            <a:off x="6820785" y="2752256"/>
            <a:ext cx="525791" cy="71136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1" name="직선 화살표 연결선 90"/>
          <p:cNvCxnSpPr/>
          <p:nvPr/>
        </p:nvCxnSpPr>
        <p:spPr>
          <a:xfrm flipV="1">
            <a:off x="8045823" y="2812765"/>
            <a:ext cx="491695" cy="65085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5" name="직선 화살표 연결선 94"/>
          <p:cNvCxnSpPr/>
          <p:nvPr/>
        </p:nvCxnSpPr>
        <p:spPr>
          <a:xfrm>
            <a:off x="8991721" y="2961121"/>
            <a:ext cx="0" cy="14605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1" name="직선 화살표 연결선 100"/>
          <p:cNvCxnSpPr/>
          <p:nvPr/>
        </p:nvCxnSpPr>
        <p:spPr>
          <a:xfrm>
            <a:off x="8908543" y="4733620"/>
            <a:ext cx="664398"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5" name="직선 화살표 연결선 104"/>
          <p:cNvCxnSpPr/>
          <p:nvPr/>
        </p:nvCxnSpPr>
        <p:spPr>
          <a:xfrm>
            <a:off x="9519835" y="4971960"/>
            <a:ext cx="53106" cy="95379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6" name="직선 화살표 연결선 105"/>
          <p:cNvCxnSpPr/>
          <p:nvPr/>
        </p:nvCxnSpPr>
        <p:spPr>
          <a:xfrm flipH="1" flipV="1">
            <a:off x="9943966" y="3955766"/>
            <a:ext cx="151174" cy="203049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3" name="직선 화살표 연결선 112"/>
          <p:cNvCxnSpPr/>
          <p:nvPr/>
        </p:nvCxnSpPr>
        <p:spPr>
          <a:xfrm>
            <a:off x="10019553" y="3652787"/>
            <a:ext cx="664398"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2" name="그룹 1"/>
          <p:cNvGrpSpPr/>
          <p:nvPr/>
        </p:nvGrpSpPr>
        <p:grpSpPr>
          <a:xfrm>
            <a:off x="10374267" y="802896"/>
            <a:ext cx="1943240" cy="369332"/>
            <a:chOff x="10374267" y="802896"/>
            <a:chExt cx="1943240" cy="369332"/>
          </a:xfrm>
        </p:grpSpPr>
        <p:cxnSp>
          <p:nvCxnSpPr>
            <p:cNvPr id="114" name="직선 화살표 연결선 113"/>
            <p:cNvCxnSpPr/>
            <p:nvPr/>
          </p:nvCxnSpPr>
          <p:spPr>
            <a:xfrm>
              <a:off x="10374267" y="1000346"/>
              <a:ext cx="387986"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5" name="TextBox 114"/>
            <p:cNvSpPr txBox="1"/>
            <p:nvPr/>
          </p:nvSpPr>
          <p:spPr>
            <a:xfrm>
              <a:off x="10762253" y="802896"/>
              <a:ext cx="1555254" cy="369332"/>
            </a:xfrm>
            <a:prstGeom prst="rect">
              <a:avLst/>
            </a:prstGeom>
            <a:noFill/>
          </p:spPr>
          <p:txBody>
            <a:bodyPr wrap="square" rtlCol="0">
              <a:spAutoFit/>
            </a:bodyPr>
            <a:lstStyle/>
            <a:p>
              <a:r>
                <a:rPr lang="en-US" altLang="ko-KR" dirty="0" smtClean="0"/>
                <a:t>: </a:t>
              </a:r>
              <a:r>
                <a:rPr lang="ko-KR" altLang="en-US" dirty="0" smtClean="0"/>
                <a:t>예상 경로</a:t>
              </a:r>
              <a:endParaRPr lang="ko-KR" altLang="en-US" dirty="0"/>
            </a:p>
          </p:txBody>
        </p:sp>
      </p:grpSp>
      <p:sp>
        <p:nvSpPr>
          <p:cNvPr id="96" name="TextBox 95"/>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TextBox 107"/>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401015570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14</a:t>
            </a:fld>
            <a:endParaRPr lang="ko-KR" altLang="en-US" sz="1800" dirty="0"/>
          </a:p>
        </p:txBody>
      </p: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6" name="직선 연결선 5"/>
          <p:cNvCxnSpPr/>
          <p:nvPr/>
        </p:nvCxnSpPr>
        <p:spPr>
          <a:xfrm flipV="1">
            <a:off x="0" y="1299887"/>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직선 연결선 84"/>
          <p:cNvCxnSpPr/>
          <p:nvPr/>
        </p:nvCxnSpPr>
        <p:spPr>
          <a:xfrm flipV="1">
            <a:off x="0" y="5852009"/>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타원 24"/>
          <p:cNvSpPr/>
          <p:nvPr/>
        </p:nvSpPr>
        <p:spPr>
          <a:xfrm>
            <a:off x="2285053" y="1563755"/>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91" name="타원 90"/>
          <p:cNvSpPr/>
          <p:nvPr/>
        </p:nvSpPr>
        <p:spPr>
          <a:xfrm>
            <a:off x="2285053" y="296848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95" name="타원 94"/>
          <p:cNvSpPr/>
          <p:nvPr/>
        </p:nvSpPr>
        <p:spPr>
          <a:xfrm>
            <a:off x="2285053" y="4439477"/>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26" name="직사각형 25"/>
          <p:cNvSpPr/>
          <p:nvPr/>
        </p:nvSpPr>
        <p:spPr>
          <a:xfrm>
            <a:off x="742122" y="2968485"/>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ln>
                  <a:solidFill>
                    <a:srgbClr val="0BC10F"/>
                  </a:solidFill>
                </a:ln>
                <a:solidFill>
                  <a:schemeClr val="tx1"/>
                </a:solidFill>
              </a:rPr>
              <a:t>캐릭터</a:t>
            </a:r>
            <a:endParaRPr lang="ko-KR" altLang="en-US" sz="2400" dirty="0">
              <a:ln>
                <a:solidFill>
                  <a:srgbClr val="0BC10F"/>
                </a:solidFill>
              </a:ln>
              <a:solidFill>
                <a:schemeClr val="tx1"/>
              </a:solidFill>
            </a:endParaRPr>
          </a:p>
        </p:txBody>
      </p:sp>
      <p:sp>
        <p:nvSpPr>
          <p:cNvPr id="27" name="이등변 삼각형 26"/>
          <p:cNvSpPr/>
          <p:nvPr/>
        </p:nvSpPr>
        <p:spPr>
          <a:xfrm>
            <a:off x="8322364" y="1563755"/>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8322364" y="2835954"/>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ln>
                  <a:solidFill>
                    <a:srgbClr val="C00000"/>
                  </a:solidFill>
                </a:ln>
                <a:solidFill>
                  <a:sysClr val="windowText" lastClr="000000"/>
                </a:solidFill>
              </a:rPr>
              <a:t>정예</a:t>
            </a:r>
            <a:endParaRPr lang="en-US" altLang="ko-KR" dirty="0" smtClean="0">
              <a:ln>
                <a:solidFill>
                  <a:srgbClr val="C00000"/>
                </a:solidFill>
              </a:ln>
              <a:solidFill>
                <a:sysClr val="windowText" lastClr="000000"/>
              </a:solidFill>
            </a:endParaRPr>
          </a:p>
          <a:p>
            <a:pPr algn="ctr"/>
            <a:r>
              <a:rPr lang="ko-KR" altLang="en-US" dirty="0" err="1" smtClean="0">
                <a:ln>
                  <a:solidFill>
                    <a:srgbClr val="C00000"/>
                  </a:solidFill>
                </a:ln>
                <a:solidFill>
                  <a:sysClr val="windowText" lastClr="000000"/>
                </a:solidFill>
              </a:rPr>
              <a:t>몬스터</a:t>
            </a:r>
            <a:endParaRPr lang="en-US" altLang="ko-KR" dirty="0" smtClean="0">
              <a:ln>
                <a:solidFill>
                  <a:srgbClr val="C0000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8322364" y="4147924"/>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10177670" y="2133595"/>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10177670" y="3432308"/>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12" name="TextBox 111"/>
          <p:cNvSpPr txBox="1"/>
          <p:nvPr/>
        </p:nvSpPr>
        <p:spPr>
          <a:xfrm>
            <a:off x="4403070" y="5176986"/>
            <a:ext cx="3385860"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플레이어 </a:t>
            </a:r>
            <a:r>
              <a:rPr lang="en-US" altLang="ko-KR" sz="24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vs</a:t>
            </a: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 </a:t>
            </a:r>
            <a:r>
              <a:rPr lang="ko-KR" altLang="en-US" sz="24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52331227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15</a:t>
            </a:fld>
            <a:endParaRPr lang="ko-KR" altLang="en-US" sz="1800" dirty="0"/>
          </a:p>
        </p:txBody>
      </p: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6" name="직선 연결선 5"/>
          <p:cNvCxnSpPr/>
          <p:nvPr/>
        </p:nvCxnSpPr>
        <p:spPr>
          <a:xfrm flipV="1">
            <a:off x="0" y="1299887"/>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직선 연결선 84"/>
          <p:cNvCxnSpPr/>
          <p:nvPr/>
        </p:nvCxnSpPr>
        <p:spPr>
          <a:xfrm flipV="1">
            <a:off x="0" y="5852009"/>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타원 24"/>
          <p:cNvSpPr/>
          <p:nvPr/>
        </p:nvSpPr>
        <p:spPr>
          <a:xfrm>
            <a:off x="2285053" y="1563755"/>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91" name="타원 90"/>
          <p:cNvSpPr/>
          <p:nvPr/>
        </p:nvSpPr>
        <p:spPr>
          <a:xfrm>
            <a:off x="2285053" y="296848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95" name="타원 94"/>
          <p:cNvSpPr/>
          <p:nvPr/>
        </p:nvSpPr>
        <p:spPr>
          <a:xfrm>
            <a:off x="2285053" y="4439477"/>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26" name="직사각형 25"/>
          <p:cNvSpPr/>
          <p:nvPr/>
        </p:nvSpPr>
        <p:spPr>
          <a:xfrm>
            <a:off x="742122" y="2968485"/>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ln>
                  <a:solidFill>
                    <a:srgbClr val="0BC10F"/>
                  </a:solidFill>
                </a:ln>
                <a:solidFill>
                  <a:schemeClr val="tx1"/>
                </a:solidFill>
              </a:rPr>
              <a:t>캐릭터</a:t>
            </a:r>
            <a:endParaRPr lang="ko-KR" altLang="en-US" sz="2400" dirty="0">
              <a:ln>
                <a:solidFill>
                  <a:srgbClr val="0BC10F"/>
                </a:solidFill>
              </a:ln>
              <a:solidFill>
                <a:schemeClr val="tx1"/>
              </a:solidFill>
            </a:endParaRPr>
          </a:p>
        </p:txBody>
      </p:sp>
      <p:sp>
        <p:nvSpPr>
          <p:cNvPr id="27" name="이등변 삼각형 26"/>
          <p:cNvSpPr/>
          <p:nvPr/>
        </p:nvSpPr>
        <p:spPr>
          <a:xfrm>
            <a:off x="8322364" y="1563755"/>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8322364" y="2835954"/>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1" name="이등변 삼각형 100"/>
          <p:cNvSpPr/>
          <p:nvPr/>
        </p:nvSpPr>
        <p:spPr>
          <a:xfrm>
            <a:off x="8322364" y="4147924"/>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12" name="TextBox 111"/>
          <p:cNvSpPr txBox="1"/>
          <p:nvPr/>
        </p:nvSpPr>
        <p:spPr>
          <a:xfrm>
            <a:off x="4297052" y="5172667"/>
            <a:ext cx="3597896"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플레이어 </a:t>
            </a:r>
            <a:r>
              <a:rPr lang="en-US" altLang="ko-KR" sz="24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vs</a:t>
            </a: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보스 </a:t>
            </a:r>
            <a:r>
              <a:rPr lang="ko-KR" altLang="en-US" sz="24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a:t>
            </a:r>
            <a:r>
              <a:rPr lang="ko-KR" altLang="en-US" sz="2400" spc="-300" dirty="0" err="1">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포인트가 5개인 별 1"/>
          <p:cNvSpPr/>
          <p:nvPr/>
        </p:nvSpPr>
        <p:spPr>
          <a:xfrm>
            <a:off x="10177670" y="2650422"/>
            <a:ext cx="1868557" cy="1431235"/>
          </a:xfrm>
          <a:prstGeom prst="star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rgbClr val="FF0000"/>
                  </a:solidFill>
                </a:ln>
                <a:solidFill>
                  <a:sysClr val="windowText" lastClr="000000"/>
                </a:solidFill>
              </a:rPr>
              <a:t>보스</a:t>
            </a:r>
            <a:endParaRPr lang="en-US" altLang="ko-KR" sz="2000" dirty="0" smtClean="0">
              <a:ln>
                <a:solidFill>
                  <a:srgbClr val="FF0000"/>
                </a:solidFill>
              </a:ln>
              <a:solidFill>
                <a:sysClr val="windowText" lastClr="000000"/>
              </a:solidFill>
            </a:endParaRPr>
          </a:p>
        </p:txBody>
      </p:sp>
    </p:spTree>
    <p:extLst>
      <p:ext uri="{BB962C8B-B14F-4D97-AF65-F5344CB8AC3E}">
        <p14:creationId xmlns:p14="http://schemas.microsoft.com/office/powerpoint/2010/main" val="182371032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16</a:t>
            </a:fld>
            <a:endParaRPr lang="ko-KR" altLang="en-US" sz="1800" dirty="0"/>
          </a:p>
        </p:txBody>
      </p: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6" name="직선 연결선 5"/>
          <p:cNvCxnSpPr/>
          <p:nvPr/>
        </p:nvCxnSpPr>
        <p:spPr>
          <a:xfrm flipV="1">
            <a:off x="0" y="1299887"/>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직선 연결선 84"/>
          <p:cNvCxnSpPr/>
          <p:nvPr/>
        </p:nvCxnSpPr>
        <p:spPr>
          <a:xfrm flipV="1">
            <a:off x="0" y="5852009"/>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타원 24"/>
          <p:cNvSpPr/>
          <p:nvPr/>
        </p:nvSpPr>
        <p:spPr>
          <a:xfrm>
            <a:off x="2285053" y="1563755"/>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91" name="타원 90"/>
          <p:cNvSpPr/>
          <p:nvPr/>
        </p:nvSpPr>
        <p:spPr>
          <a:xfrm>
            <a:off x="2285053" y="296848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95" name="타원 94"/>
          <p:cNvSpPr/>
          <p:nvPr/>
        </p:nvSpPr>
        <p:spPr>
          <a:xfrm>
            <a:off x="2285053" y="4439477"/>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26" name="직사각형 25"/>
          <p:cNvSpPr/>
          <p:nvPr/>
        </p:nvSpPr>
        <p:spPr>
          <a:xfrm>
            <a:off x="742122" y="2968485"/>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ln>
                  <a:solidFill>
                    <a:srgbClr val="0BC10F"/>
                  </a:solidFill>
                </a:ln>
                <a:solidFill>
                  <a:schemeClr val="tx1"/>
                </a:solidFill>
              </a:rPr>
              <a:t>캐릭터</a:t>
            </a:r>
            <a:endParaRPr lang="ko-KR" altLang="en-US" sz="2400" dirty="0">
              <a:ln>
                <a:solidFill>
                  <a:srgbClr val="0BC10F"/>
                </a:solidFill>
              </a:ln>
              <a:solidFill>
                <a:schemeClr val="tx1"/>
              </a:solidFill>
            </a:endParaRPr>
          </a:p>
        </p:txBody>
      </p:sp>
      <p:sp>
        <p:nvSpPr>
          <p:cNvPr id="112" name="TextBox 111"/>
          <p:cNvSpPr txBox="1"/>
          <p:nvPr/>
        </p:nvSpPr>
        <p:spPr>
          <a:xfrm>
            <a:off x="4297052" y="5172667"/>
            <a:ext cx="3597896"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 이벤트</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정오각형 4"/>
          <p:cNvSpPr/>
          <p:nvPr/>
        </p:nvSpPr>
        <p:spPr>
          <a:xfrm>
            <a:off x="9568069" y="2822711"/>
            <a:ext cx="1736035" cy="1470992"/>
          </a:xfrm>
          <a:prstGeom prst="pentagon">
            <a:avLst/>
          </a:prstGeom>
          <a:solidFill>
            <a:schemeClr val="accent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solidFill>
                  <a:srgbClr val="FFFF00"/>
                </a:solidFill>
              </a:rPr>
              <a:t>보물상자</a:t>
            </a:r>
            <a:endParaRPr lang="ko-KR" altLang="en-US" sz="2400" dirty="0">
              <a:solidFill>
                <a:srgbClr val="FFFF00"/>
              </a:solidFill>
            </a:endParaRPr>
          </a:p>
        </p:txBody>
      </p:sp>
    </p:spTree>
    <p:extLst>
      <p:ext uri="{BB962C8B-B14F-4D97-AF65-F5344CB8AC3E}">
        <p14:creationId xmlns:p14="http://schemas.microsoft.com/office/powerpoint/2010/main" val="409816200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17</a:t>
            </a:fld>
            <a:endParaRPr lang="ko-KR" altLang="en-US" sz="1800" dirty="0"/>
          </a:p>
        </p:txBody>
      </p: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타원 6"/>
          <p:cNvSpPr/>
          <p:nvPr/>
        </p:nvSpPr>
        <p:spPr>
          <a:xfrm>
            <a:off x="5499652" y="1378226"/>
            <a:ext cx="1192696" cy="1152939"/>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solidFill>
                  <a:schemeClr val="tx1"/>
                </a:solidFill>
              </a:rPr>
              <a:t>상인</a:t>
            </a:r>
            <a:endParaRPr lang="ko-KR" altLang="en-US" sz="2400" dirty="0">
              <a:solidFill>
                <a:schemeClr val="tx1"/>
              </a:solidFill>
            </a:endParaRPr>
          </a:p>
        </p:txBody>
      </p:sp>
      <p:grpSp>
        <p:nvGrpSpPr>
          <p:cNvPr id="17" name="그룹 16"/>
          <p:cNvGrpSpPr/>
          <p:nvPr/>
        </p:nvGrpSpPr>
        <p:grpSpPr>
          <a:xfrm>
            <a:off x="1179567" y="1160151"/>
            <a:ext cx="9478462" cy="4737066"/>
            <a:chOff x="1258956" y="1160151"/>
            <a:chExt cx="9478462" cy="4737066"/>
          </a:xfrm>
        </p:grpSpPr>
        <p:cxnSp>
          <p:nvCxnSpPr>
            <p:cNvPr id="15" name="직선 연결선 14"/>
            <p:cNvCxnSpPr/>
            <p:nvPr/>
          </p:nvCxnSpPr>
          <p:spPr>
            <a:xfrm>
              <a:off x="1258956" y="1160151"/>
              <a:ext cx="0" cy="47370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직선 연결선 27"/>
            <p:cNvCxnSpPr/>
            <p:nvPr/>
          </p:nvCxnSpPr>
          <p:spPr>
            <a:xfrm>
              <a:off x="10737418" y="1160151"/>
              <a:ext cx="0" cy="47370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직선 연결선 28"/>
            <p:cNvCxnSpPr/>
            <p:nvPr/>
          </p:nvCxnSpPr>
          <p:spPr>
            <a:xfrm flipH="1">
              <a:off x="1258956" y="5897217"/>
              <a:ext cx="94784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직선 연결선 29"/>
            <p:cNvCxnSpPr/>
            <p:nvPr/>
          </p:nvCxnSpPr>
          <p:spPr>
            <a:xfrm flipH="1">
              <a:off x="1258956" y="1160151"/>
              <a:ext cx="94784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2" name="타원 31"/>
          <p:cNvSpPr/>
          <p:nvPr/>
        </p:nvSpPr>
        <p:spPr>
          <a:xfrm>
            <a:off x="7583795" y="5027382"/>
            <a:ext cx="764839" cy="71171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아이템</a:t>
            </a:r>
            <a:endParaRPr lang="ko-KR" altLang="en-US" sz="1400" dirty="0">
              <a:solidFill>
                <a:schemeClr val="tx1"/>
              </a:solidFill>
            </a:endParaRPr>
          </a:p>
        </p:txBody>
      </p:sp>
      <p:sp>
        <p:nvSpPr>
          <p:cNvPr id="33" name="직사각형 32"/>
          <p:cNvSpPr/>
          <p:nvPr/>
        </p:nvSpPr>
        <p:spPr>
          <a:xfrm>
            <a:off x="2219549" y="4947033"/>
            <a:ext cx="671128" cy="6357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아이템</a:t>
            </a:r>
            <a:endParaRPr lang="ko-KR" altLang="en-US" sz="1400" dirty="0">
              <a:solidFill>
                <a:schemeClr val="tx1"/>
              </a:solidFill>
            </a:endParaRPr>
          </a:p>
        </p:txBody>
      </p:sp>
      <p:sp>
        <p:nvSpPr>
          <p:cNvPr id="34" name="이등변 삼각형 33"/>
          <p:cNvSpPr/>
          <p:nvPr/>
        </p:nvSpPr>
        <p:spPr>
          <a:xfrm>
            <a:off x="4989442" y="4983653"/>
            <a:ext cx="1020419" cy="655996"/>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아이템</a:t>
            </a:r>
            <a:endParaRPr lang="ko-KR" altLang="en-US" sz="1200" dirty="0">
              <a:solidFill>
                <a:schemeClr val="tx1"/>
              </a:solidFill>
            </a:endParaRPr>
          </a:p>
        </p:txBody>
      </p:sp>
      <p:sp>
        <p:nvSpPr>
          <p:cNvPr id="35" name="포인트가 5개인 별 34"/>
          <p:cNvSpPr/>
          <p:nvPr/>
        </p:nvSpPr>
        <p:spPr>
          <a:xfrm>
            <a:off x="3286849" y="3939810"/>
            <a:ext cx="1251047" cy="1043843"/>
          </a:xfrm>
          <a:prstGeom prst="star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아이템</a:t>
            </a:r>
            <a:endParaRPr lang="ko-KR" altLang="en-US" sz="1400" dirty="0">
              <a:solidFill>
                <a:schemeClr val="tx1"/>
              </a:solidFill>
            </a:endParaRPr>
          </a:p>
        </p:txBody>
      </p:sp>
      <p:sp>
        <p:nvSpPr>
          <p:cNvPr id="18" name="십자형 17"/>
          <p:cNvSpPr/>
          <p:nvPr/>
        </p:nvSpPr>
        <p:spPr>
          <a:xfrm>
            <a:off x="8702349" y="4162211"/>
            <a:ext cx="715618" cy="655996"/>
          </a:xfrm>
          <a:prstGeom prst="plus">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아이템</a:t>
            </a:r>
            <a:endParaRPr lang="ko-KR" altLang="en-US" sz="1400" dirty="0">
              <a:solidFill>
                <a:schemeClr val="tx1"/>
              </a:solidFill>
            </a:endParaRPr>
          </a:p>
        </p:txBody>
      </p:sp>
      <p:sp>
        <p:nvSpPr>
          <p:cNvPr id="19" name="순서도: 판단 18"/>
          <p:cNvSpPr/>
          <p:nvPr/>
        </p:nvSpPr>
        <p:spPr>
          <a:xfrm>
            <a:off x="6098710" y="4162211"/>
            <a:ext cx="969301" cy="784822"/>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tx1"/>
                </a:solidFill>
              </a:rPr>
              <a:t>아이템</a:t>
            </a:r>
            <a:endParaRPr lang="ko-KR" altLang="en-US" sz="1400" dirty="0">
              <a:solidFill>
                <a:schemeClr val="tx1"/>
              </a:solidFill>
            </a:endParaRPr>
          </a:p>
        </p:txBody>
      </p:sp>
      <p:cxnSp>
        <p:nvCxnSpPr>
          <p:cNvPr id="23" name="구부러진 연결선 22"/>
          <p:cNvCxnSpPr>
            <a:stCxn id="7" idx="2"/>
          </p:cNvCxnSpPr>
          <p:nvPr/>
        </p:nvCxnSpPr>
        <p:spPr>
          <a:xfrm rot="10800000" flipV="1">
            <a:off x="4678018" y="1954695"/>
            <a:ext cx="821635" cy="914399"/>
          </a:xfrm>
          <a:prstGeom prst="curved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구부러진 연결선 42"/>
          <p:cNvCxnSpPr>
            <a:endCxn id="7" idx="6"/>
          </p:cNvCxnSpPr>
          <p:nvPr/>
        </p:nvCxnSpPr>
        <p:spPr>
          <a:xfrm rot="16200000" flipV="1">
            <a:off x="6610812" y="2036233"/>
            <a:ext cx="914399" cy="751326"/>
          </a:xfrm>
          <a:prstGeom prst="curved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타원 43"/>
          <p:cNvSpPr/>
          <p:nvPr/>
        </p:nvSpPr>
        <p:spPr>
          <a:xfrm>
            <a:off x="4537896" y="2869095"/>
            <a:ext cx="280243" cy="271670"/>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52" name="타원 51"/>
          <p:cNvSpPr/>
          <p:nvPr/>
        </p:nvSpPr>
        <p:spPr>
          <a:xfrm>
            <a:off x="7303552" y="2869096"/>
            <a:ext cx="280243" cy="271670"/>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360869103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633004015"/>
              </p:ext>
            </p:extLst>
          </p:nvPr>
        </p:nvGraphicFramePr>
        <p:xfrm>
          <a:off x="280219" y="2180966"/>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xmlns="" val="3653911966"/>
                    </a:ext>
                  </a:extLst>
                </a:gridCol>
                <a:gridCol w="10391005">
                  <a:extLst>
                    <a:ext uri="{9D8B030D-6E8A-4147-A177-3AD203B41FA5}">
                      <a16:colId xmlns:a16="http://schemas.microsoft.com/office/drawing/2014/main" xmlns=""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디엘</a:t>
                      </a:r>
                      <a:endParaRPr lang="ko-KR" altLang="en-US" b="0" dirty="0"/>
                    </a:p>
                  </a:txBody>
                  <a:tcPr anchor="ctr"/>
                </a:tc>
                <a:extLst>
                  <a:ext uri="{0D108BD9-81ED-4DB2-BD59-A6C34878D82A}">
                    <a16:rowId xmlns:a16="http://schemas.microsoft.com/office/drawing/2014/main" xmlns=""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a:t>
                      </a:r>
                      <a:r>
                        <a:rPr lang="ko-KR" altLang="en-US" dirty="0" err="1" smtClean="0"/>
                        <a:t>공격형</a:t>
                      </a:r>
                      <a:endParaRPr lang="ko-KR" altLang="en-US" dirty="0"/>
                    </a:p>
                  </a:txBody>
                  <a:tcPr anchor="ctr"/>
                </a:tc>
                <a:extLst>
                  <a:ext uri="{0D108BD9-81ED-4DB2-BD59-A6C34878D82A}">
                    <a16:rowId xmlns:a16="http://schemas.microsoft.com/office/drawing/2014/main" xmlns=""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화염</a:t>
                      </a:r>
                      <a:endParaRPr lang="ko-KR" altLang="en-US" dirty="0"/>
                    </a:p>
                  </a:txBody>
                  <a:tcPr anchor="ctr"/>
                </a:tc>
                <a:extLst>
                  <a:ext uri="{0D108BD9-81ED-4DB2-BD59-A6C34878D82A}">
                    <a16:rowId xmlns:a16="http://schemas.microsoft.com/office/drawing/2014/main" xmlns="" val="158375546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600</a:t>
                      </a:r>
                      <a:endParaRPr lang="ko-KR" altLang="en-US" dirty="0"/>
                    </a:p>
                  </a:txBody>
                  <a:tcPr anchor="ctr"/>
                </a:tc>
                <a:extLst>
                  <a:ext uri="{0D108BD9-81ED-4DB2-BD59-A6C34878D82A}">
                    <a16:rowId xmlns:a16="http://schemas.microsoft.com/office/drawing/2014/main" xmlns=""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200</a:t>
                      </a:r>
                      <a:endParaRPr lang="ko-KR" altLang="en-US" dirty="0"/>
                    </a:p>
                  </a:txBody>
                  <a:tcPr anchor="ctr"/>
                </a:tc>
                <a:extLst>
                  <a:ext uri="{0D108BD9-81ED-4DB2-BD59-A6C34878D82A}">
                    <a16:rowId xmlns:a16="http://schemas.microsoft.com/office/drawing/2014/main" xmlns=""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60</a:t>
                      </a:r>
                      <a:endParaRPr lang="ko-KR" altLang="en-US" dirty="0"/>
                    </a:p>
                  </a:txBody>
                  <a:tcPr anchor="ctr"/>
                </a:tc>
                <a:extLst>
                  <a:ext uri="{0D108BD9-81ED-4DB2-BD59-A6C34878D82A}">
                    <a16:rowId xmlns:a16="http://schemas.microsoft.com/office/drawing/2014/main" xmlns=""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xmlns=""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xmlns="" val="2267199588"/>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xmlns="" val="133644938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불굴 </a:t>
                      </a:r>
                      <a:r>
                        <a:rPr lang="en-US" altLang="ko-KR" dirty="0" smtClean="0"/>
                        <a:t>(</a:t>
                      </a:r>
                      <a:r>
                        <a:rPr lang="ko-KR" altLang="en-US" dirty="0" smtClean="0"/>
                        <a:t>캐릭터가 죽음의 위기에 처했을 때</a:t>
                      </a:r>
                      <a:r>
                        <a:rPr lang="en-US" altLang="ko-KR" dirty="0" smtClean="0"/>
                        <a:t>, </a:t>
                      </a:r>
                      <a:r>
                        <a:rPr lang="ko-KR" altLang="en-US" dirty="0" err="1" smtClean="0"/>
                        <a:t>반피로</a:t>
                      </a:r>
                      <a:r>
                        <a:rPr lang="ko-KR" altLang="en-US" dirty="0" smtClean="0"/>
                        <a:t> 회복하고 그 </a:t>
                      </a:r>
                      <a:r>
                        <a:rPr lang="ko-KR" altLang="en-US" dirty="0" err="1" smtClean="0"/>
                        <a:t>턴동안</a:t>
                      </a:r>
                      <a:r>
                        <a:rPr lang="ko-KR" altLang="en-US" dirty="0" smtClean="0"/>
                        <a:t> 무적</a:t>
                      </a:r>
                      <a:r>
                        <a:rPr lang="en-US" altLang="ko-KR" dirty="0" smtClean="0"/>
                        <a:t>)</a:t>
                      </a:r>
                      <a:endParaRPr lang="ko-KR" altLang="en-US" dirty="0"/>
                    </a:p>
                  </a:txBody>
                  <a:tcPr anchor="ctr"/>
                </a:tc>
                <a:extLst>
                  <a:ext uri="{0D108BD9-81ED-4DB2-BD59-A6C34878D82A}">
                    <a16:rowId xmlns:a16="http://schemas.microsoft.com/office/drawing/2014/main" xmlns=""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약점 포착</a:t>
                      </a:r>
                      <a:r>
                        <a:rPr lang="en-US" altLang="ko-KR" dirty="0" smtClean="0"/>
                        <a:t>(</a:t>
                      </a:r>
                      <a:r>
                        <a:rPr lang="ko-KR" altLang="en-US" dirty="0" smtClean="0"/>
                        <a:t>한 적 방 감소</a:t>
                      </a:r>
                      <a:r>
                        <a:rPr lang="en-US" altLang="ko-KR" baseline="0" dirty="0" smtClean="0"/>
                        <a:t> </a:t>
                      </a:r>
                      <a:r>
                        <a:rPr lang="ko-KR" altLang="en-US" baseline="0" dirty="0" smtClean="0"/>
                        <a:t>후 공격</a:t>
                      </a:r>
                      <a:r>
                        <a:rPr lang="en-US" altLang="ko-KR" baseline="0" dirty="0" smtClean="0"/>
                        <a:t>)</a:t>
                      </a:r>
                      <a:r>
                        <a:rPr lang="ko-KR" altLang="en-US" dirty="0" smtClean="0"/>
                        <a:t> </a:t>
                      </a:r>
                      <a:r>
                        <a:rPr lang="en-US" altLang="ko-KR" dirty="0" smtClean="0"/>
                        <a:t>/ </a:t>
                      </a:r>
                      <a:r>
                        <a:rPr lang="ko-KR" altLang="en-US" dirty="0" smtClean="0"/>
                        <a:t>정신 집중</a:t>
                      </a:r>
                      <a:r>
                        <a:rPr lang="en-US" altLang="ko-KR" dirty="0" smtClean="0"/>
                        <a:t>(HP,</a:t>
                      </a:r>
                      <a:r>
                        <a:rPr lang="ko-KR" altLang="en-US" dirty="0" smtClean="0"/>
                        <a:t>공</a:t>
                      </a:r>
                      <a:r>
                        <a:rPr lang="en-US" altLang="ko-KR" dirty="0" smtClean="0"/>
                        <a:t>,</a:t>
                      </a:r>
                      <a:r>
                        <a:rPr lang="ko-KR" altLang="en-US" dirty="0" smtClean="0"/>
                        <a:t>방 상승</a:t>
                      </a:r>
                      <a:r>
                        <a:rPr lang="en-US" altLang="ko-KR" dirty="0" smtClean="0"/>
                        <a:t>)</a:t>
                      </a:r>
                      <a:r>
                        <a:rPr lang="ko-KR" altLang="en-US" dirty="0" smtClean="0"/>
                        <a:t> </a:t>
                      </a:r>
                      <a:r>
                        <a:rPr lang="en-US" altLang="ko-KR" dirty="0" smtClean="0"/>
                        <a:t>/ </a:t>
                      </a:r>
                      <a:r>
                        <a:rPr lang="ko-KR" altLang="en-US" dirty="0" smtClean="0"/>
                        <a:t>분노의 일격</a:t>
                      </a:r>
                      <a:r>
                        <a:rPr lang="en-US" altLang="ko-KR" dirty="0" smtClean="0"/>
                        <a:t>(</a:t>
                      </a:r>
                      <a:r>
                        <a:rPr lang="ko-KR" altLang="en-US" dirty="0" smtClean="0"/>
                        <a:t>한 적 </a:t>
                      </a:r>
                      <a:r>
                        <a:rPr lang="ko-KR" altLang="en-US" dirty="0" err="1" smtClean="0"/>
                        <a:t>빅뎀</a:t>
                      </a:r>
                      <a:r>
                        <a:rPr lang="en-US" altLang="ko-KR" dirty="0" smtClean="0"/>
                        <a:t>, </a:t>
                      </a:r>
                      <a:r>
                        <a:rPr lang="ko-KR" altLang="en-US" dirty="0" smtClean="0"/>
                        <a:t>모든 적 뎀</a:t>
                      </a:r>
                      <a:r>
                        <a:rPr lang="en-US" altLang="ko-KR" dirty="0" smtClean="0"/>
                        <a:t>)</a:t>
                      </a:r>
                      <a:endParaRPr lang="ko-KR" altLang="en-US" dirty="0"/>
                    </a:p>
                  </a:txBody>
                  <a:tcPr anchor="ctr"/>
                </a:tc>
                <a:extLst>
                  <a:ext uri="{0D108BD9-81ED-4DB2-BD59-A6C34878D82A}">
                    <a16:rowId xmlns:a16="http://schemas.microsoft.com/office/drawing/2014/main" xmlns=""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18</a:t>
            </a:fld>
            <a:endParaRPr lang="ko-KR" altLang="en-US" sz="1800" dirty="0"/>
          </a:p>
        </p:txBody>
      </p:sp>
    </p:spTree>
    <p:extLst>
      <p:ext uri="{BB962C8B-B14F-4D97-AF65-F5344CB8AC3E}">
        <p14:creationId xmlns:p14="http://schemas.microsoft.com/office/powerpoint/2010/main" val="41956932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640662625"/>
              </p:ext>
            </p:extLst>
          </p:nvPr>
        </p:nvGraphicFramePr>
        <p:xfrm>
          <a:off x="280219" y="2180966"/>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xmlns="" val="3653911966"/>
                    </a:ext>
                  </a:extLst>
                </a:gridCol>
                <a:gridCol w="10391005">
                  <a:extLst>
                    <a:ext uri="{9D8B030D-6E8A-4147-A177-3AD203B41FA5}">
                      <a16:colId xmlns:a16="http://schemas.microsoft.com/office/drawing/2014/main" xmlns=""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세실리아</a:t>
                      </a:r>
                      <a:endParaRPr lang="ko-KR" altLang="en-US" b="0" dirty="0"/>
                    </a:p>
                  </a:txBody>
                  <a:tcPr anchor="ctr"/>
                </a:tc>
                <a:extLst>
                  <a:ext uri="{0D108BD9-81ED-4DB2-BD59-A6C34878D82A}">
                    <a16:rowId xmlns:a16="http://schemas.microsoft.com/office/drawing/2014/main" xmlns=""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a:t>
                      </a:r>
                      <a:r>
                        <a:rPr lang="ko-KR" altLang="en-US" dirty="0" err="1" smtClean="0"/>
                        <a:t>공격형</a:t>
                      </a:r>
                      <a:endParaRPr lang="ko-KR" altLang="en-US" dirty="0"/>
                    </a:p>
                  </a:txBody>
                  <a:tcPr anchor="ctr"/>
                </a:tc>
                <a:extLst>
                  <a:ext uri="{0D108BD9-81ED-4DB2-BD59-A6C34878D82A}">
                    <a16:rowId xmlns:a16="http://schemas.microsoft.com/office/drawing/2014/main" xmlns=""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빙결</a:t>
                      </a:r>
                      <a:endParaRPr lang="ko-KR" altLang="en-US" dirty="0"/>
                    </a:p>
                  </a:txBody>
                  <a:tcPr anchor="ctr"/>
                </a:tc>
                <a:extLst>
                  <a:ext uri="{0D108BD9-81ED-4DB2-BD59-A6C34878D82A}">
                    <a16:rowId xmlns:a16="http://schemas.microsoft.com/office/drawing/2014/main" xmlns="" val="158375546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400</a:t>
                      </a:r>
                      <a:endParaRPr lang="ko-KR" altLang="en-US" dirty="0"/>
                    </a:p>
                  </a:txBody>
                  <a:tcPr anchor="ctr"/>
                </a:tc>
                <a:extLst>
                  <a:ext uri="{0D108BD9-81ED-4DB2-BD59-A6C34878D82A}">
                    <a16:rowId xmlns:a16="http://schemas.microsoft.com/office/drawing/2014/main" xmlns=""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300</a:t>
                      </a:r>
                      <a:endParaRPr lang="ko-KR" altLang="en-US" dirty="0"/>
                    </a:p>
                  </a:txBody>
                  <a:tcPr anchor="ctr"/>
                </a:tc>
                <a:extLst>
                  <a:ext uri="{0D108BD9-81ED-4DB2-BD59-A6C34878D82A}">
                    <a16:rowId xmlns:a16="http://schemas.microsoft.com/office/drawing/2014/main" xmlns=""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60</a:t>
                      </a:r>
                      <a:endParaRPr lang="ko-KR" altLang="en-US" dirty="0"/>
                    </a:p>
                  </a:txBody>
                  <a:tcPr anchor="ctr"/>
                </a:tc>
                <a:extLst>
                  <a:ext uri="{0D108BD9-81ED-4DB2-BD59-A6C34878D82A}">
                    <a16:rowId xmlns:a16="http://schemas.microsoft.com/office/drawing/2014/main" xmlns=""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xmlns=""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xmlns="" val="2267199588"/>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xmlns="" val="133644938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마력 순환 </a:t>
                      </a:r>
                      <a:r>
                        <a:rPr lang="en-US" altLang="ko-KR" dirty="0" smtClean="0"/>
                        <a:t>(</a:t>
                      </a:r>
                      <a:r>
                        <a:rPr lang="ko-KR" altLang="en-US" dirty="0" smtClean="0"/>
                        <a:t>자신의 턴마다 아군</a:t>
                      </a:r>
                      <a:r>
                        <a:rPr lang="ko-KR" altLang="en-US" baseline="0" dirty="0" smtClean="0"/>
                        <a:t> </a:t>
                      </a:r>
                      <a:r>
                        <a:rPr lang="en-US" altLang="ko-KR" baseline="0" dirty="0" smtClean="0"/>
                        <a:t>SP </a:t>
                      </a:r>
                      <a:r>
                        <a:rPr lang="ko-KR" altLang="en-US" baseline="0" dirty="0" smtClean="0"/>
                        <a:t>상승</a:t>
                      </a:r>
                      <a:r>
                        <a:rPr lang="en-US" altLang="ko-KR" dirty="0" smtClean="0"/>
                        <a:t>)</a:t>
                      </a:r>
                      <a:endParaRPr lang="ko-KR" altLang="en-US" dirty="0"/>
                    </a:p>
                  </a:txBody>
                  <a:tcPr anchor="ctr"/>
                </a:tc>
                <a:extLst>
                  <a:ext uri="{0D108BD9-81ED-4DB2-BD59-A6C34878D82A}">
                    <a16:rowId xmlns:a16="http://schemas.microsoft.com/office/drawing/2014/main" xmlns=""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물방울 폭탄</a:t>
                      </a:r>
                      <a:r>
                        <a:rPr lang="en-US" altLang="ko-KR" dirty="0" smtClean="0"/>
                        <a:t>(</a:t>
                      </a:r>
                      <a:r>
                        <a:rPr lang="ko-KR" altLang="en-US" dirty="0" smtClean="0"/>
                        <a:t>한 적 뎀</a:t>
                      </a:r>
                      <a:r>
                        <a:rPr lang="en-US" altLang="ko-KR" baseline="0" dirty="0" smtClean="0"/>
                        <a:t>)</a:t>
                      </a:r>
                      <a:r>
                        <a:rPr lang="ko-KR" altLang="en-US" dirty="0" smtClean="0"/>
                        <a:t> </a:t>
                      </a:r>
                      <a:r>
                        <a:rPr lang="en-US" altLang="ko-KR" dirty="0" smtClean="0"/>
                        <a:t>/ </a:t>
                      </a:r>
                      <a:r>
                        <a:rPr lang="ko-KR" altLang="en-US" dirty="0" err="1" smtClean="0"/>
                        <a:t>칼바람</a:t>
                      </a:r>
                      <a:r>
                        <a:rPr lang="en-US" altLang="ko-KR" dirty="0" smtClean="0"/>
                        <a:t>(</a:t>
                      </a:r>
                      <a:r>
                        <a:rPr lang="ko-KR" altLang="en-US" dirty="0" smtClean="0"/>
                        <a:t>모든 적 뎀</a:t>
                      </a:r>
                      <a:r>
                        <a:rPr lang="en-US" altLang="ko-KR" dirty="0" smtClean="0"/>
                        <a:t>)</a:t>
                      </a:r>
                      <a:r>
                        <a:rPr lang="ko-KR" altLang="en-US" dirty="0" smtClean="0"/>
                        <a:t> </a:t>
                      </a:r>
                      <a:r>
                        <a:rPr lang="en-US" altLang="ko-KR" dirty="0" smtClean="0"/>
                        <a:t>/ </a:t>
                      </a:r>
                      <a:r>
                        <a:rPr lang="ko-KR" altLang="en-US" dirty="0" smtClean="0"/>
                        <a:t>서리 폭풍</a:t>
                      </a:r>
                      <a:r>
                        <a:rPr lang="en-US" altLang="ko-KR" dirty="0" smtClean="0"/>
                        <a:t>(</a:t>
                      </a:r>
                      <a:r>
                        <a:rPr lang="ko-KR" altLang="en-US" dirty="0" smtClean="0"/>
                        <a:t>모든 적 뎀</a:t>
                      </a:r>
                      <a:r>
                        <a:rPr lang="en-US" altLang="ko-KR" dirty="0" smtClean="0"/>
                        <a:t>, </a:t>
                      </a:r>
                      <a:r>
                        <a:rPr lang="ko-KR" altLang="en-US" dirty="0" smtClean="0"/>
                        <a:t>빙결</a:t>
                      </a:r>
                      <a:r>
                        <a:rPr lang="en-US" altLang="ko-KR" dirty="0" smtClean="0"/>
                        <a:t>)</a:t>
                      </a:r>
                      <a:endParaRPr lang="ko-KR" altLang="en-US" dirty="0"/>
                    </a:p>
                  </a:txBody>
                  <a:tcPr anchor="ctr"/>
                </a:tc>
                <a:extLst>
                  <a:ext uri="{0D108BD9-81ED-4DB2-BD59-A6C34878D82A}">
                    <a16:rowId xmlns:a16="http://schemas.microsoft.com/office/drawing/2014/main" xmlns=""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19</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96275947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967430271"/>
              </p:ext>
            </p:extLst>
          </p:nvPr>
        </p:nvGraphicFramePr>
        <p:xfrm>
          <a:off x="277760" y="2186277"/>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xmlns="" val="3653911966"/>
                    </a:ext>
                  </a:extLst>
                </a:gridCol>
                <a:gridCol w="10391005">
                  <a:extLst>
                    <a:ext uri="{9D8B030D-6E8A-4147-A177-3AD203B41FA5}">
                      <a16:colId xmlns:a16="http://schemas.microsoft.com/office/drawing/2014/main" xmlns=""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프리스톤</a:t>
                      </a:r>
                      <a:endParaRPr lang="ko-KR" altLang="en-US" b="0" dirty="0"/>
                    </a:p>
                  </a:txBody>
                  <a:tcPr anchor="ctr"/>
                </a:tc>
                <a:extLst>
                  <a:ext uri="{0D108BD9-81ED-4DB2-BD59-A6C34878D82A}">
                    <a16:rowId xmlns:a16="http://schemas.microsoft.com/office/drawing/2014/main" xmlns=""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a:t>
                      </a:r>
                      <a:r>
                        <a:rPr lang="ko-KR" altLang="en-US" dirty="0" err="1" smtClean="0"/>
                        <a:t>방어형</a:t>
                      </a:r>
                      <a:endParaRPr lang="ko-KR" altLang="en-US" dirty="0"/>
                    </a:p>
                  </a:txBody>
                  <a:tcPr anchor="ctr"/>
                </a:tc>
                <a:extLst>
                  <a:ext uri="{0D108BD9-81ED-4DB2-BD59-A6C34878D82A}">
                    <a16:rowId xmlns:a16="http://schemas.microsoft.com/office/drawing/2014/main" xmlns=""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바람</a:t>
                      </a:r>
                      <a:endParaRPr lang="ko-KR" altLang="en-US" dirty="0"/>
                    </a:p>
                  </a:txBody>
                  <a:tcPr anchor="ctr"/>
                </a:tc>
                <a:extLst>
                  <a:ext uri="{0D108BD9-81ED-4DB2-BD59-A6C34878D82A}">
                    <a16:rowId xmlns:a16="http://schemas.microsoft.com/office/drawing/2014/main" xmlns="" val="587654416"/>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800</a:t>
                      </a:r>
                      <a:endParaRPr lang="ko-KR" altLang="en-US" dirty="0"/>
                    </a:p>
                  </a:txBody>
                  <a:tcPr anchor="ctr"/>
                </a:tc>
                <a:extLst>
                  <a:ext uri="{0D108BD9-81ED-4DB2-BD59-A6C34878D82A}">
                    <a16:rowId xmlns:a16="http://schemas.microsoft.com/office/drawing/2014/main" xmlns=""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200</a:t>
                      </a:r>
                      <a:endParaRPr lang="ko-KR" altLang="en-US" dirty="0"/>
                    </a:p>
                  </a:txBody>
                  <a:tcPr anchor="ctr"/>
                </a:tc>
                <a:extLst>
                  <a:ext uri="{0D108BD9-81ED-4DB2-BD59-A6C34878D82A}">
                    <a16:rowId xmlns:a16="http://schemas.microsoft.com/office/drawing/2014/main" xmlns="" val="3188019160"/>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30</a:t>
                      </a:r>
                      <a:endParaRPr lang="ko-KR" altLang="en-US" dirty="0"/>
                    </a:p>
                  </a:txBody>
                  <a:tcPr anchor="ctr"/>
                </a:tc>
                <a:extLst>
                  <a:ext uri="{0D108BD9-81ED-4DB2-BD59-A6C34878D82A}">
                    <a16:rowId xmlns:a16="http://schemas.microsoft.com/office/drawing/2014/main" xmlns=""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30</a:t>
                      </a:r>
                      <a:endParaRPr lang="ko-KR" altLang="en-US" dirty="0"/>
                    </a:p>
                  </a:txBody>
                  <a:tcPr anchor="ctr"/>
                </a:tc>
                <a:extLst>
                  <a:ext uri="{0D108BD9-81ED-4DB2-BD59-A6C34878D82A}">
                    <a16:rowId xmlns:a16="http://schemas.microsoft.com/office/drawing/2014/main" xmlns=""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xmlns="" val="853102638"/>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xmlns="" val="363351160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난공불락 </a:t>
                      </a:r>
                      <a:r>
                        <a:rPr lang="en-US" altLang="ko-KR" dirty="0" smtClean="0"/>
                        <a:t>(</a:t>
                      </a:r>
                      <a:r>
                        <a:rPr lang="ko-KR" altLang="en-US" dirty="0" smtClean="0"/>
                        <a:t>잃은 체력에 비례하여 방어력 상승</a:t>
                      </a:r>
                      <a:r>
                        <a:rPr lang="en-US" altLang="ko-KR" dirty="0" smtClean="0"/>
                        <a:t>)</a:t>
                      </a:r>
                      <a:endParaRPr lang="ko-KR" altLang="en-US" dirty="0"/>
                    </a:p>
                  </a:txBody>
                  <a:tcPr anchor="ctr"/>
                </a:tc>
                <a:extLst>
                  <a:ext uri="{0D108BD9-81ED-4DB2-BD59-A6C34878D82A}">
                    <a16:rowId xmlns:a16="http://schemas.microsoft.com/office/drawing/2014/main" xmlns=""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방패 돌격</a:t>
                      </a:r>
                      <a:r>
                        <a:rPr lang="en-US" altLang="ko-KR" dirty="0" smtClean="0"/>
                        <a:t>(</a:t>
                      </a:r>
                      <a:r>
                        <a:rPr lang="ko-KR" altLang="en-US" dirty="0" smtClean="0"/>
                        <a:t>적</a:t>
                      </a:r>
                      <a:r>
                        <a:rPr lang="en-US" altLang="ko-KR" dirty="0" smtClean="0"/>
                        <a:t>1</a:t>
                      </a:r>
                      <a:r>
                        <a:rPr lang="ko-KR" altLang="en-US" dirty="0" smtClean="0"/>
                        <a:t> </a:t>
                      </a:r>
                      <a:r>
                        <a:rPr lang="ko-KR" altLang="en-US" dirty="0" err="1" smtClean="0"/>
                        <a:t>방비례뎀</a:t>
                      </a:r>
                      <a:r>
                        <a:rPr lang="en-US" altLang="ko-KR" dirty="0" smtClean="0"/>
                        <a:t>)</a:t>
                      </a:r>
                      <a:r>
                        <a:rPr lang="ko-KR" altLang="en-US" dirty="0" smtClean="0"/>
                        <a:t> </a:t>
                      </a:r>
                      <a:r>
                        <a:rPr lang="en-US" altLang="ko-KR" dirty="0" smtClean="0"/>
                        <a:t>/ </a:t>
                      </a:r>
                      <a:r>
                        <a:rPr lang="ko-KR" altLang="en-US" dirty="0" smtClean="0"/>
                        <a:t>용기의 외침</a:t>
                      </a:r>
                      <a:r>
                        <a:rPr lang="en-US" altLang="ko-KR" dirty="0" smtClean="0"/>
                        <a:t>(</a:t>
                      </a:r>
                      <a:r>
                        <a:rPr lang="ko-KR" altLang="en-US" dirty="0" smtClean="0"/>
                        <a:t>체 회복</a:t>
                      </a:r>
                      <a:r>
                        <a:rPr lang="en-US" altLang="ko-KR" dirty="0" smtClean="0"/>
                        <a:t>, </a:t>
                      </a:r>
                      <a:r>
                        <a:rPr lang="ko-KR" altLang="en-US" dirty="0" smtClean="0"/>
                        <a:t>방 상승</a:t>
                      </a:r>
                      <a:r>
                        <a:rPr lang="en-US" altLang="ko-KR" baseline="0" dirty="0" smtClean="0"/>
                        <a:t>)</a:t>
                      </a:r>
                      <a:r>
                        <a:rPr lang="ko-KR" altLang="en-US" dirty="0" smtClean="0"/>
                        <a:t> </a:t>
                      </a:r>
                      <a:r>
                        <a:rPr lang="en-US" altLang="ko-KR" dirty="0" smtClean="0"/>
                        <a:t>/ </a:t>
                      </a:r>
                      <a:r>
                        <a:rPr lang="ko-KR" altLang="en-US" dirty="0" smtClean="0"/>
                        <a:t>수호의 방패</a:t>
                      </a:r>
                      <a:r>
                        <a:rPr lang="en-US" altLang="ko-KR" dirty="0" smtClean="0"/>
                        <a:t>(2</a:t>
                      </a:r>
                      <a:r>
                        <a:rPr lang="ko-KR" altLang="en-US" dirty="0" smtClean="0"/>
                        <a:t>턴 아군 체</a:t>
                      </a:r>
                      <a:r>
                        <a:rPr lang="en-US" altLang="ko-KR" dirty="0" smtClean="0"/>
                        <a:t>, </a:t>
                      </a:r>
                      <a:r>
                        <a:rPr lang="ko-KR" altLang="en-US" dirty="0" smtClean="0"/>
                        <a:t>방 </a:t>
                      </a:r>
                      <a:r>
                        <a:rPr lang="en-US" altLang="ko-KR" dirty="0" smtClean="0"/>
                        <a:t>2</a:t>
                      </a:r>
                      <a:r>
                        <a:rPr lang="ko-KR" altLang="en-US" dirty="0" smtClean="0"/>
                        <a:t>배</a:t>
                      </a:r>
                      <a:r>
                        <a:rPr lang="en-US" altLang="ko-KR" dirty="0" smtClean="0"/>
                        <a:t>, </a:t>
                      </a:r>
                      <a:r>
                        <a:rPr lang="ko-KR" altLang="en-US" dirty="0" err="1" smtClean="0"/>
                        <a:t>자석탱</a:t>
                      </a:r>
                      <a:r>
                        <a:rPr lang="en-US" altLang="ko-KR" dirty="0" smtClean="0"/>
                        <a:t>)</a:t>
                      </a:r>
                      <a:endParaRPr lang="ko-KR" altLang="en-US" dirty="0"/>
                    </a:p>
                  </a:txBody>
                  <a:tcPr anchor="ctr"/>
                </a:tc>
                <a:extLst>
                  <a:ext uri="{0D108BD9-81ED-4DB2-BD59-A6C34878D82A}">
                    <a16:rowId xmlns:a16="http://schemas.microsoft.com/office/drawing/2014/main" xmlns=""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20</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11850357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2403635941"/>
              </p:ext>
            </p:extLst>
          </p:nvPr>
        </p:nvGraphicFramePr>
        <p:xfrm>
          <a:off x="280219" y="2180963"/>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xmlns="" val="3653911966"/>
                    </a:ext>
                  </a:extLst>
                </a:gridCol>
                <a:gridCol w="10391005">
                  <a:extLst>
                    <a:ext uri="{9D8B030D-6E8A-4147-A177-3AD203B41FA5}">
                      <a16:colId xmlns:a16="http://schemas.microsoft.com/office/drawing/2014/main" xmlns=""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아이리스</a:t>
                      </a:r>
                      <a:endParaRPr lang="ko-KR" altLang="en-US" b="0" dirty="0"/>
                    </a:p>
                  </a:txBody>
                  <a:tcPr anchor="ctr"/>
                </a:tc>
                <a:extLst>
                  <a:ext uri="{0D108BD9-81ED-4DB2-BD59-A6C34878D82A}">
                    <a16:rowId xmlns:a16="http://schemas.microsoft.com/office/drawing/2014/main" xmlns=""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a:t>
                      </a:r>
                      <a:r>
                        <a:rPr lang="ko-KR" altLang="en-US" baseline="0" dirty="0" smtClean="0"/>
                        <a:t> </a:t>
                      </a:r>
                      <a:r>
                        <a:rPr lang="ko-KR" altLang="en-US" dirty="0" smtClean="0"/>
                        <a:t>중 보조형</a:t>
                      </a:r>
                      <a:endParaRPr lang="ko-KR" altLang="en-US" dirty="0"/>
                    </a:p>
                  </a:txBody>
                  <a:tcPr anchor="ctr"/>
                </a:tc>
                <a:extLst>
                  <a:ext uri="{0D108BD9-81ED-4DB2-BD59-A6C34878D82A}">
                    <a16:rowId xmlns:a16="http://schemas.microsoft.com/office/drawing/2014/main" xmlns=""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빛</a:t>
                      </a:r>
                      <a:endParaRPr lang="ko-KR" altLang="en-US" dirty="0"/>
                    </a:p>
                  </a:txBody>
                  <a:tcPr anchor="ctr"/>
                </a:tc>
                <a:extLst>
                  <a:ext uri="{0D108BD9-81ED-4DB2-BD59-A6C34878D82A}">
                    <a16:rowId xmlns:a16="http://schemas.microsoft.com/office/drawing/2014/main" xmlns="" val="3140618441"/>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500</a:t>
                      </a:r>
                      <a:endParaRPr lang="ko-KR" altLang="en-US" dirty="0"/>
                    </a:p>
                  </a:txBody>
                  <a:tcPr anchor="ctr"/>
                </a:tc>
                <a:extLst>
                  <a:ext uri="{0D108BD9-81ED-4DB2-BD59-A6C34878D82A}">
                    <a16:rowId xmlns:a16="http://schemas.microsoft.com/office/drawing/2014/main" xmlns=""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300</a:t>
                      </a:r>
                      <a:endParaRPr lang="ko-KR" altLang="en-US" dirty="0"/>
                    </a:p>
                  </a:txBody>
                  <a:tcPr anchor="ctr"/>
                </a:tc>
                <a:extLst>
                  <a:ext uri="{0D108BD9-81ED-4DB2-BD59-A6C34878D82A}">
                    <a16:rowId xmlns:a16="http://schemas.microsoft.com/office/drawing/2014/main" xmlns="" val="1120464010"/>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xmlns=""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xmlns=""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xmlns="" val="1429277317"/>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xmlns="" val="2869796385"/>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정화</a:t>
                      </a:r>
                      <a:r>
                        <a:rPr lang="en-US" altLang="ko-KR" dirty="0" smtClean="0"/>
                        <a:t>(</a:t>
                      </a:r>
                      <a:r>
                        <a:rPr lang="ko-KR" altLang="en-US" dirty="0" smtClean="0"/>
                        <a:t>자신의 턴에 랜덤으로 아군의 상태이상 중 하나를 해제</a:t>
                      </a:r>
                      <a:r>
                        <a:rPr lang="en-US" altLang="ko-KR" dirty="0" smtClean="0"/>
                        <a:t>)</a:t>
                      </a:r>
                      <a:endParaRPr lang="ko-KR" altLang="en-US" dirty="0"/>
                    </a:p>
                  </a:txBody>
                  <a:tcPr anchor="ctr"/>
                </a:tc>
                <a:extLst>
                  <a:ext uri="{0D108BD9-81ED-4DB2-BD59-A6C34878D82A}">
                    <a16:rowId xmlns:a16="http://schemas.microsoft.com/office/drawing/2014/main" xmlns=""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축복</a:t>
                      </a:r>
                      <a:r>
                        <a:rPr lang="en-US" altLang="ko-KR" dirty="0" smtClean="0"/>
                        <a:t>(</a:t>
                      </a:r>
                      <a:r>
                        <a:rPr lang="ko-KR" altLang="en-US" dirty="0" smtClean="0"/>
                        <a:t>아군 방</a:t>
                      </a:r>
                      <a:r>
                        <a:rPr lang="en-US" altLang="ko-KR" dirty="0" smtClean="0"/>
                        <a:t>,</a:t>
                      </a:r>
                      <a:r>
                        <a:rPr lang="ko-KR" altLang="en-US" dirty="0" smtClean="0"/>
                        <a:t>공 상승</a:t>
                      </a:r>
                      <a:r>
                        <a:rPr lang="en-US" altLang="ko-KR" dirty="0" smtClean="0"/>
                        <a:t>)</a:t>
                      </a:r>
                      <a:r>
                        <a:rPr lang="ko-KR" altLang="en-US" dirty="0" smtClean="0"/>
                        <a:t> </a:t>
                      </a:r>
                      <a:r>
                        <a:rPr lang="en-US" altLang="ko-KR" dirty="0" smtClean="0"/>
                        <a:t>/ </a:t>
                      </a:r>
                      <a:r>
                        <a:rPr lang="ko-KR" altLang="en-US" dirty="0" smtClean="0"/>
                        <a:t>치유</a:t>
                      </a:r>
                      <a:r>
                        <a:rPr lang="en-US" altLang="ko-KR" dirty="0" smtClean="0"/>
                        <a:t>(</a:t>
                      </a:r>
                      <a:r>
                        <a:rPr lang="ko-KR" altLang="en-US" dirty="0" smtClean="0"/>
                        <a:t>아군 체 회복</a:t>
                      </a:r>
                      <a:r>
                        <a:rPr lang="en-US" altLang="ko-KR" baseline="0" dirty="0" smtClean="0"/>
                        <a:t>)</a:t>
                      </a:r>
                      <a:r>
                        <a:rPr lang="ko-KR" altLang="en-US" dirty="0" smtClean="0"/>
                        <a:t> </a:t>
                      </a:r>
                      <a:r>
                        <a:rPr lang="en-US" altLang="ko-KR" dirty="0" smtClean="0"/>
                        <a:t>/ </a:t>
                      </a:r>
                      <a:r>
                        <a:rPr lang="ko-KR" altLang="en-US" dirty="0" smtClean="0"/>
                        <a:t>빛의</a:t>
                      </a:r>
                      <a:r>
                        <a:rPr lang="ko-KR" altLang="en-US" baseline="0" dirty="0" smtClean="0"/>
                        <a:t> </a:t>
                      </a:r>
                      <a:r>
                        <a:rPr lang="ko-KR" altLang="en-US" dirty="0" smtClean="0"/>
                        <a:t>찬가</a:t>
                      </a:r>
                      <a:r>
                        <a:rPr lang="en-US" altLang="ko-KR" dirty="0" smtClean="0"/>
                        <a:t>(1</a:t>
                      </a:r>
                      <a:r>
                        <a:rPr lang="ko-KR" altLang="en-US" dirty="0" smtClean="0"/>
                        <a:t>턴 간 아군 상태이상 면역</a:t>
                      </a:r>
                      <a:r>
                        <a:rPr lang="en-US" altLang="ko-KR" dirty="0" smtClean="0"/>
                        <a:t>, </a:t>
                      </a:r>
                      <a:r>
                        <a:rPr lang="ko-KR" altLang="en-US" dirty="0" smtClean="0"/>
                        <a:t>방</a:t>
                      </a:r>
                      <a:r>
                        <a:rPr lang="en-US" altLang="ko-KR" dirty="0" smtClean="0"/>
                        <a:t>,</a:t>
                      </a:r>
                      <a:r>
                        <a:rPr lang="ko-KR" altLang="en-US" dirty="0" smtClean="0"/>
                        <a:t>공 상승</a:t>
                      </a:r>
                      <a:r>
                        <a:rPr lang="en-US" altLang="ko-KR" dirty="0" smtClean="0"/>
                        <a:t>)</a:t>
                      </a:r>
                      <a:endParaRPr lang="ko-KR" altLang="en-US" dirty="0"/>
                    </a:p>
                  </a:txBody>
                  <a:tcPr anchor="ctr"/>
                </a:tc>
                <a:extLst>
                  <a:ext uri="{0D108BD9-81ED-4DB2-BD59-A6C34878D82A}">
                    <a16:rowId xmlns:a16="http://schemas.microsoft.com/office/drawing/2014/main" xmlns=""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21</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55086130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390373945"/>
              </p:ext>
            </p:extLst>
          </p:nvPr>
        </p:nvGraphicFramePr>
        <p:xfrm>
          <a:off x="280219" y="2180967"/>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xmlns="" val="3653911966"/>
                    </a:ext>
                  </a:extLst>
                </a:gridCol>
                <a:gridCol w="10391005">
                  <a:extLst>
                    <a:ext uri="{9D8B030D-6E8A-4147-A177-3AD203B41FA5}">
                      <a16:colId xmlns:a16="http://schemas.microsoft.com/office/drawing/2014/main" xmlns=""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메리</a:t>
                      </a:r>
                      <a:endParaRPr lang="ko-KR" altLang="en-US" b="0" dirty="0"/>
                    </a:p>
                  </a:txBody>
                  <a:tcPr anchor="ctr"/>
                </a:tc>
                <a:extLst>
                  <a:ext uri="{0D108BD9-81ED-4DB2-BD59-A6C34878D82A}">
                    <a16:rowId xmlns:a16="http://schemas.microsoft.com/office/drawing/2014/main" xmlns=""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a:t>
                      </a:r>
                      <a:r>
                        <a:rPr lang="en-US" altLang="ko-KR" baseline="0" dirty="0" smtClean="0"/>
                        <a:t> </a:t>
                      </a:r>
                      <a:r>
                        <a:rPr lang="ko-KR" altLang="en-US" baseline="0" dirty="0" smtClean="0"/>
                        <a:t>보조</a:t>
                      </a:r>
                      <a:r>
                        <a:rPr lang="ko-KR" altLang="en-US" dirty="0" smtClean="0"/>
                        <a:t>형</a:t>
                      </a:r>
                      <a:endParaRPr lang="ko-KR" altLang="en-US" dirty="0"/>
                    </a:p>
                  </a:txBody>
                  <a:tcPr anchor="ctr"/>
                </a:tc>
                <a:extLst>
                  <a:ext uri="{0D108BD9-81ED-4DB2-BD59-A6C34878D82A}">
                    <a16:rowId xmlns:a16="http://schemas.microsoft.com/office/drawing/2014/main" xmlns=""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어둠</a:t>
                      </a:r>
                      <a:endParaRPr lang="ko-KR" altLang="en-US" dirty="0"/>
                    </a:p>
                  </a:txBody>
                  <a:tcPr anchor="ctr"/>
                </a:tc>
                <a:extLst>
                  <a:ext uri="{0D108BD9-81ED-4DB2-BD59-A6C34878D82A}">
                    <a16:rowId xmlns:a16="http://schemas.microsoft.com/office/drawing/2014/main" xmlns="" val="202632424"/>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500</a:t>
                      </a:r>
                      <a:endParaRPr lang="ko-KR" altLang="en-US" dirty="0"/>
                    </a:p>
                  </a:txBody>
                  <a:tcPr anchor="ctr"/>
                </a:tc>
                <a:extLst>
                  <a:ext uri="{0D108BD9-81ED-4DB2-BD59-A6C34878D82A}">
                    <a16:rowId xmlns:a16="http://schemas.microsoft.com/office/drawing/2014/main" xmlns=""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300</a:t>
                      </a:r>
                      <a:endParaRPr lang="ko-KR" altLang="en-US" dirty="0"/>
                    </a:p>
                  </a:txBody>
                  <a:tcPr anchor="ctr"/>
                </a:tc>
                <a:extLst>
                  <a:ext uri="{0D108BD9-81ED-4DB2-BD59-A6C34878D82A}">
                    <a16:rowId xmlns:a16="http://schemas.microsoft.com/office/drawing/2014/main" xmlns="" val="3439633105"/>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a16="http://schemas.microsoft.com/office/drawing/2014/main" xmlns=""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xmlns=""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xmlns="" val="1078538427"/>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xmlns="" val="1122536282"/>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인형의 저주</a:t>
                      </a:r>
                      <a:r>
                        <a:rPr lang="en-US" altLang="ko-KR" dirty="0" smtClean="0"/>
                        <a:t>(</a:t>
                      </a:r>
                      <a:r>
                        <a:rPr lang="ko-KR" altLang="en-US" dirty="0" err="1" smtClean="0"/>
                        <a:t>랜덤한</a:t>
                      </a:r>
                      <a:r>
                        <a:rPr lang="ko-KR" altLang="en-US" dirty="0" smtClean="0"/>
                        <a:t> 적 몬스터 </a:t>
                      </a:r>
                      <a:r>
                        <a:rPr lang="en-US" altLang="ko-KR" dirty="0" smtClean="0"/>
                        <a:t>1</a:t>
                      </a:r>
                      <a:r>
                        <a:rPr lang="ko-KR" altLang="en-US" dirty="0" smtClean="0"/>
                        <a:t>체에 </a:t>
                      </a:r>
                      <a:r>
                        <a:rPr lang="ko-KR" altLang="en-US" dirty="0" err="1" smtClean="0"/>
                        <a:t>랜덤한</a:t>
                      </a:r>
                      <a:r>
                        <a:rPr lang="ko-KR" altLang="en-US" dirty="0" smtClean="0"/>
                        <a:t> 상태이상 부여</a:t>
                      </a:r>
                      <a:r>
                        <a:rPr lang="en-US" altLang="ko-KR" dirty="0" smtClean="0"/>
                        <a:t>)</a:t>
                      </a:r>
                      <a:endParaRPr lang="ko-KR" altLang="en-US" dirty="0"/>
                    </a:p>
                  </a:txBody>
                  <a:tcPr anchor="ctr"/>
                </a:tc>
                <a:extLst>
                  <a:ext uri="{0D108BD9-81ED-4DB2-BD59-A6C34878D82A}">
                    <a16:rowId xmlns:a16="http://schemas.microsoft.com/office/drawing/2014/main" xmlns=""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검은 손</a:t>
                      </a:r>
                      <a:r>
                        <a:rPr lang="en-US" altLang="ko-KR" dirty="0" smtClean="0"/>
                        <a:t>(</a:t>
                      </a:r>
                      <a:r>
                        <a:rPr lang="ko-KR" altLang="en-US" dirty="0" smtClean="0"/>
                        <a:t>적 뎀</a:t>
                      </a:r>
                      <a:r>
                        <a:rPr lang="en-US" altLang="ko-KR" dirty="0" smtClean="0"/>
                        <a:t>, </a:t>
                      </a:r>
                      <a:r>
                        <a:rPr lang="ko-KR" altLang="en-US" dirty="0" smtClean="0"/>
                        <a:t>방 감소</a:t>
                      </a:r>
                      <a:r>
                        <a:rPr lang="en-US" altLang="ko-KR" dirty="0" smtClean="0"/>
                        <a:t>)</a:t>
                      </a:r>
                      <a:r>
                        <a:rPr lang="ko-KR" altLang="en-US" dirty="0" smtClean="0"/>
                        <a:t> </a:t>
                      </a:r>
                      <a:r>
                        <a:rPr lang="en-US" altLang="ko-KR" dirty="0" smtClean="0"/>
                        <a:t>/ </a:t>
                      </a:r>
                      <a:r>
                        <a:rPr lang="ko-KR" altLang="en-US" dirty="0" smtClean="0"/>
                        <a:t>유혹의 키스 </a:t>
                      </a:r>
                      <a:r>
                        <a:rPr lang="en-US" altLang="ko-KR" dirty="0" smtClean="0"/>
                        <a:t>(</a:t>
                      </a:r>
                      <a:r>
                        <a:rPr lang="ko-KR" altLang="en-US" dirty="0" smtClean="0"/>
                        <a:t>적 혼란</a:t>
                      </a:r>
                      <a:r>
                        <a:rPr lang="en-US" altLang="ko-KR" baseline="0" dirty="0" smtClean="0"/>
                        <a:t>)</a:t>
                      </a:r>
                      <a:r>
                        <a:rPr lang="ko-KR" altLang="en-US" dirty="0" smtClean="0"/>
                        <a:t> </a:t>
                      </a:r>
                      <a:r>
                        <a:rPr lang="en-US" altLang="ko-KR" dirty="0" smtClean="0"/>
                        <a:t>/ </a:t>
                      </a:r>
                      <a:r>
                        <a:rPr lang="ko-KR" altLang="en-US" dirty="0" err="1" smtClean="0"/>
                        <a:t>판데모니엄</a:t>
                      </a:r>
                      <a:r>
                        <a:rPr lang="en-US" altLang="ko-KR" dirty="0" smtClean="0"/>
                        <a:t>(</a:t>
                      </a:r>
                      <a:r>
                        <a:rPr lang="ko-KR" altLang="en-US" dirty="0" smtClean="0"/>
                        <a:t>적 전체 </a:t>
                      </a:r>
                      <a:r>
                        <a:rPr lang="ko-KR" altLang="en-US" dirty="0" err="1" smtClean="0"/>
                        <a:t>체비뎀</a:t>
                      </a:r>
                      <a:r>
                        <a:rPr lang="en-US" altLang="ko-KR" dirty="0" smtClean="0"/>
                        <a:t>, </a:t>
                      </a:r>
                      <a:r>
                        <a:rPr lang="ko-KR" altLang="en-US" dirty="0" smtClean="0"/>
                        <a:t>기절</a:t>
                      </a:r>
                      <a:r>
                        <a:rPr lang="en-US" altLang="ko-KR" dirty="0" smtClean="0"/>
                        <a:t>)</a:t>
                      </a:r>
                      <a:endParaRPr lang="ko-KR" altLang="en-US" dirty="0"/>
                    </a:p>
                  </a:txBody>
                  <a:tcPr anchor="ctr"/>
                </a:tc>
                <a:extLst>
                  <a:ext uri="{0D108BD9-81ED-4DB2-BD59-A6C34878D82A}">
                    <a16:rowId xmlns:a16="http://schemas.microsoft.com/office/drawing/2014/main" xmlns=""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22</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22132441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23</a:t>
            </a:fld>
            <a:endParaRPr lang="ko-KR" altLang="en-US" sz="1800" dirty="0"/>
          </a:p>
        </p:txBody>
      </p:sp>
      <p:sp>
        <p:nvSpPr>
          <p:cNvPr id="13" name="TextBox 12"/>
          <p:cNvSpPr txBox="1"/>
          <p:nvPr/>
        </p:nvSpPr>
        <p:spPr>
          <a:xfrm>
            <a:off x="766917" y="1348401"/>
            <a:ext cx="6577313" cy="3831818"/>
          </a:xfrm>
          <a:prstGeom prst="rect">
            <a:avLst/>
          </a:prstGeom>
          <a:noFill/>
        </p:spPr>
        <p:txBody>
          <a:bodyPr wrap="square" rtlCol="0">
            <a:spAutoFit/>
          </a:bodyPr>
          <a:lstStyle/>
          <a:p>
            <a:pPr>
              <a:lnSpc>
                <a:spcPct val="150000"/>
              </a:lnSpc>
            </a:pPr>
            <a:r>
              <a:rPr lang="en-US" altLang="ko-KR" dirty="0"/>
              <a:t>• </a:t>
            </a:r>
            <a:r>
              <a:rPr lang="ko-KR" altLang="en-US" dirty="0" err="1" smtClean="0">
                <a:latin typeface="+mn-ea"/>
              </a:rPr>
              <a:t>몬스터들은</a:t>
            </a:r>
            <a:r>
              <a:rPr lang="ko-KR" altLang="en-US" dirty="0" smtClean="0">
                <a:latin typeface="+mn-ea"/>
              </a:rPr>
              <a:t> 던전 안에 도사리고 있습니다</a:t>
            </a:r>
            <a:r>
              <a:rPr lang="en-US" altLang="ko-KR" dirty="0" smtClean="0">
                <a:latin typeface="+mn-ea"/>
              </a:rPr>
              <a:t>.</a:t>
            </a:r>
          </a:p>
          <a:p>
            <a:pPr>
              <a:lnSpc>
                <a:spcPct val="150000"/>
              </a:lnSpc>
            </a:pPr>
            <a:endParaRPr lang="en-US" altLang="ko-KR" dirty="0" smtClean="0">
              <a:latin typeface="+mn-ea"/>
            </a:endParaRPr>
          </a:p>
          <a:p>
            <a:pPr>
              <a:lnSpc>
                <a:spcPct val="150000"/>
              </a:lnSpc>
            </a:pPr>
            <a:r>
              <a:rPr lang="en-US" altLang="ko-KR" dirty="0"/>
              <a:t>• </a:t>
            </a:r>
            <a:r>
              <a:rPr lang="ko-KR" altLang="en-US" dirty="0" smtClean="0"/>
              <a:t>각기 다른 특성과 능력을 지니고 있습니다</a:t>
            </a:r>
            <a:r>
              <a:rPr lang="en-US" altLang="ko-KR" dirty="0" smtClean="0"/>
              <a:t>.</a:t>
            </a:r>
          </a:p>
          <a:p>
            <a:pPr>
              <a:lnSpc>
                <a:spcPct val="150000"/>
              </a:lnSpc>
            </a:pPr>
            <a:endParaRPr lang="en-US" altLang="ko-KR" dirty="0">
              <a:latin typeface="+mn-ea"/>
            </a:endParaRPr>
          </a:p>
          <a:p>
            <a:pPr>
              <a:lnSpc>
                <a:spcPct val="150000"/>
              </a:lnSpc>
            </a:pPr>
            <a:r>
              <a:rPr lang="en-US" altLang="ko-KR" dirty="0" smtClean="0"/>
              <a:t>• </a:t>
            </a:r>
            <a:r>
              <a:rPr lang="ko-KR" altLang="en-US" dirty="0" smtClean="0"/>
              <a:t>용사가 몬스터를 처치하면</a:t>
            </a:r>
            <a:r>
              <a:rPr lang="en-US" altLang="ko-KR" dirty="0" smtClean="0"/>
              <a:t>, </a:t>
            </a:r>
            <a:r>
              <a:rPr lang="ko-KR" altLang="en-US" dirty="0" smtClean="0"/>
              <a:t>전투 후 용사의 </a:t>
            </a:r>
            <a:r>
              <a:rPr lang="ko-KR" altLang="en-US" dirty="0"/>
              <a:t>것</a:t>
            </a:r>
            <a:r>
              <a:rPr lang="ko-KR" altLang="en-US" dirty="0" smtClean="0"/>
              <a:t>이 됩니다</a:t>
            </a:r>
            <a:r>
              <a:rPr lang="en-US" altLang="ko-KR" dirty="0" smtClean="0"/>
              <a:t>.</a:t>
            </a:r>
          </a:p>
          <a:p>
            <a:pPr>
              <a:lnSpc>
                <a:spcPct val="150000"/>
              </a:lnSpc>
            </a:pPr>
            <a:endParaRPr lang="en-US" altLang="ko-KR" dirty="0">
              <a:latin typeface="+mn-ea"/>
            </a:endParaRPr>
          </a:p>
          <a:p>
            <a:pPr>
              <a:lnSpc>
                <a:spcPct val="150000"/>
              </a:lnSpc>
            </a:pPr>
            <a:r>
              <a:rPr lang="en-US" altLang="ko-KR" dirty="0" smtClean="0"/>
              <a:t>• </a:t>
            </a:r>
            <a:r>
              <a:rPr lang="ko-KR" altLang="en-US" dirty="0" smtClean="0"/>
              <a:t>한번 전투에서 사망하면 재사용할 수 없습니다</a:t>
            </a:r>
            <a:r>
              <a:rPr lang="en-US" altLang="ko-KR" dirty="0" smtClean="0"/>
              <a:t>.</a:t>
            </a:r>
            <a:endParaRPr lang="en-US" altLang="ko-KR" dirty="0">
              <a:latin typeface="+mn-ea"/>
            </a:endParaRPr>
          </a:p>
          <a:p>
            <a:pPr>
              <a:lnSpc>
                <a:spcPct val="150000"/>
              </a:lnSpc>
            </a:pPr>
            <a:endParaRPr lang="en-US" altLang="ko-KR" dirty="0" smtClean="0">
              <a:latin typeface="+mn-ea"/>
            </a:endParaRPr>
          </a:p>
          <a:p>
            <a:pPr>
              <a:lnSpc>
                <a:spcPct val="150000"/>
              </a:lnSpc>
            </a:pPr>
            <a:r>
              <a:rPr lang="en-US" altLang="ko-KR" dirty="0"/>
              <a:t>• 3</a:t>
            </a:r>
            <a:r>
              <a:rPr lang="ko-KR" altLang="en-US" dirty="0" smtClean="0"/>
              <a:t>마리까지 파티를 편성할 수 있다</a:t>
            </a:r>
            <a:r>
              <a:rPr lang="en-US" altLang="ko-KR" dirty="0" smtClean="0"/>
              <a:t>.</a:t>
            </a:r>
            <a:endParaRPr lang="en-US" altLang="ko-KR" dirty="0" smtClean="0">
              <a:latin typeface="+mn-ea"/>
            </a:endParaRPr>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44690500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4268948201"/>
              </p:ext>
            </p:extLst>
          </p:nvPr>
        </p:nvGraphicFramePr>
        <p:xfrm>
          <a:off x="280219" y="2180969"/>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xmlns="" val="3653911966"/>
                    </a:ext>
                  </a:extLst>
                </a:gridCol>
                <a:gridCol w="10391005">
                  <a:extLst>
                    <a:ext uri="{9D8B030D-6E8A-4147-A177-3AD203B41FA5}">
                      <a16:colId xmlns:a16="http://schemas.microsoft.com/office/drawing/2014/main" xmlns=""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리치</a:t>
                      </a:r>
                      <a:endParaRPr lang="ko-KR" altLang="en-US" b="0" dirty="0"/>
                    </a:p>
                  </a:txBody>
                  <a:tcPr anchor="ctr"/>
                </a:tc>
                <a:extLst>
                  <a:ext uri="{0D108BD9-81ED-4DB2-BD59-A6C34878D82A}">
                    <a16:rowId xmlns:a16="http://schemas.microsoft.com/office/drawing/2014/main" xmlns=""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a:t>
                      </a:r>
                      <a:r>
                        <a:rPr lang="en-US" altLang="ko-KR" baseline="0" dirty="0" smtClean="0"/>
                        <a:t> </a:t>
                      </a:r>
                      <a:r>
                        <a:rPr lang="ko-KR" altLang="en-US" dirty="0" smtClean="0"/>
                        <a:t>중 </a:t>
                      </a:r>
                      <a:r>
                        <a:rPr lang="ko-KR" altLang="en-US" dirty="0" err="1" smtClean="0"/>
                        <a:t>공격형</a:t>
                      </a:r>
                      <a:endParaRPr lang="ko-KR" altLang="en-US" dirty="0"/>
                    </a:p>
                  </a:txBody>
                  <a:tcPr anchor="ctr"/>
                </a:tc>
                <a:extLst>
                  <a:ext uri="{0D108BD9-81ED-4DB2-BD59-A6C34878D82A}">
                    <a16:rowId xmlns:a16="http://schemas.microsoft.com/office/drawing/2014/main" xmlns=""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어둠</a:t>
                      </a:r>
                      <a:r>
                        <a:rPr lang="en-US" altLang="ko-KR" dirty="0" smtClean="0"/>
                        <a:t>, </a:t>
                      </a:r>
                      <a:r>
                        <a:rPr lang="ko-KR" altLang="en-US" dirty="0" smtClean="0"/>
                        <a:t>빙결</a:t>
                      </a:r>
                      <a:endParaRPr lang="ko-KR" altLang="en-US" dirty="0"/>
                    </a:p>
                  </a:txBody>
                  <a:tcPr anchor="ctr"/>
                </a:tc>
                <a:extLst>
                  <a:ext uri="{0D108BD9-81ED-4DB2-BD59-A6C34878D82A}">
                    <a16:rowId xmlns:a16="http://schemas.microsoft.com/office/drawing/2014/main" xmlns="" val="316803898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350</a:t>
                      </a:r>
                      <a:endParaRPr lang="ko-KR" altLang="en-US" dirty="0"/>
                    </a:p>
                  </a:txBody>
                  <a:tcPr anchor="ctr"/>
                </a:tc>
                <a:extLst>
                  <a:ext uri="{0D108BD9-81ED-4DB2-BD59-A6C34878D82A}">
                    <a16:rowId xmlns:a16="http://schemas.microsoft.com/office/drawing/2014/main" xmlns=""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100</a:t>
                      </a:r>
                      <a:endParaRPr lang="ko-KR" altLang="en-US" dirty="0"/>
                    </a:p>
                  </a:txBody>
                  <a:tcPr anchor="ctr"/>
                </a:tc>
                <a:extLst>
                  <a:ext uri="{0D108BD9-81ED-4DB2-BD59-A6C34878D82A}">
                    <a16:rowId xmlns:a16="http://schemas.microsoft.com/office/drawing/2014/main" xmlns=""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xmlns=""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5</a:t>
                      </a:r>
                      <a:endParaRPr lang="ko-KR" altLang="en-US" dirty="0"/>
                    </a:p>
                  </a:txBody>
                  <a:tcPr anchor="ctr"/>
                </a:tc>
                <a:extLst>
                  <a:ext uri="{0D108BD9-81ED-4DB2-BD59-A6C34878D82A}">
                    <a16:rowId xmlns:a16="http://schemas.microsoft.com/office/drawing/2014/main" xmlns=""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a16="http://schemas.microsoft.com/office/drawing/2014/main" xmlns="" val="380313429"/>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xmlns="" val="342142082"/>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불사</a:t>
                      </a:r>
                      <a:r>
                        <a:rPr lang="en-US" altLang="ko-KR" baseline="0" dirty="0" smtClean="0"/>
                        <a:t>(</a:t>
                      </a:r>
                      <a:r>
                        <a:rPr lang="ko-KR" altLang="en-US" baseline="0" dirty="0" smtClean="0"/>
                        <a:t>죽음의 위기를 </a:t>
                      </a:r>
                      <a:r>
                        <a:rPr lang="en-US" altLang="ko-KR" baseline="0" dirty="0" smtClean="0"/>
                        <a:t>1</a:t>
                      </a:r>
                      <a:r>
                        <a:rPr lang="ko-KR" altLang="en-US" baseline="0" dirty="0" smtClean="0"/>
                        <a:t>번 모면합니다</a:t>
                      </a:r>
                      <a:r>
                        <a:rPr lang="en-US" altLang="ko-KR" baseline="0" dirty="0" smtClean="0"/>
                        <a:t>)</a:t>
                      </a:r>
                      <a:endParaRPr lang="ko-KR" altLang="en-US" dirty="0"/>
                    </a:p>
                  </a:txBody>
                  <a:tcPr anchor="ctr"/>
                </a:tc>
                <a:extLst>
                  <a:ext uri="{0D108BD9-81ED-4DB2-BD59-A6C34878D82A}">
                    <a16:rowId xmlns:a16="http://schemas.microsoft.com/office/drawing/2014/main" xmlns=""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부정한 손길</a:t>
                      </a:r>
                      <a:r>
                        <a:rPr lang="en-US" altLang="ko-KR" dirty="0" smtClean="0"/>
                        <a:t>(</a:t>
                      </a:r>
                      <a:r>
                        <a:rPr lang="ko-KR" altLang="en-US" dirty="0" smtClean="0"/>
                        <a:t>방 감</a:t>
                      </a:r>
                      <a:r>
                        <a:rPr lang="en-US" altLang="ko-KR" dirty="0" smtClean="0"/>
                        <a:t>, </a:t>
                      </a:r>
                      <a:r>
                        <a:rPr lang="ko-KR" altLang="en-US" dirty="0" smtClean="0"/>
                        <a:t>뎀</a:t>
                      </a:r>
                      <a:r>
                        <a:rPr lang="en-US" altLang="ko-KR" baseline="0" dirty="0" smtClean="0"/>
                        <a:t>)</a:t>
                      </a:r>
                      <a:r>
                        <a:rPr lang="ko-KR" altLang="en-US" dirty="0" smtClean="0"/>
                        <a:t> </a:t>
                      </a:r>
                      <a:r>
                        <a:rPr lang="en-US" altLang="ko-KR" dirty="0" smtClean="0"/>
                        <a:t>/ </a:t>
                      </a:r>
                      <a:r>
                        <a:rPr lang="ko-KR" altLang="en-US" dirty="0" smtClean="0"/>
                        <a:t>망자의 손길</a:t>
                      </a:r>
                      <a:r>
                        <a:rPr lang="en-US" altLang="ko-KR" dirty="0" smtClean="0"/>
                        <a:t>(</a:t>
                      </a:r>
                      <a:r>
                        <a:rPr lang="ko-KR" altLang="en-US" dirty="0" smtClean="0"/>
                        <a:t>뎀</a:t>
                      </a:r>
                      <a:r>
                        <a:rPr lang="en-US" altLang="ko-KR" dirty="0" smtClean="0"/>
                        <a:t>)</a:t>
                      </a:r>
                      <a:r>
                        <a:rPr lang="ko-KR" altLang="en-US" dirty="0" smtClean="0"/>
                        <a:t> </a:t>
                      </a:r>
                      <a:r>
                        <a:rPr lang="en-US" altLang="ko-KR" dirty="0" smtClean="0"/>
                        <a:t>/ </a:t>
                      </a:r>
                      <a:r>
                        <a:rPr lang="ko-KR" altLang="en-US" dirty="0" smtClean="0"/>
                        <a:t>서리 폭발</a:t>
                      </a:r>
                      <a:r>
                        <a:rPr lang="en-US" altLang="ko-KR" dirty="0" smtClean="0"/>
                        <a:t>(</a:t>
                      </a:r>
                      <a:r>
                        <a:rPr lang="ko-KR" altLang="en-US" dirty="0" smtClean="0"/>
                        <a:t>한 적 </a:t>
                      </a:r>
                      <a:r>
                        <a:rPr lang="ko-KR" altLang="en-US" dirty="0" err="1" smtClean="0"/>
                        <a:t>빅뎀</a:t>
                      </a:r>
                      <a:r>
                        <a:rPr lang="en-US" altLang="ko-KR" dirty="0" smtClean="0"/>
                        <a:t>, </a:t>
                      </a:r>
                      <a:r>
                        <a:rPr lang="ko-KR" altLang="en-US" dirty="0" smtClean="0"/>
                        <a:t>모든 적 뎀</a:t>
                      </a:r>
                      <a:r>
                        <a:rPr lang="en-US" altLang="ko-KR" dirty="0" smtClean="0"/>
                        <a:t>)</a:t>
                      </a:r>
                      <a:endParaRPr lang="ko-KR" altLang="en-US" dirty="0"/>
                    </a:p>
                  </a:txBody>
                  <a:tcPr anchor="ctr"/>
                </a:tc>
                <a:extLst>
                  <a:ext uri="{0D108BD9-81ED-4DB2-BD59-A6C34878D82A}">
                    <a16:rowId xmlns:a16="http://schemas.microsoft.com/office/drawing/2014/main" xmlns=""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24</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414691112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530292396"/>
              </p:ext>
            </p:extLst>
          </p:nvPr>
        </p:nvGraphicFramePr>
        <p:xfrm>
          <a:off x="280219" y="2180969"/>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xmlns="" val="3653911966"/>
                    </a:ext>
                  </a:extLst>
                </a:gridCol>
                <a:gridCol w="10391005">
                  <a:extLst>
                    <a:ext uri="{9D8B030D-6E8A-4147-A177-3AD203B41FA5}">
                      <a16:colId xmlns:a16="http://schemas.microsoft.com/office/drawing/2014/main" xmlns=""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그리즐리</a:t>
                      </a:r>
                      <a:endParaRPr lang="ko-KR" altLang="en-US" b="0" dirty="0"/>
                    </a:p>
                  </a:txBody>
                  <a:tcPr anchor="ctr"/>
                </a:tc>
                <a:extLst>
                  <a:ext uri="{0D108BD9-81ED-4DB2-BD59-A6C34878D82A}">
                    <a16:rowId xmlns:a16="http://schemas.microsoft.com/office/drawing/2014/main" xmlns=""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a:t>
                      </a:r>
                      <a:r>
                        <a:rPr lang="ko-KR" altLang="en-US" dirty="0" err="1" smtClean="0"/>
                        <a:t>방어형</a:t>
                      </a:r>
                      <a:endParaRPr lang="ko-KR" altLang="en-US" dirty="0"/>
                    </a:p>
                  </a:txBody>
                  <a:tcPr anchor="ctr"/>
                </a:tc>
                <a:extLst>
                  <a:ext uri="{0D108BD9-81ED-4DB2-BD59-A6C34878D82A}">
                    <a16:rowId xmlns:a16="http://schemas.microsoft.com/office/drawing/2014/main" xmlns=""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바람</a:t>
                      </a:r>
                      <a:endParaRPr lang="ko-KR" altLang="en-US" dirty="0"/>
                    </a:p>
                  </a:txBody>
                  <a:tcPr anchor="ctr"/>
                </a:tc>
                <a:extLst>
                  <a:ext uri="{0D108BD9-81ED-4DB2-BD59-A6C34878D82A}">
                    <a16:rowId xmlns:a16="http://schemas.microsoft.com/office/drawing/2014/main" xmlns="" val="316803898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600</a:t>
                      </a:r>
                      <a:endParaRPr lang="ko-KR" altLang="en-US" dirty="0"/>
                    </a:p>
                  </a:txBody>
                  <a:tcPr anchor="ctr"/>
                </a:tc>
                <a:extLst>
                  <a:ext uri="{0D108BD9-81ED-4DB2-BD59-A6C34878D82A}">
                    <a16:rowId xmlns:a16="http://schemas.microsoft.com/office/drawing/2014/main" xmlns=""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xmlns=""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xmlns=""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xmlns=""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a16="http://schemas.microsoft.com/office/drawing/2014/main" xmlns="" val="380313429"/>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xmlns="" val="342142082"/>
                  </a:ext>
                </a:extLst>
              </a:tr>
              <a:tr h="254923">
                <a:tc>
                  <a:txBody>
                    <a:bodyPr/>
                    <a:lstStyle/>
                    <a:p>
                      <a:pPr algn="ctr"/>
                      <a:r>
                        <a:rPr lang="ko-KR" altLang="en-US" b="1" dirty="0" smtClean="0"/>
                        <a:t>능력</a:t>
                      </a:r>
                      <a:endParaRPr lang="ko-KR" altLang="en-US" b="1" dirty="0"/>
                    </a:p>
                  </a:txBody>
                  <a:tcPr anchor="ctr"/>
                </a:tc>
                <a:tc>
                  <a:txBody>
                    <a:bodyPr/>
                    <a:lstStyle/>
                    <a:p>
                      <a:r>
                        <a:rPr lang="ko-KR" altLang="en-US" baseline="0" dirty="0" smtClean="0"/>
                        <a:t>두꺼운 피부</a:t>
                      </a:r>
                      <a:r>
                        <a:rPr lang="en-US" altLang="ko-KR" baseline="0" dirty="0" smtClean="0"/>
                        <a:t>(</a:t>
                      </a:r>
                      <a:r>
                        <a:rPr lang="ko-KR" altLang="en-US" baseline="0" dirty="0" smtClean="0"/>
                        <a:t>받는 </a:t>
                      </a:r>
                      <a:r>
                        <a:rPr lang="ko-KR" altLang="en-US" baseline="0" dirty="0" err="1" smtClean="0"/>
                        <a:t>데미지를</a:t>
                      </a:r>
                      <a:r>
                        <a:rPr lang="ko-KR" altLang="en-US" baseline="0" dirty="0" smtClean="0"/>
                        <a:t> </a:t>
                      </a:r>
                      <a:r>
                        <a:rPr lang="en-US" altLang="ko-KR" baseline="0" dirty="0" smtClean="0"/>
                        <a:t>10% </a:t>
                      </a:r>
                      <a:r>
                        <a:rPr lang="ko-KR" altLang="en-US" baseline="0" dirty="0" smtClean="0"/>
                        <a:t>감소시킵니다</a:t>
                      </a:r>
                      <a:r>
                        <a:rPr lang="en-US" altLang="ko-KR" baseline="0" dirty="0" smtClean="0"/>
                        <a:t>)</a:t>
                      </a:r>
                      <a:endParaRPr lang="ko-KR" altLang="en-US" dirty="0"/>
                    </a:p>
                  </a:txBody>
                  <a:tcPr anchor="ctr"/>
                </a:tc>
                <a:extLst>
                  <a:ext uri="{0D108BD9-81ED-4DB2-BD59-A6C34878D82A}">
                    <a16:rowId xmlns:a16="http://schemas.microsoft.com/office/drawing/2014/main" xmlns=""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err="1" smtClean="0"/>
                        <a:t>휘둘러치기</a:t>
                      </a:r>
                      <a:r>
                        <a:rPr lang="en-US" altLang="ko-KR" dirty="0" smtClean="0"/>
                        <a:t>(</a:t>
                      </a:r>
                      <a:r>
                        <a:rPr lang="ko-KR" altLang="en-US" dirty="0" smtClean="0"/>
                        <a:t>뎀</a:t>
                      </a:r>
                      <a:r>
                        <a:rPr lang="en-US" altLang="ko-KR" baseline="0" dirty="0" smtClean="0"/>
                        <a:t>)</a:t>
                      </a:r>
                      <a:r>
                        <a:rPr lang="ko-KR" altLang="en-US" dirty="0" smtClean="0"/>
                        <a:t> </a:t>
                      </a:r>
                      <a:r>
                        <a:rPr lang="en-US" altLang="ko-KR" dirty="0" smtClean="0"/>
                        <a:t>/ </a:t>
                      </a:r>
                      <a:r>
                        <a:rPr lang="ko-KR" altLang="en-US" dirty="0" smtClean="0"/>
                        <a:t>웅크리기</a:t>
                      </a:r>
                      <a:r>
                        <a:rPr lang="en-US" altLang="ko-KR" dirty="0" smtClean="0"/>
                        <a:t>(</a:t>
                      </a:r>
                      <a:r>
                        <a:rPr lang="ko-KR" altLang="en-US" dirty="0" err="1" smtClean="0"/>
                        <a:t>체회복</a:t>
                      </a:r>
                      <a:r>
                        <a:rPr lang="en-US" altLang="ko-KR" dirty="0" smtClean="0"/>
                        <a:t>, </a:t>
                      </a:r>
                      <a:r>
                        <a:rPr lang="ko-KR" altLang="en-US" dirty="0" err="1" smtClean="0"/>
                        <a:t>방상승</a:t>
                      </a:r>
                      <a:r>
                        <a:rPr lang="en-US" altLang="ko-KR" dirty="0" smtClean="0"/>
                        <a:t>)</a:t>
                      </a:r>
                      <a:r>
                        <a:rPr lang="ko-KR" altLang="en-US" dirty="0" smtClean="0"/>
                        <a:t> </a:t>
                      </a:r>
                      <a:r>
                        <a:rPr lang="en-US" altLang="ko-KR" dirty="0" smtClean="0"/>
                        <a:t>/ -</a:t>
                      </a:r>
                      <a:endParaRPr lang="ko-KR" altLang="en-US" dirty="0"/>
                    </a:p>
                  </a:txBody>
                  <a:tcPr anchor="ctr"/>
                </a:tc>
                <a:extLst>
                  <a:ext uri="{0D108BD9-81ED-4DB2-BD59-A6C34878D82A}">
                    <a16:rowId xmlns:a16="http://schemas.microsoft.com/office/drawing/2014/main" xmlns=""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25</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78575834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762461420"/>
              </p:ext>
            </p:extLst>
          </p:nvPr>
        </p:nvGraphicFramePr>
        <p:xfrm>
          <a:off x="280219" y="2180969"/>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xmlns="" val="3653911966"/>
                    </a:ext>
                  </a:extLst>
                </a:gridCol>
                <a:gridCol w="10391005">
                  <a:extLst>
                    <a:ext uri="{9D8B030D-6E8A-4147-A177-3AD203B41FA5}">
                      <a16:colId xmlns:a16="http://schemas.microsoft.com/office/drawing/2014/main" xmlns=""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피냐타</a:t>
                      </a:r>
                      <a:endParaRPr lang="ko-KR" altLang="en-US" b="0" dirty="0"/>
                    </a:p>
                  </a:txBody>
                  <a:tcPr anchor="ctr"/>
                </a:tc>
                <a:extLst>
                  <a:ext uri="{0D108BD9-81ED-4DB2-BD59-A6C34878D82A}">
                    <a16:rowId xmlns:a16="http://schemas.microsoft.com/office/drawing/2014/main" xmlns=""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기능형</a:t>
                      </a:r>
                      <a:endParaRPr lang="ko-KR" altLang="en-US" dirty="0"/>
                    </a:p>
                  </a:txBody>
                  <a:tcPr anchor="ctr"/>
                </a:tc>
                <a:extLst>
                  <a:ext uri="{0D108BD9-81ED-4DB2-BD59-A6C34878D82A}">
                    <a16:rowId xmlns:a16="http://schemas.microsoft.com/office/drawing/2014/main" xmlns=""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바람</a:t>
                      </a:r>
                      <a:endParaRPr lang="ko-KR" altLang="en-US" dirty="0"/>
                    </a:p>
                  </a:txBody>
                  <a:tcPr anchor="ctr"/>
                </a:tc>
                <a:extLst>
                  <a:ext uri="{0D108BD9-81ED-4DB2-BD59-A6C34878D82A}">
                    <a16:rowId xmlns:a16="http://schemas.microsoft.com/office/drawing/2014/main" xmlns="" val="316803898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400</a:t>
                      </a:r>
                      <a:endParaRPr lang="ko-KR" altLang="en-US" dirty="0"/>
                    </a:p>
                  </a:txBody>
                  <a:tcPr anchor="ctr"/>
                </a:tc>
                <a:extLst>
                  <a:ext uri="{0D108BD9-81ED-4DB2-BD59-A6C34878D82A}">
                    <a16:rowId xmlns:a16="http://schemas.microsoft.com/office/drawing/2014/main" xmlns=""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0</a:t>
                      </a:r>
                      <a:endParaRPr lang="ko-KR" altLang="en-US" dirty="0"/>
                    </a:p>
                  </a:txBody>
                  <a:tcPr anchor="ctr"/>
                </a:tc>
                <a:extLst>
                  <a:ext uri="{0D108BD9-81ED-4DB2-BD59-A6C34878D82A}">
                    <a16:rowId xmlns:a16="http://schemas.microsoft.com/office/drawing/2014/main" xmlns=""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xmlns=""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0</a:t>
                      </a:r>
                      <a:endParaRPr lang="ko-KR" altLang="en-US" dirty="0"/>
                    </a:p>
                  </a:txBody>
                  <a:tcPr anchor="ctr"/>
                </a:tc>
                <a:extLst>
                  <a:ext uri="{0D108BD9-81ED-4DB2-BD59-A6C34878D82A}">
                    <a16:rowId xmlns:a16="http://schemas.microsoft.com/office/drawing/2014/main" xmlns=""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a16="http://schemas.microsoft.com/office/drawing/2014/main" xmlns="" val="380313429"/>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xmlns="" val="342142082"/>
                  </a:ext>
                </a:extLst>
              </a:tr>
              <a:tr h="254923">
                <a:tc>
                  <a:txBody>
                    <a:bodyPr/>
                    <a:lstStyle/>
                    <a:p>
                      <a:pPr algn="ctr"/>
                      <a:r>
                        <a:rPr lang="ko-KR" altLang="en-US" b="1" dirty="0" smtClean="0"/>
                        <a:t>능력</a:t>
                      </a:r>
                      <a:endParaRPr lang="ko-KR" altLang="en-US" b="1" dirty="0"/>
                    </a:p>
                  </a:txBody>
                  <a:tcPr anchor="ctr"/>
                </a:tc>
                <a:tc>
                  <a:txBody>
                    <a:bodyPr/>
                    <a:lstStyle/>
                    <a:p>
                      <a:r>
                        <a:rPr lang="ko-KR" altLang="en-US" baseline="0" dirty="0" smtClean="0"/>
                        <a:t>선물꾸러미 </a:t>
                      </a:r>
                      <a:r>
                        <a:rPr lang="en-US" altLang="ko-KR" baseline="0" dirty="0" smtClean="0"/>
                        <a:t>(</a:t>
                      </a:r>
                      <a:r>
                        <a:rPr lang="ko-KR" altLang="en-US" baseline="0" dirty="0" smtClean="0"/>
                        <a:t>자신이 사망했을 때</a:t>
                      </a:r>
                      <a:r>
                        <a:rPr lang="en-US" altLang="ko-KR" baseline="0" dirty="0" smtClean="0"/>
                        <a:t>, </a:t>
                      </a:r>
                      <a:r>
                        <a:rPr lang="ko-KR" altLang="en-US" baseline="0" dirty="0" smtClean="0"/>
                        <a:t>아군 전체 체력 회복 </a:t>
                      </a:r>
                      <a:r>
                        <a:rPr lang="en-US" altLang="ko-KR" baseline="0" dirty="0" smtClean="0"/>
                        <a:t>+ </a:t>
                      </a:r>
                      <a:r>
                        <a:rPr lang="ko-KR" altLang="en-US" baseline="0" dirty="0" smtClean="0"/>
                        <a:t>방</a:t>
                      </a:r>
                      <a:r>
                        <a:rPr lang="en-US" altLang="ko-KR" baseline="0" dirty="0" smtClean="0"/>
                        <a:t>, </a:t>
                      </a:r>
                      <a:r>
                        <a:rPr lang="ko-KR" altLang="en-US" baseline="0" dirty="0" smtClean="0"/>
                        <a:t>공 상승</a:t>
                      </a:r>
                      <a:r>
                        <a:rPr lang="en-US" altLang="ko-KR" baseline="0" dirty="0" smtClean="0"/>
                        <a:t>)</a:t>
                      </a:r>
                      <a:endParaRPr lang="ko-KR" altLang="en-US" dirty="0"/>
                    </a:p>
                  </a:txBody>
                  <a:tcPr anchor="ctr"/>
                </a:tc>
                <a:extLst>
                  <a:ext uri="{0D108BD9-81ED-4DB2-BD59-A6C34878D82A}">
                    <a16:rowId xmlns:a16="http://schemas.microsoft.com/office/drawing/2014/main" xmlns="" val="1231768350"/>
                  </a:ext>
                </a:extLst>
              </a:tr>
              <a:tr h="254923">
                <a:tc>
                  <a:txBody>
                    <a:bodyPr/>
                    <a:lstStyle/>
                    <a:p>
                      <a:pPr algn="ctr"/>
                      <a:r>
                        <a:rPr lang="ko-KR" altLang="en-US" b="1" dirty="0" smtClean="0"/>
                        <a:t>스킬</a:t>
                      </a:r>
                      <a:endParaRPr lang="ko-KR" altLang="en-US" b="1" dirty="0"/>
                    </a:p>
                  </a:txBody>
                  <a:tcPr anchor="ctr"/>
                </a:tc>
                <a:tc>
                  <a:txBody>
                    <a:bodyPr/>
                    <a:lstStyle/>
                    <a:p>
                      <a:r>
                        <a:rPr lang="en-US" altLang="ko-KR" dirty="0" smtClean="0"/>
                        <a:t>-</a:t>
                      </a:r>
                      <a:r>
                        <a:rPr lang="ko-KR" altLang="en-US" dirty="0" smtClean="0"/>
                        <a:t> </a:t>
                      </a:r>
                      <a:r>
                        <a:rPr lang="en-US" altLang="ko-KR" dirty="0" smtClean="0"/>
                        <a:t>/ -</a:t>
                      </a:r>
                      <a:r>
                        <a:rPr lang="ko-KR" altLang="en-US" dirty="0" smtClean="0"/>
                        <a:t> </a:t>
                      </a:r>
                      <a:r>
                        <a:rPr lang="en-US" altLang="ko-KR" dirty="0" smtClean="0"/>
                        <a:t>/ -</a:t>
                      </a:r>
                      <a:endParaRPr lang="ko-KR" altLang="en-US" dirty="0"/>
                    </a:p>
                  </a:txBody>
                  <a:tcPr anchor="ctr"/>
                </a:tc>
                <a:extLst>
                  <a:ext uri="{0D108BD9-81ED-4DB2-BD59-A6C34878D82A}">
                    <a16:rowId xmlns:a16="http://schemas.microsoft.com/office/drawing/2014/main" xmlns=""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26</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99947237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아이템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27</a:t>
            </a:fld>
            <a:endParaRPr lang="ko-KR" altLang="en-US" sz="1800" dirty="0"/>
          </a:p>
        </p:txBody>
      </p:sp>
      <p:sp>
        <p:nvSpPr>
          <p:cNvPr id="8" name="TextBox 7"/>
          <p:cNvSpPr txBox="1"/>
          <p:nvPr/>
        </p:nvSpPr>
        <p:spPr>
          <a:xfrm>
            <a:off x="766917" y="1348401"/>
            <a:ext cx="10058399" cy="3000821"/>
          </a:xfrm>
          <a:prstGeom prst="rect">
            <a:avLst/>
          </a:prstGeom>
          <a:noFill/>
        </p:spPr>
        <p:txBody>
          <a:bodyPr wrap="square" rtlCol="0">
            <a:spAutoFit/>
          </a:bodyPr>
          <a:lstStyle/>
          <a:p>
            <a:pPr>
              <a:lnSpc>
                <a:spcPct val="150000"/>
              </a:lnSpc>
            </a:pPr>
            <a:r>
              <a:rPr lang="en-US" altLang="ko-KR" dirty="0"/>
              <a:t>• </a:t>
            </a:r>
            <a:r>
              <a:rPr lang="ko-KR" altLang="en-US" dirty="0" smtClean="0">
                <a:latin typeface="+mn-ea"/>
              </a:rPr>
              <a:t>용사는 던전을 탐험하면서 다양한 아이템을 얻습니다</a:t>
            </a:r>
            <a:r>
              <a:rPr lang="en-US" altLang="ko-KR" dirty="0" smtClean="0">
                <a:latin typeface="+mn-ea"/>
              </a:rPr>
              <a:t>.</a:t>
            </a:r>
          </a:p>
          <a:p>
            <a:pPr>
              <a:lnSpc>
                <a:spcPct val="150000"/>
              </a:lnSpc>
            </a:pPr>
            <a:endParaRPr lang="en-US" altLang="ko-KR" dirty="0" smtClean="0">
              <a:latin typeface="+mn-ea"/>
            </a:endParaRPr>
          </a:p>
          <a:p>
            <a:pPr>
              <a:lnSpc>
                <a:spcPct val="150000"/>
              </a:lnSpc>
            </a:pPr>
            <a:r>
              <a:rPr lang="en-US" altLang="ko-KR" dirty="0"/>
              <a:t>• </a:t>
            </a:r>
            <a:r>
              <a:rPr lang="ko-KR" altLang="en-US" dirty="0" smtClean="0"/>
              <a:t>아이템은 용사 혹은 몬스터가 장비하거나 사용하여</a:t>
            </a:r>
            <a:r>
              <a:rPr lang="en-US" altLang="ko-KR" dirty="0" smtClean="0"/>
              <a:t>,</a:t>
            </a:r>
          </a:p>
          <a:p>
            <a:pPr>
              <a:lnSpc>
                <a:spcPct val="150000"/>
              </a:lnSpc>
            </a:pPr>
            <a:r>
              <a:rPr lang="ko-KR" altLang="en-US" dirty="0" smtClean="0"/>
              <a:t>  던전을 정복하는 데에 도움을 줍니다</a:t>
            </a:r>
            <a:r>
              <a:rPr lang="en-US" altLang="ko-KR" dirty="0" smtClean="0">
                <a:latin typeface="+mn-ea"/>
              </a:rPr>
              <a:t>.</a:t>
            </a:r>
          </a:p>
          <a:p>
            <a:pPr>
              <a:lnSpc>
                <a:spcPct val="150000"/>
              </a:lnSpc>
            </a:pPr>
            <a:endParaRPr lang="en-US" altLang="ko-KR" dirty="0" smtClean="0">
              <a:latin typeface="+mn-ea"/>
            </a:endParaRPr>
          </a:p>
          <a:p>
            <a:pPr>
              <a:lnSpc>
                <a:spcPct val="150000"/>
              </a:lnSpc>
            </a:pPr>
            <a:r>
              <a:rPr lang="en-US" altLang="ko-KR" dirty="0"/>
              <a:t>• </a:t>
            </a:r>
            <a:r>
              <a:rPr lang="ko-KR" altLang="en-US" dirty="0" smtClean="0"/>
              <a:t>던전 속 지하 상점에서 구입</a:t>
            </a:r>
            <a:r>
              <a:rPr lang="en-US" altLang="ko-KR" dirty="0" smtClean="0"/>
              <a:t>, </a:t>
            </a:r>
            <a:r>
              <a:rPr lang="ko-KR" altLang="en-US" dirty="0" smtClean="0"/>
              <a:t>몬스터의 </a:t>
            </a:r>
            <a:r>
              <a:rPr lang="ko-KR" altLang="en-US" dirty="0" err="1" smtClean="0"/>
              <a:t>드랍</a:t>
            </a:r>
            <a:r>
              <a:rPr lang="ko-KR" altLang="en-US" dirty="0" smtClean="0"/>
              <a:t> 등으로 </a:t>
            </a:r>
            <a:endParaRPr lang="en-US" altLang="ko-KR" dirty="0" smtClean="0"/>
          </a:p>
          <a:p>
            <a:pPr>
              <a:lnSpc>
                <a:spcPct val="150000"/>
              </a:lnSpc>
            </a:pPr>
            <a:r>
              <a:rPr lang="en-US" altLang="ko-KR" dirty="0"/>
              <a:t> </a:t>
            </a:r>
            <a:r>
              <a:rPr lang="en-US" altLang="ko-KR" dirty="0" smtClean="0"/>
              <a:t> </a:t>
            </a:r>
            <a:r>
              <a:rPr lang="ko-KR" altLang="en-US" dirty="0" smtClean="0"/>
              <a:t>획득할 수 있으며</a:t>
            </a:r>
            <a:r>
              <a:rPr lang="en-US" altLang="ko-KR" dirty="0" smtClean="0"/>
              <a:t>,</a:t>
            </a:r>
            <a:r>
              <a:rPr lang="en-US" altLang="ko-KR" dirty="0" smtClean="0">
                <a:latin typeface="+mn-ea"/>
              </a:rPr>
              <a:t> </a:t>
            </a:r>
            <a:r>
              <a:rPr lang="ko-KR" altLang="en-US" dirty="0" smtClean="0">
                <a:latin typeface="+mn-ea"/>
              </a:rPr>
              <a:t>소유자가 사망 시 모두 잃습니다</a:t>
            </a:r>
            <a:r>
              <a:rPr lang="en-US" altLang="ko-KR" dirty="0" smtClean="0">
                <a:latin typeface="+mn-ea"/>
              </a:rPr>
              <a:t>.</a:t>
            </a:r>
          </a:p>
        </p:txBody>
      </p:sp>
      <p:sp>
        <p:nvSpPr>
          <p:cNvPr id="9" name="TextBox 8"/>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10268608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아이템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28</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432250167"/>
              </p:ext>
            </p:extLst>
          </p:nvPr>
        </p:nvGraphicFramePr>
        <p:xfrm>
          <a:off x="1076048" y="3538426"/>
          <a:ext cx="10029487" cy="2103120"/>
        </p:xfrm>
        <a:graphic>
          <a:graphicData uri="http://schemas.openxmlformats.org/drawingml/2006/table">
            <a:tbl>
              <a:tblPr firstRow="1" bandRow="1">
                <a:tableStyleId>{0505E3EF-67EA-436B-97B2-0124C06EBD24}</a:tableStyleId>
              </a:tblPr>
              <a:tblGrid>
                <a:gridCol w="1303804">
                  <a:extLst>
                    <a:ext uri="{9D8B030D-6E8A-4147-A177-3AD203B41FA5}">
                      <a16:colId xmlns:a16="http://schemas.microsoft.com/office/drawing/2014/main" xmlns="" val="3653911966"/>
                    </a:ext>
                  </a:extLst>
                </a:gridCol>
                <a:gridCol w="8725683">
                  <a:extLst>
                    <a:ext uri="{9D8B030D-6E8A-4147-A177-3AD203B41FA5}">
                      <a16:colId xmlns:a16="http://schemas.microsoft.com/office/drawing/2014/main" xmlns=""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할아버지의 낡은 시계</a:t>
                      </a:r>
                      <a:endParaRPr lang="ko-KR" altLang="en-US" b="0" dirty="0"/>
                    </a:p>
                  </a:txBody>
                  <a:tcPr anchor="ctr"/>
                </a:tc>
                <a:extLst>
                  <a:ext uri="{0D108BD9-81ED-4DB2-BD59-A6C34878D82A}">
                    <a16:rowId xmlns:a16="http://schemas.microsoft.com/office/drawing/2014/main" xmlns=""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장비형</a:t>
                      </a:r>
                      <a:r>
                        <a:rPr lang="ko-KR" altLang="en-US" dirty="0" smtClean="0"/>
                        <a:t> </a:t>
                      </a:r>
                      <a:r>
                        <a:rPr lang="en-US" altLang="ko-KR" dirty="0" smtClean="0"/>
                        <a:t>(</a:t>
                      </a:r>
                      <a:r>
                        <a:rPr lang="ko-KR" altLang="en-US" dirty="0" err="1" smtClean="0"/>
                        <a:t>악세서리</a:t>
                      </a:r>
                      <a:r>
                        <a:rPr lang="en-US" altLang="ko-KR" dirty="0" smtClean="0"/>
                        <a:t>)</a:t>
                      </a:r>
                      <a:endParaRPr lang="ko-KR" altLang="en-US" dirty="0"/>
                    </a:p>
                  </a:txBody>
                  <a:tcPr anchor="ctr"/>
                </a:tc>
                <a:extLst>
                  <a:ext uri="{0D108BD9-81ED-4DB2-BD59-A6C34878D82A}">
                    <a16:rowId xmlns:a16="http://schemas.microsoft.com/office/drawing/2014/main" xmlns="" val="213712551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방어력</a:t>
                      </a:r>
                      <a:r>
                        <a:rPr lang="en-US" altLang="ko-KR" dirty="0" smtClean="0"/>
                        <a:t>+5</a:t>
                      </a:r>
                      <a:endParaRPr lang="ko-KR" altLang="en-US" dirty="0"/>
                    </a:p>
                  </a:txBody>
                  <a:tcPr anchor="ctr"/>
                </a:tc>
                <a:extLst>
                  <a:ext uri="{0D108BD9-81ED-4DB2-BD59-A6C34878D82A}">
                    <a16:rowId xmlns:a16="http://schemas.microsoft.com/office/drawing/2014/main" xmlns="" val="776402937"/>
                  </a:ext>
                </a:extLst>
              </a:tr>
              <a:tr h="254923">
                <a:tc>
                  <a:txBody>
                    <a:bodyPr/>
                    <a:lstStyle/>
                    <a:p>
                      <a:pPr algn="ctr"/>
                      <a:r>
                        <a:rPr lang="ko-KR" altLang="en-US" b="1" dirty="0" smtClean="0"/>
                        <a:t>특수</a:t>
                      </a:r>
                      <a:endParaRPr lang="ko-KR" altLang="en-US" b="1" dirty="0"/>
                    </a:p>
                  </a:txBody>
                  <a:tcPr anchor="ctr"/>
                </a:tc>
                <a:tc>
                  <a:txBody>
                    <a:bodyPr/>
                    <a:lstStyle/>
                    <a:p>
                      <a:r>
                        <a:rPr lang="ko-KR" altLang="en-US" dirty="0" smtClean="0"/>
                        <a:t>전투에서 </a:t>
                      </a:r>
                      <a:r>
                        <a:rPr lang="en-US" altLang="ko-KR" dirty="0" smtClean="0"/>
                        <a:t>1</a:t>
                      </a:r>
                      <a:r>
                        <a:rPr lang="ko-KR" altLang="en-US" dirty="0" smtClean="0"/>
                        <a:t>번</a:t>
                      </a:r>
                      <a:r>
                        <a:rPr lang="en-US" altLang="ko-KR" dirty="0" smtClean="0"/>
                        <a:t>, </a:t>
                      </a:r>
                      <a:r>
                        <a:rPr lang="ko-KR" altLang="en-US" dirty="0" smtClean="0"/>
                        <a:t>몬스터 </a:t>
                      </a:r>
                      <a:r>
                        <a:rPr lang="en-US" altLang="ko-KR" dirty="0" smtClean="0"/>
                        <a:t>1</a:t>
                      </a:r>
                      <a:r>
                        <a:rPr lang="ko-KR" altLang="en-US" dirty="0" smtClean="0"/>
                        <a:t>체를 </a:t>
                      </a:r>
                      <a:r>
                        <a:rPr lang="en-US" altLang="ko-KR" dirty="0" smtClean="0"/>
                        <a:t>1</a:t>
                      </a:r>
                      <a:r>
                        <a:rPr lang="ko-KR" altLang="en-US" dirty="0" smtClean="0"/>
                        <a:t>턴 </a:t>
                      </a:r>
                      <a:r>
                        <a:rPr lang="ko-KR" altLang="en-US" baseline="0" dirty="0" smtClean="0"/>
                        <a:t>동안 상태이상 면역</a:t>
                      </a:r>
                      <a:r>
                        <a:rPr lang="en-US" altLang="ko-KR" baseline="0" dirty="0" smtClean="0"/>
                        <a:t>, </a:t>
                      </a:r>
                      <a:r>
                        <a:rPr lang="ko-KR" altLang="en-US" baseline="0" dirty="0" smtClean="0"/>
                        <a:t>무적이지만 행동 불가 상태로 만듭니다</a:t>
                      </a:r>
                      <a:r>
                        <a:rPr lang="en-US" altLang="ko-KR" baseline="0" dirty="0" smtClean="0"/>
                        <a:t>.</a:t>
                      </a:r>
                      <a:endParaRPr lang="ko-KR" altLang="en-US" dirty="0"/>
                    </a:p>
                  </a:txBody>
                  <a:tcPr anchor="ctr"/>
                </a:tc>
                <a:extLst>
                  <a:ext uri="{0D108BD9-81ED-4DB2-BD59-A6C34878D82A}">
                    <a16:rowId xmlns:a16="http://schemas.microsoft.com/office/drawing/2014/main" xmlns=""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몬스터 </a:t>
                      </a:r>
                      <a:r>
                        <a:rPr lang="ko-KR" altLang="en-US" dirty="0" err="1" smtClean="0"/>
                        <a:t>드랍</a:t>
                      </a:r>
                      <a:endParaRPr lang="ko-KR" altLang="en-US" dirty="0"/>
                    </a:p>
                  </a:txBody>
                  <a:tcPr anchor="ctr"/>
                </a:tc>
                <a:extLst>
                  <a:ext uri="{0D108BD9-81ED-4DB2-BD59-A6C34878D82A}">
                    <a16:rowId xmlns:a16="http://schemas.microsoft.com/office/drawing/2014/main" xmlns="" val="602088556"/>
                  </a:ext>
                </a:extLst>
              </a:tr>
            </a:tbl>
          </a:graphicData>
        </a:graphic>
      </p:graphicFrame>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19645578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아이템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29</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676330391"/>
              </p:ext>
            </p:extLst>
          </p:nvPr>
        </p:nvGraphicFramePr>
        <p:xfrm>
          <a:off x="1076048" y="3538426"/>
          <a:ext cx="10029487" cy="1828800"/>
        </p:xfrm>
        <a:graphic>
          <a:graphicData uri="http://schemas.openxmlformats.org/drawingml/2006/table">
            <a:tbl>
              <a:tblPr firstRow="1" bandRow="1">
                <a:tableStyleId>{0505E3EF-67EA-436B-97B2-0124C06EBD24}</a:tableStyleId>
              </a:tblPr>
              <a:tblGrid>
                <a:gridCol w="1303804">
                  <a:extLst>
                    <a:ext uri="{9D8B030D-6E8A-4147-A177-3AD203B41FA5}">
                      <a16:colId xmlns:a16="http://schemas.microsoft.com/office/drawing/2014/main" xmlns="" val="3653911966"/>
                    </a:ext>
                  </a:extLst>
                </a:gridCol>
                <a:gridCol w="8725683">
                  <a:extLst>
                    <a:ext uri="{9D8B030D-6E8A-4147-A177-3AD203B41FA5}">
                      <a16:colId xmlns:a16="http://schemas.microsoft.com/office/drawing/2014/main" xmlns=""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핏빛 대검</a:t>
                      </a:r>
                      <a:endParaRPr lang="ko-KR" altLang="en-US" b="0" dirty="0"/>
                    </a:p>
                  </a:txBody>
                  <a:tcPr anchor="ctr"/>
                </a:tc>
                <a:extLst>
                  <a:ext uri="{0D108BD9-81ED-4DB2-BD59-A6C34878D82A}">
                    <a16:rowId xmlns:a16="http://schemas.microsoft.com/office/drawing/2014/main" xmlns=""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장비형</a:t>
                      </a:r>
                      <a:r>
                        <a:rPr lang="ko-KR" altLang="en-US" dirty="0" smtClean="0"/>
                        <a:t> </a:t>
                      </a:r>
                      <a:r>
                        <a:rPr lang="en-US" altLang="ko-KR" dirty="0" smtClean="0"/>
                        <a:t>(</a:t>
                      </a:r>
                      <a:r>
                        <a:rPr lang="ko-KR" altLang="en-US" dirty="0" smtClean="0"/>
                        <a:t>무기</a:t>
                      </a:r>
                      <a:r>
                        <a:rPr lang="en-US" altLang="ko-KR" dirty="0" smtClean="0"/>
                        <a:t>)</a:t>
                      </a:r>
                      <a:endParaRPr lang="ko-KR" altLang="en-US" dirty="0"/>
                    </a:p>
                  </a:txBody>
                  <a:tcPr anchor="ctr"/>
                </a:tc>
                <a:extLst>
                  <a:ext uri="{0D108BD9-81ED-4DB2-BD59-A6C34878D82A}">
                    <a16:rowId xmlns:a16="http://schemas.microsoft.com/office/drawing/2014/main" xmlns="" val="213712551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공격력</a:t>
                      </a:r>
                      <a:r>
                        <a:rPr lang="en-US" altLang="ko-KR" dirty="0" smtClean="0"/>
                        <a:t>+20,</a:t>
                      </a:r>
                      <a:r>
                        <a:rPr lang="en-US" altLang="ko-KR" baseline="0" dirty="0" smtClean="0"/>
                        <a:t> </a:t>
                      </a:r>
                      <a:r>
                        <a:rPr lang="ko-KR" altLang="en-US" baseline="0" dirty="0" smtClean="0"/>
                        <a:t>회피</a:t>
                      </a:r>
                      <a:r>
                        <a:rPr lang="en-US" altLang="ko-KR" baseline="0" dirty="0" smtClean="0"/>
                        <a:t>-5</a:t>
                      </a:r>
                      <a:endParaRPr lang="ko-KR" altLang="en-US" dirty="0"/>
                    </a:p>
                  </a:txBody>
                  <a:tcPr anchor="ctr"/>
                </a:tc>
                <a:extLst>
                  <a:ext uri="{0D108BD9-81ED-4DB2-BD59-A6C34878D82A}">
                    <a16:rowId xmlns:a16="http://schemas.microsoft.com/office/drawing/2014/main" xmlns="" val="776402937"/>
                  </a:ext>
                </a:extLst>
              </a:tr>
              <a:tr h="254923">
                <a:tc>
                  <a:txBody>
                    <a:bodyPr/>
                    <a:lstStyle/>
                    <a:p>
                      <a:pPr algn="ctr"/>
                      <a:r>
                        <a:rPr lang="ko-KR" altLang="en-US" b="1" dirty="0" smtClean="0"/>
                        <a:t>특수</a:t>
                      </a:r>
                      <a:endParaRPr lang="ko-KR" altLang="en-US" b="1" dirty="0"/>
                    </a:p>
                  </a:txBody>
                  <a:tcPr anchor="ctr"/>
                </a:tc>
                <a:tc>
                  <a:txBody>
                    <a:bodyPr/>
                    <a:lstStyle/>
                    <a:p>
                      <a:r>
                        <a:rPr lang="ko-KR" altLang="en-US" dirty="0" smtClean="0"/>
                        <a:t>공격 시 일정 확률로 상대방을 상태이상 </a:t>
                      </a:r>
                      <a:r>
                        <a:rPr lang="en-US" altLang="ko-KR" dirty="0" smtClean="0"/>
                        <a:t>: </a:t>
                      </a:r>
                      <a:r>
                        <a:rPr lang="ko-KR" altLang="en-US" dirty="0" smtClean="0"/>
                        <a:t>출혈 상태로 만듭니다</a:t>
                      </a:r>
                      <a:r>
                        <a:rPr lang="en-US" altLang="ko-KR" dirty="0" smtClean="0"/>
                        <a:t>.</a:t>
                      </a:r>
                      <a:endParaRPr lang="ko-KR" altLang="en-US" dirty="0"/>
                    </a:p>
                  </a:txBody>
                  <a:tcPr anchor="ctr"/>
                </a:tc>
                <a:extLst>
                  <a:ext uri="{0D108BD9-81ED-4DB2-BD59-A6C34878D82A}">
                    <a16:rowId xmlns:a16="http://schemas.microsoft.com/office/drawing/2014/main" xmlns=""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지하 상점에서 구입</a:t>
                      </a:r>
                      <a:endParaRPr lang="ko-KR" altLang="en-US" dirty="0"/>
                    </a:p>
                  </a:txBody>
                  <a:tcPr anchor="ctr"/>
                </a:tc>
                <a:extLst>
                  <a:ext uri="{0D108BD9-81ED-4DB2-BD59-A6C34878D82A}">
                    <a16:rowId xmlns:a16="http://schemas.microsoft.com/office/drawing/2014/main" xmlns="" val="602088556"/>
                  </a:ext>
                </a:extLst>
              </a:tr>
            </a:tbl>
          </a:graphicData>
        </a:graphic>
      </p:graphicFrame>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07799912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아이템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30</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04438752"/>
              </p:ext>
            </p:extLst>
          </p:nvPr>
        </p:nvGraphicFramePr>
        <p:xfrm>
          <a:off x="1076048" y="3538426"/>
          <a:ext cx="10029487" cy="1828800"/>
        </p:xfrm>
        <a:graphic>
          <a:graphicData uri="http://schemas.openxmlformats.org/drawingml/2006/table">
            <a:tbl>
              <a:tblPr firstRow="1" bandRow="1">
                <a:tableStyleId>{0505E3EF-67EA-436B-97B2-0124C06EBD24}</a:tableStyleId>
              </a:tblPr>
              <a:tblGrid>
                <a:gridCol w="1303804">
                  <a:extLst>
                    <a:ext uri="{9D8B030D-6E8A-4147-A177-3AD203B41FA5}">
                      <a16:colId xmlns:a16="http://schemas.microsoft.com/office/drawing/2014/main" xmlns="" val="3653911966"/>
                    </a:ext>
                  </a:extLst>
                </a:gridCol>
                <a:gridCol w="8725683">
                  <a:extLst>
                    <a:ext uri="{9D8B030D-6E8A-4147-A177-3AD203B41FA5}">
                      <a16:colId xmlns:a16="http://schemas.microsoft.com/office/drawing/2014/main" xmlns=""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가시갑옷</a:t>
                      </a:r>
                      <a:endParaRPr lang="ko-KR" altLang="en-US" b="0" dirty="0"/>
                    </a:p>
                  </a:txBody>
                  <a:tcPr anchor="ctr"/>
                </a:tc>
                <a:extLst>
                  <a:ext uri="{0D108BD9-81ED-4DB2-BD59-A6C34878D82A}">
                    <a16:rowId xmlns:a16="http://schemas.microsoft.com/office/drawing/2014/main" xmlns=""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장비형</a:t>
                      </a:r>
                      <a:r>
                        <a:rPr lang="ko-KR" altLang="en-US" dirty="0" smtClean="0"/>
                        <a:t> </a:t>
                      </a:r>
                      <a:r>
                        <a:rPr lang="en-US" altLang="ko-KR" dirty="0" smtClean="0"/>
                        <a:t>(</a:t>
                      </a:r>
                      <a:r>
                        <a:rPr lang="ko-KR" altLang="en-US" dirty="0" err="1" smtClean="0"/>
                        <a:t>방어구</a:t>
                      </a:r>
                      <a:r>
                        <a:rPr lang="en-US" altLang="ko-KR" dirty="0" smtClean="0"/>
                        <a:t>)</a:t>
                      </a:r>
                      <a:endParaRPr lang="ko-KR" altLang="en-US" dirty="0"/>
                    </a:p>
                  </a:txBody>
                  <a:tcPr anchor="ctr"/>
                </a:tc>
                <a:extLst>
                  <a:ext uri="{0D108BD9-81ED-4DB2-BD59-A6C34878D82A}">
                    <a16:rowId xmlns:a16="http://schemas.microsoft.com/office/drawing/2014/main" xmlns="" val="2137125516"/>
                  </a:ext>
                </a:extLst>
              </a:tr>
              <a:tr h="254923">
                <a:tc>
                  <a:txBody>
                    <a:bodyPr/>
                    <a:lstStyle/>
                    <a:p>
                      <a:pPr algn="ctr"/>
                      <a:r>
                        <a:rPr lang="ko-KR" altLang="en-US" b="1" dirty="0" smtClean="0"/>
                        <a:t>능력</a:t>
                      </a:r>
                      <a:endParaRPr lang="ko-KR" altLang="en-US" b="1" dirty="0"/>
                    </a:p>
                  </a:txBody>
                  <a:tcPr anchor="ctr"/>
                </a:tc>
                <a:tc>
                  <a:txBody>
                    <a:bodyPr/>
                    <a:lstStyle/>
                    <a:p>
                      <a:r>
                        <a:rPr lang="ko-KR" altLang="en-US" baseline="0" dirty="0" smtClean="0"/>
                        <a:t>방어력 </a:t>
                      </a:r>
                      <a:r>
                        <a:rPr lang="en-US" altLang="ko-KR" baseline="0" dirty="0" smtClean="0"/>
                        <a:t>+ 10</a:t>
                      </a:r>
                      <a:endParaRPr lang="ko-KR" altLang="en-US" dirty="0"/>
                    </a:p>
                  </a:txBody>
                  <a:tcPr anchor="ctr"/>
                </a:tc>
                <a:extLst>
                  <a:ext uri="{0D108BD9-81ED-4DB2-BD59-A6C34878D82A}">
                    <a16:rowId xmlns:a16="http://schemas.microsoft.com/office/drawing/2014/main" xmlns="" val="776402937"/>
                  </a:ext>
                </a:extLst>
              </a:tr>
              <a:tr h="254923">
                <a:tc>
                  <a:txBody>
                    <a:bodyPr/>
                    <a:lstStyle/>
                    <a:p>
                      <a:pPr algn="ctr"/>
                      <a:r>
                        <a:rPr lang="ko-KR" altLang="en-US" b="1" dirty="0" smtClean="0"/>
                        <a:t>특수</a:t>
                      </a:r>
                      <a:endParaRPr lang="ko-KR" altLang="en-US" b="1" dirty="0"/>
                    </a:p>
                  </a:txBody>
                  <a:tcPr anchor="ctr"/>
                </a:tc>
                <a:tc>
                  <a:txBody>
                    <a:bodyPr/>
                    <a:lstStyle/>
                    <a:p>
                      <a:r>
                        <a:rPr lang="ko-KR" altLang="en-US" dirty="0" smtClean="0"/>
                        <a:t>피격 시 공격자에게 </a:t>
                      </a:r>
                      <a:r>
                        <a:rPr lang="ko-KR" altLang="en-US" dirty="0" err="1" smtClean="0"/>
                        <a:t>데미지의</a:t>
                      </a:r>
                      <a:r>
                        <a:rPr lang="ko-KR" altLang="en-US" dirty="0" smtClean="0"/>
                        <a:t> </a:t>
                      </a:r>
                      <a:r>
                        <a:rPr lang="en-US" altLang="ko-KR" dirty="0" smtClean="0"/>
                        <a:t>30%</a:t>
                      </a:r>
                      <a:r>
                        <a:rPr lang="ko-KR" altLang="en-US" dirty="0" smtClean="0"/>
                        <a:t>를 돌려줍니다</a:t>
                      </a:r>
                      <a:r>
                        <a:rPr lang="en-US" altLang="ko-KR" dirty="0" smtClean="0"/>
                        <a:t>.</a:t>
                      </a:r>
                      <a:endParaRPr lang="ko-KR" altLang="en-US" dirty="0"/>
                    </a:p>
                  </a:txBody>
                  <a:tcPr anchor="ctr"/>
                </a:tc>
                <a:extLst>
                  <a:ext uri="{0D108BD9-81ED-4DB2-BD59-A6C34878D82A}">
                    <a16:rowId xmlns:a16="http://schemas.microsoft.com/office/drawing/2014/main" xmlns=""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지하 상점에서 구입</a:t>
                      </a:r>
                      <a:endParaRPr lang="ko-KR" altLang="en-US" dirty="0"/>
                    </a:p>
                  </a:txBody>
                  <a:tcPr anchor="ctr"/>
                </a:tc>
                <a:extLst>
                  <a:ext uri="{0D108BD9-81ED-4DB2-BD59-A6C34878D82A}">
                    <a16:rowId xmlns:a16="http://schemas.microsoft.com/office/drawing/2014/main" xmlns="" val="602088556"/>
                  </a:ext>
                </a:extLst>
              </a:tr>
            </a:tbl>
          </a:graphicData>
        </a:graphic>
      </p:graphicFrame>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420183990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아이템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31</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079796133"/>
              </p:ext>
            </p:extLst>
          </p:nvPr>
        </p:nvGraphicFramePr>
        <p:xfrm>
          <a:off x="1076048" y="3538426"/>
          <a:ext cx="10029487" cy="1828800"/>
        </p:xfrm>
        <a:graphic>
          <a:graphicData uri="http://schemas.openxmlformats.org/drawingml/2006/table">
            <a:tbl>
              <a:tblPr firstRow="1" bandRow="1">
                <a:tableStyleId>{0505E3EF-67EA-436B-97B2-0124C06EBD24}</a:tableStyleId>
              </a:tblPr>
              <a:tblGrid>
                <a:gridCol w="1303804">
                  <a:extLst>
                    <a:ext uri="{9D8B030D-6E8A-4147-A177-3AD203B41FA5}">
                      <a16:colId xmlns:a16="http://schemas.microsoft.com/office/drawing/2014/main" xmlns="" val="3653911966"/>
                    </a:ext>
                  </a:extLst>
                </a:gridCol>
                <a:gridCol w="8725683">
                  <a:extLst>
                    <a:ext uri="{9D8B030D-6E8A-4147-A177-3AD203B41FA5}">
                      <a16:colId xmlns:a16="http://schemas.microsoft.com/office/drawing/2014/main" xmlns=""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en-US" altLang="ko-KR" b="0" dirty="0" smtClean="0"/>
                        <a:t>V</a:t>
                      </a:r>
                      <a:r>
                        <a:rPr lang="ko-KR" altLang="en-US" b="0" dirty="0" smtClean="0"/>
                        <a:t>타 </a:t>
                      </a:r>
                      <a:r>
                        <a:rPr lang="en-US" altLang="ko-KR" b="0" dirty="0" smtClean="0"/>
                        <a:t>500</a:t>
                      </a:r>
                      <a:endParaRPr lang="ko-KR" altLang="en-US" b="0" dirty="0"/>
                    </a:p>
                  </a:txBody>
                  <a:tcPr anchor="ctr"/>
                </a:tc>
                <a:extLst>
                  <a:ext uri="{0D108BD9-81ED-4DB2-BD59-A6C34878D82A}">
                    <a16:rowId xmlns:a16="http://schemas.microsoft.com/office/drawing/2014/main" xmlns=""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소비형</a:t>
                      </a:r>
                      <a:endParaRPr lang="ko-KR" altLang="en-US" dirty="0"/>
                    </a:p>
                  </a:txBody>
                  <a:tcPr anchor="ctr"/>
                </a:tc>
                <a:extLst>
                  <a:ext uri="{0D108BD9-81ED-4DB2-BD59-A6C34878D82A}">
                    <a16:rowId xmlns:a16="http://schemas.microsoft.com/office/drawing/2014/main" xmlns="" val="2137125516"/>
                  </a:ext>
                </a:extLst>
              </a:tr>
              <a:tr h="254923">
                <a:tc>
                  <a:txBody>
                    <a:bodyPr/>
                    <a:lstStyle/>
                    <a:p>
                      <a:pPr algn="ctr"/>
                      <a:r>
                        <a:rPr lang="ko-KR" altLang="en-US" b="1" dirty="0" smtClean="0"/>
                        <a:t>능력</a:t>
                      </a:r>
                      <a:endParaRPr lang="ko-KR" altLang="en-US" b="1" dirty="0"/>
                    </a:p>
                  </a:txBody>
                  <a:tcPr anchor="ctr"/>
                </a:tc>
                <a:tc>
                  <a:txBody>
                    <a:bodyPr/>
                    <a:lstStyle/>
                    <a:p>
                      <a:r>
                        <a:rPr lang="en-US" altLang="ko-KR" dirty="0" smtClean="0"/>
                        <a:t>HP</a:t>
                      </a:r>
                      <a:r>
                        <a:rPr lang="ko-KR" altLang="en-US" dirty="0" smtClean="0"/>
                        <a:t> </a:t>
                      </a:r>
                      <a:r>
                        <a:rPr lang="en-US" altLang="ko-KR" dirty="0" smtClean="0"/>
                        <a:t>+ 50, SP + 50</a:t>
                      </a:r>
                      <a:endParaRPr lang="ko-KR" altLang="en-US" dirty="0"/>
                    </a:p>
                  </a:txBody>
                  <a:tcPr anchor="ctr"/>
                </a:tc>
                <a:extLst>
                  <a:ext uri="{0D108BD9-81ED-4DB2-BD59-A6C34878D82A}">
                    <a16:rowId xmlns:a16="http://schemas.microsoft.com/office/drawing/2014/main" xmlns="" val="776402937"/>
                  </a:ext>
                </a:extLst>
              </a:tr>
              <a:tr h="254923">
                <a:tc>
                  <a:txBody>
                    <a:bodyPr/>
                    <a:lstStyle/>
                    <a:p>
                      <a:pPr algn="ctr"/>
                      <a:r>
                        <a:rPr lang="ko-KR" altLang="en-US" b="1" dirty="0" smtClean="0"/>
                        <a:t>특수</a:t>
                      </a:r>
                      <a:endParaRPr lang="ko-KR" altLang="en-US" b="1" dirty="0"/>
                    </a:p>
                  </a:txBody>
                  <a:tcPr anchor="ctr"/>
                </a:tc>
                <a:tc>
                  <a:txBody>
                    <a:bodyPr/>
                    <a:lstStyle/>
                    <a:p>
                      <a:r>
                        <a:rPr lang="en-US" altLang="ko-KR" dirty="0" smtClean="0"/>
                        <a:t>-</a:t>
                      </a:r>
                      <a:endParaRPr lang="ko-KR" altLang="en-US" dirty="0"/>
                    </a:p>
                  </a:txBody>
                  <a:tcPr anchor="ctr"/>
                </a:tc>
                <a:extLst>
                  <a:ext uri="{0D108BD9-81ED-4DB2-BD59-A6C34878D82A}">
                    <a16:rowId xmlns:a16="http://schemas.microsoft.com/office/drawing/2014/main" xmlns=""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지하 상점에서 구입</a:t>
                      </a:r>
                      <a:endParaRPr lang="ko-KR" altLang="en-US" dirty="0"/>
                    </a:p>
                  </a:txBody>
                  <a:tcPr anchor="ctr"/>
                </a:tc>
                <a:extLst>
                  <a:ext uri="{0D108BD9-81ED-4DB2-BD59-A6C34878D82A}">
                    <a16:rowId xmlns:a16="http://schemas.microsoft.com/office/drawing/2014/main" xmlns="" val="602088556"/>
                  </a:ext>
                </a:extLst>
              </a:tr>
            </a:tbl>
          </a:graphicData>
        </a:graphic>
      </p:graphicFrame>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17924898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729390" y="765193"/>
            <a:ext cx="27332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요소</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3243357557"/>
              </p:ext>
            </p:extLst>
          </p:nvPr>
        </p:nvGraphicFramePr>
        <p:xfrm>
          <a:off x="1001485" y="1486485"/>
          <a:ext cx="10189028" cy="4793258"/>
        </p:xfrm>
        <a:graphic>
          <a:graphicData uri="http://schemas.openxmlformats.org/drawingml/2006/table">
            <a:tbl>
              <a:tblPr firstRow="1" bandRow="1">
                <a:tableStyleId>{073A0DAA-6AF3-43AB-8588-CEC1D06C72B9}</a:tableStyleId>
              </a:tblPr>
              <a:tblGrid>
                <a:gridCol w="1451429">
                  <a:extLst>
                    <a:ext uri="{9D8B030D-6E8A-4147-A177-3AD203B41FA5}">
                      <a16:colId xmlns:a16="http://schemas.microsoft.com/office/drawing/2014/main" xmlns="" val="3321536260"/>
                    </a:ext>
                  </a:extLst>
                </a:gridCol>
                <a:gridCol w="6285865">
                  <a:extLst>
                    <a:ext uri="{9D8B030D-6E8A-4147-A177-3AD203B41FA5}">
                      <a16:colId xmlns:a16="http://schemas.microsoft.com/office/drawing/2014/main" xmlns="" val="2362139744"/>
                    </a:ext>
                  </a:extLst>
                </a:gridCol>
                <a:gridCol w="2451734">
                  <a:extLst>
                    <a:ext uri="{9D8B030D-6E8A-4147-A177-3AD203B41FA5}">
                      <a16:colId xmlns:a16="http://schemas.microsoft.com/office/drawing/2014/main" xmlns="" val="431622231"/>
                    </a:ext>
                  </a:extLst>
                </a:gridCol>
              </a:tblGrid>
              <a:tr h="564759">
                <a:tc>
                  <a:txBody>
                    <a:bodyPr/>
                    <a:lstStyle/>
                    <a:p>
                      <a:pPr algn="ctr" latinLnBrk="1"/>
                      <a:r>
                        <a:rPr lang="ko-KR" altLang="en-US" dirty="0" smtClean="0"/>
                        <a:t>요소</a:t>
                      </a:r>
                      <a:endParaRPr lang="ko-KR" altLang="en-US" dirty="0"/>
                    </a:p>
                  </a:txBody>
                  <a:tcPr anchor="ctr"/>
                </a:tc>
                <a:tc>
                  <a:txBody>
                    <a:bodyPr/>
                    <a:lstStyle/>
                    <a:p>
                      <a:pPr algn="ctr" latinLnBrk="1"/>
                      <a:r>
                        <a:rPr lang="ko-KR" altLang="en-US" dirty="0" smtClean="0"/>
                        <a:t>설명</a:t>
                      </a:r>
                      <a:endParaRPr lang="ko-KR" altLang="en-US" dirty="0"/>
                    </a:p>
                  </a:txBody>
                  <a:tcPr anchor="ctr"/>
                </a:tc>
                <a:tc>
                  <a:txBody>
                    <a:bodyPr/>
                    <a:lstStyle/>
                    <a:p>
                      <a:pPr algn="ctr" latinLnBrk="1"/>
                      <a:r>
                        <a:rPr lang="ko-KR" altLang="en-US" dirty="0" smtClean="0"/>
                        <a:t>비고</a:t>
                      </a:r>
                      <a:endParaRPr lang="ko-KR" altLang="en-US" dirty="0"/>
                    </a:p>
                  </a:txBody>
                  <a:tcPr anchor="ctr"/>
                </a:tc>
                <a:extLst>
                  <a:ext uri="{0D108BD9-81ED-4DB2-BD59-A6C34878D82A}">
                    <a16:rowId xmlns:a16="http://schemas.microsoft.com/office/drawing/2014/main" xmlns="" val="4217640868"/>
                  </a:ext>
                </a:extLst>
              </a:tr>
              <a:tr h="612670">
                <a:tc>
                  <a:txBody>
                    <a:bodyPr/>
                    <a:lstStyle/>
                    <a:p>
                      <a:pPr algn="ctr" latinLnBrk="1"/>
                      <a:r>
                        <a:rPr lang="ko-KR" altLang="en-US" b="1" dirty="0" smtClean="0"/>
                        <a:t>시간</a:t>
                      </a:r>
                      <a:endParaRPr lang="ko-KR" altLang="en-US" b="1" dirty="0"/>
                    </a:p>
                  </a:txBody>
                  <a:tcPr anchor="ctr"/>
                </a:tc>
                <a:tc>
                  <a:txBody>
                    <a:bodyPr/>
                    <a:lstStyle/>
                    <a:p>
                      <a:pPr algn="l" latinLnBrk="1"/>
                      <a:r>
                        <a:rPr lang="en-US" altLang="ko-KR" sz="1700" dirty="0" smtClean="0"/>
                        <a:t>- </a:t>
                      </a:r>
                      <a:r>
                        <a:rPr lang="ko-KR" altLang="en-US" sz="1700" dirty="0" smtClean="0"/>
                        <a:t>게임은 하루를 기준으로 돌아간다</a:t>
                      </a:r>
                      <a:r>
                        <a:rPr lang="en-US" altLang="ko-KR" sz="1700" dirty="0" smtClean="0"/>
                        <a:t>.</a:t>
                      </a:r>
                      <a:endParaRPr lang="ko-KR" altLang="en-US" sz="1700" dirty="0"/>
                    </a:p>
                  </a:txBody>
                  <a:tcPr anchor="ctr"/>
                </a:tc>
                <a:tc>
                  <a:txBody>
                    <a:bodyPr/>
                    <a:lstStyle/>
                    <a:p>
                      <a:pPr algn="l" latinLnBrk="1"/>
                      <a:endParaRPr lang="ko-KR" altLang="en-US" dirty="0"/>
                    </a:p>
                  </a:txBody>
                  <a:tcPr anchor="ctr"/>
                </a:tc>
                <a:extLst>
                  <a:ext uri="{0D108BD9-81ED-4DB2-BD59-A6C34878D82A}">
                    <a16:rowId xmlns:a16="http://schemas.microsoft.com/office/drawing/2014/main" xmlns="" val="10001"/>
                  </a:ext>
                </a:extLst>
              </a:tr>
              <a:tr h="612670">
                <a:tc>
                  <a:txBody>
                    <a:bodyPr/>
                    <a:lstStyle/>
                    <a:p>
                      <a:pPr algn="ctr" latinLnBrk="1"/>
                      <a:r>
                        <a:rPr lang="ko-KR" altLang="en-US" b="1" dirty="0" err="1" smtClean="0"/>
                        <a:t>범죄율</a:t>
                      </a:r>
                      <a:endParaRPr lang="ko-KR" altLang="en-US" b="1" dirty="0"/>
                    </a:p>
                  </a:txBody>
                  <a:tcPr anchor="ctr"/>
                </a:tc>
                <a:tc>
                  <a:txBody>
                    <a:bodyPr/>
                    <a:lstStyle/>
                    <a:p>
                      <a:pPr algn="l" latinLnBrk="1"/>
                      <a:r>
                        <a:rPr lang="en-US" altLang="ko-KR" sz="1700" dirty="0" smtClean="0"/>
                        <a:t>- </a:t>
                      </a:r>
                      <a:r>
                        <a:rPr lang="ko-KR" altLang="en-US" sz="1700" dirty="0" smtClean="0"/>
                        <a:t>도시의 현재 </a:t>
                      </a:r>
                      <a:r>
                        <a:rPr lang="ko-KR" altLang="en-US" sz="1700" dirty="0" err="1" smtClean="0"/>
                        <a:t>범죄율을</a:t>
                      </a:r>
                      <a:r>
                        <a:rPr lang="ko-KR" altLang="en-US" sz="1700" dirty="0" smtClean="0"/>
                        <a:t> 나타내는 수치</a:t>
                      </a:r>
                      <a:endParaRPr lang="en-US" altLang="ko-KR" sz="1700" dirty="0" smtClean="0"/>
                    </a:p>
                    <a:p>
                      <a:pPr algn="l" latinLnBrk="1"/>
                      <a:r>
                        <a:rPr lang="en-US" altLang="ko-KR" sz="1700" dirty="0" smtClean="0"/>
                        <a:t>- </a:t>
                      </a:r>
                      <a:r>
                        <a:rPr lang="ko-KR" altLang="en-US" sz="1700" dirty="0" smtClean="0"/>
                        <a:t>각종 이벤트에 따라 증가</a:t>
                      </a:r>
                      <a:r>
                        <a:rPr lang="en-US" altLang="ko-KR" sz="1700" dirty="0" smtClean="0"/>
                        <a:t>, </a:t>
                      </a:r>
                      <a:r>
                        <a:rPr lang="ko-KR" altLang="en-US" sz="1700" dirty="0" smtClean="0"/>
                        <a:t>감소한다</a:t>
                      </a:r>
                      <a:endParaRPr lang="ko-KR" altLang="en-US" sz="1700" dirty="0"/>
                    </a:p>
                  </a:txBody>
                  <a:tcPr anchor="ctr"/>
                </a:tc>
                <a:tc>
                  <a:txBody>
                    <a:bodyPr/>
                    <a:lstStyle/>
                    <a:p>
                      <a:pPr algn="l" latinLnBrk="1"/>
                      <a:r>
                        <a:rPr lang="en-US" altLang="ko-KR" sz="1700" dirty="0" smtClean="0"/>
                        <a:t>0 </a:t>
                      </a:r>
                      <a:r>
                        <a:rPr lang="ko-KR" altLang="en-US" sz="1700" dirty="0" smtClean="0"/>
                        <a:t>이 되면 승리</a:t>
                      </a:r>
                      <a:endParaRPr lang="en-US" altLang="ko-KR" sz="1700" dirty="0" smtClean="0"/>
                    </a:p>
                    <a:p>
                      <a:pPr algn="l" latinLnBrk="1"/>
                      <a:r>
                        <a:rPr lang="en-US" altLang="ko-KR" sz="1700" dirty="0" smtClean="0"/>
                        <a:t>100 </a:t>
                      </a:r>
                      <a:r>
                        <a:rPr lang="ko-KR" altLang="en-US" sz="1700" dirty="0" smtClean="0"/>
                        <a:t>이 되면 패배</a:t>
                      </a:r>
                      <a:endParaRPr lang="ko-KR" altLang="en-US" sz="1700" dirty="0"/>
                    </a:p>
                  </a:txBody>
                  <a:tcPr anchor="ctr"/>
                </a:tc>
                <a:extLst>
                  <a:ext uri="{0D108BD9-81ED-4DB2-BD59-A6C34878D82A}">
                    <a16:rowId xmlns:a16="http://schemas.microsoft.com/office/drawing/2014/main" xmlns="" val="1447082540"/>
                  </a:ext>
                </a:extLst>
              </a:tr>
              <a:tr h="564802">
                <a:tc>
                  <a:txBody>
                    <a:bodyPr/>
                    <a:lstStyle/>
                    <a:p>
                      <a:pPr algn="ctr" latinLnBrk="1"/>
                      <a:r>
                        <a:rPr lang="ko-KR" altLang="en-US" b="1" dirty="0" smtClean="0"/>
                        <a:t>명성</a:t>
                      </a:r>
                      <a:endParaRPr lang="ko-KR" altLang="en-US" b="1" dirty="0"/>
                    </a:p>
                  </a:txBody>
                  <a:tcPr anchor="ctr"/>
                </a:tc>
                <a:tc>
                  <a:txBody>
                    <a:bodyPr/>
                    <a:lstStyle/>
                    <a:p>
                      <a:pPr algn="l" latinLnBrk="1"/>
                      <a:r>
                        <a:rPr lang="en-US" altLang="ko-KR" sz="1700" dirty="0" smtClean="0"/>
                        <a:t>- </a:t>
                      </a:r>
                      <a:r>
                        <a:rPr lang="ko-KR" altLang="en-US" sz="1700" dirty="0" smtClean="0"/>
                        <a:t>특수 경찰관으로서의 명성을 나타내는 수치</a:t>
                      </a:r>
                      <a:endParaRPr lang="en-US" altLang="ko-KR" sz="1700" dirty="0" smtClean="0"/>
                    </a:p>
                    <a:p>
                      <a:pPr algn="l" latinLnBrk="1"/>
                      <a:r>
                        <a:rPr lang="en-US" altLang="ko-KR" sz="1700" dirty="0" smtClean="0"/>
                        <a:t>- </a:t>
                      </a:r>
                      <a:r>
                        <a:rPr lang="ko-KR" altLang="en-US" sz="1700" dirty="0" smtClean="0"/>
                        <a:t>수치의 고저가 게임 플레이에 영향을 준다</a:t>
                      </a:r>
                      <a:endParaRPr lang="ko-KR" altLang="en-US" sz="1700" dirty="0"/>
                    </a:p>
                  </a:txBody>
                  <a:tcPr anchor="ctr"/>
                </a:tc>
                <a:tc>
                  <a:txBody>
                    <a:bodyPr/>
                    <a:lstStyle/>
                    <a:p>
                      <a:pPr algn="l" latinLnBrk="1"/>
                      <a:r>
                        <a:rPr lang="en-US" altLang="ko-KR" sz="1700" dirty="0" smtClean="0"/>
                        <a:t>0 </a:t>
                      </a:r>
                      <a:r>
                        <a:rPr lang="ko-KR" altLang="en-US" sz="1700" dirty="0" smtClean="0"/>
                        <a:t>이 되면 패배</a:t>
                      </a:r>
                      <a:endParaRPr lang="ko-KR" altLang="en-US" sz="1700" dirty="0"/>
                    </a:p>
                  </a:txBody>
                  <a:tcPr anchor="ctr"/>
                </a:tc>
                <a:extLst>
                  <a:ext uri="{0D108BD9-81ED-4DB2-BD59-A6C34878D82A}">
                    <a16:rowId xmlns:a16="http://schemas.microsoft.com/office/drawing/2014/main" xmlns="" val="1166069635"/>
                  </a:ext>
                </a:extLst>
              </a:tr>
              <a:tr h="564802">
                <a:tc>
                  <a:txBody>
                    <a:bodyPr/>
                    <a:lstStyle/>
                    <a:p>
                      <a:pPr algn="ctr" latinLnBrk="1"/>
                      <a:r>
                        <a:rPr lang="ko-KR" altLang="en-US" b="1" dirty="0" smtClean="0"/>
                        <a:t>자금</a:t>
                      </a:r>
                      <a:endParaRPr lang="ko-KR" altLang="en-US" b="1" dirty="0"/>
                    </a:p>
                  </a:txBody>
                  <a:tcPr anchor="ctr"/>
                </a:tc>
                <a:tc>
                  <a:txBody>
                    <a:bodyPr/>
                    <a:lstStyle/>
                    <a:p>
                      <a:pPr algn="l" latinLnBrk="1"/>
                      <a:r>
                        <a:rPr lang="en-US" altLang="ko-KR" sz="1700" dirty="0" smtClean="0"/>
                        <a:t>- </a:t>
                      </a:r>
                      <a:r>
                        <a:rPr lang="ko-KR" altLang="en-US" sz="1700" dirty="0" smtClean="0"/>
                        <a:t>플레이어가 사용 가능한 돈의 수치</a:t>
                      </a:r>
                      <a:endParaRPr lang="en-US" altLang="ko-KR" sz="1700" dirty="0" smtClean="0"/>
                    </a:p>
                    <a:p>
                      <a:pPr algn="l" latinLnBrk="1"/>
                      <a:r>
                        <a:rPr lang="en-US" altLang="ko-KR" sz="1700" dirty="0" smtClean="0"/>
                        <a:t>- </a:t>
                      </a:r>
                      <a:r>
                        <a:rPr lang="ko-KR" altLang="en-US" sz="1700" dirty="0" smtClean="0"/>
                        <a:t>각종 장비를 구입하거나 업그레이드 할 수 있다</a:t>
                      </a:r>
                      <a:endParaRPr lang="ko-KR" altLang="en-US" sz="1700" dirty="0"/>
                    </a:p>
                  </a:txBody>
                  <a:tcPr anchor="ctr"/>
                </a:tc>
                <a:tc>
                  <a:txBody>
                    <a:bodyPr/>
                    <a:lstStyle/>
                    <a:p>
                      <a:pPr algn="l" latinLnBrk="1"/>
                      <a:endParaRPr lang="ko-KR" altLang="en-US" sz="1700" dirty="0"/>
                    </a:p>
                  </a:txBody>
                  <a:tcPr anchor="ctr"/>
                </a:tc>
                <a:extLst>
                  <a:ext uri="{0D108BD9-81ED-4DB2-BD59-A6C34878D82A}">
                    <a16:rowId xmlns:a16="http://schemas.microsoft.com/office/drawing/2014/main" xmlns="" val="2270031616"/>
                  </a:ext>
                </a:extLst>
              </a:tr>
              <a:tr h="564802">
                <a:tc>
                  <a:txBody>
                    <a:bodyPr/>
                    <a:lstStyle/>
                    <a:p>
                      <a:pPr algn="ctr" latinLnBrk="1"/>
                      <a:r>
                        <a:rPr lang="ko-KR" altLang="en-US" b="1" dirty="0" err="1" smtClean="0"/>
                        <a:t>행동력</a:t>
                      </a:r>
                      <a:endParaRPr lang="ko-KR" altLang="en-US" b="1" dirty="0"/>
                    </a:p>
                  </a:txBody>
                  <a:tcPr anchor="ctr"/>
                </a:tc>
                <a:tc>
                  <a:txBody>
                    <a:bodyPr/>
                    <a:lstStyle/>
                    <a:p>
                      <a:pPr algn="l" latinLnBrk="1"/>
                      <a:r>
                        <a:rPr lang="en-US" altLang="ko-KR" sz="1700" dirty="0" smtClean="0"/>
                        <a:t>- </a:t>
                      </a:r>
                      <a:r>
                        <a:rPr lang="ko-KR" altLang="en-US" sz="1700" dirty="0" smtClean="0"/>
                        <a:t>한 사건에서 행동</a:t>
                      </a:r>
                      <a:r>
                        <a:rPr lang="en-US" altLang="ko-KR" sz="1700" dirty="0" smtClean="0"/>
                        <a:t>(</a:t>
                      </a:r>
                      <a:r>
                        <a:rPr lang="ko-KR" altLang="en-US" sz="1700" dirty="0" smtClean="0"/>
                        <a:t>수사</a:t>
                      </a:r>
                      <a:r>
                        <a:rPr lang="en-US" altLang="ko-KR" sz="1700" dirty="0" smtClean="0"/>
                        <a:t>, </a:t>
                      </a:r>
                      <a:r>
                        <a:rPr lang="ko-KR" altLang="en-US" sz="1700" dirty="0" smtClean="0"/>
                        <a:t>탐색</a:t>
                      </a:r>
                      <a:r>
                        <a:rPr lang="en-US" altLang="ko-KR" sz="1700" dirty="0" smtClean="0"/>
                        <a:t>, </a:t>
                      </a:r>
                      <a:r>
                        <a:rPr lang="ko-KR" altLang="en-US" sz="1700" dirty="0" smtClean="0"/>
                        <a:t>설득 등</a:t>
                      </a:r>
                      <a:r>
                        <a:rPr lang="en-US" altLang="ko-KR" sz="1700" dirty="0" smtClean="0"/>
                        <a:t>) </a:t>
                      </a:r>
                      <a:r>
                        <a:rPr lang="ko-KR" altLang="en-US" sz="1700" dirty="0" smtClean="0"/>
                        <a:t>할 수 있는 한계치</a:t>
                      </a:r>
                      <a:endParaRPr lang="en-US" altLang="ko-KR" sz="1700" dirty="0" smtClean="0"/>
                    </a:p>
                    <a:p>
                      <a:pPr algn="l" latinLnBrk="1"/>
                      <a:r>
                        <a:rPr lang="en-US" altLang="ko-KR" sz="1700" dirty="0" smtClean="0"/>
                        <a:t>- </a:t>
                      </a:r>
                      <a:r>
                        <a:rPr lang="ko-KR" altLang="en-US" sz="1700" dirty="0" smtClean="0"/>
                        <a:t>매 행동 마다 </a:t>
                      </a:r>
                      <a:r>
                        <a:rPr lang="ko-KR" altLang="en-US" sz="1700" dirty="0" err="1" smtClean="0"/>
                        <a:t>행동력을</a:t>
                      </a:r>
                      <a:r>
                        <a:rPr lang="ko-KR" altLang="en-US" sz="1700" dirty="0" smtClean="0"/>
                        <a:t> 소모하여 실행된다</a:t>
                      </a:r>
                      <a:endParaRPr lang="ko-KR" altLang="en-US" sz="1700" dirty="0"/>
                    </a:p>
                  </a:txBody>
                  <a:tcPr anchor="ctr"/>
                </a:tc>
                <a:tc>
                  <a:txBody>
                    <a:bodyPr/>
                    <a:lstStyle/>
                    <a:p>
                      <a:pPr algn="l" latinLnBrk="1"/>
                      <a:endParaRPr lang="ko-KR" altLang="en-US" sz="1700" dirty="0"/>
                    </a:p>
                  </a:txBody>
                  <a:tcPr anchor="ctr"/>
                </a:tc>
                <a:extLst>
                  <a:ext uri="{0D108BD9-81ED-4DB2-BD59-A6C34878D82A}">
                    <a16:rowId xmlns:a16="http://schemas.microsoft.com/office/drawing/2014/main" xmlns="" val="3714715161"/>
                  </a:ext>
                </a:extLst>
              </a:tr>
              <a:tr h="564802">
                <a:tc>
                  <a:txBody>
                    <a:bodyPr/>
                    <a:lstStyle/>
                    <a:p>
                      <a:pPr algn="ctr" latinLnBrk="1"/>
                      <a:r>
                        <a:rPr lang="ko-KR" altLang="en-US" b="1" dirty="0" smtClean="0"/>
                        <a:t>특성</a:t>
                      </a:r>
                      <a:endParaRPr lang="ko-KR" altLang="en-US" b="1" dirty="0"/>
                    </a:p>
                  </a:txBody>
                  <a:tcPr anchor="ctr"/>
                </a:tc>
                <a:tc>
                  <a:txBody>
                    <a:bodyPr/>
                    <a:lstStyle/>
                    <a:p>
                      <a:pPr algn="l" latinLnBrk="1"/>
                      <a:r>
                        <a:rPr lang="en-US" altLang="ko-KR" sz="1700" dirty="0" smtClean="0"/>
                        <a:t>- </a:t>
                      </a:r>
                      <a:r>
                        <a:rPr lang="ko-KR" altLang="en-US" sz="1700" dirty="0" smtClean="0"/>
                        <a:t>플레이를 통해 얻은 특성 포인트로 배울 수 있다</a:t>
                      </a:r>
                      <a:endParaRPr lang="en-US" altLang="ko-KR" sz="1700" dirty="0" smtClean="0"/>
                    </a:p>
                    <a:p>
                      <a:pPr algn="l" latinLnBrk="1"/>
                      <a:r>
                        <a:rPr lang="en-US" altLang="ko-KR" sz="1700" dirty="0" smtClean="0"/>
                        <a:t>- </a:t>
                      </a:r>
                      <a:r>
                        <a:rPr lang="ko-KR" altLang="en-US" sz="1700" dirty="0" smtClean="0"/>
                        <a:t>게임 플레이에 도움을 주는 효과를 가지고 있다</a:t>
                      </a:r>
                      <a:endParaRPr lang="ko-KR" altLang="en-US" sz="1700" dirty="0"/>
                    </a:p>
                  </a:txBody>
                  <a:tcPr anchor="ctr"/>
                </a:tc>
                <a:tc>
                  <a:txBody>
                    <a:bodyPr/>
                    <a:lstStyle/>
                    <a:p>
                      <a:pPr algn="l" latinLnBrk="1"/>
                      <a:r>
                        <a:rPr lang="ko-KR" altLang="en-US" sz="1700" dirty="0" smtClean="0"/>
                        <a:t>최대 </a:t>
                      </a:r>
                      <a:r>
                        <a:rPr lang="en-US" altLang="ko-KR" sz="1700" dirty="0" smtClean="0"/>
                        <a:t>3</a:t>
                      </a:r>
                      <a:r>
                        <a:rPr lang="ko-KR" altLang="en-US" sz="1700" dirty="0" smtClean="0"/>
                        <a:t>가지 사용 가능</a:t>
                      </a:r>
                      <a:endParaRPr lang="ko-KR" altLang="en-US" sz="1700" dirty="0"/>
                    </a:p>
                  </a:txBody>
                  <a:tcPr anchor="ctr"/>
                </a:tc>
                <a:extLst>
                  <a:ext uri="{0D108BD9-81ED-4DB2-BD59-A6C34878D82A}">
                    <a16:rowId xmlns:a16="http://schemas.microsoft.com/office/drawing/2014/main" xmlns="" val="1529809939"/>
                  </a:ext>
                </a:extLst>
              </a:tr>
              <a:tr h="564759">
                <a:tc>
                  <a:txBody>
                    <a:bodyPr/>
                    <a:lstStyle/>
                    <a:p>
                      <a:pPr algn="ctr" latinLnBrk="1"/>
                      <a:r>
                        <a:rPr lang="ko-KR" altLang="en-US" b="1" dirty="0" smtClean="0"/>
                        <a:t>스킬 체크</a:t>
                      </a:r>
                      <a:endParaRPr lang="ko-KR" altLang="en-US" b="1" dirty="0"/>
                    </a:p>
                  </a:txBody>
                  <a:tcPr anchor="ctr"/>
                </a:tc>
                <a:tc>
                  <a:txBody>
                    <a:bodyPr/>
                    <a:lstStyle/>
                    <a:p>
                      <a:pPr algn="l" latinLnBrk="1"/>
                      <a:r>
                        <a:rPr lang="en-US" altLang="ko-KR" sz="1700" dirty="0" smtClean="0"/>
                        <a:t>- </a:t>
                      </a:r>
                      <a:r>
                        <a:rPr lang="ko-KR" altLang="en-US" sz="1700" dirty="0" smtClean="0"/>
                        <a:t>수사</a:t>
                      </a:r>
                      <a:r>
                        <a:rPr lang="en-US" altLang="ko-KR" sz="1700" dirty="0" smtClean="0"/>
                        <a:t>, </a:t>
                      </a:r>
                      <a:r>
                        <a:rPr lang="ko-KR" altLang="en-US" sz="1700" dirty="0" smtClean="0"/>
                        <a:t>심문</a:t>
                      </a:r>
                      <a:r>
                        <a:rPr lang="en-US" altLang="ko-KR" sz="1700" dirty="0" smtClean="0"/>
                        <a:t>, </a:t>
                      </a:r>
                      <a:r>
                        <a:rPr lang="ko-KR" altLang="en-US" sz="1700" dirty="0" smtClean="0"/>
                        <a:t>탐색 등 행동 전반에 걸쳐 사용되는 기능</a:t>
                      </a:r>
                      <a:endParaRPr lang="en-US" altLang="ko-KR" sz="1700" dirty="0" smtClean="0"/>
                    </a:p>
                  </a:txBody>
                  <a:tcPr anchor="ctr"/>
                </a:tc>
                <a:tc>
                  <a:txBody>
                    <a:bodyPr/>
                    <a:lstStyle/>
                    <a:p>
                      <a:pPr algn="l" latinLnBrk="1"/>
                      <a:r>
                        <a:rPr lang="ko-KR" altLang="en-US" sz="1700" dirty="0" smtClean="0"/>
                        <a:t>성공</a:t>
                      </a:r>
                      <a:r>
                        <a:rPr lang="en-US" altLang="ko-KR" sz="1700" dirty="0" smtClean="0"/>
                        <a:t>, </a:t>
                      </a:r>
                      <a:r>
                        <a:rPr lang="ko-KR" altLang="en-US" sz="1700" dirty="0" smtClean="0"/>
                        <a:t>실패</a:t>
                      </a:r>
                      <a:r>
                        <a:rPr lang="en-US" altLang="ko-KR" sz="1700" dirty="0" smtClean="0"/>
                        <a:t>, </a:t>
                      </a:r>
                      <a:r>
                        <a:rPr lang="ko-KR" altLang="en-US" sz="1700" dirty="0" smtClean="0"/>
                        <a:t>대성공</a:t>
                      </a:r>
                      <a:endParaRPr lang="ko-KR" altLang="en-US" sz="1700" dirty="0"/>
                    </a:p>
                  </a:txBody>
                  <a:tcPr anchor="ctr"/>
                </a:tc>
                <a:extLst>
                  <a:ext uri="{0D108BD9-81ED-4DB2-BD59-A6C34878D82A}">
                    <a16:rowId xmlns:a16="http://schemas.microsoft.com/office/drawing/2014/main" xmlns="" val="2358325592"/>
                  </a:ext>
                </a:extLst>
              </a:tr>
            </a:tbl>
          </a:graphicData>
        </a:graphic>
      </p:graphicFrame>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32</a:t>
            </a:fld>
            <a:endParaRPr lang="ko-KR" altLang="en-US" sz="1800" dirty="0"/>
          </a:p>
        </p:txBody>
      </p:sp>
    </p:spTree>
    <p:extLst>
      <p:ext uri="{BB962C8B-B14F-4D97-AF65-F5344CB8AC3E}">
        <p14:creationId xmlns:p14="http://schemas.microsoft.com/office/powerpoint/2010/main" val="164805585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933450" y="1438038"/>
            <a:ext cx="3162300"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흐름도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모서리가 둥근 직사각형 4"/>
          <p:cNvSpPr/>
          <p:nvPr/>
        </p:nvSpPr>
        <p:spPr>
          <a:xfrm>
            <a:off x="8822924" y="4149787"/>
            <a:ext cx="1567550"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현장 출동</a:t>
            </a:r>
            <a:endParaRPr lang="ko-KR" altLang="en-US" dirty="0">
              <a:solidFill>
                <a:schemeClr val="tx1"/>
              </a:solidFill>
            </a:endParaRPr>
          </a:p>
        </p:txBody>
      </p:sp>
      <p:sp>
        <p:nvSpPr>
          <p:cNvPr id="16" name="모서리가 둥근 직사각형 15"/>
          <p:cNvSpPr/>
          <p:nvPr/>
        </p:nvSpPr>
        <p:spPr>
          <a:xfrm>
            <a:off x="6642305" y="4149787"/>
            <a:ext cx="1522150"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rPr>
              <a:t>상황실 지휘</a:t>
            </a:r>
          </a:p>
        </p:txBody>
      </p:sp>
      <p:sp>
        <p:nvSpPr>
          <p:cNvPr id="17" name="모서리가 둥근 직사각형 16"/>
          <p:cNvSpPr/>
          <p:nvPr/>
        </p:nvSpPr>
        <p:spPr>
          <a:xfrm>
            <a:off x="7610621" y="457417"/>
            <a:ext cx="1710365"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던전 탐험</a:t>
            </a:r>
            <a:endParaRPr lang="en-US" altLang="ko-KR" dirty="0" smtClean="0">
              <a:solidFill>
                <a:schemeClr val="tx1"/>
              </a:solidFill>
            </a:endParaRPr>
          </a:p>
        </p:txBody>
      </p:sp>
      <p:sp>
        <p:nvSpPr>
          <p:cNvPr id="18" name="모서리가 둥근 직사각형 17"/>
          <p:cNvSpPr/>
          <p:nvPr/>
        </p:nvSpPr>
        <p:spPr>
          <a:xfrm>
            <a:off x="7610621" y="5465052"/>
            <a:ext cx="1710365"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사건 종</a:t>
            </a:r>
            <a:r>
              <a:rPr lang="ko-KR" altLang="en-US" dirty="0">
                <a:solidFill>
                  <a:schemeClr val="tx1"/>
                </a:solidFill>
              </a:rPr>
              <a:t>료</a:t>
            </a:r>
          </a:p>
        </p:txBody>
      </p:sp>
      <p:cxnSp>
        <p:nvCxnSpPr>
          <p:cNvPr id="3" name="직선 화살표 연결선 2"/>
          <p:cNvCxnSpPr>
            <a:stCxn id="17" idx="2"/>
            <a:endCxn id="82" idx="0"/>
          </p:cNvCxnSpPr>
          <p:nvPr/>
        </p:nvCxnSpPr>
        <p:spPr>
          <a:xfrm>
            <a:off x="8465804" y="1055343"/>
            <a:ext cx="0" cy="30297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4" name="꺾인 연결선 23"/>
          <p:cNvCxnSpPr>
            <a:stCxn id="82" idx="3"/>
            <a:endCxn id="17" idx="3"/>
          </p:cNvCxnSpPr>
          <p:nvPr/>
        </p:nvCxnSpPr>
        <p:spPr>
          <a:xfrm flipH="1" flipV="1">
            <a:off x="9320986" y="756380"/>
            <a:ext cx="142493" cy="1120049"/>
          </a:xfrm>
          <a:prstGeom prst="bentConnector3">
            <a:avLst>
              <a:gd name="adj1" fmla="val -160429"/>
            </a:avLst>
          </a:prstGeom>
          <a:ln>
            <a:tailEnd type="arrow"/>
          </a:ln>
        </p:spPr>
        <p:style>
          <a:lnRef idx="3">
            <a:schemeClr val="dk1"/>
          </a:lnRef>
          <a:fillRef idx="0">
            <a:schemeClr val="dk1"/>
          </a:fillRef>
          <a:effectRef idx="2">
            <a:schemeClr val="dk1"/>
          </a:effectRef>
          <a:fontRef idx="minor">
            <a:schemeClr val="tx1"/>
          </a:fontRef>
        </p:style>
      </p:cxnSp>
      <p:cxnSp>
        <p:nvCxnSpPr>
          <p:cNvPr id="28" name="직선 화살표 연결선 27"/>
          <p:cNvCxnSpPr>
            <a:stCxn id="82" idx="2"/>
            <a:endCxn id="98" idx="0"/>
          </p:cNvCxnSpPr>
          <p:nvPr/>
        </p:nvCxnSpPr>
        <p:spPr>
          <a:xfrm flipH="1">
            <a:off x="8465431" y="2394539"/>
            <a:ext cx="373" cy="40386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0" name="직선 화살표 연결선 29"/>
          <p:cNvCxnSpPr>
            <a:endCxn id="16" idx="0"/>
          </p:cNvCxnSpPr>
          <p:nvPr/>
        </p:nvCxnSpPr>
        <p:spPr>
          <a:xfrm flipH="1">
            <a:off x="7403380" y="3353737"/>
            <a:ext cx="639116" cy="7960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2" name="직선 화살표 연결선 31"/>
          <p:cNvCxnSpPr>
            <a:endCxn id="5" idx="0"/>
          </p:cNvCxnSpPr>
          <p:nvPr/>
        </p:nvCxnSpPr>
        <p:spPr>
          <a:xfrm>
            <a:off x="8888239" y="3353737"/>
            <a:ext cx="718460" cy="7960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4" name="직선 화살표 연결선 33"/>
          <p:cNvCxnSpPr>
            <a:stCxn id="5" idx="2"/>
            <a:endCxn id="18" idx="0"/>
          </p:cNvCxnSpPr>
          <p:nvPr/>
        </p:nvCxnSpPr>
        <p:spPr>
          <a:xfrm flipH="1">
            <a:off x="8465804" y="4747713"/>
            <a:ext cx="1140895" cy="71733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6" name="직선 화살표 연결선 35"/>
          <p:cNvCxnSpPr>
            <a:stCxn id="16" idx="2"/>
            <a:endCxn id="18" idx="0"/>
          </p:cNvCxnSpPr>
          <p:nvPr/>
        </p:nvCxnSpPr>
        <p:spPr>
          <a:xfrm>
            <a:off x="7403380" y="4747713"/>
            <a:ext cx="1062424" cy="71733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53" name="TextBox 52"/>
          <p:cNvSpPr txBox="1"/>
          <p:nvPr/>
        </p:nvSpPr>
        <p:spPr>
          <a:xfrm>
            <a:off x="8339318" y="2394539"/>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4" name="TextBox 53"/>
          <p:cNvSpPr txBox="1"/>
          <p:nvPr/>
        </p:nvSpPr>
        <p:spPr>
          <a:xfrm>
            <a:off x="9829931" y="1146058"/>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0" name="TextBox 59"/>
          <p:cNvSpPr txBox="1"/>
          <p:nvPr/>
        </p:nvSpPr>
        <p:spPr>
          <a:xfrm>
            <a:off x="6987886" y="3571827"/>
            <a:ext cx="678110"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지휘</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1" name="TextBox 60"/>
          <p:cNvSpPr txBox="1"/>
          <p:nvPr/>
        </p:nvSpPr>
        <p:spPr>
          <a:xfrm>
            <a:off x="9300301" y="3558764"/>
            <a:ext cx="678110"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출동</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다이아몬드 81"/>
          <p:cNvSpPr/>
          <p:nvPr/>
        </p:nvSpPr>
        <p:spPr>
          <a:xfrm>
            <a:off x="7468128" y="1358318"/>
            <a:ext cx="1995351" cy="1036221"/>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착수</a:t>
            </a:r>
            <a:endParaRPr lang="ko-KR" altLang="en-US" dirty="0">
              <a:solidFill>
                <a:schemeClr val="tx1"/>
              </a:solidFill>
            </a:endParaRPr>
          </a:p>
        </p:txBody>
      </p:sp>
      <p:sp>
        <p:nvSpPr>
          <p:cNvPr id="98" name="다이아몬드 97"/>
          <p:cNvSpPr/>
          <p:nvPr/>
        </p:nvSpPr>
        <p:spPr>
          <a:xfrm>
            <a:off x="7437220" y="2798408"/>
            <a:ext cx="2056421" cy="962875"/>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rPr>
              <a:t>지휘 </a:t>
            </a:r>
            <a:r>
              <a:rPr lang="en-US" altLang="ko-KR" dirty="0">
                <a:solidFill>
                  <a:schemeClr val="tx1"/>
                </a:solidFill>
              </a:rPr>
              <a:t>or </a:t>
            </a:r>
            <a:r>
              <a:rPr lang="ko-KR" altLang="en-US" dirty="0" smtClean="0">
                <a:solidFill>
                  <a:schemeClr val="tx1"/>
                </a:solidFill>
              </a:rPr>
              <a:t>출동</a:t>
            </a:r>
            <a:endParaRPr lang="ko-KR" altLang="en-US" dirty="0">
              <a:solidFill>
                <a:schemeClr val="tx1"/>
              </a:solidFill>
            </a:endParaRPr>
          </a:p>
        </p:txBody>
      </p:sp>
      <p:sp>
        <p:nvSpPr>
          <p:cNvPr id="152" name="모서리가 둥근 직사각형 151"/>
          <p:cNvSpPr/>
          <p:nvPr/>
        </p:nvSpPr>
        <p:spPr>
          <a:xfrm>
            <a:off x="5238730" y="457417"/>
            <a:ext cx="1710365" cy="59792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정비</a:t>
            </a:r>
            <a:endParaRPr lang="en-US" altLang="ko-KR" dirty="0" smtClean="0">
              <a:solidFill>
                <a:schemeClr val="tx1"/>
              </a:solidFill>
            </a:endParaRPr>
          </a:p>
        </p:txBody>
      </p:sp>
      <p:sp>
        <p:nvSpPr>
          <p:cNvPr id="153" name="모서리가 둥근 직사각형 152"/>
          <p:cNvSpPr/>
          <p:nvPr/>
        </p:nvSpPr>
        <p:spPr>
          <a:xfrm>
            <a:off x="5238729" y="5465052"/>
            <a:ext cx="1749555" cy="59792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정산</a:t>
            </a:r>
            <a:endParaRPr lang="ko-KR" altLang="en-US" dirty="0">
              <a:solidFill>
                <a:schemeClr val="tx1"/>
              </a:solidFill>
            </a:endParaRPr>
          </a:p>
        </p:txBody>
      </p:sp>
      <p:cxnSp>
        <p:nvCxnSpPr>
          <p:cNvPr id="155" name="직선 화살표 연결선 154"/>
          <p:cNvCxnSpPr>
            <a:stCxn id="18" idx="1"/>
            <a:endCxn id="153" idx="3"/>
          </p:cNvCxnSpPr>
          <p:nvPr/>
        </p:nvCxnSpPr>
        <p:spPr>
          <a:xfrm flipH="1">
            <a:off x="6988284" y="5764015"/>
            <a:ext cx="622337"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59" name="직선 화살표 연결선 158"/>
          <p:cNvCxnSpPr>
            <a:stCxn id="152" idx="3"/>
            <a:endCxn id="17" idx="1"/>
          </p:cNvCxnSpPr>
          <p:nvPr/>
        </p:nvCxnSpPr>
        <p:spPr>
          <a:xfrm>
            <a:off x="6949095" y="756380"/>
            <a:ext cx="661526"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3" name="모서리가 둥근 직사각형 32"/>
          <p:cNvSpPr/>
          <p:nvPr/>
        </p:nvSpPr>
        <p:spPr>
          <a:xfrm>
            <a:off x="1361625" y="2729959"/>
            <a:ext cx="1016756" cy="75355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rgbClr val="002060"/>
                </a:solidFill>
              </a:rPr>
              <a:t>목표</a:t>
            </a:r>
            <a:endParaRPr lang="en-US" altLang="ko-KR" dirty="0" smtClean="0">
              <a:solidFill>
                <a:srgbClr val="002060"/>
              </a:solidFill>
            </a:endParaRPr>
          </a:p>
        </p:txBody>
      </p:sp>
      <p:sp>
        <p:nvSpPr>
          <p:cNvPr id="35" name="모서리가 둥근 직사각형 34"/>
          <p:cNvSpPr/>
          <p:nvPr/>
        </p:nvSpPr>
        <p:spPr>
          <a:xfrm>
            <a:off x="1361625" y="4261081"/>
            <a:ext cx="1016756" cy="75355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rgbClr val="FF0000"/>
                </a:solidFill>
              </a:rPr>
              <a:t>실패</a:t>
            </a:r>
            <a:endParaRPr lang="en-US" altLang="ko-KR" dirty="0" smtClean="0">
              <a:solidFill>
                <a:srgbClr val="FF0000"/>
              </a:solidFill>
            </a:endParaRPr>
          </a:p>
        </p:txBody>
      </p:sp>
      <p:sp>
        <p:nvSpPr>
          <p:cNvPr id="37" name="TextBox 36"/>
          <p:cNvSpPr txBox="1"/>
          <p:nvPr/>
        </p:nvSpPr>
        <p:spPr>
          <a:xfrm>
            <a:off x="2416481" y="2825422"/>
            <a:ext cx="2347248" cy="507831"/>
          </a:xfrm>
          <a:prstGeom prst="rect">
            <a:avLst/>
          </a:prstGeom>
          <a:noFill/>
        </p:spPr>
        <p:txBody>
          <a:bodyPr wrap="square" rtlCol="0">
            <a:spAutoFit/>
          </a:bodyPr>
          <a:lstStyle/>
          <a:p>
            <a:pPr>
              <a:lnSpc>
                <a:spcPct val="150000"/>
              </a:lnSpc>
            </a:pP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던전의 </a:t>
            </a:r>
            <a:r>
              <a:rPr lang="ko-KR" altLang="en-US"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최심부</a:t>
            </a: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클리어</a:t>
            </a:r>
            <a:endParaRPr lang="en-US" altLang="ko-KR"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8" name="TextBox 37"/>
          <p:cNvSpPr txBox="1"/>
          <p:nvPr/>
        </p:nvSpPr>
        <p:spPr>
          <a:xfrm>
            <a:off x="2416481" y="4410990"/>
            <a:ext cx="2053210" cy="454292"/>
          </a:xfrm>
          <a:prstGeom prst="rect">
            <a:avLst/>
          </a:prstGeom>
          <a:noFill/>
        </p:spPr>
        <p:txBody>
          <a:bodyPr wrap="square" rtlCol="0">
            <a:spAutoFit/>
          </a:bodyPr>
          <a:lstStyle/>
          <a:p>
            <a:pPr>
              <a:lnSpc>
                <a:spcPct val="150000"/>
              </a:lnSpc>
            </a:pP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플레이어 사망</a:t>
            </a:r>
            <a:endParaRPr lang="en-US" altLang="ko-KR"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33</a:t>
            </a:fld>
            <a:endParaRPr lang="ko-KR" altLang="en-US" sz="1800" dirty="0"/>
          </a:p>
        </p:txBody>
      </p:sp>
    </p:spTree>
    <p:extLst>
      <p:ext uri="{BB962C8B-B14F-4D97-AF65-F5344CB8AC3E}">
        <p14:creationId xmlns:p14="http://schemas.microsoft.com/office/powerpoint/2010/main" val="224940028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881716" y="765193"/>
            <a:ext cx="241873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 탐험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03203" y="1596326"/>
            <a:ext cx="5604329" cy="4524315"/>
          </a:xfrm>
          <a:prstGeom prst="rect">
            <a:avLst/>
          </a:prstGeom>
          <a:noFill/>
        </p:spPr>
        <p:txBody>
          <a:bodyPr wrap="square" rtlCol="0">
            <a:spAutoFit/>
          </a:bodyPr>
          <a:lstStyle/>
          <a:p>
            <a:r>
              <a:rPr lang="en-US" altLang="ko-KR" sz="2400" dirty="0" smtClean="0"/>
              <a:t>• </a:t>
            </a:r>
            <a:r>
              <a:rPr lang="ko-KR" altLang="ko-KR" sz="2400" dirty="0" smtClean="0"/>
              <a:t>플레이</a:t>
            </a:r>
            <a:r>
              <a:rPr lang="ko-KR" altLang="en-US" sz="2400" dirty="0" smtClean="0"/>
              <a:t>어가 캐릭터를 선택하면 탐험이 시작됩니다</a:t>
            </a:r>
            <a:r>
              <a:rPr lang="en-US" altLang="ko-KR" sz="2400" dirty="0" smtClean="0"/>
              <a:t>.</a:t>
            </a:r>
          </a:p>
          <a:p>
            <a:r>
              <a:rPr lang="en-US" altLang="ko-KR" sz="2400" dirty="0"/>
              <a:t/>
            </a:r>
            <a:br>
              <a:rPr lang="en-US" altLang="ko-KR" sz="2400" dirty="0"/>
            </a:br>
            <a:r>
              <a:rPr lang="en-US" altLang="ko-KR" sz="2400" dirty="0"/>
              <a:t>• </a:t>
            </a:r>
            <a:r>
              <a:rPr lang="ko-KR" altLang="en-US" sz="2400" dirty="0" smtClean="0"/>
              <a:t>던전은 입구부터 </a:t>
            </a:r>
            <a:r>
              <a:rPr lang="ko-KR" altLang="en-US" sz="2400" dirty="0" err="1" smtClean="0"/>
              <a:t>최심부까지</a:t>
            </a:r>
            <a:r>
              <a:rPr lang="ko-KR" altLang="en-US" sz="2400" dirty="0" smtClean="0"/>
              <a:t> 이어져있으며</a:t>
            </a:r>
            <a:r>
              <a:rPr lang="en-US" altLang="ko-KR" sz="2400" dirty="0" smtClean="0"/>
              <a:t>, </a:t>
            </a:r>
            <a:r>
              <a:rPr lang="ko-KR" altLang="en-US" sz="2400" dirty="0" smtClean="0"/>
              <a:t>한 번에 하나의 방을 탐험할 수 있습니다</a:t>
            </a:r>
            <a:r>
              <a:rPr lang="en-US" altLang="ko-KR" sz="2400" dirty="0" smtClean="0"/>
              <a:t>.</a:t>
            </a:r>
          </a:p>
          <a:p>
            <a:endParaRPr lang="en-US" altLang="ko-KR" sz="2400" dirty="0" smtClean="0"/>
          </a:p>
          <a:p>
            <a:r>
              <a:rPr lang="en-US" altLang="ko-KR" sz="2400" dirty="0"/>
              <a:t>• </a:t>
            </a:r>
            <a:r>
              <a:rPr lang="ko-KR" altLang="en-US" sz="2400" dirty="0"/>
              <a:t>한번 클리어한 방을 다시 클리어할 수는 </a:t>
            </a:r>
            <a:r>
              <a:rPr lang="ko-KR" altLang="en-US" sz="2400" dirty="0" smtClean="0"/>
              <a:t>없습니다</a:t>
            </a:r>
            <a:r>
              <a:rPr lang="en-US" altLang="ko-KR" sz="2400" dirty="0" smtClean="0"/>
              <a:t>.</a:t>
            </a:r>
            <a:endParaRPr lang="en-US" altLang="ko-KR" sz="2400" dirty="0"/>
          </a:p>
          <a:p>
            <a:r>
              <a:rPr lang="en-US" altLang="ko-KR" sz="2400" dirty="0"/>
              <a:t/>
            </a:r>
            <a:br>
              <a:rPr lang="en-US" altLang="ko-KR" sz="2400" dirty="0"/>
            </a:br>
            <a:r>
              <a:rPr lang="en-US" altLang="ko-KR" sz="2400" dirty="0"/>
              <a:t>•</a:t>
            </a:r>
            <a:r>
              <a:rPr lang="en-US" altLang="ko-KR" sz="2400" dirty="0" smtClean="0"/>
              <a:t> </a:t>
            </a:r>
            <a:r>
              <a:rPr lang="ko-KR" altLang="en-US" sz="2400" dirty="0" smtClean="0"/>
              <a:t>던전의 </a:t>
            </a:r>
            <a:r>
              <a:rPr lang="ko-KR" altLang="en-US" sz="2400" dirty="0" err="1" smtClean="0"/>
              <a:t>최심부를</a:t>
            </a:r>
            <a:r>
              <a:rPr lang="ko-KR" altLang="en-US" sz="2400" dirty="0" smtClean="0"/>
              <a:t> 클리어하는 것이 목표입니다</a:t>
            </a:r>
            <a:r>
              <a:rPr lang="en-US" altLang="ko-KR" sz="2400" dirty="0" smtClean="0"/>
              <a:t>.</a:t>
            </a: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34</a:t>
            </a:fld>
            <a:endParaRPr lang="ko-KR" altLang="en-US" sz="1800" dirty="0"/>
          </a:p>
        </p:txBody>
      </p:sp>
      <p:pic>
        <p:nvPicPr>
          <p:cNvPr id="3" name="그림 2"/>
          <p:cNvPicPr>
            <a:picLocks noChangeAspect="1"/>
          </p:cNvPicPr>
          <p:nvPr/>
        </p:nvPicPr>
        <p:blipFill>
          <a:blip r:embed="rId2"/>
          <a:stretch>
            <a:fillRect/>
          </a:stretch>
        </p:blipFill>
        <p:spPr>
          <a:xfrm>
            <a:off x="6095999" y="1849971"/>
            <a:ext cx="5836845" cy="3278361"/>
          </a:xfrm>
          <a:prstGeom prst="rect">
            <a:avLst/>
          </a:prstGeom>
        </p:spPr>
      </p:pic>
      <p:sp>
        <p:nvSpPr>
          <p:cNvPr id="9" name="TextBox 8"/>
          <p:cNvSpPr txBox="1"/>
          <p:nvPr/>
        </p:nvSpPr>
        <p:spPr>
          <a:xfrm>
            <a:off x="8075717" y="5128332"/>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6</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18133704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54909" y="1340223"/>
            <a:ext cx="5039181" cy="2677656"/>
          </a:xfrm>
          <a:prstGeom prst="rect">
            <a:avLst/>
          </a:prstGeom>
          <a:noFill/>
        </p:spPr>
        <p:txBody>
          <a:bodyPr wrap="square" rtlCol="0">
            <a:spAutoFit/>
          </a:bodyPr>
          <a:lstStyle/>
          <a:p>
            <a:r>
              <a:rPr lang="en-US" altLang="ko-KR" sz="2400" dirty="0"/>
              <a:t>• </a:t>
            </a:r>
            <a:r>
              <a:rPr lang="ko-KR" altLang="en-US" sz="2400" dirty="0" smtClean="0"/>
              <a:t>아군 캐릭터와 적 몬스터의 최대 </a:t>
            </a:r>
            <a:r>
              <a:rPr lang="en-US" altLang="ko-KR" sz="2400" dirty="0" smtClean="0"/>
              <a:t>4:4 </a:t>
            </a:r>
            <a:r>
              <a:rPr lang="ko-KR" altLang="en-US" sz="2400" dirty="0" smtClean="0"/>
              <a:t>전투로 진행됩니다</a:t>
            </a:r>
            <a:r>
              <a:rPr lang="en-US" altLang="ko-KR" sz="2400" dirty="0" smtClean="0"/>
              <a:t>.</a:t>
            </a:r>
          </a:p>
          <a:p>
            <a:r>
              <a:rPr lang="en-US" altLang="ko-KR" sz="2400" dirty="0" smtClean="0"/>
              <a:t/>
            </a:r>
            <a:br>
              <a:rPr lang="en-US" altLang="ko-KR" sz="2400" dirty="0" smtClean="0"/>
            </a:br>
            <a:r>
              <a:rPr lang="en-US" altLang="ko-KR" sz="2400" dirty="0"/>
              <a:t>• </a:t>
            </a:r>
            <a:r>
              <a:rPr lang="ko-KR" altLang="en-US" sz="2400" dirty="0" smtClean="0"/>
              <a:t>아군부터</a:t>
            </a:r>
            <a:r>
              <a:rPr lang="en-US" altLang="ko-KR" sz="2400" dirty="0" smtClean="0"/>
              <a:t>, </a:t>
            </a:r>
            <a:r>
              <a:rPr lang="ko-KR" altLang="en-US" sz="2400" dirty="0" smtClean="0"/>
              <a:t>가장 왼쪽 캐릭터부터  시작하여</a:t>
            </a:r>
            <a:r>
              <a:rPr lang="en-US" altLang="ko-KR" sz="2400" dirty="0" smtClean="0"/>
              <a:t>, </a:t>
            </a:r>
            <a:r>
              <a:rPr lang="ko-KR" altLang="en-US" sz="2400" dirty="0" smtClean="0"/>
              <a:t>차례대로 한 진영의 모든 캐릭터가 행동을 마치면 차례가 넘어갑니다</a:t>
            </a:r>
            <a:r>
              <a:rPr lang="en-US" altLang="ko-KR" sz="2400" dirty="0" smtClean="0"/>
              <a:t>.</a:t>
            </a:r>
            <a:endParaRPr lang="en-US"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35</a:t>
            </a:fld>
            <a:endParaRPr lang="ko-KR" altLang="en-US" sz="1800" dirty="0"/>
          </a:p>
        </p:txBody>
      </p:sp>
      <p:pic>
        <p:nvPicPr>
          <p:cNvPr id="1026" name="Picture 2" descr="https://steamcdn-a.akamaihd.net/steam/apps/503560/ss_ec620eea4998f7ad180bf5b762ea606830c1af2f.600x338.jpg?t=15318411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999" y="1812752"/>
            <a:ext cx="5715000" cy="320992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8014795" y="5025643"/>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7</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1" name="TextBox 10"/>
          <p:cNvSpPr txBox="1"/>
          <p:nvPr/>
        </p:nvSpPr>
        <p:spPr>
          <a:xfrm>
            <a:off x="4881716" y="765193"/>
            <a:ext cx="241873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97007944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705350" y="794221"/>
            <a:ext cx="2781300"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육성</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35480" y="1559202"/>
            <a:ext cx="5642809" cy="3416320"/>
          </a:xfrm>
          <a:prstGeom prst="rect">
            <a:avLst/>
          </a:prstGeom>
          <a:noFill/>
        </p:spPr>
        <p:txBody>
          <a:bodyPr wrap="square" rtlCol="0">
            <a:spAutoFit/>
          </a:bodyPr>
          <a:lstStyle/>
          <a:p>
            <a:r>
              <a:rPr lang="en-US" altLang="ko-KR" sz="2400" dirty="0"/>
              <a:t>• </a:t>
            </a:r>
            <a:r>
              <a:rPr lang="ko-KR" altLang="en-US" sz="2400" dirty="0" smtClean="0"/>
              <a:t>아군 캐릭터들은 전투를 통해 경험치를 획득하고</a:t>
            </a:r>
            <a:r>
              <a:rPr lang="en-US" altLang="ko-KR" sz="2400" dirty="0" smtClean="0"/>
              <a:t>, </a:t>
            </a:r>
            <a:r>
              <a:rPr lang="ko-KR" altLang="en-US" sz="2400" dirty="0" smtClean="0"/>
              <a:t>일정한 경험치를 만족하면 </a:t>
            </a:r>
            <a:r>
              <a:rPr lang="ko-KR" altLang="en-US" sz="2400" dirty="0" err="1" smtClean="0"/>
              <a:t>레벨업</a:t>
            </a:r>
            <a:r>
              <a:rPr lang="ko-KR" altLang="en-US" sz="2400" dirty="0" smtClean="0"/>
              <a:t> 하여 성장합니다</a:t>
            </a:r>
            <a:r>
              <a:rPr lang="en-US" altLang="ko-KR" sz="2400" dirty="0" smtClean="0"/>
              <a:t>.</a:t>
            </a:r>
          </a:p>
          <a:p>
            <a:r>
              <a:rPr lang="en-US" altLang="ko-KR" sz="2400" dirty="0"/>
              <a:t/>
            </a:r>
            <a:br>
              <a:rPr lang="en-US" altLang="ko-KR" sz="2400" dirty="0"/>
            </a:br>
            <a:r>
              <a:rPr lang="en-US" altLang="ko-KR" sz="2400" dirty="0"/>
              <a:t>• </a:t>
            </a:r>
            <a:r>
              <a:rPr lang="ko-KR" altLang="en-US" sz="2400" dirty="0" smtClean="0"/>
              <a:t>동일한 몬스터를 재료로 사용하여 특정 몬스터를 강화할 수 있습니다</a:t>
            </a:r>
            <a:r>
              <a:rPr lang="en-US" altLang="ko-KR" sz="2400" dirty="0" smtClean="0"/>
              <a:t>.</a:t>
            </a:r>
          </a:p>
          <a:p>
            <a:endParaRPr lang="en-US" altLang="ko-KR" sz="2400" dirty="0"/>
          </a:p>
          <a:p>
            <a:r>
              <a:rPr lang="en-US" altLang="ko-KR" sz="2400" dirty="0"/>
              <a:t>• </a:t>
            </a:r>
            <a:r>
              <a:rPr lang="ko-KR" altLang="en-US" sz="2400" dirty="0" smtClean="0"/>
              <a:t>캐릭터에게 아이템을 </a:t>
            </a:r>
            <a:r>
              <a:rPr lang="ko-KR" altLang="en-US" sz="2400" dirty="0" err="1" smtClean="0"/>
              <a:t>장비시켜</a:t>
            </a:r>
            <a:r>
              <a:rPr lang="ko-KR" altLang="en-US" sz="2400" dirty="0" smtClean="0"/>
              <a:t> 능력을 향상시킬 수 있습니다</a:t>
            </a:r>
            <a:r>
              <a:rPr lang="en-US" altLang="ko-KR" sz="2400" dirty="0" smtClean="0"/>
              <a:t>.</a:t>
            </a:r>
            <a:endParaRPr lang="ko-KR"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36</a:t>
            </a:fld>
            <a:endParaRPr lang="ko-KR" altLang="en-US" sz="1800" dirty="0"/>
          </a:p>
        </p:txBody>
      </p:sp>
      <p:pic>
        <p:nvPicPr>
          <p:cNvPr id="5" name="그림 4"/>
          <p:cNvPicPr>
            <a:picLocks noChangeAspect="1"/>
          </p:cNvPicPr>
          <p:nvPr/>
        </p:nvPicPr>
        <p:blipFill>
          <a:blip r:embed="rId2"/>
          <a:stretch>
            <a:fillRect/>
          </a:stretch>
        </p:blipFill>
        <p:spPr>
          <a:xfrm>
            <a:off x="6076949" y="1844063"/>
            <a:ext cx="5715000" cy="3209925"/>
          </a:xfrm>
          <a:prstGeom prst="rect">
            <a:avLst/>
          </a:prstGeom>
        </p:spPr>
      </p:pic>
      <p:sp>
        <p:nvSpPr>
          <p:cNvPr id="12" name="TextBox 11"/>
          <p:cNvSpPr txBox="1"/>
          <p:nvPr/>
        </p:nvSpPr>
        <p:spPr>
          <a:xfrm>
            <a:off x="7995745" y="5041298"/>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8</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369102953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41305" y="1894220"/>
            <a:ext cx="4845051" cy="3785652"/>
          </a:xfrm>
          <a:prstGeom prst="rect">
            <a:avLst/>
          </a:prstGeom>
          <a:noFill/>
        </p:spPr>
        <p:txBody>
          <a:bodyPr wrap="square" rtlCol="0">
            <a:spAutoFit/>
          </a:bodyPr>
          <a:lstStyle/>
          <a:p>
            <a:r>
              <a:rPr lang="en-US" altLang="ko-KR" sz="2400" dirty="0"/>
              <a:t>•</a:t>
            </a:r>
            <a:r>
              <a:rPr lang="en-US" altLang="ko-KR" sz="2400" dirty="0" smtClean="0"/>
              <a:t> </a:t>
            </a:r>
            <a:r>
              <a:rPr lang="ko-KR" altLang="en-US" sz="2400" dirty="0" smtClean="0"/>
              <a:t>캐릭터와 몬스터가 가진 능력과 스킬을 활용하여 다양한 전략을 사용할 수 있습니다</a:t>
            </a:r>
            <a:r>
              <a:rPr lang="en-US" altLang="ko-KR" sz="2400" dirty="0" smtClean="0"/>
              <a:t>.</a:t>
            </a:r>
          </a:p>
          <a:p>
            <a:endParaRPr lang="en-US" altLang="ko-KR" sz="2400" dirty="0"/>
          </a:p>
          <a:p>
            <a:r>
              <a:rPr lang="en-US" altLang="ko-KR" sz="2400" dirty="0"/>
              <a:t>•</a:t>
            </a:r>
            <a:r>
              <a:rPr lang="en-US" altLang="ko-KR" sz="2400" dirty="0" smtClean="0"/>
              <a:t> </a:t>
            </a:r>
            <a:r>
              <a:rPr lang="ko-KR" altLang="en-US" sz="2400" dirty="0" smtClean="0"/>
              <a:t>아이템으로 아군의 장점을 살리고 약점을 커버할 수 있습니다</a:t>
            </a:r>
            <a:r>
              <a:rPr lang="en-US" altLang="ko-KR" sz="2400" dirty="0" smtClean="0"/>
              <a:t>.</a:t>
            </a:r>
            <a:endParaRPr lang="en-US" altLang="ko-KR" sz="2400" dirty="0"/>
          </a:p>
          <a:p>
            <a:pPr marL="285750" indent="-285750">
              <a:buFontTx/>
              <a:buChar char="-"/>
            </a:pPr>
            <a:endParaRPr lang="en-US" altLang="ko-KR" sz="2400" dirty="0"/>
          </a:p>
          <a:p>
            <a:r>
              <a:rPr lang="en-US" altLang="ko-KR" sz="2400" dirty="0" smtClean="0"/>
              <a:t>• </a:t>
            </a:r>
            <a:r>
              <a:rPr lang="ko-KR" altLang="en-US" sz="2400" dirty="0" smtClean="0"/>
              <a:t>아군과 적의 상성을 파악하여 원하는 조합을 편성하고 전술을 펼칠 수 있습니다</a:t>
            </a:r>
            <a:r>
              <a:rPr lang="en-US" altLang="ko-KR" sz="2400" dirty="0" smtClean="0"/>
              <a:t>.</a:t>
            </a:r>
            <a:endParaRPr lang="ko-KR"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37</a:t>
            </a:fld>
            <a:endParaRPr lang="ko-KR" altLang="en-US" sz="1800" dirty="0"/>
          </a:p>
        </p:txBody>
      </p:sp>
      <p:pic>
        <p:nvPicPr>
          <p:cNvPr id="3" name="그림 2"/>
          <p:cNvPicPr>
            <a:picLocks noChangeAspect="1"/>
          </p:cNvPicPr>
          <p:nvPr/>
        </p:nvPicPr>
        <p:blipFill>
          <a:blip r:embed="rId2"/>
          <a:stretch>
            <a:fillRect/>
          </a:stretch>
        </p:blipFill>
        <p:spPr>
          <a:xfrm>
            <a:off x="6000750" y="1850852"/>
            <a:ext cx="5715000" cy="3209925"/>
          </a:xfrm>
          <a:prstGeom prst="rect">
            <a:avLst/>
          </a:prstGeom>
        </p:spPr>
      </p:pic>
      <p:sp>
        <p:nvSpPr>
          <p:cNvPr id="9" name="TextBox 8"/>
          <p:cNvSpPr txBox="1"/>
          <p:nvPr/>
        </p:nvSpPr>
        <p:spPr>
          <a:xfrm>
            <a:off x="7919546" y="5063743"/>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9</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4" name="TextBox 13"/>
          <p:cNvSpPr txBox="1"/>
          <p:nvPr/>
        </p:nvSpPr>
        <p:spPr>
          <a:xfrm>
            <a:off x="4705350" y="794221"/>
            <a:ext cx="2781300"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전략과 조합</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61811414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기획서 제작 계획</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3990973" y="771996"/>
            <a:ext cx="4210049"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세부 </a:t>
            </a:r>
            <a:r>
              <a:rPr lang="ko-KR" altLang="en-US" sz="3200" b="1" dirty="0">
                <a:gradFill>
                  <a:gsLst>
                    <a:gs pos="0">
                      <a:schemeClr val="tx1"/>
                    </a:gs>
                    <a:gs pos="100000">
                      <a:schemeClr val="tx1"/>
                    </a:gs>
                  </a:gsLst>
                  <a:lin ang="5400000" scaled="1"/>
                </a:gradFill>
                <a:latin typeface="맑은 고딕" panose="020B0503020000020004" pitchFamily="50" charset="-127"/>
              </a:rPr>
              <a:t>기획 </a:t>
            </a:r>
            <a:r>
              <a:rPr lang="ko-KR" altLang="en-US" sz="3200" b="1" dirty="0" smtClean="0">
                <a:gradFill>
                  <a:gsLst>
                    <a:gs pos="0">
                      <a:schemeClr val="tx1"/>
                    </a:gs>
                    <a:gs pos="100000">
                      <a:schemeClr val="tx1"/>
                    </a:gs>
                  </a:gsLst>
                  <a:lin ang="5400000" scaled="1"/>
                </a:gradFill>
                <a:latin typeface="맑은 고딕" panose="020B0503020000020004" pitchFamily="50" charset="-127"/>
              </a:rPr>
              <a:t>컨텐츠</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661304" y="1392603"/>
            <a:ext cx="10869388" cy="4539704"/>
          </a:xfrm>
          <a:prstGeom prst="rect">
            <a:avLst/>
          </a:prstGeom>
          <a:noFill/>
        </p:spPr>
        <p:txBody>
          <a:bodyPr wrap="square" rtlCol="0">
            <a:spAutoFit/>
          </a:bodyPr>
          <a:lstStyle/>
          <a:p>
            <a:r>
              <a:rPr lang="ko-KR" altLang="en-US" sz="2000" u="sng" dirty="0" smtClean="0"/>
              <a:t>전투 시스템</a:t>
            </a:r>
            <a:r>
              <a:rPr lang="en-US" altLang="ko-KR" sz="2000" u="sng" dirty="0" smtClean="0"/>
              <a:t>, </a:t>
            </a:r>
            <a:r>
              <a:rPr lang="ko-KR" altLang="en-US" sz="2000" u="sng" dirty="0" smtClean="0"/>
              <a:t>육성 시스템</a:t>
            </a:r>
            <a:r>
              <a:rPr lang="ko-KR" altLang="ko-KR" sz="2000" u="sng" dirty="0" smtClean="0"/>
              <a:t>을 </a:t>
            </a:r>
            <a:r>
              <a:rPr lang="ko-KR" altLang="ko-KR" sz="2000" u="sng" dirty="0"/>
              <a:t>세부 기획 컨텐츠로 설정한다</a:t>
            </a:r>
            <a:r>
              <a:rPr lang="en-US" altLang="ko-KR" sz="2000" u="sng" dirty="0" smtClean="0"/>
              <a:t>.</a:t>
            </a:r>
            <a:br>
              <a:rPr lang="en-US" altLang="ko-KR" sz="2000" u="sng" dirty="0" smtClean="0"/>
            </a:br>
            <a:r>
              <a:rPr lang="en-US" altLang="ko-KR" sz="1100" u="sng" dirty="0" smtClean="0"/>
              <a:t/>
            </a:r>
            <a:br>
              <a:rPr lang="en-US" altLang="ko-KR" sz="1100" u="sng" dirty="0" smtClean="0"/>
            </a:br>
            <a:r>
              <a:rPr lang="ko-KR" altLang="en-US" sz="2000" u="sng" dirty="0" smtClean="0"/>
              <a:t>상성과 능력에 관한 구체적인 시스템과 밸런스에</a:t>
            </a:r>
            <a:r>
              <a:rPr lang="ko-KR" altLang="ko-KR" sz="2000" u="sng" dirty="0" smtClean="0"/>
              <a:t> </a:t>
            </a:r>
            <a:r>
              <a:rPr lang="ko-KR" altLang="ko-KR" sz="2000" u="sng" dirty="0"/>
              <a:t>초점을 두어 기획한다</a:t>
            </a:r>
            <a:r>
              <a:rPr lang="en-US" altLang="ko-KR" sz="2000" dirty="0" smtClean="0"/>
              <a:t>.</a:t>
            </a:r>
            <a:r>
              <a:rPr lang="en-US" altLang="ko-KR" dirty="0" smtClean="0"/>
              <a:t/>
            </a:r>
            <a:br>
              <a:rPr lang="en-US" altLang="ko-KR" dirty="0" smtClean="0"/>
            </a:br>
            <a:r>
              <a:rPr lang="en-US" altLang="ko-KR" dirty="0" smtClean="0"/>
              <a:t/>
            </a:r>
            <a:br>
              <a:rPr lang="en-US" altLang="ko-KR" dirty="0" smtClean="0"/>
            </a:br>
            <a:r>
              <a:rPr lang="en-US" altLang="ko-KR" sz="2000" dirty="0" smtClean="0"/>
              <a:t>• </a:t>
            </a:r>
            <a:r>
              <a:rPr lang="ko-KR" altLang="en-US" sz="2000" dirty="0" smtClean="0"/>
              <a:t>캐릭터와 </a:t>
            </a:r>
            <a:r>
              <a:rPr lang="ko-KR" altLang="en-US" sz="2000" dirty="0" err="1" smtClean="0"/>
              <a:t>몬스터</a:t>
            </a:r>
            <a:r>
              <a:rPr lang="ko-KR" altLang="en-US" sz="2000" dirty="0" smtClean="0"/>
              <a:t> 각각의 </a:t>
            </a:r>
            <a:r>
              <a:rPr lang="ko-KR" altLang="en-US" sz="2000" dirty="0" err="1" smtClean="0"/>
              <a:t>컨셉에</a:t>
            </a:r>
            <a:r>
              <a:rPr lang="ko-KR" altLang="en-US" sz="2000" dirty="0" smtClean="0"/>
              <a:t> 맞는 전투 방식과 능력 기획</a:t>
            </a:r>
            <a:endParaRPr lang="en-US" altLang="ko-KR" sz="2000" dirty="0" smtClean="0"/>
          </a:p>
          <a:p>
            <a:r>
              <a:rPr lang="en-US" altLang="ko-KR" sz="2000" dirty="0" smtClean="0"/>
              <a:t/>
            </a:r>
            <a:br>
              <a:rPr lang="en-US" altLang="ko-KR" sz="2000" dirty="0" smtClean="0"/>
            </a:br>
            <a:r>
              <a:rPr lang="en-US" altLang="ko-KR" sz="2000" dirty="0" smtClean="0"/>
              <a:t>• </a:t>
            </a:r>
            <a:r>
              <a:rPr lang="ko-KR" altLang="en-US" sz="2000" dirty="0" smtClean="0"/>
              <a:t>수치와 상성을 기반으로 공식을 설정하여 실질적인 전투 시스템 기획</a:t>
            </a:r>
            <a:endParaRPr lang="en-US" altLang="ko-KR" sz="2000" dirty="0" smtClean="0"/>
          </a:p>
          <a:p>
            <a:r>
              <a:rPr lang="en-US" altLang="ko-KR" sz="2000" dirty="0" smtClean="0"/>
              <a:t/>
            </a:r>
            <a:br>
              <a:rPr lang="en-US" altLang="ko-KR" sz="2000" dirty="0" smtClean="0"/>
            </a:br>
            <a:r>
              <a:rPr lang="en-US" altLang="ko-KR" sz="2000" dirty="0" smtClean="0"/>
              <a:t>• </a:t>
            </a:r>
            <a:r>
              <a:rPr lang="ko-KR" altLang="en-US" sz="2000" dirty="0" smtClean="0"/>
              <a:t>아이템과 </a:t>
            </a:r>
            <a:r>
              <a:rPr lang="ko-KR" altLang="en-US" sz="2000" dirty="0" err="1" smtClean="0"/>
              <a:t>레벨업을</a:t>
            </a:r>
            <a:r>
              <a:rPr lang="ko-KR" altLang="en-US" sz="2000" dirty="0" smtClean="0"/>
              <a:t> 고려한 </a:t>
            </a:r>
            <a:r>
              <a:rPr lang="ko-KR" altLang="en-US" sz="2000" dirty="0" err="1" smtClean="0"/>
              <a:t>스테이터스</a:t>
            </a:r>
            <a:r>
              <a:rPr lang="ko-KR" altLang="en-US" sz="2000" dirty="0" smtClean="0"/>
              <a:t> 밸런스 설정과 조정</a:t>
            </a:r>
            <a:r>
              <a:rPr lang="en-US" altLang="ko-KR" sz="2000" dirty="0" smtClean="0"/>
              <a:t/>
            </a:r>
            <a:br>
              <a:rPr lang="en-US" altLang="ko-KR" sz="2000" dirty="0" smtClean="0"/>
            </a:br>
            <a:r>
              <a:rPr lang="en-US" altLang="ko-KR" sz="2000" dirty="0" smtClean="0"/>
              <a:t/>
            </a:r>
            <a:br>
              <a:rPr lang="en-US" altLang="ko-KR" sz="2000" dirty="0" smtClean="0"/>
            </a:br>
            <a:r>
              <a:rPr lang="en-US" altLang="ko-KR" sz="2000" dirty="0" smtClean="0"/>
              <a:t>• </a:t>
            </a:r>
            <a:r>
              <a:rPr lang="ko-KR" altLang="en-US" sz="2000" dirty="0" err="1" smtClean="0"/>
              <a:t>던전</a:t>
            </a:r>
            <a:r>
              <a:rPr lang="ko-KR" altLang="en-US" sz="2000" dirty="0" smtClean="0"/>
              <a:t> 내 세부 </a:t>
            </a:r>
            <a:r>
              <a:rPr lang="ko-KR" altLang="en-US" sz="2000" dirty="0" err="1" smtClean="0"/>
              <a:t>에어리어들</a:t>
            </a:r>
            <a:r>
              <a:rPr lang="ko-KR" altLang="en-US" sz="2000" dirty="0" smtClean="0"/>
              <a:t> 및 전투</a:t>
            </a:r>
            <a:r>
              <a:rPr lang="en-US" altLang="ko-KR" sz="2000" dirty="0" smtClean="0"/>
              <a:t>(</a:t>
            </a:r>
            <a:r>
              <a:rPr lang="ko-KR" altLang="en-US" sz="2000" dirty="0" err="1" smtClean="0"/>
              <a:t>던전</a:t>
            </a:r>
            <a:r>
              <a:rPr lang="en-US" altLang="ko-KR" sz="2000" dirty="0" smtClean="0"/>
              <a:t>)</a:t>
            </a:r>
            <a:r>
              <a:rPr lang="ko-KR" altLang="en-US" sz="2000" dirty="0" smtClean="0"/>
              <a:t> 레벨 디자인 기획</a:t>
            </a:r>
            <a:r>
              <a:rPr lang="en-US" altLang="ko-KR" sz="2000" dirty="0" smtClean="0"/>
              <a:t/>
            </a:r>
            <a:br>
              <a:rPr lang="en-US" altLang="ko-KR" sz="2000" dirty="0" smtClean="0"/>
            </a:br>
            <a:r>
              <a:rPr lang="en-US" altLang="ko-KR" sz="2000" dirty="0" smtClean="0"/>
              <a:t/>
            </a:r>
            <a:br>
              <a:rPr lang="en-US" altLang="ko-KR" sz="2000" dirty="0" smtClean="0"/>
            </a:br>
            <a:r>
              <a:rPr lang="en-US" altLang="ko-KR" sz="2000" dirty="0"/>
              <a:t>• </a:t>
            </a:r>
            <a:r>
              <a:rPr lang="en-US" altLang="ko-KR" sz="2000" dirty="0" smtClean="0"/>
              <a:t/>
            </a:r>
            <a:br>
              <a:rPr lang="en-US" altLang="ko-KR" sz="2000" dirty="0" smtClean="0"/>
            </a:br>
            <a:r>
              <a:rPr lang="en-US" altLang="ko-KR" sz="2000" dirty="0" smtClean="0"/>
              <a:t/>
            </a:r>
            <a:br>
              <a:rPr lang="en-US" altLang="ko-KR" sz="2000" dirty="0" smtClean="0"/>
            </a:br>
            <a:r>
              <a:rPr lang="en-US" altLang="ko-KR" sz="2000" dirty="0" smtClean="0"/>
              <a:t>•</a:t>
            </a:r>
            <a:endParaRPr lang="ko-KR" altLang="ko-KR" sz="20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38</a:t>
            </a:fld>
            <a:endParaRPr lang="ko-KR" altLang="en-US" sz="1800" dirty="0"/>
          </a:p>
        </p:txBody>
      </p:sp>
    </p:spTree>
    <p:extLst>
      <p:ext uri="{BB962C8B-B14F-4D97-AF65-F5344CB8AC3E}">
        <p14:creationId xmlns:p14="http://schemas.microsoft.com/office/powerpoint/2010/main" val="365374363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기획서 제작 계획</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089296" y="797899"/>
            <a:ext cx="2127705"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보완점</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661305" y="1539074"/>
            <a:ext cx="10869388" cy="4462760"/>
          </a:xfrm>
          <a:prstGeom prst="rect">
            <a:avLst/>
          </a:prstGeom>
          <a:noFill/>
        </p:spPr>
        <p:txBody>
          <a:bodyPr wrap="square" rtlCol="0">
            <a:spAutoFit/>
          </a:bodyPr>
          <a:lstStyle/>
          <a:p>
            <a:r>
              <a:rPr lang="en-US" altLang="ko-KR" sz="2000" dirty="0"/>
              <a:t>• </a:t>
            </a:r>
            <a:r>
              <a:rPr lang="ko-KR" altLang="ko-KR" sz="2000" dirty="0" smtClean="0"/>
              <a:t>구체적인 </a:t>
            </a:r>
            <a:r>
              <a:rPr lang="ko-KR" altLang="en-US" sz="2000" dirty="0" smtClean="0"/>
              <a:t>그래픽 </a:t>
            </a:r>
            <a:r>
              <a:rPr lang="ko-KR" altLang="en-US" sz="2000" dirty="0" err="1" smtClean="0"/>
              <a:t>컨셉과</a:t>
            </a:r>
            <a:r>
              <a:rPr lang="ko-KR" altLang="en-US" sz="2000" dirty="0" smtClean="0"/>
              <a:t> </a:t>
            </a:r>
            <a:r>
              <a:rPr lang="ko-KR" altLang="ko-KR" sz="2000" dirty="0" smtClean="0"/>
              <a:t>레벨 디자인</a:t>
            </a:r>
            <a:r>
              <a:rPr lang="en-US" altLang="ko-KR" sz="2000" dirty="0"/>
              <a:t>,</a:t>
            </a:r>
            <a:r>
              <a:rPr lang="ko-KR" altLang="en-US" sz="2000" dirty="0" smtClean="0"/>
              <a:t> </a:t>
            </a:r>
            <a:r>
              <a:rPr lang="en-US" altLang="ko-KR" sz="2000" dirty="0" smtClean="0"/>
              <a:t>UI</a:t>
            </a:r>
            <a:r>
              <a:rPr lang="ko-KR" altLang="ko-KR" sz="2000" dirty="0" smtClean="0"/>
              <a:t>에 </a:t>
            </a:r>
            <a:r>
              <a:rPr lang="ko-KR" altLang="ko-KR" sz="2000" dirty="0"/>
              <a:t>대한 </a:t>
            </a:r>
            <a:r>
              <a:rPr lang="ko-KR" altLang="ko-KR" sz="2000" dirty="0" smtClean="0"/>
              <a:t>기획</a:t>
            </a:r>
            <a:r>
              <a:rPr lang="ko-KR" altLang="en-US" sz="2000" dirty="0" smtClean="0"/>
              <a:t>의 빈약함</a:t>
            </a:r>
            <a:endParaRPr lang="en-US" altLang="ko-KR" sz="2000" dirty="0" smtClean="0"/>
          </a:p>
          <a:p>
            <a:r>
              <a:rPr lang="en-US" altLang="ko-KR" sz="2000" dirty="0" smtClean="0"/>
              <a:t> └&gt; </a:t>
            </a:r>
            <a:r>
              <a:rPr lang="ko-KR" altLang="en-US" sz="2000" dirty="0" smtClean="0"/>
              <a:t>레벨 디자인과 </a:t>
            </a:r>
            <a:r>
              <a:rPr lang="en-US" altLang="ko-KR" sz="2000" dirty="0" smtClean="0"/>
              <a:t>UI</a:t>
            </a:r>
            <a:r>
              <a:rPr lang="ko-KR" altLang="en-US" sz="2000" dirty="0" smtClean="0"/>
              <a:t>에 대한 기획을 통해 그래픽 </a:t>
            </a:r>
            <a:r>
              <a:rPr lang="ko-KR" altLang="en-US" sz="2000" dirty="0" err="1" smtClean="0"/>
              <a:t>컨셉을</a:t>
            </a:r>
            <a:r>
              <a:rPr lang="ko-KR" altLang="en-US" sz="2000" dirty="0" smtClean="0"/>
              <a:t> 밝히고 </a:t>
            </a:r>
            <a:r>
              <a:rPr lang="ko-KR" altLang="en-US" sz="2000" dirty="0" err="1" smtClean="0"/>
              <a:t>직관성을</a:t>
            </a:r>
            <a:r>
              <a:rPr lang="ko-KR" altLang="en-US" sz="2000" dirty="0" smtClean="0"/>
              <a:t> 높여야 한다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a:t>• </a:t>
            </a:r>
            <a:r>
              <a:rPr lang="ko-KR" altLang="ko-KR" sz="2000" dirty="0" smtClean="0"/>
              <a:t>수사 </a:t>
            </a:r>
            <a:r>
              <a:rPr lang="ko-KR" altLang="ko-KR" sz="2000" dirty="0"/>
              <a:t>과정을 표현한 것이 단순한 스킬 체크 방식이었던 </a:t>
            </a:r>
            <a:r>
              <a:rPr lang="ko-KR" altLang="en-US" sz="2000" dirty="0"/>
              <a:t>점</a:t>
            </a:r>
            <a:endParaRPr lang="en-US" altLang="ko-KR" sz="2000" dirty="0" smtClean="0"/>
          </a:p>
          <a:p>
            <a:r>
              <a:rPr lang="en-US" altLang="ko-KR" sz="2000" dirty="0" smtClean="0"/>
              <a:t> └&gt; </a:t>
            </a:r>
            <a:r>
              <a:rPr lang="ko-KR" altLang="en-US" sz="2000" dirty="0" smtClean="0"/>
              <a:t>너무 어렵지 않으면서도 긴장감을 줄 수 있는 다양한 미니게임 고안이 필요하다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a:t>• </a:t>
            </a:r>
            <a:r>
              <a:rPr lang="ko-KR" altLang="en-US" sz="2000" dirty="0" smtClean="0"/>
              <a:t>시스템 요소들의 구체적인 수치에 대한 기획이 전무</a:t>
            </a:r>
            <a:endParaRPr lang="en-US" altLang="ko-KR" sz="2000" dirty="0" smtClean="0"/>
          </a:p>
          <a:p>
            <a:r>
              <a:rPr lang="en-US" altLang="ko-KR" sz="2000" dirty="0" smtClean="0"/>
              <a:t> </a:t>
            </a:r>
            <a:r>
              <a:rPr lang="en-US" altLang="ko-KR" sz="2000" dirty="0"/>
              <a:t>└</a:t>
            </a:r>
            <a:r>
              <a:rPr lang="en-US" altLang="ko-KR" sz="2000" dirty="0" smtClean="0"/>
              <a:t>&gt; </a:t>
            </a:r>
            <a:r>
              <a:rPr lang="ko-KR" altLang="en-US" sz="2000" dirty="0" err="1" smtClean="0"/>
              <a:t>범죄율</a:t>
            </a:r>
            <a:r>
              <a:rPr lang="en-US" altLang="ko-KR" sz="2000" dirty="0" smtClean="0"/>
              <a:t>, </a:t>
            </a:r>
            <a:r>
              <a:rPr lang="ko-KR" altLang="en-US" sz="2000" dirty="0" smtClean="0"/>
              <a:t>명성</a:t>
            </a:r>
            <a:r>
              <a:rPr lang="en-US" altLang="ko-KR" sz="2000" dirty="0" smtClean="0"/>
              <a:t>, </a:t>
            </a:r>
            <a:r>
              <a:rPr lang="ko-KR" altLang="en-US" sz="2000" dirty="0" smtClean="0"/>
              <a:t>자금</a:t>
            </a:r>
            <a:r>
              <a:rPr lang="en-US" altLang="ko-KR" sz="2000" dirty="0" smtClean="0"/>
              <a:t>(</a:t>
            </a:r>
            <a:r>
              <a:rPr lang="ko-KR" altLang="en-US" sz="2000" dirty="0" smtClean="0"/>
              <a:t>가격</a:t>
            </a:r>
            <a:r>
              <a:rPr lang="en-US" altLang="ko-KR" sz="2000" dirty="0" smtClean="0"/>
              <a:t>) </a:t>
            </a:r>
            <a:r>
              <a:rPr lang="ko-KR" altLang="en-US" sz="2000" dirty="0" smtClean="0"/>
              <a:t>등에 대한 밸런스 디자인이 요구된다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a:t>• </a:t>
            </a:r>
            <a:r>
              <a:rPr lang="ko-KR" altLang="en-US" sz="2000" dirty="0" smtClean="0"/>
              <a:t>선택 요소들과 </a:t>
            </a:r>
            <a:r>
              <a:rPr lang="ko-KR" altLang="ko-KR" sz="2000" dirty="0" smtClean="0"/>
              <a:t>이벤트 소개</a:t>
            </a:r>
            <a:r>
              <a:rPr lang="ko-KR" altLang="en-US" sz="2000" dirty="0" smtClean="0"/>
              <a:t>의 모호함</a:t>
            </a:r>
            <a:endParaRPr lang="en-US" altLang="ko-KR" sz="2000" dirty="0" smtClean="0"/>
          </a:p>
          <a:p>
            <a:r>
              <a:rPr lang="en-US" altLang="ko-KR" sz="2000" dirty="0" smtClean="0"/>
              <a:t> └</a:t>
            </a:r>
            <a:r>
              <a:rPr lang="en-US" altLang="ko-KR" sz="2000" dirty="0"/>
              <a:t>&gt; </a:t>
            </a:r>
            <a:r>
              <a:rPr lang="ko-KR" altLang="en-US" sz="2000" dirty="0" smtClean="0"/>
              <a:t>핵심 선택 요소들과 특수 이벤트들을 간추려 구체적으로 제시할 필요가 있다</a:t>
            </a:r>
            <a:r>
              <a:rPr lang="en-US" altLang="ko-KR" sz="2000" dirty="0"/>
              <a:t>.</a:t>
            </a:r>
            <a:br>
              <a:rPr lang="en-US" altLang="ko-KR" sz="2000" dirty="0"/>
            </a:br>
            <a:r>
              <a:rPr lang="en-US" altLang="ko-KR" sz="2000" dirty="0"/>
              <a:t/>
            </a:r>
            <a:br>
              <a:rPr lang="en-US" altLang="ko-KR" sz="2000" dirty="0"/>
            </a:br>
            <a:r>
              <a:rPr lang="en-US" altLang="ko-KR" sz="2000" dirty="0"/>
              <a:t>• </a:t>
            </a:r>
            <a:r>
              <a:rPr lang="ko-KR" altLang="en-US" sz="2000" dirty="0" smtClean="0"/>
              <a:t>게임 플레이에 더욱 몰입할 수 있는 요소가 부족</a:t>
            </a:r>
            <a:endParaRPr lang="en-US" altLang="ko-KR" sz="2000" dirty="0"/>
          </a:p>
          <a:p>
            <a:r>
              <a:rPr lang="en-US" altLang="ko-KR" sz="2000" dirty="0"/>
              <a:t> └&gt; </a:t>
            </a:r>
            <a:r>
              <a:rPr lang="ko-KR" altLang="en-US" sz="2000" dirty="0" smtClean="0"/>
              <a:t>도전과제처럼 게이머의 도전 정신을 불러일으킬 수 있는 </a:t>
            </a:r>
            <a:r>
              <a:rPr lang="ko-KR" altLang="en-US" sz="2000" dirty="0" err="1" smtClean="0"/>
              <a:t>컨텐츠를</a:t>
            </a:r>
            <a:r>
              <a:rPr lang="ko-KR" altLang="en-US" sz="2000" dirty="0" smtClean="0"/>
              <a:t> 추가해야 한다</a:t>
            </a:r>
            <a:r>
              <a:rPr lang="en-US" altLang="ko-KR" sz="2000" dirty="0" smtClean="0"/>
              <a:t>.</a:t>
            </a:r>
            <a:endParaRPr lang="ko-KR" altLang="ko-KR" sz="20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39</a:t>
            </a:fld>
            <a:endParaRPr lang="ko-KR" altLang="en-US" sz="1800" dirty="0"/>
          </a:p>
        </p:txBody>
      </p:sp>
    </p:spTree>
    <p:extLst>
      <p:ext uri="{BB962C8B-B14F-4D97-AF65-F5344CB8AC3E}">
        <p14:creationId xmlns:p14="http://schemas.microsoft.com/office/powerpoint/2010/main" val="239740876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참고문헌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886323" y="620053"/>
            <a:ext cx="2419351"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참고문헌</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246741" y="1109945"/>
            <a:ext cx="11698516" cy="5078313"/>
          </a:xfrm>
          <a:prstGeom prst="rect">
            <a:avLst/>
          </a:prstGeom>
          <a:noFill/>
        </p:spPr>
        <p:txBody>
          <a:bodyPr wrap="square" rtlCol="0">
            <a:spAutoFit/>
          </a:bodyPr>
          <a:lstStyle/>
          <a:p>
            <a:pPr>
              <a:lnSpc>
                <a:spcPct val="150000"/>
              </a:lnSpc>
            </a:pPr>
            <a:r>
              <a:rPr lang="en-US" altLang="ko-KR" dirty="0" smtClean="0"/>
              <a:t>1-1) </a:t>
            </a:r>
            <a:r>
              <a:rPr lang="ko-KR" altLang="en-US" dirty="0" smtClean="0"/>
              <a:t>포켓몬스터 모바일 게임 속 전투 화면</a:t>
            </a:r>
            <a:endParaRPr lang="en-US" altLang="ko-KR" dirty="0" smtClean="0"/>
          </a:p>
          <a:p>
            <a:pPr>
              <a:lnSpc>
                <a:spcPct val="150000"/>
              </a:lnSpc>
            </a:pPr>
            <a:r>
              <a:rPr lang="en-US" altLang="ko-KR" dirty="0" smtClean="0">
                <a:hlinkClick r:id="rId2"/>
              </a:rPr>
              <a:t>https</a:t>
            </a:r>
            <a:r>
              <a:rPr lang="en-US" altLang="ko-KR" dirty="0">
                <a:hlinkClick r:id="rId2"/>
              </a:rPr>
              <a:t>://</a:t>
            </a:r>
            <a:r>
              <a:rPr lang="en-US" altLang="ko-KR" dirty="0" smtClean="0">
                <a:hlinkClick r:id="rId2"/>
              </a:rPr>
              <a:t>www.clien.net/service/board/park/12754454</a:t>
            </a:r>
            <a:r>
              <a:rPr lang="en-US" altLang="ko-KR" dirty="0" smtClean="0"/>
              <a:t> (1</a:t>
            </a:r>
            <a:r>
              <a:rPr lang="ko-KR" altLang="en-US" dirty="0" smtClean="0"/>
              <a:t>번 </a:t>
            </a:r>
            <a:r>
              <a:rPr lang="ko-KR" altLang="en-US" dirty="0" err="1" smtClean="0"/>
              <a:t>스크린샷</a:t>
            </a:r>
            <a:r>
              <a:rPr lang="en-US" altLang="ko-KR" dirty="0" smtClean="0"/>
              <a:t>)</a:t>
            </a:r>
          </a:p>
          <a:p>
            <a:pPr>
              <a:lnSpc>
                <a:spcPct val="150000"/>
              </a:lnSpc>
            </a:pPr>
            <a:r>
              <a:rPr lang="en-US" altLang="ko-KR" dirty="0" smtClean="0"/>
              <a:t>1-2</a:t>
            </a:r>
            <a:r>
              <a:rPr lang="en-US" altLang="ko-KR" dirty="0"/>
              <a:t>)</a:t>
            </a:r>
            <a:r>
              <a:rPr lang="en-US" altLang="ko-KR" dirty="0" smtClean="0"/>
              <a:t> ‘</a:t>
            </a:r>
            <a:r>
              <a:rPr lang="ko-KR" altLang="en-US" dirty="0" err="1" smtClean="0"/>
              <a:t>서머너즈</a:t>
            </a:r>
            <a:r>
              <a:rPr lang="ko-KR" altLang="en-US" dirty="0" smtClean="0"/>
              <a:t> 워</a:t>
            </a:r>
            <a:r>
              <a:rPr lang="en-US" altLang="ko-KR" dirty="0" smtClean="0"/>
              <a:t>’, </a:t>
            </a:r>
            <a:r>
              <a:rPr lang="ko-KR" altLang="en-US" dirty="0" smtClean="0"/>
              <a:t>아레나 전투 화면</a:t>
            </a:r>
            <a:endParaRPr lang="en-US" altLang="ko-KR" dirty="0" smtClean="0"/>
          </a:p>
          <a:p>
            <a:pPr>
              <a:lnSpc>
                <a:spcPct val="150000"/>
              </a:lnSpc>
            </a:pPr>
            <a:r>
              <a:rPr lang="en-US" altLang="ko-KR" dirty="0" smtClean="0">
                <a:hlinkClick r:id="rId3"/>
              </a:rPr>
              <a:t>http</a:t>
            </a:r>
            <a:r>
              <a:rPr lang="en-US" altLang="ko-KR" dirty="0">
                <a:hlinkClick r:id="rId3"/>
              </a:rPr>
              <a:t>://</a:t>
            </a:r>
            <a:r>
              <a:rPr lang="en-US" altLang="ko-KR" dirty="0" smtClean="0">
                <a:hlinkClick r:id="rId3"/>
              </a:rPr>
              <a:t>www.kukinews.com/news/article.html?no=467851</a:t>
            </a:r>
            <a:r>
              <a:rPr lang="en-US" altLang="ko-KR" dirty="0" smtClean="0"/>
              <a:t> (1</a:t>
            </a:r>
            <a:r>
              <a:rPr lang="ko-KR" altLang="en-US" dirty="0" smtClean="0"/>
              <a:t>번 </a:t>
            </a:r>
            <a:r>
              <a:rPr lang="ko-KR" altLang="en-US" dirty="0" err="1" smtClean="0"/>
              <a:t>스크린샷</a:t>
            </a:r>
            <a:r>
              <a:rPr lang="en-US" altLang="ko-KR" dirty="0" smtClean="0"/>
              <a:t>)</a:t>
            </a:r>
          </a:p>
          <a:p>
            <a:pPr>
              <a:lnSpc>
                <a:spcPct val="150000"/>
              </a:lnSpc>
            </a:pPr>
            <a:r>
              <a:rPr lang="en-US" altLang="ko-KR" dirty="0" smtClean="0"/>
              <a:t>2-1) ‘</a:t>
            </a:r>
            <a:r>
              <a:rPr lang="ko-KR" altLang="en-US" dirty="0" err="1" smtClean="0"/>
              <a:t>던그리드</a:t>
            </a:r>
            <a:r>
              <a:rPr lang="en-US" altLang="ko-KR" dirty="0" smtClean="0"/>
              <a:t>’, </a:t>
            </a:r>
            <a:r>
              <a:rPr lang="ko-KR" altLang="en-US" dirty="0" err="1" smtClean="0"/>
              <a:t>튜토리얼</a:t>
            </a:r>
            <a:r>
              <a:rPr lang="ko-KR" altLang="en-US" dirty="0" smtClean="0"/>
              <a:t> 속 던전의 출현 화면</a:t>
            </a:r>
            <a:endParaRPr lang="en-US" altLang="ko-KR" dirty="0" smtClean="0"/>
          </a:p>
          <a:p>
            <a:pPr>
              <a:lnSpc>
                <a:spcPct val="150000"/>
              </a:lnSpc>
            </a:pPr>
            <a:r>
              <a:rPr lang="en-US" altLang="ko-KR" dirty="0" smtClean="0">
                <a:hlinkClick r:id="rId4"/>
              </a:rPr>
              <a:t>https</a:t>
            </a:r>
            <a:r>
              <a:rPr lang="en-US" altLang="ko-KR" dirty="0">
                <a:hlinkClick r:id="rId4"/>
              </a:rPr>
              <a:t>://</a:t>
            </a:r>
            <a:r>
              <a:rPr lang="en-US" altLang="ko-KR" dirty="0" smtClean="0">
                <a:hlinkClick r:id="rId4"/>
              </a:rPr>
              <a:t>www.vingle.net/posts/2320991</a:t>
            </a:r>
            <a:r>
              <a:rPr lang="en-US" altLang="ko-KR" dirty="0" smtClean="0"/>
              <a:t> (</a:t>
            </a:r>
            <a:r>
              <a:rPr lang="en-US" altLang="ko-KR" dirty="0"/>
              <a:t>2</a:t>
            </a:r>
            <a:r>
              <a:rPr lang="ko-KR" altLang="en-US" dirty="0" smtClean="0"/>
              <a:t>번 </a:t>
            </a:r>
            <a:r>
              <a:rPr lang="ko-KR" altLang="en-US" dirty="0" err="1" smtClean="0"/>
              <a:t>스크린샷</a:t>
            </a:r>
            <a:r>
              <a:rPr lang="en-US" altLang="ko-KR" dirty="0" smtClean="0"/>
              <a:t>)</a:t>
            </a:r>
          </a:p>
          <a:p>
            <a:pPr>
              <a:lnSpc>
                <a:spcPct val="150000"/>
              </a:lnSpc>
            </a:pPr>
            <a:r>
              <a:rPr lang="en-US" altLang="ko-KR" dirty="0"/>
              <a:t>2</a:t>
            </a:r>
            <a:r>
              <a:rPr lang="en-US" altLang="ko-KR" dirty="0" smtClean="0"/>
              <a:t>-2) ‘</a:t>
            </a:r>
            <a:r>
              <a:rPr lang="ko-KR" altLang="en-US" dirty="0" err="1" smtClean="0"/>
              <a:t>다키스트</a:t>
            </a:r>
            <a:r>
              <a:rPr lang="ko-KR" altLang="en-US" dirty="0" smtClean="0"/>
              <a:t> 던전</a:t>
            </a:r>
            <a:r>
              <a:rPr lang="en-US" altLang="ko-KR" dirty="0" smtClean="0"/>
              <a:t>’, </a:t>
            </a:r>
            <a:r>
              <a:rPr lang="ko-KR" altLang="en-US" dirty="0" smtClean="0"/>
              <a:t>던전 전투 화면</a:t>
            </a:r>
            <a:endParaRPr lang="en-US" altLang="ko-KR" dirty="0" smtClean="0"/>
          </a:p>
          <a:p>
            <a:pPr>
              <a:lnSpc>
                <a:spcPct val="150000"/>
              </a:lnSpc>
            </a:pPr>
            <a:r>
              <a:rPr lang="en-US" altLang="ko-KR" dirty="0" smtClean="0">
                <a:hlinkClick r:id="rId5"/>
              </a:rPr>
              <a:t>https</a:t>
            </a:r>
            <a:r>
              <a:rPr lang="en-US" altLang="ko-KR" dirty="0">
                <a:hlinkClick r:id="rId5"/>
              </a:rPr>
              <a:t>://steamcommunity.com/sharedfiles/filedetails/?</a:t>
            </a:r>
            <a:r>
              <a:rPr lang="en-US" altLang="ko-KR" dirty="0" smtClean="0">
                <a:hlinkClick r:id="rId5"/>
              </a:rPr>
              <a:t>id=396427946</a:t>
            </a:r>
            <a:r>
              <a:rPr lang="en-US" altLang="ko-KR" dirty="0" smtClean="0"/>
              <a:t> (11</a:t>
            </a:r>
            <a:r>
              <a:rPr lang="ko-KR" altLang="en-US" dirty="0" smtClean="0"/>
              <a:t>번 </a:t>
            </a:r>
            <a:r>
              <a:rPr lang="ko-KR" altLang="en-US" dirty="0" err="1" smtClean="0"/>
              <a:t>스크린샷</a:t>
            </a:r>
            <a:r>
              <a:rPr lang="en-US" altLang="ko-KR" dirty="0" smtClean="0"/>
              <a:t>)</a:t>
            </a:r>
          </a:p>
          <a:p>
            <a:pPr>
              <a:lnSpc>
                <a:spcPct val="150000"/>
              </a:lnSpc>
            </a:pPr>
            <a:r>
              <a:rPr lang="en-US" altLang="ko-KR" dirty="0"/>
              <a:t>2</a:t>
            </a:r>
            <a:r>
              <a:rPr lang="en-US" altLang="ko-KR" dirty="0" smtClean="0"/>
              <a:t>-3) ‘</a:t>
            </a:r>
            <a:r>
              <a:rPr lang="ko-KR" altLang="en-US" dirty="0" err="1" smtClean="0"/>
              <a:t>아이작의</a:t>
            </a:r>
            <a:r>
              <a:rPr lang="ko-KR" altLang="en-US" dirty="0" smtClean="0"/>
              <a:t> </a:t>
            </a:r>
            <a:r>
              <a:rPr lang="ko-KR" altLang="en-US" dirty="0" err="1" smtClean="0"/>
              <a:t>번제</a:t>
            </a:r>
            <a:r>
              <a:rPr lang="en-US" altLang="ko-KR" dirty="0" smtClean="0"/>
              <a:t>‘, </a:t>
            </a:r>
            <a:r>
              <a:rPr lang="ko-KR" altLang="en-US" dirty="0" smtClean="0"/>
              <a:t>사망 결과 화면</a:t>
            </a:r>
            <a:endParaRPr lang="en-US" altLang="ko-KR" dirty="0" smtClean="0"/>
          </a:p>
          <a:p>
            <a:pPr>
              <a:lnSpc>
                <a:spcPct val="150000"/>
              </a:lnSpc>
            </a:pPr>
            <a:r>
              <a:rPr lang="en-US" altLang="ko-KR" dirty="0" smtClean="0">
                <a:hlinkClick r:id="rId6"/>
              </a:rPr>
              <a:t>https</a:t>
            </a:r>
            <a:r>
              <a:rPr lang="en-US" altLang="ko-KR" dirty="0">
                <a:hlinkClick r:id="rId6"/>
              </a:rPr>
              <a:t>://entropymag.org/hobby-horse-anatomy-bawdy-and-body-in-the-binding-of-isaac-ch-3</a:t>
            </a:r>
            <a:r>
              <a:rPr lang="en-US" altLang="ko-KR" dirty="0" smtClean="0">
                <a:hlinkClick r:id="rId6"/>
              </a:rPr>
              <a:t>/</a:t>
            </a:r>
            <a:r>
              <a:rPr lang="en-US" altLang="ko-KR" dirty="0" smtClean="0"/>
              <a:t> (2</a:t>
            </a:r>
            <a:r>
              <a:rPr lang="ko-KR" altLang="en-US" dirty="0" smtClean="0"/>
              <a:t>번 </a:t>
            </a:r>
            <a:r>
              <a:rPr lang="ko-KR" altLang="en-US" dirty="0" err="1" smtClean="0"/>
              <a:t>스크린샷</a:t>
            </a:r>
            <a:r>
              <a:rPr lang="en-US" altLang="ko-KR" dirty="0" smtClean="0"/>
              <a:t>)</a:t>
            </a:r>
          </a:p>
          <a:p>
            <a:pPr>
              <a:lnSpc>
                <a:spcPct val="150000"/>
              </a:lnSpc>
            </a:pPr>
            <a:r>
              <a:rPr lang="en-US" altLang="ko-KR" dirty="0"/>
              <a:t>2</a:t>
            </a:r>
            <a:r>
              <a:rPr lang="en-US" altLang="ko-KR" dirty="0" smtClean="0"/>
              <a:t>-4) ‘</a:t>
            </a:r>
            <a:r>
              <a:rPr lang="ko-KR" altLang="en-US" dirty="0" smtClean="0"/>
              <a:t>던전 메이커</a:t>
            </a:r>
            <a:r>
              <a:rPr lang="en-US" altLang="ko-KR" dirty="0" smtClean="0"/>
              <a:t>’, </a:t>
            </a:r>
            <a:r>
              <a:rPr lang="ko-KR" altLang="en-US" dirty="0" smtClean="0"/>
              <a:t>보유 몬스터 화면</a:t>
            </a:r>
            <a:endParaRPr lang="en-US" altLang="ko-KR" dirty="0" smtClean="0"/>
          </a:p>
          <a:p>
            <a:pPr>
              <a:lnSpc>
                <a:spcPct val="150000"/>
              </a:lnSpc>
            </a:pPr>
            <a:r>
              <a:rPr lang="en-US" altLang="ko-KR" dirty="0">
                <a:hlinkClick r:id="rId7"/>
              </a:rPr>
              <a:t>https://</a:t>
            </a:r>
            <a:r>
              <a:rPr lang="en-US" altLang="ko-KR" dirty="0" smtClean="0">
                <a:hlinkClick r:id="rId7"/>
              </a:rPr>
              <a:t>minimap.net/game/dungeon-maker/review</a:t>
            </a:r>
            <a:r>
              <a:rPr lang="en-US" altLang="ko-KR" dirty="0" smtClean="0"/>
              <a:t> (9</a:t>
            </a:r>
            <a:r>
              <a:rPr lang="ko-KR" altLang="en-US" dirty="0" smtClean="0"/>
              <a:t>번 </a:t>
            </a:r>
            <a:r>
              <a:rPr lang="ko-KR" altLang="en-US" dirty="0" err="1"/>
              <a:t>스크린샷</a:t>
            </a:r>
            <a:r>
              <a:rPr lang="en-US" altLang="ko-KR" dirty="0" smtClean="0"/>
              <a:t>)</a:t>
            </a: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40</a:t>
            </a:fld>
            <a:endParaRPr lang="ko-KR" altLang="en-US" sz="1800" dirty="0"/>
          </a:p>
        </p:txBody>
      </p:sp>
    </p:spTree>
    <p:extLst>
      <p:ext uri="{BB962C8B-B14F-4D97-AF65-F5344CB8AC3E}">
        <p14:creationId xmlns:p14="http://schemas.microsoft.com/office/powerpoint/2010/main" val="103834342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참고문헌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886323" y="620053"/>
            <a:ext cx="2419351"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참고문헌</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246740" y="1217411"/>
            <a:ext cx="11698516" cy="5493812"/>
          </a:xfrm>
          <a:prstGeom prst="rect">
            <a:avLst/>
          </a:prstGeom>
          <a:noFill/>
        </p:spPr>
        <p:txBody>
          <a:bodyPr wrap="square" rtlCol="0">
            <a:spAutoFit/>
          </a:bodyPr>
          <a:lstStyle/>
          <a:p>
            <a:pPr>
              <a:lnSpc>
                <a:spcPct val="150000"/>
              </a:lnSpc>
            </a:pPr>
            <a:r>
              <a:rPr lang="en-US" altLang="ko-KR" dirty="0" smtClean="0"/>
              <a:t>2-5) ‘</a:t>
            </a:r>
            <a:r>
              <a:rPr lang="ko-KR" altLang="en-US" dirty="0" err="1" smtClean="0"/>
              <a:t>던그리드</a:t>
            </a:r>
            <a:r>
              <a:rPr lang="en-US" altLang="ko-KR" dirty="0" smtClean="0"/>
              <a:t>’, </a:t>
            </a:r>
            <a:r>
              <a:rPr lang="ko-KR" altLang="en-US" dirty="0" smtClean="0"/>
              <a:t>의상실 화면</a:t>
            </a:r>
            <a:endParaRPr lang="en-US" altLang="ko-KR" dirty="0" smtClean="0"/>
          </a:p>
          <a:p>
            <a:pPr>
              <a:lnSpc>
                <a:spcPct val="150000"/>
              </a:lnSpc>
            </a:pPr>
            <a:r>
              <a:rPr lang="en-US" altLang="ko-KR" dirty="0">
                <a:hlinkClick r:id="rId2"/>
              </a:rPr>
              <a:t>https://</a:t>
            </a:r>
            <a:r>
              <a:rPr lang="en-US" altLang="ko-KR" dirty="0" smtClean="0">
                <a:hlinkClick r:id="rId2"/>
              </a:rPr>
              <a:t>realust.tistory.com/506</a:t>
            </a:r>
            <a:r>
              <a:rPr lang="en-US" altLang="ko-KR" dirty="0" smtClean="0"/>
              <a:t> (4</a:t>
            </a:r>
            <a:r>
              <a:rPr lang="ko-KR" altLang="en-US" dirty="0" smtClean="0"/>
              <a:t>번 </a:t>
            </a:r>
            <a:r>
              <a:rPr lang="ko-KR" altLang="en-US" dirty="0" err="1"/>
              <a:t>스크린샷</a:t>
            </a:r>
            <a:r>
              <a:rPr lang="en-US" altLang="ko-KR" dirty="0"/>
              <a:t>)</a:t>
            </a:r>
          </a:p>
          <a:p>
            <a:pPr>
              <a:lnSpc>
                <a:spcPct val="150000"/>
              </a:lnSpc>
            </a:pPr>
            <a:r>
              <a:rPr lang="en-US" altLang="ko-KR" dirty="0" smtClean="0"/>
              <a:t>2-6) ‘</a:t>
            </a:r>
            <a:r>
              <a:rPr lang="ko-KR" altLang="en-US" dirty="0" smtClean="0"/>
              <a:t>몬스터슈퍼리그</a:t>
            </a:r>
            <a:r>
              <a:rPr lang="en-US" altLang="ko-KR" dirty="0" smtClean="0"/>
              <a:t>’, </a:t>
            </a:r>
            <a:r>
              <a:rPr lang="ko-KR" altLang="en-US" dirty="0" smtClean="0"/>
              <a:t>몬스터 획득 장면</a:t>
            </a:r>
            <a:endParaRPr lang="en-US" altLang="ko-KR" dirty="0" smtClean="0"/>
          </a:p>
          <a:p>
            <a:pPr>
              <a:lnSpc>
                <a:spcPct val="150000"/>
              </a:lnSpc>
            </a:pPr>
            <a:r>
              <a:rPr lang="en-US" altLang="ko-KR" dirty="0">
                <a:hlinkClick r:id="rId3"/>
              </a:rPr>
              <a:t>http://www.thisisgame.com/webzine/game/nboard/19/?</a:t>
            </a:r>
            <a:r>
              <a:rPr lang="en-US" altLang="ko-KR" dirty="0" smtClean="0">
                <a:hlinkClick r:id="rId3"/>
              </a:rPr>
              <a:t>page=13&amp;n=64534</a:t>
            </a:r>
            <a:r>
              <a:rPr lang="en-US" altLang="ko-KR" dirty="0" smtClean="0"/>
              <a:t> (</a:t>
            </a:r>
            <a:r>
              <a:rPr lang="en-US" altLang="ko-KR" dirty="0"/>
              <a:t>4</a:t>
            </a:r>
            <a:r>
              <a:rPr lang="ko-KR" altLang="en-US" dirty="0"/>
              <a:t>번 </a:t>
            </a:r>
            <a:r>
              <a:rPr lang="ko-KR" altLang="en-US" dirty="0" err="1"/>
              <a:t>스크린샷</a:t>
            </a:r>
            <a:r>
              <a:rPr lang="en-US" altLang="ko-KR" dirty="0"/>
              <a:t>)</a:t>
            </a:r>
          </a:p>
          <a:p>
            <a:pPr>
              <a:lnSpc>
                <a:spcPct val="150000"/>
              </a:lnSpc>
            </a:pPr>
            <a:r>
              <a:rPr lang="en-US" altLang="ko-KR" dirty="0" smtClean="0"/>
              <a:t>2-7) ‘</a:t>
            </a:r>
            <a:r>
              <a:rPr lang="ko-KR" altLang="en-US" dirty="0" err="1" smtClean="0"/>
              <a:t>마계전기</a:t>
            </a:r>
            <a:r>
              <a:rPr lang="ko-KR" altLang="en-US" dirty="0" smtClean="0"/>
              <a:t> </a:t>
            </a:r>
            <a:r>
              <a:rPr lang="ko-KR" altLang="en-US" dirty="0" err="1" smtClean="0"/>
              <a:t>디스가이아</a:t>
            </a:r>
            <a:r>
              <a:rPr lang="ko-KR" altLang="en-US" dirty="0" smtClean="0"/>
              <a:t> </a:t>
            </a:r>
            <a:r>
              <a:rPr lang="en-US" altLang="ko-KR" dirty="0" smtClean="0"/>
              <a:t>5’</a:t>
            </a:r>
          </a:p>
          <a:p>
            <a:pPr>
              <a:lnSpc>
                <a:spcPct val="150000"/>
              </a:lnSpc>
            </a:pPr>
            <a:r>
              <a:rPr lang="en-US" altLang="ko-KR" dirty="0">
                <a:hlinkClick r:id="rId4"/>
              </a:rPr>
              <a:t>http://www.thisisgame.com/pad/tboard/?</a:t>
            </a:r>
            <a:r>
              <a:rPr lang="en-US" altLang="ko-KR" dirty="0" smtClean="0">
                <a:hlinkClick r:id="rId4"/>
              </a:rPr>
              <a:t>board=37&amp;n=286482</a:t>
            </a:r>
            <a:r>
              <a:rPr lang="en-US" altLang="ko-KR" dirty="0" smtClean="0"/>
              <a:t> (7</a:t>
            </a:r>
            <a:r>
              <a:rPr lang="ko-KR" altLang="en-US" dirty="0" smtClean="0"/>
              <a:t>번 </a:t>
            </a:r>
            <a:r>
              <a:rPr lang="ko-KR" altLang="en-US" dirty="0" err="1"/>
              <a:t>스크린샷</a:t>
            </a:r>
            <a:r>
              <a:rPr lang="en-US" altLang="ko-KR" dirty="0"/>
              <a:t>)</a:t>
            </a:r>
          </a:p>
          <a:p>
            <a:pPr>
              <a:lnSpc>
                <a:spcPct val="150000"/>
              </a:lnSpc>
            </a:pPr>
            <a:r>
              <a:rPr lang="en-US" altLang="ko-KR" dirty="0" smtClean="0"/>
              <a:t>2-8) ‘</a:t>
            </a:r>
            <a:r>
              <a:rPr lang="ko-KR" altLang="en-US" dirty="0" err="1" smtClean="0"/>
              <a:t>미소스</a:t>
            </a:r>
            <a:r>
              <a:rPr lang="ko-KR" altLang="en-US" dirty="0" smtClean="0"/>
              <a:t> 영웅전 </a:t>
            </a:r>
            <a:r>
              <a:rPr lang="en-US" altLang="ko-KR" dirty="0" smtClean="0"/>
              <a:t>for </a:t>
            </a:r>
            <a:r>
              <a:rPr lang="en-US" altLang="ko-KR" dirty="0" err="1" smtClean="0"/>
              <a:t>kakao</a:t>
            </a:r>
            <a:r>
              <a:rPr lang="en-US" altLang="ko-KR" dirty="0" smtClean="0"/>
              <a:t>’, </a:t>
            </a:r>
            <a:r>
              <a:rPr lang="ko-KR" altLang="en-US" dirty="0" smtClean="0"/>
              <a:t>전투 장면</a:t>
            </a:r>
            <a:endParaRPr lang="en-US" altLang="ko-KR" dirty="0" smtClean="0"/>
          </a:p>
          <a:p>
            <a:pPr>
              <a:lnSpc>
                <a:spcPct val="150000"/>
              </a:lnSpc>
            </a:pPr>
            <a:r>
              <a:rPr lang="en-US" altLang="ko-KR" dirty="0">
                <a:hlinkClick r:id="rId5"/>
              </a:rPr>
              <a:t>http://www.thisisgame.com/mobile/nboard/1/?</a:t>
            </a:r>
            <a:r>
              <a:rPr lang="en-US" altLang="ko-KR" dirty="0" smtClean="0">
                <a:hlinkClick r:id="rId5"/>
              </a:rPr>
              <a:t>n=55660&amp;mode=print</a:t>
            </a:r>
            <a:r>
              <a:rPr lang="en-US" altLang="ko-KR" dirty="0" smtClean="0"/>
              <a:t> (7</a:t>
            </a:r>
            <a:r>
              <a:rPr lang="ko-KR" altLang="en-US" dirty="0" smtClean="0"/>
              <a:t>번 </a:t>
            </a:r>
            <a:r>
              <a:rPr lang="ko-KR" altLang="en-US" dirty="0" err="1"/>
              <a:t>스크린샷</a:t>
            </a:r>
            <a:r>
              <a:rPr lang="en-US" altLang="ko-KR" dirty="0"/>
              <a:t>)</a:t>
            </a:r>
          </a:p>
          <a:p>
            <a:pPr>
              <a:lnSpc>
                <a:spcPct val="150000"/>
              </a:lnSpc>
            </a:pPr>
            <a:r>
              <a:rPr lang="en-US" altLang="ko-KR" dirty="0" smtClean="0"/>
              <a:t>2-9) ‘</a:t>
            </a:r>
            <a:r>
              <a:rPr lang="ko-KR" altLang="en-US" dirty="0" err="1" smtClean="0"/>
              <a:t>그랜드체이스</a:t>
            </a:r>
            <a:r>
              <a:rPr lang="ko-KR" altLang="en-US" dirty="0" smtClean="0"/>
              <a:t> 올스타</a:t>
            </a:r>
            <a:r>
              <a:rPr lang="en-US" altLang="ko-KR" dirty="0" smtClean="0"/>
              <a:t>’, </a:t>
            </a:r>
            <a:r>
              <a:rPr lang="ko-KR" altLang="en-US" dirty="0" smtClean="0"/>
              <a:t>전투 장면</a:t>
            </a:r>
            <a:endParaRPr lang="en-US" altLang="ko-KR" dirty="0" smtClean="0"/>
          </a:p>
          <a:p>
            <a:pPr>
              <a:lnSpc>
                <a:spcPct val="150000"/>
              </a:lnSpc>
            </a:pPr>
            <a:r>
              <a:rPr lang="en-US" altLang="ko-KR" dirty="0">
                <a:hlinkClick r:id="rId6"/>
              </a:rPr>
              <a:t>http://www.thisisgame.com/mobile/nboard/1/?</a:t>
            </a:r>
            <a:r>
              <a:rPr lang="en-US" altLang="ko-KR" dirty="0" smtClean="0">
                <a:hlinkClick r:id="rId6"/>
              </a:rPr>
              <a:t>n=51285</a:t>
            </a:r>
            <a:r>
              <a:rPr lang="en-US" altLang="ko-KR" dirty="0" smtClean="0"/>
              <a:t> (2</a:t>
            </a:r>
            <a:r>
              <a:rPr lang="ko-KR" altLang="en-US" dirty="0" smtClean="0"/>
              <a:t>번 </a:t>
            </a:r>
            <a:r>
              <a:rPr lang="ko-KR" altLang="en-US" dirty="0" err="1"/>
              <a:t>스크린샷</a:t>
            </a:r>
            <a:r>
              <a:rPr lang="en-US" altLang="ko-KR" dirty="0"/>
              <a:t>)</a:t>
            </a:r>
          </a:p>
          <a:p>
            <a:pPr>
              <a:lnSpc>
                <a:spcPct val="150000"/>
              </a:lnSpc>
            </a:pPr>
            <a:r>
              <a:rPr lang="en-US" altLang="ko-KR" dirty="0"/>
              <a:t>2-10) </a:t>
            </a:r>
            <a:r>
              <a:rPr lang="en-US" altLang="ko-KR" dirty="0">
                <a:hlinkClick r:id="rId7"/>
              </a:rPr>
              <a:t>https://store.steampowered.com/app/785740/This_Is_the_Police_2/</a:t>
            </a:r>
            <a:r>
              <a:rPr lang="en-US" altLang="ko-KR" dirty="0"/>
              <a:t> (2</a:t>
            </a:r>
            <a:r>
              <a:rPr lang="ko-KR" altLang="en-US" dirty="0"/>
              <a:t>번 </a:t>
            </a:r>
            <a:r>
              <a:rPr lang="ko-KR" altLang="en-US" dirty="0" err="1"/>
              <a:t>스크린샷</a:t>
            </a:r>
            <a:r>
              <a:rPr lang="en-US" altLang="ko-KR" dirty="0"/>
              <a:t>)</a:t>
            </a:r>
          </a:p>
          <a:p>
            <a:pPr>
              <a:lnSpc>
                <a:spcPct val="150000"/>
              </a:lnSpc>
            </a:pPr>
            <a:r>
              <a:rPr lang="en-US" altLang="ko-KR" dirty="0"/>
              <a:t>2-11) </a:t>
            </a:r>
            <a:r>
              <a:rPr lang="en-US" altLang="ko-KR" dirty="0">
                <a:hlinkClick r:id="rId8"/>
              </a:rPr>
              <a:t>https://taskandpurpose.com/xcom2-war-chosen-review/</a:t>
            </a:r>
            <a:r>
              <a:rPr lang="en-US" altLang="ko-KR" dirty="0"/>
              <a:t> </a:t>
            </a:r>
          </a:p>
          <a:p>
            <a:pPr>
              <a:lnSpc>
                <a:spcPct val="150000"/>
              </a:lnSpc>
            </a:pPr>
            <a:endParaRPr lang="ko-KR" altLang="ko-KR"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41</a:t>
            </a:fld>
            <a:endParaRPr lang="ko-KR" altLang="en-US" dirty="0"/>
          </a:p>
        </p:txBody>
      </p:sp>
    </p:spTree>
    <p:extLst>
      <p:ext uri="{BB962C8B-B14F-4D97-AF65-F5344CB8AC3E}">
        <p14:creationId xmlns:p14="http://schemas.microsoft.com/office/powerpoint/2010/main" val="336750069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부록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297713" y="892460"/>
            <a:ext cx="1436915" cy="523220"/>
          </a:xfrm>
          <a:prstGeom prst="rect">
            <a:avLst/>
          </a:prstGeom>
          <a:noFill/>
        </p:spPr>
        <p:txBody>
          <a:bodyPr wrap="square" rtlCol="0">
            <a:spAutoFit/>
          </a:bodyPr>
          <a:lstStyle/>
          <a:p>
            <a:r>
              <a:rPr lang="en-US" altLang="ko-KR" sz="2800" b="1" dirty="0">
                <a:gradFill>
                  <a:gsLst>
                    <a:gs pos="0">
                      <a:schemeClr val="tx1"/>
                    </a:gs>
                    <a:gs pos="100000">
                      <a:schemeClr val="tx1"/>
                    </a:gs>
                  </a:gsLst>
                  <a:lin ang="5400000" scaled="1"/>
                </a:gradFill>
                <a:latin typeface="맑은 고딕" panose="020B0503020000020004" pitchFamily="50" charset="-127"/>
              </a:rPr>
              <a:t>&lt;</a:t>
            </a:r>
            <a:r>
              <a:rPr lang="ko-KR" altLang="en-US" sz="2800" b="1" dirty="0" smtClean="0">
                <a:gradFill>
                  <a:gsLst>
                    <a:gs pos="0">
                      <a:schemeClr val="tx1"/>
                    </a:gs>
                    <a:gs pos="100000">
                      <a:schemeClr val="tx1"/>
                    </a:gs>
                  </a:gsLst>
                  <a:lin ang="5400000" scaled="1"/>
                </a:gradFill>
                <a:latin typeface="맑은 고딕" panose="020B0503020000020004" pitchFamily="50" charset="-127"/>
              </a:rPr>
              <a:t>부록</a:t>
            </a:r>
            <a:r>
              <a:rPr lang="en-US" altLang="ko-KR" sz="2800" b="1" dirty="0" smtClean="0">
                <a:gradFill>
                  <a:gsLst>
                    <a:gs pos="0">
                      <a:schemeClr val="tx1"/>
                    </a:gs>
                    <a:gs pos="100000">
                      <a:schemeClr val="tx1"/>
                    </a:gs>
                  </a:gsLst>
                  <a:lin ang="5400000" scaled="1"/>
                </a:gradFill>
                <a:latin typeface="맑은 고딕" panose="020B0503020000020004" pitchFamily="50" charset="-127"/>
              </a:rPr>
              <a:t>&gt;</a:t>
            </a:r>
            <a:endParaRPr lang="ko-KR" altLang="en-US" sz="2800" b="1" dirty="0">
              <a:gradFill>
                <a:gsLst>
                  <a:gs pos="0">
                    <a:schemeClr val="tx1"/>
                  </a:gs>
                  <a:gs pos="100000">
                    <a:schemeClr val="tx1"/>
                  </a:gs>
                </a:gsLst>
                <a:lin ang="5400000" scaled="1"/>
              </a:gradFill>
              <a:latin typeface="맑은 고딕" panose="020B0503020000020004" pitchFamily="50" charset="-127"/>
            </a:endParaRPr>
          </a:p>
        </p:txBody>
      </p:sp>
      <p:sp>
        <p:nvSpPr>
          <p:cNvPr id="8" name="TextBox 7"/>
          <p:cNvSpPr txBox="1"/>
          <p:nvPr/>
        </p:nvSpPr>
        <p:spPr>
          <a:xfrm>
            <a:off x="1235927" y="1763768"/>
            <a:ext cx="8403373" cy="830997"/>
          </a:xfrm>
          <a:prstGeom prst="rect">
            <a:avLst/>
          </a:prstGeom>
          <a:noFill/>
        </p:spPr>
        <p:txBody>
          <a:bodyPr wrap="square" rtlCol="0">
            <a:spAutoFit/>
          </a:bodyPr>
          <a:lstStyle/>
          <a:p>
            <a:r>
              <a:rPr lang="en-US" altLang="ko-KR" sz="2400" dirty="0"/>
              <a:t>• </a:t>
            </a:r>
            <a:r>
              <a:rPr lang="ko-KR" altLang="en-US" sz="2400" dirty="0" err="1" smtClean="0"/>
              <a:t>별첨문서</a:t>
            </a:r>
            <a:r>
              <a:rPr lang="ko-KR" altLang="en-US" sz="2400" dirty="0" smtClean="0"/>
              <a:t> </a:t>
            </a:r>
            <a:r>
              <a:rPr lang="en-US" altLang="ko-KR" sz="2400" dirty="0" smtClean="0"/>
              <a:t>‘I AM THE LAW.docx’</a:t>
            </a:r>
            <a:br>
              <a:rPr lang="en-US" altLang="ko-KR" sz="2400" dirty="0" smtClean="0"/>
            </a:br>
            <a:r>
              <a:rPr lang="en-US" altLang="ko-KR" sz="2400" dirty="0" smtClean="0"/>
              <a:t>  (PPT </a:t>
            </a:r>
            <a:r>
              <a:rPr lang="ko-KR" altLang="en-US" sz="2400" dirty="0" smtClean="0"/>
              <a:t>제작 전</a:t>
            </a:r>
            <a:r>
              <a:rPr lang="en-US" altLang="ko-KR" sz="2400" dirty="0" smtClean="0"/>
              <a:t>, </a:t>
            </a:r>
            <a:r>
              <a:rPr lang="ko-KR" altLang="en-US" sz="2400" dirty="0" smtClean="0"/>
              <a:t>기획 내용 작성 및 정리를 위한 워드 문서</a:t>
            </a:r>
            <a:r>
              <a:rPr lang="en-US" altLang="ko-KR" sz="2400" dirty="0" smtClean="0"/>
              <a:t>)</a:t>
            </a:r>
            <a:endParaRPr lang="ko-KR"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42</a:t>
            </a:fld>
            <a:endParaRPr lang="ko-KR" altLang="en-US" dirty="0"/>
          </a:p>
        </p:txBody>
      </p:sp>
    </p:spTree>
    <p:extLst>
      <p:ext uri="{BB962C8B-B14F-4D97-AF65-F5344CB8AC3E}">
        <p14:creationId xmlns:p14="http://schemas.microsoft.com/office/powerpoint/2010/main" val="323495960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9" name="직선 연결선 8"/>
          <p:cNvCxnSpPr/>
          <p:nvPr/>
        </p:nvCxnSpPr>
        <p:spPr>
          <a:xfrm flipH="1">
            <a:off x="-124046" y="0"/>
            <a:ext cx="12316046" cy="6949263"/>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66386" y="3126868"/>
            <a:ext cx="6059229" cy="830997"/>
          </a:xfrm>
          <a:prstGeom prst="rect">
            <a:avLst/>
          </a:prstGeom>
          <a:solidFill>
            <a:schemeClr val="tx1"/>
          </a:solidFill>
        </p:spPr>
        <p:txBody>
          <a:bodyPr wrap="square" rtlCol="0">
            <a:spAutoFit/>
          </a:bodyPr>
          <a:lstStyle/>
          <a:p>
            <a:pPr algn="ctr"/>
            <a:r>
              <a:rPr lang="ko-KR" altLang="en-US" sz="4800" b="1" spc="-150" dirty="0" smtClean="0">
                <a:gradFill>
                  <a:gsLst>
                    <a:gs pos="0">
                      <a:prstClr val="white"/>
                    </a:gs>
                    <a:gs pos="100000">
                      <a:prstClr val="white"/>
                    </a:gs>
                  </a:gsLst>
                  <a:lin ang="5400000" scaled="1"/>
                </a:gradFill>
                <a:latin typeface="+mj-ea"/>
                <a:ea typeface="+mj-ea"/>
              </a:rPr>
              <a:t>감사합니다</a:t>
            </a:r>
            <a:r>
              <a:rPr lang="en-US" altLang="ko-KR" sz="4800" b="1" spc="-150" dirty="0" smtClean="0">
                <a:gradFill>
                  <a:gsLst>
                    <a:gs pos="0">
                      <a:prstClr val="white"/>
                    </a:gs>
                    <a:gs pos="100000">
                      <a:prstClr val="white"/>
                    </a:gs>
                  </a:gsLst>
                  <a:lin ang="5400000" scaled="1"/>
                </a:gradFill>
                <a:latin typeface="+mj-ea"/>
                <a:ea typeface="+mj-ea"/>
              </a:rPr>
              <a:t>.</a:t>
            </a:r>
            <a:endParaRPr lang="ko-KR" altLang="en-US" sz="4800" b="1" spc="-150" dirty="0">
              <a:gradFill>
                <a:gsLst>
                  <a:gs pos="0">
                    <a:prstClr val="white"/>
                  </a:gs>
                  <a:gs pos="100000">
                    <a:prstClr val="white"/>
                  </a:gs>
                </a:gsLst>
                <a:lin ang="5400000" scaled="1"/>
              </a:gradFill>
              <a:latin typeface="+mj-ea"/>
              <a:ea typeface="+mj-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solidFill>
                  <a:prstClr val="black">
                    <a:tint val="75000"/>
                  </a:prstClr>
                </a:solidFill>
              </a:rPr>
              <a:pPr/>
              <a:t>43</a:t>
            </a:fld>
            <a:endParaRPr lang="ko-KR" altLang="en-US" dirty="0">
              <a:solidFill>
                <a:prstClr val="black">
                  <a:tint val="75000"/>
                </a:prstClr>
              </a:solidFill>
            </a:endParaRPr>
          </a:p>
        </p:txBody>
      </p:sp>
    </p:spTree>
    <p:extLst>
      <p:ext uri="{BB962C8B-B14F-4D97-AF65-F5344CB8AC3E}">
        <p14:creationId xmlns:p14="http://schemas.microsoft.com/office/powerpoint/2010/main" val="340783957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1_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5290</TotalTime>
  <Words>2292</Words>
  <Application>Microsoft Office PowerPoint</Application>
  <PresentationFormat>사용자 지정</PresentationFormat>
  <Paragraphs>633</Paragraphs>
  <Slides>43</Slides>
  <Notes>2</Notes>
  <HiddenSlides>0</HiddenSlides>
  <MMClips>0</MMClips>
  <ScaleCrop>false</ScaleCrop>
  <HeadingPairs>
    <vt:vector size="6" baseType="variant">
      <vt:variant>
        <vt:lpstr>사용한 글꼴</vt:lpstr>
      </vt:variant>
      <vt:variant>
        <vt:i4>6</vt:i4>
      </vt:variant>
      <vt:variant>
        <vt:lpstr>테마</vt:lpstr>
      </vt:variant>
      <vt:variant>
        <vt:i4>2</vt:i4>
      </vt:variant>
      <vt:variant>
        <vt:lpstr>슬라이드 제목</vt:lpstr>
      </vt:variant>
      <vt:variant>
        <vt:i4>43</vt:i4>
      </vt:variant>
    </vt:vector>
  </HeadingPairs>
  <TitlesOfParts>
    <vt:vector size="51" baseType="lpstr">
      <vt:lpstr>굴림</vt:lpstr>
      <vt:lpstr>Arial</vt:lpstr>
      <vt:lpstr>210 앱굴림 R</vt:lpstr>
      <vt:lpstr>돋움</vt:lpstr>
      <vt:lpstr>HY견명조</vt:lpstr>
      <vt:lpstr>맑은 고딕</vt:lpstr>
      <vt:lpstr>Office 테마</vt:lpstr>
      <vt:lpstr>1_Office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YEONGBEOM KIM</dc:creator>
  <cp:lastModifiedBy>user</cp:lastModifiedBy>
  <cp:revision>380</cp:revision>
  <dcterms:created xsi:type="dcterms:W3CDTF">2017-06-15T12:10:59Z</dcterms:created>
  <dcterms:modified xsi:type="dcterms:W3CDTF">2019-01-07T03:23:48Z</dcterms:modified>
</cp:coreProperties>
</file>