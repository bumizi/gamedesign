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03"/>
  </p:notesMasterIdLst>
  <p:sldIdLst>
    <p:sldId id="273" r:id="rId3"/>
    <p:sldId id="260" r:id="rId4"/>
    <p:sldId id="375" r:id="rId5"/>
    <p:sldId id="288" r:id="rId6"/>
    <p:sldId id="289" r:id="rId7"/>
    <p:sldId id="341" r:id="rId8"/>
    <p:sldId id="266" r:id="rId9"/>
    <p:sldId id="290" r:id="rId10"/>
    <p:sldId id="342" r:id="rId11"/>
    <p:sldId id="276" r:id="rId12"/>
    <p:sldId id="339" r:id="rId13"/>
    <p:sldId id="332" r:id="rId14"/>
    <p:sldId id="291" r:id="rId15"/>
    <p:sldId id="333" r:id="rId16"/>
    <p:sldId id="334" r:id="rId17"/>
    <p:sldId id="343" r:id="rId18"/>
    <p:sldId id="329" r:id="rId19"/>
    <p:sldId id="353" r:id="rId20"/>
    <p:sldId id="347" r:id="rId21"/>
    <p:sldId id="348" r:id="rId22"/>
    <p:sldId id="349" r:id="rId23"/>
    <p:sldId id="351" r:id="rId24"/>
    <p:sldId id="350" r:id="rId25"/>
    <p:sldId id="352" r:id="rId26"/>
    <p:sldId id="355" r:id="rId27"/>
    <p:sldId id="382" r:id="rId28"/>
    <p:sldId id="381" r:id="rId29"/>
    <p:sldId id="380" r:id="rId30"/>
    <p:sldId id="384" r:id="rId31"/>
    <p:sldId id="385" r:id="rId32"/>
    <p:sldId id="388" r:id="rId33"/>
    <p:sldId id="386" r:id="rId34"/>
    <p:sldId id="387" r:id="rId35"/>
    <p:sldId id="379" r:id="rId36"/>
    <p:sldId id="378" r:id="rId37"/>
    <p:sldId id="330" r:id="rId38"/>
    <p:sldId id="340" r:id="rId39"/>
    <p:sldId id="335" r:id="rId40"/>
    <p:sldId id="356" r:id="rId41"/>
    <p:sldId id="357" r:id="rId42"/>
    <p:sldId id="358" r:id="rId43"/>
    <p:sldId id="359" r:id="rId44"/>
    <p:sldId id="360" r:id="rId45"/>
    <p:sldId id="376" r:id="rId46"/>
    <p:sldId id="361" r:id="rId47"/>
    <p:sldId id="362" r:id="rId48"/>
    <p:sldId id="363" r:id="rId49"/>
    <p:sldId id="364" r:id="rId50"/>
    <p:sldId id="365" r:id="rId51"/>
    <p:sldId id="366" r:id="rId52"/>
    <p:sldId id="367" r:id="rId53"/>
    <p:sldId id="368" r:id="rId54"/>
    <p:sldId id="370" r:id="rId55"/>
    <p:sldId id="369" r:id="rId56"/>
    <p:sldId id="371" r:id="rId57"/>
    <p:sldId id="373" r:id="rId58"/>
    <p:sldId id="372" r:id="rId59"/>
    <p:sldId id="374" r:id="rId60"/>
    <p:sldId id="377" r:id="rId61"/>
    <p:sldId id="354" r:id="rId62"/>
    <p:sldId id="336" r:id="rId63"/>
    <p:sldId id="338" r:id="rId64"/>
    <p:sldId id="337" r:id="rId65"/>
    <p:sldId id="390" r:id="rId66"/>
    <p:sldId id="391" r:id="rId67"/>
    <p:sldId id="394" r:id="rId68"/>
    <p:sldId id="392" r:id="rId69"/>
    <p:sldId id="395" r:id="rId70"/>
    <p:sldId id="397" r:id="rId71"/>
    <p:sldId id="396" r:id="rId72"/>
    <p:sldId id="399" r:id="rId73"/>
    <p:sldId id="400" r:id="rId74"/>
    <p:sldId id="398" r:id="rId75"/>
    <p:sldId id="393" r:id="rId76"/>
    <p:sldId id="315" r:id="rId77"/>
    <p:sldId id="325" r:id="rId78"/>
    <p:sldId id="316" r:id="rId79"/>
    <p:sldId id="317" r:id="rId80"/>
    <p:sldId id="318" r:id="rId81"/>
    <p:sldId id="324" r:id="rId82"/>
    <p:sldId id="323" r:id="rId83"/>
    <p:sldId id="327" r:id="rId84"/>
    <p:sldId id="328" r:id="rId85"/>
    <p:sldId id="319" r:id="rId86"/>
    <p:sldId id="320" r:id="rId87"/>
    <p:sldId id="321" r:id="rId88"/>
    <p:sldId id="326" r:id="rId89"/>
    <p:sldId id="322" r:id="rId90"/>
    <p:sldId id="294" r:id="rId91"/>
    <p:sldId id="293" r:id="rId92"/>
    <p:sldId id="295" r:id="rId93"/>
    <p:sldId id="308" r:id="rId94"/>
    <p:sldId id="296" r:id="rId95"/>
    <p:sldId id="309" r:id="rId96"/>
    <p:sldId id="302" r:id="rId97"/>
    <p:sldId id="303" r:id="rId98"/>
    <p:sldId id="306" r:id="rId99"/>
    <p:sldId id="314" r:id="rId100"/>
    <p:sldId id="307" r:id="rId101"/>
    <p:sldId id="275" r:id="rId102"/>
  </p:sldIdLst>
  <p:sldSz cx="12192000" cy="6858000"/>
  <p:notesSz cx="6858000" cy="9144000"/>
  <p:embeddedFontLst>
    <p:embeddedFont>
      <p:font typeface="HY견명조" panose="02030600000101010101" pitchFamily="18" charset="-127"/>
      <p:regular r:id="rId104"/>
    </p:embeddedFont>
    <p:embeddedFont>
      <p:font typeface="맑은 고딕" panose="020B0503020000020004" pitchFamily="50" charset="-127"/>
      <p:regular r:id="rId105"/>
      <p:bold r:id="rId106"/>
    </p:embeddedFont>
    <p:embeddedFont>
      <p:font typeface="210 앱굴림 R" panose="02020603020101020101" pitchFamily="18" charset="-127"/>
      <p:regular r:id="rId107"/>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1" autoAdjust="0"/>
    <p:restoredTop sz="94660" autoAdjust="0"/>
  </p:normalViewPr>
  <p:slideViewPr>
    <p:cSldViewPr snapToGrid="0">
      <p:cViewPr varScale="1">
        <p:scale>
          <a:sx n="76" d="100"/>
          <a:sy n="76" d="100"/>
        </p:scale>
        <p:origin x="102" y="114"/>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font" Target="fonts/font4.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openxmlformats.org/officeDocument/2006/relationships/commentAuthors" Target="commentAuthor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font" Target="fonts/font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2019-01-14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2019-01-14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2019-01-14</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2019-01-14</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2019-01-14</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2019-01-14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2019-01-14</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2019-01-14</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2019-01-14</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2019-01-14</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98.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a:t>
              </a: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Save</a:t>
              </a: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947423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179850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a:gradFill>
                  <a:gsLst>
                    <a:gs pos="0">
                      <a:schemeClr val="tx1"/>
                    </a:gs>
                    <a:gs pos="100000">
                      <a:schemeClr val="tx1"/>
                    </a:gs>
                  </a:gsLst>
                  <a:lin ang="5400000" scaled="1"/>
                </a:gradFill>
                <a:latin typeface="맑은 고딕" panose="020B0503020000020004" pitchFamily="50" charset="-127"/>
              </a:rPr>
              <a:t>맵 디자인 </a:t>
            </a:r>
            <a:r>
              <a:rPr lang="ko-KR" altLang="en-US" sz="2200" b="1" dirty="0" smtClean="0">
                <a:gradFill>
                  <a:gsLst>
                    <a:gs pos="0">
                      <a:schemeClr val="tx1"/>
                    </a:gs>
                    <a:gs pos="100000">
                      <a:schemeClr val="tx1"/>
                    </a:gs>
                  </a:gsLst>
                  <a:lin ang="5400000" scaled="1"/>
                </a:gradFill>
                <a:latin typeface="맑은 고딕" panose="020B0503020000020004" pitchFamily="50" charset="-127"/>
              </a:rPr>
              <a:t>규칙</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29" name="TextBox 28"/>
          <p:cNvSpPr txBox="1"/>
          <p:nvPr/>
        </p:nvSpPr>
        <p:spPr>
          <a:xfrm>
            <a:off x="5492687" y="240252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00228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a:gradFill>
                  <a:gsLst>
                    <a:gs pos="0">
                      <a:schemeClr val="tx1"/>
                    </a:gs>
                    <a:gs pos="100000">
                      <a:schemeClr val="tx1"/>
                    </a:gs>
                  </a:gsLst>
                  <a:lin ang="5400000" scaled="1"/>
                </a:gradFill>
                <a:latin typeface="맑은 고딕" panose="020B0503020000020004" pitchFamily="50" charset="-127"/>
              </a:rPr>
              <a:t>에어리어</a:t>
            </a:r>
            <a:r>
              <a:rPr lang="ko-KR" altLang="en-US" sz="2200" b="1" dirty="0">
                <a:gradFill>
                  <a:gsLst>
                    <a:gs pos="0">
                      <a:schemeClr val="tx1"/>
                    </a:gs>
                    <a:gs pos="100000">
                      <a:schemeClr val="tx1"/>
                    </a:gs>
                  </a:gsLst>
                  <a:lin ang="5400000" scaled="1"/>
                </a:gradFill>
                <a:latin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rPr>
              <a:t>특수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4151583" y="628263"/>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92687" y="119874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TextBox 32"/>
          <p:cNvSpPr txBox="1"/>
          <p:nvPr/>
        </p:nvSpPr>
        <p:spPr>
          <a:xfrm>
            <a:off x="4151583" y="3695700"/>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492687" y="426618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a:gradFill>
                  <a:gsLst>
                    <a:gs pos="0">
                      <a:schemeClr val="tx1"/>
                    </a:gs>
                    <a:gs pos="100000">
                      <a:schemeClr val="tx1"/>
                    </a:gs>
                  </a:gsLst>
                  <a:lin ang="5400000" scaled="1"/>
                </a:gradFill>
                <a:latin typeface="맑은 고딕" panose="020B0503020000020004" pitchFamily="50" charset="-127"/>
              </a:rPr>
              <a:t>파티 및 정화 </a:t>
            </a:r>
            <a:r>
              <a:rPr lang="ko-KR" altLang="en-US" sz="2200" b="1" dirty="0" smtClean="0">
                <a:gradFill>
                  <a:gsLst>
                    <a:gs pos="0">
                      <a:schemeClr val="tx1"/>
                    </a:gs>
                    <a:gs pos="100000">
                      <a:schemeClr val="tx1"/>
                    </a:gs>
                  </a:gsLst>
                  <a:lin ang="5400000" scaled="1"/>
                </a:gradFill>
                <a:latin typeface="맑은 고딕" panose="020B0503020000020004" pitchFamily="50" charset="-127"/>
              </a:rPr>
              <a:t>시스템</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36" name="TextBox 35"/>
          <p:cNvSpPr txBox="1"/>
          <p:nvPr/>
        </p:nvSpPr>
        <p:spPr>
          <a:xfrm>
            <a:off x="5492687" y="483666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a:gradFill>
                  <a:gsLst>
                    <a:gs pos="0">
                      <a:schemeClr val="tx1"/>
                    </a:gs>
                    <a:gs pos="100000">
                      <a:schemeClr val="tx1"/>
                    </a:gs>
                  </a:gsLst>
                  <a:lin ang="5400000" scaled="1"/>
                </a:gradFill>
                <a:latin typeface="맑은 고딕" panose="020B0503020000020004" pitchFamily="50" charset="-127"/>
              </a:rPr>
              <a:t>턴 전투 방식</a:t>
            </a:r>
          </a:p>
        </p:txBody>
      </p:sp>
      <p:sp>
        <p:nvSpPr>
          <p:cNvPr id="37" name="TextBox 36"/>
          <p:cNvSpPr txBox="1"/>
          <p:nvPr/>
        </p:nvSpPr>
        <p:spPr>
          <a:xfrm>
            <a:off x="5492687" y="540714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기본 설정</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0" name="TextBox 39"/>
          <p:cNvSpPr txBox="1"/>
          <p:nvPr/>
        </p:nvSpPr>
        <p:spPr>
          <a:xfrm>
            <a:off x="5492687" y="59717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유지 데이터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4635852"/>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5943303"/>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sp>
        <p:nvSpPr>
          <p:cNvPr id="13" name="TextBox 12"/>
          <p:cNvSpPr txBox="1"/>
          <p:nvPr/>
        </p:nvSpPr>
        <p:spPr>
          <a:xfrm>
            <a:off x="4218258" y="2781781"/>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5559363" y="335629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 name="TextBox 14"/>
          <p:cNvSpPr txBox="1"/>
          <p:nvPr/>
        </p:nvSpPr>
        <p:spPr>
          <a:xfrm>
            <a:off x="5559363" y="39539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TextBox 15"/>
          <p:cNvSpPr txBox="1"/>
          <p:nvPr/>
        </p:nvSpPr>
        <p:spPr>
          <a:xfrm>
            <a:off x="4218259" y="211491"/>
            <a:ext cx="7708320"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 name="TextBox 16"/>
          <p:cNvSpPr txBox="1"/>
          <p:nvPr/>
        </p:nvSpPr>
        <p:spPr>
          <a:xfrm>
            <a:off x="5559363" y="74454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8" name="TextBox 17"/>
          <p:cNvSpPr txBox="1"/>
          <p:nvPr/>
        </p:nvSpPr>
        <p:spPr>
          <a:xfrm>
            <a:off x="5559363" y="131656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5559363" y="18941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559363" y="239995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기획 컨셉 및 개요</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6</a:t>
            </a:fld>
            <a:endParaRPr lang="ko-KR" altLang="en-US" dirty="0">
              <a:solidFill>
                <a:prstClr val="black">
                  <a:tint val="75000"/>
                </a:prstClr>
              </a:solidFill>
            </a:endParaRPr>
          </a:p>
        </p:txBody>
      </p:sp>
    </p:spTree>
    <p:extLst>
      <p:ext uri="{BB962C8B-B14F-4D97-AF65-F5344CB8AC3E}">
        <p14:creationId xmlns:p14="http://schemas.microsoft.com/office/powerpoint/2010/main" val="79592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69578"/>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테이밍할</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 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5559732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Tamer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소개</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9</a:t>
            </a:fld>
            <a:endParaRPr lang="ko-KR" altLang="en-US" dirty="0">
              <a:solidFill>
                <a:prstClr val="black">
                  <a:tint val="75000"/>
                </a:prstClr>
              </a:solidFill>
            </a:endParaRPr>
          </a:p>
        </p:txBody>
      </p:sp>
    </p:spTree>
    <p:extLst>
      <p:ext uri="{BB962C8B-B14F-4D97-AF65-F5344CB8AC3E}">
        <p14:creationId xmlns:p14="http://schemas.microsoft.com/office/powerpoint/2010/main" val="3539076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과연 용사는 무사히 마왕을 무찌르고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4848564"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 </a:t>
            </a:r>
            <a:r>
              <a:rPr lang="ko-KR" altLang="en-US" dirty="0" err="1" smtClean="0">
                <a:latin typeface="+mn-ea"/>
              </a:rPr>
              <a:t>몬스터들과</a:t>
            </a:r>
            <a:r>
              <a:rPr lang="ko-KR" altLang="en-US" dirty="0" smtClean="0">
                <a:latin typeface="+mn-ea"/>
              </a:rPr>
              <a:t> 함께 더욱 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독특하고 고유한 능력과 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 정화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13" name="TextBox 12"/>
          <p:cNvSpPr txBox="1"/>
          <p:nvPr/>
        </p:nvSpPr>
        <p:spPr>
          <a:xfrm>
            <a:off x="5280346" y="1347170"/>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편</a:t>
            </a:r>
            <a:r>
              <a:rPr lang="ko-KR" altLang="en-US" dirty="0" smtClean="0">
                <a:latin typeface="+mn-ea"/>
              </a:rPr>
              <a:t>으로 만들 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따라 정화 방법과 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레벨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16</a:t>
            </a:fld>
            <a:endParaRPr lang="ko-KR" altLang="en-US" dirty="0">
              <a:solidFill>
                <a:prstClr val="black">
                  <a:tint val="75000"/>
                </a:prstClr>
              </a:solidFill>
            </a:endParaRPr>
          </a:p>
        </p:txBody>
      </p:sp>
    </p:spTree>
    <p:extLst>
      <p:ext uri="{BB962C8B-B14F-4D97-AF65-F5344CB8AC3E}">
        <p14:creationId xmlns:p14="http://schemas.microsoft.com/office/powerpoint/2010/main" val="35017810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TextBox 95"/>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계층은 차후 추가될 수 있습니다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타원 100"/>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5" name="타원 104"/>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6" name="타원 105"/>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1" name="직선 화살표 연결선 10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직선 화살표 연결선 10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직선 화살표 연결선 10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2" name="직선 화살표 연결선 111"/>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직선 화살표 연결선 113"/>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직선 화살표 연결선 115"/>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직선 화살표 연결선 116"/>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직선 화살표 연결선 117"/>
          <p:cNvCxnSpPr/>
          <p:nvPr/>
        </p:nvCxnSpPr>
        <p:spPr>
          <a:xfrm flipV="1">
            <a:off x="8045823" y="2812766"/>
            <a:ext cx="491695" cy="739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직선 화살표 연결선 118"/>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2" name="직선 화살표 연결선 121"/>
          <p:cNvCxnSpPr/>
          <p:nvPr/>
        </p:nvCxnSpPr>
        <p:spPr>
          <a:xfrm flipH="1" flipV="1">
            <a:off x="9979507" y="3955767"/>
            <a:ext cx="75587" cy="20304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1" name="모서리가 둥근 직사각형 110"/>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24" name="타원 123"/>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5" name="타원 124"/>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6" name="타원 125"/>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7" name="모서리가 둥근 직사각형 12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12163929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7" name="도넛 76"/>
          <p:cNvSpPr/>
          <p:nvPr/>
        </p:nvSpPr>
        <p:spPr>
          <a:xfrm>
            <a:off x="349545" y="3112030"/>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1582663" y="1424275"/>
            <a:ext cx="2238073" cy="1773483"/>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입구</a:t>
            </a:r>
            <a:r>
              <a:rPr lang="en-US" altLang="ko-KR" sz="1600" b="1"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탐험의 시작점</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전투가 발생하지 않음</a:t>
            </a:r>
            <a:endParaRPr lang="en-US" altLang="ko-KR" sz="1400" dirty="0" smtClean="0">
              <a:solidFill>
                <a:sysClr val="windowText" lastClr="000000"/>
              </a:solidFill>
            </a:endParaRPr>
          </a:p>
        </p:txBody>
      </p:sp>
      <p:sp>
        <p:nvSpPr>
          <p:cNvPr id="105" name="TextBox 104"/>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모서리가 둥근 직사각형 105"/>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7" name="타원 106"/>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8" name="타원 107"/>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9" name="타원 108"/>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모서리가 둥근 직사각형 109"/>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39298827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1973463" y="765394"/>
            <a:ext cx="4462518" cy="2782479"/>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길</a:t>
            </a:r>
            <a:r>
              <a:rPr lang="en-US" altLang="ko-KR" sz="1600" b="1" dirty="0" smtClean="0">
                <a:solidFill>
                  <a:sysClr val="windowText" lastClr="000000"/>
                </a:solidFill>
              </a:rPr>
              <a:t>’</a:t>
            </a:r>
          </a:p>
          <a:p>
            <a:endParaRPr lang="en-US" altLang="ko-KR" sz="1400" dirty="0">
              <a:solidFill>
                <a:sysClr val="windowText" lastClr="000000"/>
              </a:solidFill>
            </a:endParaRPr>
          </a:p>
          <a:p>
            <a:pPr>
              <a:lnSpc>
                <a:spcPct val="150000"/>
              </a:lnSpc>
            </a:pPr>
            <a:r>
              <a:rPr lang="en-US" altLang="ko-KR" sz="1400" dirty="0" smtClean="0">
                <a:solidFill>
                  <a:sysClr val="windowText" lastClr="000000"/>
                </a:solidFill>
              </a:rPr>
              <a:t>- </a:t>
            </a:r>
            <a:r>
              <a:rPr lang="ko-KR" altLang="en-US" sz="1400" dirty="0" err="1">
                <a:solidFill>
                  <a:schemeClr val="tx1"/>
                </a:solidFill>
              </a:rPr>
              <a:t>에어리어와</a:t>
            </a:r>
            <a:r>
              <a:rPr lang="ko-KR" altLang="en-US" sz="1400" dirty="0">
                <a:solidFill>
                  <a:schemeClr val="tx1"/>
                </a:solidFill>
              </a:rPr>
              <a:t> </a:t>
            </a:r>
            <a:r>
              <a:rPr lang="ko-KR" altLang="en-US" sz="1400" dirty="0" err="1">
                <a:solidFill>
                  <a:schemeClr val="tx1"/>
                </a:solidFill>
              </a:rPr>
              <a:t>에어리어</a:t>
            </a:r>
            <a:r>
              <a:rPr lang="en-US" altLang="ko-KR" sz="1400" dirty="0">
                <a:solidFill>
                  <a:schemeClr val="tx1"/>
                </a:solidFill>
              </a:rPr>
              <a:t>, </a:t>
            </a:r>
            <a:r>
              <a:rPr lang="ko-KR" altLang="en-US" sz="1400" dirty="0">
                <a:solidFill>
                  <a:schemeClr val="tx1"/>
                </a:solidFill>
              </a:rPr>
              <a:t>계층과 계층을 잇는 </a:t>
            </a:r>
            <a:r>
              <a:rPr lang="ko-KR" altLang="en-US" sz="1400" dirty="0" smtClean="0">
                <a:solidFill>
                  <a:schemeClr val="tx1"/>
                </a:solidFill>
              </a:rPr>
              <a:t>선분 </a:t>
            </a:r>
            <a:endParaRPr lang="en-US" altLang="ko-KR" sz="1400" dirty="0" smtClean="0">
              <a:solidFill>
                <a:schemeClr val="tx1"/>
              </a:solidFill>
            </a:endParaRPr>
          </a:p>
          <a:p>
            <a:pPr>
              <a:lnSpc>
                <a:spcPct val="150000"/>
              </a:lnSpc>
            </a:pPr>
            <a:r>
              <a:rPr lang="en-US" altLang="ko-KR" sz="1400" dirty="0">
                <a:solidFill>
                  <a:schemeClr val="tx1"/>
                </a:solidFill>
              </a:rPr>
              <a:t> </a:t>
            </a:r>
            <a:r>
              <a:rPr lang="en-US" altLang="ko-KR" sz="1400" dirty="0" smtClean="0">
                <a:solidFill>
                  <a:schemeClr val="tx1"/>
                </a:solidFill>
              </a:rPr>
              <a:t> </a:t>
            </a:r>
            <a:r>
              <a:rPr lang="ko-KR" altLang="en-US" sz="1400" dirty="0" smtClean="0">
                <a:solidFill>
                  <a:schemeClr val="tx1"/>
                </a:solidFill>
              </a:rPr>
              <a:t>으로</a:t>
            </a:r>
            <a:r>
              <a:rPr lang="en-US" altLang="ko-KR" sz="1400" dirty="0">
                <a:solidFill>
                  <a:schemeClr val="tx1"/>
                </a:solidFill>
              </a:rPr>
              <a:t>, </a:t>
            </a:r>
            <a:r>
              <a:rPr lang="ko-KR" altLang="en-US" sz="1400" dirty="0">
                <a:solidFill>
                  <a:schemeClr val="tx1"/>
                </a:solidFill>
              </a:rPr>
              <a:t>플레이어가 이동할 수 있는 </a:t>
            </a:r>
            <a:r>
              <a:rPr lang="ko-KR" altLang="en-US" sz="1400" dirty="0" smtClean="0">
                <a:solidFill>
                  <a:schemeClr val="tx1"/>
                </a:solidFill>
              </a:rPr>
              <a:t>경로를 나타냄</a:t>
            </a:r>
            <a:r>
              <a:rPr lang="en-US" altLang="ko-KR" sz="1400" dirty="0" smtClean="0">
                <a:solidFill>
                  <a:schemeClr val="tx1"/>
                </a:solidFill>
              </a:rPr>
              <a:t>.</a:t>
            </a:r>
            <a:endParaRPr lang="en-US" altLang="ko-KR" sz="1400" dirty="0">
              <a:solidFill>
                <a:schemeClr val="tx1"/>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에어리어에서 </a:t>
            </a:r>
            <a:r>
              <a:rPr lang="ko-KR" altLang="en-US" sz="1400" dirty="0" err="1" smtClean="0">
                <a:solidFill>
                  <a:sysClr val="windowText" lastClr="000000"/>
                </a:solidFill>
              </a:rPr>
              <a:t>에어리어로</a:t>
            </a:r>
            <a:r>
              <a:rPr lang="ko-KR" altLang="en-US" sz="1400" dirty="0" smtClean="0">
                <a:solidFill>
                  <a:sysClr val="windowText" lastClr="000000"/>
                </a:solidFill>
              </a:rPr>
              <a:t> 한번에 하나의 길을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건널 수 있으며 방향은 왕복으로 이동 가능</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단</a:t>
            </a:r>
            <a:r>
              <a:rPr lang="en-US" altLang="ko-KR" sz="1400" dirty="0" smtClean="0">
                <a:solidFill>
                  <a:sysClr val="windowText" lastClr="000000"/>
                </a:solidFill>
              </a:rPr>
              <a:t>, </a:t>
            </a:r>
            <a:r>
              <a:rPr lang="ko-KR" altLang="en-US" sz="1400" dirty="0" smtClean="0">
                <a:solidFill>
                  <a:sysClr val="windowText" lastClr="000000"/>
                </a:solidFill>
              </a:rPr>
              <a:t>계층 간 이동의 경우</a:t>
            </a:r>
            <a:r>
              <a:rPr lang="en-US" altLang="ko-KR" sz="1400" dirty="0" smtClean="0">
                <a:solidFill>
                  <a:sysClr val="windowText" lastClr="000000"/>
                </a:solidFill>
              </a:rPr>
              <a:t>, </a:t>
            </a:r>
            <a:r>
              <a:rPr lang="ko-KR" altLang="en-US" sz="1400" dirty="0" smtClean="0">
                <a:solidFill>
                  <a:sysClr val="windowText" lastClr="000000"/>
                </a:solidFill>
              </a:rPr>
              <a:t>다음 계층으로 넘어간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후에는 이전 계층으로 되돌아갈 수 없음</a:t>
            </a:r>
            <a:endParaRPr lang="en-US" altLang="ko-KR" sz="1400" dirty="0" smtClean="0">
              <a:solidFill>
                <a:sysClr val="windowText" lastClr="000000"/>
              </a:solidFill>
            </a:endParaRPr>
          </a:p>
        </p:txBody>
      </p:sp>
      <p:cxnSp>
        <p:nvCxnSpPr>
          <p:cNvPr id="96" name="직선 화살표 연결선 95"/>
          <p:cNvCxnSpPr/>
          <p:nvPr/>
        </p:nvCxnSpPr>
        <p:spPr>
          <a:xfrm>
            <a:off x="1662904" y="4037316"/>
            <a:ext cx="365072" cy="3803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6" name="도넛 105"/>
          <p:cNvSpPr/>
          <p:nvPr/>
        </p:nvSpPr>
        <p:spPr>
          <a:xfrm>
            <a:off x="1476039" y="3787676"/>
            <a:ext cx="783158" cy="71772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0" name="타원 109"/>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타원 110"/>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2" name="타원 111"/>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9679309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3201414" y="1228619"/>
            <a:ext cx="3571267" cy="254973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계층</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에어리어들로 구성된</a:t>
            </a:r>
            <a:r>
              <a:rPr lang="en-US" altLang="ko-KR" sz="1400" dirty="0" smtClean="0">
                <a:solidFill>
                  <a:sysClr val="windowText" lastClr="000000"/>
                </a:solidFill>
              </a:rPr>
              <a:t>,</a:t>
            </a:r>
            <a:r>
              <a:rPr lang="ko-KR" altLang="en-US" sz="1400" dirty="0" smtClean="0">
                <a:solidFill>
                  <a:sysClr val="windowText" lastClr="000000"/>
                </a:solidFill>
              </a:rPr>
              <a:t> 던전의 층계</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다음 계층으로 가는 길이 이어져있는 </a:t>
            </a:r>
            <a:r>
              <a:rPr lang="en-US" altLang="ko-KR" sz="1400" dirty="0" smtClean="0">
                <a:solidFill>
                  <a:sysClr val="windowText" lastClr="000000"/>
                </a:solidFill>
              </a:rPr>
              <a:t>1</a:t>
            </a:r>
            <a:r>
              <a:rPr lang="ko-KR" altLang="en-US" sz="1400" dirty="0" smtClean="0">
                <a:solidFill>
                  <a:sysClr val="windowText" lastClr="000000"/>
                </a:solidFill>
              </a:rPr>
              <a:t>개의 </a:t>
            </a:r>
            <a:r>
              <a:rPr lang="ko-KR" altLang="en-US" sz="1400" dirty="0" err="1" smtClean="0">
                <a:solidFill>
                  <a:sysClr val="windowText" lastClr="000000"/>
                </a:solidFill>
              </a:rPr>
              <a:t>에어리어가</a:t>
            </a:r>
            <a:r>
              <a:rPr lang="ko-KR" altLang="en-US" sz="1400" dirty="0" smtClean="0">
                <a:solidFill>
                  <a:sysClr val="windowText" lastClr="000000"/>
                </a:solidFill>
              </a:rPr>
              <a:t> 존재</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다음 계층으로 넘어가면</a:t>
            </a:r>
            <a:r>
              <a:rPr lang="en-US" altLang="ko-KR" sz="1400" dirty="0" smtClean="0">
                <a:solidFill>
                  <a:sysClr val="windowText" lastClr="000000"/>
                </a:solidFill>
              </a:rPr>
              <a:t>, </a:t>
            </a:r>
            <a:r>
              <a:rPr lang="ko-KR" altLang="en-US" sz="1400" dirty="0" smtClean="0">
                <a:solidFill>
                  <a:sysClr val="windowText" lastClr="000000"/>
                </a:solidFill>
              </a:rPr>
              <a:t>이전의 계층으로 되돌아갈 수 없음</a:t>
            </a:r>
            <a:endParaRPr lang="en-US" altLang="ko-KR" sz="1400" dirty="0" smtClean="0">
              <a:solidFill>
                <a:sysClr val="windowText" lastClr="000000"/>
              </a:solidFill>
            </a:endParaRPr>
          </a:p>
        </p:txBody>
      </p:sp>
      <p:sp>
        <p:nvSpPr>
          <p:cNvPr id="101" name="도넛 100"/>
          <p:cNvSpPr/>
          <p:nvPr/>
        </p:nvSpPr>
        <p:spPr>
          <a:xfrm>
            <a:off x="1787188" y="627372"/>
            <a:ext cx="1335591" cy="5752149"/>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8" name="타원 107"/>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9" name="타원 108"/>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9429588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2730984" y="703774"/>
            <a:ext cx="4041697" cy="3400495"/>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에어리어</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이벤트를 품고 있으며</a:t>
            </a:r>
            <a:r>
              <a:rPr lang="en-US" altLang="ko-KR" sz="1400" dirty="0" smtClean="0">
                <a:solidFill>
                  <a:sysClr val="windowText" lastClr="000000"/>
                </a:solidFill>
              </a:rPr>
              <a:t>, </a:t>
            </a:r>
            <a:r>
              <a:rPr lang="ko-KR" altLang="en-US" sz="1400" dirty="0" smtClean="0">
                <a:solidFill>
                  <a:sysClr val="windowText" lastClr="000000"/>
                </a:solidFill>
              </a:rPr>
              <a:t>던전과 계층을 구성하는 단위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유무와 상관없이</a:t>
            </a:r>
            <a:r>
              <a:rPr lang="en-US" altLang="ko-KR" sz="1400" dirty="0" smtClean="0">
                <a:solidFill>
                  <a:sysClr val="windowText" lastClr="000000"/>
                </a:solidFill>
              </a:rPr>
              <a:t>, </a:t>
            </a:r>
            <a:r>
              <a:rPr lang="ko-KR" altLang="en-US" sz="1400" dirty="0" smtClean="0">
                <a:solidFill>
                  <a:sysClr val="windowText" lastClr="000000"/>
                </a:solidFill>
              </a:rPr>
              <a:t>길로 </a:t>
            </a:r>
            <a:r>
              <a:rPr lang="ko-KR" altLang="en-US" sz="1400" dirty="0" err="1" smtClean="0">
                <a:solidFill>
                  <a:sysClr val="windowText" lastClr="000000"/>
                </a:solidFill>
              </a:rPr>
              <a:t>이어져있는인접한</a:t>
            </a:r>
            <a:r>
              <a:rPr lang="ko-KR" altLang="en-US" sz="1400" dirty="0" smtClean="0">
                <a:solidFill>
                  <a:sysClr val="windowText" lastClr="000000"/>
                </a:solidFill>
              </a:rPr>
              <a:t> </a:t>
            </a:r>
            <a:r>
              <a:rPr lang="ko-KR" altLang="en-US" sz="1400" dirty="0" err="1" smtClean="0">
                <a:solidFill>
                  <a:sysClr val="windowText" lastClr="000000"/>
                </a:solidFill>
              </a:rPr>
              <a:t>에어리어</a:t>
            </a:r>
            <a:r>
              <a:rPr lang="ko-KR" altLang="en-US" sz="1400" dirty="0" smtClean="0">
                <a:solidFill>
                  <a:sysClr val="windowText" lastClr="000000"/>
                </a:solidFill>
              </a:rPr>
              <a:t> 간의 이동만 가능</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탐험하지 않은 지역은 회색</a:t>
            </a:r>
            <a:r>
              <a:rPr lang="en-US" altLang="ko-KR" sz="1400" dirty="0" smtClean="0">
                <a:solidFill>
                  <a:sysClr val="windowText" lastClr="000000"/>
                </a:solidFill>
              </a:rPr>
              <a:t>, </a:t>
            </a:r>
            <a:r>
              <a:rPr lang="ko-KR" altLang="en-US" sz="1400" dirty="0" smtClean="0">
                <a:solidFill>
                  <a:sysClr val="windowText" lastClr="000000"/>
                </a:solidFill>
              </a:rPr>
              <a:t>탐험한 지역은 백색으로 표시</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한번 클리어한 </a:t>
            </a:r>
            <a:r>
              <a:rPr lang="ko-KR" altLang="en-US" sz="1400" dirty="0" err="1" smtClean="0">
                <a:solidFill>
                  <a:sysClr val="windowText" lastClr="000000"/>
                </a:solidFill>
              </a:rPr>
              <a:t>에어리어는</a:t>
            </a:r>
            <a:r>
              <a:rPr lang="ko-KR" altLang="en-US" sz="1400" dirty="0" smtClean="0">
                <a:solidFill>
                  <a:sysClr val="windowText" lastClr="000000"/>
                </a:solidFill>
              </a:rPr>
              <a:t> 다시 방문해도 전투 및 이벤트가 발생하지 않음</a:t>
            </a:r>
            <a:endParaRPr lang="en-US" altLang="ko-KR" sz="1400" dirty="0" smtClean="0">
              <a:solidFill>
                <a:sysClr val="windowText" lastClr="000000"/>
              </a:solidFill>
            </a:endParaRPr>
          </a:p>
        </p:txBody>
      </p:sp>
      <p:sp>
        <p:nvSpPr>
          <p:cNvPr id="101" name="도넛 100"/>
          <p:cNvSpPr/>
          <p:nvPr/>
        </p:nvSpPr>
        <p:spPr>
          <a:xfrm>
            <a:off x="2096169" y="4241515"/>
            <a:ext cx="720826" cy="66892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8" name="타원 107"/>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9" name="타원 108"/>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34872687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중간보스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4995893" y="1165145"/>
            <a:ext cx="2890089" cy="2035115"/>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중간보스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강력한 보스 몬스터가 등장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보상으로 </a:t>
            </a:r>
            <a:r>
              <a:rPr lang="ko-KR" altLang="en-US" sz="1400" dirty="0" err="1" smtClean="0">
                <a:solidFill>
                  <a:sysClr val="windowText" lastClr="000000"/>
                </a:solidFill>
              </a:rPr>
              <a:t>아티팩트</a:t>
            </a:r>
            <a:r>
              <a:rPr lang="ko-KR" altLang="en-US" sz="1400" dirty="0" smtClean="0">
                <a:solidFill>
                  <a:sysClr val="windowText" lastClr="000000"/>
                </a:solidFill>
              </a:rPr>
              <a:t> 획득 가능</a:t>
            </a:r>
            <a:endParaRPr lang="en-US" altLang="ko-KR" sz="1400"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시 </a:t>
            </a:r>
            <a:r>
              <a:rPr lang="en-US" altLang="ko-KR" sz="1400" dirty="0" smtClean="0">
                <a:solidFill>
                  <a:sysClr val="windowText" lastClr="000000"/>
                </a:solidFill>
              </a:rPr>
              <a:t>X </a:t>
            </a:r>
            <a:r>
              <a:rPr lang="ko-KR" altLang="en-US" sz="1400" dirty="0" smtClean="0">
                <a:solidFill>
                  <a:sysClr val="windowText" lastClr="000000"/>
                </a:solidFill>
              </a:rPr>
              <a:t>표가 </a:t>
            </a:r>
            <a:r>
              <a:rPr lang="ko-KR" altLang="en-US" sz="1400" dirty="0" err="1" smtClean="0">
                <a:solidFill>
                  <a:sysClr val="windowText" lastClr="000000"/>
                </a:solidFill>
              </a:rPr>
              <a:t>그려짐</a:t>
            </a:r>
            <a:endParaRPr lang="en-US" altLang="ko-KR" sz="1400" dirty="0" smtClean="0">
              <a:solidFill>
                <a:sysClr val="windowText" lastClr="000000"/>
              </a:solidFill>
            </a:endParaRPr>
          </a:p>
        </p:txBody>
      </p:sp>
      <p:sp>
        <p:nvSpPr>
          <p:cNvPr id="101" name="도넛 100"/>
          <p:cNvSpPr/>
          <p:nvPr/>
        </p:nvSpPr>
        <p:spPr>
          <a:xfrm>
            <a:off x="3956295" y="3225026"/>
            <a:ext cx="1195282" cy="11497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8" name="타원 107"/>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09" name="타원 108"/>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1114662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최종보스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모서리가 둥근 사각형 설명선 77"/>
          <p:cNvSpPr/>
          <p:nvPr/>
        </p:nvSpPr>
        <p:spPr>
          <a:xfrm>
            <a:off x="8324563" y="1441928"/>
            <a:ext cx="2511056" cy="155715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최종보스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최종 보스 몬스터가 등장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err="1" smtClean="0">
                <a:solidFill>
                  <a:sysClr val="windowText" lastClr="000000"/>
                </a:solidFill>
              </a:rPr>
              <a:t>클리어</a:t>
            </a:r>
            <a:r>
              <a:rPr lang="ko-KR" altLang="en-US" sz="1400" dirty="0" smtClean="0">
                <a:solidFill>
                  <a:sysClr val="windowText" lastClr="000000"/>
                </a:solidFill>
              </a:rPr>
              <a:t> 시 게임에서 승리</a:t>
            </a:r>
            <a:endParaRPr lang="en-US" altLang="ko-KR" sz="1400" dirty="0" smtClean="0">
              <a:solidFill>
                <a:sysClr val="windowText" lastClr="000000"/>
              </a:solidFill>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10541498" y="3198865"/>
            <a:ext cx="1219963" cy="11644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9" name="타원 108"/>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타원 110"/>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Tree>
    <p:extLst>
      <p:ext uri="{BB962C8B-B14F-4D97-AF65-F5344CB8AC3E}">
        <p14:creationId xmlns:p14="http://schemas.microsoft.com/office/powerpoint/2010/main" val="25729399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2273015" y="900804"/>
            <a:ext cx="4162966" cy="2711748"/>
          </a:xfrm>
          <a:prstGeom prst="wedgeRoundRectCallout">
            <a:avLst>
              <a:gd name="adj1" fmla="val -59522"/>
              <a:gd name="adj2" fmla="val -4003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아티팩트</a:t>
            </a:r>
            <a:r>
              <a:rPr lang="en-US" altLang="ko-KR" sz="1600" b="1" dirty="0" smtClean="0">
                <a:solidFill>
                  <a:sysClr val="windowText" lastClr="000000"/>
                </a:solidFill>
              </a:rPr>
              <a:t>’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보유하고 있는 </a:t>
            </a:r>
            <a:r>
              <a:rPr lang="ko-KR" altLang="en-US" sz="1400" dirty="0" err="1" smtClean="0">
                <a:solidFill>
                  <a:sysClr val="windowText" lastClr="000000"/>
                </a:solidFill>
              </a:rPr>
              <a:t>아티팩트를</a:t>
            </a:r>
            <a:r>
              <a:rPr lang="ko-KR" altLang="en-US" sz="1400" dirty="0" smtClean="0">
                <a:solidFill>
                  <a:sysClr val="windowText" lastClr="000000"/>
                </a:solidFill>
              </a:rPr>
              <a:t> 표시함</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아이콘에 </a:t>
            </a:r>
            <a:r>
              <a:rPr lang="ko-KR" altLang="en-US" sz="1400" dirty="0">
                <a:solidFill>
                  <a:sysClr val="windowText" lastClr="000000"/>
                </a:solidFill>
              </a:rPr>
              <a:t>마우스를 </a:t>
            </a:r>
            <a:r>
              <a:rPr lang="ko-KR" altLang="en-US" sz="1400" dirty="0" err="1">
                <a:solidFill>
                  <a:sysClr val="windowText" lastClr="000000"/>
                </a:solidFill>
              </a:rPr>
              <a:t>가져다놓고</a:t>
            </a:r>
            <a:r>
              <a:rPr lang="ko-KR" altLang="en-US" sz="1400" dirty="0">
                <a:solidFill>
                  <a:sysClr val="windowText" lastClr="000000"/>
                </a:solidFill>
              </a:rPr>
              <a:t> </a:t>
            </a:r>
            <a:r>
              <a:rPr lang="en-US" altLang="ko-KR" sz="1400" dirty="0">
                <a:solidFill>
                  <a:sysClr val="windowText" lastClr="000000"/>
                </a:solidFill>
              </a:rPr>
              <a:t>1</a:t>
            </a:r>
            <a:r>
              <a:rPr lang="ko-KR" altLang="en-US" sz="1400" dirty="0">
                <a:solidFill>
                  <a:sysClr val="windowText" lastClr="000000"/>
                </a:solidFill>
              </a:rPr>
              <a:t>초 이상의 시간이 흐르면</a:t>
            </a:r>
            <a:r>
              <a:rPr lang="en-US" altLang="ko-KR" sz="1400" dirty="0">
                <a:solidFill>
                  <a:sysClr val="windowText" lastClr="000000"/>
                </a:solidFill>
              </a:rPr>
              <a:t>, </a:t>
            </a:r>
            <a:r>
              <a:rPr lang="ko-KR" altLang="en-US" sz="1400" dirty="0">
                <a:solidFill>
                  <a:sysClr val="windowText" lastClr="000000"/>
                </a:solidFill>
              </a:rPr>
              <a:t>해당 </a:t>
            </a:r>
            <a:r>
              <a:rPr lang="ko-KR" altLang="en-US" sz="1400" dirty="0" err="1" smtClean="0">
                <a:solidFill>
                  <a:sysClr val="windowText" lastClr="000000"/>
                </a:solidFill>
              </a:rPr>
              <a:t>아티팩트에</a:t>
            </a:r>
            <a:r>
              <a:rPr lang="ko-KR" altLang="en-US" sz="1400" dirty="0" smtClean="0">
                <a:solidFill>
                  <a:sysClr val="windowText" lastClr="000000"/>
                </a:solidFill>
              </a:rPr>
              <a:t> </a:t>
            </a:r>
            <a:r>
              <a:rPr lang="ko-KR" altLang="en-US" sz="1400" dirty="0">
                <a:solidFill>
                  <a:sysClr val="windowText" lastClr="000000"/>
                </a:solidFill>
              </a:rPr>
              <a:t>대한 </a:t>
            </a:r>
            <a:r>
              <a:rPr lang="ko-KR" altLang="en-US" sz="1400" dirty="0" smtClean="0">
                <a:solidFill>
                  <a:sysClr val="windowText" lastClr="000000"/>
                </a:solidFill>
              </a:rPr>
              <a:t>설명과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사용 가능한 </a:t>
            </a:r>
            <a:r>
              <a:rPr lang="ko-KR" altLang="en-US" sz="1400" dirty="0" err="1" smtClean="0">
                <a:solidFill>
                  <a:sysClr val="windowText" lastClr="000000"/>
                </a:solidFill>
              </a:rPr>
              <a:t>아티팩트의</a:t>
            </a:r>
            <a:r>
              <a:rPr lang="ko-KR" altLang="en-US" sz="1400" dirty="0" smtClean="0">
                <a:solidFill>
                  <a:sysClr val="windowText" lastClr="000000"/>
                </a:solidFill>
              </a:rPr>
              <a:t> 경우</a:t>
            </a:r>
            <a:r>
              <a:rPr lang="en-US" altLang="ko-KR" sz="1400" dirty="0" smtClean="0">
                <a:solidFill>
                  <a:sysClr val="windowText" lastClr="000000"/>
                </a:solidFill>
              </a:rPr>
              <a:t>, </a:t>
            </a:r>
            <a:r>
              <a:rPr lang="ko-KR" altLang="en-US" sz="1400" dirty="0" smtClean="0">
                <a:solidFill>
                  <a:sysClr val="windowText" lastClr="000000"/>
                </a:solidFill>
              </a:rPr>
              <a:t>마우스 클릭을 통해 사용할 수 있음</a:t>
            </a:r>
            <a:endParaRPr lang="en-US" altLang="ko-KR" sz="1400" dirty="0" smtClean="0">
              <a:solidFill>
                <a:sysClr val="windowText" lastClr="000000"/>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9" name="타원 108"/>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타원 110"/>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13" name="사각형 설명선 112"/>
          <p:cNvSpPr/>
          <p:nvPr/>
        </p:nvSpPr>
        <p:spPr>
          <a:xfrm>
            <a:off x="254848" y="1500033"/>
            <a:ext cx="1693191" cy="624773"/>
          </a:xfrm>
          <a:prstGeom prst="wedgeRectCallout">
            <a:avLst>
              <a:gd name="adj1" fmla="val -36276"/>
              <a:gd name="adj2" fmla="val -107976"/>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t>아티팩트</a:t>
            </a:r>
            <a:r>
              <a:rPr lang="ko-KR" altLang="en-US" dirty="0" smtClean="0"/>
              <a:t> 설명</a:t>
            </a:r>
            <a:endParaRPr lang="ko-KR" altLang="en-US" dirty="0"/>
          </a:p>
        </p:txBody>
      </p:sp>
      <p:sp>
        <p:nvSpPr>
          <p:cNvPr id="105" name="도넛 104"/>
          <p:cNvSpPr/>
          <p:nvPr/>
        </p:nvSpPr>
        <p:spPr>
          <a:xfrm>
            <a:off x="42105" y="542727"/>
            <a:ext cx="1770139" cy="763635"/>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858000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7023344" y="1740271"/>
            <a:ext cx="4084642" cy="25748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파티</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 파티를 편성할 수 있는 창을 팝업</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파티창을</a:t>
            </a:r>
            <a:r>
              <a:rPr lang="ko-KR" altLang="en-US" sz="1400" dirty="0" smtClean="0">
                <a:solidFill>
                  <a:sysClr val="windowText" lastClr="000000"/>
                </a:solidFill>
              </a:rPr>
              <a:t> 통해 파티를 편성하고 캐릭터와 몬스터의 정보와 특성을 살펴볼 수 있음</a:t>
            </a:r>
            <a:endParaRPr lang="en-US" altLang="ko-KR" sz="1400" dirty="0" smtClean="0">
              <a:solidFill>
                <a:sysClr val="windowText" lastClr="000000"/>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9" name="타원 108"/>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타원 110"/>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54575" y="4348988"/>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7234702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7378715" y="2951745"/>
            <a:ext cx="3594196" cy="20360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가방</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보유한 아이템의 정보와 </a:t>
            </a:r>
            <a:r>
              <a:rPr lang="ko-KR" altLang="en-US" sz="1400" dirty="0">
                <a:solidFill>
                  <a:sysClr val="windowText" lastClr="000000"/>
                </a:solidFill>
              </a:rPr>
              <a:t>개</a:t>
            </a:r>
            <a:r>
              <a:rPr lang="ko-KR" altLang="en-US" sz="1400" dirty="0" smtClean="0">
                <a:solidFill>
                  <a:sysClr val="windowText" lastClr="000000"/>
                </a:solidFill>
              </a:rPr>
              <a:t>수를 살펴볼 수 있는 창을 팝업</a:t>
            </a:r>
            <a:endParaRPr lang="en-US" altLang="ko-KR" sz="1400" dirty="0" smtClean="0">
              <a:solidFill>
                <a:sysClr val="windowText" lastClr="000000"/>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09" name="타원 108"/>
          <p:cNvSpPr/>
          <p:nvPr/>
        </p:nvSpPr>
        <p:spPr>
          <a:xfrm>
            <a:off x="259781"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0" name="타원 109"/>
          <p:cNvSpPr/>
          <p:nvPr/>
        </p:nvSpPr>
        <p:spPr>
          <a:xfrm>
            <a:off x="767084"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1" name="타원 110"/>
          <p:cNvSpPr/>
          <p:nvPr/>
        </p:nvSpPr>
        <p:spPr>
          <a:xfrm>
            <a:off x="1272986" y="731701"/>
            <a:ext cx="363071" cy="349624"/>
          </a:xfrm>
          <a:prstGeom prst="ellipse">
            <a:avLst/>
          </a:prstGeom>
          <a:solidFill>
            <a:srgbClr val="7030A0"/>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87739" y="5102933"/>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9997332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20310"/>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910168" y="1693252"/>
            <a:ext cx="10443632" cy="3277820"/>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요소를 채용하여</a:t>
            </a:r>
            <a:r>
              <a:rPr lang="en-US" altLang="ko-KR" dirty="0" smtClean="0"/>
              <a:t> </a:t>
            </a:r>
            <a:r>
              <a:rPr lang="ko-KR" altLang="en-US" dirty="0" smtClean="0"/>
              <a:t>캐릭터가 던전 탐험 중 사망했을 때</a:t>
            </a:r>
            <a:r>
              <a:rPr lang="en-US" altLang="ko-KR" dirty="0" smtClean="0"/>
              <a:t>, </a:t>
            </a:r>
            <a:r>
              <a:rPr lang="ko-KR" altLang="en-US" dirty="0" smtClean="0"/>
              <a:t>유지되는 데이터를 제외하고</a:t>
            </a:r>
            <a:endParaRPr lang="en-US" altLang="ko-KR" dirty="0"/>
          </a:p>
          <a:p>
            <a:pPr>
              <a:lnSpc>
                <a:spcPct val="150000"/>
              </a:lnSpc>
            </a:pPr>
            <a:r>
              <a:rPr lang="en-US" altLang="ko-KR" dirty="0" smtClean="0"/>
              <a:t>  </a:t>
            </a:r>
            <a:r>
              <a:rPr lang="ko-KR" altLang="en-US" dirty="0" smtClean="0"/>
              <a:t>현재 플레이어가 보유한 몬스터</a:t>
            </a:r>
            <a:r>
              <a:rPr lang="en-US" altLang="ko-KR" dirty="0" smtClean="0"/>
              <a:t>, </a:t>
            </a:r>
            <a:r>
              <a:rPr lang="ko-KR" altLang="en-US" dirty="0" err="1" smtClean="0"/>
              <a:t>아티팩트</a:t>
            </a:r>
            <a:r>
              <a:rPr lang="en-US" altLang="ko-KR" dirty="0" smtClean="0"/>
              <a:t>, </a:t>
            </a:r>
            <a:r>
              <a:rPr lang="ko-KR" altLang="en-US" dirty="0" smtClean="0"/>
              <a:t>아이템</a:t>
            </a:r>
            <a:r>
              <a:rPr lang="en-US" altLang="ko-KR" dirty="0" smtClean="0"/>
              <a:t>, </a:t>
            </a:r>
            <a:r>
              <a:rPr lang="ko-KR" altLang="en-US" dirty="0" smtClean="0"/>
              <a:t>던전 진행 상황을 모두 잃는다</a:t>
            </a:r>
            <a:r>
              <a:rPr lang="en-US" altLang="ko-KR" dirty="0" smtClean="0"/>
              <a:t>. </a:t>
            </a:r>
            <a:r>
              <a:rPr lang="ko-KR" altLang="en-US" dirty="0" smtClean="0"/>
              <a:t>그 후</a:t>
            </a:r>
            <a:r>
              <a:rPr lang="en-US" altLang="ko-KR" dirty="0" smtClean="0"/>
              <a:t>, </a:t>
            </a:r>
          </a:p>
          <a:p>
            <a:pPr>
              <a:lnSpc>
                <a:spcPct val="150000"/>
              </a:lnSpc>
            </a:pPr>
            <a:r>
              <a:rPr lang="en-US" altLang="ko-KR" dirty="0"/>
              <a:t> </a:t>
            </a:r>
            <a:r>
              <a:rPr lang="en-US" altLang="ko-KR" dirty="0" smtClean="0"/>
              <a:t> </a:t>
            </a:r>
            <a:r>
              <a:rPr lang="ko-KR" altLang="en-US" dirty="0" smtClean="0"/>
              <a:t>게임이 초기화되어 시작점으로 되돌아간다</a:t>
            </a:r>
            <a:r>
              <a:rPr lang="en-US" altLang="ko-KR" dirty="0" smtClean="0"/>
              <a:t>.</a:t>
            </a:r>
          </a:p>
          <a:p>
            <a:pPr>
              <a:lnSpc>
                <a:spcPct val="150000"/>
              </a:lnSpc>
            </a:pPr>
            <a:endParaRPr lang="en-US" altLang="ko-KR" dirty="0" smtClean="0"/>
          </a:p>
          <a:p>
            <a:pPr>
              <a:lnSpc>
                <a:spcPct val="150000"/>
              </a:lnSpc>
            </a:pPr>
            <a:r>
              <a:rPr lang="en-US" altLang="ko-KR" dirty="0" smtClean="0"/>
              <a:t>• </a:t>
            </a:r>
            <a:r>
              <a:rPr lang="ko-KR" altLang="en-US" dirty="0" smtClean="0"/>
              <a:t>이 때</a:t>
            </a:r>
            <a:r>
              <a:rPr lang="en-US" altLang="ko-KR" dirty="0" smtClean="0"/>
              <a:t>, </a:t>
            </a:r>
            <a:r>
              <a:rPr lang="ko-KR" altLang="en-US" dirty="0" smtClean="0"/>
              <a:t>던전 맵 역시 용사의 사망으로 인해 재설정되며</a:t>
            </a:r>
            <a:r>
              <a:rPr lang="en-US" altLang="ko-KR" dirty="0" smtClean="0"/>
              <a:t>, </a:t>
            </a:r>
            <a:r>
              <a:rPr lang="ko-KR" altLang="en-US" dirty="0" smtClean="0"/>
              <a:t>게임이 초기화될 때마다</a:t>
            </a:r>
            <a:r>
              <a:rPr lang="en-US" altLang="ko-KR" dirty="0" smtClean="0"/>
              <a:t> </a:t>
            </a:r>
            <a:r>
              <a:rPr lang="ko-KR" altLang="en-US" dirty="0" err="1" smtClean="0"/>
              <a:t>에어리어</a:t>
            </a:r>
            <a:r>
              <a:rPr lang="ko-KR" altLang="en-US" dirty="0" smtClean="0"/>
              <a:t> 내</a:t>
            </a:r>
            <a:endParaRPr lang="en-US" altLang="ko-KR" dirty="0" smtClean="0"/>
          </a:p>
          <a:p>
            <a:pPr>
              <a:lnSpc>
                <a:spcPct val="150000"/>
              </a:lnSpc>
            </a:pPr>
            <a:r>
              <a:rPr lang="en-US" altLang="ko-KR" dirty="0"/>
              <a:t> </a:t>
            </a:r>
            <a:r>
              <a:rPr lang="en-US" altLang="ko-KR" dirty="0" smtClean="0"/>
              <a:t> </a:t>
            </a:r>
            <a:r>
              <a:rPr lang="ko-KR" altLang="en-US" dirty="0" smtClean="0"/>
              <a:t>이벤트</a:t>
            </a:r>
            <a:r>
              <a:rPr lang="en-US" altLang="ko-KR" dirty="0" smtClean="0"/>
              <a:t>, </a:t>
            </a:r>
            <a:r>
              <a:rPr lang="ko-KR" altLang="en-US" dirty="0" smtClean="0"/>
              <a:t>몬스터의 조합</a:t>
            </a:r>
            <a:r>
              <a:rPr lang="en-US" altLang="ko-KR" dirty="0" smtClean="0"/>
              <a:t>, </a:t>
            </a:r>
            <a:r>
              <a:rPr lang="ko-KR" altLang="en-US" dirty="0" smtClean="0"/>
              <a:t>계층간 연결 구조</a:t>
            </a:r>
            <a:r>
              <a:rPr lang="en-US" altLang="ko-KR" dirty="0"/>
              <a:t> </a:t>
            </a:r>
            <a:r>
              <a:rPr lang="ko-KR" altLang="en-US" dirty="0" smtClean="0"/>
              <a:t>등이 무작위로 재설정된다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 항목에서는 </a:t>
            </a:r>
            <a:r>
              <a:rPr lang="ko-KR" altLang="en-US" dirty="0" err="1" smtClean="0"/>
              <a:t>맵이</a:t>
            </a:r>
            <a:r>
              <a:rPr lang="ko-KR" altLang="en-US" dirty="0" smtClean="0"/>
              <a:t> 설정 및 재설정되는 규칙을 밝혀 제시함을 목표로 한다</a:t>
            </a:r>
            <a:r>
              <a:rPr lang="en-US" altLang="ko-KR" dirty="0" smtClean="0"/>
              <a:t>.</a:t>
            </a:r>
            <a:endParaRPr lang="en-US" altLang="ko-KR" dirty="0"/>
          </a:p>
        </p:txBody>
      </p:sp>
    </p:spTree>
    <p:extLst>
      <p:ext uri="{BB962C8B-B14F-4D97-AF65-F5344CB8AC3E}">
        <p14:creationId xmlns:p14="http://schemas.microsoft.com/office/powerpoint/2010/main" val="34256989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sp>
        <p:nvSpPr>
          <p:cNvPr id="9" name="이등변 삼각형 8"/>
          <p:cNvSpPr/>
          <p:nvPr/>
        </p:nvSpPr>
        <p:spPr>
          <a:xfrm rot="5400000">
            <a:off x="2010445" y="2423023"/>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ko-KR" altLang="en-US" dirty="0">
              <a:solidFill>
                <a:schemeClr val="tx1"/>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883" y="1629828"/>
            <a:ext cx="6934917" cy="3416320"/>
          </a:xfrm>
          <a:prstGeom prst="rect">
            <a:avLst/>
          </a:prstGeom>
          <a:noFill/>
        </p:spPr>
        <p:txBody>
          <a:bodyPr wrap="square" rtlCol="0">
            <a:spAutoFit/>
          </a:bodyPr>
          <a:lstStyle/>
          <a:p>
            <a:pPr>
              <a:lnSpc>
                <a:spcPct val="150000"/>
              </a:lnSpc>
            </a:pPr>
            <a:r>
              <a:rPr lang="en-US" altLang="ko-KR" sz="2400" dirty="0"/>
              <a:t>• </a:t>
            </a:r>
            <a:r>
              <a:rPr lang="ko-KR" altLang="en-US" sz="2000" dirty="0" err="1" smtClean="0"/>
              <a:t>던전맵</a:t>
            </a:r>
            <a:r>
              <a:rPr lang="ko-KR" altLang="en-US" sz="2000" dirty="0" smtClean="0"/>
              <a:t> 가장 좌측에 고정적으로 위치한다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smtClean="0"/>
              <a:t>캐릭터가 던전 탐험을 시작하는 위치이다</a:t>
            </a:r>
            <a:r>
              <a:rPr lang="en-US" altLang="ko-KR" sz="2000" dirty="0" smtClean="0"/>
              <a:t>.</a:t>
            </a:r>
          </a:p>
          <a:p>
            <a:pPr>
              <a:lnSpc>
                <a:spcPct val="150000"/>
              </a:lnSpc>
            </a:pPr>
            <a:endParaRPr lang="en-US" altLang="ko-KR" sz="2000" dirty="0" smtClean="0"/>
          </a:p>
          <a:p>
            <a:pPr>
              <a:lnSpc>
                <a:spcPct val="150000"/>
              </a:lnSpc>
            </a:pPr>
            <a:r>
              <a:rPr lang="en-US" altLang="ko-KR" sz="2000" dirty="0"/>
              <a:t>• </a:t>
            </a:r>
            <a:r>
              <a:rPr lang="ko-KR" altLang="en-US" sz="2000" dirty="0" smtClean="0"/>
              <a:t>캐릭터가 던전 탐험 중 사망했을 때</a:t>
            </a:r>
            <a:r>
              <a:rPr lang="en-US" altLang="ko-KR" sz="2000" dirty="0"/>
              <a:t> </a:t>
            </a:r>
            <a:r>
              <a:rPr lang="ko-KR" altLang="en-US" sz="2000" dirty="0" smtClean="0"/>
              <a:t>돌아오는 위치이다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smtClean="0"/>
              <a:t>캐릭터 사망으로 인한 맵 재설정에 영향을 받지 않는다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734353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773476" cy="5262979"/>
          </a:xfrm>
          <a:prstGeom prst="rect">
            <a:avLst/>
          </a:prstGeom>
          <a:noFill/>
        </p:spPr>
        <p:txBody>
          <a:bodyPr wrap="square" rtlCol="0">
            <a:spAutoFit/>
          </a:bodyPr>
          <a:lstStyle/>
          <a:p>
            <a:pPr>
              <a:lnSpc>
                <a:spcPct val="150000"/>
              </a:lnSpc>
            </a:pPr>
            <a:r>
              <a:rPr lang="en-US" altLang="ko-KR" dirty="0"/>
              <a:t>• </a:t>
            </a:r>
            <a:r>
              <a:rPr lang="ko-KR" altLang="en-US" dirty="0"/>
              <a:t>동일한 계층 </a:t>
            </a:r>
            <a:r>
              <a:rPr lang="ko-KR" altLang="en-US" dirty="0" smtClean="0"/>
              <a:t>내에 </a:t>
            </a:r>
            <a:r>
              <a:rPr lang="en-US" altLang="ko-KR" dirty="0" smtClean="0"/>
              <a:t>7</a:t>
            </a:r>
            <a:r>
              <a:rPr lang="ko-KR" altLang="en-US" dirty="0"/>
              <a:t>개의 </a:t>
            </a:r>
            <a:r>
              <a:rPr lang="ko-KR" altLang="en-US" dirty="0" err="1"/>
              <a:t>에어리어가</a:t>
            </a:r>
            <a:r>
              <a:rPr lang="ko-KR" altLang="en-US" dirty="0"/>
              <a:t> </a:t>
            </a:r>
            <a:r>
              <a:rPr lang="ko-KR" altLang="en-US" dirty="0" smtClean="0"/>
              <a:t>고정적으로 생성되며</a:t>
            </a:r>
            <a:r>
              <a:rPr lang="en-US" altLang="ko-KR" dirty="0" smtClean="0"/>
              <a:t>, </a:t>
            </a:r>
            <a:r>
              <a:rPr lang="ko-KR" altLang="en-US" dirty="0" smtClean="0"/>
              <a:t>길을 따라</a:t>
            </a:r>
            <a:r>
              <a:rPr lang="en-US" altLang="ko-KR" dirty="0" smtClean="0"/>
              <a:t/>
            </a:r>
            <a:br>
              <a:rPr lang="en-US" altLang="ko-KR" dirty="0" smtClean="0"/>
            </a:br>
            <a:r>
              <a:rPr lang="en-US" altLang="ko-KR" dirty="0" smtClean="0"/>
              <a:t> </a:t>
            </a:r>
            <a:r>
              <a:rPr lang="ko-KR" altLang="en-US" dirty="0" smtClean="0"/>
              <a:t> 수직 </a:t>
            </a:r>
            <a:r>
              <a:rPr lang="ko-KR" altLang="en-US" dirty="0"/>
              <a:t>일렬로 연결된다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smtClean="0"/>
              <a:t>계층 내 </a:t>
            </a:r>
            <a:r>
              <a:rPr lang="ko-KR" altLang="en-US" dirty="0" err="1" smtClean="0"/>
              <a:t>에어리어</a:t>
            </a:r>
            <a:r>
              <a:rPr lang="ko-KR" altLang="en-US" dirty="0" smtClean="0"/>
              <a:t> 중 무작위로 하나의 </a:t>
            </a:r>
            <a:r>
              <a:rPr lang="ko-KR" altLang="en-US" dirty="0" err="1" smtClean="0"/>
              <a:t>에어리어에</a:t>
            </a:r>
            <a:r>
              <a:rPr lang="en-US" altLang="ko-KR" dirty="0" smtClean="0"/>
              <a:t> </a:t>
            </a:r>
            <a:r>
              <a:rPr lang="ko-KR" altLang="en-US" dirty="0" smtClean="0"/>
              <a:t>다음 계층으로 넘어갈 </a:t>
            </a:r>
            <a:endParaRPr lang="en-US" altLang="ko-KR" dirty="0" smtClean="0"/>
          </a:p>
          <a:p>
            <a:pPr>
              <a:lnSpc>
                <a:spcPct val="150000"/>
              </a:lnSpc>
            </a:pPr>
            <a:r>
              <a:rPr lang="en-US" altLang="ko-KR" dirty="0"/>
              <a:t> </a:t>
            </a:r>
            <a:r>
              <a:rPr lang="en-US" altLang="ko-KR" dirty="0" smtClean="0"/>
              <a:t> </a:t>
            </a:r>
            <a:r>
              <a:rPr lang="ko-KR" altLang="en-US" dirty="0" smtClean="0"/>
              <a:t>수 있는 길이 생성된다</a:t>
            </a:r>
            <a:r>
              <a:rPr lang="en-US" altLang="ko-KR" dirty="0" smtClean="0"/>
              <a:t>.</a:t>
            </a:r>
            <a:r>
              <a:rPr lang="ko-KR" altLang="en-US" dirty="0" smtClean="0"/>
              <a:t> 이때</a:t>
            </a:r>
            <a:r>
              <a:rPr lang="en-US" altLang="ko-KR" dirty="0" smtClean="0"/>
              <a:t>, </a:t>
            </a:r>
            <a:r>
              <a:rPr lang="ko-KR" altLang="en-US" dirty="0" smtClean="0"/>
              <a:t>서로 </a:t>
            </a:r>
            <a:r>
              <a:rPr lang="ko-KR" altLang="en-US" dirty="0"/>
              <a:t>다른 계층을 잇는 </a:t>
            </a:r>
            <a:r>
              <a:rPr lang="ko-KR" altLang="en-US" dirty="0" smtClean="0"/>
              <a:t>길에 직접 연결된 </a:t>
            </a:r>
            <a:endParaRPr lang="en-US" altLang="ko-KR" dirty="0" smtClean="0"/>
          </a:p>
          <a:p>
            <a:pPr>
              <a:lnSpc>
                <a:spcPct val="150000"/>
              </a:lnSpc>
            </a:pPr>
            <a:r>
              <a:rPr lang="en-US" altLang="ko-KR" dirty="0"/>
              <a:t> </a:t>
            </a:r>
            <a:r>
              <a:rPr lang="en-US" altLang="ko-KR" dirty="0" smtClean="0"/>
              <a:t> </a:t>
            </a:r>
            <a:r>
              <a:rPr lang="ko-KR" altLang="en-US" dirty="0" smtClean="0"/>
              <a:t>두 </a:t>
            </a:r>
            <a:r>
              <a:rPr lang="ko-KR" altLang="en-US" dirty="0" err="1" smtClean="0"/>
              <a:t>에어리어는</a:t>
            </a:r>
            <a:r>
              <a:rPr lang="ko-KR" altLang="en-US" dirty="0" smtClean="0"/>
              <a:t> 전투 이벤트를 가지며</a:t>
            </a:r>
            <a:r>
              <a:rPr lang="en-US" altLang="ko-KR" dirty="0" smtClean="0"/>
              <a:t>, </a:t>
            </a:r>
            <a:r>
              <a:rPr lang="ko-KR" altLang="en-US" dirty="0" smtClean="0"/>
              <a:t>이외의 </a:t>
            </a:r>
            <a:r>
              <a:rPr lang="ko-KR" altLang="en-US" dirty="0" err="1" smtClean="0"/>
              <a:t>에어리어는</a:t>
            </a:r>
            <a:r>
              <a:rPr lang="ko-KR" altLang="en-US" dirty="0" smtClean="0"/>
              <a:t> </a:t>
            </a:r>
            <a:r>
              <a:rPr lang="ko-KR" altLang="en-US" dirty="0" err="1" smtClean="0"/>
              <a:t>재생성될</a:t>
            </a:r>
            <a:r>
              <a:rPr lang="ko-KR" altLang="en-US" dirty="0" smtClean="0"/>
              <a:t> 때</a:t>
            </a:r>
            <a:r>
              <a:rPr lang="en-US" altLang="ko-KR" dirty="0" smtClean="0"/>
              <a:t/>
            </a:r>
            <a:br>
              <a:rPr lang="en-US" altLang="ko-KR" dirty="0" smtClean="0"/>
            </a:br>
            <a:r>
              <a:rPr lang="en-US" altLang="ko-KR" dirty="0" smtClean="0"/>
              <a:t> </a:t>
            </a:r>
            <a:r>
              <a:rPr lang="ko-KR" altLang="en-US" dirty="0" smtClean="0"/>
              <a:t> 무작위 이벤트로 변경된다</a:t>
            </a:r>
            <a:r>
              <a:rPr lang="en-US" altLang="ko-KR" dirty="0" smtClean="0"/>
              <a:t>.</a:t>
            </a:r>
          </a:p>
          <a:p>
            <a:pPr>
              <a:lnSpc>
                <a:spcPct val="150000"/>
              </a:lnSpc>
            </a:pPr>
            <a:r>
              <a:rPr lang="en-US" altLang="ko-KR" sz="1200" dirty="0" smtClean="0"/>
              <a:t/>
            </a:r>
            <a:br>
              <a:rPr lang="en-US" altLang="ko-KR" sz="1200" dirty="0" smtClean="0"/>
            </a:br>
            <a:r>
              <a:rPr lang="en-US" altLang="ko-KR" dirty="0" smtClean="0"/>
              <a:t>• </a:t>
            </a:r>
            <a:r>
              <a:rPr lang="ko-KR" altLang="en-US" dirty="0" smtClean="0"/>
              <a:t>전투 이벤트의 경우</a:t>
            </a:r>
            <a:r>
              <a:rPr lang="en-US" altLang="ko-KR" dirty="0" smtClean="0"/>
              <a:t>, </a:t>
            </a:r>
            <a:r>
              <a:rPr lang="ko-KR" altLang="en-US" dirty="0" smtClean="0"/>
              <a:t>전투에 등장하는 </a:t>
            </a:r>
            <a:r>
              <a:rPr lang="ko-KR" altLang="en-US" dirty="0" err="1" smtClean="0"/>
              <a:t>몬스터들은</a:t>
            </a:r>
            <a:r>
              <a:rPr lang="ko-KR" altLang="en-US" dirty="0" smtClean="0"/>
              <a:t> 각 계층에 출몰하는</a:t>
            </a:r>
            <a:r>
              <a:rPr lang="en-US" altLang="ko-KR" dirty="0" smtClean="0"/>
              <a:t/>
            </a:r>
            <a:br>
              <a:rPr lang="en-US" altLang="ko-KR" dirty="0" smtClean="0"/>
            </a:br>
            <a:r>
              <a:rPr lang="en-US" altLang="ko-KR" dirty="0" smtClean="0"/>
              <a:t> </a:t>
            </a:r>
            <a:r>
              <a:rPr lang="ko-KR" altLang="en-US" dirty="0" smtClean="0"/>
              <a:t> </a:t>
            </a:r>
            <a:r>
              <a:rPr lang="ko-KR" altLang="en-US" dirty="0" err="1" smtClean="0"/>
              <a:t>몬스터들의</a:t>
            </a:r>
            <a:r>
              <a:rPr lang="ko-KR" altLang="en-US" dirty="0" smtClean="0"/>
              <a:t> 조합들 중에서 무작위로 하나가 선택되어 설정된다</a:t>
            </a:r>
            <a:r>
              <a:rPr lang="en-US" altLang="ko-KR" dirty="0" smtClean="0"/>
              <a:t>.</a:t>
            </a:r>
            <a:br>
              <a:rPr lang="en-US" altLang="ko-KR" dirty="0" smtClean="0"/>
            </a:br>
            <a:r>
              <a:rPr lang="en-US" altLang="ko-KR" sz="1200" dirty="0" smtClean="0"/>
              <a:t/>
            </a:r>
            <a:br>
              <a:rPr lang="en-US" altLang="ko-KR" sz="1200" dirty="0" smtClean="0"/>
            </a:br>
            <a:r>
              <a:rPr lang="en-US" altLang="ko-KR" dirty="0" smtClean="0"/>
              <a:t>• </a:t>
            </a:r>
            <a:r>
              <a:rPr lang="ko-KR" altLang="en-US" dirty="0" smtClean="0"/>
              <a:t>상인 이벤트의 경우</a:t>
            </a:r>
            <a:r>
              <a:rPr lang="en-US" altLang="ko-KR" dirty="0" smtClean="0"/>
              <a:t>, </a:t>
            </a:r>
            <a:r>
              <a:rPr lang="ko-KR" altLang="en-US" dirty="0" smtClean="0"/>
              <a:t>상인이 판매하는 아이템은 각 계층에 등장하는</a:t>
            </a:r>
            <a:r>
              <a:rPr lang="en-US" altLang="ko-KR" dirty="0" smtClean="0"/>
              <a:t/>
            </a:r>
            <a:br>
              <a:rPr lang="en-US" altLang="ko-KR" dirty="0" smtClean="0"/>
            </a:br>
            <a:r>
              <a:rPr lang="en-US" altLang="ko-KR" dirty="0" smtClean="0"/>
              <a:t> </a:t>
            </a:r>
            <a:r>
              <a:rPr lang="ko-KR" altLang="en-US" dirty="0" smtClean="0"/>
              <a:t> 아이템들 중에서</a:t>
            </a:r>
            <a:r>
              <a:rPr lang="en-US" altLang="ko-KR" dirty="0" smtClean="0"/>
              <a:t> </a:t>
            </a:r>
            <a:r>
              <a:rPr lang="ko-KR" altLang="en-US" dirty="0" smtClean="0"/>
              <a:t>무작위로 선택되어 결정된다</a:t>
            </a:r>
            <a:r>
              <a:rPr lang="en-US" altLang="ko-KR" dirty="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4392834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354376" cy="5078313"/>
          </a:xfrm>
          <a:prstGeom prst="rect">
            <a:avLst/>
          </a:prstGeom>
          <a:noFill/>
        </p:spPr>
        <p:txBody>
          <a:bodyPr wrap="square" rtlCol="0">
            <a:spAutoFit/>
          </a:bodyPr>
          <a:lstStyle/>
          <a:p>
            <a:pPr>
              <a:lnSpc>
                <a:spcPct val="150000"/>
              </a:lnSpc>
            </a:pPr>
            <a:r>
              <a:rPr lang="en-US" altLang="ko-KR" dirty="0"/>
              <a:t>• </a:t>
            </a:r>
            <a:r>
              <a:rPr lang="en-US" altLang="ko-KR" dirty="0" smtClean="0"/>
              <a:t>7</a:t>
            </a:r>
            <a:r>
              <a:rPr lang="ko-KR" altLang="en-US" dirty="0"/>
              <a:t>개의 </a:t>
            </a:r>
            <a:r>
              <a:rPr lang="ko-KR" altLang="en-US" dirty="0" err="1"/>
              <a:t>에어리어가</a:t>
            </a:r>
            <a:r>
              <a:rPr lang="ko-KR" altLang="en-US" dirty="0"/>
              <a:t> </a:t>
            </a:r>
            <a:r>
              <a:rPr lang="ko-KR" altLang="en-US" dirty="0" smtClean="0"/>
              <a:t>일렬로 연결되어 구성된 하나의 층계로서</a:t>
            </a:r>
            <a:r>
              <a:rPr lang="en-US" altLang="ko-KR" dirty="0" smtClean="0"/>
              <a:t/>
            </a:r>
            <a:br>
              <a:rPr lang="en-US" altLang="ko-KR" dirty="0" smtClean="0"/>
            </a:br>
            <a:r>
              <a:rPr lang="en-US" altLang="ko-KR" dirty="0" smtClean="0"/>
              <a:t>  </a:t>
            </a:r>
            <a:r>
              <a:rPr lang="ko-KR" altLang="en-US" dirty="0" smtClean="0"/>
              <a:t>이전 </a:t>
            </a:r>
            <a:r>
              <a:rPr lang="ko-KR" altLang="en-US" dirty="0"/>
              <a:t>계층</a:t>
            </a:r>
            <a:r>
              <a:rPr lang="en-US" altLang="ko-KR" dirty="0"/>
              <a:t>,</a:t>
            </a:r>
            <a:r>
              <a:rPr lang="ko-KR" altLang="en-US" dirty="0"/>
              <a:t> 다음 계층과 연결되는 두 길을 가지고 있다</a:t>
            </a:r>
            <a:r>
              <a:rPr lang="en-US" altLang="ko-KR" dirty="0" smtClean="0"/>
              <a:t>.</a:t>
            </a:r>
            <a:r>
              <a:rPr lang="en-US" altLang="ko-KR" dirty="0"/>
              <a:t/>
            </a:r>
            <a:br>
              <a:rPr lang="en-US" altLang="ko-KR" dirty="0"/>
            </a:br>
            <a:endParaRPr lang="en-US" altLang="ko-KR" dirty="0" smtClean="0"/>
          </a:p>
          <a:p>
            <a:pPr>
              <a:lnSpc>
                <a:spcPct val="150000"/>
              </a:lnSpc>
            </a:pPr>
            <a:r>
              <a:rPr lang="en-US" altLang="ko-KR" dirty="0"/>
              <a:t>• </a:t>
            </a:r>
            <a:r>
              <a:rPr lang="ko-KR" altLang="en-US" dirty="0"/>
              <a:t>한</a:t>
            </a:r>
            <a:r>
              <a:rPr lang="ko-KR" altLang="en-US" dirty="0" smtClean="0"/>
              <a:t> 계층에서 </a:t>
            </a:r>
            <a:r>
              <a:rPr lang="ko-KR" altLang="en-US" dirty="0" err="1" smtClean="0"/>
              <a:t>비전투</a:t>
            </a:r>
            <a:r>
              <a:rPr lang="ko-KR" altLang="en-US" dirty="0" smtClean="0"/>
              <a:t> </a:t>
            </a:r>
            <a:r>
              <a:rPr lang="ko-KR" altLang="en-US" dirty="0" err="1" smtClean="0"/>
              <a:t>에어리어</a:t>
            </a:r>
            <a:r>
              <a:rPr lang="en-US" altLang="ko-KR" dirty="0" smtClean="0"/>
              <a:t>(</a:t>
            </a:r>
            <a:r>
              <a:rPr lang="ko-KR" altLang="en-US" dirty="0" smtClean="0"/>
              <a:t>상인</a:t>
            </a:r>
            <a:r>
              <a:rPr lang="en-US" altLang="ko-KR" dirty="0" smtClean="0"/>
              <a:t>, </a:t>
            </a:r>
            <a:r>
              <a:rPr lang="ko-KR" altLang="en-US" dirty="0" smtClean="0"/>
              <a:t>보물상자 등</a:t>
            </a:r>
            <a:r>
              <a:rPr lang="en-US" altLang="ko-KR" dirty="0" smtClean="0"/>
              <a:t>)</a:t>
            </a:r>
            <a:r>
              <a:rPr lang="ko-KR" altLang="en-US" dirty="0" smtClean="0"/>
              <a:t>은 최대 </a:t>
            </a:r>
            <a:r>
              <a:rPr lang="en-US" altLang="ko-KR" dirty="0" smtClean="0"/>
              <a:t>2</a:t>
            </a:r>
            <a:r>
              <a:rPr lang="ko-KR" altLang="en-US" dirty="0" smtClean="0"/>
              <a:t>개까지</a:t>
            </a:r>
            <a:r>
              <a:rPr lang="en-US" altLang="ko-KR" dirty="0" smtClean="0"/>
              <a:t/>
            </a:r>
            <a:br>
              <a:rPr lang="en-US" altLang="ko-KR" dirty="0" smtClean="0"/>
            </a:br>
            <a:r>
              <a:rPr lang="en-US" altLang="ko-KR" dirty="0" smtClean="0"/>
              <a:t>  </a:t>
            </a:r>
            <a:r>
              <a:rPr lang="ko-KR" altLang="en-US" dirty="0" smtClean="0"/>
              <a:t>무작위 개수만큼 존재한다</a:t>
            </a:r>
            <a:r>
              <a:rPr lang="en-US" altLang="ko-KR" dirty="0" smtClean="0"/>
              <a:t>.</a:t>
            </a:r>
          </a:p>
          <a:p>
            <a:pPr>
              <a:lnSpc>
                <a:spcPct val="150000"/>
              </a:lnSpc>
            </a:pPr>
            <a:r>
              <a:rPr lang="en-US" altLang="ko-KR" dirty="0" smtClean="0"/>
              <a:t/>
            </a:r>
            <a:br>
              <a:rPr lang="en-US" altLang="ko-KR" dirty="0" smtClean="0"/>
            </a:br>
            <a:r>
              <a:rPr lang="en-US" altLang="ko-KR" dirty="0" smtClean="0"/>
              <a:t>• </a:t>
            </a:r>
            <a:r>
              <a:rPr lang="ko-KR" altLang="en-US" dirty="0" smtClean="0"/>
              <a:t>계층은 총 </a:t>
            </a:r>
            <a:r>
              <a:rPr lang="en-US" altLang="ko-KR" dirty="0" smtClean="0"/>
              <a:t>9</a:t>
            </a:r>
            <a:r>
              <a:rPr lang="ko-KR" altLang="en-US" dirty="0" smtClean="0"/>
              <a:t>개로</a:t>
            </a:r>
            <a:r>
              <a:rPr lang="en-US" altLang="ko-KR" dirty="0" smtClean="0"/>
              <a:t>, 3</a:t>
            </a:r>
            <a:r>
              <a:rPr lang="ko-KR" altLang="en-US" dirty="0" smtClean="0"/>
              <a:t>의 배수인 계층은 보스 </a:t>
            </a:r>
            <a:r>
              <a:rPr lang="ko-KR" altLang="en-US" dirty="0" err="1" smtClean="0"/>
              <a:t>에어리어로</a:t>
            </a:r>
            <a:r>
              <a:rPr lang="ko-KR" altLang="en-US" dirty="0" smtClean="0"/>
              <a:t> 설정한다</a:t>
            </a:r>
            <a:r>
              <a:rPr lang="en-US" altLang="ko-KR" dirty="0" smtClean="0"/>
              <a:t>.</a:t>
            </a:r>
            <a:br>
              <a:rPr lang="en-US" altLang="ko-KR" dirty="0" smtClean="0"/>
            </a:br>
            <a:r>
              <a:rPr lang="en-US" altLang="ko-KR" dirty="0" smtClean="0"/>
              <a:t/>
            </a:r>
            <a:br>
              <a:rPr lang="en-US" altLang="ko-KR" dirty="0" smtClean="0"/>
            </a:br>
            <a:r>
              <a:rPr lang="en-US" altLang="ko-KR" dirty="0" smtClean="0"/>
              <a:t>• </a:t>
            </a:r>
            <a:r>
              <a:rPr lang="ko-KR" altLang="en-US" dirty="0" smtClean="0"/>
              <a:t>보스 계층에는 보스의 가짓수 중 하나가 무작위로 배정되며</a:t>
            </a:r>
            <a:r>
              <a:rPr lang="en-US" altLang="ko-KR" dirty="0" smtClean="0"/>
              <a:t>,</a:t>
            </a:r>
            <a:br>
              <a:rPr lang="en-US" altLang="ko-KR" dirty="0" smtClean="0"/>
            </a:br>
            <a:r>
              <a:rPr lang="en-US" altLang="ko-KR" dirty="0" smtClean="0"/>
              <a:t>  </a:t>
            </a:r>
            <a:r>
              <a:rPr lang="ko-KR" altLang="en-US" dirty="0" smtClean="0"/>
              <a:t>깊은 계층일수록 배정된 보스가 강해진다</a:t>
            </a:r>
            <a:r>
              <a:rPr lang="en-US" altLang="ko-KR" dirty="0" smtClean="0"/>
              <a:t>.</a:t>
            </a:r>
            <a:br>
              <a:rPr lang="en-US" altLang="ko-KR" dirty="0" smtClean="0"/>
            </a:br>
            <a:r>
              <a:rPr lang="en-US" altLang="ko-KR" dirty="0" smtClean="0"/>
              <a:t/>
            </a:r>
            <a:br>
              <a:rPr lang="en-US" altLang="ko-KR" dirty="0" smtClean="0"/>
            </a:br>
            <a:r>
              <a:rPr lang="en-US" altLang="ko-KR" dirty="0"/>
              <a:t>• </a:t>
            </a:r>
            <a:r>
              <a:rPr lang="ko-KR" altLang="en-US" dirty="0"/>
              <a:t>계층의 깊이에 따라 출현하는 몬스터</a:t>
            </a:r>
            <a:r>
              <a:rPr lang="en-US" altLang="ko-KR" dirty="0"/>
              <a:t>, </a:t>
            </a:r>
            <a:r>
              <a:rPr lang="ko-KR" altLang="en-US" dirty="0"/>
              <a:t>아이템 등이 상이하다</a:t>
            </a:r>
            <a:r>
              <a:rPr lang="en-US" altLang="ko-KR" dirty="0" smtClean="0"/>
              <a:t>.</a:t>
            </a:r>
            <a:endParaRPr lang="en-US" altLang="ko-KR"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017217" y="1208221"/>
            <a:ext cx="1043483" cy="2443537"/>
            <a:chOff x="1521917" y="1239463"/>
            <a:chExt cx="179993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cxnSp>
          <p:nvCxnSpPr>
            <p:cNvPr id="22" name="직선 연결선 21"/>
            <p:cNvCxnSpPr>
              <a:stCxn id="16" idx="6"/>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a:endCxn id="20"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944590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864100" y="1524889"/>
            <a:ext cx="7010400" cy="3785652"/>
          </a:xfrm>
          <a:prstGeom prst="rect">
            <a:avLst/>
          </a:prstGeom>
          <a:noFill/>
        </p:spPr>
        <p:txBody>
          <a:bodyPr wrap="square" rtlCol="0">
            <a:spAutoFit/>
          </a:bodyPr>
          <a:lstStyle/>
          <a:p>
            <a:pPr>
              <a:lnSpc>
                <a:spcPct val="150000"/>
              </a:lnSpc>
            </a:pPr>
            <a:r>
              <a:rPr lang="en-US" altLang="ko-KR" sz="2000" dirty="0"/>
              <a:t>• </a:t>
            </a:r>
            <a:r>
              <a:rPr lang="ko-KR" altLang="en-US" sz="2000" dirty="0" smtClean="0"/>
              <a:t>동일한 계층 내에서</a:t>
            </a:r>
            <a:r>
              <a:rPr lang="en-US" altLang="ko-KR" sz="2000" dirty="0" smtClean="0"/>
              <a:t>,</a:t>
            </a:r>
            <a:r>
              <a:rPr lang="ko-KR" altLang="en-US" sz="2000" dirty="0" smtClean="0"/>
              <a:t> 각각의 에어리어들을 잇는 길은 </a:t>
            </a:r>
            <a:endParaRPr lang="en-US" altLang="ko-KR" sz="2000" dirty="0" smtClean="0"/>
          </a:p>
          <a:p>
            <a:pPr>
              <a:lnSpc>
                <a:spcPct val="150000"/>
              </a:lnSpc>
            </a:pPr>
            <a:r>
              <a:rPr lang="en-US" altLang="ko-KR" sz="2000" dirty="0"/>
              <a:t> </a:t>
            </a:r>
            <a:r>
              <a:rPr lang="en-US" altLang="ko-KR" sz="2000" dirty="0" smtClean="0"/>
              <a:t> </a:t>
            </a:r>
            <a:r>
              <a:rPr lang="ko-KR" altLang="en-US" sz="2000" dirty="0" smtClean="0"/>
              <a:t>맵 재생성과 상관없이 수직으로 이어져있다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err="1" smtClean="0"/>
              <a:t>에어리어</a:t>
            </a:r>
            <a:r>
              <a:rPr lang="ko-KR" altLang="en-US" sz="2000" dirty="0" smtClean="0"/>
              <a:t> 간에 연결될 수 있는 길은 오직 하나이다</a:t>
            </a:r>
            <a:r>
              <a:rPr lang="en-US" altLang="ko-KR" sz="2000" dirty="0" smtClean="0"/>
              <a:t>.</a:t>
            </a:r>
            <a:endParaRPr lang="en-US" altLang="ko-KR" sz="2000" dirty="0"/>
          </a:p>
          <a:p>
            <a:pPr>
              <a:lnSpc>
                <a:spcPct val="150000"/>
              </a:lnSpc>
            </a:pPr>
            <a:endParaRPr lang="en-US" altLang="ko-KR" sz="2000" dirty="0" smtClean="0"/>
          </a:p>
          <a:p>
            <a:pPr>
              <a:lnSpc>
                <a:spcPct val="150000"/>
              </a:lnSpc>
            </a:pPr>
            <a:r>
              <a:rPr lang="en-US" altLang="ko-KR" sz="2000" dirty="0" smtClean="0"/>
              <a:t>• </a:t>
            </a:r>
            <a:r>
              <a:rPr lang="ko-KR" altLang="en-US" sz="2000" dirty="0" smtClean="0"/>
              <a:t>계층과 계층을 잇는 길은 </a:t>
            </a:r>
            <a:r>
              <a:rPr lang="ko-KR" altLang="en-US" sz="2000" dirty="0" err="1" smtClean="0"/>
              <a:t>맵이</a:t>
            </a:r>
            <a:r>
              <a:rPr lang="ko-KR" altLang="en-US" sz="2000" dirty="0" smtClean="0"/>
              <a:t> 재생성되면서 무작위의 </a:t>
            </a:r>
            <a:endParaRPr lang="en-US" altLang="ko-KR" sz="2000" dirty="0" smtClean="0"/>
          </a:p>
          <a:p>
            <a:pPr>
              <a:lnSpc>
                <a:spcPct val="150000"/>
              </a:lnSpc>
            </a:pPr>
            <a:r>
              <a:rPr lang="en-US" altLang="ko-KR" sz="2000" dirty="0"/>
              <a:t> </a:t>
            </a:r>
            <a:r>
              <a:rPr lang="en-US" altLang="ko-KR" sz="2000" dirty="0" smtClean="0"/>
              <a:t> </a:t>
            </a:r>
            <a:r>
              <a:rPr lang="ko-KR" altLang="en-US" sz="2000" dirty="0" err="1" smtClean="0"/>
              <a:t>에어리어에</a:t>
            </a:r>
            <a:r>
              <a:rPr lang="en-US" altLang="ko-KR" sz="2000" dirty="0" smtClean="0"/>
              <a:t> </a:t>
            </a:r>
            <a:r>
              <a:rPr lang="ko-KR" altLang="en-US" sz="2000" dirty="0" smtClean="0"/>
              <a:t>연결되어 위치가 변경된다</a:t>
            </a:r>
            <a:r>
              <a:rPr lang="en-US" altLang="ko-KR" sz="2000" dirty="0" smtClean="0"/>
              <a:t>. </a:t>
            </a:r>
            <a:r>
              <a:rPr lang="ko-KR" altLang="en-US" sz="2000" dirty="0" smtClean="0"/>
              <a:t>단</a:t>
            </a:r>
            <a:r>
              <a:rPr lang="en-US" altLang="ko-KR" sz="2000" dirty="0" smtClean="0"/>
              <a:t>, </a:t>
            </a:r>
            <a:r>
              <a:rPr lang="ko-KR" altLang="en-US" sz="2000" dirty="0" smtClean="0"/>
              <a:t>두 길의 거리는</a:t>
            </a:r>
            <a:r>
              <a:rPr lang="en-US" altLang="ko-KR" sz="2000" dirty="0" smtClean="0"/>
              <a:t/>
            </a:r>
            <a:br>
              <a:rPr lang="en-US" altLang="ko-KR" sz="2000" dirty="0" smtClean="0"/>
            </a:br>
            <a:r>
              <a:rPr lang="en-US" altLang="ko-KR" sz="2000" dirty="0" smtClean="0"/>
              <a:t>  2~4 </a:t>
            </a:r>
            <a:r>
              <a:rPr lang="ko-KR" altLang="en-US" sz="2000" dirty="0" err="1" smtClean="0"/>
              <a:t>에어리어</a:t>
            </a:r>
            <a:r>
              <a:rPr lang="ko-KR" altLang="en-US" sz="2000" dirty="0" smtClean="0"/>
              <a:t> 사이에서 무작위로 배정된다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길</a:t>
            </a:r>
          </a:p>
        </p:txBody>
      </p:sp>
      <p:cxnSp>
        <p:nvCxnSpPr>
          <p:cNvPr id="12" name="직선 연결선 11"/>
          <p:cNvCxnSpPr/>
          <p:nvPr/>
        </p:nvCxnSpPr>
        <p:spPr>
          <a:xfrm>
            <a:off x="2123955" y="2796988"/>
            <a:ext cx="802541" cy="8345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4203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728333"/>
            <a:ext cx="7430576" cy="4247317"/>
          </a:xfrm>
          <a:prstGeom prst="rect">
            <a:avLst/>
          </a:prstGeom>
          <a:noFill/>
        </p:spPr>
        <p:txBody>
          <a:bodyPr wrap="square" rtlCol="0">
            <a:spAutoFit/>
          </a:bodyPr>
          <a:lstStyle/>
          <a:p>
            <a:pPr>
              <a:lnSpc>
                <a:spcPct val="150000"/>
              </a:lnSpc>
            </a:pPr>
            <a:r>
              <a:rPr lang="en-US" altLang="ko-KR" sz="2000" dirty="0"/>
              <a:t>• </a:t>
            </a:r>
            <a:r>
              <a:rPr lang="en-US" altLang="ko-KR" sz="2000" dirty="0" smtClean="0"/>
              <a:t>3</a:t>
            </a:r>
            <a:r>
              <a:rPr lang="ko-KR" altLang="en-US" sz="2000" dirty="0" smtClean="0"/>
              <a:t>의 배수 계층은 보스 에어리어로서</a:t>
            </a:r>
            <a:r>
              <a:rPr lang="en-US" altLang="ko-KR" sz="2000" dirty="0"/>
              <a:t> </a:t>
            </a:r>
            <a:r>
              <a:rPr lang="ko-KR" altLang="en-US" sz="2000" dirty="0" smtClean="0"/>
              <a:t>고정적으로 존재하고</a:t>
            </a:r>
            <a:r>
              <a:rPr lang="en-US" altLang="ko-KR" sz="2000" dirty="0" smtClean="0"/>
              <a:t/>
            </a:r>
            <a:br>
              <a:rPr lang="en-US" altLang="ko-KR" sz="2000" dirty="0" smtClean="0"/>
            </a:br>
            <a:r>
              <a:rPr lang="en-US" altLang="ko-KR" sz="2000" dirty="0" smtClean="0"/>
              <a:t>  </a:t>
            </a:r>
            <a:r>
              <a:rPr lang="ko-KR" altLang="en-US" sz="2000" dirty="0" smtClean="0"/>
              <a:t>중간에 중간 보스가</a:t>
            </a:r>
            <a:r>
              <a:rPr lang="en-US" altLang="ko-KR" sz="2000" dirty="0" smtClean="0"/>
              <a:t>, </a:t>
            </a:r>
            <a:r>
              <a:rPr lang="ko-KR" altLang="en-US" sz="2000" dirty="0" smtClean="0"/>
              <a:t>마지막 계층은 최종 보스가 배정된다</a:t>
            </a:r>
            <a:r>
              <a:rPr lang="en-US" altLang="ko-KR" sz="2000" dirty="0" smtClean="0"/>
              <a:t>.</a:t>
            </a:r>
          </a:p>
          <a:p>
            <a:pPr>
              <a:lnSpc>
                <a:spcPct val="150000"/>
              </a:lnSpc>
            </a:pPr>
            <a:endParaRPr lang="en-US" altLang="ko-KR" sz="2000" dirty="0" smtClean="0"/>
          </a:p>
          <a:p>
            <a:pPr>
              <a:lnSpc>
                <a:spcPct val="150000"/>
              </a:lnSpc>
            </a:pPr>
            <a:r>
              <a:rPr lang="en-US" altLang="ko-KR" sz="2000" dirty="0" smtClean="0"/>
              <a:t>• </a:t>
            </a:r>
            <a:r>
              <a:rPr lang="ko-KR" altLang="en-US" sz="2000" dirty="0" err="1" smtClean="0"/>
              <a:t>맵이</a:t>
            </a:r>
            <a:r>
              <a:rPr lang="ko-KR" altLang="en-US" sz="2000" dirty="0" smtClean="0"/>
              <a:t> </a:t>
            </a:r>
            <a:r>
              <a:rPr lang="ko-KR" altLang="en-US" sz="2000" dirty="0" err="1" smtClean="0"/>
              <a:t>재생성되면</a:t>
            </a:r>
            <a:r>
              <a:rPr lang="ko-KR" altLang="en-US" sz="2000" dirty="0" smtClean="0"/>
              <a:t> 최종 계층을 제외한 보스 </a:t>
            </a:r>
            <a:r>
              <a:rPr lang="ko-KR" altLang="en-US" sz="2000" dirty="0" err="1" smtClean="0"/>
              <a:t>에어리어들</a:t>
            </a:r>
            <a:r>
              <a:rPr lang="ko-KR" altLang="en-US" sz="2000" dirty="0" smtClean="0"/>
              <a:t> 각각에</a:t>
            </a:r>
            <a:r>
              <a:rPr lang="en-US" altLang="ko-KR" sz="2000" dirty="0" smtClean="0"/>
              <a:t/>
            </a:r>
            <a:br>
              <a:rPr lang="en-US" altLang="ko-KR" sz="2000" dirty="0" smtClean="0"/>
            </a:br>
            <a:r>
              <a:rPr lang="en-US" altLang="ko-KR" sz="2000" dirty="0" smtClean="0"/>
              <a:t>  </a:t>
            </a:r>
            <a:r>
              <a:rPr lang="ko-KR" altLang="en-US" sz="2000" dirty="0" smtClean="0"/>
              <a:t>중간 보스의 가짓수 중에서 무작위로 새로운 보스가 배정된다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smtClean="0"/>
              <a:t>계층이 깊은 에어리어일수록 배정된 보스가 강해진다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smtClean="0"/>
              <a:t>최종 보스는 </a:t>
            </a:r>
            <a:r>
              <a:rPr lang="en-US" altLang="ko-KR" sz="2000" dirty="0" smtClean="0"/>
              <a:t>‘</a:t>
            </a:r>
            <a:r>
              <a:rPr lang="ko-KR" altLang="en-US" sz="2000" dirty="0" smtClean="0"/>
              <a:t>마왕</a:t>
            </a:r>
            <a:r>
              <a:rPr lang="en-US" altLang="ko-KR" sz="2000" dirty="0" smtClean="0"/>
              <a:t>‘</a:t>
            </a:r>
            <a:r>
              <a:rPr lang="ko-KR" altLang="en-US" sz="2000" dirty="0" smtClean="0"/>
              <a:t>으로서 마지막 계층에 고정적으로 존재한다</a:t>
            </a:r>
            <a:r>
              <a:rPr lang="en-US" altLang="ko-KR" sz="20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직사각형 9"/>
          <p:cNvSpPr/>
          <p:nvPr/>
        </p:nvSpPr>
        <p:spPr>
          <a:xfrm>
            <a:off x="1633040" y="2836783"/>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 name="직사각형 12"/>
          <p:cNvSpPr/>
          <p:nvPr/>
        </p:nvSpPr>
        <p:spPr>
          <a:xfrm>
            <a:off x="2674631" y="2836784"/>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Tree>
    <p:extLst>
      <p:ext uri="{BB962C8B-B14F-4D97-AF65-F5344CB8AC3E}">
        <p14:creationId xmlns:p14="http://schemas.microsoft.com/office/powerpoint/2010/main" val="33422449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
        <p:nvSpPr>
          <p:cNvPr id="15" name="타원 14"/>
          <p:cNvSpPr/>
          <p:nvPr/>
        </p:nvSpPr>
        <p:spPr>
          <a:xfrm>
            <a:off x="838842" y="4785709"/>
            <a:ext cx="851617" cy="85684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9" name="이등변 삼각형 8"/>
          <p:cNvSpPr/>
          <p:nvPr/>
        </p:nvSpPr>
        <p:spPr>
          <a:xfrm rot="5400000">
            <a:off x="649132" y="1204321"/>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9714783" y="1247504"/>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414030" y="1247506"/>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64" name="직선 연결선 163"/>
          <p:cNvCxnSpPr/>
          <p:nvPr/>
        </p:nvCxnSpPr>
        <p:spPr>
          <a:xfrm>
            <a:off x="10734194" y="2217568"/>
            <a:ext cx="758165" cy="8000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1993900" y="1014611"/>
            <a:ext cx="5740400" cy="1615827"/>
          </a:xfrm>
          <a:prstGeom prst="rect">
            <a:avLst/>
          </a:prstGeom>
          <a:noFill/>
        </p:spPr>
        <p:txBody>
          <a:bodyPr wrap="square" rtlCol="0">
            <a:spAutoFit/>
          </a:bodyPr>
          <a:lstStyle/>
          <a:p>
            <a:pPr>
              <a:lnSpc>
                <a:spcPct val="150000"/>
              </a:lnSpc>
            </a:pPr>
            <a:r>
              <a:rPr lang="en-US" altLang="ko-KR" dirty="0"/>
              <a:t>• </a:t>
            </a:r>
            <a:r>
              <a:rPr lang="ko-KR" altLang="en-US" sz="1600" dirty="0" err="1" smtClean="0"/>
              <a:t>던전맵</a:t>
            </a:r>
            <a:r>
              <a:rPr lang="ko-KR" altLang="en-US" sz="1600" dirty="0" smtClean="0"/>
              <a:t> 가장 좌측에 고정적으로 위치한다</a:t>
            </a:r>
            <a:r>
              <a:rPr lang="en-US" altLang="ko-KR" sz="1600" dirty="0" smtClean="0"/>
              <a:t>.</a:t>
            </a:r>
          </a:p>
          <a:p>
            <a:pPr>
              <a:lnSpc>
                <a:spcPct val="150000"/>
              </a:lnSpc>
            </a:pPr>
            <a:r>
              <a:rPr lang="en-US" altLang="ko-KR" sz="1600" dirty="0" smtClean="0"/>
              <a:t>• </a:t>
            </a:r>
            <a:r>
              <a:rPr lang="ko-KR" altLang="en-US" sz="1600" dirty="0" smtClean="0"/>
              <a:t>캐릭터가 던전 탐험을 시작하는 위치이다</a:t>
            </a:r>
            <a:r>
              <a:rPr lang="en-US" altLang="ko-KR" sz="1600" dirty="0" smtClean="0"/>
              <a:t>.</a:t>
            </a:r>
          </a:p>
          <a:p>
            <a:pPr>
              <a:lnSpc>
                <a:spcPct val="150000"/>
              </a:lnSpc>
            </a:pPr>
            <a:r>
              <a:rPr lang="en-US" altLang="ko-KR" sz="1600" dirty="0"/>
              <a:t>• </a:t>
            </a:r>
            <a:r>
              <a:rPr lang="ko-KR" altLang="en-US" sz="1600" dirty="0" smtClean="0"/>
              <a:t>캐릭터가 던전 탐험 중 사망했을 때</a:t>
            </a:r>
            <a:r>
              <a:rPr lang="en-US" altLang="ko-KR" sz="1600" dirty="0"/>
              <a:t> </a:t>
            </a:r>
            <a:r>
              <a:rPr lang="ko-KR" altLang="en-US" sz="1600" dirty="0" smtClean="0"/>
              <a:t>돌아오는 위치이다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않는다</a:t>
            </a:r>
            <a:r>
              <a:rPr lang="en-US" altLang="ko-KR" sz="1600" dirty="0" smtClean="0"/>
              <a:t>.</a:t>
            </a:r>
          </a:p>
        </p:txBody>
      </p:sp>
      <p:sp>
        <p:nvSpPr>
          <p:cNvPr id="105" name="TextBox 104"/>
          <p:cNvSpPr txBox="1"/>
          <p:nvPr/>
        </p:nvSpPr>
        <p:spPr>
          <a:xfrm>
            <a:off x="1993899" y="4400445"/>
            <a:ext cx="9359900" cy="1615827"/>
          </a:xfrm>
          <a:prstGeom prst="rect">
            <a:avLst/>
          </a:prstGeom>
          <a:noFill/>
        </p:spPr>
        <p:txBody>
          <a:bodyPr wrap="square" rtlCol="0">
            <a:spAutoFit/>
          </a:bodyPr>
          <a:lstStyle/>
          <a:p>
            <a:pPr>
              <a:lnSpc>
                <a:spcPct val="150000"/>
              </a:lnSpc>
            </a:pPr>
            <a:r>
              <a:rPr lang="en-US" altLang="ko-KR" dirty="0" smtClean="0"/>
              <a:t>• </a:t>
            </a:r>
            <a:r>
              <a:rPr lang="ko-KR" altLang="en-US" sz="1600" dirty="0" smtClean="0"/>
              <a:t>동일한 계층 내에 고정적으로 </a:t>
            </a:r>
            <a:r>
              <a:rPr lang="en-US" altLang="ko-KR" sz="1600" dirty="0" smtClean="0"/>
              <a:t>7</a:t>
            </a:r>
            <a:r>
              <a:rPr lang="ko-KR" altLang="en-US" sz="1600" dirty="0" smtClean="0"/>
              <a:t>개의 </a:t>
            </a:r>
            <a:r>
              <a:rPr lang="ko-KR" altLang="en-US" sz="1600" dirty="0" err="1" smtClean="0"/>
              <a:t>에어리어가</a:t>
            </a:r>
            <a:r>
              <a:rPr lang="ko-KR" altLang="en-US" sz="1600" dirty="0" smtClean="0"/>
              <a:t> 수직 일렬로 연결된다</a:t>
            </a:r>
            <a:r>
              <a:rPr lang="en-US" altLang="ko-KR" sz="1600" dirty="0" smtClean="0"/>
              <a:t>.</a:t>
            </a:r>
            <a:endParaRPr lang="en-US" altLang="ko-KR" dirty="0" smtClean="0"/>
          </a:p>
          <a:p>
            <a:pPr>
              <a:lnSpc>
                <a:spcPct val="150000"/>
              </a:lnSpc>
            </a:pPr>
            <a:r>
              <a:rPr lang="en-US" altLang="ko-KR" sz="1600" dirty="0" smtClean="0"/>
              <a:t>• </a:t>
            </a:r>
            <a:r>
              <a:rPr lang="ko-KR" altLang="en-US" sz="1600" dirty="0" err="1" smtClean="0"/>
              <a:t>에어리어</a:t>
            </a:r>
            <a:r>
              <a:rPr lang="ko-KR" altLang="en-US" sz="1600" dirty="0" smtClean="0"/>
              <a:t> 마다 이벤트를 품고 있으며</a:t>
            </a:r>
            <a:r>
              <a:rPr lang="en-US" altLang="ko-KR" sz="1600" dirty="0" smtClean="0"/>
              <a:t>, </a:t>
            </a:r>
            <a:r>
              <a:rPr lang="ko-KR" altLang="en-US" sz="1600" dirty="0" smtClean="0"/>
              <a:t>재생성 시 일부 </a:t>
            </a:r>
            <a:r>
              <a:rPr lang="ko-KR" altLang="en-US" sz="1600" dirty="0" err="1" smtClean="0"/>
              <a:t>에어리어를</a:t>
            </a:r>
            <a:r>
              <a:rPr lang="ko-KR" altLang="en-US" sz="1600" dirty="0" smtClean="0"/>
              <a:t> 제외하고 무작위로 변경된다</a:t>
            </a:r>
            <a:r>
              <a:rPr lang="en-US" altLang="ko-KR" sz="1600" dirty="0" smtClean="0"/>
              <a:t>.</a:t>
            </a:r>
            <a:br>
              <a:rPr lang="en-US" altLang="ko-KR" sz="1600" dirty="0" smtClean="0"/>
            </a:br>
            <a:r>
              <a:rPr lang="en-US" altLang="ko-KR" sz="1600" dirty="0" smtClean="0"/>
              <a:t>• </a:t>
            </a:r>
            <a:r>
              <a:rPr lang="ko-KR" altLang="en-US" sz="1600" dirty="0" smtClean="0"/>
              <a:t>서로 다른 계층을 잇는 길에 연결된 </a:t>
            </a:r>
            <a:r>
              <a:rPr lang="ko-KR" altLang="en-US" sz="1600" dirty="0" err="1" smtClean="0"/>
              <a:t>에어리어는</a:t>
            </a:r>
            <a:r>
              <a:rPr lang="ko-KR" altLang="en-US" sz="1600" dirty="0" smtClean="0"/>
              <a:t> 전투 이벤트를 가지고있다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않음</a:t>
            </a:r>
            <a:endParaRPr lang="en-US" altLang="ko-KR" sz="1600" dirty="0" smtClean="0"/>
          </a:p>
        </p:txBody>
      </p:sp>
      <p:sp>
        <p:nvSpPr>
          <p:cNvPr id="106" name="곱셈 기호 10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16495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89468" y="1105085"/>
            <a:ext cx="11383432" cy="5216813"/>
          </a:xfrm>
          <a:prstGeom prst="rect">
            <a:avLst/>
          </a:prstGeom>
          <a:noFill/>
        </p:spPr>
        <p:txBody>
          <a:bodyPr wrap="square" rtlCol="0">
            <a:spAutoFit/>
          </a:bodyPr>
          <a:lstStyle/>
          <a:p>
            <a:pPr>
              <a:lnSpc>
                <a:spcPct val="150000"/>
              </a:lnSpc>
            </a:pPr>
            <a:r>
              <a:rPr lang="en-US" altLang="ko-KR" dirty="0"/>
              <a:t>• </a:t>
            </a:r>
            <a:r>
              <a:rPr lang="ko-KR" altLang="en-US" dirty="0" smtClean="0"/>
              <a:t>규칙 </a:t>
            </a:r>
            <a:r>
              <a:rPr lang="en-US" altLang="ko-KR" dirty="0" smtClean="0"/>
              <a:t>1 : </a:t>
            </a:r>
            <a:r>
              <a:rPr lang="ko-KR" altLang="en-US" dirty="0" smtClean="0"/>
              <a:t>고정 요소</a:t>
            </a:r>
            <a:endParaRPr lang="en-US" altLang="ko-KR" dirty="0" smtClean="0"/>
          </a:p>
          <a:p>
            <a:pPr>
              <a:lnSpc>
                <a:spcPct val="150000"/>
              </a:lnSpc>
            </a:pPr>
            <a:r>
              <a:rPr lang="en-US" altLang="ko-KR" dirty="0" smtClean="0"/>
              <a:t>- </a:t>
            </a:r>
            <a:r>
              <a:rPr lang="ko-KR" altLang="en-US" dirty="0" smtClean="0"/>
              <a:t>입구는 </a:t>
            </a:r>
            <a:r>
              <a:rPr lang="ko-KR" altLang="en-US" dirty="0" err="1" smtClean="0"/>
              <a:t>최좌측</a:t>
            </a:r>
            <a:r>
              <a:rPr lang="en-US" altLang="ko-KR" dirty="0" smtClean="0"/>
              <a:t>, </a:t>
            </a:r>
            <a:r>
              <a:rPr lang="ko-KR" altLang="en-US" dirty="0" err="1" smtClean="0"/>
              <a:t>최심부는</a:t>
            </a:r>
            <a:r>
              <a:rPr lang="ko-KR" altLang="en-US" dirty="0" smtClean="0"/>
              <a:t> </a:t>
            </a:r>
            <a:r>
              <a:rPr lang="ko-KR" altLang="en-US" dirty="0" err="1" smtClean="0"/>
              <a:t>최우측에</a:t>
            </a:r>
            <a:r>
              <a:rPr lang="ko-KR" altLang="en-US" dirty="0" smtClean="0"/>
              <a:t> 위치하며 길과 계층을 따라 선형적으로 연결되어 있다</a:t>
            </a:r>
            <a:r>
              <a:rPr lang="en-US" altLang="ko-KR" dirty="0" smtClean="0"/>
              <a:t>.</a:t>
            </a:r>
          </a:p>
          <a:p>
            <a:pPr>
              <a:lnSpc>
                <a:spcPct val="150000"/>
              </a:lnSpc>
            </a:pPr>
            <a:r>
              <a:rPr lang="en-US" altLang="ko-KR" dirty="0" smtClean="0"/>
              <a:t>- </a:t>
            </a:r>
            <a:r>
              <a:rPr lang="ko-KR" altLang="en-US" dirty="0" smtClean="0"/>
              <a:t>한 계층에서 다른 계층으로 이동할 수 있는 길은</a:t>
            </a:r>
            <a:r>
              <a:rPr lang="en-US" altLang="ko-KR" dirty="0" smtClean="0"/>
              <a:t>, </a:t>
            </a:r>
            <a:r>
              <a:rPr lang="ko-KR" altLang="en-US" dirty="0" smtClean="0"/>
              <a:t>계층 내 하나의 에어리어에만 존재한다</a:t>
            </a:r>
            <a:r>
              <a:rPr lang="en-US" altLang="ko-KR" dirty="0" smtClean="0"/>
              <a:t>.</a:t>
            </a:r>
          </a:p>
          <a:p>
            <a:pPr>
              <a:lnSpc>
                <a:spcPct val="150000"/>
              </a:lnSpc>
            </a:pPr>
            <a:r>
              <a:rPr lang="en-US" altLang="ko-KR" dirty="0" smtClean="0"/>
              <a:t>- </a:t>
            </a:r>
            <a:r>
              <a:rPr lang="ko-KR" altLang="en-US" dirty="0" smtClean="0"/>
              <a:t>입구</a:t>
            </a:r>
            <a:r>
              <a:rPr lang="en-US" altLang="ko-KR" dirty="0" smtClean="0"/>
              <a:t>, 3</a:t>
            </a:r>
            <a:r>
              <a:rPr lang="ko-KR" altLang="en-US" dirty="0" smtClean="0"/>
              <a:t>의 배수 계층</a:t>
            </a:r>
            <a:r>
              <a:rPr lang="en-US" altLang="ko-KR" dirty="0" smtClean="0"/>
              <a:t>(</a:t>
            </a:r>
            <a:r>
              <a:rPr lang="ko-KR" altLang="en-US" dirty="0" smtClean="0"/>
              <a:t>보스 </a:t>
            </a:r>
            <a:r>
              <a:rPr lang="ko-KR" altLang="en-US" dirty="0" err="1" smtClean="0"/>
              <a:t>에어리어</a:t>
            </a:r>
            <a:r>
              <a:rPr lang="en-US" altLang="ko-KR" dirty="0" smtClean="0"/>
              <a:t>)</a:t>
            </a:r>
            <a:r>
              <a:rPr lang="ko-KR" altLang="en-US" dirty="0" smtClean="0"/>
              <a:t>의 위치는 게임의 리셋과 상관없이 고정적이다</a:t>
            </a:r>
            <a:r>
              <a:rPr lang="en-US" altLang="ko-KR" dirty="0" smtClean="0"/>
              <a:t>.</a:t>
            </a:r>
          </a:p>
          <a:p>
            <a:pPr>
              <a:lnSpc>
                <a:spcPct val="150000"/>
              </a:lnSpc>
            </a:pPr>
            <a:r>
              <a:rPr lang="en-US" altLang="ko-KR" dirty="0" smtClean="0"/>
              <a:t>- 3</a:t>
            </a:r>
            <a:r>
              <a:rPr lang="ko-KR" altLang="en-US" dirty="0" smtClean="0"/>
              <a:t>의 배수 계층에는 보스 몬스터가 존재한다</a:t>
            </a:r>
            <a:r>
              <a:rPr lang="en-US" altLang="ko-KR" dirty="0" smtClean="0"/>
              <a:t>.</a:t>
            </a:r>
            <a:endParaRPr lang="en-US" altLang="ko-KR" dirty="0"/>
          </a:p>
          <a:p>
            <a:pPr>
              <a:lnSpc>
                <a:spcPct val="150000"/>
              </a:lnSpc>
            </a:pPr>
            <a:endParaRPr lang="en-US" altLang="ko-KR" dirty="0" smtClean="0"/>
          </a:p>
          <a:p>
            <a:pPr>
              <a:lnSpc>
                <a:spcPct val="150000"/>
              </a:lnSpc>
            </a:pPr>
            <a:r>
              <a:rPr lang="en-US" altLang="ko-KR" dirty="0" smtClean="0"/>
              <a:t>• </a:t>
            </a:r>
            <a:r>
              <a:rPr lang="ko-KR" altLang="en-US" dirty="0" smtClean="0"/>
              <a:t>규칙 </a:t>
            </a:r>
            <a:r>
              <a:rPr lang="en-US" altLang="ko-KR" dirty="0" smtClean="0"/>
              <a:t>2 : </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584445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107" name="TextBox 106"/>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6" name="TextBox 115"/>
          <p:cNvSpPr txBox="1"/>
          <p:nvPr/>
        </p:nvSpPr>
        <p:spPr>
          <a:xfrm>
            <a:off x="4316878" y="392472"/>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곱셈 기호 9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cxnSp>
        <p:nvCxnSpPr>
          <p:cNvPr id="130" name="직선 연결선 129"/>
          <p:cNvCxnSpPr/>
          <p:nvPr/>
        </p:nvCxnSpPr>
        <p:spPr>
          <a:xfrm rot="5400000" flipH="1">
            <a:off x="6324047" y="-254260"/>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타원 6"/>
          <p:cNvSpPr/>
          <p:nvPr/>
        </p:nvSpPr>
        <p:spPr>
          <a:xfrm rot="5400000">
            <a:off x="6142093" y="175058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rot="5400000">
            <a:off x="6922022" y="175607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rot="5400000">
            <a:off x="7715396" y="175607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rot="5400000">
            <a:off x="8495324" y="175688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5400000">
            <a:off x="3775416" y="174892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rot="5400000">
            <a:off x="4555343" y="174892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rot="5400000">
            <a:off x="5348718" y="17497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2" name="직선 연결선 141"/>
          <p:cNvCxnSpPr>
            <a:stCxn id="14" idx="6"/>
          </p:cNvCxnSpPr>
          <p:nvPr/>
        </p:nvCxnSpPr>
        <p:spPr>
          <a:xfrm rot="5400000">
            <a:off x="7164068" y="2051915"/>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endCxn id="24" idx="2"/>
          </p:cNvCxnSpPr>
          <p:nvPr/>
        </p:nvCxnSpPr>
        <p:spPr>
          <a:xfrm rot="5400000">
            <a:off x="5551220" y="963877"/>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586462" y="1692907"/>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타원 94"/>
          <p:cNvSpPr/>
          <p:nvPr/>
        </p:nvSpPr>
        <p:spPr>
          <a:xfrm rot="5400000">
            <a:off x="6166407" y="67824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p:cNvSpPr txBox="1"/>
          <p:nvPr/>
        </p:nvSpPr>
        <p:spPr>
          <a:xfrm>
            <a:off x="3714007"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6720246"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2850190" y="73680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2852951" y="176672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TextBox 106"/>
          <p:cNvSpPr txBox="1"/>
          <p:nvPr/>
        </p:nvSpPr>
        <p:spPr>
          <a:xfrm>
            <a:off x="2850190" y="279703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타원 107"/>
          <p:cNvSpPr/>
          <p:nvPr/>
        </p:nvSpPr>
        <p:spPr>
          <a:xfrm rot="5400000">
            <a:off x="6957556" y="277475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TextBox 111"/>
          <p:cNvSpPr txBox="1"/>
          <p:nvPr/>
        </p:nvSpPr>
        <p:spPr>
          <a:xfrm>
            <a:off x="4505156"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3" name="TextBox 112"/>
          <p:cNvSpPr txBox="1"/>
          <p:nvPr/>
        </p:nvSpPr>
        <p:spPr>
          <a:xfrm>
            <a:off x="7511395"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액자 31"/>
          <p:cNvSpPr/>
          <p:nvPr/>
        </p:nvSpPr>
        <p:spPr>
          <a:xfrm>
            <a:off x="8944960" y="1596946"/>
            <a:ext cx="1867339" cy="1820490"/>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모서리가 둥근 사각형 설명선 32"/>
          <p:cNvSpPr/>
          <p:nvPr/>
        </p:nvSpPr>
        <p:spPr>
          <a:xfrm>
            <a:off x="8284898" y="3530426"/>
            <a:ext cx="2713851" cy="226149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smtClean="0">
                <a:solidFill>
                  <a:sysClr val="windowText" lastClr="000000"/>
                </a:solidFill>
              </a:rPr>
              <a:t>‘</a:t>
            </a:r>
            <a:r>
              <a:rPr lang="ko-KR" altLang="en-US" sz="1400" b="1" dirty="0" smtClean="0">
                <a:solidFill>
                  <a:sysClr val="windowText" lastClr="000000"/>
                </a:solidFill>
              </a:rPr>
              <a:t>캐릭터</a:t>
            </a:r>
            <a:r>
              <a:rPr lang="en-US" altLang="ko-KR" sz="14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- 30x30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크기 제작의 기준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a:t>
            </a:r>
          </a:p>
        </p:txBody>
      </p:sp>
      <p:sp>
        <p:nvSpPr>
          <p:cNvPr id="35" name="곱셈 기호 3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565254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38</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39</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128569" y="2123288"/>
            <a:ext cx="1511256" cy="143749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407641" y="1531919"/>
            <a:ext cx="3274456" cy="3536600"/>
          </a:xfrm>
          <a:prstGeom prst="wedgeRoundRectCallout">
            <a:avLst>
              <a:gd name="adj1" fmla="val -66725"/>
              <a:gd name="adj2" fmla="val 401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용사</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요소의 크기의 척도</a:t>
            </a:r>
            <a:r>
              <a:rPr lang="en-US" altLang="ko-KR" sz="1400" dirty="0" smtClean="0">
                <a:solidFill>
                  <a:sysClr val="windowText" lastClr="000000"/>
                </a:solidFill>
              </a:rPr>
              <a:t>, </a:t>
            </a:r>
            <a:r>
              <a:rPr lang="ko-KR" altLang="en-US" sz="1400" dirty="0" smtClean="0">
                <a:solidFill>
                  <a:sysClr val="windowText" lastClr="000000"/>
                </a:solidFill>
              </a:rPr>
              <a:t>기준 단위 </a:t>
            </a:r>
            <a:r>
              <a:rPr lang="en-US" altLang="ko-KR" sz="1400" dirty="0" smtClean="0">
                <a:solidFill>
                  <a:sysClr val="windowText" lastClr="000000"/>
                </a:solidFill>
              </a:rPr>
              <a:t>C</a:t>
            </a:r>
            <a:br>
              <a:rPr lang="en-US" altLang="ko-KR" sz="1400" dirty="0" smtClean="0">
                <a:solidFill>
                  <a:sysClr val="windowText" lastClr="000000"/>
                </a:solidFill>
              </a:rPr>
            </a:b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항상 고정된 자리</a:t>
            </a:r>
            <a:r>
              <a:rPr lang="en-US" altLang="ko-KR" sz="1400" dirty="0" smtClean="0">
                <a:solidFill>
                  <a:sysClr val="windowText" lastClr="000000"/>
                </a:solidFill>
              </a:rPr>
              <a:t>(</a:t>
            </a:r>
            <a:r>
              <a:rPr lang="en-US" altLang="ko-KR" sz="1400" dirty="0">
                <a:solidFill>
                  <a:sysClr val="windowText" lastClr="000000"/>
                </a:solidFill>
              </a:rPr>
              <a:t>75, 100</a:t>
            </a:r>
            <a:r>
              <a:rPr lang="en-US" altLang="ko-KR" sz="1400" dirty="0" smtClean="0">
                <a:solidFill>
                  <a:sysClr val="windowText" lastClr="000000"/>
                </a:solidFill>
              </a:rPr>
              <a:t>)</a:t>
            </a:r>
            <a:r>
              <a:rPr lang="ko-KR" altLang="en-US" sz="1400" dirty="0" smtClean="0">
                <a:solidFill>
                  <a:sysClr val="windowText" lastClr="000000"/>
                </a:solidFill>
              </a:rPr>
              <a:t>에 위치해있으며 </a:t>
            </a:r>
            <a:r>
              <a:rPr lang="en-US" altLang="ko-KR" sz="1400" dirty="0" smtClean="0">
                <a:solidFill>
                  <a:sysClr val="windowText" lastClr="000000"/>
                </a:solidFill>
              </a:rPr>
              <a:t>HP, 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오른쪽</a:t>
            </a:r>
            <a:r>
              <a:rPr lang="en-US" altLang="ko-KR" sz="1400" dirty="0" smtClean="0">
                <a:solidFill>
                  <a:sysClr val="windowText" lastClr="000000"/>
                </a:solidFill>
              </a:rPr>
              <a:t>(</a:t>
            </a:r>
            <a:r>
              <a:rPr lang="ko-KR" altLang="en-US" sz="1400" dirty="0" smtClean="0">
                <a:solidFill>
                  <a:sysClr val="windowText" lastClr="000000"/>
                </a:solidFill>
              </a:rPr>
              <a:t>적</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마우스 클릭으로 선택 시 하단에 원형이 그려져 선택되었음을 알림</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899553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40</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64119" y="947892"/>
            <a:ext cx="10234311" cy="5457199"/>
          </a:xfrm>
          <a:prstGeom prst="frame">
            <a:avLst>
              <a:gd name="adj1" fmla="val 110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8460926" y="1351472"/>
            <a:ext cx="3517564" cy="2688168"/>
          </a:xfrm>
          <a:prstGeom prst="wedgeRoundRectCallout">
            <a:avLst>
              <a:gd name="adj1" fmla="val -63616"/>
              <a:gd name="adj2" fmla="val -508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화면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- 300 x 150 unit</a:t>
            </a:r>
            <a:br>
              <a:rPr lang="en-US" altLang="ko-KR" sz="1400" dirty="0" smtClean="0">
                <a:solidFill>
                  <a:sysClr val="windowText" lastClr="000000"/>
                </a:solidFill>
              </a:rPr>
            </a:br>
            <a:r>
              <a:rPr lang="en-US" altLang="ko-KR" sz="1400" dirty="0" smtClean="0">
                <a:solidFill>
                  <a:sysClr val="windowText" lastClr="000000"/>
                </a:solidFill>
              </a:rPr>
              <a:t>( C*12 x C*6 )</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전투</a:t>
            </a:r>
            <a:r>
              <a:rPr lang="en-US" altLang="ko-KR" sz="1400" dirty="0">
                <a:solidFill>
                  <a:sysClr val="windowText" lastClr="000000"/>
                </a:solidFill>
              </a:rPr>
              <a:t>, </a:t>
            </a:r>
            <a:r>
              <a:rPr lang="ko-KR" altLang="en-US" sz="1400" dirty="0">
                <a:solidFill>
                  <a:sysClr val="windowText" lastClr="000000"/>
                </a:solidFill>
              </a:rPr>
              <a:t>상점</a:t>
            </a:r>
            <a:r>
              <a:rPr lang="en-US" altLang="ko-KR" sz="1400" dirty="0">
                <a:solidFill>
                  <a:sysClr val="windowText" lastClr="000000"/>
                </a:solidFill>
              </a:rPr>
              <a:t>, </a:t>
            </a:r>
            <a:r>
              <a:rPr lang="ko-KR" altLang="en-US" sz="1400" dirty="0" smtClean="0">
                <a:solidFill>
                  <a:sysClr val="windowText" lastClr="000000"/>
                </a:solidFill>
              </a:rPr>
              <a:t>이벤트</a:t>
            </a:r>
            <a:r>
              <a:rPr lang="en-US" altLang="ko-KR" sz="1400" dirty="0" smtClean="0">
                <a:solidFill>
                  <a:sysClr val="windowText" lastClr="000000"/>
                </a:solidFill>
              </a:rPr>
              <a:t> </a:t>
            </a:r>
            <a:r>
              <a:rPr lang="ko-KR" altLang="en-US" sz="1400" dirty="0" smtClean="0">
                <a:solidFill>
                  <a:sysClr val="windowText" lastClr="000000"/>
                </a:solidFill>
              </a:rPr>
              <a:t>등 에어리어에서 볼 수 있는 한 </a:t>
            </a:r>
            <a:r>
              <a:rPr lang="ko-KR" altLang="en-US" sz="1400" dirty="0">
                <a:solidFill>
                  <a:sysClr val="windowText" lastClr="000000"/>
                </a:solidFill>
              </a:rPr>
              <a:t>화면의 크기를 나타냄</a:t>
            </a:r>
            <a:endParaRPr lang="en-US" altLang="ko-KR" sz="1400" dirty="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좌측 하단을 원점</a:t>
            </a:r>
            <a:r>
              <a:rPr lang="en-US" altLang="ko-KR" sz="1400" dirty="0" smtClean="0">
                <a:solidFill>
                  <a:sysClr val="windowText" lastClr="000000"/>
                </a:solidFill>
              </a:rPr>
              <a:t>(0,0) </a:t>
            </a:r>
            <a:r>
              <a:rPr lang="ko-KR" altLang="en-US" sz="1400" dirty="0" smtClean="0">
                <a:solidFill>
                  <a:sysClr val="windowText" lastClr="000000"/>
                </a:solidFill>
              </a:rPr>
              <a:t>으로 하여</a:t>
            </a:r>
            <a:r>
              <a:rPr lang="en-US" altLang="ko-KR" sz="1400" dirty="0" smtClean="0">
                <a:solidFill>
                  <a:sysClr val="windowText" lastClr="000000"/>
                </a:solidFill>
              </a:rPr>
              <a:t>,</a:t>
            </a:r>
            <a:br>
              <a:rPr lang="en-US" altLang="ko-KR" sz="1400" dirty="0" smtClean="0">
                <a:solidFill>
                  <a:sysClr val="windowText" lastClr="000000"/>
                </a:solidFill>
              </a:rPr>
            </a:br>
            <a:r>
              <a:rPr lang="ko-KR" altLang="en-US" sz="1400" dirty="0" smtClean="0">
                <a:solidFill>
                  <a:sysClr val="windowText" lastClr="000000"/>
                </a:solidFill>
              </a:rPr>
              <a:t>오브젝트들의 중점을 기준으로 </a:t>
            </a:r>
            <a:r>
              <a:rPr lang="ko-KR" altLang="en-US" sz="1400" dirty="0" err="1" smtClean="0">
                <a:solidFill>
                  <a:sysClr val="windowText" lastClr="000000"/>
                </a:solidFill>
              </a:rPr>
              <a:t>좌표값을</a:t>
            </a:r>
            <a:r>
              <a:rPr lang="ko-KR" altLang="en-US" sz="1400" dirty="0" smtClean="0">
                <a:solidFill>
                  <a:sysClr val="windowText" lastClr="000000"/>
                </a:solidFill>
              </a:rPr>
              <a:t> 설정</a:t>
            </a:r>
            <a:endParaRPr lang="en-US" altLang="ko-KR" sz="1400" dirty="0" smtClean="0">
              <a:solidFill>
                <a:sysClr val="windowText" lastClr="000000"/>
              </a:solidFill>
            </a:endParaRPr>
          </a:p>
        </p:txBody>
      </p:sp>
      <p:cxnSp>
        <p:nvCxnSpPr>
          <p:cNvPr id="6" name="직선 화살표 연결선 5"/>
          <p:cNvCxnSpPr/>
          <p:nvPr/>
        </p:nvCxnSpPr>
        <p:spPr>
          <a:xfrm>
            <a:off x="783771" y="1094825"/>
            <a:ext cx="0" cy="3449338"/>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6386" y="2432157"/>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1 0 0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9" name="직선 화살표 연결선 78"/>
          <p:cNvCxnSpPr/>
          <p:nvPr/>
        </p:nvCxnSpPr>
        <p:spPr>
          <a:xfrm>
            <a:off x="783771" y="4544163"/>
            <a:ext cx="0" cy="1726736"/>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59876" y="5260912"/>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0</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97" name="직선 화살표 연결선 96"/>
          <p:cNvCxnSpPr/>
          <p:nvPr/>
        </p:nvCxnSpPr>
        <p:spPr>
          <a:xfrm flipH="1">
            <a:off x="1244980" y="4455740"/>
            <a:ext cx="4839842" cy="6112"/>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p:cNvCxnSpPr/>
          <p:nvPr/>
        </p:nvCxnSpPr>
        <p:spPr>
          <a:xfrm flipH="1" flipV="1">
            <a:off x="6084821" y="4450927"/>
            <a:ext cx="4876506" cy="829"/>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25275" y="4081595"/>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00" name="TextBox 99"/>
          <p:cNvSpPr txBox="1"/>
          <p:nvPr/>
        </p:nvSpPr>
        <p:spPr>
          <a:xfrm>
            <a:off x="9430710" y="4081595"/>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2" name="직선 화살표 연결선 101"/>
          <p:cNvCxnSpPr/>
          <p:nvPr/>
        </p:nvCxnSpPr>
        <p:spPr>
          <a:xfrm flipH="1">
            <a:off x="8624483" y="5305311"/>
            <a:ext cx="2421746" cy="0"/>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393333" y="4960950"/>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4" name="직선 화살표 연결선 103"/>
          <p:cNvCxnSpPr/>
          <p:nvPr/>
        </p:nvCxnSpPr>
        <p:spPr>
          <a:xfrm flipV="1">
            <a:off x="8497498" y="4574750"/>
            <a:ext cx="8612" cy="808843"/>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935981" y="4568997"/>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7" name="직선 화살표 연결선 106"/>
          <p:cNvCxnSpPr/>
          <p:nvPr/>
        </p:nvCxnSpPr>
        <p:spPr>
          <a:xfrm flipH="1">
            <a:off x="1219540" y="1222908"/>
            <a:ext cx="9753663" cy="10891"/>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30369" y="1288199"/>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rPr>
              <a:t>3 0 0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11" name="TextBox 110"/>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189556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41</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C00000"/>
                  </a:solidFill>
                </a:ln>
                <a:solidFill>
                  <a:sysClr val="windowText" lastClr="000000"/>
                </a:solidFill>
              </a:rPr>
              <a:t>정예</a:t>
            </a:r>
            <a:endParaRPr lang="en-US" altLang="ko-KR" sz="1200" dirty="0" smtClean="0">
              <a:ln>
                <a:solidFill>
                  <a:srgbClr val="C00000"/>
                </a:solidFill>
              </a:ln>
              <a:solidFill>
                <a:sysClr val="windowText" lastClr="000000"/>
              </a:solidFill>
            </a:endParaRPr>
          </a:p>
          <a:p>
            <a:pPr algn="ctr"/>
            <a:r>
              <a:rPr lang="ko-KR" altLang="en-US" sz="1200" dirty="0" err="1" smtClean="0">
                <a:ln>
                  <a:solidFill>
                    <a:srgbClr val="C00000"/>
                  </a:solidFill>
                </a:ln>
                <a:solidFill>
                  <a:sysClr val="windowText" lastClr="000000"/>
                </a:solidFill>
              </a:rPr>
              <a:t>몬스터</a:t>
            </a:r>
            <a:endParaRPr lang="en-US" altLang="ko-KR" sz="1200"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3529937" y="1182889"/>
            <a:ext cx="1511256"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5528447" y="1816796"/>
            <a:ext cx="3021236" cy="3541498"/>
          </a:xfrm>
          <a:prstGeom prst="wedgeRoundRectCallout">
            <a:avLst>
              <a:gd name="adj1" fmla="val -63946"/>
              <a:gd name="adj2" fmla="val -3598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아군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유저가 컨트롤하는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오른쪽</a:t>
            </a:r>
            <a:r>
              <a:rPr lang="en-US" altLang="ko-KR" sz="1400" dirty="0">
                <a:solidFill>
                  <a:sysClr val="windowText" lastClr="000000"/>
                </a:solidFill>
              </a:rPr>
              <a:t>(</a:t>
            </a:r>
            <a:r>
              <a:rPr lang="ko-KR" altLang="en-US" sz="1400" dirty="0">
                <a:solidFill>
                  <a:sysClr val="windowText" lastClr="000000"/>
                </a:solidFill>
              </a:rPr>
              <a:t>적</a:t>
            </a:r>
            <a:r>
              <a:rPr lang="en-US" altLang="ko-KR" sz="1400" dirty="0">
                <a:solidFill>
                  <a:sysClr val="windowText" lastClr="000000"/>
                </a:solidFill>
              </a:rPr>
              <a:t>)</a:t>
            </a:r>
            <a:r>
              <a:rPr lang="ko-KR" altLang="en-US" sz="1400" dirty="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하단에 청색 원 표시</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27915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타원 21"/>
          <p:cNvSpPr/>
          <p:nvPr/>
        </p:nvSpPr>
        <p:spPr>
          <a:xfrm rot="1265973" flipH="1">
            <a:off x="10071741" y="493949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303732" y="36593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6103367" y="299551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42</a:t>
            </a:fld>
            <a:endParaRPr lang="ko-KR" altLang="en-US" sz="1800" dirty="0"/>
          </a:p>
        </p:txBody>
      </p:sp>
      <p:sp>
        <p:nvSpPr>
          <p:cNvPr id="25" name="타원 24"/>
          <p:cNvSpPr/>
          <p:nvPr/>
        </p:nvSpPr>
        <p:spPr>
          <a:xfrm>
            <a:off x="6269829" y="24400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475087" y="31477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10241764" y="441043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32" name="TextBox 31"/>
          <p:cNvSpPr txBox="1"/>
          <p:nvPr/>
        </p:nvSpPr>
        <p:spPr>
          <a:xfrm>
            <a:off x="555572"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이등변 삼각형 32"/>
          <p:cNvSpPr/>
          <p:nvPr/>
        </p:nvSpPr>
        <p:spPr>
          <a:xfrm rot="19319858">
            <a:off x="582237"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p:cNvSpPr/>
          <p:nvPr/>
        </p:nvSpPr>
        <p:spPr>
          <a:xfrm>
            <a:off x="904866"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용사</a:t>
            </a:r>
            <a:endParaRPr lang="ko-KR" altLang="en-US" sz="2400" dirty="0">
              <a:ln>
                <a:solidFill>
                  <a:srgbClr val="0BC10F"/>
                </a:solidFill>
              </a:ln>
              <a:solidFill>
                <a:schemeClr val="tx1"/>
              </a:solidFill>
            </a:endParaRPr>
          </a:p>
        </p:txBody>
      </p:sp>
      <p:sp>
        <p:nvSpPr>
          <p:cNvPr id="35" name="TextBox 34"/>
          <p:cNvSpPr txBox="1"/>
          <p:nvPr/>
        </p:nvSpPr>
        <p:spPr>
          <a:xfrm>
            <a:off x="4403069"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8205440" y="1403432"/>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타원 36"/>
          <p:cNvSpPr/>
          <p:nvPr/>
        </p:nvSpPr>
        <p:spPr>
          <a:xfrm rot="1265973" flipH="1">
            <a:off x="6098474" y="421533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6269829" y="370373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39" name="이등변 삼각형 38"/>
          <p:cNvSpPr/>
          <p:nvPr/>
        </p:nvSpPr>
        <p:spPr>
          <a:xfrm rot="19319858">
            <a:off x="4424479" y="3439113"/>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747108" y="3154107"/>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41" name="타원 40"/>
          <p:cNvSpPr/>
          <p:nvPr/>
        </p:nvSpPr>
        <p:spPr>
          <a:xfrm rot="1265973" flipH="1">
            <a:off x="10065021" y="243872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10231483" y="188330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43" name="타원 42"/>
          <p:cNvSpPr/>
          <p:nvPr/>
        </p:nvSpPr>
        <p:spPr>
          <a:xfrm rot="1265973" flipH="1">
            <a:off x="10060128" y="365854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10231483" y="314694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45" name="이등변 삼각형 44"/>
          <p:cNvSpPr/>
          <p:nvPr/>
        </p:nvSpPr>
        <p:spPr>
          <a:xfrm rot="19319858">
            <a:off x="8373784"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8696413"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631041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43</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464467" y="1158585"/>
            <a:ext cx="4042164"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3050202" y="1451897"/>
            <a:ext cx="2896175" cy="4048085"/>
          </a:xfrm>
          <a:prstGeom prst="wedgeRoundRectCallout">
            <a:avLst>
              <a:gd name="adj1" fmla="val 63575"/>
              <a:gd name="adj2" fmla="val -377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적</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던전에서 적으로 출현하는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왼쪽</a:t>
            </a:r>
            <a:r>
              <a:rPr lang="en-US" altLang="ko-KR" sz="1400" dirty="0" smtClean="0">
                <a:solidFill>
                  <a:sysClr val="windowText" lastClr="000000"/>
                </a:solidFill>
              </a:rPr>
              <a:t>(</a:t>
            </a:r>
            <a:r>
              <a:rPr lang="ko-KR" altLang="en-US" sz="1400" dirty="0" smtClean="0">
                <a:solidFill>
                  <a:sysClr val="windowText" lastClr="000000"/>
                </a:solidFill>
              </a:rPr>
              <a:t>아군</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위</a:t>
            </a:r>
            <a:r>
              <a:rPr lang="en-US" altLang="ko-KR" sz="1400" dirty="0" smtClean="0">
                <a:solidFill>
                  <a:sysClr val="windowText" lastClr="000000"/>
                </a:solidFill>
              </a:rPr>
              <a:t>, </a:t>
            </a:r>
            <a:r>
              <a:rPr lang="ko-KR" altLang="en-US" sz="1400" dirty="0" smtClean="0">
                <a:solidFill>
                  <a:sysClr val="windowText" lastClr="000000"/>
                </a:solidFill>
              </a:rPr>
              <a:t>왼쪽부터 차례가 시작됨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차례 시 하단에 적색 원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108600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그룹 72"/>
          <p:cNvGrpSpPr/>
          <p:nvPr/>
        </p:nvGrpSpPr>
        <p:grpSpPr>
          <a:xfrm>
            <a:off x="8065852" y="3034568"/>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44</a:t>
            </a:fld>
            <a:endParaRPr lang="ko-KR" altLang="en-US" sz="1800" dirty="0"/>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8701578" y="190230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7958240" y="1797067"/>
            <a:ext cx="2087264" cy="1896792"/>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550534" y="1290064"/>
            <a:ext cx="2889648" cy="2588974"/>
          </a:xfrm>
          <a:prstGeom prst="wedgeRoundRectCallout">
            <a:avLst>
              <a:gd name="adj1" fmla="val 65061"/>
              <a:gd name="adj2" fmla="val 2458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보스</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보스 에어리어에서 등장하는 강력한 몬스터</a:t>
            </a:r>
            <a:r>
              <a:rPr lang="en-US" altLang="ko-KR" sz="1400" dirty="0">
                <a:solidFill>
                  <a:sysClr val="windowText" lastClr="000000"/>
                </a:solidFill>
              </a:rPr>
              <a:t/>
            </a:r>
            <a:br>
              <a:rPr lang="en-US" altLang="ko-KR" sz="1400" dirty="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주로 </a:t>
            </a:r>
            <a:r>
              <a:rPr lang="ko-KR" altLang="en-US" sz="1400" dirty="0" err="1" smtClean="0">
                <a:solidFill>
                  <a:sysClr val="windowText" lastClr="000000"/>
                </a:solidFill>
              </a:rPr>
              <a:t>혼자거나</a:t>
            </a:r>
            <a:r>
              <a:rPr lang="en-US" altLang="ko-KR" sz="1400" dirty="0" smtClean="0">
                <a:solidFill>
                  <a:sysClr val="windowText" lastClr="000000"/>
                </a:solidFill>
              </a:rPr>
              <a:t>,</a:t>
            </a:r>
            <a:r>
              <a:rPr lang="ko-KR" altLang="en-US" sz="1400" dirty="0" smtClean="0">
                <a:solidFill>
                  <a:sysClr val="windowText" lastClr="000000"/>
                </a:solidFill>
              </a:rPr>
              <a:t> </a:t>
            </a:r>
            <a:r>
              <a:rPr lang="en-US" altLang="ko-KR" sz="1400" dirty="0" smtClean="0">
                <a:solidFill>
                  <a:sysClr val="windowText" lastClr="000000"/>
                </a:solidFill>
              </a:rPr>
              <a:t>2</a:t>
            </a:r>
            <a:r>
              <a:rPr lang="ko-KR" altLang="en-US" sz="1400" dirty="0" smtClean="0">
                <a:solidFill>
                  <a:sysClr val="windowText" lastClr="000000"/>
                </a:solidFill>
              </a:rPr>
              <a:t>마리의 몬스터를 대동하고 등장함</a:t>
            </a:r>
            <a:endParaRPr lang="en-US" altLang="ko-KR" sz="1400" dirty="0">
              <a:solidFill>
                <a:sysClr val="windowText" lastClr="000000"/>
              </a:solidFill>
            </a:endParaRPr>
          </a:p>
        </p:txBody>
      </p:sp>
      <p:sp>
        <p:nvSpPr>
          <p:cNvPr id="85" name="포인트가 5개인 별 84"/>
          <p:cNvSpPr/>
          <p:nvPr/>
        </p:nvSpPr>
        <p:spPr>
          <a:xfrm>
            <a:off x="8276269" y="2025724"/>
            <a:ext cx="1451207" cy="1258931"/>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n>
                  <a:solidFill>
                    <a:srgbClr val="FF0000"/>
                  </a:solidFill>
                </a:ln>
                <a:solidFill>
                  <a:sysClr val="windowText" lastClr="000000"/>
                </a:solidFill>
              </a:rPr>
              <a:t>보스</a:t>
            </a:r>
            <a:endParaRPr lang="en-US" altLang="ko-KR" sz="1400" dirty="0" smtClean="0">
              <a:ln>
                <a:solidFill>
                  <a:srgbClr val="FF0000"/>
                </a:solidFill>
              </a:ln>
              <a:solidFill>
                <a:sysClr val="windowText" lastClr="000000"/>
              </a:solidFill>
            </a:endParaRPr>
          </a:p>
        </p:txBody>
      </p:sp>
      <p:sp>
        <p:nvSpPr>
          <p:cNvPr id="98" name="TextBox 97"/>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835857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45</a:t>
            </a:fld>
            <a:endParaRPr lang="ko-KR" altLang="en-US" sz="1800" dirty="0"/>
          </a:p>
        </p:txBody>
      </p:sp>
      <p:sp>
        <p:nvSpPr>
          <p:cNvPr id="32" name="TextBox 31"/>
          <p:cNvSpPr txBox="1"/>
          <p:nvPr/>
        </p:nvSpPr>
        <p:spPr>
          <a:xfrm>
            <a:off x="1398720" y="1545840"/>
            <a:ext cx="179197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246217" y="1545840"/>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9048588" y="1545841"/>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2647915" y="33892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a:off x="1502501" y="309877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0" name="이등변 삼각형 29"/>
          <p:cNvSpPr/>
          <p:nvPr/>
        </p:nvSpPr>
        <p:spPr>
          <a:xfrm rot="2940484">
            <a:off x="6511168" y="278175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5365754" y="2491319"/>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6511168" y="389315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5365754" y="360272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10374421" y="260443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9229007" y="231400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10374421" y="354154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9229007" y="325111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10374421" y="44768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9229007" y="418638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TextBox 22"/>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307902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46</a:t>
            </a:fld>
            <a:endParaRPr lang="ko-KR" altLang="en-US" sz="1800" dirty="0"/>
          </a:p>
        </p:txBody>
      </p:sp>
      <p:sp>
        <p:nvSpPr>
          <p:cNvPr id="35" name="TextBox 34"/>
          <p:cNvSpPr txBox="1"/>
          <p:nvPr/>
        </p:nvSpPr>
        <p:spPr>
          <a:xfrm>
            <a:off x="2432260" y="1600316"/>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4</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7840684" y="1545840"/>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5</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0" name="이등변 삼각형 29"/>
          <p:cNvSpPr/>
          <p:nvPr/>
        </p:nvSpPr>
        <p:spPr>
          <a:xfrm rot="2940484">
            <a:off x="4690221"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3544807"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4690221"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3544807"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8365656" y="25691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7220242" y="227868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8365656" y="350622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7220242" y="321579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8365656" y="444150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7220242" y="415106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2" name="이등변 삼각형 21"/>
          <p:cNvSpPr/>
          <p:nvPr/>
        </p:nvSpPr>
        <p:spPr>
          <a:xfrm rot="2940484">
            <a:off x="2888888"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a:off x="1743474"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4" name="이등변 삼각형 23"/>
          <p:cNvSpPr/>
          <p:nvPr/>
        </p:nvSpPr>
        <p:spPr>
          <a:xfrm rot="2940484">
            <a:off x="2888888"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a:off x="1743474"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6" name="이등변 삼각형 25"/>
          <p:cNvSpPr/>
          <p:nvPr/>
        </p:nvSpPr>
        <p:spPr>
          <a:xfrm rot="2940484">
            <a:off x="10145117" y="296367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26"/>
          <p:cNvSpPr/>
          <p:nvPr/>
        </p:nvSpPr>
        <p:spPr>
          <a:xfrm>
            <a:off x="8999703" y="26732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rot="2940484">
            <a:off x="10145117" y="390078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p:cNvSpPr/>
          <p:nvPr/>
        </p:nvSpPr>
        <p:spPr>
          <a:xfrm>
            <a:off x="8999703" y="361035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968660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정보창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93293" y="4421955"/>
            <a:ext cx="5251613" cy="1976845"/>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7082526" y="3051619"/>
            <a:ext cx="2896175" cy="2205661"/>
          </a:xfrm>
          <a:prstGeom prst="wedgeRoundRectCallout">
            <a:avLst>
              <a:gd name="adj1" fmla="val -75837"/>
              <a:gd name="adj2" fmla="val 373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정보창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플레이어가 마우스 클릭으로 선택한 아군</a:t>
            </a:r>
            <a:r>
              <a:rPr lang="en-US" altLang="ko-KR" sz="1400" dirty="0" smtClean="0">
                <a:solidFill>
                  <a:sysClr val="windowText" lastClr="000000"/>
                </a:solidFill>
              </a:rPr>
              <a:t>, </a:t>
            </a:r>
            <a:r>
              <a:rPr lang="ko-KR" altLang="en-US" sz="1400" dirty="0" smtClean="0">
                <a:solidFill>
                  <a:sysClr val="windowText" lastClr="000000"/>
                </a:solidFill>
              </a:rPr>
              <a:t>적군 혹은 사물의 정보와 상태를 표시함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922399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48</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초상화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5551" y="4573915"/>
            <a:ext cx="1142550" cy="113662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47918" y="3004245"/>
            <a:ext cx="3081853" cy="2491318"/>
          </a:xfrm>
          <a:prstGeom prst="wedgeRoundRectCallout">
            <a:avLst>
              <a:gd name="adj1" fmla="val -63946"/>
              <a:gd name="adj2" fmla="val 2927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초상화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사물을 간략하게 그려낸 초상화를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바로 밑에 해당 개체의 이름을 명시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338819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49</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게이지 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2354" y="5683697"/>
            <a:ext cx="1142550" cy="521046"/>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24804" y="3524747"/>
            <a:ext cx="3170128" cy="2491318"/>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게이지 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5 unit</a:t>
            </a:r>
            <a:br>
              <a:rPr lang="en-US" altLang="ko-KR" sz="1400" dirty="0" smtClean="0">
                <a:solidFill>
                  <a:sysClr val="windowText" lastClr="000000"/>
                </a:solidFill>
              </a:rPr>
            </a:br>
            <a:r>
              <a:rPr lang="en-US" altLang="ko-KR" sz="1400" dirty="0" smtClean="0">
                <a:solidFill>
                  <a:sysClr val="windowText" lastClr="000000"/>
                </a:solidFill>
              </a:rPr>
              <a:t>( C x C*0.2 )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사물이 체력을 가진 개체라면</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a:t>
            </a:r>
            <a:r>
              <a:rPr lang="ko-KR" altLang="en-US" sz="1400" dirty="0" smtClean="0">
                <a:solidFill>
                  <a:sysClr val="windowText" lastClr="000000"/>
                </a:solidFill>
              </a:rPr>
              <a:t>를 게이지 바 형태로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우측에 구체적인 수치를 기입</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354048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50</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459216" y="4595720"/>
            <a:ext cx="184918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841306" y="2609721"/>
            <a:ext cx="3170128" cy="2964050"/>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스탯</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개체의 </a:t>
            </a:r>
            <a:r>
              <a:rPr lang="ko-KR" altLang="en-US" sz="1400" dirty="0" err="1" smtClean="0">
                <a:solidFill>
                  <a:sysClr val="windowText" lastClr="000000"/>
                </a:solidFill>
              </a:rPr>
              <a:t>스탯을</a:t>
            </a:r>
            <a:r>
              <a:rPr lang="ko-KR" altLang="en-US" sz="1400" dirty="0" smtClean="0">
                <a:solidFill>
                  <a:sysClr val="windowText" lastClr="000000"/>
                </a:solidFill>
              </a:rPr>
              <a:t>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TYPE : Type, </a:t>
            </a:r>
            <a:r>
              <a:rPr lang="ko-KR" altLang="en-US" sz="1400" dirty="0" smtClean="0">
                <a:solidFill>
                  <a:sysClr val="windowText" lastClr="000000"/>
                </a:solidFill>
              </a:rPr>
              <a:t>속성</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CRT : Critical, </a:t>
            </a:r>
            <a:r>
              <a:rPr lang="ko-KR" altLang="en-US" sz="1400" dirty="0" smtClean="0">
                <a:solidFill>
                  <a:sysClr val="windowText" lastClr="000000"/>
                </a:solidFill>
              </a:rPr>
              <a:t>크리티컬 확률</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ATK : Attack, </a:t>
            </a:r>
            <a:r>
              <a:rPr lang="ko-KR" altLang="en-US" sz="1400" dirty="0" smtClean="0">
                <a:solidFill>
                  <a:sysClr val="windowText" lastClr="000000"/>
                </a:solidFill>
              </a:rPr>
              <a:t>공격력</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DEF : Defense, </a:t>
            </a:r>
            <a:r>
              <a:rPr lang="ko-KR" altLang="en-US" sz="1400" dirty="0" smtClean="0">
                <a:solidFill>
                  <a:sysClr val="windowText" lastClr="000000"/>
                </a:solidFill>
              </a:rPr>
              <a:t>방어력</a:t>
            </a:r>
            <a:endParaRPr lang="en-US" altLang="ko-KR" sz="1400" dirty="0" smtClean="0">
              <a:solidFill>
                <a:sysClr val="windowText" lastClr="000000"/>
              </a:solidFill>
            </a:endParaRPr>
          </a:p>
          <a:p>
            <a:r>
              <a:rPr lang="en-US" altLang="ko-KR" sz="1400" dirty="0" smtClean="0">
                <a:solidFill>
                  <a:sysClr val="windowText" lastClr="000000"/>
                </a:solidFill>
              </a:rPr>
              <a:t>  AVD : Avoid, </a:t>
            </a:r>
            <a:r>
              <a:rPr lang="ko-KR" altLang="en-US" sz="1400" dirty="0" err="1" smtClean="0">
                <a:solidFill>
                  <a:sysClr val="windowText" lastClr="000000"/>
                </a:solidFill>
              </a:rPr>
              <a:t>회피율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217656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51</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상태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4444391" y="4595721"/>
            <a:ext cx="147939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6399784" y="2616908"/>
            <a:ext cx="3294183" cy="2624444"/>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상태</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능력</a:t>
            </a:r>
            <a:r>
              <a:rPr lang="en-US" altLang="ko-KR" sz="1400" dirty="0" smtClean="0">
                <a:solidFill>
                  <a:sysClr val="windowText" lastClr="000000"/>
                </a:solidFill>
              </a:rPr>
              <a:t>, </a:t>
            </a:r>
            <a:r>
              <a:rPr lang="ko-KR" altLang="en-US" sz="1400" dirty="0" smtClean="0">
                <a:solidFill>
                  <a:sysClr val="windowText" lastClr="000000"/>
                </a:solidFill>
              </a:rPr>
              <a:t>상태이상</a:t>
            </a:r>
            <a:r>
              <a:rPr lang="en-US" altLang="ko-KR" sz="1400" dirty="0" smtClean="0">
                <a:solidFill>
                  <a:sysClr val="windowText" lastClr="000000"/>
                </a:solidFill>
              </a:rPr>
              <a:t>, </a:t>
            </a:r>
            <a:r>
              <a:rPr lang="ko-KR" altLang="en-US" sz="1400" dirty="0" smtClean="0">
                <a:solidFill>
                  <a:sysClr val="windowText" lastClr="000000"/>
                </a:solidFill>
              </a:rPr>
              <a:t>버프</a:t>
            </a:r>
            <a:r>
              <a:rPr lang="en-US" altLang="ko-KR" sz="1400" dirty="0" smtClean="0">
                <a:solidFill>
                  <a:sysClr val="windowText" lastClr="000000"/>
                </a:solidFill>
              </a:rPr>
              <a:t>, </a:t>
            </a:r>
            <a:r>
              <a:rPr lang="ko-KR" altLang="en-US" sz="1400" dirty="0" err="1" smtClean="0">
                <a:solidFill>
                  <a:sysClr val="windowText" lastClr="000000"/>
                </a:solidFill>
              </a:rPr>
              <a:t>디버프</a:t>
            </a:r>
            <a:r>
              <a:rPr lang="ko-KR" altLang="en-US" sz="1400" dirty="0" smtClean="0">
                <a:solidFill>
                  <a:sysClr val="windowText" lastClr="000000"/>
                </a:solidFill>
              </a:rPr>
              <a:t> 등 개체의 현재 상태를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직관성을</a:t>
            </a:r>
            <a:r>
              <a:rPr lang="ko-KR" altLang="en-US" sz="1400" dirty="0" smtClean="0">
                <a:solidFill>
                  <a:sysClr val="windowText" lastClr="000000"/>
                </a:solidFill>
              </a:rPr>
              <a:t> 높이기 위해</a:t>
            </a:r>
            <a:r>
              <a:rPr lang="en-US" altLang="ko-KR" sz="1400" dirty="0" smtClean="0">
                <a:solidFill>
                  <a:sysClr val="windowText" lastClr="000000"/>
                </a:solidFill>
              </a:rPr>
              <a:t>, </a:t>
            </a:r>
            <a:r>
              <a:rPr lang="ko-KR" altLang="en-US" sz="1400" dirty="0" smtClean="0">
                <a:solidFill>
                  <a:sysClr val="windowText" lastClr="000000"/>
                </a:solidFill>
              </a:rPr>
              <a:t>각 상태에 해당하는 정사각형의 아이콘을 통해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212982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행동창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5973857" y="4469547"/>
            <a:ext cx="5150193" cy="1867617"/>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535786" y="1451898"/>
            <a:ext cx="3294183" cy="3514084"/>
          </a:xfrm>
          <a:prstGeom prst="wedgeRoundRectCallout">
            <a:avLst>
              <a:gd name="adj1" fmla="val 62662"/>
              <a:gd name="adj2" fmla="val 3599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행동창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아군 개체가 자신의 턴에 행동할 수 있는 옵션들을 나타냄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 턴에 하나의 옵션만 행할 수 있으며</a:t>
            </a:r>
            <a:r>
              <a:rPr lang="en-US" altLang="ko-KR" sz="1400" dirty="0" smtClean="0">
                <a:solidFill>
                  <a:sysClr val="windowText" lastClr="000000"/>
                </a:solidFill>
              </a:rPr>
              <a:t>, </a:t>
            </a:r>
            <a:r>
              <a:rPr lang="ko-KR" altLang="en-US" sz="1400" dirty="0" smtClean="0">
                <a:solidFill>
                  <a:sysClr val="windowText" lastClr="000000"/>
                </a:solidFill>
              </a:rPr>
              <a:t>확정하기 전까지 이전으로 되돌릴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일부 옵션은 선택 시 세부 옵션을 살펴볼 수 있음</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628055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53</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6376" y="4473815"/>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466590" y="2338121"/>
            <a:ext cx="3019729" cy="2997631"/>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공격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통상 공격을 명령하는 버튼</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버튼 클릭 시</a:t>
            </a:r>
            <a:r>
              <a:rPr lang="en-US" altLang="ko-KR" sz="1400" dirty="0" smtClean="0">
                <a:solidFill>
                  <a:sysClr val="windowText" lastClr="000000"/>
                </a:solidFill>
              </a:rPr>
              <a:t>, </a:t>
            </a:r>
            <a:r>
              <a:rPr lang="ko-KR" altLang="en-US" sz="1400" dirty="0" smtClean="0">
                <a:solidFill>
                  <a:sysClr val="windowText" lastClr="000000"/>
                </a:solidFill>
              </a:rPr>
              <a:t>적 </a:t>
            </a:r>
            <a:r>
              <a:rPr lang="ko-KR" altLang="en-US" sz="1400" dirty="0" err="1" smtClean="0">
                <a:solidFill>
                  <a:sysClr val="windowText" lastClr="000000"/>
                </a:solidFill>
              </a:rPr>
              <a:t>몬스터</a:t>
            </a:r>
            <a:r>
              <a:rPr lang="ko-KR" altLang="en-US" sz="1400" dirty="0" smtClean="0">
                <a:solidFill>
                  <a:sysClr val="windowText" lastClr="000000"/>
                </a:solidFill>
              </a:rPr>
              <a:t> 위에 표시가 생김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공격할 적을 선택하면 공격을 실행함</a:t>
            </a:r>
            <a:endParaRPr lang="en-US" altLang="ko-KR" sz="1400" dirty="0" smtClean="0">
              <a:solidFill>
                <a:sysClr val="windowText" lastClr="000000"/>
              </a:solidFill>
            </a:endParaRPr>
          </a:p>
        </p:txBody>
      </p:sp>
      <p:sp>
        <p:nvSpPr>
          <p:cNvPr id="5" name="이등변 삼각형 4"/>
          <p:cNvSpPr/>
          <p:nvPr/>
        </p:nvSpPr>
        <p:spPr>
          <a:xfrm rot="10800000">
            <a:off x="9276637" y="1215960"/>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이등변 삼각형 84"/>
          <p:cNvSpPr/>
          <p:nvPr/>
        </p:nvSpPr>
        <p:spPr>
          <a:xfrm rot="10800000">
            <a:off x="9276637" y="2577737"/>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이등변 삼각형 96"/>
          <p:cNvSpPr/>
          <p:nvPr/>
        </p:nvSpPr>
        <p:spPr>
          <a:xfrm rot="10800000">
            <a:off x="7502113" y="310105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이등변 삼각형 97"/>
          <p:cNvSpPr/>
          <p:nvPr/>
        </p:nvSpPr>
        <p:spPr>
          <a:xfrm rot="10800000">
            <a:off x="7518567" y="996369"/>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이등변 삼각형 98"/>
          <p:cNvSpPr/>
          <p:nvPr/>
        </p:nvSpPr>
        <p:spPr>
          <a:xfrm rot="10800000">
            <a:off x="7518567" y="204242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도넛 99"/>
          <p:cNvSpPr/>
          <p:nvPr/>
        </p:nvSpPr>
        <p:spPr>
          <a:xfrm>
            <a:off x="7197689" y="2876540"/>
            <a:ext cx="694007" cy="64834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2" name="직선 화살표 연결선 101"/>
          <p:cNvCxnSpPr/>
          <p:nvPr/>
        </p:nvCxnSpPr>
        <p:spPr>
          <a:xfrm flipV="1">
            <a:off x="5285008" y="3395248"/>
            <a:ext cx="1834303" cy="734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9272814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54</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86141" y="447581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907920" y="3536642"/>
            <a:ext cx="3036677" cy="1701786"/>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방어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방어 태세를 </a:t>
            </a:r>
            <a:r>
              <a:rPr lang="ko-KR" altLang="en-US" sz="1400" dirty="0">
                <a:solidFill>
                  <a:sysClr val="windowText" lastClr="000000"/>
                </a:solidFill>
              </a:rPr>
              <a:t>명령하는 </a:t>
            </a:r>
            <a:r>
              <a:rPr lang="ko-KR" altLang="en-US" sz="1400" dirty="0" smtClean="0">
                <a:solidFill>
                  <a:sysClr val="windowText" lastClr="000000"/>
                </a:solidFill>
              </a:rPr>
              <a:t>버튼</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3332581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55</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9478" y="5331071"/>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312126" y="2953326"/>
            <a:ext cx="3202577" cy="3020563"/>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특수 기능을 </a:t>
            </a:r>
            <a:r>
              <a:rPr lang="ko-KR" altLang="en-US" sz="1400" dirty="0">
                <a:solidFill>
                  <a:sysClr val="windowText" lastClr="000000"/>
                </a:solidFill>
              </a:rPr>
              <a:t>명령하는 </a:t>
            </a:r>
            <a:r>
              <a:rPr lang="ko-KR" altLang="en-US" sz="1400" dirty="0" smtClean="0">
                <a:solidFill>
                  <a:sysClr val="windowText" lastClr="000000"/>
                </a:solidFill>
              </a:rPr>
              <a:t>버튼으로</a:t>
            </a:r>
            <a:r>
              <a:rPr lang="en-US" altLang="ko-KR" sz="1400" dirty="0" smtClean="0">
                <a:solidFill>
                  <a:sysClr val="windowText" lastClr="000000"/>
                </a:solidFill>
              </a:rPr>
              <a:t>, </a:t>
            </a:r>
            <a:r>
              <a:rPr lang="ko-KR" altLang="en-US" sz="1400" dirty="0" smtClean="0">
                <a:solidFill>
                  <a:sysClr val="windowText" lastClr="000000"/>
                </a:solidFill>
              </a:rPr>
              <a:t>기술들을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사용 대상을 정한 뒤</a:t>
            </a:r>
            <a:r>
              <a:rPr lang="en-US" altLang="ko-KR" sz="1400" dirty="0" smtClean="0">
                <a:solidFill>
                  <a:sysClr val="windowText" lastClr="000000"/>
                </a:solidFill>
              </a:rPr>
              <a:t> </a:t>
            </a:r>
            <a:r>
              <a:rPr lang="ko-KR" altLang="en-US" sz="1400" dirty="0" smtClean="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49456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56</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109655" y="4765331"/>
            <a:ext cx="4936574" cy="1261884"/>
          </a:xfrm>
          <a:prstGeom prst="rect">
            <a:avLst/>
          </a:prstGeom>
          <a:noFill/>
        </p:spPr>
        <p:txBody>
          <a:bodyPr wrap="square" rtlCol="0">
            <a:spAutoFit/>
          </a:bodyPr>
          <a:lstStyle/>
          <a:p>
            <a:r>
              <a:rPr lang="en-US" altLang="ko-KR" sz="2000" dirty="0" smtClean="0"/>
              <a:t>•</a:t>
            </a:r>
            <a:r>
              <a:rPr lang="ko-KR" altLang="en-US" sz="2000" dirty="0" smtClean="0"/>
              <a:t>         기술이름</a:t>
            </a:r>
            <a:r>
              <a:rPr lang="en-US" altLang="ko-KR" sz="2000" dirty="0" smtClean="0"/>
              <a:t>1     •         </a:t>
            </a:r>
            <a:r>
              <a:rPr lang="ko-KR" altLang="en-US" sz="2000" dirty="0" smtClean="0"/>
              <a:t>기술이름</a:t>
            </a:r>
            <a:r>
              <a:rPr lang="en-US" altLang="ko-KR" sz="2000" dirty="0" smtClean="0"/>
              <a:t>2</a:t>
            </a:r>
            <a:endParaRPr lang="en-US" altLang="ko-KR" sz="2000" dirty="0"/>
          </a:p>
          <a:p>
            <a:endParaRPr lang="en-US" altLang="ko-KR" dirty="0" smtClean="0"/>
          </a:p>
          <a:p>
            <a:endParaRPr lang="en-US" altLang="ko-KR" dirty="0" smtClean="0"/>
          </a:p>
          <a:p>
            <a:r>
              <a:rPr lang="en-US" altLang="ko-KR" sz="2000" dirty="0" smtClean="0"/>
              <a:t>•         </a:t>
            </a:r>
            <a:r>
              <a:rPr lang="ko-KR" altLang="en-US" sz="2000" dirty="0" smtClean="0"/>
              <a:t>기술이름</a:t>
            </a:r>
            <a:r>
              <a:rPr lang="en-US" altLang="ko-KR" sz="2000" dirty="0" smtClean="0"/>
              <a:t>3</a:t>
            </a:r>
            <a:endParaRPr lang="en-US" altLang="ko-KR" sz="2000"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9821219" y="5635409"/>
            <a:ext cx="990173"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8" name="액자 97"/>
          <p:cNvSpPr/>
          <p:nvPr/>
        </p:nvSpPr>
        <p:spPr>
          <a:xfrm>
            <a:off x="6366312" y="4683073"/>
            <a:ext cx="622317" cy="583780"/>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9" name="액자 98"/>
          <p:cNvSpPr/>
          <p:nvPr/>
        </p:nvSpPr>
        <p:spPr>
          <a:xfrm>
            <a:off x="8877526" y="4670946"/>
            <a:ext cx="622317" cy="583780"/>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0" name="액자 99"/>
          <p:cNvSpPr/>
          <p:nvPr/>
        </p:nvSpPr>
        <p:spPr>
          <a:xfrm>
            <a:off x="6366311" y="5537019"/>
            <a:ext cx="622317" cy="583780"/>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 name="사각형 설명선 4"/>
          <p:cNvSpPr/>
          <p:nvPr/>
        </p:nvSpPr>
        <p:spPr>
          <a:xfrm>
            <a:off x="6449755" y="3907451"/>
            <a:ext cx="2360030"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기술 설명</a:t>
            </a:r>
            <a:r>
              <a:rPr lang="en-US" altLang="ko-KR" dirty="0" smtClean="0"/>
              <a:t>, </a:t>
            </a:r>
            <a:r>
              <a:rPr lang="ko-KR" altLang="en-US" dirty="0" smtClean="0"/>
              <a:t>소모</a:t>
            </a:r>
            <a:r>
              <a:rPr lang="en-US" altLang="ko-KR" dirty="0" smtClean="0"/>
              <a:t>SP </a:t>
            </a:r>
            <a:r>
              <a:rPr lang="ko-KR" altLang="en-US" dirty="0" smtClean="0"/>
              <a:t>등</a:t>
            </a:r>
            <a:endParaRPr lang="ko-KR" altLang="en-US" dirty="0"/>
          </a:p>
        </p:txBody>
      </p:sp>
      <p:sp>
        <p:nvSpPr>
          <p:cNvPr id="102" name="모서리가 둥근 사각형 설명선 101"/>
          <p:cNvSpPr/>
          <p:nvPr/>
        </p:nvSpPr>
        <p:spPr>
          <a:xfrm>
            <a:off x="2351314" y="1672954"/>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개체의 기술을 </a:t>
            </a:r>
            <a:r>
              <a:rPr lang="en-US" altLang="ko-KR" sz="1400" dirty="0" smtClean="0">
                <a:solidFill>
                  <a:sysClr val="windowText" lastClr="000000"/>
                </a:solidFill>
              </a:rPr>
              <a:t>3</a:t>
            </a:r>
            <a:r>
              <a:rPr lang="ko-KR" altLang="en-US" sz="1400" dirty="0" smtClean="0">
                <a:solidFill>
                  <a:sysClr val="windowText" lastClr="000000"/>
                </a:solidFill>
              </a:rPr>
              <a:t>개까지</a:t>
            </a:r>
            <a:r>
              <a:rPr lang="en-US" altLang="ko-KR" sz="1400" dirty="0" smtClean="0">
                <a:solidFill>
                  <a:sysClr val="windowText" lastClr="000000"/>
                </a:solidFill>
              </a:rPr>
              <a:t>, </a:t>
            </a:r>
            <a:r>
              <a:rPr lang="ko-KR" altLang="en-US" sz="1400" dirty="0" smtClean="0">
                <a:solidFill>
                  <a:sysClr val="windowText" lastClr="000000"/>
                </a:solidFill>
              </a:rPr>
              <a:t>기술의 초상화와 이름을 표시함</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기술 아이콘에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기술에 대한 설명</a:t>
            </a:r>
            <a:r>
              <a:rPr lang="en-US" altLang="ko-KR" sz="1400" dirty="0" smtClean="0">
                <a:solidFill>
                  <a:sysClr val="windowText" lastClr="000000"/>
                </a:solidFill>
              </a:rPr>
              <a:t>(</a:t>
            </a:r>
            <a:r>
              <a:rPr lang="ko-KR" altLang="en-US" sz="1400" dirty="0" err="1" smtClean="0">
                <a:solidFill>
                  <a:sysClr val="windowText" lastClr="000000"/>
                </a:solidFill>
              </a:rPr>
              <a:t>데미지</a:t>
            </a:r>
            <a:r>
              <a:rPr lang="en-US" altLang="ko-KR" sz="1400" dirty="0" smtClean="0">
                <a:solidFill>
                  <a:sysClr val="windowText" lastClr="000000"/>
                </a:solidFill>
              </a:rPr>
              <a:t>, </a:t>
            </a:r>
            <a:r>
              <a:rPr lang="ko-KR" altLang="en-US" sz="1400" dirty="0" err="1" smtClean="0">
                <a:solidFill>
                  <a:sysClr val="windowText" lastClr="000000"/>
                </a:solidFill>
              </a:rPr>
              <a:t>버프</a:t>
            </a:r>
            <a:r>
              <a:rPr lang="ko-KR" altLang="en-US" sz="1400" dirty="0" smtClean="0">
                <a:solidFill>
                  <a:sysClr val="windowText" lastClr="000000"/>
                </a:solidFill>
              </a:rPr>
              <a:t> 수치</a:t>
            </a:r>
            <a:r>
              <a:rPr lang="en-US" altLang="ko-KR" sz="1400" dirty="0" smtClean="0">
                <a:solidFill>
                  <a:sysClr val="windowText" lastClr="000000"/>
                </a:solidFill>
              </a:rPr>
              <a:t>, </a:t>
            </a:r>
            <a:r>
              <a:rPr lang="ko-KR" altLang="en-US" sz="1400" dirty="0" smtClean="0">
                <a:solidFill>
                  <a:sysClr val="windowText" lastClr="000000"/>
                </a:solidFill>
              </a:rPr>
              <a:t>속성</a:t>
            </a:r>
            <a:r>
              <a:rPr lang="en-US" altLang="ko-KR" sz="1400" dirty="0" smtClean="0">
                <a:solidFill>
                  <a:sysClr val="windowText" lastClr="000000"/>
                </a:solidFill>
              </a:rPr>
              <a:t>, </a:t>
            </a:r>
            <a:r>
              <a:rPr lang="ko-KR" altLang="en-US" sz="1400" dirty="0" err="1" smtClean="0">
                <a:solidFill>
                  <a:sysClr val="windowText" lastClr="000000"/>
                </a:solidFill>
              </a:rPr>
              <a:t>타겟범위</a:t>
            </a:r>
            <a:r>
              <a:rPr lang="ko-KR" altLang="en-US" sz="1400" dirty="0" smtClean="0">
                <a:solidFill>
                  <a:sysClr val="windowText" lastClr="000000"/>
                </a:solidFill>
              </a:rPr>
              <a:t> 등</a:t>
            </a:r>
            <a:r>
              <a:rPr lang="en-US" altLang="ko-KR" sz="1400" dirty="0" smtClean="0">
                <a:solidFill>
                  <a:sysClr val="windowText" lastClr="000000"/>
                </a:solidFill>
              </a:rPr>
              <a:t>)</a:t>
            </a:r>
            <a:r>
              <a:rPr lang="ko-KR" altLang="en-US" sz="1400" dirty="0" smtClean="0">
                <a:solidFill>
                  <a:sysClr val="windowText" lastClr="000000"/>
                </a:solidFill>
              </a:rPr>
              <a:t>과 사용에 필요한 </a:t>
            </a:r>
            <a:r>
              <a:rPr lang="en-US" altLang="ko-KR" sz="1400" dirty="0" smtClean="0">
                <a:solidFill>
                  <a:sysClr val="windowText" lastClr="000000"/>
                </a:solidFill>
              </a:rPr>
              <a:t>SP</a:t>
            </a:r>
            <a:r>
              <a:rPr lang="ko-KR" altLang="en-US" sz="1400" dirty="0" smtClean="0">
                <a:solidFill>
                  <a:sysClr val="windowText" lastClr="000000"/>
                </a:solidFill>
              </a:rPr>
              <a:t>에 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r>
              <a:rPr lang="ko-KR" altLang="en-US" sz="1400" dirty="0" smtClean="0">
                <a:solidFill>
                  <a:sysClr val="windowText" lastClr="000000"/>
                </a:solidFill>
              </a:rPr>
              <a:t> 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8411343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91944" y="534336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701646" y="2649227"/>
            <a:ext cx="3283220" cy="3482222"/>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아이템 사용을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가방을 살펴보아 원하는 아이템을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a:solidFill>
                  <a:sysClr val="windowText" lastClr="000000"/>
                </a:solidFill>
              </a:rPr>
              <a:t>최종적으로 사용 대상을 정한 뒤</a:t>
            </a:r>
            <a:r>
              <a:rPr lang="en-US" altLang="ko-KR" sz="1400" dirty="0">
                <a:solidFill>
                  <a:sysClr val="windowText" lastClr="000000"/>
                </a:solidFill>
              </a:rPr>
              <a:t> </a:t>
            </a:r>
            <a:r>
              <a:rPr lang="ko-KR" altLang="en-US" sz="1400" dirty="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3636113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58</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083529" y="4621638"/>
            <a:ext cx="4936574" cy="1477328"/>
          </a:xfrm>
          <a:prstGeom prst="rect">
            <a:avLst/>
          </a:prstGeom>
          <a:noFill/>
        </p:spPr>
        <p:txBody>
          <a:bodyPr wrap="square" rtlCol="0">
            <a:spAutoFit/>
          </a:bodyPr>
          <a:lstStyle/>
          <a:p>
            <a:r>
              <a:rPr lang="en-US" altLang="ko-KR" dirty="0" smtClean="0"/>
              <a:t>•</a:t>
            </a:r>
            <a:r>
              <a:rPr lang="ko-KR" altLang="en-US" dirty="0" smtClean="0"/>
              <a:t> </a:t>
            </a:r>
            <a:r>
              <a:rPr lang="en-US" altLang="ko-KR" dirty="0" smtClean="0"/>
              <a:t>ITEM</a:t>
            </a:r>
            <a:r>
              <a:rPr lang="ko-KR" altLang="en-US" dirty="0" smtClean="0"/>
              <a:t>이름</a:t>
            </a:r>
            <a:r>
              <a:rPr lang="en-US" altLang="ko-KR" dirty="0" smtClean="0"/>
              <a:t>1,</a:t>
            </a:r>
            <a:r>
              <a:rPr lang="ko-KR" altLang="en-US" dirty="0" smtClean="0"/>
              <a:t>개수</a:t>
            </a:r>
            <a:r>
              <a:rPr lang="en-US" altLang="ko-KR" dirty="0" smtClean="0"/>
              <a:t>     • ITEM</a:t>
            </a:r>
            <a:r>
              <a:rPr lang="ko-KR" altLang="en-US" dirty="0" smtClean="0"/>
              <a:t>이름</a:t>
            </a:r>
            <a:r>
              <a:rPr lang="en-US" altLang="ko-KR" dirty="0" smtClean="0"/>
              <a:t>2,</a:t>
            </a:r>
            <a:r>
              <a:rPr lang="ko-KR" altLang="en-US" dirty="0"/>
              <a:t>개수</a:t>
            </a:r>
            <a:endParaRPr lang="en-US" altLang="ko-KR" dirty="0" smtClean="0"/>
          </a:p>
          <a:p>
            <a:endParaRPr lang="en-US" altLang="ko-KR" spc="-300" dirty="0">
              <a:gradFill>
                <a:gsLst>
                  <a:gs pos="0">
                    <a:schemeClr val="tx1"/>
                  </a:gs>
                  <a:gs pos="100000">
                    <a:schemeClr val="tx1"/>
                  </a:gs>
                </a:gsLst>
                <a:lin ang="5400000" scaled="1"/>
              </a:gradFill>
              <a:ea typeface="돋움" panose="020B0600000101010101" pitchFamily="50" charset="-127"/>
            </a:endParaRPr>
          </a:p>
          <a:p>
            <a:r>
              <a:rPr lang="en-US" altLang="ko-KR" dirty="0"/>
              <a:t>•</a:t>
            </a:r>
            <a:r>
              <a:rPr lang="ko-KR" altLang="en-US" dirty="0"/>
              <a:t> </a:t>
            </a:r>
            <a:r>
              <a:rPr lang="en-US" altLang="ko-KR" dirty="0" smtClean="0"/>
              <a:t>ITEM</a:t>
            </a:r>
            <a:r>
              <a:rPr lang="ko-KR" altLang="en-US" dirty="0" smtClean="0"/>
              <a:t>이름</a:t>
            </a:r>
            <a:r>
              <a:rPr lang="en-US" altLang="ko-KR" dirty="0" smtClean="0"/>
              <a:t>3,</a:t>
            </a:r>
            <a:r>
              <a:rPr lang="ko-KR" altLang="en-US" dirty="0"/>
              <a:t>개수</a:t>
            </a:r>
            <a:r>
              <a:rPr lang="en-US" altLang="ko-KR" dirty="0" smtClean="0"/>
              <a:t>     • ITEM</a:t>
            </a:r>
            <a:r>
              <a:rPr lang="ko-KR" altLang="en-US" dirty="0" smtClean="0"/>
              <a:t>이름</a:t>
            </a:r>
            <a:r>
              <a:rPr lang="en-US" altLang="ko-KR" dirty="0" smtClean="0"/>
              <a:t>4,</a:t>
            </a:r>
            <a:r>
              <a:rPr lang="ko-KR" altLang="en-US" dirty="0"/>
              <a:t>개수</a:t>
            </a:r>
            <a:endParaRPr lang="en-US" altLang="ko-KR" dirty="0" smtClean="0"/>
          </a:p>
          <a:p>
            <a:endParaRPr lang="en-US" altLang="ko-KR" dirty="0" smtClean="0"/>
          </a:p>
          <a:p>
            <a:r>
              <a:rPr lang="en-US" altLang="ko-KR" dirty="0"/>
              <a:t>•</a:t>
            </a:r>
            <a:r>
              <a:rPr lang="ko-KR" altLang="en-US" dirty="0"/>
              <a:t> </a:t>
            </a:r>
            <a:r>
              <a:rPr lang="en-US" altLang="ko-KR" dirty="0" smtClean="0"/>
              <a:t>ITEM</a:t>
            </a:r>
            <a:r>
              <a:rPr lang="ko-KR" altLang="en-US" dirty="0" smtClean="0"/>
              <a:t>이름</a:t>
            </a:r>
            <a:r>
              <a:rPr lang="en-US" altLang="ko-KR" dirty="0" smtClean="0"/>
              <a:t>5,</a:t>
            </a:r>
            <a:r>
              <a:rPr lang="ko-KR" altLang="en-US" dirty="0"/>
              <a:t>개수</a:t>
            </a:r>
            <a:r>
              <a:rPr lang="en-US" altLang="ko-KR" dirty="0" smtClean="0"/>
              <a:t>     </a:t>
            </a:r>
            <a:r>
              <a:rPr lang="en-US" altLang="ko-KR" dirty="0"/>
              <a:t>• </a:t>
            </a:r>
            <a:r>
              <a:rPr lang="en-US" altLang="ko-KR" dirty="0" smtClean="0"/>
              <a:t>ITEM</a:t>
            </a:r>
            <a:r>
              <a:rPr lang="ko-KR" altLang="en-US" dirty="0" smtClean="0"/>
              <a:t>이름</a:t>
            </a:r>
            <a:r>
              <a:rPr lang="en-US" altLang="ko-KR" dirty="0" smtClean="0"/>
              <a:t>6</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9821219" y="5635409"/>
            <a:ext cx="990173"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사각형 설명선 4"/>
          <p:cNvSpPr/>
          <p:nvPr/>
        </p:nvSpPr>
        <p:spPr>
          <a:xfrm>
            <a:off x="6681241" y="3771464"/>
            <a:ext cx="1958331"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아이</a:t>
            </a:r>
            <a:r>
              <a:rPr lang="ko-KR" altLang="en-US" dirty="0"/>
              <a:t>템</a:t>
            </a:r>
            <a:r>
              <a:rPr lang="ko-KR" altLang="en-US" dirty="0" smtClean="0"/>
              <a:t> 설명</a:t>
            </a:r>
            <a:endParaRPr lang="ko-KR" altLang="en-US" dirty="0"/>
          </a:p>
        </p:txBody>
      </p:sp>
      <p:sp>
        <p:nvSpPr>
          <p:cNvPr id="102" name="모서리가 둥근 사각형 설명선 101"/>
          <p:cNvSpPr/>
          <p:nvPr/>
        </p:nvSpPr>
        <p:spPr>
          <a:xfrm>
            <a:off x="2129977" y="1786745"/>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보유한 아이템의 정보를 스크롤 바 창의 형식으로 표시함</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아이템 이름에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아이템에 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r>
              <a:rPr lang="ko-KR" altLang="en-US" sz="1400" dirty="0" smtClean="0">
                <a:solidFill>
                  <a:sysClr val="windowText" lastClr="000000"/>
                </a:solidFill>
              </a:rPr>
              <a:t> 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7275353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59</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47267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532315" y="190490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10904997" y="229643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532316" y="331750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10889712" y="4045998"/>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532314" y="474826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819737" y="31953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2835146" y="49103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833814" y="34218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2838707" y="2060988"/>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60</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16757"/>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935139"/>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3005169" y="150556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3005169" y="29102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3005169" y="43812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1142366" y="29102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7022248" y="150838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7022248" y="2917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7022248" y="435451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9379647" y="1902690"/>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9379646" y="3652247"/>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7560226" y="537865"/>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곱셈 기호 3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577244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61</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
        <p:nvSpPr>
          <p:cNvPr id="18" name="TextBox 1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62</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
        <p:nvSpPr>
          <p:cNvPr id="15" name="TextBox 14"/>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곱셈 기호 1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63</a:t>
            </a:fld>
            <a:endParaRPr lang="ko-KR" altLang="en-US" sz="1800" dirty="0"/>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곱셈 기호 2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시스템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64</a:t>
            </a:fld>
            <a:endParaRPr lang="ko-KR" altLang="en-US" dirty="0">
              <a:solidFill>
                <a:prstClr val="black">
                  <a:tint val="75000"/>
                </a:prstClr>
              </a:solidFill>
            </a:endParaRPr>
          </a:p>
        </p:txBody>
      </p:sp>
    </p:spTree>
    <p:extLst>
      <p:ext uri="{BB962C8B-B14F-4D97-AF65-F5344CB8AC3E}">
        <p14:creationId xmlns:p14="http://schemas.microsoft.com/office/powerpoint/2010/main" val="24881396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타원 48"/>
          <p:cNvSpPr/>
          <p:nvPr/>
        </p:nvSpPr>
        <p:spPr>
          <a:xfrm rot="1265973" flipH="1">
            <a:off x="2890997" y="454698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파티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65</a:t>
            </a:fld>
            <a:endParaRPr lang="ko-KR" altLang="en-US" sz="1800" dirty="0"/>
          </a:p>
        </p:txBody>
      </p:sp>
      <p:sp>
        <p:nvSpPr>
          <p:cNvPr id="13" name="TextBox 12"/>
          <p:cNvSpPr txBox="1"/>
          <p:nvPr/>
        </p:nvSpPr>
        <p:spPr>
          <a:xfrm>
            <a:off x="5357971" y="1467818"/>
            <a:ext cx="6148229" cy="4662815"/>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게임 시작 시 캐릭터 </a:t>
            </a:r>
            <a:r>
              <a:rPr lang="ko-KR" altLang="en-US" dirty="0" err="1" smtClean="0"/>
              <a:t>혼자부터</a:t>
            </a:r>
            <a:r>
              <a:rPr lang="ko-KR" altLang="en-US" dirty="0" smtClean="0"/>
              <a:t> 출발하여</a:t>
            </a:r>
            <a:r>
              <a:rPr lang="en-US" altLang="ko-KR" dirty="0" smtClean="0"/>
              <a:t>,</a:t>
            </a:r>
            <a:br>
              <a:rPr lang="en-US" altLang="ko-KR" dirty="0" smtClean="0"/>
            </a:br>
            <a:r>
              <a:rPr lang="en-US" altLang="ko-KR" dirty="0" smtClean="0"/>
              <a:t>  </a:t>
            </a:r>
            <a:r>
              <a:rPr lang="ko-KR" altLang="en-US" dirty="0" smtClean="0"/>
              <a:t>던전의 몬스터를 정화하고 자신의 파티로 귀속시킨다</a:t>
            </a:r>
            <a:r>
              <a:rPr lang="en-US" altLang="ko-KR" dirty="0" smtClean="0"/>
              <a:t>.</a:t>
            </a:r>
            <a:br>
              <a:rPr lang="en-US" altLang="ko-KR" dirty="0" smtClean="0"/>
            </a:br>
            <a:r>
              <a:rPr lang="en-US" altLang="ko-KR" dirty="0" smtClean="0"/>
              <a:t>  </a:t>
            </a:r>
            <a:r>
              <a:rPr lang="ko-KR" altLang="en-US" dirty="0" smtClean="0"/>
              <a:t>아군 몬스터는 용사와 함께 전투를 치른다</a:t>
            </a:r>
            <a:r>
              <a:rPr lang="en-US" altLang="ko-KR" dirty="0" smtClean="0"/>
              <a:t>.</a:t>
            </a:r>
          </a:p>
          <a:p>
            <a:pPr>
              <a:lnSpc>
                <a:spcPct val="150000"/>
              </a:lnSpc>
            </a:pPr>
            <a:endParaRPr lang="en-US" altLang="ko-KR" dirty="0" smtClean="0"/>
          </a:p>
          <a:p>
            <a:pPr>
              <a:lnSpc>
                <a:spcPct val="150000"/>
              </a:lnSpc>
            </a:pPr>
            <a:r>
              <a:rPr lang="en-US" altLang="ko-KR" dirty="0"/>
              <a:t>• </a:t>
            </a:r>
            <a:r>
              <a:rPr lang="ko-KR" altLang="en-US" dirty="0"/>
              <a:t>플레이어는 던전 지도 화면에서 파티 버튼을 클릭해</a:t>
            </a:r>
            <a:r>
              <a:rPr lang="en-US" altLang="ko-KR" dirty="0"/>
              <a:t/>
            </a:r>
            <a:br>
              <a:rPr lang="en-US" altLang="ko-KR" dirty="0"/>
            </a:br>
            <a:r>
              <a:rPr lang="en-US" altLang="ko-KR" dirty="0"/>
              <a:t>  </a:t>
            </a:r>
            <a:r>
              <a:rPr lang="ko-KR" altLang="en-US" dirty="0" err="1"/>
              <a:t>파티창을</a:t>
            </a:r>
            <a:r>
              <a:rPr lang="ko-KR" altLang="en-US" dirty="0"/>
              <a:t> 열어</a:t>
            </a:r>
            <a:r>
              <a:rPr lang="en-US" altLang="ko-KR" dirty="0"/>
              <a:t> </a:t>
            </a:r>
            <a:r>
              <a:rPr lang="ko-KR" altLang="en-US" dirty="0"/>
              <a:t>아군의 정보와 파티 구성과 살펴볼 수</a:t>
            </a:r>
            <a:r>
              <a:rPr lang="en-US" altLang="ko-KR" dirty="0"/>
              <a:t/>
            </a:r>
            <a:br>
              <a:rPr lang="en-US" altLang="ko-KR" dirty="0"/>
            </a:br>
            <a:r>
              <a:rPr lang="en-US" altLang="ko-KR" dirty="0"/>
              <a:t> </a:t>
            </a:r>
            <a:r>
              <a:rPr lang="ko-KR" altLang="en-US" dirty="0"/>
              <a:t> 있으며</a:t>
            </a:r>
            <a:r>
              <a:rPr lang="en-US" altLang="ko-KR" dirty="0"/>
              <a:t> </a:t>
            </a:r>
            <a:r>
              <a:rPr lang="ko-KR" altLang="en-US" dirty="0"/>
              <a:t>아군 몬스터의 배치 순서를 변경할 수 있다</a:t>
            </a:r>
            <a:r>
              <a:rPr lang="en-US" altLang="ko-KR" dirty="0" smtClean="0"/>
              <a:t>.</a:t>
            </a:r>
            <a:endParaRPr lang="en-US" altLang="ko-KR" dirty="0"/>
          </a:p>
          <a:p>
            <a:pPr>
              <a:lnSpc>
                <a:spcPct val="150000"/>
              </a:lnSpc>
            </a:pPr>
            <a:endParaRPr lang="en-US" altLang="ko-KR" dirty="0"/>
          </a:p>
          <a:p>
            <a:pPr>
              <a:lnSpc>
                <a:spcPct val="150000"/>
              </a:lnSpc>
            </a:pPr>
            <a:r>
              <a:rPr lang="en-US" altLang="ko-KR" dirty="0" smtClean="0"/>
              <a:t>• </a:t>
            </a:r>
            <a:r>
              <a:rPr lang="ko-KR" altLang="en-US" dirty="0" smtClean="0"/>
              <a:t>몬스터는 최대 </a:t>
            </a:r>
            <a:r>
              <a:rPr lang="en-US" altLang="ko-KR" dirty="0" smtClean="0"/>
              <a:t>3</a:t>
            </a:r>
            <a:r>
              <a:rPr lang="ko-KR" altLang="en-US" dirty="0" smtClean="0"/>
              <a:t>마리까지 자신의 파티로서 데려갈 수</a:t>
            </a:r>
            <a:r>
              <a:rPr lang="en-US" altLang="ko-KR" dirty="0" smtClean="0"/>
              <a:t/>
            </a:r>
            <a:br>
              <a:rPr lang="en-US" altLang="ko-KR" dirty="0" smtClean="0"/>
            </a:br>
            <a:r>
              <a:rPr lang="en-US" altLang="ko-KR" dirty="0" smtClean="0"/>
              <a:t>  </a:t>
            </a:r>
            <a:r>
              <a:rPr lang="ko-KR" altLang="en-US" dirty="0" smtClean="0"/>
              <a:t>있으며 정화를 통해 </a:t>
            </a:r>
            <a:r>
              <a:rPr lang="en-US" altLang="ko-KR" dirty="0" smtClean="0"/>
              <a:t>3</a:t>
            </a:r>
            <a:r>
              <a:rPr lang="ko-KR" altLang="en-US" dirty="0" smtClean="0"/>
              <a:t>마리를 초과하여 보유하게 될 경우 </a:t>
            </a:r>
            <a:endParaRPr lang="en-US" altLang="ko-KR" dirty="0" smtClean="0"/>
          </a:p>
          <a:p>
            <a:pPr>
              <a:lnSpc>
                <a:spcPct val="150000"/>
              </a:lnSpc>
            </a:pPr>
            <a:r>
              <a:rPr lang="en-US" altLang="ko-KR" dirty="0"/>
              <a:t> </a:t>
            </a:r>
            <a:r>
              <a:rPr lang="en-US" altLang="ko-KR" dirty="0" smtClean="0"/>
              <a:t> </a:t>
            </a:r>
            <a:r>
              <a:rPr lang="ko-KR" altLang="en-US" dirty="0" smtClean="0"/>
              <a:t>기존 몬스터 중 </a:t>
            </a:r>
            <a:r>
              <a:rPr lang="en-US" altLang="ko-KR" dirty="0" smtClean="0"/>
              <a:t>1</a:t>
            </a:r>
            <a:r>
              <a:rPr lang="ko-KR" altLang="en-US" dirty="0" smtClean="0"/>
              <a:t>체</a:t>
            </a:r>
            <a:r>
              <a:rPr lang="en-US" altLang="ko-KR" dirty="0" smtClean="0"/>
              <a:t> </a:t>
            </a:r>
            <a:r>
              <a:rPr lang="ko-KR" altLang="en-US" dirty="0" smtClean="0"/>
              <a:t>혹은 새로 얻은 몬스터를 버려야한다</a:t>
            </a:r>
            <a:r>
              <a:rPr lang="en-US" altLang="ko-KR" dirty="0" smtClean="0"/>
              <a:t>.</a:t>
            </a:r>
          </a:p>
        </p:txBody>
      </p:sp>
      <p:sp>
        <p:nvSpPr>
          <p:cNvPr id="15" name="TextBox 14"/>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1372147" y="328358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2881488" y="345176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2885154" y="244165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009900" y="202940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009900" y="307204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009900" y="416386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1613924" y="307204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7" name="직사각형 36"/>
          <p:cNvSpPr/>
          <p:nvPr/>
        </p:nvSpPr>
        <p:spPr>
          <a:xfrm>
            <a:off x="3170694" y="19454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1759484" y="29011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3148637" y="298460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3148637" y="408213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1759484" y="295173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5482987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정화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66</a:t>
            </a:fld>
            <a:endParaRPr lang="ko-KR" altLang="en-US" sz="1800" dirty="0"/>
          </a:p>
        </p:txBody>
      </p:sp>
      <p:sp>
        <p:nvSpPr>
          <p:cNvPr id="22" name="이등변 삼각형 21"/>
          <p:cNvSpPr/>
          <p:nvPr/>
        </p:nvSpPr>
        <p:spPr>
          <a:xfrm rot="2940484">
            <a:off x="3206386" y="194903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이등변 삼각형 34"/>
          <p:cNvSpPr/>
          <p:nvPr/>
        </p:nvSpPr>
        <p:spPr>
          <a:xfrm>
            <a:off x="2060972" y="165859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3" name="직사각형 42"/>
          <p:cNvSpPr/>
          <p:nvPr/>
        </p:nvSpPr>
        <p:spPr>
          <a:xfrm>
            <a:off x="2455857" y="153577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TextBox 46"/>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8" name="TextBox 47"/>
          <p:cNvSpPr txBox="1"/>
          <p:nvPr/>
        </p:nvSpPr>
        <p:spPr>
          <a:xfrm>
            <a:off x="5156201" y="1467818"/>
            <a:ext cx="6769100" cy="4662815"/>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마왕의 저주로 난폭해진 </a:t>
            </a:r>
            <a:r>
              <a:rPr lang="ko-KR" altLang="en-US" dirty="0" err="1" smtClean="0"/>
              <a:t>몬스터들을</a:t>
            </a:r>
            <a:r>
              <a:rPr lang="ko-KR" altLang="en-US" dirty="0" smtClean="0"/>
              <a:t> 쓰러트려</a:t>
            </a:r>
            <a:r>
              <a:rPr lang="en-US" altLang="ko-KR" dirty="0" smtClean="0"/>
              <a:t/>
            </a:r>
            <a:br>
              <a:rPr lang="en-US" altLang="ko-KR" dirty="0" smtClean="0"/>
            </a:br>
            <a:r>
              <a:rPr lang="en-US" altLang="ko-KR" dirty="0" smtClean="0"/>
              <a:t>  </a:t>
            </a:r>
            <a:r>
              <a:rPr lang="ko-KR" altLang="en-US" dirty="0" smtClean="0"/>
              <a:t>진정시킨 후</a:t>
            </a:r>
            <a:r>
              <a:rPr lang="en-US" altLang="ko-KR" dirty="0" smtClean="0"/>
              <a:t>, </a:t>
            </a:r>
            <a:r>
              <a:rPr lang="ko-KR" altLang="en-US" dirty="0" smtClean="0"/>
              <a:t>전투가 종료된 뒤 저주를 정화한다</a:t>
            </a:r>
            <a:r>
              <a:rPr lang="en-US" altLang="ko-KR" dirty="0" smtClean="0"/>
              <a:t>.</a:t>
            </a:r>
          </a:p>
          <a:p>
            <a:pPr>
              <a:lnSpc>
                <a:spcPct val="150000"/>
              </a:lnSpc>
            </a:pPr>
            <a:endParaRPr lang="en-US" altLang="ko-KR" dirty="0" smtClean="0"/>
          </a:p>
          <a:p>
            <a:pPr>
              <a:lnSpc>
                <a:spcPct val="150000"/>
              </a:lnSpc>
            </a:pPr>
            <a:r>
              <a:rPr lang="en-US" altLang="ko-KR" dirty="0"/>
              <a:t>• </a:t>
            </a:r>
            <a:r>
              <a:rPr lang="ko-KR" altLang="en-US" dirty="0" smtClean="0"/>
              <a:t>정화 의식을 통해 전투 이벤트에서 등장한 적 몬스터 전부가</a:t>
            </a:r>
            <a:r>
              <a:rPr lang="en-US" altLang="ko-KR" dirty="0" smtClean="0"/>
              <a:t/>
            </a:r>
            <a:br>
              <a:rPr lang="en-US" altLang="ko-KR" dirty="0" smtClean="0"/>
            </a:br>
            <a:r>
              <a:rPr lang="en-US" altLang="ko-KR" dirty="0" smtClean="0"/>
              <a:t>  </a:t>
            </a:r>
            <a:r>
              <a:rPr lang="ko-KR" altLang="en-US" dirty="0" err="1" smtClean="0"/>
              <a:t>정화되며</a:t>
            </a:r>
            <a:r>
              <a:rPr lang="en-US" altLang="ko-KR" dirty="0" smtClean="0"/>
              <a:t>, </a:t>
            </a:r>
            <a:r>
              <a:rPr lang="ko-KR" altLang="en-US" dirty="0" smtClean="0"/>
              <a:t>이 때</a:t>
            </a:r>
            <a:r>
              <a:rPr lang="en-US" altLang="ko-KR" dirty="0" smtClean="0"/>
              <a:t> </a:t>
            </a:r>
            <a:r>
              <a:rPr lang="ko-KR" altLang="en-US" dirty="0" smtClean="0"/>
              <a:t>특별한 비용은 소모되지 않는다</a:t>
            </a:r>
            <a:r>
              <a:rPr lang="en-US" altLang="ko-KR" dirty="0" smtClean="0"/>
              <a:t>.</a:t>
            </a:r>
            <a:br>
              <a:rPr lang="en-US" altLang="ko-KR" dirty="0" smtClean="0"/>
            </a:br>
            <a:r>
              <a:rPr lang="en-US" altLang="ko-KR" dirty="0" smtClean="0"/>
              <a:t/>
            </a:r>
            <a:br>
              <a:rPr lang="en-US" altLang="ko-KR" dirty="0" smtClean="0"/>
            </a:br>
            <a:r>
              <a:rPr lang="en-US" altLang="ko-KR" dirty="0"/>
              <a:t>• </a:t>
            </a:r>
            <a:r>
              <a:rPr lang="ko-KR" altLang="en-US" dirty="0" smtClean="0"/>
              <a:t>플레이어는 전투에서 정화된</a:t>
            </a:r>
            <a:r>
              <a:rPr lang="en-US" altLang="ko-KR" dirty="0" smtClean="0"/>
              <a:t> </a:t>
            </a:r>
            <a:r>
              <a:rPr lang="ko-KR" altLang="en-US" dirty="0" smtClean="0"/>
              <a:t>몬스터 중 </a:t>
            </a:r>
            <a:r>
              <a:rPr lang="en-US" altLang="ko-KR" dirty="0" smtClean="0"/>
              <a:t>1</a:t>
            </a:r>
            <a:r>
              <a:rPr lang="ko-KR" altLang="en-US" dirty="0" smtClean="0"/>
              <a:t>체를 선택하여 </a:t>
            </a:r>
            <a:r>
              <a:rPr lang="en-US" altLang="ko-KR" dirty="0" smtClean="0"/>
              <a:t/>
            </a:r>
            <a:br>
              <a:rPr lang="en-US" altLang="ko-KR" dirty="0" smtClean="0"/>
            </a:br>
            <a:r>
              <a:rPr lang="en-US" altLang="ko-KR" dirty="0" smtClean="0"/>
              <a:t>  </a:t>
            </a:r>
            <a:r>
              <a:rPr lang="ko-KR" altLang="en-US" dirty="0" smtClean="0"/>
              <a:t>자신의 파티에 편입할 수 있다</a:t>
            </a:r>
            <a:r>
              <a:rPr lang="en-US" altLang="ko-KR" dirty="0" smtClean="0"/>
              <a:t>.</a:t>
            </a:r>
            <a:br>
              <a:rPr lang="en-US" altLang="ko-KR" dirty="0" smtClean="0"/>
            </a:br>
            <a:r>
              <a:rPr lang="en-US" altLang="ko-KR" dirty="0" smtClean="0"/>
              <a:t/>
            </a:r>
            <a:br>
              <a:rPr lang="en-US" altLang="ko-KR" dirty="0" smtClean="0"/>
            </a:br>
            <a:r>
              <a:rPr lang="en-US" altLang="ko-KR" dirty="0"/>
              <a:t>• </a:t>
            </a:r>
            <a:r>
              <a:rPr lang="ko-KR" altLang="en-US" dirty="0" smtClean="0"/>
              <a:t>파티에 들어간 몬스터는 답례로써 유저와 동행하며 마왕을</a:t>
            </a:r>
            <a:endParaRPr lang="en-US" altLang="ko-KR" dirty="0" smtClean="0"/>
          </a:p>
          <a:p>
            <a:pPr>
              <a:lnSpc>
                <a:spcPct val="150000"/>
              </a:lnSpc>
            </a:pPr>
            <a:r>
              <a:rPr lang="en-US" altLang="ko-KR" dirty="0"/>
              <a:t> </a:t>
            </a:r>
            <a:r>
              <a:rPr lang="en-US" altLang="ko-KR" dirty="0" smtClean="0"/>
              <a:t> </a:t>
            </a:r>
            <a:r>
              <a:rPr lang="ko-KR" altLang="en-US" dirty="0" smtClean="0"/>
              <a:t>무찌르기 위해 던전 탐험과 전투를 함께한다</a:t>
            </a:r>
            <a:r>
              <a:rPr lang="en-US" altLang="ko-KR" dirty="0" smtClean="0"/>
              <a:t>.</a:t>
            </a:r>
          </a:p>
        </p:txBody>
      </p:sp>
      <p:sp>
        <p:nvSpPr>
          <p:cNvPr id="2" name="구름 1"/>
          <p:cNvSpPr/>
          <p:nvPr/>
        </p:nvSpPr>
        <p:spPr>
          <a:xfrm>
            <a:off x="2234120" y="1746602"/>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p:cNvSpPr txBox="1"/>
          <p:nvPr/>
        </p:nvSpPr>
        <p:spPr>
          <a:xfrm>
            <a:off x="1865819" y="2619260"/>
            <a:ext cx="178066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mn-ea"/>
              </a:rPr>
              <a:t>저주에 걸린 몬스터</a:t>
            </a:r>
            <a:endParaRPr lang="ko-KR" altLang="en-US" sz="1600" spc="-300" dirty="0">
              <a:gradFill>
                <a:gsLst>
                  <a:gs pos="0">
                    <a:schemeClr val="tx1"/>
                  </a:gs>
                  <a:gs pos="100000">
                    <a:schemeClr val="tx1"/>
                  </a:gs>
                </a:gsLst>
                <a:lin ang="5400000" scaled="1"/>
              </a:gradFill>
              <a:latin typeface="+mn-ea"/>
            </a:endParaRPr>
          </a:p>
        </p:txBody>
      </p:sp>
      <p:sp>
        <p:nvSpPr>
          <p:cNvPr id="50" name="이등변 삼각형 49"/>
          <p:cNvSpPr/>
          <p:nvPr/>
        </p:nvSpPr>
        <p:spPr>
          <a:xfrm rot="2940484">
            <a:off x="3206386" y="443494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이등변 삼각형 50"/>
          <p:cNvSpPr/>
          <p:nvPr/>
        </p:nvSpPr>
        <p:spPr>
          <a:xfrm>
            <a:off x="2060972" y="414451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2" name="직사각형 51"/>
          <p:cNvSpPr/>
          <p:nvPr/>
        </p:nvSpPr>
        <p:spPr>
          <a:xfrm>
            <a:off x="2455857" y="402169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TextBox 53"/>
          <p:cNvSpPr txBox="1"/>
          <p:nvPr/>
        </p:nvSpPr>
        <p:spPr>
          <a:xfrm>
            <a:off x="1865819" y="5105178"/>
            <a:ext cx="178066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mn-ea"/>
              </a:rPr>
              <a:t>정화된 몬스터</a:t>
            </a:r>
            <a:endParaRPr lang="ko-KR" altLang="en-US" sz="1600" spc="-300" dirty="0">
              <a:gradFill>
                <a:gsLst>
                  <a:gs pos="0">
                    <a:schemeClr val="tx1"/>
                  </a:gs>
                  <a:gs pos="100000">
                    <a:schemeClr val="tx1"/>
                  </a:gs>
                </a:gsLst>
                <a:lin ang="5400000" scaled="1"/>
              </a:gradFill>
              <a:latin typeface="+mn-ea"/>
            </a:endParaRPr>
          </a:p>
        </p:txBody>
      </p:sp>
      <p:sp>
        <p:nvSpPr>
          <p:cNvPr id="3" name="아래쪽 화살표 2"/>
          <p:cNvSpPr/>
          <p:nvPr/>
        </p:nvSpPr>
        <p:spPr>
          <a:xfrm>
            <a:off x="2593176" y="3138825"/>
            <a:ext cx="325945" cy="660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598722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67</a:t>
            </a:fld>
            <a:endParaRPr lang="ko-KR" altLang="en-US" sz="1800" dirty="0"/>
          </a:p>
        </p:txBody>
      </p:sp>
      <p:sp>
        <p:nvSpPr>
          <p:cNvPr id="13" name="TextBox 12"/>
          <p:cNvSpPr txBox="1"/>
          <p:nvPr/>
        </p:nvSpPr>
        <p:spPr>
          <a:xfrm>
            <a:off x="2464852" y="4007329"/>
            <a:ext cx="8222276" cy="2585323"/>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a:t>. </a:t>
            </a:r>
            <a:br>
              <a:rPr lang="en-US" altLang="ko-KR" dirty="0"/>
            </a:br>
            <a:r>
              <a:rPr lang="en-US" altLang="ko-KR" dirty="0"/>
              <a:t>• </a:t>
            </a:r>
            <a:r>
              <a:rPr lang="ko-KR" altLang="en-US" dirty="0" smtClean="0"/>
              <a:t>아군의 </a:t>
            </a:r>
            <a:r>
              <a:rPr lang="ko-KR" altLang="en-US" dirty="0"/>
              <a:t>선공으로 시작하여 파티 구성원 전체가 </a:t>
            </a:r>
            <a:r>
              <a:rPr lang="ko-KR" altLang="en-US" dirty="0" smtClean="0"/>
              <a:t>동시에 </a:t>
            </a:r>
            <a:r>
              <a:rPr lang="ko-KR" altLang="en-US" dirty="0"/>
              <a:t>전투에 임하게 된다</a:t>
            </a:r>
            <a:r>
              <a:rPr lang="en-US" altLang="ko-KR" dirty="0" smtClean="0"/>
              <a:t>.</a:t>
            </a:r>
          </a:p>
          <a:p>
            <a:pPr>
              <a:lnSpc>
                <a:spcPct val="150000"/>
              </a:lnSpc>
            </a:pPr>
            <a:r>
              <a:rPr lang="en-US" altLang="ko-KR" dirty="0" smtClean="0"/>
              <a:t>• </a:t>
            </a:r>
            <a:r>
              <a:rPr lang="ko-KR" altLang="en-US" dirty="0" smtClean="0"/>
              <a:t>아군의 턴 동안</a:t>
            </a:r>
            <a:r>
              <a:rPr lang="en-US" altLang="ko-KR" dirty="0"/>
              <a:t> </a:t>
            </a:r>
            <a:r>
              <a:rPr lang="ko-KR" altLang="en-US" dirty="0" smtClean="0"/>
              <a:t>아군만 행동할 수 있으며</a:t>
            </a:r>
            <a:r>
              <a:rPr lang="en-US" altLang="ko-KR" dirty="0" smtClean="0"/>
              <a:t>, </a:t>
            </a:r>
            <a:r>
              <a:rPr lang="ko-KR" altLang="en-US" dirty="0" smtClean="0"/>
              <a:t>아군 캐릭터 각자의 차례 때 </a:t>
            </a:r>
            <a:r>
              <a:rPr lang="en-US" altLang="ko-KR" dirty="0" smtClean="0"/>
              <a:t/>
            </a:r>
            <a:br>
              <a:rPr lang="en-US" altLang="ko-KR" dirty="0" smtClean="0"/>
            </a:br>
            <a:r>
              <a:rPr lang="en-US" altLang="ko-KR" dirty="0" smtClean="0"/>
              <a:t>  </a:t>
            </a:r>
            <a:r>
              <a:rPr lang="ko-KR" altLang="en-US" dirty="0" smtClean="0"/>
              <a:t>하나씩 행동을 선택</a:t>
            </a:r>
            <a:r>
              <a:rPr lang="en-US" altLang="ko-KR" dirty="0" smtClean="0"/>
              <a:t>, </a:t>
            </a:r>
            <a:r>
              <a:rPr lang="ko-KR" altLang="en-US" dirty="0" smtClean="0"/>
              <a:t>수행한다</a:t>
            </a:r>
            <a:r>
              <a:rPr lang="en-US" altLang="ko-KR" dirty="0" smtClean="0"/>
              <a:t>. </a:t>
            </a:r>
            <a:r>
              <a:rPr lang="ko-KR" altLang="en-US" dirty="0" smtClean="0"/>
              <a:t>적군의 턴 역시 마찬가지로 진행된다</a:t>
            </a:r>
            <a:r>
              <a:rPr lang="en-US" altLang="ko-KR" dirty="0" smtClean="0"/>
              <a:t>.</a:t>
            </a:r>
            <a:br>
              <a:rPr lang="en-US" altLang="ko-KR" dirty="0" smtClean="0"/>
            </a:br>
            <a:r>
              <a:rPr lang="en-US" altLang="ko-KR" dirty="0" smtClean="0"/>
              <a:t>• </a:t>
            </a:r>
            <a:r>
              <a:rPr lang="ko-KR" altLang="en-US" dirty="0" smtClean="0"/>
              <a:t>모든 아군이 행동을 마치면 적군의 턴이 진행되고</a:t>
            </a:r>
            <a:r>
              <a:rPr lang="en-US" altLang="ko-KR" dirty="0" smtClean="0"/>
              <a:t>, </a:t>
            </a:r>
            <a:r>
              <a:rPr lang="ko-KR" altLang="en-US" dirty="0" smtClean="0"/>
              <a:t>그 후 아군과 적군의 턴이  </a:t>
            </a:r>
            <a:endParaRPr lang="en-US" altLang="ko-KR" dirty="0" smtClean="0"/>
          </a:p>
          <a:p>
            <a:pPr>
              <a:lnSpc>
                <a:spcPct val="150000"/>
              </a:lnSpc>
            </a:pPr>
            <a:r>
              <a:rPr lang="en-US" altLang="ko-KR" dirty="0"/>
              <a:t> </a:t>
            </a:r>
            <a:r>
              <a:rPr lang="en-US" altLang="ko-KR" dirty="0" smtClean="0"/>
              <a:t> </a:t>
            </a:r>
            <a:r>
              <a:rPr lang="ko-KR" altLang="en-US" dirty="0" smtClean="0"/>
              <a:t>번갈아 진행된다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3" name="그룹 2"/>
          <p:cNvGrpSpPr/>
          <p:nvPr/>
        </p:nvGrpSpPr>
        <p:grpSpPr>
          <a:xfrm>
            <a:off x="1593118" y="1131783"/>
            <a:ext cx="9595581" cy="2716318"/>
            <a:chOff x="1466118" y="1102444"/>
            <a:chExt cx="9647693" cy="3691575"/>
          </a:xfrm>
        </p:grpSpPr>
        <p:sp>
          <p:nvSpPr>
            <p:cNvPr id="50" name="타원 49"/>
            <p:cNvSpPr/>
            <p:nvPr/>
          </p:nvSpPr>
          <p:spPr>
            <a:xfrm rot="1265973" flipH="1">
              <a:off x="3770640" y="409115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도넛 1"/>
            <p:cNvSpPr/>
            <p:nvPr/>
          </p:nvSpPr>
          <p:spPr>
            <a:xfrm>
              <a:off x="1979045" y="1169744"/>
              <a:ext cx="4027130" cy="3624275"/>
            </a:xfrm>
            <a:prstGeom prst="donut">
              <a:avLst>
                <a:gd name="adj" fmla="val 15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1" name="TextBox 50"/>
            <p:cNvSpPr txBox="1"/>
            <p:nvPr/>
          </p:nvSpPr>
          <p:spPr>
            <a:xfrm>
              <a:off x="1466118" y="1169744"/>
              <a:ext cx="1595010" cy="400110"/>
            </a:xfrm>
            <a:prstGeom prst="rect">
              <a:avLst/>
            </a:prstGeom>
            <a:noFill/>
          </p:spPr>
          <p:txBody>
            <a:bodyPr wrap="square" rtlCol="0">
              <a:spAutoFit/>
            </a:bodyPr>
            <a:lstStyle/>
            <a:p>
              <a:pPr algn="ctr"/>
              <a:r>
                <a:rPr lang="ko-KR" altLang="en-US" sz="2000" spc="-300" dirty="0" smtClean="0">
                  <a:solidFill>
                    <a:srgbClr val="00B050"/>
                  </a:solidFill>
                  <a:latin typeface="맑은 고딕" panose="020B0503020000020004" pitchFamily="50" charset="-127"/>
                  <a:ea typeface="맑은 고딕" panose="020B0503020000020004" pitchFamily="50" charset="-127"/>
                </a:rPr>
                <a:t>아군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2" name="도넛 51"/>
            <p:cNvSpPr/>
            <p:nvPr/>
          </p:nvSpPr>
          <p:spPr>
            <a:xfrm>
              <a:off x="6234744" y="1102444"/>
              <a:ext cx="4254541" cy="3691575"/>
            </a:xfrm>
            <a:prstGeom prst="donut">
              <a:avLst>
                <a:gd name="adj" fmla="val 151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3" name="TextBox 52"/>
            <p:cNvSpPr txBox="1"/>
            <p:nvPr/>
          </p:nvSpPr>
          <p:spPr>
            <a:xfrm>
              <a:off x="9518801" y="1169744"/>
              <a:ext cx="1595010" cy="400110"/>
            </a:xfrm>
            <a:prstGeom prst="rect">
              <a:avLst/>
            </a:prstGeom>
            <a:noFill/>
          </p:spPr>
          <p:txBody>
            <a:bodyPr wrap="square" rtlCol="0">
              <a:spAutoFit/>
            </a:bodyPr>
            <a:lstStyle/>
            <a:p>
              <a:pPr algn="ctr"/>
              <a:r>
                <a:rPr lang="ko-KR" altLang="en-US" sz="2000" spc="-300" dirty="0">
                  <a:solidFill>
                    <a:srgbClr val="7030A0"/>
                  </a:solidFill>
                  <a:latin typeface="맑은 고딕" panose="020B0503020000020004" pitchFamily="50" charset="-127"/>
                  <a:ea typeface="맑은 고딕" panose="020B0503020000020004" pitchFamily="50" charset="-127"/>
                </a:rPr>
                <a:t>적</a:t>
              </a:r>
              <a:r>
                <a:rPr lang="ko-KR" altLang="en-US" sz="2000" spc="-300" dirty="0" smtClean="0">
                  <a:solidFill>
                    <a:srgbClr val="7030A0"/>
                  </a:solidFill>
                  <a:latin typeface="맑은 고딕" panose="020B0503020000020004" pitchFamily="50" charset="-127"/>
                  <a:ea typeface="맑은 고딕" panose="020B0503020000020004" pitchFamily="50" charset="-127"/>
                </a:rPr>
                <a:t>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354371083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타원 53"/>
          <p:cNvSpPr/>
          <p:nvPr/>
        </p:nvSpPr>
        <p:spPr>
          <a:xfrm rot="1265973" flipH="1">
            <a:off x="3767419" y="4091979"/>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68</a:t>
            </a:fld>
            <a:endParaRPr lang="ko-KR" altLang="en-US" sz="1800" dirty="0"/>
          </a:p>
        </p:txBody>
      </p:sp>
      <p:sp>
        <p:nvSpPr>
          <p:cNvPr id="13" name="TextBox 12"/>
          <p:cNvSpPr txBox="1"/>
          <p:nvPr/>
        </p:nvSpPr>
        <p:spPr>
          <a:xfrm>
            <a:off x="2930030" y="4689388"/>
            <a:ext cx="7386276" cy="1754326"/>
          </a:xfrm>
          <a:prstGeom prst="rect">
            <a:avLst/>
          </a:prstGeom>
          <a:noFill/>
        </p:spPr>
        <p:txBody>
          <a:bodyPr wrap="square" rtlCol="0">
            <a:spAutoFit/>
          </a:bodyPr>
          <a:lstStyle/>
          <a:p>
            <a:pPr>
              <a:lnSpc>
                <a:spcPct val="150000"/>
              </a:lnSpc>
            </a:pPr>
            <a:r>
              <a:rPr lang="en-US" altLang="ko-KR" dirty="0" smtClean="0"/>
              <a:t>• </a:t>
            </a:r>
            <a:r>
              <a:rPr lang="ko-KR" altLang="en-US" dirty="0" smtClean="0"/>
              <a:t>플레이어는 아직 행동을 수행하지 않은</a:t>
            </a:r>
            <a:r>
              <a:rPr lang="en-US" altLang="ko-KR" dirty="0" smtClean="0"/>
              <a:t> </a:t>
            </a:r>
            <a:r>
              <a:rPr lang="ko-KR" altLang="en-US" dirty="0" smtClean="0"/>
              <a:t>아군 중 하나를 선택하여</a:t>
            </a:r>
            <a:r>
              <a:rPr lang="en-US" altLang="ko-KR" dirty="0" smtClean="0"/>
              <a:t/>
            </a:r>
            <a:br>
              <a:rPr lang="en-US" altLang="ko-KR" dirty="0" smtClean="0"/>
            </a:br>
            <a:r>
              <a:rPr lang="en-US" altLang="ko-KR" dirty="0" smtClean="0"/>
              <a:t>  </a:t>
            </a:r>
            <a:r>
              <a:rPr lang="ko-KR" altLang="en-US" dirty="0" smtClean="0"/>
              <a:t>행동을 명령한다</a:t>
            </a:r>
            <a:r>
              <a:rPr lang="en-US" altLang="ko-KR" dirty="0" smtClean="0"/>
              <a:t>. </a:t>
            </a:r>
            <a:r>
              <a:rPr lang="ko-KR" altLang="en-US" dirty="0" smtClean="0"/>
              <a:t>그 후 모든 아군이 저마다 한 개의 행동을 수행할 </a:t>
            </a:r>
            <a:endParaRPr lang="en-US" altLang="ko-KR" dirty="0" smtClean="0"/>
          </a:p>
          <a:p>
            <a:pPr>
              <a:lnSpc>
                <a:spcPct val="150000"/>
              </a:lnSpc>
            </a:pPr>
            <a:r>
              <a:rPr lang="en-US" altLang="ko-KR" dirty="0"/>
              <a:t> </a:t>
            </a:r>
            <a:r>
              <a:rPr lang="en-US" altLang="ko-KR" dirty="0" smtClean="0"/>
              <a:t> </a:t>
            </a:r>
            <a:r>
              <a:rPr lang="ko-KR" altLang="en-US" dirty="0" smtClean="0"/>
              <a:t>때까지 반복한다</a:t>
            </a:r>
            <a:r>
              <a:rPr lang="en-US" altLang="ko-KR" dirty="0" smtClean="0"/>
              <a:t>.</a:t>
            </a:r>
            <a:br>
              <a:rPr lang="en-US" altLang="ko-KR" dirty="0" smtClean="0"/>
            </a:br>
            <a:r>
              <a:rPr lang="en-US" altLang="ko-KR" dirty="0" smtClean="0"/>
              <a:t>• </a:t>
            </a:r>
            <a:r>
              <a:rPr lang="ko-KR" altLang="en-US" dirty="0" smtClean="0"/>
              <a:t>모든 아군 캐릭터가 각자의 행동을 마치면</a:t>
            </a:r>
            <a:r>
              <a:rPr lang="en-US" altLang="ko-KR" dirty="0" smtClean="0"/>
              <a:t>, </a:t>
            </a:r>
            <a:r>
              <a:rPr lang="ko-KR" altLang="en-US" dirty="0" smtClean="0"/>
              <a:t>적군의 턴으로 넘어간다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1255206">
            <a:off x="4607352" y="2300292"/>
            <a:ext cx="2769312"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0746983">
            <a:off x="3301550" y="2326010"/>
            <a:ext cx="3748625"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297992">
            <a:off x="4653426" y="3381130"/>
            <a:ext cx="2701911"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20371291">
            <a:off x="4602517" y="3419494"/>
            <a:ext cx="2689543"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05767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1" idx="2"/>
          </p:cNvCxnSpPr>
          <p:nvPr/>
        </p:nvCxnSpPr>
        <p:spPr>
          <a:xfrm rot="5400000" flipH="1">
            <a:off x="3888143" y="2986132"/>
            <a:ext cx="336666" cy="2058524"/>
          </a:xfrm>
          <a:prstGeom prst="bentConnector3">
            <a:avLst>
              <a:gd name="adj1" fmla="val -162208"/>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944814" y="4180295"/>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855010" y="316348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3404261" y="4747483"/>
            <a:ext cx="114089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명령 불가능</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86517" y="3254184"/>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턴 시작</a:t>
            </a:r>
            <a:endParaRPr lang="en-US" altLang="ko-KR" sz="1400" dirty="0" smtClean="0">
              <a:solidFill>
                <a:schemeClr val="tx1"/>
              </a:solidFill>
            </a:endParaRPr>
          </a:p>
        </p:txBody>
      </p:sp>
      <p:cxnSp>
        <p:nvCxnSpPr>
          <p:cNvPr id="159" name="직선 화살표 연결선 158"/>
          <p:cNvCxnSpPr/>
          <p:nvPr/>
        </p:nvCxnSpPr>
        <p:spPr>
          <a:xfrm>
            <a:off x="1932595"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69</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2254679" y="3249135"/>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캐릭터</a:t>
            </a:r>
            <a:endParaRPr lang="en-US" altLang="ko-KR" sz="1400" dirty="0" smtClean="0">
              <a:solidFill>
                <a:schemeClr val="tx1"/>
              </a:solidFill>
            </a:endParaRPr>
          </a:p>
          <a:p>
            <a:pPr algn="ctr"/>
            <a:r>
              <a:rPr lang="ko-KR" altLang="en-US" sz="1400" dirty="0" smtClean="0">
                <a:solidFill>
                  <a:schemeClr val="tx1"/>
                </a:solidFill>
              </a:rPr>
              <a:t>선택</a:t>
            </a:r>
            <a:endParaRPr lang="en-US" altLang="ko-KR" sz="1400" dirty="0" smtClean="0">
              <a:solidFill>
                <a:schemeClr val="tx1"/>
              </a:solidFill>
            </a:endParaRPr>
          </a:p>
        </p:txBody>
      </p:sp>
      <p:grpSp>
        <p:nvGrpSpPr>
          <p:cNvPr id="7" name="그룹 6"/>
          <p:cNvGrpSpPr/>
          <p:nvPr/>
        </p:nvGrpSpPr>
        <p:grpSpPr>
          <a:xfrm>
            <a:off x="3960184" y="2911341"/>
            <a:ext cx="2281727" cy="1272386"/>
            <a:chOff x="4711507" y="2867828"/>
            <a:chExt cx="2281727" cy="1272386"/>
          </a:xfrm>
        </p:grpSpPr>
        <p:sp>
          <p:nvSpPr>
            <p:cNvPr id="82" name="다이아몬드 81"/>
            <p:cNvSpPr/>
            <p:nvPr/>
          </p:nvSpPr>
          <p:spPr>
            <a:xfrm>
              <a:off x="4894329" y="2867828"/>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4711507" y="3214037"/>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마쳤는가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43" name="직선 화살표 연결선 42"/>
          <p:cNvCxnSpPr/>
          <p:nvPr/>
        </p:nvCxnSpPr>
        <p:spPr>
          <a:xfrm>
            <a:off x="3810707"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4" name="직선 화살표 연결선 43"/>
          <p:cNvCxnSpPr/>
          <p:nvPr/>
        </p:nvCxnSpPr>
        <p:spPr>
          <a:xfrm>
            <a:off x="6034589" y="3560234"/>
            <a:ext cx="414563" cy="1001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6446697" y="3244271"/>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grpSp>
        <p:nvGrpSpPr>
          <p:cNvPr id="15" name="그룹 14"/>
          <p:cNvGrpSpPr/>
          <p:nvPr/>
        </p:nvGrpSpPr>
        <p:grpSpPr>
          <a:xfrm>
            <a:off x="8126905" y="2936741"/>
            <a:ext cx="2281727" cy="1272386"/>
            <a:chOff x="8253905" y="2936741"/>
            <a:chExt cx="2281727" cy="1272386"/>
          </a:xfrm>
        </p:grpSpPr>
        <p:sp>
          <p:nvSpPr>
            <p:cNvPr id="50" name="다이아몬드 49"/>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8253905" y="3271161"/>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모 든  캐릭터 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 쳤 는 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52" name="직선 화살표 연결선 51"/>
          <p:cNvCxnSpPr/>
          <p:nvPr/>
        </p:nvCxnSpPr>
        <p:spPr>
          <a:xfrm>
            <a:off x="7997031" y="357279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순서도: 문서 18"/>
          <p:cNvSpPr/>
          <p:nvPr/>
        </p:nvSpPr>
        <p:spPr>
          <a:xfrm>
            <a:off x="10605416" y="3181745"/>
            <a:ext cx="1320800" cy="807778"/>
          </a:xfrm>
          <a:prstGeom prst="flowChart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t>아군 턴 종료</a:t>
            </a:r>
            <a:endParaRPr lang="ko-KR" altLang="en-US" sz="1400" dirty="0"/>
          </a:p>
        </p:txBody>
      </p:sp>
      <p:cxnSp>
        <p:nvCxnSpPr>
          <p:cNvPr id="69" name="꺾인 연결선 68"/>
          <p:cNvCxnSpPr>
            <a:stCxn id="50" idx="0"/>
            <a:endCxn id="41" idx="0"/>
          </p:cNvCxnSpPr>
          <p:nvPr/>
        </p:nvCxnSpPr>
        <p:spPr>
          <a:xfrm rot="16200000" flipH="1" flipV="1">
            <a:off x="5991294" y="-27339"/>
            <a:ext cx="312394" cy="6240554"/>
          </a:xfrm>
          <a:prstGeom prst="bentConnector3">
            <a:avLst>
              <a:gd name="adj1" fmla="val -182943"/>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 턴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3" name="직선 화살표 연결선 82"/>
          <p:cNvCxnSpPr>
            <a:endCxn id="19" idx="1"/>
          </p:cNvCxnSpPr>
          <p:nvPr/>
        </p:nvCxnSpPr>
        <p:spPr>
          <a:xfrm>
            <a:off x="10205274" y="3585634"/>
            <a:ext cx="40014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10015768" y="323324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8" name="TextBox 87"/>
          <p:cNvSpPr txBox="1"/>
          <p:nvPr/>
        </p:nvSpPr>
        <p:spPr>
          <a:xfrm>
            <a:off x="9248775" y="2514560"/>
            <a:ext cx="568325"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9" name="TextBox 88"/>
          <p:cNvSpPr txBox="1"/>
          <p:nvPr/>
        </p:nvSpPr>
        <p:spPr>
          <a:xfrm>
            <a:off x="5496181" y="2030714"/>
            <a:ext cx="1491378" cy="338554"/>
          </a:xfrm>
          <a:prstGeom prst="rect">
            <a:avLst/>
          </a:prstGeom>
          <a:noFill/>
        </p:spPr>
        <p:txBody>
          <a:bodyPr wrap="square" rtlCol="0">
            <a:spAutoFit/>
          </a:bodyPr>
          <a:lstStyle/>
          <a:p>
            <a:pPr algn="ctr"/>
            <a:r>
              <a:rPr lang="ko-KR" altLang="en-US" sz="1600"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다른 개체 선택</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2400558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타원 47"/>
          <p:cNvSpPr/>
          <p:nvPr/>
        </p:nvSpPr>
        <p:spPr>
          <a:xfrm rot="1265973" flipH="1">
            <a:off x="3757787" y="410427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a:gradFill>
                  <a:gsLst>
                    <a:gs pos="0">
                      <a:schemeClr val="tx1"/>
                    </a:gs>
                    <a:gs pos="100000">
                      <a:schemeClr val="tx1"/>
                    </a:gs>
                  </a:gsLst>
                  <a:lin ang="5400000" scaled="1"/>
                </a:gradFill>
                <a:latin typeface="맑은 고딕" panose="020B0503020000020004" pitchFamily="50" charset="-127"/>
              </a:rPr>
              <a:t>적</a:t>
            </a:r>
            <a:r>
              <a:rPr lang="ko-KR" altLang="en-US" sz="3200" b="1" dirty="0" smtClean="0">
                <a:gradFill>
                  <a:gsLst>
                    <a:gs pos="0">
                      <a:schemeClr val="tx1"/>
                    </a:gs>
                    <a:gs pos="100000">
                      <a:schemeClr val="tx1"/>
                    </a:gs>
                  </a:gsLst>
                  <a:lin ang="5400000" scaled="1"/>
                </a:gradFill>
                <a:latin typeface="맑은 고딕" panose="020B0503020000020004" pitchFamily="50" charset="-127"/>
              </a:rPr>
              <a:t>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70</a:t>
            </a:fld>
            <a:endParaRPr lang="ko-KR" altLang="en-US" sz="1800" dirty="0"/>
          </a:p>
        </p:txBody>
      </p:sp>
      <p:sp>
        <p:nvSpPr>
          <p:cNvPr id="13" name="TextBox 12"/>
          <p:cNvSpPr txBox="1"/>
          <p:nvPr/>
        </p:nvSpPr>
        <p:spPr>
          <a:xfrm>
            <a:off x="2930030" y="4689388"/>
            <a:ext cx="7386276" cy="1754326"/>
          </a:xfrm>
          <a:prstGeom prst="rect">
            <a:avLst/>
          </a:prstGeom>
          <a:noFill/>
        </p:spPr>
        <p:txBody>
          <a:bodyPr wrap="square" rtlCol="0">
            <a:spAutoFit/>
          </a:bodyPr>
          <a:lstStyle/>
          <a:p>
            <a:pPr>
              <a:lnSpc>
                <a:spcPct val="150000"/>
              </a:lnSpc>
            </a:pPr>
            <a:r>
              <a:rPr lang="en-US" altLang="ko-KR" dirty="0" smtClean="0"/>
              <a:t>• </a:t>
            </a:r>
            <a:r>
              <a:rPr lang="ko-KR" altLang="en-US" dirty="0" smtClean="0"/>
              <a:t>공격</a:t>
            </a:r>
            <a:r>
              <a:rPr lang="en-US" altLang="ko-KR" dirty="0" smtClean="0"/>
              <a:t>, </a:t>
            </a:r>
            <a:r>
              <a:rPr lang="ko-KR" altLang="en-US" dirty="0" smtClean="0"/>
              <a:t>특수 중 하나의 행동을 취한다</a:t>
            </a:r>
            <a:r>
              <a:rPr lang="en-US" altLang="ko-KR" dirty="0" smtClean="0"/>
              <a:t>.</a:t>
            </a:r>
            <a:br>
              <a:rPr lang="en-US" altLang="ko-KR" dirty="0" smtClean="0"/>
            </a:br>
            <a:r>
              <a:rPr lang="en-US" altLang="ko-KR" dirty="0" smtClean="0"/>
              <a:t>• </a:t>
            </a:r>
            <a:r>
              <a:rPr lang="ko-KR" altLang="en-US" dirty="0" smtClean="0"/>
              <a:t>위치에 따라 위에서 아래로</a:t>
            </a:r>
            <a:r>
              <a:rPr lang="en-US" altLang="ko-KR" dirty="0" smtClean="0"/>
              <a:t>, </a:t>
            </a:r>
            <a:r>
              <a:rPr lang="ko-KR" altLang="en-US" dirty="0" smtClean="0"/>
              <a:t>왼쪽에서 오른쪽으로 차례를 수행한다</a:t>
            </a:r>
            <a:r>
              <a:rPr lang="en-US" altLang="ko-KR" dirty="0" smtClean="0"/>
              <a:t>.</a:t>
            </a:r>
          </a:p>
          <a:p>
            <a:pPr>
              <a:lnSpc>
                <a:spcPct val="150000"/>
              </a:lnSpc>
            </a:pPr>
            <a:r>
              <a:rPr lang="en-US" altLang="ko-KR" dirty="0"/>
              <a:t>• </a:t>
            </a:r>
            <a:r>
              <a:rPr lang="ko-KR" altLang="en-US" dirty="0" smtClean="0"/>
              <a:t>적은 우선 순위에 따라 인공지능으로 행동한다</a:t>
            </a:r>
            <a:r>
              <a:rPr lang="en-US" altLang="ko-KR" dirty="0" smtClean="0"/>
              <a:t>.</a:t>
            </a:r>
            <a:br>
              <a:rPr lang="en-US" altLang="ko-KR" dirty="0" smtClean="0"/>
            </a:br>
            <a:r>
              <a:rPr lang="en-US" altLang="ko-KR" dirty="0" smtClean="0"/>
              <a:t>• </a:t>
            </a:r>
            <a:r>
              <a:rPr lang="ko-KR" altLang="en-US" dirty="0" smtClean="0"/>
              <a:t>모든 적군 개체가 각자의 행동을 마치면</a:t>
            </a:r>
            <a:r>
              <a:rPr lang="en-US" altLang="ko-KR" dirty="0" smtClean="0"/>
              <a:t>, </a:t>
            </a:r>
            <a:r>
              <a:rPr lang="ko-KR" altLang="en-US" dirty="0" smtClean="0"/>
              <a:t>아군의 턴이 돌아온다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20858472" flipH="1">
            <a:off x="3234368" y="2367194"/>
            <a:ext cx="3954968"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32648" flipH="1">
            <a:off x="4656310" y="1741759"/>
            <a:ext cx="4470219"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20302008" flipH="1">
            <a:off x="4653426" y="3381130"/>
            <a:ext cx="2701911"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1228709" flipH="1">
            <a:off x="4600994" y="3451724"/>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531830" flipH="1">
            <a:off x="4637113" y="3108850"/>
            <a:ext cx="4285383"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0" name="타원 49"/>
          <p:cNvSpPr/>
          <p:nvPr/>
        </p:nvSpPr>
        <p:spPr>
          <a:xfrm>
            <a:off x="7945775" y="1440905"/>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54" name="타원 53"/>
          <p:cNvSpPr/>
          <p:nvPr/>
        </p:nvSpPr>
        <p:spPr>
          <a:xfrm>
            <a:off x="9703961" y="1791650"/>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55" name="타원 54"/>
          <p:cNvSpPr/>
          <p:nvPr/>
        </p:nvSpPr>
        <p:spPr>
          <a:xfrm>
            <a:off x="7890910" y="254158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56" name="타원 55"/>
          <p:cNvSpPr/>
          <p:nvPr/>
        </p:nvSpPr>
        <p:spPr>
          <a:xfrm>
            <a:off x="9652639" y="311410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4</a:t>
            </a:r>
            <a:endParaRPr lang="ko-KR" altLang="en-US" dirty="0"/>
          </a:p>
        </p:txBody>
      </p:sp>
      <p:sp>
        <p:nvSpPr>
          <p:cNvPr id="57" name="타원 56"/>
          <p:cNvSpPr/>
          <p:nvPr/>
        </p:nvSpPr>
        <p:spPr>
          <a:xfrm>
            <a:off x="7862169" y="36470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5</a:t>
            </a:r>
            <a:endParaRPr lang="ko-KR" altLang="en-US" dirty="0"/>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p:cNvSpPr txBox="1"/>
          <p:nvPr/>
        </p:nvSpPr>
        <p:spPr>
          <a:xfrm>
            <a:off x="8144135" y="1176564"/>
            <a:ext cx="89032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차례 순서</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067250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이등변 삼각형 15"/>
          <p:cNvSpPr/>
          <p:nvPr/>
        </p:nvSpPr>
        <p:spPr>
          <a:xfrm rot="19319858">
            <a:off x="2249693" y="2829209"/>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p:cNvSpPr/>
          <p:nvPr/>
        </p:nvSpPr>
        <p:spPr>
          <a:xfrm>
            <a:off x="2491470" y="2617667"/>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 name="오른쪽 화살표 2"/>
          <p:cNvSpPr/>
          <p:nvPr/>
        </p:nvSpPr>
        <p:spPr>
          <a:xfrm rot="20858472" flipH="1">
            <a:off x="3201522" y="2376565"/>
            <a:ext cx="4091815"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p:cNvSpPr/>
          <p:nvPr/>
        </p:nvSpPr>
        <p:spPr>
          <a:xfrm rot="1265973" flipH="1">
            <a:off x="3759034" y="410259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설정</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71</a:t>
            </a:fld>
            <a:endParaRPr lang="ko-KR" altLang="en-US" sz="1800" dirty="0"/>
          </a:p>
        </p:txBody>
      </p:sp>
      <p:sp>
        <p:nvSpPr>
          <p:cNvPr id="13" name="TextBox 12"/>
          <p:cNvSpPr txBox="1"/>
          <p:nvPr/>
        </p:nvSpPr>
        <p:spPr>
          <a:xfrm>
            <a:off x="2502346" y="4713126"/>
            <a:ext cx="7962454" cy="1754326"/>
          </a:xfrm>
          <a:prstGeom prst="rect">
            <a:avLst/>
          </a:prstGeom>
          <a:noFill/>
        </p:spPr>
        <p:txBody>
          <a:bodyPr wrap="square" rtlCol="0">
            <a:spAutoFit/>
          </a:bodyPr>
          <a:lstStyle/>
          <a:p>
            <a:pPr>
              <a:lnSpc>
                <a:spcPct val="150000"/>
              </a:lnSpc>
            </a:pPr>
            <a:r>
              <a:rPr lang="en-US" altLang="ko-KR" dirty="0"/>
              <a:t>• </a:t>
            </a:r>
            <a:r>
              <a:rPr lang="ko-KR" altLang="en-US" dirty="0" smtClean="0"/>
              <a:t>적 몬스터가 공격을 실행할 때</a:t>
            </a:r>
            <a:r>
              <a:rPr lang="en-US" altLang="ko-KR" dirty="0" smtClean="0"/>
              <a:t>, </a:t>
            </a:r>
            <a:r>
              <a:rPr lang="ko-KR" altLang="en-US" dirty="0" smtClean="0"/>
              <a:t>아군 캐릭터의 상태와 공격자의 정보 등을 </a:t>
            </a:r>
            <a:endParaRPr lang="en-US" altLang="ko-KR" dirty="0" smtClean="0"/>
          </a:p>
          <a:p>
            <a:pPr>
              <a:lnSpc>
                <a:spcPct val="150000"/>
              </a:lnSpc>
            </a:pPr>
            <a:r>
              <a:rPr lang="en-US" altLang="ko-KR" dirty="0"/>
              <a:t> </a:t>
            </a:r>
            <a:r>
              <a:rPr lang="en-US" altLang="ko-KR" dirty="0" smtClean="0"/>
              <a:t> </a:t>
            </a:r>
            <a:r>
              <a:rPr lang="ko-KR" altLang="en-US" dirty="0" smtClean="0"/>
              <a:t>토대로 항목마다 점수를 매긴 후</a:t>
            </a:r>
            <a:r>
              <a:rPr lang="en-US" altLang="ko-KR" dirty="0" smtClean="0"/>
              <a:t>, </a:t>
            </a:r>
            <a:r>
              <a:rPr lang="ko-KR" altLang="en-US" dirty="0" smtClean="0"/>
              <a:t>가장 높은 점수가 나온 아군 캐릭터를 </a:t>
            </a:r>
            <a:r>
              <a:rPr lang="en-US" altLang="ko-KR" dirty="0" smtClean="0"/>
              <a:t/>
            </a:r>
            <a:br>
              <a:rPr lang="en-US" altLang="ko-KR" dirty="0" smtClean="0"/>
            </a:br>
            <a:r>
              <a:rPr lang="en-US" altLang="ko-KR" dirty="0" smtClean="0"/>
              <a:t>  </a:t>
            </a:r>
            <a:r>
              <a:rPr lang="ko-KR" altLang="en-US" dirty="0" smtClean="0"/>
              <a:t>우선하여 공격하게 된다</a:t>
            </a:r>
            <a:r>
              <a:rPr lang="en-US" altLang="ko-KR" dirty="0" smtClean="0"/>
              <a:t>.</a:t>
            </a:r>
            <a:br>
              <a:rPr lang="en-US" altLang="ko-KR" dirty="0" smtClean="0"/>
            </a:br>
            <a:r>
              <a:rPr lang="en-US" altLang="ko-KR" dirty="0" smtClean="0"/>
              <a:t>• </a:t>
            </a:r>
            <a:r>
              <a:rPr lang="ko-KR" altLang="en-US" dirty="0" smtClean="0"/>
              <a:t>동점일 경우</a:t>
            </a:r>
            <a:r>
              <a:rPr lang="en-US" altLang="ko-KR" dirty="0" smtClean="0"/>
              <a:t>, </a:t>
            </a:r>
            <a:r>
              <a:rPr lang="ko-KR" altLang="en-US" dirty="0" err="1" smtClean="0"/>
              <a:t>동점자</a:t>
            </a:r>
            <a:r>
              <a:rPr lang="ko-KR" altLang="en-US" dirty="0" smtClean="0"/>
              <a:t> 중 무작위로 한 캐릭터를 공격하게 된다</a:t>
            </a:r>
            <a:r>
              <a:rPr lang="en-US" altLang="ko-KR" dirty="0" smtClean="0"/>
              <a:t>.</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이등변 삼각형 19"/>
          <p:cNvSpPr/>
          <p:nvPr/>
        </p:nvSpPr>
        <p:spPr>
          <a:xfrm rot="2940484">
            <a:off x="8008154" y="18675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6232" y="2158125"/>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8155" y="291600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4777" y="345671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8154" y="39779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9034" y="2997392"/>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2700" y="1987279"/>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7446" y="1575024"/>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7446" y="370949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4" name="이등변 삼각형 33"/>
          <p:cNvSpPr/>
          <p:nvPr/>
        </p:nvSpPr>
        <p:spPr>
          <a:xfrm>
            <a:off x="6874194" y="36875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40818" y="1867693"/>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40818" y="316627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8240" y="149104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7030" y="244682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6183" y="253023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6183" y="362775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61178" y="35715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5703" y="304562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5703" y="174487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9079" y="145509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61178" y="250131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7030" y="2497360"/>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3887446" y="2617667"/>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215038" flipH="1">
            <a:off x="4666999" y="1870679"/>
            <a:ext cx="2512442"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4194" y="262099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3" name="오른쪽 화살표 52"/>
          <p:cNvSpPr/>
          <p:nvPr/>
        </p:nvSpPr>
        <p:spPr>
          <a:xfrm rot="20565422" flipH="1">
            <a:off x="4560850" y="2359223"/>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9569313" flipH="1">
            <a:off x="4306460" y="2877991"/>
            <a:ext cx="3220010"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4194" y="157502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TextBox 48"/>
          <p:cNvSpPr txBox="1"/>
          <p:nvPr/>
        </p:nvSpPr>
        <p:spPr>
          <a:xfrm>
            <a:off x="5441296" y="1853165"/>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45</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0" name="TextBox 49"/>
          <p:cNvSpPr txBox="1"/>
          <p:nvPr/>
        </p:nvSpPr>
        <p:spPr>
          <a:xfrm>
            <a:off x="5454519" y="3006961"/>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37</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479224" y="2422248"/>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68</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5" name="TextBox 54"/>
          <p:cNvSpPr txBox="1"/>
          <p:nvPr/>
        </p:nvSpPr>
        <p:spPr>
          <a:xfrm>
            <a:off x="4781471" y="2409302"/>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6" name="도넛 55"/>
          <p:cNvSpPr/>
          <p:nvPr/>
        </p:nvSpPr>
        <p:spPr>
          <a:xfrm>
            <a:off x="5393063" y="2299897"/>
            <a:ext cx="674307" cy="666067"/>
          </a:xfrm>
          <a:prstGeom prst="donut">
            <a:avLst>
              <a:gd name="adj" fmla="val 72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1563440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항목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72</a:t>
            </a:fld>
            <a:endParaRPr lang="ko-KR" altLang="en-US" sz="1800" dirty="0"/>
          </a:p>
        </p:txBody>
      </p:sp>
      <p:sp>
        <p:nvSpPr>
          <p:cNvPr id="13" name="TextBox 12"/>
          <p:cNvSpPr txBox="1"/>
          <p:nvPr/>
        </p:nvSpPr>
        <p:spPr>
          <a:xfrm>
            <a:off x="3277046" y="1485669"/>
            <a:ext cx="6146354" cy="4247317"/>
          </a:xfrm>
          <a:prstGeom prst="rect">
            <a:avLst/>
          </a:prstGeom>
          <a:noFill/>
        </p:spPr>
        <p:txBody>
          <a:bodyPr wrap="square" rtlCol="0">
            <a:spAutoFit/>
          </a:bodyPr>
          <a:lstStyle/>
          <a:p>
            <a:pPr marL="342900" indent="-342900">
              <a:lnSpc>
                <a:spcPct val="150000"/>
              </a:lnSpc>
              <a:buAutoNum type="arabicParenR"/>
            </a:pPr>
            <a:r>
              <a:rPr lang="ko-KR" altLang="en-US" dirty="0" smtClean="0"/>
              <a:t>자신이 상대방에게 유리한 상성일 때 </a:t>
            </a:r>
            <a:r>
              <a:rPr lang="en-US" altLang="ko-KR" dirty="0"/>
              <a:t>:</a:t>
            </a:r>
            <a:r>
              <a:rPr lang="en-US" altLang="ko-KR" dirty="0" smtClean="0"/>
              <a:t> +30</a:t>
            </a:r>
          </a:p>
          <a:p>
            <a:pPr marL="342900" indent="-342900">
              <a:lnSpc>
                <a:spcPct val="150000"/>
              </a:lnSpc>
              <a:buAutoNum type="arabicParenR"/>
            </a:pPr>
            <a:r>
              <a:rPr lang="ko-KR" altLang="en-US" dirty="0" smtClean="0"/>
              <a:t>자신이 상대방과 상성 관계가 없을 때 </a:t>
            </a:r>
            <a:r>
              <a:rPr lang="en-US" altLang="ko-KR" dirty="0"/>
              <a:t>: </a:t>
            </a:r>
            <a:r>
              <a:rPr lang="en-US" altLang="ko-KR" dirty="0" smtClean="0"/>
              <a:t>+10</a:t>
            </a:r>
          </a:p>
          <a:p>
            <a:pPr marL="342900" indent="-342900">
              <a:lnSpc>
                <a:spcPct val="150000"/>
              </a:lnSpc>
              <a:buAutoNum type="arabicParenR"/>
            </a:pPr>
            <a:r>
              <a:rPr lang="ko-KR" altLang="en-US" dirty="0" smtClean="0"/>
              <a:t>상대방의 체력이 </a:t>
            </a:r>
            <a:r>
              <a:rPr lang="en-US" altLang="ko-KR" dirty="0" smtClean="0"/>
              <a:t>50% </a:t>
            </a:r>
            <a:r>
              <a:rPr lang="ko-KR" altLang="en-US" dirty="0" smtClean="0"/>
              <a:t>미만일 때 </a:t>
            </a:r>
            <a:r>
              <a:rPr lang="en-US" altLang="ko-KR" dirty="0"/>
              <a:t>: </a:t>
            </a:r>
            <a:r>
              <a:rPr lang="en-US" altLang="ko-KR" dirty="0" smtClean="0"/>
              <a:t>+15</a:t>
            </a:r>
          </a:p>
          <a:p>
            <a:pPr marL="342900" indent="-342900">
              <a:lnSpc>
                <a:spcPct val="150000"/>
              </a:lnSpc>
              <a:buAutoNum type="arabicParenR"/>
            </a:pPr>
            <a:r>
              <a:rPr lang="ko-KR" altLang="en-US" dirty="0" smtClean="0"/>
              <a:t>상대방이 최근에 자신에게 피해를 입혔을 때 </a:t>
            </a:r>
            <a:r>
              <a:rPr lang="en-US" altLang="ko-KR" dirty="0" smtClean="0"/>
              <a:t>:</a:t>
            </a:r>
            <a:r>
              <a:rPr lang="en-US" altLang="ko-KR" dirty="0"/>
              <a:t> </a:t>
            </a:r>
            <a:r>
              <a:rPr lang="en-US" altLang="ko-KR" dirty="0" smtClean="0"/>
              <a:t>+10</a:t>
            </a:r>
          </a:p>
          <a:p>
            <a:pPr marL="342900" indent="-342900">
              <a:lnSpc>
                <a:spcPct val="150000"/>
              </a:lnSpc>
              <a:buAutoNum type="arabicParenR"/>
            </a:pPr>
            <a:r>
              <a:rPr lang="ko-KR" altLang="en-US" dirty="0" smtClean="0"/>
              <a:t>상대방이 </a:t>
            </a:r>
            <a:r>
              <a:rPr lang="ko-KR" altLang="en-US" dirty="0" err="1" smtClean="0"/>
              <a:t>디버프를</a:t>
            </a:r>
            <a:r>
              <a:rPr lang="ko-KR" altLang="en-US" dirty="0" smtClean="0"/>
              <a:t> 보유하고 있을 때</a:t>
            </a:r>
            <a:r>
              <a:rPr lang="en-US" altLang="ko-KR" dirty="0" smtClean="0"/>
              <a:t>, 1</a:t>
            </a:r>
            <a:r>
              <a:rPr lang="ko-KR" altLang="en-US" dirty="0" smtClean="0"/>
              <a:t>개당 </a:t>
            </a:r>
            <a:r>
              <a:rPr lang="en-US" altLang="ko-KR" dirty="0"/>
              <a:t>: </a:t>
            </a:r>
            <a:r>
              <a:rPr lang="en-US" altLang="ko-KR" dirty="0" smtClean="0"/>
              <a:t>+5</a:t>
            </a:r>
          </a:p>
          <a:p>
            <a:pPr marL="342900" indent="-342900">
              <a:lnSpc>
                <a:spcPct val="150000"/>
              </a:lnSpc>
              <a:buAutoNum type="arabicParenR"/>
            </a:pPr>
            <a:r>
              <a:rPr lang="ko-KR" altLang="en-US" dirty="0" smtClean="0"/>
              <a:t>상대방의 타입이 </a:t>
            </a:r>
            <a:r>
              <a:rPr lang="ko-KR" altLang="en-US" dirty="0" err="1" smtClean="0"/>
              <a:t>체력형일</a:t>
            </a:r>
            <a:r>
              <a:rPr lang="ko-KR" altLang="en-US" dirty="0" smtClean="0"/>
              <a:t> 때 </a:t>
            </a:r>
            <a:r>
              <a:rPr lang="en-US" altLang="ko-KR" dirty="0" smtClean="0"/>
              <a:t>: +10</a:t>
            </a:r>
          </a:p>
          <a:p>
            <a:pPr marL="342900" indent="-342900">
              <a:lnSpc>
                <a:spcPct val="150000"/>
              </a:lnSpc>
              <a:buAutoNum type="arabicParenR"/>
            </a:pPr>
            <a:r>
              <a:rPr lang="ko-KR" altLang="en-US" dirty="0" smtClean="0"/>
              <a:t>상대방의 타입이 보조형일 때 </a:t>
            </a:r>
            <a:r>
              <a:rPr lang="en-US" altLang="ko-KR" dirty="0" smtClean="0"/>
              <a:t>: +5</a:t>
            </a:r>
          </a:p>
          <a:p>
            <a:pPr marL="342900" indent="-342900">
              <a:lnSpc>
                <a:spcPct val="150000"/>
              </a:lnSpc>
              <a:buAutoNum type="arabicParenR"/>
            </a:pPr>
            <a:r>
              <a:rPr lang="ko-KR" altLang="en-US" dirty="0" smtClean="0"/>
              <a:t>상대방이 아군에게 가장 높은 피해를 주었을 때 </a:t>
            </a:r>
            <a:r>
              <a:rPr lang="en-US" altLang="ko-KR" dirty="0" smtClean="0"/>
              <a:t>: +20</a:t>
            </a:r>
          </a:p>
          <a:p>
            <a:pPr marL="342900" indent="-342900">
              <a:lnSpc>
                <a:spcPct val="150000"/>
              </a:lnSpc>
              <a:buAutoNum type="arabicParenR"/>
            </a:pPr>
            <a:r>
              <a:rPr lang="ko-KR" altLang="en-US" dirty="0" smtClean="0"/>
              <a:t>상대방이 최근에 적군에게 버프를 주었을 때 </a:t>
            </a:r>
            <a:r>
              <a:rPr lang="en-US" altLang="ko-KR" dirty="0" smtClean="0"/>
              <a:t>: +10</a:t>
            </a:r>
          </a:p>
          <a:p>
            <a:pPr marL="342900" indent="-342900">
              <a:lnSpc>
                <a:spcPct val="150000"/>
              </a:lnSpc>
              <a:buAutoNum type="arabicParenR"/>
            </a:pPr>
            <a:r>
              <a:rPr lang="en-US" altLang="ko-KR" dirty="0" smtClean="0"/>
              <a:t> </a:t>
            </a:r>
            <a:r>
              <a:rPr lang="ko-KR" altLang="en-US" dirty="0" smtClean="0"/>
              <a:t>상대방이 최근에 적군을 회복시켜 주었을 때 </a:t>
            </a:r>
            <a:r>
              <a:rPr lang="en-US" altLang="ko-KR" dirty="0" smtClean="0"/>
              <a:t>: +15</a:t>
            </a:r>
            <a:endParaRPr lang="en-US" altLang="ko-KR"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7190546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다이아몬드 81"/>
          <p:cNvSpPr/>
          <p:nvPr/>
        </p:nvSpPr>
        <p:spPr>
          <a:xfrm>
            <a:off x="162820" y="2678107"/>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92204" y="2989392"/>
            <a:ext cx="2026561"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j-ea"/>
                <a:ea typeface="+mj-ea"/>
              </a:rPr>
              <a:t>아군 체력이  </a:t>
            </a:r>
            <a:r>
              <a:rPr lang="en-US" altLang="ko-KR" sz="1400" spc="-300" dirty="0">
                <a:gradFill>
                  <a:gsLst>
                    <a:gs pos="0">
                      <a:schemeClr val="tx1"/>
                    </a:gs>
                    <a:gs pos="100000">
                      <a:schemeClr val="tx1"/>
                    </a:gs>
                  </a:gsLst>
                  <a:lin ang="5400000" scaled="1"/>
                </a:gradFill>
                <a:latin typeface="+mj-ea"/>
                <a:ea typeface="+mj-ea"/>
              </a:rPr>
              <a:t>6</a:t>
            </a:r>
            <a:r>
              <a:rPr lang="en-US" altLang="ko-KR" sz="1400" spc="-300" dirty="0" smtClean="0">
                <a:gradFill>
                  <a:gsLst>
                    <a:gs pos="0">
                      <a:schemeClr val="tx1"/>
                    </a:gs>
                    <a:gs pos="100000">
                      <a:schemeClr val="tx1"/>
                    </a:gs>
                  </a:gsLst>
                  <a:lin ang="5400000" scaled="1"/>
                </a:gradFill>
                <a:latin typeface="+mj-ea"/>
                <a:ea typeface="+mj-ea"/>
              </a:rPr>
              <a:t> 0 %  </a:t>
            </a:r>
          </a:p>
          <a:p>
            <a:pPr algn="ctr"/>
            <a:r>
              <a:rPr lang="ko-KR" altLang="en-US" sz="1400" spc="-300" dirty="0" smtClean="0">
                <a:gradFill>
                  <a:gsLst>
                    <a:gs pos="0">
                      <a:schemeClr val="tx1"/>
                    </a:gs>
                    <a:gs pos="100000">
                      <a:schemeClr val="tx1"/>
                    </a:gs>
                  </a:gsLst>
                  <a:lin ang="5400000" scaled="1"/>
                </a:gradFill>
                <a:latin typeface="+mj-ea"/>
                <a:ea typeface="+mj-ea"/>
              </a:rPr>
              <a:t>이 하이며 </a:t>
            </a:r>
            <a:r>
              <a:rPr lang="en-US" altLang="ko-KR" sz="1400" spc="-300" dirty="0" smtClean="0">
                <a:gradFill>
                  <a:gsLst>
                    <a:gs pos="0">
                      <a:schemeClr val="tx1"/>
                    </a:gs>
                    <a:gs pos="100000">
                      <a:schemeClr val="tx1"/>
                    </a:gs>
                  </a:gsLst>
                  <a:lin ang="5400000" scaled="1"/>
                </a:gradFill>
                <a:latin typeface="+mj-ea"/>
                <a:ea typeface="+mj-ea"/>
              </a:rPr>
              <a:t>,  </a:t>
            </a:r>
            <a:r>
              <a:rPr lang="ko-KR" altLang="en-US" sz="1400" spc="-300" dirty="0" smtClean="0">
                <a:gradFill>
                  <a:gsLst>
                    <a:gs pos="0">
                      <a:schemeClr val="tx1"/>
                    </a:gs>
                    <a:gs pos="100000">
                      <a:schemeClr val="tx1"/>
                    </a:gs>
                  </a:gsLst>
                  <a:lin ang="5400000" scaled="1"/>
                </a:gradFill>
                <a:latin typeface="+mj-ea"/>
                <a:ea typeface="+mj-ea"/>
              </a:rPr>
              <a:t>회복 스킬이 </a:t>
            </a:r>
            <a:endParaRPr lang="en-US" altLang="ko-KR" sz="1400" spc="-300" dirty="0" smtClean="0">
              <a:gradFill>
                <a:gsLst>
                  <a:gs pos="0">
                    <a:schemeClr val="tx1"/>
                  </a:gs>
                  <a:gs pos="100000">
                    <a:schemeClr val="tx1"/>
                  </a:gs>
                </a:gsLst>
                <a:lin ang="5400000" scaled="1"/>
              </a:gradFill>
              <a:latin typeface="+mj-ea"/>
              <a:ea typeface="+mj-ea"/>
            </a:endParaRPr>
          </a:p>
          <a:p>
            <a:pPr algn="ctr"/>
            <a:r>
              <a:rPr lang="ko-KR" altLang="en-US" sz="1400" spc="-300" dirty="0" smtClean="0">
                <a:gradFill>
                  <a:gsLst>
                    <a:gs pos="0">
                      <a:schemeClr val="tx1"/>
                    </a:gs>
                    <a:gs pos="100000">
                      <a:schemeClr val="tx1"/>
                    </a:gs>
                  </a:gsLst>
                  <a:lin ang="5400000" scaled="1"/>
                </a:gradFill>
                <a:latin typeface="+mj-ea"/>
                <a:ea typeface="+mj-ea"/>
              </a:rPr>
              <a:t>사용 가능한가 </a:t>
            </a:r>
            <a:r>
              <a:rPr lang="en-US" altLang="ko-KR" sz="1400" spc="-300" dirty="0" smtClean="0">
                <a:gradFill>
                  <a:gsLst>
                    <a:gs pos="0">
                      <a:schemeClr val="tx1"/>
                    </a:gs>
                    <a:gs pos="100000">
                      <a:schemeClr val="tx1"/>
                    </a:gs>
                  </a:gsLst>
                  <a:lin ang="5400000" scaled="1"/>
                </a:gradFill>
                <a:latin typeface="+mj-ea"/>
                <a:ea typeface="+mj-ea"/>
              </a:rPr>
              <a:t>?</a:t>
            </a:r>
            <a:endParaRPr lang="ko-KR" altLang="en-US" sz="1400" spc="-300" dirty="0">
              <a:gradFill>
                <a:gsLst>
                  <a:gs pos="0">
                    <a:schemeClr val="tx1"/>
                  </a:gs>
                  <a:gs pos="100000">
                    <a:schemeClr val="tx1"/>
                  </a:gs>
                </a:gsLst>
                <a:lin ang="5400000" scaled="1"/>
              </a:gradFill>
              <a:latin typeface="+mj-ea"/>
              <a:ea typeface="+mj-ea"/>
            </a:endParaRPr>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8" idx="0"/>
          </p:cNvCxnSpPr>
          <p:nvPr/>
        </p:nvCxnSpPr>
        <p:spPr>
          <a:xfrm rot="16200000" flipH="1">
            <a:off x="3908222" y="1147822"/>
            <a:ext cx="1291682" cy="689702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75141" y="387699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1830473" y="298939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650461" y="4730229"/>
            <a:ext cx="142817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해당 스킬 사용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35628" y="100996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a:solidFill>
                  <a:schemeClr val="tx1"/>
                </a:solidFill>
              </a:rPr>
              <a:t>적</a:t>
            </a:r>
            <a:r>
              <a:rPr lang="ko-KR" altLang="en-US" sz="1400" dirty="0" smtClean="0">
                <a:solidFill>
                  <a:schemeClr val="tx1"/>
                </a:solidFill>
              </a:rPr>
              <a:t>군 턴 시작</a:t>
            </a:r>
            <a:endParaRPr lang="en-US" altLang="ko-KR" sz="1400" dirty="0" smtClean="0">
              <a:solidFill>
                <a:schemeClr val="tx1"/>
              </a:solidFill>
            </a:endParaRPr>
          </a:p>
        </p:txBody>
      </p:sp>
      <p:cxnSp>
        <p:nvCxnSpPr>
          <p:cNvPr id="159" name="직선 화살표 연결선 158"/>
          <p:cNvCxnSpPr>
            <a:stCxn id="152" idx="2"/>
            <a:endCxn id="41" idx="0"/>
          </p:cNvCxnSpPr>
          <p:nvPr/>
        </p:nvCxnSpPr>
        <p:spPr>
          <a:xfrm>
            <a:off x="1108163" y="1607891"/>
            <a:ext cx="0" cy="25480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73</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335628" y="1862692"/>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순서대로</a:t>
            </a:r>
            <a:endParaRPr lang="en-US" altLang="ko-KR" sz="1400" dirty="0" smtClean="0">
              <a:solidFill>
                <a:schemeClr val="tx1"/>
              </a:solidFill>
            </a:endParaRPr>
          </a:p>
          <a:p>
            <a:pPr algn="ctr"/>
            <a:r>
              <a:rPr lang="ko-KR" altLang="en-US" sz="1400" dirty="0" smtClean="0">
                <a:solidFill>
                  <a:schemeClr val="tx1"/>
                </a:solidFill>
              </a:rPr>
              <a:t>행동 개시</a:t>
            </a:r>
            <a:endParaRPr lang="en-US" altLang="ko-KR" sz="1400" dirty="0" smtClean="0">
              <a:solidFill>
                <a:schemeClr val="tx1"/>
              </a:solidFill>
            </a:endParaRPr>
          </a:p>
        </p:txBody>
      </p:sp>
      <p:cxnSp>
        <p:nvCxnSpPr>
          <p:cNvPr id="43" name="직선 화살표 연결선 42"/>
          <p:cNvCxnSpPr>
            <a:stCxn id="41" idx="2"/>
            <a:endCxn id="82" idx="0"/>
          </p:cNvCxnSpPr>
          <p:nvPr/>
        </p:nvCxnSpPr>
        <p:spPr>
          <a:xfrm flipH="1">
            <a:off x="1105552" y="2460618"/>
            <a:ext cx="2611" cy="21748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7230040" y="524217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sp>
        <p:nvSpPr>
          <p:cNvPr id="50" name="다이아몬드 49"/>
          <p:cNvSpPr/>
          <p:nvPr/>
        </p:nvSpPr>
        <p:spPr>
          <a:xfrm>
            <a:off x="2376795" y="2678107"/>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2180613" y="2962775"/>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아군을 강화하는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버프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sp>
        <p:nvSpPr>
          <p:cNvPr id="19" name="순서도: 문서 18"/>
          <p:cNvSpPr/>
          <p:nvPr/>
        </p:nvSpPr>
        <p:spPr>
          <a:xfrm>
            <a:off x="2575778" y="5141070"/>
            <a:ext cx="1320800" cy="807778"/>
          </a:xfrm>
          <a:prstGeom prst="flowChartDocumen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적군 턴 종료</a:t>
            </a:r>
            <a:endParaRPr lang="ko-KR" altLang="en-US" sz="1400" dirty="0">
              <a:solidFill>
                <a:schemeClr val="tx1"/>
              </a:solidFill>
            </a:endParaRPr>
          </a:p>
        </p:txBody>
      </p:sp>
      <p:cxnSp>
        <p:nvCxnSpPr>
          <p:cNvPr id="69" name="꺾인 연결선 68"/>
          <p:cNvCxnSpPr>
            <a:stCxn id="103" idx="3"/>
            <a:endCxn id="48" idx="3"/>
          </p:cNvCxnSpPr>
          <p:nvPr/>
        </p:nvCxnSpPr>
        <p:spPr>
          <a:xfrm flipH="1">
            <a:off x="8775109" y="3324587"/>
            <a:ext cx="2527544" cy="2216551"/>
          </a:xfrm>
          <a:prstGeom prst="bentConnector3">
            <a:avLst>
              <a:gd name="adj1" fmla="val -9044"/>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적군 행동 알고리즘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45" name="그룹 44"/>
          <p:cNvGrpSpPr/>
          <p:nvPr/>
        </p:nvGrpSpPr>
        <p:grpSpPr>
          <a:xfrm>
            <a:off x="4486255" y="2687056"/>
            <a:ext cx="2410863" cy="1272386"/>
            <a:chOff x="8265923" y="2936741"/>
            <a:chExt cx="2281727" cy="1272386"/>
          </a:xfrm>
        </p:grpSpPr>
        <p:sp>
          <p:nvSpPr>
            <p:cNvPr id="46" name="다이아몬드 45"/>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7" name="TextBox 46"/>
            <p:cNvSpPr txBox="1"/>
            <p:nvPr/>
          </p:nvSpPr>
          <p:spPr>
            <a:xfrm>
              <a:off x="8265923" y="32329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적을 약 화시키는</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err="1" smtClean="0">
                  <a:gradFill>
                    <a:gsLst>
                      <a:gs pos="0">
                        <a:schemeClr val="tx1"/>
                      </a:gs>
                      <a:gs pos="100000">
                        <a:schemeClr val="tx1"/>
                      </a:gs>
                    </a:gsLst>
                    <a:lin ang="5400000" scaled="1"/>
                  </a:gradFill>
                  <a:latin typeface="+mn-ea"/>
                </a:rPr>
                <a:t>디버프</a:t>
              </a:r>
              <a:r>
                <a:rPr lang="ko-KR" altLang="en-US" sz="1400" spc="-300" dirty="0" smtClean="0">
                  <a:gradFill>
                    <a:gsLst>
                      <a:gs pos="0">
                        <a:schemeClr val="tx1"/>
                      </a:gs>
                      <a:gs pos="100000">
                        <a:schemeClr val="tx1"/>
                      </a:gs>
                    </a:gsLst>
                    <a:lin ang="5400000" scaled="1"/>
                  </a:gradFill>
                  <a:latin typeface="+mn-ea"/>
                </a:rPr>
                <a:t>  스킬이</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grpSp>
      <p:cxnSp>
        <p:nvCxnSpPr>
          <p:cNvPr id="71" name="직선 화살표 연결선 70"/>
          <p:cNvCxnSpPr/>
          <p:nvPr/>
        </p:nvCxnSpPr>
        <p:spPr>
          <a:xfrm flipV="1">
            <a:off x="2056918" y="3318359"/>
            <a:ext cx="331704" cy="5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2" name="직선 화살표 연결선 71"/>
          <p:cNvCxnSpPr/>
          <p:nvPr/>
        </p:nvCxnSpPr>
        <p:spPr>
          <a:xfrm>
            <a:off x="4364473"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4128236"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4" name="직선 화살표 연결선 73"/>
          <p:cNvCxnSpPr/>
          <p:nvPr/>
        </p:nvCxnSpPr>
        <p:spPr>
          <a:xfrm>
            <a:off x="6682559" y="332253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5" name="TextBox 74"/>
          <p:cNvSpPr txBox="1"/>
          <p:nvPr/>
        </p:nvSpPr>
        <p:spPr>
          <a:xfrm>
            <a:off x="6458089"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76" name="그룹 75"/>
          <p:cNvGrpSpPr/>
          <p:nvPr/>
        </p:nvGrpSpPr>
        <p:grpSpPr>
          <a:xfrm>
            <a:off x="6797144" y="2686337"/>
            <a:ext cx="2410863" cy="1272386"/>
            <a:chOff x="8265923" y="2936741"/>
            <a:chExt cx="2281727" cy="1272386"/>
          </a:xfrm>
        </p:grpSpPr>
        <p:sp>
          <p:nvSpPr>
            <p:cNvPr id="77" name="다이아몬드 76"/>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78" name="TextBox 77"/>
            <p:cNvSpPr txBox="1"/>
            <p:nvPr/>
          </p:nvSpPr>
          <p:spPr>
            <a:xfrm>
              <a:off x="8265923" y="32456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전체를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광역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grpSp>
      <p:cxnSp>
        <p:nvCxnSpPr>
          <p:cNvPr id="79" name="직선 화살표 연결선 78"/>
          <p:cNvCxnSpPr/>
          <p:nvPr/>
        </p:nvCxnSpPr>
        <p:spPr>
          <a:xfrm>
            <a:off x="8987945"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1" name="TextBox 80"/>
          <p:cNvSpPr txBox="1"/>
          <p:nvPr/>
        </p:nvSpPr>
        <p:spPr>
          <a:xfrm>
            <a:off x="8757930" y="2981927"/>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4" name="꺾인 연결선 83"/>
          <p:cNvCxnSpPr>
            <a:stCxn id="50" idx="2"/>
            <a:endCxn id="48" idx="0"/>
          </p:cNvCxnSpPr>
          <p:nvPr/>
        </p:nvCxnSpPr>
        <p:spPr>
          <a:xfrm rot="16200000" flipH="1">
            <a:off x="5041887" y="2281487"/>
            <a:ext cx="1291682" cy="462969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5" name="꺾인 연결선 84"/>
          <p:cNvCxnSpPr>
            <a:stCxn id="46" idx="2"/>
            <a:endCxn id="48" idx="0"/>
          </p:cNvCxnSpPr>
          <p:nvPr/>
        </p:nvCxnSpPr>
        <p:spPr>
          <a:xfrm rot="16200000" flipH="1">
            <a:off x="6199415" y="3439014"/>
            <a:ext cx="1282733" cy="232358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6" name="꺾인 연결선 85"/>
          <p:cNvCxnSpPr>
            <a:stCxn id="77" idx="2"/>
            <a:endCxn id="48" idx="0"/>
          </p:cNvCxnSpPr>
          <p:nvPr/>
        </p:nvCxnSpPr>
        <p:spPr>
          <a:xfrm rot="16200000" flipH="1">
            <a:off x="7354500" y="4594100"/>
            <a:ext cx="1283452" cy="12698"/>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2806680" y="38874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2" name="TextBox 91"/>
          <p:cNvSpPr txBox="1"/>
          <p:nvPr/>
        </p:nvSpPr>
        <p:spPr>
          <a:xfrm>
            <a:off x="5116411" y="39272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3" name="TextBox 92"/>
          <p:cNvSpPr txBox="1"/>
          <p:nvPr/>
        </p:nvSpPr>
        <p:spPr>
          <a:xfrm>
            <a:off x="7427489" y="394262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3" name="다이아몬드 102"/>
          <p:cNvSpPr/>
          <p:nvPr/>
        </p:nvSpPr>
        <p:spPr>
          <a:xfrm>
            <a:off x="9310480" y="2688394"/>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04" name="TextBox 103"/>
          <p:cNvSpPr txBox="1"/>
          <p:nvPr/>
        </p:nvSpPr>
        <p:spPr>
          <a:xfrm>
            <a:off x="9104400" y="2984900"/>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을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단일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cxnSp>
        <p:nvCxnSpPr>
          <p:cNvPr id="110" name="꺾인 연결선 109"/>
          <p:cNvCxnSpPr>
            <a:stCxn id="103" idx="2"/>
            <a:endCxn id="48" idx="0"/>
          </p:cNvCxnSpPr>
          <p:nvPr/>
        </p:nvCxnSpPr>
        <p:spPr>
          <a:xfrm rot="5400000">
            <a:off x="8513874" y="3449481"/>
            <a:ext cx="1281395" cy="2303992"/>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113" name="TextBox 112"/>
          <p:cNvSpPr txBox="1"/>
          <p:nvPr/>
        </p:nvSpPr>
        <p:spPr>
          <a:xfrm>
            <a:off x="9625645" y="392802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0" name="TextBox 149"/>
          <p:cNvSpPr txBox="1"/>
          <p:nvPr/>
        </p:nvSpPr>
        <p:spPr>
          <a:xfrm>
            <a:off x="11043233" y="29807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4" name="TextBox 163"/>
          <p:cNvSpPr txBox="1"/>
          <p:nvPr/>
        </p:nvSpPr>
        <p:spPr>
          <a:xfrm>
            <a:off x="9607178" y="5177657"/>
            <a:ext cx="110556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공격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6" name="다이아몬드 175"/>
          <p:cNvSpPr/>
          <p:nvPr/>
        </p:nvSpPr>
        <p:spPr>
          <a:xfrm>
            <a:off x="4696195" y="4904945"/>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77" name="TextBox 176"/>
          <p:cNvSpPr txBox="1"/>
          <p:nvPr/>
        </p:nvSpPr>
        <p:spPr>
          <a:xfrm>
            <a:off x="5039104" y="5275335"/>
            <a:ext cx="1314781"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모든 아군이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행동을 마쳤는가</a:t>
            </a:r>
            <a:r>
              <a:rPr lang="en-US" altLang="ko-KR" sz="1400" spc="-300" dirty="0" smtClean="0">
                <a:gradFill>
                  <a:gsLst>
                    <a:gs pos="0">
                      <a:schemeClr val="tx1"/>
                    </a:gs>
                    <a:gs pos="100000">
                      <a:schemeClr val="tx1"/>
                    </a:gs>
                  </a:gsLst>
                  <a:lin ang="5400000" scaled="1"/>
                </a:gradFill>
                <a:latin typeface="+mn-ea"/>
              </a:rPr>
              <a:t>?</a:t>
            </a:r>
          </a:p>
        </p:txBody>
      </p:sp>
      <p:cxnSp>
        <p:nvCxnSpPr>
          <p:cNvPr id="180" name="직선 화살표 연결선 179"/>
          <p:cNvCxnSpPr>
            <a:stCxn id="176" idx="1"/>
            <a:endCxn id="19" idx="3"/>
          </p:cNvCxnSpPr>
          <p:nvPr/>
        </p:nvCxnSpPr>
        <p:spPr>
          <a:xfrm flipH="1">
            <a:off x="3896578" y="5541138"/>
            <a:ext cx="799617" cy="382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6" name="꺾인 연결선 185"/>
          <p:cNvCxnSpPr>
            <a:stCxn id="176" idx="2"/>
            <a:endCxn id="41" idx="3"/>
          </p:cNvCxnSpPr>
          <p:nvPr/>
        </p:nvCxnSpPr>
        <p:spPr>
          <a:xfrm rot="5400000" flipH="1">
            <a:off x="1778652" y="2263701"/>
            <a:ext cx="4015676" cy="3811585"/>
          </a:xfrm>
          <a:prstGeom prst="bentConnector4">
            <a:avLst>
              <a:gd name="adj1" fmla="val -5693"/>
              <a:gd name="adj2" fmla="val -163172"/>
            </a:avLst>
          </a:prstGeom>
          <a:ln>
            <a:tailEnd type="arrow"/>
          </a:ln>
        </p:spPr>
        <p:style>
          <a:lnRef idx="3">
            <a:schemeClr val="dk1"/>
          </a:lnRef>
          <a:fillRef idx="0">
            <a:schemeClr val="dk1"/>
          </a:fillRef>
          <a:effectRef idx="2">
            <a:schemeClr val="dk1"/>
          </a:effectRef>
          <a:fontRef idx="minor">
            <a:schemeClr val="tx1"/>
          </a:fontRef>
        </p:style>
      </p:cxnSp>
      <p:cxnSp>
        <p:nvCxnSpPr>
          <p:cNvPr id="195" name="직선 화살표 연결선 194"/>
          <p:cNvCxnSpPr>
            <a:stCxn id="48" idx="1"/>
            <a:endCxn id="176" idx="3"/>
          </p:cNvCxnSpPr>
          <p:nvPr/>
        </p:nvCxnSpPr>
        <p:spPr>
          <a:xfrm flipH="1">
            <a:off x="6688368" y="5541138"/>
            <a:ext cx="54167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8" name="TextBox 197"/>
          <p:cNvSpPr txBox="1"/>
          <p:nvPr/>
        </p:nvSpPr>
        <p:spPr>
          <a:xfrm>
            <a:off x="5178595" y="6087831"/>
            <a:ext cx="50039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9" name="TextBox 198"/>
          <p:cNvSpPr txBox="1"/>
          <p:nvPr/>
        </p:nvSpPr>
        <p:spPr>
          <a:xfrm>
            <a:off x="3963995" y="5204356"/>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77876130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방식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74</a:t>
            </a:fld>
            <a:endParaRPr lang="ko-KR" altLang="en-US" sz="1800" dirty="0"/>
          </a:p>
        </p:txBody>
      </p:sp>
      <p:sp>
        <p:nvSpPr>
          <p:cNvPr id="13" name="TextBox 12"/>
          <p:cNvSpPr txBox="1"/>
          <p:nvPr/>
        </p:nvSpPr>
        <p:spPr>
          <a:xfrm>
            <a:off x="832486" y="5039568"/>
            <a:ext cx="6317614" cy="923330"/>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smtClean="0"/>
              <a:t>. </a:t>
            </a:r>
          </a:p>
          <a:p>
            <a:pPr>
              <a:lnSpc>
                <a:spcPct val="150000"/>
              </a:lnSpc>
            </a:pPr>
            <a:r>
              <a:rPr lang="en-US" altLang="ko-KR" dirty="0"/>
              <a:t>• </a:t>
            </a:r>
            <a:r>
              <a:rPr lang="ko-KR" altLang="en-US" dirty="0" smtClean="0"/>
              <a:t>전투 이벤트가 시작되면</a:t>
            </a:r>
            <a:r>
              <a:rPr lang="en-US" altLang="ko-KR" dirty="0" smtClean="0"/>
              <a:t> </a:t>
            </a:r>
            <a:r>
              <a:rPr lang="ko-KR" altLang="en-US" dirty="0" smtClean="0"/>
              <a:t>아군의 선공으로 시작된다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4129813" y="2778254"/>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5639154" y="2946437"/>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5642820" y="1936324"/>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767566" y="1524069"/>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5767566" y="256671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5767566" y="365853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4371590" y="2566712"/>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37" name="직사각형 36"/>
          <p:cNvSpPr/>
          <p:nvPr/>
        </p:nvSpPr>
        <p:spPr>
          <a:xfrm>
            <a:off x="5928360" y="144008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4517150" y="239586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5906303" y="247927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5906303" y="357680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4517150" y="2446405"/>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a:off x="5397080" y="1349047"/>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22" name="타원 21"/>
          <p:cNvSpPr/>
          <p:nvPr/>
        </p:nvSpPr>
        <p:spPr>
          <a:xfrm>
            <a:off x="5384800" y="24008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23" name="타원 22"/>
          <p:cNvSpPr/>
          <p:nvPr/>
        </p:nvSpPr>
        <p:spPr>
          <a:xfrm>
            <a:off x="5384800" y="3455408"/>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24" name="곱셈 기호 23"/>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015035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75</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77</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78</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79</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80</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83</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84</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85</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86</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87</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88</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89</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90</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91</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92</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93</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94</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곱셈 기호 10"/>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95</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96</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97</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98</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99</a:t>
            </a:fld>
            <a:endParaRPr lang="ko-KR" altLang="en-US" dirty="0"/>
          </a:p>
        </p:txBody>
      </p:sp>
      <p:sp>
        <p:nvSpPr>
          <p:cNvPr id="9" name="곱셈 기호 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100</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8546</TotalTime>
  <Words>5770</Words>
  <Application>Microsoft Office PowerPoint</Application>
  <PresentationFormat>와이드스크린</PresentationFormat>
  <Paragraphs>1996</Paragraphs>
  <Slides>100</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100</vt:i4>
      </vt:variant>
    </vt:vector>
  </HeadingPairs>
  <TitlesOfParts>
    <vt:vector size="107" baseType="lpstr">
      <vt:lpstr>돋움</vt:lpstr>
      <vt:lpstr>HY견명조</vt:lpstr>
      <vt:lpstr>맑은 고딕</vt:lpstr>
      <vt:lpstr>210 앱굴림 R</vt:lpstr>
      <vt:lpstr>Arial</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573</cp:revision>
  <dcterms:created xsi:type="dcterms:W3CDTF">2017-06-15T12:10:59Z</dcterms:created>
  <dcterms:modified xsi:type="dcterms:W3CDTF">2019-01-13T18:39:45Z</dcterms:modified>
</cp:coreProperties>
</file>