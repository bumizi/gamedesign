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112"/>
  </p:notesMasterIdLst>
  <p:sldIdLst>
    <p:sldId id="273" r:id="rId3"/>
    <p:sldId id="260" r:id="rId4"/>
    <p:sldId id="375" r:id="rId5"/>
    <p:sldId id="288" r:id="rId6"/>
    <p:sldId id="289" r:id="rId7"/>
    <p:sldId id="341" r:id="rId8"/>
    <p:sldId id="266" r:id="rId9"/>
    <p:sldId id="290" r:id="rId10"/>
    <p:sldId id="342" r:id="rId11"/>
    <p:sldId id="276" r:id="rId12"/>
    <p:sldId id="339" r:id="rId13"/>
    <p:sldId id="332" r:id="rId14"/>
    <p:sldId id="291" r:id="rId15"/>
    <p:sldId id="333" r:id="rId16"/>
    <p:sldId id="334" r:id="rId17"/>
    <p:sldId id="343" r:id="rId18"/>
    <p:sldId id="329" r:id="rId19"/>
    <p:sldId id="353" r:id="rId20"/>
    <p:sldId id="347" r:id="rId21"/>
    <p:sldId id="348" r:id="rId22"/>
    <p:sldId id="402" r:id="rId23"/>
    <p:sldId id="351" r:id="rId24"/>
    <p:sldId id="349" r:id="rId25"/>
    <p:sldId id="350" r:id="rId26"/>
    <p:sldId id="352" r:id="rId27"/>
    <p:sldId id="355" r:id="rId28"/>
    <p:sldId id="382" r:id="rId29"/>
    <p:sldId id="381" r:id="rId30"/>
    <p:sldId id="380" r:id="rId31"/>
    <p:sldId id="384" r:id="rId32"/>
    <p:sldId id="386" r:id="rId33"/>
    <p:sldId id="385" r:id="rId34"/>
    <p:sldId id="401" r:id="rId35"/>
    <p:sldId id="407" r:id="rId36"/>
    <p:sldId id="405" r:id="rId37"/>
    <p:sldId id="406" r:id="rId38"/>
    <p:sldId id="404" r:id="rId39"/>
    <p:sldId id="409" r:id="rId40"/>
    <p:sldId id="403" r:id="rId41"/>
    <p:sldId id="388" r:id="rId42"/>
    <p:sldId id="408" r:id="rId43"/>
    <p:sldId id="387" r:id="rId44"/>
    <p:sldId id="379" r:id="rId45"/>
    <p:sldId id="378" r:id="rId46"/>
    <p:sldId id="330" r:id="rId47"/>
    <p:sldId id="340" r:id="rId48"/>
    <p:sldId id="335" r:id="rId49"/>
    <p:sldId id="356" r:id="rId50"/>
    <p:sldId id="357" r:id="rId51"/>
    <p:sldId id="358" r:id="rId52"/>
    <p:sldId id="359" r:id="rId53"/>
    <p:sldId id="360" r:id="rId54"/>
    <p:sldId id="376" r:id="rId55"/>
    <p:sldId id="361" r:id="rId56"/>
    <p:sldId id="362" r:id="rId57"/>
    <p:sldId id="363" r:id="rId58"/>
    <p:sldId id="364" r:id="rId59"/>
    <p:sldId id="365" r:id="rId60"/>
    <p:sldId id="366" r:id="rId61"/>
    <p:sldId id="367" r:id="rId62"/>
    <p:sldId id="368" r:id="rId63"/>
    <p:sldId id="370" r:id="rId64"/>
    <p:sldId id="369" r:id="rId65"/>
    <p:sldId id="371" r:id="rId66"/>
    <p:sldId id="373" r:id="rId67"/>
    <p:sldId id="372" r:id="rId68"/>
    <p:sldId id="374" r:id="rId69"/>
    <p:sldId id="377" r:id="rId70"/>
    <p:sldId id="354" r:id="rId71"/>
    <p:sldId id="336" r:id="rId72"/>
    <p:sldId id="338" r:id="rId73"/>
    <p:sldId id="337" r:id="rId74"/>
    <p:sldId id="390" r:id="rId75"/>
    <p:sldId id="391" r:id="rId76"/>
    <p:sldId id="394" r:id="rId77"/>
    <p:sldId id="392" r:id="rId78"/>
    <p:sldId id="395" r:id="rId79"/>
    <p:sldId id="397" r:id="rId80"/>
    <p:sldId id="396" r:id="rId81"/>
    <p:sldId id="399" r:id="rId82"/>
    <p:sldId id="400" r:id="rId83"/>
    <p:sldId id="398" r:id="rId84"/>
    <p:sldId id="393" r:id="rId85"/>
    <p:sldId id="315" r:id="rId86"/>
    <p:sldId id="325" r:id="rId87"/>
    <p:sldId id="316" r:id="rId88"/>
    <p:sldId id="317" r:id="rId89"/>
    <p:sldId id="318" r:id="rId90"/>
    <p:sldId id="324" r:id="rId91"/>
    <p:sldId id="323" r:id="rId92"/>
    <p:sldId id="327" r:id="rId93"/>
    <p:sldId id="328" r:id="rId94"/>
    <p:sldId id="319" r:id="rId95"/>
    <p:sldId id="320" r:id="rId96"/>
    <p:sldId id="321" r:id="rId97"/>
    <p:sldId id="326" r:id="rId98"/>
    <p:sldId id="322" r:id="rId99"/>
    <p:sldId id="294" r:id="rId100"/>
    <p:sldId id="293" r:id="rId101"/>
    <p:sldId id="295" r:id="rId102"/>
    <p:sldId id="308" r:id="rId103"/>
    <p:sldId id="296" r:id="rId104"/>
    <p:sldId id="309" r:id="rId105"/>
    <p:sldId id="302" r:id="rId106"/>
    <p:sldId id="303" r:id="rId107"/>
    <p:sldId id="306" r:id="rId108"/>
    <p:sldId id="314" r:id="rId109"/>
    <p:sldId id="307" r:id="rId110"/>
    <p:sldId id="275" r:id="rId111"/>
  </p:sldIdLst>
  <p:sldSz cx="12192000" cy="6858000"/>
  <p:notesSz cx="6858000" cy="9144000"/>
  <p:embeddedFontLst>
    <p:embeddedFont>
      <p:font typeface="HY견명조" panose="02030600000101010101" pitchFamily="18" charset="-127"/>
      <p:regular r:id="rId113"/>
    </p:embeddedFont>
    <p:embeddedFont>
      <p:font typeface="맑은 고딕" panose="020B0503020000020004" pitchFamily="50" charset="-127"/>
      <p:regular r:id="rId114"/>
      <p:bold r:id="rId115"/>
    </p:embeddedFont>
    <p:embeddedFont>
      <p:font typeface="210 앱굴림 R" panose="02020603020101020101" pitchFamily="18" charset="-127"/>
      <p:regular r:id="rId116"/>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사용자" initials="W사" lastIdx="1" clrIdx="0">
    <p:extLst>
      <p:ext uri="{19B8F6BF-5375-455C-9EA6-DF929625EA0E}">
        <p15:presenceInfo xmlns:p15="http://schemas.microsoft.com/office/powerpoint/2012/main" userId="Windows 사용자" providerId="None"/>
      </p:ext>
    </p:extLst>
  </p:cmAuthor>
  <p:cmAuthor id="2" name="user" initials="u" lastIdx="1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C10F"/>
    <a:srgbClr val="88B6E0"/>
    <a:srgbClr val="8EBA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보통 스타일 3 - 강조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61" autoAdjust="0"/>
    <p:restoredTop sz="94660" autoAdjust="0"/>
  </p:normalViewPr>
  <p:slideViewPr>
    <p:cSldViewPr snapToGrid="0">
      <p:cViewPr varScale="1">
        <p:scale>
          <a:sx n="80" d="100"/>
          <a:sy n="80" d="100"/>
        </p:scale>
        <p:origin x="102" y="870"/>
      </p:cViewPr>
      <p:guideLst>
        <p:guide orient="horz" pos="2160"/>
        <p:guide pos="3840"/>
      </p:guideLst>
    </p:cSldViewPr>
  </p:slideViewPr>
  <p:outlineViewPr>
    <p:cViewPr>
      <p:scale>
        <a:sx n="33" d="100"/>
        <a:sy n="33" d="100"/>
      </p:scale>
      <p:origin x="0" y="14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commentAuthors" Target="commentAuthor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notesMaster" Target="notesMasters/notesMaster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font" Target="fonts/font1.fntdata"/><Relationship Id="rId118" Type="http://schemas.openxmlformats.org/officeDocument/2006/relationships/presProps" Target="pres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font" Target="fonts/font2.fntdata"/><Relationship Id="rId119" Type="http://schemas.openxmlformats.org/officeDocument/2006/relationships/viewProps" Target="viewProps.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font" Target="fonts/font3.fnt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tableStyles" Target="tableStyle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font" Target="fonts/font4.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EB80D-BC7F-423F-9B95-3633B0A8F55B}" type="datetimeFigureOut">
              <a:rPr lang="ko-KR" altLang="en-US" smtClean="0"/>
              <a:t>2019-01-17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4FA5D-5FE6-4026-B2CA-93DADBB0FBE6}" type="slidenum">
              <a:rPr lang="ko-KR" altLang="en-US" smtClean="0"/>
              <a:t>‹#›</a:t>
            </a:fld>
            <a:endParaRPr lang="ko-KR" altLang="en-US"/>
          </a:p>
        </p:txBody>
      </p:sp>
    </p:spTree>
    <p:extLst>
      <p:ext uri="{BB962C8B-B14F-4D97-AF65-F5344CB8AC3E}">
        <p14:creationId xmlns:p14="http://schemas.microsoft.com/office/powerpoint/2010/main" val="82634538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1</a:t>
            </a:fld>
            <a:endParaRPr lang="ko-KR" altLang="en-US"/>
          </a:p>
        </p:txBody>
      </p:sp>
    </p:spTree>
    <p:extLst>
      <p:ext uri="{BB962C8B-B14F-4D97-AF65-F5344CB8AC3E}">
        <p14:creationId xmlns:p14="http://schemas.microsoft.com/office/powerpoint/2010/main" val="867218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2</a:t>
            </a:fld>
            <a:endParaRPr lang="ko-KR" altLang="en-US"/>
          </a:p>
        </p:txBody>
      </p:sp>
    </p:spTree>
    <p:extLst>
      <p:ext uri="{BB962C8B-B14F-4D97-AF65-F5344CB8AC3E}">
        <p14:creationId xmlns:p14="http://schemas.microsoft.com/office/powerpoint/2010/main" val="4076130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EC3AB0CA-3A26-4F16-8C8D-1B3625A31A00}" type="datetime1">
              <a:rPr lang="ko-KR" altLang="en-US" smtClean="0"/>
              <a:t>2019-01-17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473838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7685CB9-AAEC-4501-983B-23D9B3A40981}" type="datetime1">
              <a:rPr lang="ko-KR" altLang="en-US" smtClean="0"/>
              <a:t>2019-01-17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2911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1D2FE8F3-BBC3-4016-B12E-DEE91B8C70D1}" type="datetime1">
              <a:rPr lang="ko-KR" altLang="en-US" smtClean="0"/>
              <a:t>2019-01-17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4859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666A834B-F951-4846-895A-0477317BA5B4}" type="datetime1">
              <a:rPr lang="ko-KR" altLang="en-US" smtClean="0"/>
              <a:t>2019-01-17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526981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5B85590D-5B44-4A15-A6FA-238D48DB53C8}" type="datetime1">
              <a:rPr lang="ko-KR" altLang="en-US" smtClean="0"/>
              <a:t>2019-01-17</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149263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E312041-A6D6-4EAF-81C3-6AF3590D9B2E}" type="datetime1">
              <a:rPr lang="ko-KR" altLang="en-US" smtClean="0"/>
              <a:t>2019-01-17</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980559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E6731DD-6728-4529-B4AC-150F5EA6CDA5}" type="datetime1">
              <a:rPr lang="ko-KR" altLang="en-US" smtClean="0"/>
              <a:t>2019-01-17</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5343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412BC3E-02B2-4BA3-88C6-D876B9132BEE}" type="datetime1">
              <a:rPr lang="ko-KR" altLang="en-US" smtClean="0"/>
              <a:t>2019-01-17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12490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A791F1B8-4AB0-450E-BA30-A393CBEEE0B9}" type="datetime1">
              <a:rPr lang="ko-KR" altLang="en-US" smtClean="0"/>
              <a:t>2019-01-17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786154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6B5077E-4D09-4D7F-AED2-3ECFB52B4B2F}" type="datetime1">
              <a:rPr lang="ko-KR" altLang="en-US" smtClean="0"/>
              <a:t>2019-01-17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07545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804BD64-D2A7-4DBC-9C22-C35FF2171F88}" type="datetime1">
              <a:rPr lang="ko-KR" altLang="en-US" smtClean="0"/>
              <a:t>2019-01-17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35919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09789B80-0F68-4808-8308-7E8CB701F80B}"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9270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8146DA0-A543-443B-9976-4C13D64EFF49}"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0343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04E0AC1A-42E2-4BCB-8C04-467EB6812828}"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636386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78C9E740-A4F3-48E1-ADE5-C768671A5022}"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502852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FB71890C-30A4-4F38-AE2E-EDCBC5B32417}"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24856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62C9AAE-3A71-4E68-B2DF-A4796799849E}"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8375930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1B4F376A-881F-4F83-8BAA-2452AC86BF07}"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4911532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77745D6-926D-49A4-A0BD-75E92CE8DBD3}"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8934710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8B1A9945-754F-4F4C-BDBA-3A0C250A3228}"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5874289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DF61253-3998-40D1-84D1-14DDCA9B525D}"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264705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C893902-BCC8-459F-A9CB-F37808573195}"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34584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784D16-1F4A-4F5E-B3BB-0CA00F5D809F}" type="datetime1">
              <a:rPr lang="ko-KR" altLang="en-US" smtClean="0"/>
              <a:t>2019-01-17</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830809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3CA10-B9BB-4BE8-B178-00EC3ABEC49F}" type="datetime1">
              <a:rPr lang="ko-KR" altLang="en-US" smtClean="0">
                <a:solidFill>
                  <a:prstClr val="black">
                    <a:tint val="75000"/>
                  </a:prstClr>
                </a:solidFill>
              </a:rPr>
              <a:t>2019-01-17</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773385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hyperlink" Target="http://www.kukinews.com/news/article.html?no=467851" TargetMode="External"/><Relationship Id="rId7" Type="http://schemas.openxmlformats.org/officeDocument/2006/relationships/hyperlink" Target="https://minimap.net/game/dungeon-maker/review" TargetMode="External"/><Relationship Id="rId2" Type="http://schemas.openxmlformats.org/officeDocument/2006/relationships/hyperlink" Target="https://www.clien.net/service/board/park/12754454" TargetMode="External"/><Relationship Id="rId1" Type="http://schemas.openxmlformats.org/officeDocument/2006/relationships/slideLayout" Target="../slideLayouts/slideLayout2.xml"/><Relationship Id="rId6" Type="http://schemas.openxmlformats.org/officeDocument/2006/relationships/hyperlink" Target="https://entropymag.org/hobby-horse-anatomy-bawdy-and-body-in-the-binding-of-isaac-ch-3/" TargetMode="External"/><Relationship Id="rId5" Type="http://schemas.openxmlformats.org/officeDocument/2006/relationships/hyperlink" Target="https://steamcommunity.com/sharedfiles/filedetails/?id=396427946" TargetMode="External"/><Relationship Id="rId4" Type="http://schemas.openxmlformats.org/officeDocument/2006/relationships/hyperlink" Target="https://www.vingle.net/posts/2320991" TargetMode="External"/></Relationships>
</file>

<file path=ppt/slides/_rels/slide107.xml.rels><?xml version="1.0" encoding="UTF-8" standalone="yes"?>
<Relationships xmlns="http://schemas.openxmlformats.org/package/2006/relationships"><Relationship Id="rId8" Type="http://schemas.openxmlformats.org/officeDocument/2006/relationships/hyperlink" Target="https://taskandpurpose.com/xcom2-war-chosen-review/" TargetMode="External"/><Relationship Id="rId3" Type="http://schemas.openxmlformats.org/officeDocument/2006/relationships/hyperlink" Target="http://www.thisisgame.com/webzine/game/nboard/19/?page=13&amp;n=64534" TargetMode="External"/><Relationship Id="rId7" Type="http://schemas.openxmlformats.org/officeDocument/2006/relationships/hyperlink" Target="https://store.steampowered.com/app/785740/This_Is_the_Police_2/" TargetMode="External"/><Relationship Id="rId2" Type="http://schemas.openxmlformats.org/officeDocument/2006/relationships/hyperlink" Target="https://realust.tistory.com/506" TargetMode="External"/><Relationship Id="rId1" Type="http://schemas.openxmlformats.org/officeDocument/2006/relationships/slideLayout" Target="../slideLayouts/slideLayout2.xml"/><Relationship Id="rId6" Type="http://schemas.openxmlformats.org/officeDocument/2006/relationships/hyperlink" Target="http://www.thisisgame.com/mobile/nboard/1/?n=51285" TargetMode="External"/><Relationship Id="rId5" Type="http://schemas.openxmlformats.org/officeDocument/2006/relationships/hyperlink" Target="http://www.thisisgame.com/mobile/nboard/1/?n=55660&amp;mode=print" TargetMode="External"/><Relationship Id="rId4" Type="http://schemas.openxmlformats.org/officeDocument/2006/relationships/hyperlink" Target="http://www.thisisgame.com/pad/tboard/?board=37&amp;n=286482"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7" name="직선 연결선 6"/>
          <p:cNvCxnSpPr/>
          <p:nvPr/>
        </p:nvCxnSpPr>
        <p:spPr>
          <a:xfrm flipH="1">
            <a:off x="0" y="580571"/>
            <a:ext cx="12467772" cy="627742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3066386" y="3090656"/>
            <a:ext cx="6716243" cy="2906180"/>
            <a:chOff x="3066386" y="3090656"/>
            <a:chExt cx="6716243" cy="2906180"/>
          </a:xfrm>
          <a:solidFill>
            <a:schemeClr val="tx1"/>
          </a:solidFill>
        </p:grpSpPr>
        <p:sp>
          <p:nvSpPr>
            <p:cNvPr id="11" name="TextBox 10"/>
            <p:cNvSpPr txBox="1"/>
            <p:nvPr/>
          </p:nvSpPr>
          <p:spPr>
            <a:xfrm>
              <a:off x="3066386" y="3090656"/>
              <a:ext cx="6059229" cy="830997"/>
            </a:xfrm>
            <a:prstGeom prst="rect">
              <a:avLst/>
            </a:prstGeom>
            <a:grpFill/>
          </p:spPr>
          <p:txBody>
            <a:bodyPr wrap="square" rtlCol="0">
              <a:spAutoFit/>
            </a:bodyPr>
            <a:lstStyle/>
            <a:p>
              <a:pPr algn="ctr"/>
              <a:r>
                <a:rPr lang="en-US" altLang="ko-KR" sz="4800" i="1" spc="-150" dirty="0" smtClean="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rPr>
                <a:t>Dungeon Saver</a:t>
              </a:r>
              <a:endParaRPr lang="ko-KR" altLang="en-US" sz="4800" i="1" spc="-150" dirty="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endParaRPr>
            </a:p>
          </p:txBody>
        </p:sp>
        <p:sp>
          <p:nvSpPr>
            <p:cNvPr id="9" name="TextBox 8"/>
            <p:cNvSpPr txBox="1"/>
            <p:nvPr/>
          </p:nvSpPr>
          <p:spPr>
            <a:xfrm>
              <a:off x="3066386" y="5658282"/>
              <a:ext cx="6716243" cy="338554"/>
            </a:xfrm>
            <a:prstGeom prst="rect">
              <a:avLst/>
            </a:prstGeom>
            <a:grpFill/>
          </p:spPr>
          <p:txBody>
            <a:bodyPr wrap="square" rtlCol="0">
              <a:spAutoFit/>
            </a:bodyPr>
            <a:lstStyle/>
            <a:p>
              <a:endParaRPr lang="ko-KR" altLang="en-US" sz="1600" b="1" dirty="0">
                <a:gradFill>
                  <a:gsLst>
                    <a:gs pos="0">
                      <a:schemeClr val="bg1"/>
                    </a:gs>
                    <a:gs pos="100000">
                      <a:schemeClr val="bg1"/>
                    </a:gs>
                  </a:gsLst>
                  <a:lin ang="5400000" scaled="1"/>
                </a:gradFill>
                <a:latin typeface="+mj-ea"/>
                <a:ea typeface="+mj-ea"/>
              </a:endParaRPr>
            </a:p>
          </p:txBody>
        </p:sp>
      </p:grpSp>
      <p:sp>
        <p:nvSpPr>
          <p:cNvPr id="5" name="직사각형 4"/>
          <p:cNvSpPr/>
          <p:nvPr/>
        </p:nvSpPr>
        <p:spPr>
          <a:xfrm>
            <a:off x="5164487" y="4596452"/>
            <a:ext cx="5834440" cy="923330"/>
          </a:xfrm>
          <a:prstGeom prst="rect">
            <a:avLst/>
          </a:prstGeom>
        </p:spPr>
        <p:txBody>
          <a:bodyPr wrap="square">
            <a:spAutoFit/>
          </a:bodyPr>
          <a:lstStyle/>
          <a:p>
            <a:r>
              <a:rPr lang="ko-KR" altLang="ko-KR" dirty="0">
                <a:solidFill>
                  <a:schemeClr val="bg1"/>
                </a:solidFill>
                <a:latin typeface="+mn-ea"/>
              </a:rPr>
              <a:t>던전을 탐험하며 몬스터를 물리치고</a:t>
            </a:r>
            <a:r>
              <a:rPr lang="en-US" altLang="ko-KR" dirty="0">
                <a:solidFill>
                  <a:schemeClr val="bg1"/>
                </a:solidFill>
                <a:latin typeface="+mn-ea"/>
              </a:rPr>
              <a:t>, </a:t>
            </a:r>
            <a:r>
              <a:rPr lang="ko-KR" altLang="ko-KR" dirty="0">
                <a:solidFill>
                  <a:schemeClr val="bg1"/>
                </a:solidFill>
                <a:latin typeface="+mn-ea"/>
              </a:rPr>
              <a:t>처치한 </a:t>
            </a:r>
            <a:r>
              <a:rPr lang="ko-KR" altLang="ko-KR" dirty="0" smtClean="0">
                <a:solidFill>
                  <a:schemeClr val="bg1"/>
                </a:solidFill>
                <a:latin typeface="+mn-ea"/>
              </a:rPr>
              <a:t>몬스터를</a:t>
            </a:r>
            <a:endParaRPr lang="en-US" altLang="ko-KR" dirty="0" smtClean="0">
              <a:solidFill>
                <a:schemeClr val="bg1"/>
              </a:solidFill>
              <a:latin typeface="+mn-ea"/>
            </a:endParaRPr>
          </a:p>
          <a:p>
            <a:r>
              <a:rPr lang="ko-KR" altLang="ko-KR" dirty="0" smtClean="0">
                <a:solidFill>
                  <a:schemeClr val="bg1"/>
                </a:solidFill>
                <a:latin typeface="+mn-ea"/>
              </a:rPr>
              <a:t>자신의 </a:t>
            </a:r>
            <a:r>
              <a:rPr lang="ko-KR" altLang="ko-KR" dirty="0">
                <a:solidFill>
                  <a:schemeClr val="bg1"/>
                </a:solidFill>
                <a:latin typeface="+mn-ea"/>
              </a:rPr>
              <a:t>것으로 만들어 </a:t>
            </a:r>
            <a:r>
              <a:rPr lang="ko-KR" altLang="en-US" dirty="0" smtClean="0">
                <a:solidFill>
                  <a:schemeClr val="bg1"/>
                </a:solidFill>
                <a:latin typeface="+mn-ea"/>
              </a:rPr>
              <a:t>다양한 전략적 조합을 편성</a:t>
            </a:r>
            <a:r>
              <a:rPr lang="ko-KR" altLang="ko-KR" dirty="0" smtClean="0">
                <a:solidFill>
                  <a:schemeClr val="bg1"/>
                </a:solidFill>
                <a:latin typeface="+mn-ea"/>
              </a:rPr>
              <a:t>하여</a:t>
            </a:r>
            <a:endParaRPr lang="en-US" altLang="ko-KR" dirty="0" smtClean="0">
              <a:solidFill>
                <a:schemeClr val="bg1"/>
              </a:solidFill>
              <a:latin typeface="+mn-ea"/>
            </a:endParaRPr>
          </a:p>
          <a:p>
            <a:r>
              <a:rPr lang="ko-KR" altLang="ko-KR" dirty="0" err="1" smtClean="0">
                <a:solidFill>
                  <a:schemeClr val="bg1"/>
                </a:solidFill>
                <a:latin typeface="+mn-ea"/>
              </a:rPr>
              <a:t>던전</a:t>
            </a:r>
            <a:r>
              <a:rPr lang="ko-KR" altLang="ko-KR" dirty="0" smtClean="0">
                <a:solidFill>
                  <a:schemeClr val="bg1"/>
                </a:solidFill>
                <a:latin typeface="+mn-ea"/>
              </a:rPr>
              <a:t> </a:t>
            </a:r>
            <a:r>
              <a:rPr lang="ko-KR" altLang="ko-KR" dirty="0" err="1">
                <a:solidFill>
                  <a:schemeClr val="bg1"/>
                </a:solidFill>
                <a:latin typeface="+mn-ea"/>
              </a:rPr>
              <a:t>최심부까지</a:t>
            </a:r>
            <a:r>
              <a:rPr lang="ko-KR" altLang="ko-KR" dirty="0">
                <a:solidFill>
                  <a:schemeClr val="bg1"/>
                </a:solidFill>
                <a:latin typeface="+mn-ea"/>
              </a:rPr>
              <a:t> 정복하는 </a:t>
            </a:r>
            <a:r>
              <a:rPr lang="ko-KR" altLang="en-US" dirty="0" err="1" smtClean="0">
                <a:solidFill>
                  <a:schemeClr val="bg1"/>
                </a:solidFill>
                <a:latin typeface="+mn-ea"/>
              </a:rPr>
              <a:t>로그라이크</a:t>
            </a:r>
            <a:r>
              <a:rPr lang="ko-KR" altLang="ko-KR" dirty="0" smtClean="0">
                <a:solidFill>
                  <a:schemeClr val="bg1"/>
                </a:solidFill>
                <a:latin typeface="+mn-ea"/>
              </a:rPr>
              <a:t> </a:t>
            </a:r>
            <a:r>
              <a:rPr lang="ko-KR" altLang="en-US" dirty="0" err="1" smtClean="0">
                <a:solidFill>
                  <a:schemeClr val="bg1"/>
                </a:solidFill>
                <a:latin typeface="+mn-ea"/>
              </a:rPr>
              <a:t>턴제</a:t>
            </a:r>
            <a:r>
              <a:rPr lang="ko-KR" altLang="en-US" dirty="0" smtClean="0">
                <a:solidFill>
                  <a:schemeClr val="bg1"/>
                </a:solidFill>
                <a:latin typeface="+mn-ea"/>
              </a:rPr>
              <a:t> </a:t>
            </a:r>
            <a:r>
              <a:rPr lang="en-US" altLang="ko-KR" dirty="0" smtClean="0">
                <a:solidFill>
                  <a:schemeClr val="bg1"/>
                </a:solidFill>
                <a:latin typeface="+mn-ea"/>
              </a:rPr>
              <a:t>RPG </a:t>
            </a:r>
            <a:r>
              <a:rPr lang="ko-KR" altLang="ko-KR" dirty="0">
                <a:solidFill>
                  <a:schemeClr val="bg1"/>
                </a:solidFill>
                <a:latin typeface="+mn-ea"/>
              </a:rPr>
              <a:t>게임</a:t>
            </a: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a:t>
            </a:fld>
            <a:endParaRPr lang="ko-KR" altLang="en-US" sz="1800" dirty="0"/>
          </a:p>
        </p:txBody>
      </p:sp>
    </p:spTree>
    <p:extLst>
      <p:ext uri="{BB962C8B-B14F-4D97-AF65-F5344CB8AC3E}">
        <p14:creationId xmlns:p14="http://schemas.microsoft.com/office/powerpoint/2010/main" val="30321945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127868" y="628787"/>
            <a:ext cx="7599138"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   〮〮〮〮〮〮〮〮〮〮〮〮〮〮〮〮〮〮〮〮〮〮〮〮〮〮〮〮〮〮〮〮〮〮〮〮〮〮〮  </a:t>
            </a:r>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4127868" y="3024604"/>
            <a:ext cx="7599137"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TextBox 40"/>
          <p:cNvSpPr txBox="1"/>
          <p:nvPr/>
        </p:nvSpPr>
        <p:spPr>
          <a:xfrm>
            <a:off x="5470435" y="3529592"/>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4" name="TextBox 43"/>
          <p:cNvSpPr txBox="1"/>
          <p:nvPr/>
        </p:nvSpPr>
        <p:spPr>
          <a:xfrm>
            <a:off x="5470435" y="409263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2-2.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5" name="TextBox 44"/>
          <p:cNvSpPr txBox="1"/>
          <p:nvPr/>
        </p:nvSpPr>
        <p:spPr>
          <a:xfrm>
            <a:off x="5468973" y="465331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a:t>
            </a:r>
            <a:r>
              <a:rPr lang="ko-KR" altLang="en-US" sz="2200" b="1" dirty="0" smtClean="0">
                <a:gradFill>
                  <a:gsLst>
                    <a:gs pos="0">
                      <a:schemeClr val="tx1"/>
                    </a:gs>
                    <a:gs pos="100000">
                      <a:schemeClr val="tx1"/>
                    </a:gs>
                  </a:gsLst>
                  <a:lin ang="5400000" scaled="1"/>
                </a:gradFill>
                <a:latin typeface="맑은 고딕" panose="020B0503020000020004" pitchFamily="50" charset="-127"/>
              </a:rPr>
              <a:t>캐릭터와 몬스터</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a:t>
            </a:fld>
            <a:endParaRPr lang="ko-KR" altLang="en-US" sz="1800" dirty="0"/>
          </a:p>
        </p:txBody>
      </p:sp>
      <p:sp>
        <p:nvSpPr>
          <p:cNvPr id="18" name="TextBox 17"/>
          <p:cNvSpPr txBox="1"/>
          <p:nvPr/>
        </p:nvSpPr>
        <p:spPr>
          <a:xfrm>
            <a:off x="5470434" y="120081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70434" y="176385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68972" y="23245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2" name="TextBox 21"/>
          <p:cNvSpPr txBox="1"/>
          <p:nvPr/>
        </p:nvSpPr>
        <p:spPr>
          <a:xfrm>
            <a:off x="5468971" y="5230874"/>
            <a:ext cx="4862402"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rPr>
              <a:t>2-4. </a:t>
            </a:r>
            <a:r>
              <a:rPr lang="ko-KR" altLang="en-US" sz="2200" b="1" dirty="0" err="1">
                <a:gradFill>
                  <a:gsLst>
                    <a:gs pos="0">
                      <a:schemeClr val="tx1"/>
                    </a:gs>
                    <a:gs pos="100000">
                      <a:schemeClr val="tx1"/>
                    </a:gs>
                  </a:gsLst>
                  <a:lin ang="5400000" scaled="1"/>
                </a:gradFill>
                <a:latin typeface="맑은 고딕" panose="020B0503020000020004" pitchFamily="50" charset="-127"/>
              </a:rPr>
              <a:t>테이밍과</a:t>
            </a:r>
            <a:r>
              <a:rPr lang="ko-KR" altLang="en-US" sz="2200" b="1" dirty="0">
                <a:gradFill>
                  <a:gsLst>
                    <a:gs pos="0">
                      <a:schemeClr val="tx1"/>
                    </a:gs>
                    <a:gs pos="100000">
                      <a:schemeClr val="tx1"/>
                    </a:gs>
                  </a:gsLst>
                  <a:lin ang="5400000" scaled="1"/>
                </a:gradFill>
                <a:latin typeface="맑은 고딕" panose="020B0503020000020004" pitchFamily="50" charset="-127"/>
              </a:rPr>
              <a:t> 육성 시스템</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4" name="TextBox 23"/>
          <p:cNvSpPr txBox="1"/>
          <p:nvPr/>
        </p:nvSpPr>
        <p:spPr>
          <a:xfrm>
            <a:off x="5468971" y="579113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558336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151583" y="4462788"/>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492688" y="503730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TextBox 24"/>
          <p:cNvSpPr txBox="1"/>
          <p:nvPr/>
        </p:nvSpPr>
        <p:spPr>
          <a:xfrm>
            <a:off x="5492688" y="5634945"/>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5492687" y="115976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6" name="TextBox 25"/>
          <p:cNvSpPr txBox="1"/>
          <p:nvPr/>
        </p:nvSpPr>
        <p:spPr>
          <a:xfrm>
            <a:off x="5492687" y="173179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230935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9" name="TextBox 28"/>
          <p:cNvSpPr txBox="1"/>
          <p:nvPr/>
        </p:nvSpPr>
        <p:spPr>
          <a:xfrm>
            <a:off x="5492687" y="288392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92687" y="3455947"/>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3-5.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곱셈 기호 1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5947423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1798505"/>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a:gradFill>
                  <a:gsLst>
                    <a:gs pos="0">
                      <a:schemeClr val="tx1"/>
                    </a:gs>
                    <a:gs pos="100000">
                      <a:schemeClr val="tx1"/>
                    </a:gs>
                  </a:gsLst>
                  <a:lin ang="5400000" scaled="1"/>
                </a:gradFill>
                <a:latin typeface="맑은 고딕" panose="020B0503020000020004" pitchFamily="50" charset="-127"/>
              </a:rPr>
              <a:t>맵 디자인 </a:t>
            </a:r>
            <a:r>
              <a:rPr lang="ko-KR" altLang="en-US" sz="2200" b="1" dirty="0" smtClean="0">
                <a:gradFill>
                  <a:gsLst>
                    <a:gs pos="0">
                      <a:schemeClr val="tx1"/>
                    </a:gs>
                    <a:gs pos="100000">
                      <a:schemeClr val="tx1"/>
                    </a:gs>
                  </a:gsLst>
                  <a:lin ang="5400000" scaled="1"/>
                </a:gradFill>
                <a:latin typeface="맑은 고딕" panose="020B0503020000020004" pitchFamily="50" charset="-127"/>
              </a:rPr>
              <a:t>규칙</a:t>
            </a:r>
            <a:endParaRPr lang="ko-KR" altLang="en-US" sz="2200" b="1" dirty="0">
              <a:gradFill>
                <a:gsLst>
                  <a:gs pos="0">
                    <a:schemeClr val="tx1"/>
                  </a:gs>
                  <a:gs pos="100000">
                    <a:schemeClr val="tx1"/>
                  </a:gs>
                </a:gsLst>
                <a:lin ang="5400000" scaled="1"/>
              </a:gradFill>
              <a:latin typeface="맑은 고딕" panose="020B0503020000020004" pitchFamily="50" charset="-127"/>
            </a:endParaRPr>
          </a:p>
        </p:txBody>
      </p:sp>
      <p:sp>
        <p:nvSpPr>
          <p:cNvPr id="29" name="TextBox 28"/>
          <p:cNvSpPr txBox="1"/>
          <p:nvPr/>
        </p:nvSpPr>
        <p:spPr>
          <a:xfrm>
            <a:off x="5492687" y="240252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92687" y="300228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err="1">
                <a:gradFill>
                  <a:gsLst>
                    <a:gs pos="0">
                      <a:schemeClr val="tx1"/>
                    </a:gs>
                    <a:gs pos="100000">
                      <a:schemeClr val="tx1"/>
                    </a:gs>
                  </a:gsLst>
                  <a:lin ang="5400000" scaled="1"/>
                </a:gradFill>
                <a:latin typeface="맑은 고딕" panose="020B0503020000020004" pitchFamily="50" charset="-127"/>
              </a:rPr>
              <a:t>에어리어</a:t>
            </a:r>
            <a:r>
              <a:rPr lang="ko-KR" altLang="en-US" sz="2200" b="1" dirty="0">
                <a:gradFill>
                  <a:gsLst>
                    <a:gs pos="0">
                      <a:schemeClr val="tx1"/>
                    </a:gs>
                    <a:gs pos="100000">
                      <a:schemeClr val="tx1"/>
                    </a:gs>
                  </a:gsLst>
                  <a:lin ang="5400000" scaled="1"/>
                </a:gradFill>
                <a:latin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rPr>
              <a:t>특수 화면</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TextBox 18"/>
          <p:cNvSpPr txBox="1"/>
          <p:nvPr/>
        </p:nvSpPr>
        <p:spPr>
          <a:xfrm>
            <a:off x="4151583" y="628263"/>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92687" y="119874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3" name="TextBox 32"/>
          <p:cNvSpPr txBox="1"/>
          <p:nvPr/>
        </p:nvSpPr>
        <p:spPr>
          <a:xfrm>
            <a:off x="4151583" y="3695700"/>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5" name="TextBox 34"/>
          <p:cNvSpPr txBox="1"/>
          <p:nvPr/>
        </p:nvSpPr>
        <p:spPr>
          <a:xfrm>
            <a:off x="5492687" y="426618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a:gradFill>
                  <a:gsLst>
                    <a:gs pos="0">
                      <a:schemeClr val="tx1"/>
                    </a:gs>
                    <a:gs pos="100000">
                      <a:schemeClr val="tx1"/>
                    </a:gs>
                  </a:gsLst>
                  <a:lin ang="5400000" scaled="1"/>
                </a:gradFill>
                <a:latin typeface="맑은 고딕" panose="020B0503020000020004" pitchFamily="50" charset="-127"/>
              </a:rPr>
              <a:t>파티 및 정화 </a:t>
            </a:r>
            <a:r>
              <a:rPr lang="ko-KR" altLang="en-US" sz="2200" b="1" dirty="0" smtClean="0">
                <a:gradFill>
                  <a:gsLst>
                    <a:gs pos="0">
                      <a:schemeClr val="tx1"/>
                    </a:gs>
                    <a:gs pos="100000">
                      <a:schemeClr val="tx1"/>
                    </a:gs>
                  </a:gsLst>
                  <a:lin ang="5400000" scaled="1"/>
                </a:gradFill>
                <a:latin typeface="맑은 고딕" panose="020B0503020000020004" pitchFamily="50" charset="-127"/>
              </a:rPr>
              <a:t>시스템</a:t>
            </a:r>
            <a:endParaRPr lang="ko-KR" altLang="en-US" sz="2200" b="1" dirty="0">
              <a:gradFill>
                <a:gsLst>
                  <a:gs pos="0">
                    <a:schemeClr val="tx1"/>
                  </a:gs>
                  <a:gs pos="100000">
                    <a:schemeClr val="tx1"/>
                  </a:gs>
                </a:gsLst>
                <a:lin ang="5400000" scaled="1"/>
              </a:gradFill>
              <a:latin typeface="맑은 고딕" panose="020B0503020000020004" pitchFamily="50" charset="-127"/>
            </a:endParaRPr>
          </a:p>
        </p:txBody>
      </p:sp>
      <p:sp>
        <p:nvSpPr>
          <p:cNvPr id="36" name="TextBox 35"/>
          <p:cNvSpPr txBox="1"/>
          <p:nvPr/>
        </p:nvSpPr>
        <p:spPr>
          <a:xfrm>
            <a:off x="5492687" y="483666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a:gradFill>
                  <a:gsLst>
                    <a:gs pos="0">
                      <a:schemeClr val="tx1"/>
                    </a:gs>
                    <a:gs pos="100000">
                      <a:schemeClr val="tx1"/>
                    </a:gs>
                  </a:gsLst>
                  <a:lin ang="5400000" scaled="1"/>
                </a:gradFill>
                <a:latin typeface="맑은 고딕" panose="020B0503020000020004" pitchFamily="50" charset="-127"/>
              </a:rPr>
              <a:t>턴 전투 방식</a:t>
            </a:r>
          </a:p>
        </p:txBody>
      </p:sp>
      <p:sp>
        <p:nvSpPr>
          <p:cNvPr id="37" name="TextBox 36"/>
          <p:cNvSpPr txBox="1"/>
          <p:nvPr/>
        </p:nvSpPr>
        <p:spPr>
          <a:xfrm>
            <a:off x="5492687" y="540714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4-3.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스탯</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기본 설정</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0" name="TextBox 39"/>
          <p:cNvSpPr txBox="1"/>
          <p:nvPr/>
        </p:nvSpPr>
        <p:spPr>
          <a:xfrm>
            <a:off x="5492687" y="597172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4-4.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유지 데이터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3310411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218259" y="4635852"/>
            <a:ext cx="751725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29p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TextBox 27"/>
          <p:cNvSpPr txBox="1"/>
          <p:nvPr/>
        </p:nvSpPr>
        <p:spPr>
          <a:xfrm>
            <a:off x="4218258" y="5943303"/>
            <a:ext cx="7694673"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5</a:t>
            </a:fld>
            <a:endParaRPr lang="ko-KR" altLang="en-US" sz="1800" dirty="0"/>
          </a:p>
        </p:txBody>
      </p:sp>
      <p:sp>
        <p:nvSpPr>
          <p:cNvPr id="13" name="TextBox 12"/>
          <p:cNvSpPr txBox="1"/>
          <p:nvPr/>
        </p:nvSpPr>
        <p:spPr>
          <a:xfrm>
            <a:off x="4218258" y="2781781"/>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4" name="TextBox 13"/>
          <p:cNvSpPr txBox="1"/>
          <p:nvPr/>
        </p:nvSpPr>
        <p:spPr>
          <a:xfrm>
            <a:off x="5559363" y="3356299"/>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 name="TextBox 14"/>
          <p:cNvSpPr txBox="1"/>
          <p:nvPr/>
        </p:nvSpPr>
        <p:spPr>
          <a:xfrm>
            <a:off x="5559363" y="39539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TextBox 15"/>
          <p:cNvSpPr txBox="1"/>
          <p:nvPr/>
        </p:nvSpPr>
        <p:spPr>
          <a:xfrm>
            <a:off x="4218259" y="211491"/>
            <a:ext cx="7708320"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7" name="TextBox 16"/>
          <p:cNvSpPr txBox="1"/>
          <p:nvPr/>
        </p:nvSpPr>
        <p:spPr>
          <a:xfrm>
            <a:off x="5559363" y="74454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8" name="TextBox 17"/>
          <p:cNvSpPr txBox="1"/>
          <p:nvPr/>
        </p:nvSpPr>
        <p:spPr>
          <a:xfrm>
            <a:off x="5559363" y="131656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TextBox 18"/>
          <p:cNvSpPr txBox="1"/>
          <p:nvPr/>
        </p:nvSpPr>
        <p:spPr>
          <a:xfrm>
            <a:off x="5559363" y="189412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559363" y="2399959"/>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5-4.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812117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기획 컨셉 및 개요</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6</a:t>
            </a:fld>
            <a:endParaRPr lang="ko-KR" altLang="en-US" dirty="0">
              <a:solidFill>
                <a:prstClr val="black">
                  <a:tint val="75000"/>
                </a:prstClr>
              </a:solidFill>
            </a:endParaRPr>
          </a:p>
        </p:txBody>
      </p:sp>
    </p:spTree>
    <p:extLst>
      <p:ext uri="{BB962C8B-B14F-4D97-AF65-F5344CB8AC3E}">
        <p14:creationId xmlns:p14="http://schemas.microsoft.com/office/powerpoint/2010/main" val="795923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5" name="TextBox 4"/>
          <p:cNvSpPr txBox="1"/>
          <p:nvPr/>
        </p:nvSpPr>
        <p:spPr>
          <a:xfrm>
            <a:off x="4699192" y="620053"/>
            <a:ext cx="23086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TextBox 36"/>
          <p:cNvSpPr txBox="1"/>
          <p:nvPr/>
        </p:nvSpPr>
        <p:spPr>
          <a:xfrm>
            <a:off x="4949374" y="1151764"/>
            <a:ext cx="6924178" cy="1219052"/>
          </a:xfrm>
          <a:prstGeom prst="rect">
            <a:avLst/>
          </a:prstGeom>
          <a:noFill/>
        </p:spPr>
        <p:txBody>
          <a:bodyPr wrap="square" rtlCol="0">
            <a:spAutoFit/>
          </a:bodyPr>
          <a:lstStyle/>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플레이어가 선택할  용사 캐릭터와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던전에서</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획득할 수 있는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몬스터들을</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endPar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중심으로</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각각의 특징과 능력에 따른 다양한 조합과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턴제</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임의 전략적</a:t>
            </a:r>
            <a:endPar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플레이에서 기인하는 재미를 구체적으로 제시하는 데에 중점을 둔다</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endParaRPr lang="en-US" altLang="ko-KR"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22991" y="2818021"/>
            <a:ext cx="24610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3" name="표 2"/>
          <p:cNvGraphicFramePr>
            <a:graphicFrameLocks noGrp="1"/>
          </p:cNvGraphicFramePr>
          <p:nvPr>
            <p:extLst>
              <p:ext uri="{D42A27DB-BD31-4B8C-83A1-F6EECF244321}">
                <p14:modId xmlns:p14="http://schemas.microsoft.com/office/powerpoint/2010/main" val="2992901362"/>
              </p:ext>
            </p:extLst>
          </p:nvPr>
        </p:nvGraphicFramePr>
        <p:xfrm>
          <a:off x="4949374" y="3443220"/>
          <a:ext cx="6995883" cy="2595880"/>
        </p:xfrm>
        <a:graphic>
          <a:graphicData uri="http://schemas.openxmlformats.org/drawingml/2006/table">
            <a:tbl>
              <a:tblPr firstRow="1" bandRow="1">
                <a:tableStyleId>{073A0DAA-6AF3-43AB-8588-CEC1D06C72B9}</a:tableStyleId>
              </a:tblPr>
              <a:tblGrid>
                <a:gridCol w="1804448">
                  <a:extLst>
                    <a:ext uri="{9D8B030D-6E8A-4147-A177-3AD203B41FA5}">
                      <a16:colId xmlns:a16="http://schemas.microsoft.com/office/drawing/2014/main" val="3475047078"/>
                    </a:ext>
                  </a:extLst>
                </a:gridCol>
                <a:gridCol w="5191435">
                  <a:extLst>
                    <a:ext uri="{9D8B030D-6E8A-4147-A177-3AD203B41FA5}">
                      <a16:colId xmlns:a16="http://schemas.microsoft.com/office/drawing/2014/main" val="1305153539"/>
                    </a:ext>
                  </a:extLst>
                </a:gridCol>
              </a:tblGrid>
              <a:tr h="370840">
                <a:tc gridSpan="2">
                  <a:txBody>
                    <a:bodyPr/>
                    <a:lstStyle/>
                    <a:p>
                      <a:pPr algn="ctr" latinLnBrk="1"/>
                      <a:r>
                        <a:rPr lang="ko-KR" altLang="en-US" dirty="0" smtClean="0"/>
                        <a:t>개요</a:t>
                      </a:r>
                      <a:endParaRPr lang="ko-KR" altLang="en-US" dirty="0"/>
                    </a:p>
                  </a:txBody>
                  <a:tcPr anchor="ctr"/>
                </a:tc>
                <a:tc hMerge="1">
                  <a:txBody>
                    <a:bodyPr/>
                    <a:lstStyle/>
                    <a:p>
                      <a:pPr latinLnBrk="1"/>
                      <a:endParaRPr lang="ko-KR" altLang="en-US" dirty="0"/>
                    </a:p>
                  </a:txBody>
                  <a:tcPr/>
                </a:tc>
                <a:extLst>
                  <a:ext uri="{0D108BD9-81ED-4DB2-BD59-A6C34878D82A}">
                    <a16:rowId xmlns:a16="http://schemas.microsoft.com/office/drawing/2014/main" val="1178596490"/>
                  </a:ext>
                </a:extLst>
              </a:tr>
              <a:tr h="370840">
                <a:tc>
                  <a:txBody>
                    <a:bodyPr/>
                    <a:lstStyle/>
                    <a:p>
                      <a:pPr algn="ctr" latinLnBrk="1"/>
                      <a:r>
                        <a:rPr lang="ko-KR" altLang="en-US" dirty="0" smtClean="0"/>
                        <a:t>제목</a:t>
                      </a:r>
                      <a:endParaRPr lang="ko-KR" altLang="en-US" dirty="0"/>
                    </a:p>
                  </a:txBody>
                  <a:tcPr anchor="ctr"/>
                </a:tc>
                <a:tc>
                  <a:txBody>
                    <a:bodyPr/>
                    <a:lstStyle/>
                    <a:p>
                      <a:pPr algn="ctr" latinLnBrk="1"/>
                      <a:r>
                        <a:rPr lang="en-US" altLang="ko-KR" dirty="0" smtClean="0"/>
                        <a:t>Dungeon</a:t>
                      </a:r>
                      <a:r>
                        <a:rPr lang="en-US" altLang="ko-KR" baseline="0" dirty="0" smtClean="0"/>
                        <a:t> Saver</a:t>
                      </a:r>
                      <a:endParaRPr lang="ko-KR" altLang="en-US" dirty="0"/>
                    </a:p>
                  </a:txBody>
                  <a:tcPr anchor="ctr"/>
                </a:tc>
                <a:extLst>
                  <a:ext uri="{0D108BD9-81ED-4DB2-BD59-A6C34878D82A}">
                    <a16:rowId xmlns:a16="http://schemas.microsoft.com/office/drawing/2014/main" val="1039901684"/>
                  </a:ext>
                </a:extLst>
              </a:tr>
              <a:tr h="370840">
                <a:tc>
                  <a:txBody>
                    <a:bodyPr/>
                    <a:lstStyle/>
                    <a:p>
                      <a:pPr algn="ctr" latinLnBrk="1"/>
                      <a:r>
                        <a:rPr lang="ko-KR" altLang="en-US" dirty="0" smtClean="0"/>
                        <a:t>장르</a:t>
                      </a:r>
                      <a:endParaRPr lang="ko-KR" altLang="en-US" dirty="0"/>
                    </a:p>
                  </a:txBody>
                  <a:tcPr anchor="ctr"/>
                </a:tc>
                <a:tc>
                  <a:txBody>
                    <a:bodyPr/>
                    <a:lstStyle/>
                    <a:p>
                      <a:pPr algn="ctr" latinLnBrk="1"/>
                      <a:r>
                        <a:rPr lang="en-US" altLang="ko-KR" dirty="0" smtClean="0"/>
                        <a:t>2D TRPG</a:t>
                      </a:r>
                      <a:endParaRPr lang="ko-KR" altLang="en-US" dirty="0"/>
                    </a:p>
                  </a:txBody>
                  <a:tcPr anchor="ctr"/>
                </a:tc>
                <a:extLst>
                  <a:ext uri="{0D108BD9-81ED-4DB2-BD59-A6C34878D82A}">
                    <a16:rowId xmlns:a16="http://schemas.microsoft.com/office/drawing/2014/main" val="1243071007"/>
                  </a:ext>
                </a:extLst>
              </a:tr>
              <a:tr h="370840">
                <a:tc>
                  <a:txBody>
                    <a:bodyPr/>
                    <a:lstStyle/>
                    <a:p>
                      <a:pPr algn="ctr" latinLnBrk="1"/>
                      <a:r>
                        <a:rPr lang="ko-KR" altLang="en-US" dirty="0" smtClean="0"/>
                        <a:t>플랫폼</a:t>
                      </a:r>
                      <a:endParaRPr lang="ko-KR" altLang="en-US" dirty="0"/>
                    </a:p>
                  </a:txBody>
                  <a:tcPr anchor="ctr"/>
                </a:tc>
                <a:tc>
                  <a:txBody>
                    <a:bodyPr/>
                    <a:lstStyle/>
                    <a:p>
                      <a:pPr algn="ctr" latinLnBrk="1"/>
                      <a:r>
                        <a:rPr lang="en-US" altLang="ko-KR" dirty="0" smtClean="0"/>
                        <a:t>PC, PS4,</a:t>
                      </a:r>
                      <a:r>
                        <a:rPr lang="en-US" altLang="ko-KR" baseline="0" dirty="0" smtClean="0"/>
                        <a:t> XB1, NSW</a:t>
                      </a:r>
                      <a:endParaRPr lang="ko-KR" altLang="en-US" dirty="0"/>
                    </a:p>
                  </a:txBody>
                  <a:tcPr anchor="ctr"/>
                </a:tc>
                <a:extLst>
                  <a:ext uri="{0D108BD9-81ED-4DB2-BD59-A6C34878D82A}">
                    <a16:rowId xmlns:a16="http://schemas.microsoft.com/office/drawing/2014/main" val="3415024306"/>
                  </a:ext>
                </a:extLst>
              </a:tr>
              <a:tr h="370840">
                <a:tc>
                  <a:txBody>
                    <a:bodyPr/>
                    <a:lstStyle/>
                    <a:p>
                      <a:pPr algn="ctr" latinLnBrk="1"/>
                      <a:r>
                        <a:rPr lang="ko-KR" altLang="en-US" dirty="0" smtClean="0"/>
                        <a:t>플레이 유형</a:t>
                      </a:r>
                      <a:endParaRPr lang="ko-KR" altLang="en-US" dirty="0"/>
                    </a:p>
                  </a:txBody>
                  <a:tcPr anchor="ctr"/>
                </a:tc>
                <a:tc>
                  <a:txBody>
                    <a:bodyPr/>
                    <a:lstStyle/>
                    <a:p>
                      <a:pPr algn="ctr" latinLnBrk="1"/>
                      <a:r>
                        <a:rPr lang="ko-KR" altLang="en-US" dirty="0" smtClean="0"/>
                        <a:t>싱글 플레이</a:t>
                      </a:r>
                      <a:endParaRPr lang="ko-KR" altLang="en-US" dirty="0"/>
                    </a:p>
                  </a:txBody>
                  <a:tcPr anchor="ctr"/>
                </a:tc>
                <a:extLst>
                  <a:ext uri="{0D108BD9-81ED-4DB2-BD59-A6C34878D82A}">
                    <a16:rowId xmlns:a16="http://schemas.microsoft.com/office/drawing/2014/main" val="3365250972"/>
                  </a:ext>
                </a:extLst>
              </a:tr>
              <a:tr h="741680">
                <a:tc>
                  <a:txBody>
                    <a:bodyPr/>
                    <a:lstStyle/>
                    <a:p>
                      <a:pPr algn="ctr" latinLnBrk="1"/>
                      <a:r>
                        <a:rPr lang="ko-KR" altLang="en-US" dirty="0" smtClean="0"/>
                        <a:t>주 타겟 유저</a:t>
                      </a:r>
                      <a:endParaRPr lang="ko-KR" altLang="en-US" dirty="0"/>
                    </a:p>
                  </a:txBody>
                  <a:tcPr anchor="ctr"/>
                </a:tc>
                <a:tc>
                  <a:txBody>
                    <a:bodyPr/>
                    <a:lstStyle/>
                    <a:p>
                      <a:pPr algn="ctr" latinLnBrk="1"/>
                      <a:r>
                        <a:rPr lang="ko-KR" altLang="en-US" dirty="0" smtClean="0"/>
                        <a:t>턴 방식의 전략 게임과 </a:t>
                      </a:r>
                      <a:r>
                        <a:rPr lang="ko-KR" altLang="en-US" dirty="0" err="1" smtClean="0"/>
                        <a:t>로그라이크</a:t>
                      </a:r>
                      <a:r>
                        <a:rPr lang="ko-KR" altLang="en-US" dirty="0" smtClean="0"/>
                        <a:t> 장르를</a:t>
                      </a:r>
                      <a:r>
                        <a:rPr lang="ko-KR" altLang="en-US" baseline="0" dirty="0" smtClean="0"/>
                        <a:t> </a:t>
                      </a:r>
                      <a:endParaRPr lang="en-US" altLang="ko-KR" baseline="0" dirty="0" smtClean="0"/>
                    </a:p>
                    <a:p>
                      <a:pPr algn="ctr" latinLnBrk="1"/>
                      <a:r>
                        <a:rPr lang="ko-KR" altLang="en-US" baseline="0" dirty="0" smtClean="0"/>
                        <a:t>선호하는 </a:t>
                      </a:r>
                      <a:r>
                        <a:rPr lang="en-US" altLang="ko-KR" dirty="0" smtClean="0"/>
                        <a:t>10~30</a:t>
                      </a:r>
                      <a:r>
                        <a:rPr lang="ko-KR" altLang="en-US" dirty="0" smtClean="0"/>
                        <a:t>대 게이머</a:t>
                      </a:r>
                      <a:endParaRPr lang="ko-KR" altLang="en-US" dirty="0"/>
                    </a:p>
                  </a:txBody>
                  <a:tcPr anchor="ctr"/>
                </a:tc>
                <a:extLst>
                  <a:ext uri="{0D108BD9-81ED-4DB2-BD59-A6C34878D82A}">
                    <a16:rowId xmlns:a16="http://schemas.microsoft.com/office/drawing/2014/main" val="1780395460"/>
                  </a:ext>
                </a:extLst>
              </a:tr>
            </a:tbl>
          </a:graphicData>
        </a:graphic>
      </p:graphicFrame>
      <p:sp>
        <p:nvSpPr>
          <p:cNvPr id="7" name="슬라이드 번호 개체 틀 6"/>
          <p:cNvSpPr>
            <a:spLocks noGrp="1"/>
          </p:cNvSpPr>
          <p:nvPr>
            <p:ph type="sldNum" sz="quarter" idx="12"/>
          </p:nvPr>
        </p:nvSpPr>
        <p:spPr/>
        <p:txBody>
          <a:bodyPr/>
          <a:lstStyle/>
          <a:p>
            <a:fld id="{95F8FB6C-4300-4EF3-AEA9-23A98D8A74E1}" type="slidenum">
              <a:rPr lang="ko-KR" altLang="en-US" sz="1800" smtClean="0"/>
              <a:t>7</a:t>
            </a:fld>
            <a:endParaRPr lang="ko-KR" altLang="en-US" sz="18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266" y="777408"/>
            <a:ext cx="4196874" cy="23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1155469" y="3125709"/>
            <a:ext cx="294270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1 - 1)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턴제</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전투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6" name="TextBox 15"/>
          <p:cNvSpPr txBox="1"/>
          <p:nvPr/>
        </p:nvSpPr>
        <p:spPr>
          <a:xfrm>
            <a:off x="1155469" y="6125918"/>
            <a:ext cx="294270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1 - 2)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조합과  상성이  있는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39071" y="3640508"/>
            <a:ext cx="4199265" cy="2360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3570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a:gradFill>
                  <a:gsLst>
                    <a:gs pos="0">
                      <a:schemeClr val="tx1"/>
                    </a:gs>
                    <a:gs pos="100000">
                      <a:schemeClr val="tx1"/>
                    </a:gs>
                  </a:gsLst>
                  <a:lin ang="5400000" scaled="1"/>
                </a:gradFill>
                <a:latin typeface="맑은 고딕" panose="020B0503020000020004" pitchFamily="50" charset="-127"/>
              </a:rPr>
              <a:t>기획 컨셉 및 </a:t>
            </a:r>
            <a:r>
              <a:rPr lang="ko-KR" altLang="en-US" b="1" dirty="0" smtClean="0">
                <a:gradFill>
                  <a:gsLst>
                    <a:gs pos="0">
                      <a:schemeClr val="tx1"/>
                    </a:gs>
                    <a:gs pos="100000">
                      <a:schemeClr val="tx1"/>
                    </a:gs>
                  </a:gsLst>
                  <a:lin ang="5400000" scaled="1"/>
                </a:gradFill>
                <a:latin typeface="맑은 고딕" panose="020B0503020000020004" pitchFamily="50" charset="-127"/>
              </a:rPr>
              <a:t>개요</a:t>
            </a:r>
            <a:endParaRPr lang="ko-KR" altLang="en-US" b="1" dirty="0">
              <a:gradFill>
                <a:gsLst>
                  <a:gs pos="0">
                    <a:schemeClr val="tx1"/>
                  </a:gs>
                  <a:gs pos="100000">
                    <a:schemeClr val="tx1"/>
                  </a:gs>
                </a:gsLst>
                <a:lin ang="5400000" scaled="1"/>
              </a:gradFill>
              <a:latin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754747" y="1257383"/>
            <a:ext cx="2322282"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7" name="표 6"/>
          <p:cNvGraphicFramePr>
            <a:graphicFrameLocks noGrp="1"/>
          </p:cNvGraphicFramePr>
          <p:nvPr>
            <p:extLst>
              <p:ext uri="{D42A27DB-BD31-4B8C-83A1-F6EECF244321}">
                <p14:modId xmlns:p14="http://schemas.microsoft.com/office/powerpoint/2010/main" val="276476328"/>
              </p:ext>
            </p:extLst>
          </p:nvPr>
        </p:nvGraphicFramePr>
        <p:xfrm>
          <a:off x="754747" y="1894709"/>
          <a:ext cx="10609938" cy="3421728"/>
        </p:xfrm>
        <a:graphic>
          <a:graphicData uri="http://schemas.openxmlformats.org/drawingml/2006/table">
            <a:tbl>
              <a:tblPr firstRow="1" bandRow="1">
                <a:tableStyleId>{073A0DAA-6AF3-43AB-8588-CEC1D06C72B9}</a:tableStyleId>
              </a:tblPr>
              <a:tblGrid>
                <a:gridCol w="1712682">
                  <a:extLst>
                    <a:ext uri="{9D8B030D-6E8A-4147-A177-3AD203B41FA5}">
                      <a16:colId xmlns:a16="http://schemas.microsoft.com/office/drawing/2014/main" val="389885132"/>
                    </a:ext>
                  </a:extLst>
                </a:gridCol>
                <a:gridCol w="3991428">
                  <a:extLst>
                    <a:ext uri="{9D8B030D-6E8A-4147-A177-3AD203B41FA5}">
                      <a16:colId xmlns:a16="http://schemas.microsoft.com/office/drawing/2014/main" val="2257908711"/>
                    </a:ext>
                  </a:extLst>
                </a:gridCol>
                <a:gridCol w="4905828">
                  <a:extLst>
                    <a:ext uri="{9D8B030D-6E8A-4147-A177-3AD203B41FA5}">
                      <a16:colId xmlns:a16="http://schemas.microsoft.com/office/drawing/2014/main" val="4230724851"/>
                    </a:ext>
                  </a:extLst>
                </a:gridCol>
              </a:tblGrid>
              <a:tr h="570288">
                <a:tc>
                  <a:txBody>
                    <a:bodyPr/>
                    <a:lstStyle/>
                    <a:p>
                      <a:pPr algn="ctr" latinLnBrk="1"/>
                      <a:r>
                        <a:rPr lang="en-US" altLang="ko-KR" dirty="0" smtClean="0"/>
                        <a:t>Requirements</a:t>
                      </a:r>
                      <a:endParaRPr lang="ko-KR" altLang="en-US" dirty="0"/>
                    </a:p>
                  </a:txBody>
                  <a:tcPr anchor="ctr"/>
                </a:tc>
                <a:tc>
                  <a:txBody>
                    <a:bodyPr/>
                    <a:lstStyle/>
                    <a:p>
                      <a:pPr algn="ctr" latinLnBrk="1"/>
                      <a:r>
                        <a:rPr lang="en-US" altLang="ko-KR" dirty="0" smtClean="0"/>
                        <a:t>Minimum</a:t>
                      </a:r>
                      <a:endParaRPr lang="ko-KR" altLang="en-US" dirty="0"/>
                    </a:p>
                  </a:txBody>
                  <a:tcPr anchor="ctr"/>
                </a:tc>
                <a:tc>
                  <a:txBody>
                    <a:bodyPr/>
                    <a:lstStyle/>
                    <a:p>
                      <a:pPr algn="ctr" latinLnBrk="1"/>
                      <a:r>
                        <a:rPr lang="en-US" altLang="ko-KR" dirty="0" smtClean="0"/>
                        <a:t>Recommended</a:t>
                      </a:r>
                      <a:endParaRPr lang="ko-KR" altLang="en-US" dirty="0"/>
                    </a:p>
                  </a:txBody>
                  <a:tcPr anchor="ctr"/>
                </a:tc>
                <a:extLst>
                  <a:ext uri="{0D108BD9-81ED-4DB2-BD59-A6C34878D82A}">
                    <a16:rowId xmlns:a16="http://schemas.microsoft.com/office/drawing/2014/main" val="2153952193"/>
                  </a:ext>
                </a:extLst>
              </a:tr>
              <a:tr h="570288">
                <a:tc>
                  <a:txBody>
                    <a:bodyPr/>
                    <a:lstStyle/>
                    <a:p>
                      <a:pPr algn="ctr" latinLnBrk="1"/>
                      <a:r>
                        <a:rPr lang="en-US" altLang="ko-KR" dirty="0" smtClean="0"/>
                        <a:t>OS</a:t>
                      </a:r>
                      <a:endParaRPr lang="ko-KR" altLang="en-US" dirty="0"/>
                    </a:p>
                  </a:txBody>
                  <a:tcPr anchor="ctr"/>
                </a:tc>
                <a:tc>
                  <a:txBody>
                    <a:bodyPr/>
                    <a:lstStyle/>
                    <a:p>
                      <a:pPr algn="ctr" latinLnBrk="1"/>
                      <a:r>
                        <a:rPr lang="en-US" altLang="ko-KR" dirty="0" smtClean="0"/>
                        <a:t>Windows 7+</a:t>
                      </a:r>
                      <a:endParaRPr lang="ko-KR" altLang="en-US" dirty="0"/>
                    </a:p>
                  </a:txBody>
                  <a:tcPr anchor="ctr"/>
                </a:tc>
                <a:tc>
                  <a:txBody>
                    <a:bodyPr/>
                    <a:lstStyle/>
                    <a:p>
                      <a:pPr algn="ctr" latinLnBrk="1"/>
                      <a:r>
                        <a:rPr lang="en-US" altLang="ko-KR" dirty="0" smtClean="0"/>
                        <a:t>Windows 7+</a:t>
                      </a:r>
                      <a:endParaRPr lang="ko-KR" altLang="en-US" dirty="0"/>
                    </a:p>
                  </a:txBody>
                  <a:tcPr anchor="ctr"/>
                </a:tc>
                <a:extLst>
                  <a:ext uri="{0D108BD9-81ED-4DB2-BD59-A6C34878D82A}">
                    <a16:rowId xmlns:a16="http://schemas.microsoft.com/office/drawing/2014/main" val="1269054755"/>
                  </a:ext>
                </a:extLst>
              </a:tr>
              <a:tr h="570288">
                <a:tc>
                  <a:txBody>
                    <a:bodyPr/>
                    <a:lstStyle/>
                    <a:p>
                      <a:pPr algn="ctr" latinLnBrk="1"/>
                      <a:r>
                        <a:rPr lang="en-US" altLang="ko-KR" dirty="0" smtClean="0"/>
                        <a:t>Processor</a:t>
                      </a:r>
                      <a:endParaRPr lang="ko-KR" altLang="en-US" dirty="0"/>
                    </a:p>
                  </a:txBody>
                  <a:tcPr anchor="ctr"/>
                </a:tc>
                <a:tc>
                  <a:txBody>
                    <a:bodyPr/>
                    <a:lstStyle/>
                    <a:p>
                      <a:pPr algn="ctr" latinLnBrk="1"/>
                      <a:r>
                        <a:rPr lang="en-US" altLang="ko-KR" dirty="0" smtClean="0"/>
                        <a:t>Dual core</a:t>
                      </a:r>
                      <a:r>
                        <a:rPr lang="en-US" altLang="ko-KR" baseline="0" dirty="0" smtClean="0"/>
                        <a:t> </a:t>
                      </a:r>
                      <a:r>
                        <a:rPr lang="en-US" altLang="ko-KR" dirty="0" smtClean="0"/>
                        <a:t>2.6 </a:t>
                      </a:r>
                      <a:r>
                        <a:rPr lang="en-US" altLang="ko-KR" dirty="0" err="1" smtClean="0"/>
                        <a:t>ghz</a:t>
                      </a:r>
                      <a:r>
                        <a:rPr lang="en-US" altLang="ko-KR" dirty="0" smtClean="0"/>
                        <a:t> +</a:t>
                      </a:r>
                      <a:endParaRPr lang="ko-KR" altLang="en-US" dirty="0"/>
                    </a:p>
                  </a:txBody>
                  <a:tcPr anchor="ctr"/>
                </a:tc>
                <a:tc>
                  <a:txBody>
                    <a:bodyPr/>
                    <a:lstStyle/>
                    <a:p>
                      <a:pPr algn="ctr" latinLnBrk="1"/>
                      <a:r>
                        <a:rPr lang="en-US" altLang="ko-KR" dirty="0" smtClean="0"/>
                        <a:t>Intel core</a:t>
                      </a:r>
                      <a:r>
                        <a:rPr lang="en-US" altLang="ko-KR" baseline="0" dirty="0" smtClean="0"/>
                        <a:t> i5 series +</a:t>
                      </a:r>
                      <a:endParaRPr lang="ko-KR" altLang="en-US" dirty="0"/>
                    </a:p>
                  </a:txBody>
                  <a:tcPr anchor="ctr"/>
                </a:tc>
                <a:extLst>
                  <a:ext uri="{0D108BD9-81ED-4DB2-BD59-A6C34878D82A}">
                    <a16:rowId xmlns:a16="http://schemas.microsoft.com/office/drawing/2014/main" val="3493674192"/>
                  </a:ext>
                </a:extLst>
              </a:tr>
              <a:tr h="570288">
                <a:tc>
                  <a:txBody>
                    <a:bodyPr/>
                    <a:lstStyle/>
                    <a:p>
                      <a:pPr algn="ctr" latinLnBrk="1"/>
                      <a:r>
                        <a:rPr lang="en-US" altLang="ko-KR" dirty="0" smtClean="0"/>
                        <a:t>Memory</a:t>
                      </a:r>
                      <a:endParaRPr lang="ko-KR" altLang="en-US" dirty="0"/>
                    </a:p>
                  </a:txBody>
                  <a:tcPr anchor="ctr"/>
                </a:tc>
                <a:tc>
                  <a:txBody>
                    <a:bodyPr/>
                    <a:lstStyle/>
                    <a:p>
                      <a:pPr algn="ctr" latinLnBrk="1"/>
                      <a:r>
                        <a:rPr lang="en-US" altLang="ko-KR" dirty="0" smtClean="0"/>
                        <a:t>1 GB</a:t>
                      </a:r>
                      <a:endParaRPr lang="ko-KR" altLang="en-US" dirty="0"/>
                    </a:p>
                  </a:txBody>
                  <a:tcPr anchor="ctr"/>
                </a:tc>
                <a:tc>
                  <a:txBody>
                    <a:bodyPr/>
                    <a:lstStyle/>
                    <a:p>
                      <a:pPr algn="ctr" latinLnBrk="1"/>
                      <a:r>
                        <a:rPr lang="en-US" altLang="ko-KR" dirty="0" smtClean="0"/>
                        <a:t>2 GB</a:t>
                      </a:r>
                    </a:p>
                  </a:txBody>
                  <a:tcPr anchor="ctr"/>
                </a:tc>
                <a:extLst>
                  <a:ext uri="{0D108BD9-81ED-4DB2-BD59-A6C34878D82A}">
                    <a16:rowId xmlns:a16="http://schemas.microsoft.com/office/drawing/2014/main" val="2897240585"/>
                  </a:ext>
                </a:extLst>
              </a:tr>
              <a:tr h="570288">
                <a:tc>
                  <a:txBody>
                    <a:bodyPr/>
                    <a:lstStyle/>
                    <a:p>
                      <a:pPr algn="ctr" latinLnBrk="1"/>
                      <a:r>
                        <a:rPr lang="en-US" altLang="ko-KR" dirty="0" smtClean="0"/>
                        <a:t>Graphics</a:t>
                      </a:r>
                      <a:endParaRPr lang="ko-KR" altLang="en-US" dirty="0"/>
                    </a:p>
                  </a:txBody>
                  <a:tcPr anchor="ctr"/>
                </a:tc>
                <a:tc>
                  <a:txBody>
                    <a:bodyPr/>
                    <a:lstStyle/>
                    <a:p>
                      <a:pPr algn="ctr" latinLnBrk="1"/>
                      <a:r>
                        <a:rPr lang="en-US" altLang="ko-KR" dirty="0" err="1" smtClean="0"/>
                        <a:t>nVidia</a:t>
                      </a:r>
                      <a:r>
                        <a:rPr lang="en-US" altLang="ko-KR" dirty="0" smtClean="0"/>
                        <a:t> GTS 450 +</a:t>
                      </a:r>
                      <a:endParaRPr lang="ko-KR" altLang="en-US" dirty="0"/>
                    </a:p>
                  </a:txBody>
                  <a:tcPr anchor="ctr"/>
                </a:tc>
                <a:tc>
                  <a:txBody>
                    <a:bodyPr/>
                    <a:lstStyle/>
                    <a:p>
                      <a:pPr marL="0" indent="0" algn="ctr" latinLnBrk="1">
                        <a:buNone/>
                      </a:pPr>
                      <a:r>
                        <a:rPr lang="en-US" altLang="ko-KR" dirty="0" err="1" smtClean="0"/>
                        <a:t>nVidia</a:t>
                      </a:r>
                      <a:r>
                        <a:rPr lang="en-US" altLang="ko-KR" dirty="0" smtClean="0"/>
                        <a:t> GTS 450 +</a:t>
                      </a:r>
                      <a:endParaRPr lang="ko-KR" altLang="en-US" dirty="0"/>
                    </a:p>
                  </a:txBody>
                  <a:tcPr anchor="ctr"/>
                </a:tc>
                <a:extLst>
                  <a:ext uri="{0D108BD9-81ED-4DB2-BD59-A6C34878D82A}">
                    <a16:rowId xmlns:a16="http://schemas.microsoft.com/office/drawing/2014/main" val="2410361268"/>
                  </a:ext>
                </a:extLst>
              </a:tr>
              <a:tr h="570288">
                <a:tc>
                  <a:txBody>
                    <a:bodyPr/>
                    <a:lstStyle/>
                    <a:p>
                      <a:pPr algn="ctr" latinLnBrk="1"/>
                      <a:r>
                        <a:rPr lang="en-US" altLang="ko-KR" dirty="0" smtClean="0"/>
                        <a:t>Storage</a:t>
                      </a:r>
                      <a:endParaRPr lang="ko-KR" altLang="en-US" dirty="0"/>
                    </a:p>
                  </a:txBody>
                  <a:tcPr anchor="ctr"/>
                </a:tc>
                <a:tc>
                  <a:txBody>
                    <a:bodyPr/>
                    <a:lstStyle/>
                    <a:p>
                      <a:pPr algn="ctr" latinLnBrk="1"/>
                      <a:r>
                        <a:rPr lang="en-US" altLang="ko-KR" dirty="0" smtClean="0"/>
                        <a:t>400 MB</a:t>
                      </a:r>
                      <a:endParaRPr lang="ko-KR" altLang="en-US" dirty="0"/>
                    </a:p>
                  </a:txBody>
                  <a:tcPr anchor="ctr"/>
                </a:tc>
                <a:tc>
                  <a:txBody>
                    <a:bodyPr/>
                    <a:lstStyle/>
                    <a:p>
                      <a:pPr algn="ctr" latinLnBrk="1"/>
                      <a:r>
                        <a:rPr lang="en-US" altLang="ko-KR" dirty="0" smtClean="0"/>
                        <a:t>1 GB</a:t>
                      </a:r>
                      <a:endParaRPr lang="ko-KR" altLang="en-US" dirty="0"/>
                    </a:p>
                  </a:txBody>
                  <a:tcPr anchor="ctr"/>
                </a:tc>
                <a:extLst>
                  <a:ext uri="{0D108BD9-81ED-4DB2-BD59-A6C34878D82A}">
                    <a16:rowId xmlns:a16="http://schemas.microsoft.com/office/drawing/2014/main" val="1747673497"/>
                  </a:ext>
                </a:extLst>
              </a:tr>
            </a:tbl>
          </a:graphicData>
        </a:graphic>
      </p:graphicFrame>
      <p:sp>
        <p:nvSpPr>
          <p:cNvPr id="2" name="슬라이드 번호 개체 틀 1"/>
          <p:cNvSpPr>
            <a:spLocks noGrp="1"/>
          </p:cNvSpPr>
          <p:nvPr>
            <p:ph type="sldNum" sz="quarter" idx="12"/>
          </p:nvPr>
        </p:nvSpPr>
        <p:spPr/>
        <p:txBody>
          <a:bodyPr/>
          <a:lstStyle/>
          <a:p>
            <a:fld id="{95F8FB6C-4300-4EF3-AEA9-23A98D8A74E1}" type="slidenum">
              <a:rPr lang="ko-KR" altLang="en-US" sz="1800" smtClean="0"/>
              <a:t>8</a:t>
            </a:fld>
            <a:endParaRPr lang="ko-KR" altLang="en-US" sz="1800" dirty="0"/>
          </a:p>
        </p:txBody>
      </p:sp>
    </p:spTree>
    <p:extLst>
      <p:ext uri="{BB962C8B-B14F-4D97-AF65-F5344CB8AC3E}">
        <p14:creationId xmlns:p14="http://schemas.microsoft.com/office/powerpoint/2010/main" val="21777600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게임 소개</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9</a:t>
            </a:fld>
            <a:endParaRPr lang="ko-KR" altLang="en-US" dirty="0">
              <a:solidFill>
                <a:prstClr val="black">
                  <a:tint val="75000"/>
                </a:prstClr>
              </a:solidFill>
            </a:endParaRPr>
          </a:p>
        </p:txBody>
      </p:sp>
    </p:spTree>
    <p:extLst>
      <p:ext uri="{BB962C8B-B14F-4D97-AF65-F5344CB8AC3E}">
        <p14:creationId xmlns:p14="http://schemas.microsoft.com/office/powerpoint/2010/main" val="35390760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387590"/>
            <a:ext cx="5950972" cy="5078313"/>
          </a:xfrm>
          <a:prstGeom prst="rect">
            <a:avLst/>
          </a:prstGeom>
          <a:noFill/>
        </p:spPr>
        <p:txBody>
          <a:bodyPr wrap="square" rtlCol="0">
            <a:spAutoFit/>
          </a:bodyPr>
          <a:lstStyle/>
          <a:p>
            <a:pPr>
              <a:lnSpc>
                <a:spcPct val="150000"/>
              </a:lnSpc>
            </a:pPr>
            <a:r>
              <a:rPr lang="ko-KR" altLang="en-US" dirty="0" smtClean="0">
                <a:latin typeface="+mn-ea"/>
              </a:rPr>
              <a:t> 동부 왕국의 평화롭고 한적한 마을 </a:t>
            </a:r>
            <a:r>
              <a:rPr lang="en-US" altLang="ko-KR" dirty="0" smtClean="0">
                <a:latin typeface="+mn-ea"/>
              </a:rPr>
              <a:t>‘</a:t>
            </a:r>
            <a:r>
              <a:rPr lang="ko-KR" altLang="en-US" dirty="0" err="1" smtClean="0">
                <a:latin typeface="+mn-ea"/>
              </a:rPr>
              <a:t>리안</a:t>
            </a:r>
            <a:r>
              <a:rPr lang="en-US" altLang="ko-KR" dirty="0" smtClean="0">
                <a:latin typeface="+mn-ea"/>
              </a:rPr>
              <a:t>’.</a:t>
            </a:r>
          </a:p>
          <a:p>
            <a:pPr>
              <a:lnSpc>
                <a:spcPct val="150000"/>
              </a:lnSpc>
            </a:pPr>
            <a:endParaRPr lang="en-US" altLang="ko-KR" dirty="0" smtClean="0">
              <a:latin typeface="+mn-ea"/>
            </a:endParaRPr>
          </a:p>
          <a:p>
            <a:pPr>
              <a:lnSpc>
                <a:spcPct val="150000"/>
              </a:lnSpc>
            </a:pPr>
            <a:r>
              <a:rPr lang="ko-KR" altLang="en-US" dirty="0" smtClean="0">
                <a:latin typeface="+mn-ea"/>
              </a:rPr>
              <a:t>어느 날 돌연</a:t>
            </a:r>
            <a:r>
              <a:rPr lang="en-US" altLang="ko-KR" dirty="0" smtClean="0">
                <a:latin typeface="+mn-ea"/>
              </a:rPr>
              <a:t> </a:t>
            </a:r>
            <a:r>
              <a:rPr lang="ko-KR" altLang="en-US" dirty="0" smtClean="0">
                <a:latin typeface="+mn-ea"/>
              </a:rPr>
              <a:t>마을 주변에 정체불명의 던전이 출현한다</a:t>
            </a:r>
            <a:r>
              <a:rPr lang="en-US" altLang="ko-KR" dirty="0" smtClean="0">
                <a:latin typeface="+mn-ea"/>
              </a:rPr>
              <a:t>.</a:t>
            </a:r>
          </a:p>
          <a:p>
            <a:pPr>
              <a:lnSpc>
                <a:spcPct val="150000"/>
              </a:lnSpc>
            </a:pPr>
            <a:r>
              <a:rPr lang="ko-KR" altLang="en-US" dirty="0" smtClean="0">
                <a:latin typeface="+mn-ea"/>
              </a:rPr>
              <a:t>던전 안에는 수많은 다양한 </a:t>
            </a:r>
            <a:r>
              <a:rPr lang="ko-KR" altLang="en-US" dirty="0" err="1" smtClean="0">
                <a:latin typeface="+mn-ea"/>
              </a:rPr>
              <a:t>몬스터들이</a:t>
            </a:r>
            <a:r>
              <a:rPr lang="ko-KR" altLang="en-US" dirty="0" smtClean="0">
                <a:latin typeface="+mn-ea"/>
              </a:rPr>
              <a:t> 존재했고</a:t>
            </a:r>
            <a:r>
              <a:rPr lang="en-US" altLang="ko-KR" dirty="0" smtClean="0">
                <a:latin typeface="+mn-ea"/>
              </a:rPr>
              <a:t>, </a:t>
            </a:r>
          </a:p>
          <a:p>
            <a:pPr>
              <a:lnSpc>
                <a:spcPct val="150000"/>
              </a:lnSpc>
            </a:pPr>
            <a:r>
              <a:rPr lang="ko-KR" altLang="en-US" dirty="0" smtClean="0">
                <a:latin typeface="+mn-ea"/>
              </a:rPr>
              <a:t>그들은 점차 밖으로 나와 마을 주민들을 위협했다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왕국의 정예 토벌대가 </a:t>
            </a:r>
            <a:r>
              <a:rPr lang="ko-KR" altLang="en-US" dirty="0" err="1" smtClean="0">
                <a:latin typeface="+mn-ea"/>
              </a:rPr>
              <a:t>던전을</a:t>
            </a:r>
            <a:r>
              <a:rPr lang="ko-KR" altLang="en-US" dirty="0" smtClean="0">
                <a:latin typeface="+mn-ea"/>
              </a:rPr>
              <a:t> 공략하려 했지만</a:t>
            </a:r>
            <a:r>
              <a:rPr lang="en-US" altLang="ko-KR" dirty="0" smtClean="0">
                <a:latin typeface="+mn-ea"/>
              </a:rPr>
              <a:t>,</a:t>
            </a:r>
            <a:r>
              <a:rPr lang="ko-KR" altLang="en-US" dirty="0" smtClean="0">
                <a:latin typeface="+mn-ea"/>
              </a:rPr>
              <a:t> </a:t>
            </a:r>
            <a:r>
              <a:rPr lang="ko-KR" altLang="en-US" dirty="0" err="1" smtClean="0">
                <a:latin typeface="+mn-ea"/>
              </a:rPr>
              <a:t>던전의</a:t>
            </a:r>
            <a:r>
              <a:rPr lang="ko-KR" altLang="en-US" dirty="0" smtClean="0">
                <a:latin typeface="+mn-ea"/>
              </a:rPr>
              <a:t> 지배자이자 강력한 마물인 </a:t>
            </a:r>
            <a:r>
              <a:rPr lang="en-US" altLang="ko-KR" dirty="0" smtClean="0">
                <a:latin typeface="+mn-ea"/>
              </a:rPr>
              <a:t>‘</a:t>
            </a:r>
            <a:r>
              <a:rPr lang="ko-KR" altLang="en-US" dirty="0" smtClean="0">
                <a:latin typeface="+mn-ea"/>
              </a:rPr>
              <a:t>마왕</a:t>
            </a:r>
            <a:r>
              <a:rPr lang="en-US" altLang="ko-KR" dirty="0" smtClean="0">
                <a:latin typeface="+mn-ea"/>
              </a:rPr>
              <a:t>’</a:t>
            </a:r>
            <a:r>
              <a:rPr lang="ko-KR" altLang="en-US" dirty="0" smtClean="0">
                <a:latin typeface="+mn-ea"/>
              </a:rPr>
              <a:t>의 힘 앞에 속수무책으로 패배하고 만다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마왕은 </a:t>
            </a:r>
            <a:r>
              <a:rPr lang="ko-KR" altLang="en-US" dirty="0" err="1">
                <a:latin typeface="+mn-ea"/>
              </a:rPr>
              <a:t>던전의</a:t>
            </a:r>
            <a:r>
              <a:rPr lang="ko-KR" altLang="en-US" dirty="0">
                <a:latin typeface="+mn-ea"/>
              </a:rPr>
              <a:t> </a:t>
            </a:r>
            <a:r>
              <a:rPr lang="ko-KR" altLang="en-US" dirty="0" err="1">
                <a:latin typeface="+mn-ea"/>
              </a:rPr>
              <a:t>최심부에는</a:t>
            </a:r>
            <a:r>
              <a:rPr lang="ko-KR" altLang="en-US" dirty="0">
                <a:latin typeface="+mn-ea"/>
              </a:rPr>
              <a:t> 자리잡고 있으며</a:t>
            </a:r>
            <a:r>
              <a:rPr lang="en-US" altLang="ko-KR" dirty="0">
                <a:latin typeface="+mn-ea"/>
              </a:rPr>
              <a:t>, </a:t>
            </a:r>
            <a:r>
              <a:rPr lang="ko-KR" altLang="en-US" dirty="0" err="1">
                <a:latin typeface="+mn-ea"/>
              </a:rPr>
              <a:t>던전</a:t>
            </a:r>
            <a:r>
              <a:rPr lang="ko-KR" altLang="en-US" dirty="0">
                <a:latin typeface="+mn-ea"/>
              </a:rPr>
              <a:t> 안의</a:t>
            </a:r>
            <a:endParaRPr lang="en-US" altLang="ko-KR" dirty="0">
              <a:latin typeface="+mn-ea"/>
            </a:endParaRPr>
          </a:p>
          <a:p>
            <a:pPr>
              <a:lnSpc>
                <a:spcPct val="150000"/>
              </a:lnSpc>
            </a:pPr>
            <a:r>
              <a:rPr lang="ko-KR" altLang="en-US" dirty="0" err="1">
                <a:latin typeface="+mn-ea"/>
              </a:rPr>
              <a:t>몬스터들은</a:t>
            </a:r>
            <a:r>
              <a:rPr lang="ko-KR" altLang="en-US" dirty="0">
                <a:latin typeface="+mn-ea"/>
              </a:rPr>
              <a:t> 마왕의 저주를 받아 사악해진 존재들이었다</a:t>
            </a:r>
            <a:r>
              <a:rPr lang="en-US" altLang="ko-KR" dirty="0" smtClean="0">
                <a:latin typeface="+mn-ea"/>
              </a:rPr>
              <a:t>.</a:t>
            </a:r>
            <a:endParaRPr lang="en-US" altLang="ko-KR" dirty="0">
              <a:latin typeface="+mn-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263143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465968"/>
            <a:ext cx="6250574" cy="4247317"/>
          </a:xfrm>
          <a:prstGeom prst="rect">
            <a:avLst/>
          </a:prstGeom>
          <a:noFill/>
        </p:spPr>
        <p:txBody>
          <a:bodyPr wrap="square" rtlCol="0">
            <a:spAutoFit/>
          </a:bodyPr>
          <a:lstStyle/>
          <a:p>
            <a:pPr>
              <a:lnSpc>
                <a:spcPct val="150000"/>
              </a:lnSpc>
            </a:pPr>
            <a:r>
              <a:rPr lang="en-US" altLang="ko-KR" dirty="0" smtClean="0">
                <a:latin typeface="+mn-ea"/>
              </a:rPr>
              <a:t> </a:t>
            </a:r>
            <a:r>
              <a:rPr lang="ko-KR" altLang="en-US" dirty="0" smtClean="0">
                <a:latin typeface="+mn-ea"/>
              </a:rPr>
              <a:t>이에 왕국은 정화의 능력을 지닌 전설의 용사를 불러 </a:t>
            </a:r>
            <a:r>
              <a:rPr lang="ko-KR" altLang="en-US" dirty="0" err="1" smtClean="0">
                <a:latin typeface="+mn-ea"/>
              </a:rPr>
              <a:t>던전을</a:t>
            </a:r>
            <a:r>
              <a:rPr lang="ko-KR" altLang="en-US" dirty="0" smtClean="0">
                <a:latin typeface="+mn-ea"/>
              </a:rPr>
              <a:t> 탐험하고 위험을 제거하라는 명을 내린다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용사는 재앙의 원흉인 마왕을 처치하기 위해 </a:t>
            </a:r>
            <a:r>
              <a:rPr lang="ko-KR" altLang="en-US" dirty="0" err="1" smtClean="0">
                <a:latin typeface="+mn-ea"/>
              </a:rPr>
              <a:t>던전을</a:t>
            </a:r>
            <a:r>
              <a:rPr lang="ko-KR" altLang="en-US" dirty="0" smtClean="0">
                <a:latin typeface="+mn-ea"/>
              </a:rPr>
              <a:t> 정복해나가며 저주받은 </a:t>
            </a:r>
            <a:r>
              <a:rPr lang="ko-KR" altLang="en-US" dirty="0" err="1" smtClean="0">
                <a:latin typeface="+mn-ea"/>
              </a:rPr>
              <a:t>몬스터들을</a:t>
            </a:r>
            <a:r>
              <a:rPr lang="ko-KR" altLang="en-US" dirty="0" smtClean="0">
                <a:latin typeface="+mn-ea"/>
              </a:rPr>
              <a:t> 정화해나갔고</a:t>
            </a:r>
            <a:r>
              <a:rPr lang="en-US" altLang="ko-KR" dirty="0" smtClean="0">
                <a:latin typeface="+mn-ea"/>
              </a:rPr>
              <a:t>, </a:t>
            </a:r>
            <a:r>
              <a:rPr lang="ko-KR" altLang="en-US" dirty="0" smtClean="0">
                <a:latin typeface="+mn-ea"/>
              </a:rPr>
              <a:t>마왕의 손길에서 벗어난 </a:t>
            </a:r>
            <a:r>
              <a:rPr lang="ko-KR" altLang="en-US" dirty="0" err="1" smtClean="0">
                <a:latin typeface="+mn-ea"/>
              </a:rPr>
              <a:t>몬스터들은</a:t>
            </a:r>
            <a:r>
              <a:rPr lang="ko-KR" altLang="en-US" dirty="0" smtClean="0">
                <a:latin typeface="+mn-ea"/>
              </a:rPr>
              <a:t> 용사를 도와 마왕을 처치하는 데에 앞장선다</a:t>
            </a:r>
            <a:r>
              <a:rPr lang="en-US" altLang="ko-KR" dirty="0" smtClean="0">
                <a:latin typeface="+mn-ea"/>
              </a:rPr>
              <a:t>.</a:t>
            </a:r>
            <a:br>
              <a:rPr lang="en-US" altLang="ko-KR" dirty="0" smtClean="0">
                <a:latin typeface="+mn-ea"/>
              </a:rPr>
            </a:br>
            <a:endParaRPr lang="en-US" altLang="ko-KR" dirty="0" smtClean="0">
              <a:latin typeface="+mn-ea"/>
            </a:endParaRPr>
          </a:p>
          <a:p>
            <a:pPr>
              <a:lnSpc>
                <a:spcPct val="150000"/>
              </a:lnSpc>
            </a:pPr>
            <a:r>
              <a:rPr lang="ko-KR" altLang="en-US" dirty="0" smtClean="0">
                <a:latin typeface="+mn-ea"/>
              </a:rPr>
              <a:t> 과연 용사는 무사히 마왕을 무찌르고 마을에 평화를</a:t>
            </a:r>
            <a:endParaRPr lang="en-US" altLang="ko-KR" dirty="0" smtClean="0">
              <a:latin typeface="+mn-ea"/>
            </a:endParaRPr>
          </a:p>
          <a:p>
            <a:pPr>
              <a:lnSpc>
                <a:spcPct val="150000"/>
              </a:lnSpc>
            </a:pPr>
            <a:r>
              <a:rPr lang="ko-KR" altLang="en-US" dirty="0" smtClean="0">
                <a:latin typeface="+mn-ea"/>
              </a:rPr>
              <a:t>가져다 줄 수 있을 것인가</a:t>
            </a:r>
            <a:r>
              <a:rPr lang="en-US" altLang="ko-KR" dirty="0" smtClean="0">
                <a:latin typeface="+mn-ea"/>
              </a:rPr>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11</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23773974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12</a:t>
            </a:fld>
            <a:endParaRPr lang="ko-KR" altLang="en-US" sz="1800" dirty="0"/>
          </a:p>
        </p:txBody>
      </p:sp>
      <p:sp>
        <p:nvSpPr>
          <p:cNvPr id="13" name="TextBox 12"/>
          <p:cNvSpPr txBox="1"/>
          <p:nvPr/>
        </p:nvSpPr>
        <p:spPr>
          <a:xfrm>
            <a:off x="5621868" y="1172029"/>
            <a:ext cx="6340148" cy="5078313"/>
          </a:xfrm>
          <a:prstGeom prst="rect">
            <a:avLst/>
          </a:prstGeom>
          <a:noFill/>
        </p:spPr>
        <p:txBody>
          <a:bodyPr wrap="square" rtlCol="0">
            <a:spAutoFit/>
          </a:bodyPr>
          <a:lstStyle/>
          <a:p>
            <a:pPr>
              <a:lnSpc>
                <a:spcPct val="150000"/>
              </a:lnSpc>
            </a:pPr>
            <a:r>
              <a:rPr lang="en-US" altLang="ko-KR" dirty="0"/>
              <a:t>• </a:t>
            </a:r>
            <a:r>
              <a:rPr lang="ko-KR" altLang="en-US" dirty="0" err="1" smtClean="0"/>
              <a:t>로그라이크</a:t>
            </a:r>
            <a:r>
              <a:rPr lang="ko-KR" altLang="en-US" dirty="0" smtClean="0"/>
              <a:t> 게임의 요소를 일부 채용한 </a:t>
            </a:r>
            <a:r>
              <a:rPr lang="en-US" altLang="ko-KR" dirty="0" smtClean="0"/>
              <a:t>‘</a:t>
            </a:r>
            <a:r>
              <a:rPr lang="ko-KR" altLang="en-US" b="1" dirty="0" err="1" smtClean="0"/>
              <a:t>로그라이트</a:t>
            </a:r>
            <a:r>
              <a:rPr lang="en-US" altLang="ko-KR" dirty="0" smtClean="0"/>
              <a:t>’</a:t>
            </a:r>
          </a:p>
          <a:p>
            <a:pPr>
              <a:lnSpc>
                <a:spcPct val="150000"/>
              </a:lnSpc>
            </a:pPr>
            <a:r>
              <a:rPr lang="en-US" altLang="ko-KR" dirty="0"/>
              <a:t> </a:t>
            </a:r>
            <a:r>
              <a:rPr lang="en-US" altLang="ko-KR" dirty="0" smtClean="0"/>
              <a:t> </a:t>
            </a:r>
            <a:r>
              <a:rPr lang="ko-KR" altLang="en-US" dirty="0" smtClean="0"/>
              <a:t>장르를 도입</a:t>
            </a:r>
            <a:r>
              <a:rPr lang="en-US" altLang="ko-KR" dirty="0" smtClean="0"/>
              <a:t>, </a:t>
            </a:r>
            <a:r>
              <a:rPr lang="ko-KR" altLang="en-US" dirty="0" smtClean="0"/>
              <a:t>기존의 장르에 익숙한 유저들의 높은 </a:t>
            </a:r>
            <a:endParaRPr lang="en-US" altLang="ko-KR" dirty="0" smtClean="0"/>
          </a:p>
          <a:p>
            <a:pPr>
              <a:lnSpc>
                <a:spcPct val="150000"/>
              </a:lnSpc>
            </a:pPr>
            <a:r>
              <a:rPr lang="en-US" altLang="ko-KR" dirty="0" smtClean="0"/>
              <a:t>  </a:t>
            </a:r>
            <a:r>
              <a:rPr lang="ko-KR" altLang="en-US" b="1" dirty="0" smtClean="0"/>
              <a:t>접근성과 홍보 효과</a:t>
            </a:r>
            <a:r>
              <a:rPr lang="ko-KR" altLang="en-US" dirty="0" smtClean="0"/>
              <a:t>를 기대할 수 있습니다</a:t>
            </a:r>
            <a:r>
              <a:rPr lang="en-US" altLang="ko-KR" dirty="0" smtClean="0"/>
              <a:t>.</a:t>
            </a:r>
          </a:p>
          <a:p>
            <a:pPr>
              <a:lnSpc>
                <a:spcPct val="150000"/>
              </a:lnSpc>
            </a:pPr>
            <a:endParaRPr lang="en-US" altLang="ko-KR" sz="1200" dirty="0" smtClean="0">
              <a:latin typeface="+mn-ea"/>
            </a:endParaRPr>
          </a:p>
          <a:p>
            <a:pPr>
              <a:lnSpc>
                <a:spcPct val="150000"/>
              </a:lnSpc>
            </a:pPr>
            <a:r>
              <a:rPr lang="en-US" altLang="ko-KR" dirty="0" smtClean="0"/>
              <a:t>• </a:t>
            </a:r>
            <a:r>
              <a:rPr lang="en-US" altLang="ko-KR" b="1" dirty="0" smtClean="0"/>
              <a:t>1</a:t>
            </a:r>
            <a:r>
              <a:rPr lang="ko-KR" altLang="en-US" b="1" dirty="0" smtClean="0"/>
              <a:t>번 뿐인 목숨</a:t>
            </a:r>
            <a:r>
              <a:rPr lang="ko-KR" altLang="en-US" dirty="0" smtClean="0"/>
              <a:t>과</a:t>
            </a:r>
            <a:r>
              <a:rPr lang="en-US" altLang="ko-KR" dirty="0" smtClean="0"/>
              <a:t>,</a:t>
            </a:r>
            <a:r>
              <a:rPr lang="ko-KR" altLang="en-US" dirty="0" smtClean="0"/>
              <a:t> </a:t>
            </a:r>
            <a:r>
              <a:rPr lang="ko-KR" altLang="en-US" b="1" dirty="0" smtClean="0"/>
              <a:t>랜덤</a:t>
            </a:r>
            <a:r>
              <a:rPr lang="ko-KR" altLang="en-US" dirty="0" smtClean="0"/>
              <a:t>으로 배치되는 던전의 구조를 </a:t>
            </a:r>
            <a:endParaRPr lang="en-US" altLang="ko-KR" dirty="0" smtClean="0"/>
          </a:p>
          <a:p>
            <a:pPr>
              <a:lnSpc>
                <a:spcPct val="150000"/>
              </a:lnSpc>
            </a:pPr>
            <a:r>
              <a:rPr lang="en-US" altLang="ko-KR" dirty="0"/>
              <a:t> </a:t>
            </a:r>
            <a:r>
              <a:rPr lang="en-US" altLang="ko-KR" dirty="0" smtClean="0"/>
              <a:t> </a:t>
            </a:r>
            <a:r>
              <a:rPr lang="ko-KR" altLang="en-US" dirty="0" smtClean="0"/>
              <a:t>통해 게임의 긴장감과 </a:t>
            </a:r>
            <a:r>
              <a:rPr lang="ko-KR" altLang="en-US" dirty="0" err="1" smtClean="0"/>
              <a:t>몰입감을</a:t>
            </a:r>
            <a:r>
              <a:rPr lang="ko-KR" altLang="en-US" dirty="0" smtClean="0"/>
              <a:t> 높이고</a:t>
            </a:r>
            <a:r>
              <a:rPr lang="en-US" altLang="ko-KR" dirty="0" smtClean="0"/>
              <a:t>, </a:t>
            </a:r>
            <a:r>
              <a:rPr lang="ko-KR" altLang="en-US" dirty="0" smtClean="0"/>
              <a:t>플레이의 </a:t>
            </a:r>
            <a:endParaRPr lang="en-US" altLang="ko-KR" dirty="0" smtClean="0"/>
          </a:p>
          <a:p>
            <a:pPr>
              <a:lnSpc>
                <a:spcPct val="150000"/>
              </a:lnSpc>
            </a:pPr>
            <a:r>
              <a:rPr lang="en-US" altLang="ko-KR" dirty="0"/>
              <a:t> </a:t>
            </a:r>
            <a:r>
              <a:rPr lang="en-US" altLang="ko-KR" dirty="0" smtClean="0"/>
              <a:t> </a:t>
            </a:r>
            <a:r>
              <a:rPr lang="ko-KR" altLang="en-US" dirty="0" smtClean="0"/>
              <a:t>신선함과 도전 정신을 고취시킬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임의 저장과 불러오기가 불가능하며</a:t>
            </a:r>
            <a:r>
              <a:rPr lang="en-US" altLang="ko-KR" dirty="0" smtClean="0"/>
              <a:t>, </a:t>
            </a:r>
            <a:r>
              <a:rPr lang="ko-KR" altLang="en-US" dirty="0" smtClean="0"/>
              <a:t>캐릭터 사망 시</a:t>
            </a:r>
            <a:endParaRPr lang="en-US" altLang="ko-KR" dirty="0" smtClean="0"/>
          </a:p>
          <a:p>
            <a:pPr>
              <a:lnSpc>
                <a:spcPct val="150000"/>
              </a:lnSpc>
            </a:pPr>
            <a:r>
              <a:rPr lang="en-US" altLang="ko-KR" dirty="0"/>
              <a:t> </a:t>
            </a:r>
            <a:r>
              <a:rPr lang="ko-KR" altLang="en-US" dirty="0" smtClean="0"/>
              <a:t> 레벨</a:t>
            </a:r>
            <a:r>
              <a:rPr lang="en-US" altLang="ko-KR" dirty="0" smtClean="0"/>
              <a:t>, </a:t>
            </a:r>
            <a:r>
              <a:rPr lang="ko-KR" altLang="en-US" dirty="0" smtClean="0"/>
              <a:t>아이템 등의 데이터를 잃고 </a:t>
            </a:r>
            <a:r>
              <a:rPr lang="ko-KR" altLang="en-US" b="1" dirty="0" smtClean="0"/>
              <a:t>게임이 </a:t>
            </a:r>
            <a:r>
              <a:rPr lang="ko-KR" altLang="en-US" b="1" dirty="0" err="1" smtClean="0"/>
              <a:t>리셋</a:t>
            </a:r>
            <a:r>
              <a:rPr lang="ko-KR" altLang="en-US" dirty="0" err="1" smtClean="0"/>
              <a:t>됩니다</a:t>
            </a:r>
            <a:r>
              <a:rPr lang="en-US" altLang="ko-KR" dirty="0" smtClean="0"/>
              <a:t>.</a:t>
            </a:r>
          </a:p>
          <a:p>
            <a:pPr>
              <a:lnSpc>
                <a:spcPct val="150000"/>
              </a:lnSpc>
            </a:pPr>
            <a:endParaRPr lang="en-US" altLang="ko-KR" sz="1200" dirty="0"/>
          </a:p>
          <a:p>
            <a:pPr>
              <a:lnSpc>
                <a:spcPct val="150000"/>
              </a:lnSpc>
            </a:pPr>
            <a:r>
              <a:rPr lang="en-US" altLang="ko-KR" dirty="0" smtClean="0"/>
              <a:t>• </a:t>
            </a:r>
            <a:r>
              <a:rPr lang="ko-KR" altLang="en-US" dirty="0" smtClean="0"/>
              <a:t>접근성과 성취감을 높이고 </a:t>
            </a:r>
            <a:r>
              <a:rPr lang="ko-KR" altLang="en-US" dirty="0" err="1" smtClean="0"/>
              <a:t>다회차</a:t>
            </a:r>
            <a:r>
              <a:rPr lang="ko-KR" altLang="en-US" dirty="0" smtClean="0"/>
              <a:t> 플레이어의 형평성을</a:t>
            </a:r>
            <a:endParaRPr lang="en-US" altLang="ko-KR" dirty="0" smtClean="0"/>
          </a:p>
          <a:p>
            <a:pPr>
              <a:lnSpc>
                <a:spcPct val="150000"/>
              </a:lnSpc>
            </a:pPr>
            <a:r>
              <a:rPr lang="en-US" altLang="ko-KR" dirty="0"/>
              <a:t> </a:t>
            </a:r>
            <a:r>
              <a:rPr lang="ko-KR" altLang="en-US" dirty="0" smtClean="0"/>
              <a:t> 위해</a:t>
            </a:r>
            <a:r>
              <a:rPr lang="en-US" altLang="ko-KR" dirty="0" smtClean="0"/>
              <a:t>, </a:t>
            </a:r>
            <a:r>
              <a:rPr lang="ko-KR" altLang="en-US" dirty="0" smtClean="0"/>
              <a:t>사망해도 </a:t>
            </a:r>
            <a:r>
              <a:rPr lang="ko-KR" altLang="en-US" b="1" dirty="0" smtClean="0"/>
              <a:t>잃지 않는 데이터가</a:t>
            </a:r>
            <a:r>
              <a:rPr lang="en-US" altLang="ko-KR" b="1" dirty="0" smtClean="0"/>
              <a:t> </a:t>
            </a:r>
            <a:r>
              <a:rPr lang="ko-KR" altLang="en-US" dirty="0" smtClean="0"/>
              <a:t>존재합니다</a:t>
            </a:r>
            <a:r>
              <a:rPr lang="en-US" altLang="ko-KR" dirty="0" smtClean="0"/>
              <a:t>.</a:t>
            </a:r>
            <a:endParaRPr lang="en-US" altLang="ko-KR" dirty="0"/>
          </a:p>
        </p:txBody>
      </p:sp>
      <p:pic>
        <p:nvPicPr>
          <p:cNvPr id="9" name="그림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1515" y="1087359"/>
            <a:ext cx="4014931" cy="2113595"/>
          </a:xfrm>
          <a:prstGeom prst="rect">
            <a:avLst/>
          </a:prstGeom>
        </p:spPr>
      </p:pic>
      <p:sp>
        <p:nvSpPr>
          <p:cNvPr id="12" name="TextBox 11"/>
          <p:cNvSpPr txBox="1"/>
          <p:nvPr/>
        </p:nvSpPr>
        <p:spPr>
          <a:xfrm>
            <a:off x="1430007" y="3196379"/>
            <a:ext cx="2497044"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2 )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다키스트</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던전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4" name="그림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515" y="3921984"/>
            <a:ext cx="4203018" cy="1953932"/>
          </a:xfrm>
          <a:prstGeom prst="rect">
            <a:avLst/>
          </a:prstGeom>
        </p:spPr>
      </p:pic>
      <p:sp>
        <p:nvSpPr>
          <p:cNvPr id="15" name="TextBox 14"/>
          <p:cNvSpPr txBox="1"/>
          <p:nvPr/>
        </p:nvSpPr>
        <p:spPr>
          <a:xfrm>
            <a:off x="1473823" y="5875916"/>
            <a:ext cx="2409412"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3 )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아이작의</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번제</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0068762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4848564"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5962650" cy="584775"/>
          </a:xfrm>
          <a:prstGeom prst="rect">
            <a:avLst/>
          </a:prstGeom>
          <a:noFill/>
        </p:spPr>
        <p:txBody>
          <a:bodyPr wrap="square" rtlCol="0">
            <a:spAutoFit/>
          </a:bodyPr>
          <a:lstStyle/>
          <a:p>
            <a:pPr algn="ctr"/>
            <a:r>
              <a:rPr lang="en-US" altLang="ko-KR" sz="3200" b="1"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13</a:t>
            </a:fld>
            <a:endParaRPr lang="ko-KR" altLang="en-US" sz="1800" dirty="0"/>
          </a:p>
        </p:txBody>
      </p:sp>
      <p:sp>
        <p:nvSpPr>
          <p:cNvPr id="13" name="TextBox 12"/>
          <p:cNvSpPr txBox="1"/>
          <p:nvPr/>
        </p:nvSpPr>
        <p:spPr>
          <a:xfrm>
            <a:off x="5276851" y="1099309"/>
            <a:ext cx="6467474" cy="5493812"/>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플레이어는 용사가 되어 던전을 탐험하게 됩니다</a:t>
            </a:r>
            <a:r>
              <a:rPr lang="en-US" altLang="ko-KR" dirty="0" smtClean="0">
                <a:latin typeface="+mn-ea"/>
              </a:rPr>
              <a:t>. </a:t>
            </a:r>
            <a:r>
              <a:rPr lang="ko-KR" altLang="en-US" dirty="0" smtClean="0">
                <a:latin typeface="+mn-ea"/>
              </a:rPr>
              <a:t>용사들은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각기 </a:t>
            </a:r>
            <a:r>
              <a:rPr lang="ko-KR" altLang="en-US" b="1" dirty="0" smtClean="0">
                <a:latin typeface="+mn-ea"/>
              </a:rPr>
              <a:t>다른 컨셉과 능력</a:t>
            </a:r>
            <a:r>
              <a:rPr lang="ko-KR" altLang="en-US" dirty="0" smtClean="0">
                <a:latin typeface="+mn-ea"/>
              </a:rPr>
              <a:t>을 보유하고 있으며</a:t>
            </a:r>
            <a:r>
              <a:rPr lang="en-US" altLang="ko-KR" dirty="0" smtClean="0">
                <a:latin typeface="+mn-ea"/>
              </a:rPr>
              <a:t>, </a:t>
            </a:r>
            <a:r>
              <a:rPr lang="ko-KR" altLang="en-US" dirty="0" err="1" smtClean="0">
                <a:latin typeface="+mn-ea"/>
              </a:rPr>
              <a:t>던전을</a:t>
            </a:r>
            <a:r>
              <a:rPr lang="ko-KR" altLang="en-US" dirty="0" smtClean="0">
                <a:latin typeface="+mn-ea"/>
              </a:rPr>
              <a:t> 탐험하며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아군 </a:t>
            </a:r>
            <a:r>
              <a:rPr lang="ko-KR" altLang="en-US" dirty="0" err="1" smtClean="0">
                <a:latin typeface="+mn-ea"/>
              </a:rPr>
              <a:t>몬스터들과</a:t>
            </a:r>
            <a:r>
              <a:rPr lang="ko-KR" altLang="en-US" dirty="0" smtClean="0">
                <a:latin typeface="+mn-ea"/>
              </a:rPr>
              <a:t> 함께 더욱 깊은</a:t>
            </a:r>
            <a:r>
              <a:rPr lang="en-US" altLang="ko-KR" dirty="0" smtClean="0">
                <a:latin typeface="+mn-ea"/>
              </a:rPr>
              <a:t> </a:t>
            </a:r>
            <a:r>
              <a:rPr lang="ko-KR" altLang="en-US" dirty="0" smtClean="0">
                <a:latin typeface="+mn-ea"/>
              </a:rPr>
              <a:t>곳을 향해 나아갑니다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캐릭터와 </a:t>
            </a:r>
            <a:r>
              <a:rPr lang="ko-KR" altLang="en-US" dirty="0" err="1" smtClean="0"/>
              <a:t>몬스터</a:t>
            </a:r>
            <a:r>
              <a:rPr lang="ko-KR" altLang="en-US" dirty="0" smtClean="0"/>
              <a:t> </a:t>
            </a:r>
            <a:r>
              <a:rPr lang="ko-KR" altLang="en-US" dirty="0" smtClean="0">
                <a:latin typeface="+mn-ea"/>
              </a:rPr>
              <a:t>각각의 독특하고 고유한 능력과 기술로</a:t>
            </a:r>
            <a:r>
              <a:rPr lang="en-US" altLang="ko-KR" dirty="0" smtClean="0">
                <a:latin typeface="+mn-ea"/>
              </a:rPr>
              <a:t>,</a:t>
            </a:r>
            <a:r>
              <a:rPr lang="ko-KR" altLang="en-US" dirty="0" smtClean="0">
                <a:latin typeface="+mn-ea"/>
              </a:rPr>
              <a:t> </a:t>
            </a:r>
            <a:endParaRPr lang="en-US" altLang="ko-KR" dirty="0" smtClean="0">
              <a:latin typeface="+mn-ea"/>
            </a:endParaRPr>
          </a:p>
          <a:p>
            <a:pPr>
              <a:lnSpc>
                <a:spcPct val="150000"/>
              </a:lnSpc>
            </a:pPr>
            <a:r>
              <a:rPr lang="en-US" altLang="ko-KR" dirty="0" smtClean="0">
                <a:latin typeface="+mn-ea"/>
              </a:rPr>
              <a:t>  </a:t>
            </a:r>
            <a:r>
              <a:rPr lang="ko-KR" altLang="en-US" dirty="0" smtClean="0">
                <a:latin typeface="+mn-ea"/>
              </a:rPr>
              <a:t>색다르고 </a:t>
            </a:r>
            <a:r>
              <a:rPr lang="ko-KR" altLang="en-US" dirty="0">
                <a:latin typeface="+mn-ea"/>
              </a:rPr>
              <a:t>강력한 </a:t>
            </a:r>
            <a:r>
              <a:rPr lang="ko-KR" altLang="en-US" b="1" dirty="0" smtClean="0">
                <a:latin typeface="+mn-ea"/>
              </a:rPr>
              <a:t>조합을 연구</a:t>
            </a:r>
            <a:r>
              <a:rPr lang="ko-KR" altLang="en-US" dirty="0" smtClean="0">
                <a:latin typeface="+mn-ea"/>
              </a:rPr>
              <a:t>하여</a:t>
            </a:r>
            <a:r>
              <a:rPr lang="en-US" altLang="ko-KR" dirty="0" smtClean="0">
                <a:latin typeface="+mn-ea"/>
              </a:rPr>
              <a:t> </a:t>
            </a:r>
            <a:r>
              <a:rPr lang="ko-KR" altLang="en-US" b="1" dirty="0">
                <a:latin typeface="+mn-ea"/>
              </a:rPr>
              <a:t>다채로운 </a:t>
            </a:r>
            <a:r>
              <a:rPr lang="ko-KR" altLang="en-US" b="1" dirty="0" smtClean="0">
                <a:latin typeface="+mn-ea"/>
              </a:rPr>
              <a:t>전략</a:t>
            </a:r>
            <a:r>
              <a:rPr lang="ko-KR" altLang="en-US" dirty="0" smtClean="0">
                <a:latin typeface="+mn-ea"/>
              </a:rPr>
              <a:t>을 펼칠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수 있습니다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err="1" smtClean="0"/>
              <a:t>던전을</a:t>
            </a:r>
            <a:r>
              <a:rPr lang="ko-KR" altLang="en-US" dirty="0" smtClean="0"/>
              <a:t> 탐험하며 획득할 수 있는 </a:t>
            </a:r>
            <a:r>
              <a:rPr lang="ko-KR" altLang="en-US" b="1" dirty="0" err="1" smtClean="0"/>
              <a:t>아티팩트</a:t>
            </a:r>
            <a:r>
              <a:rPr lang="ko-KR" altLang="en-US" dirty="0" err="1" smtClean="0"/>
              <a:t>를</a:t>
            </a:r>
            <a:r>
              <a:rPr lang="ko-KR" altLang="en-US" dirty="0" smtClean="0"/>
              <a:t> 통해 캐릭터와 </a:t>
            </a:r>
            <a:endParaRPr lang="en-US" altLang="ko-KR" dirty="0" smtClean="0"/>
          </a:p>
          <a:p>
            <a:pPr>
              <a:lnSpc>
                <a:spcPct val="150000"/>
              </a:lnSpc>
            </a:pPr>
            <a:r>
              <a:rPr lang="en-US" altLang="ko-KR" dirty="0"/>
              <a:t> </a:t>
            </a:r>
            <a:r>
              <a:rPr lang="en-US" altLang="ko-KR" dirty="0" smtClean="0"/>
              <a:t> </a:t>
            </a:r>
            <a:r>
              <a:rPr lang="ko-KR" altLang="en-US" dirty="0" err="1" smtClean="0"/>
              <a:t>몬스터를</a:t>
            </a:r>
            <a:r>
              <a:rPr lang="ko-KR" altLang="en-US" dirty="0" smtClean="0"/>
              <a:t> 더욱 강화할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이런 점을 통해 개인의 성향에 맞는 </a:t>
            </a:r>
            <a:r>
              <a:rPr lang="ko-KR" altLang="en-US" b="1" dirty="0" smtClean="0"/>
              <a:t>각양각색의 플레이</a:t>
            </a:r>
            <a:r>
              <a:rPr lang="ko-KR" altLang="en-US" dirty="0" smtClean="0"/>
              <a:t>를 </a:t>
            </a:r>
            <a:endParaRPr lang="en-US" altLang="ko-KR" dirty="0" smtClean="0"/>
          </a:p>
          <a:p>
            <a:pPr>
              <a:lnSpc>
                <a:spcPct val="150000"/>
              </a:lnSpc>
            </a:pPr>
            <a:r>
              <a:rPr lang="en-US" altLang="ko-KR" dirty="0"/>
              <a:t> </a:t>
            </a:r>
            <a:r>
              <a:rPr lang="en-US" altLang="ko-KR" dirty="0" smtClean="0"/>
              <a:t> </a:t>
            </a:r>
            <a:r>
              <a:rPr lang="ko-KR" altLang="en-US" dirty="0" smtClean="0"/>
              <a:t>제공하고</a:t>
            </a:r>
            <a:r>
              <a:rPr lang="en-US" altLang="ko-KR" dirty="0" smtClean="0"/>
              <a:t>, </a:t>
            </a:r>
            <a:r>
              <a:rPr lang="ko-KR" altLang="en-US" dirty="0" smtClean="0"/>
              <a:t>지속적인 </a:t>
            </a:r>
            <a:r>
              <a:rPr lang="ko-KR" altLang="en-US" dirty="0" err="1" smtClean="0"/>
              <a:t>컨텐츠을</a:t>
            </a:r>
            <a:r>
              <a:rPr lang="ko-KR" altLang="en-US" dirty="0" smtClean="0"/>
              <a:t> 확보하면서 유저로 하여금</a:t>
            </a:r>
            <a:endParaRPr lang="en-US" altLang="ko-KR" dirty="0" smtClean="0"/>
          </a:p>
          <a:p>
            <a:pPr>
              <a:lnSpc>
                <a:spcPct val="150000"/>
              </a:lnSpc>
            </a:pPr>
            <a:r>
              <a:rPr lang="en-US" altLang="ko-KR" dirty="0"/>
              <a:t> </a:t>
            </a:r>
            <a:r>
              <a:rPr lang="ko-KR" altLang="en-US" dirty="0" smtClean="0"/>
              <a:t> 게임에 더욱</a:t>
            </a:r>
            <a:r>
              <a:rPr lang="en-US" altLang="ko-KR" dirty="0" smtClean="0"/>
              <a:t> </a:t>
            </a:r>
            <a:r>
              <a:rPr lang="ko-KR" altLang="en-US" dirty="0" smtClean="0"/>
              <a:t>몰입할 수 있도록 유도합니다</a:t>
            </a:r>
            <a:r>
              <a:rPr lang="en-US" altLang="ko-KR" dirty="0" smtClean="0"/>
              <a:t>.</a:t>
            </a:r>
            <a:endParaRPr lang="en-US" altLang="ko-KR" dirty="0" smtClean="0">
              <a:latin typeface="+mn-ea"/>
            </a:endParaRPr>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515" y="1274142"/>
            <a:ext cx="4014931" cy="2160507"/>
          </a:xfrm>
          <a:prstGeom prst="rect">
            <a:avLst/>
          </a:prstGeom>
        </p:spPr>
      </p:pic>
      <p:sp>
        <p:nvSpPr>
          <p:cNvPr id="9" name="TextBox 8"/>
          <p:cNvSpPr txBox="1"/>
          <p:nvPr/>
        </p:nvSpPr>
        <p:spPr>
          <a:xfrm>
            <a:off x="1401192" y="343465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4</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292" y="3864818"/>
            <a:ext cx="3840901" cy="2160507"/>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5 )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4353368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몬스터의 정화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몬스터의</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정화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14</a:t>
            </a:fld>
            <a:endParaRPr lang="ko-KR" altLang="en-US" sz="1800" dirty="0"/>
          </a:p>
        </p:txBody>
      </p:sp>
      <p:sp>
        <p:nvSpPr>
          <p:cNvPr id="13" name="TextBox 12"/>
          <p:cNvSpPr txBox="1"/>
          <p:nvPr/>
        </p:nvSpPr>
        <p:spPr>
          <a:xfrm>
            <a:off x="5280346" y="1164288"/>
            <a:ext cx="6789733" cy="5216813"/>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용사가 </a:t>
            </a:r>
            <a:r>
              <a:rPr lang="ko-KR" altLang="en-US" dirty="0" err="1" smtClean="0">
                <a:latin typeface="+mn-ea"/>
              </a:rPr>
              <a:t>던전을</a:t>
            </a:r>
            <a:r>
              <a:rPr lang="ko-KR" altLang="en-US" dirty="0" smtClean="0">
                <a:latin typeface="+mn-ea"/>
              </a:rPr>
              <a:t> 탐험하고 </a:t>
            </a:r>
            <a:r>
              <a:rPr lang="ko-KR" altLang="en-US" dirty="0" err="1" smtClean="0">
                <a:latin typeface="+mn-ea"/>
              </a:rPr>
              <a:t>몬스터를</a:t>
            </a:r>
            <a:r>
              <a:rPr lang="ko-KR" altLang="en-US" dirty="0" smtClean="0">
                <a:latin typeface="+mn-ea"/>
              </a:rPr>
              <a:t> 쓰러트린 후</a:t>
            </a:r>
            <a:r>
              <a:rPr lang="en-US" altLang="ko-KR" dirty="0" smtClean="0">
                <a:latin typeface="+mn-ea"/>
              </a:rPr>
              <a:t>, </a:t>
            </a:r>
            <a:r>
              <a:rPr lang="ko-KR" altLang="en-US" b="1" dirty="0" smtClean="0">
                <a:latin typeface="+mn-ea"/>
              </a:rPr>
              <a:t>정화</a:t>
            </a:r>
            <a:r>
              <a:rPr lang="ko-KR" altLang="en-US" dirty="0" smtClean="0">
                <a:latin typeface="+mn-ea"/>
              </a:rPr>
              <a:t>를 통해</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해당 </a:t>
            </a:r>
            <a:r>
              <a:rPr lang="ko-KR" altLang="en-US" dirty="0" err="1" smtClean="0">
                <a:latin typeface="+mn-ea"/>
              </a:rPr>
              <a:t>몬스터의</a:t>
            </a:r>
            <a:r>
              <a:rPr lang="ko-KR" altLang="en-US" dirty="0" smtClean="0">
                <a:latin typeface="+mn-ea"/>
              </a:rPr>
              <a:t> 저주를 해제하고 </a:t>
            </a:r>
            <a:r>
              <a:rPr lang="ko-KR" altLang="en-US" b="1" dirty="0" smtClean="0">
                <a:latin typeface="+mn-ea"/>
              </a:rPr>
              <a:t>자신의 편</a:t>
            </a:r>
            <a:r>
              <a:rPr lang="ko-KR" altLang="en-US" dirty="0" smtClean="0">
                <a:latin typeface="+mn-ea"/>
              </a:rPr>
              <a:t>으로 만들 수 </a:t>
            </a:r>
            <a:r>
              <a:rPr lang="ko-KR" altLang="en-US" dirty="0" err="1" smtClean="0">
                <a:latin typeface="+mn-ea"/>
              </a:rPr>
              <a:t>있습</a:t>
            </a:r>
            <a:endParaRPr lang="en-US" altLang="ko-KR" dirty="0" smtClean="0">
              <a:latin typeface="+mn-ea"/>
            </a:endParaRPr>
          </a:p>
          <a:p>
            <a:pPr>
              <a:lnSpc>
                <a:spcPct val="150000"/>
              </a:lnSpc>
            </a:pPr>
            <a:r>
              <a:rPr lang="en-US" altLang="ko-KR" dirty="0" smtClean="0">
                <a:latin typeface="+mn-ea"/>
              </a:rPr>
              <a:t>  </a:t>
            </a:r>
            <a:r>
              <a:rPr lang="ko-KR" altLang="en-US" dirty="0" err="1" smtClean="0">
                <a:latin typeface="+mn-ea"/>
              </a:rPr>
              <a:t>니다</a:t>
            </a:r>
            <a:r>
              <a:rPr lang="en-US" altLang="ko-KR" dirty="0" smtClean="0">
                <a:latin typeface="+mn-ea"/>
              </a:rPr>
              <a:t>. </a:t>
            </a:r>
            <a:r>
              <a:rPr lang="ko-KR" altLang="en-US" dirty="0"/>
              <a:t>정화한 </a:t>
            </a:r>
            <a:r>
              <a:rPr lang="ko-KR" altLang="en-US" dirty="0" err="1"/>
              <a:t>몬스터는</a:t>
            </a:r>
            <a:r>
              <a:rPr lang="ko-KR" altLang="en-US" dirty="0"/>
              <a:t> 플레이어의 편에 서서 함께 전투를 </a:t>
            </a:r>
            <a:endParaRPr lang="en-US" altLang="ko-KR" dirty="0" smtClean="0"/>
          </a:p>
          <a:p>
            <a:pPr>
              <a:lnSpc>
                <a:spcPct val="150000"/>
              </a:lnSpc>
            </a:pPr>
            <a:r>
              <a:rPr lang="en-US" altLang="ko-KR" dirty="0"/>
              <a:t> </a:t>
            </a:r>
            <a:r>
              <a:rPr lang="en-US" altLang="ko-KR" dirty="0" smtClean="0"/>
              <a:t> </a:t>
            </a:r>
            <a:r>
              <a:rPr lang="ko-KR" altLang="en-US" dirty="0" smtClean="0"/>
              <a:t>치를 것</a:t>
            </a:r>
            <a:r>
              <a:rPr lang="en-US" altLang="ko-KR" dirty="0" smtClean="0"/>
              <a:t> </a:t>
            </a:r>
            <a:r>
              <a:rPr lang="ko-KR" altLang="en-US" dirty="0"/>
              <a:t>입니다</a:t>
            </a:r>
            <a:r>
              <a:rPr lang="en-US" altLang="ko-KR" dirty="0"/>
              <a:t>. </a:t>
            </a:r>
            <a:endParaRPr lang="en-US" altLang="ko-KR" dirty="0" smtClean="0">
              <a:latin typeface="+mn-ea"/>
            </a:endParaRPr>
          </a:p>
          <a:p>
            <a:pPr>
              <a:lnSpc>
                <a:spcPct val="150000"/>
              </a:lnSpc>
            </a:pPr>
            <a:endParaRPr lang="en-US" altLang="ko-KR" sz="1200" dirty="0">
              <a:latin typeface="+mn-ea"/>
            </a:endParaRPr>
          </a:p>
          <a:p>
            <a:pPr>
              <a:lnSpc>
                <a:spcPct val="150000"/>
              </a:lnSpc>
            </a:pPr>
            <a:r>
              <a:rPr lang="en-US" altLang="ko-KR" dirty="0" smtClean="0"/>
              <a:t>• </a:t>
            </a:r>
            <a:r>
              <a:rPr lang="ko-KR" altLang="en-US" dirty="0" err="1" smtClean="0"/>
              <a:t>몬스터에</a:t>
            </a:r>
            <a:r>
              <a:rPr lang="ko-KR" altLang="en-US" dirty="0" smtClean="0"/>
              <a:t> 따라 정화 방법과 조</a:t>
            </a:r>
            <a:r>
              <a:rPr lang="ko-KR" altLang="en-US" dirty="0"/>
              <a:t>건</a:t>
            </a:r>
            <a:r>
              <a:rPr lang="ko-KR" altLang="en-US" dirty="0" smtClean="0"/>
              <a:t>이 상이하기 때문에</a:t>
            </a:r>
            <a:r>
              <a:rPr lang="en-US" altLang="ko-KR" dirty="0" smtClean="0"/>
              <a:t>, </a:t>
            </a:r>
            <a:r>
              <a:rPr lang="ko-KR" altLang="en-US" dirty="0" smtClean="0"/>
              <a:t>원하는 </a:t>
            </a:r>
            <a:endParaRPr lang="en-US" altLang="ko-KR" dirty="0" smtClean="0"/>
          </a:p>
          <a:p>
            <a:pPr>
              <a:lnSpc>
                <a:spcPct val="150000"/>
              </a:lnSpc>
            </a:pPr>
            <a:r>
              <a:rPr lang="en-US" altLang="ko-KR" dirty="0"/>
              <a:t> </a:t>
            </a:r>
            <a:r>
              <a:rPr lang="en-US" altLang="ko-KR" dirty="0" smtClean="0"/>
              <a:t> </a:t>
            </a:r>
            <a:r>
              <a:rPr lang="ko-KR" altLang="en-US" dirty="0" smtClean="0"/>
              <a:t>몬스터를 얻기</a:t>
            </a:r>
            <a:r>
              <a:rPr lang="en-US" altLang="ko-KR" dirty="0" smtClean="0"/>
              <a:t> </a:t>
            </a:r>
            <a:r>
              <a:rPr lang="ko-KR" altLang="en-US" dirty="0" smtClean="0"/>
              <a:t>위해선 특정한 방법에 따라 </a:t>
            </a:r>
            <a:r>
              <a:rPr lang="ko-KR" altLang="en-US" b="1" dirty="0" smtClean="0"/>
              <a:t>조건을 만족</a:t>
            </a:r>
            <a:r>
              <a:rPr lang="ko-KR" altLang="en-US" dirty="0" smtClean="0"/>
              <a:t>시켜야 </a:t>
            </a:r>
            <a:endParaRPr lang="en-US" altLang="ko-KR" dirty="0" smtClean="0"/>
          </a:p>
          <a:p>
            <a:pPr>
              <a:lnSpc>
                <a:spcPct val="150000"/>
              </a:lnSpc>
            </a:pPr>
            <a:r>
              <a:rPr lang="en-US" altLang="ko-KR" dirty="0"/>
              <a:t> </a:t>
            </a:r>
            <a:r>
              <a:rPr lang="en-US" altLang="ko-KR" dirty="0" smtClean="0"/>
              <a:t> </a:t>
            </a:r>
            <a:r>
              <a:rPr lang="ko-KR" altLang="en-US" dirty="0" smtClean="0"/>
              <a:t>합니다</a:t>
            </a:r>
            <a:r>
              <a:rPr lang="en-US" altLang="ko-KR" dirty="0" smtClean="0"/>
              <a:t>.</a:t>
            </a:r>
            <a:r>
              <a:rPr lang="ko-KR" altLang="en-US" dirty="0"/>
              <a:t> </a:t>
            </a:r>
            <a:r>
              <a:rPr lang="ko-KR" altLang="en-US" dirty="0" smtClean="0"/>
              <a:t>기본적으로 알 수 없으나</a:t>
            </a:r>
            <a:r>
              <a:rPr lang="en-US" altLang="ko-KR" dirty="0" smtClean="0"/>
              <a:t>, </a:t>
            </a:r>
            <a:r>
              <a:rPr lang="ko-KR" altLang="en-US" dirty="0" smtClean="0"/>
              <a:t>한번 획득하면 방법이 기록 </a:t>
            </a:r>
            <a:endParaRPr lang="en-US" altLang="ko-KR" dirty="0" smtClean="0"/>
          </a:p>
          <a:p>
            <a:pPr>
              <a:lnSpc>
                <a:spcPct val="150000"/>
              </a:lnSpc>
            </a:pPr>
            <a:r>
              <a:rPr lang="en-US" altLang="ko-KR" dirty="0"/>
              <a:t> </a:t>
            </a:r>
            <a:r>
              <a:rPr lang="en-US" altLang="ko-KR" dirty="0" smtClean="0"/>
              <a:t> </a:t>
            </a:r>
            <a:r>
              <a:rPr lang="ko-KR" altLang="en-US" dirty="0" smtClean="0"/>
              <a:t>으로 남습니다</a:t>
            </a:r>
            <a:r>
              <a:rPr lang="en-US" altLang="ko-KR" dirty="0" smtClean="0"/>
              <a:t>.</a:t>
            </a:r>
          </a:p>
          <a:p>
            <a:pPr>
              <a:lnSpc>
                <a:spcPct val="150000"/>
              </a:lnSpc>
            </a:pPr>
            <a:endParaRPr lang="en-US" altLang="ko-KR" sz="1200" dirty="0" smtClean="0"/>
          </a:p>
          <a:p>
            <a:pPr>
              <a:lnSpc>
                <a:spcPct val="150000"/>
              </a:lnSpc>
            </a:pPr>
            <a:r>
              <a:rPr lang="en-US" altLang="ko-KR" dirty="0" smtClean="0"/>
              <a:t>• </a:t>
            </a:r>
            <a:r>
              <a:rPr lang="ko-KR" altLang="en-US" dirty="0" err="1" smtClean="0"/>
              <a:t>몬스터의</a:t>
            </a:r>
            <a:r>
              <a:rPr lang="ko-KR" altLang="en-US" dirty="0" smtClean="0"/>
              <a:t> 입수 방법을 알아내기 위해 플레이어는 다양한 </a:t>
            </a:r>
            <a:r>
              <a:rPr lang="ko-KR" altLang="en-US" b="1" dirty="0" smtClean="0"/>
              <a:t>시행</a:t>
            </a:r>
            <a:endParaRPr lang="en-US" altLang="ko-KR" b="1" dirty="0" smtClean="0"/>
          </a:p>
          <a:p>
            <a:pPr>
              <a:lnSpc>
                <a:spcPct val="150000"/>
              </a:lnSpc>
            </a:pPr>
            <a:r>
              <a:rPr lang="en-US" altLang="ko-KR" b="1" dirty="0"/>
              <a:t> </a:t>
            </a:r>
            <a:r>
              <a:rPr lang="en-US" altLang="ko-KR" b="1" dirty="0" smtClean="0"/>
              <a:t> </a:t>
            </a:r>
            <a:r>
              <a:rPr lang="ko-KR" altLang="en-US" b="1" dirty="0" smtClean="0"/>
              <a:t>착오</a:t>
            </a:r>
            <a:r>
              <a:rPr lang="ko-KR" altLang="en-US" dirty="0" smtClean="0"/>
              <a:t>를 겪을 것이고</a:t>
            </a:r>
            <a:r>
              <a:rPr lang="en-US" altLang="ko-KR" dirty="0" smtClean="0"/>
              <a:t>, </a:t>
            </a:r>
            <a:r>
              <a:rPr lang="ko-KR" altLang="en-US" dirty="0" smtClean="0"/>
              <a:t>이를 통해 플레이의 </a:t>
            </a:r>
            <a:r>
              <a:rPr lang="ko-KR" altLang="en-US" dirty="0" err="1" smtClean="0"/>
              <a:t>몰입감을</a:t>
            </a:r>
            <a:r>
              <a:rPr lang="ko-KR" altLang="en-US" dirty="0" smtClean="0"/>
              <a:t> 향상시킬 수 </a:t>
            </a:r>
            <a:endParaRPr lang="en-US" altLang="ko-KR" dirty="0" smtClean="0"/>
          </a:p>
          <a:p>
            <a:pPr>
              <a:lnSpc>
                <a:spcPct val="150000"/>
              </a:lnSpc>
            </a:pPr>
            <a:r>
              <a:rPr lang="en-US" altLang="ko-KR" dirty="0"/>
              <a:t> </a:t>
            </a:r>
            <a:r>
              <a:rPr lang="en-US" altLang="ko-KR" dirty="0" smtClean="0"/>
              <a:t> </a:t>
            </a:r>
            <a:r>
              <a:rPr lang="ko-KR" altLang="en-US" dirty="0" smtClean="0"/>
              <a:t>있습니다</a:t>
            </a:r>
            <a:r>
              <a:rPr lang="en-US" altLang="ko-KR" dirty="0" smtClean="0"/>
              <a:t>.  </a:t>
            </a:r>
            <a:r>
              <a:rPr lang="ko-KR" altLang="en-US" dirty="0" smtClean="0"/>
              <a:t> </a:t>
            </a:r>
            <a:endParaRPr lang="en-US" altLang="ko-KR" dirty="0" smtClean="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578" y="1255092"/>
            <a:ext cx="3892805"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8" y="3817287"/>
            <a:ext cx="3969447" cy="228794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7</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7905986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err="1">
                <a:gradFill>
                  <a:gsLst>
                    <a:gs pos="0">
                      <a:schemeClr val="tx1"/>
                    </a:gs>
                    <a:gs pos="100000">
                      <a:schemeClr val="tx1"/>
                    </a:gs>
                  </a:gsLst>
                  <a:lin ang="5400000" scaled="1"/>
                </a:gradFill>
                <a:latin typeface="맑은 고딕" panose="020B0503020000020004" pitchFamily="50" charset="-127"/>
              </a:rPr>
              <a:t>턴방식</a:t>
            </a:r>
            <a:r>
              <a:rPr lang="ko-KR" altLang="en-US" sz="3200" b="1" dirty="0">
                <a:gradFill>
                  <a:gsLst>
                    <a:gs pos="0">
                      <a:schemeClr val="tx1"/>
                    </a:gs>
                    <a:gs pos="100000">
                      <a:schemeClr val="tx1"/>
                    </a:gs>
                  </a:gsLst>
                  <a:lin ang="5400000" scaled="1"/>
                </a:gradFill>
                <a:latin typeface="맑은 고딕" panose="020B0503020000020004" pitchFamily="50" charset="-127"/>
              </a:rPr>
              <a:t> 전략 </a:t>
            </a:r>
            <a:r>
              <a:rPr lang="ko-KR" altLang="en-US" sz="3200" b="1" dirty="0" smtClean="0">
                <a:gradFill>
                  <a:gsLst>
                    <a:gs pos="0">
                      <a:schemeClr val="tx1"/>
                    </a:gs>
                    <a:gs pos="100000">
                      <a:schemeClr val="tx1"/>
                    </a:gs>
                  </a:gsLst>
                  <a:lin ang="5400000" scaled="1"/>
                </a:gradFill>
                <a:latin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15</a:t>
            </a:fld>
            <a:endParaRPr lang="ko-KR" altLang="en-US" sz="1800" dirty="0"/>
          </a:p>
        </p:txBody>
      </p:sp>
      <p:sp>
        <p:nvSpPr>
          <p:cNvPr id="13" name="TextBox 12"/>
          <p:cNvSpPr txBox="1"/>
          <p:nvPr/>
        </p:nvSpPr>
        <p:spPr>
          <a:xfrm>
            <a:off x="5280347" y="1347170"/>
            <a:ext cx="6660506" cy="4662815"/>
          </a:xfrm>
          <a:prstGeom prst="rect">
            <a:avLst/>
          </a:prstGeom>
          <a:noFill/>
        </p:spPr>
        <p:txBody>
          <a:bodyPr wrap="square" rtlCol="0">
            <a:spAutoFit/>
          </a:bodyPr>
          <a:lstStyle/>
          <a:p>
            <a:pPr>
              <a:lnSpc>
                <a:spcPct val="150000"/>
              </a:lnSpc>
            </a:pPr>
            <a:r>
              <a:rPr lang="en-US" altLang="ko-KR" dirty="0"/>
              <a:t>• </a:t>
            </a:r>
            <a:r>
              <a:rPr lang="ko-KR" altLang="en-US" dirty="0" smtClean="0"/>
              <a:t>플레이어는 </a:t>
            </a:r>
            <a:r>
              <a:rPr lang="ko-KR" altLang="en-US" dirty="0" smtClean="0">
                <a:latin typeface="+mn-ea"/>
              </a:rPr>
              <a:t>다양한 개성을 지닌 </a:t>
            </a:r>
            <a:r>
              <a:rPr lang="ko-KR" altLang="en-US" b="1" dirty="0" smtClean="0">
                <a:latin typeface="+mn-ea"/>
              </a:rPr>
              <a:t>캐릭터와 몬스터를 조합</a:t>
            </a:r>
            <a:r>
              <a:rPr lang="ko-KR" altLang="en-US" dirty="0" smtClean="0">
                <a:latin typeface="+mn-ea"/>
              </a:rPr>
              <a:t>하여</a:t>
            </a:r>
            <a:r>
              <a:rPr lang="en-US" altLang="ko-KR" dirty="0" smtClean="0">
                <a:latin typeface="+mn-ea"/>
              </a:rPr>
              <a:t>, </a:t>
            </a:r>
          </a:p>
          <a:p>
            <a:pPr>
              <a:lnSpc>
                <a:spcPct val="150000"/>
              </a:lnSpc>
            </a:pPr>
            <a:r>
              <a:rPr lang="en-US" altLang="ko-KR" dirty="0">
                <a:latin typeface="+mn-ea"/>
              </a:rPr>
              <a:t> </a:t>
            </a:r>
            <a:r>
              <a:rPr lang="en-US" altLang="ko-KR" dirty="0" smtClean="0">
                <a:latin typeface="+mn-ea"/>
              </a:rPr>
              <a:t> </a:t>
            </a:r>
            <a:r>
              <a:rPr lang="ko-KR" altLang="en-US" dirty="0" smtClean="0">
                <a:latin typeface="+mn-ea"/>
              </a:rPr>
              <a:t>던전 속</a:t>
            </a:r>
            <a:r>
              <a:rPr lang="en-US" altLang="ko-KR" dirty="0" smtClean="0">
                <a:latin typeface="+mn-ea"/>
              </a:rPr>
              <a:t> </a:t>
            </a:r>
            <a:r>
              <a:rPr lang="ko-KR" altLang="en-US" dirty="0" err="1" smtClean="0">
                <a:latin typeface="+mn-ea"/>
              </a:rPr>
              <a:t>몬스터들을</a:t>
            </a:r>
            <a:r>
              <a:rPr lang="ko-KR" altLang="en-US" dirty="0" smtClean="0">
                <a:latin typeface="+mn-ea"/>
              </a:rPr>
              <a:t> 최대한 피해 없이 쓰러트려야 합니다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a:t>아군과 적군의 </a:t>
            </a:r>
            <a:r>
              <a:rPr lang="ko-KR" altLang="en-US" dirty="0" smtClean="0"/>
              <a:t>기</a:t>
            </a:r>
            <a:r>
              <a:rPr lang="ko-KR" altLang="en-US" dirty="0"/>
              <a:t>술</a:t>
            </a:r>
            <a:r>
              <a:rPr lang="ko-KR" altLang="en-US" dirty="0" smtClean="0"/>
              <a:t> </a:t>
            </a:r>
            <a:r>
              <a:rPr lang="ko-KR" altLang="en-US" dirty="0"/>
              <a:t>차이</a:t>
            </a:r>
            <a:r>
              <a:rPr lang="en-US" altLang="ko-KR" dirty="0"/>
              <a:t>, </a:t>
            </a:r>
            <a:r>
              <a:rPr lang="ko-KR" altLang="en-US" dirty="0"/>
              <a:t>상성</a:t>
            </a:r>
            <a:r>
              <a:rPr lang="en-US" altLang="ko-KR" dirty="0"/>
              <a:t>, </a:t>
            </a:r>
            <a:r>
              <a:rPr lang="ko-KR" altLang="en-US" dirty="0" err="1" smtClean="0"/>
              <a:t>아티팩트</a:t>
            </a:r>
            <a:r>
              <a:rPr lang="ko-KR" altLang="en-US" dirty="0" smtClean="0"/>
              <a:t> 능력</a:t>
            </a:r>
            <a:r>
              <a:rPr lang="en-US" altLang="ko-KR" dirty="0" smtClean="0"/>
              <a:t>, </a:t>
            </a:r>
            <a:r>
              <a:rPr lang="ko-KR" altLang="en-US" dirty="0"/>
              <a:t>파티의 컨셉과 </a:t>
            </a:r>
            <a:endParaRPr lang="en-US" altLang="ko-KR" dirty="0"/>
          </a:p>
          <a:p>
            <a:pPr>
              <a:lnSpc>
                <a:spcPct val="150000"/>
              </a:lnSpc>
            </a:pPr>
            <a:r>
              <a:rPr lang="en-US" altLang="ko-KR" dirty="0"/>
              <a:t>  </a:t>
            </a:r>
            <a:r>
              <a:rPr lang="ko-KR" altLang="en-US" dirty="0"/>
              <a:t>장단점 등 </a:t>
            </a:r>
            <a:r>
              <a:rPr lang="ko-KR" altLang="en-US" b="1" dirty="0"/>
              <a:t>다양한 전략적 변수</a:t>
            </a:r>
            <a:r>
              <a:rPr lang="ko-KR" altLang="en-US" dirty="0"/>
              <a:t>들이 존재합니다</a:t>
            </a:r>
            <a:r>
              <a:rPr lang="en-US" altLang="ko-KR" dirty="0" smtClean="0"/>
              <a:t>. </a:t>
            </a:r>
          </a:p>
          <a:p>
            <a:pPr>
              <a:lnSpc>
                <a:spcPct val="150000"/>
              </a:lnSpc>
            </a:pPr>
            <a:endParaRPr lang="en-US" altLang="ko-KR" sz="1200" dirty="0"/>
          </a:p>
          <a:p>
            <a:pPr>
              <a:lnSpc>
                <a:spcPct val="150000"/>
              </a:lnSpc>
            </a:pPr>
            <a:r>
              <a:rPr lang="en-US" altLang="ko-KR" dirty="0" smtClean="0"/>
              <a:t>• </a:t>
            </a:r>
            <a:r>
              <a:rPr lang="ko-KR" altLang="en-US" dirty="0" smtClean="0">
                <a:latin typeface="+mn-ea"/>
              </a:rPr>
              <a:t>턴 방식을 통해 이러한 다양한 변수를 고려하며</a:t>
            </a:r>
            <a:r>
              <a:rPr lang="en-US" altLang="ko-KR" dirty="0" smtClean="0">
                <a:latin typeface="+mn-ea"/>
              </a:rPr>
              <a:t> </a:t>
            </a:r>
            <a:r>
              <a:rPr lang="ko-KR" altLang="en-US" b="1" dirty="0" smtClean="0">
                <a:latin typeface="+mn-ea"/>
              </a:rPr>
              <a:t>효율적이고</a:t>
            </a:r>
            <a:r>
              <a:rPr lang="en-US" altLang="ko-KR" dirty="0" smtClean="0"/>
              <a:t> </a:t>
            </a:r>
          </a:p>
          <a:p>
            <a:pPr>
              <a:lnSpc>
                <a:spcPct val="150000"/>
              </a:lnSpc>
            </a:pPr>
            <a:r>
              <a:rPr lang="en-US" altLang="ko-KR" dirty="0"/>
              <a:t> </a:t>
            </a:r>
            <a:r>
              <a:rPr lang="en-US" altLang="ko-KR" dirty="0" smtClean="0"/>
              <a:t> </a:t>
            </a:r>
            <a:r>
              <a:rPr lang="ko-KR" altLang="en-US" b="1" dirty="0" smtClean="0"/>
              <a:t>합리적인 선택</a:t>
            </a:r>
            <a:r>
              <a:rPr lang="ko-KR" altLang="en-US" dirty="0" smtClean="0"/>
              <a:t>을 내리게끔 하여</a:t>
            </a:r>
            <a:r>
              <a:rPr lang="en-US" altLang="ko-KR" dirty="0" smtClean="0"/>
              <a:t>, </a:t>
            </a:r>
            <a:r>
              <a:rPr lang="ko-KR" altLang="en-US" dirty="0" smtClean="0"/>
              <a:t>게임에 </a:t>
            </a:r>
            <a:r>
              <a:rPr lang="ko-KR" altLang="en-US" dirty="0" err="1" smtClean="0"/>
              <a:t>전략성을</a:t>
            </a:r>
            <a:r>
              <a:rPr lang="ko-KR" altLang="en-US" dirty="0" smtClean="0"/>
              <a:t> 부여합니다</a:t>
            </a:r>
            <a:r>
              <a:rPr lang="en-US" altLang="ko-KR" dirty="0" smtClean="0"/>
              <a:t>.</a:t>
            </a:r>
            <a:endParaRPr lang="en-US" altLang="ko-KR" dirty="0"/>
          </a:p>
          <a:p>
            <a:pPr>
              <a:lnSpc>
                <a:spcPct val="150000"/>
              </a:lnSpc>
            </a:pPr>
            <a:endParaRPr lang="en-US" altLang="ko-KR" sz="1200" dirty="0" smtClean="0"/>
          </a:p>
          <a:p>
            <a:pPr>
              <a:lnSpc>
                <a:spcPct val="150000"/>
              </a:lnSpc>
            </a:pPr>
            <a:r>
              <a:rPr lang="en-US" altLang="ko-KR" dirty="0" smtClean="0"/>
              <a:t>• </a:t>
            </a:r>
            <a:r>
              <a:rPr lang="ko-KR" altLang="en-US" dirty="0" smtClean="0"/>
              <a:t>실시간으로 플레이어의 컨트롤 능력을 요구하는 대신</a:t>
            </a:r>
            <a:r>
              <a:rPr lang="en-US" altLang="ko-KR" dirty="0" smtClean="0"/>
              <a:t> </a:t>
            </a:r>
            <a:r>
              <a:rPr lang="ko-KR" altLang="en-US" b="1" dirty="0" smtClean="0"/>
              <a:t>적절한   </a:t>
            </a:r>
            <a:endParaRPr lang="en-US" altLang="ko-KR" b="1" dirty="0" smtClean="0"/>
          </a:p>
          <a:p>
            <a:pPr>
              <a:lnSpc>
                <a:spcPct val="150000"/>
              </a:lnSpc>
            </a:pPr>
            <a:r>
              <a:rPr lang="en-US" altLang="ko-KR" b="1" dirty="0"/>
              <a:t> </a:t>
            </a:r>
            <a:r>
              <a:rPr lang="en-US" altLang="ko-KR" b="1" dirty="0" smtClean="0"/>
              <a:t> </a:t>
            </a:r>
            <a:r>
              <a:rPr lang="ko-KR" altLang="en-US" b="1" dirty="0" smtClean="0"/>
              <a:t>판단을 필요</a:t>
            </a:r>
            <a:r>
              <a:rPr lang="ko-KR" altLang="en-US" dirty="0" smtClean="0"/>
              <a:t>로 하기 때문에</a:t>
            </a:r>
            <a:r>
              <a:rPr lang="en-US" altLang="ko-KR" dirty="0" smtClean="0"/>
              <a:t>, </a:t>
            </a:r>
            <a:r>
              <a:rPr lang="ko-KR" altLang="en-US" dirty="0" smtClean="0"/>
              <a:t>누구나 손쉽게 접근할 수 있고</a:t>
            </a:r>
            <a:endParaRPr lang="en-US" altLang="ko-KR" dirty="0" smtClean="0"/>
          </a:p>
          <a:p>
            <a:pPr>
              <a:lnSpc>
                <a:spcPct val="150000"/>
              </a:lnSpc>
            </a:pPr>
            <a:r>
              <a:rPr lang="ko-KR" altLang="en-US" dirty="0" smtClean="0"/>
              <a:t>  게임의 기술적 구현에 있어서도 장점을 가지고 있습니다</a:t>
            </a:r>
            <a:r>
              <a:rPr lang="en-US" altLang="ko-KR" dirty="0" smtClean="0"/>
              <a:t>.</a:t>
            </a:r>
            <a:endParaRPr lang="en-US" altLang="ko-KR" dirty="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530" y="1255092"/>
            <a:ext cx="3840901"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8 )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30" y="3859452"/>
            <a:ext cx="3840901" cy="216050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454136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레벨 디자인</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16</a:t>
            </a:fld>
            <a:endParaRPr lang="ko-KR" altLang="en-US" dirty="0">
              <a:solidFill>
                <a:prstClr val="black">
                  <a:tint val="75000"/>
                </a:prstClr>
              </a:solidFill>
            </a:endParaRPr>
          </a:p>
        </p:txBody>
      </p:sp>
    </p:spTree>
    <p:extLst>
      <p:ext uri="{BB962C8B-B14F-4D97-AF65-F5344CB8AC3E}">
        <p14:creationId xmlns:p14="http://schemas.microsoft.com/office/powerpoint/2010/main" val="35017810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전체 지도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17</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6" name="TextBox 95"/>
          <p:cNvSpPr txBox="1"/>
          <p:nvPr/>
        </p:nvSpPr>
        <p:spPr>
          <a:xfrm>
            <a:off x="8900590" y="304142"/>
            <a:ext cx="3186882"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계층은 차후 추가될 수 있습니다</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모서리가 둥근 직사각형 1"/>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6" name="꺾인 연결선 5"/>
          <p:cNvCxnSpPr>
            <a:stCxn id="14" idx="6"/>
            <a:endCxn id="38" idx="2"/>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꺾인 연결선 107"/>
          <p:cNvCxnSpPr>
            <a:stCxn id="9" idx="0"/>
            <a:endCxn id="24" idx="2"/>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꺾인 연결선 108"/>
          <p:cNvCxnSpPr>
            <a:stCxn id="44" idx="6"/>
            <a:endCxn id="134" idx="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꺾인 연결선 109"/>
          <p:cNvCxnSpPr>
            <a:stCxn id="134" idx="3"/>
            <a:endCxn id="58" idx="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꺾인 연결선 110"/>
          <p:cNvCxnSpPr>
            <a:stCxn id="62" idx="6"/>
            <a:endCxn id="73" idx="2"/>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a:stCxn id="68" idx="6"/>
            <a:endCxn id="135" idx="1"/>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a:stCxn id="135" idx="3"/>
            <a:endCxn id="89" idx="2"/>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a:stCxn id="87" idx="6"/>
            <a:endCxn id="98" idx="2"/>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a:stCxn id="104" idx="6"/>
            <a:endCxn id="136" idx="1"/>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다이아몬드 4"/>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6" name="다이아몬드 115"/>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다이아몬드 116"/>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8" name="다이아몬드 117"/>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다이아몬드 118"/>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594135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예상 경로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18</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1" name="직선 화살표 연결선 100"/>
          <p:cNvCxnSpPr/>
          <p:nvPr/>
        </p:nvCxnSpPr>
        <p:spPr>
          <a:xfrm>
            <a:off x="1521917" y="3942318"/>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flipH="1" flipV="1">
            <a:off x="2705753" y="2422643"/>
            <a:ext cx="104682" cy="208195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a:off x="2606995" y="1958880"/>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7" name="직선 화살표 연결선 106"/>
          <p:cNvCxnSpPr/>
          <p:nvPr/>
        </p:nvCxnSpPr>
        <p:spPr>
          <a:xfrm>
            <a:off x="3747969" y="2961121"/>
            <a:ext cx="14251"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8" name="직선 화살표 연결선 107"/>
          <p:cNvCxnSpPr/>
          <p:nvPr/>
        </p:nvCxnSpPr>
        <p:spPr>
          <a:xfrm flipV="1">
            <a:off x="3715623" y="3863092"/>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2" name="직선 화살표 연결선 111"/>
          <p:cNvCxnSpPr/>
          <p:nvPr/>
        </p:nvCxnSpPr>
        <p:spPr>
          <a:xfrm flipV="1">
            <a:off x="4942322" y="3142590"/>
            <a:ext cx="412333" cy="535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flipV="1">
            <a:off x="5301270" y="1694330"/>
            <a:ext cx="106770" cy="133331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직선 화살표 연결선 113"/>
          <p:cNvCxnSpPr/>
          <p:nvPr/>
        </p:nvCxnSpPr>
        <p:spPr>
          <a:xfrm>
            <a:off x="5875515" y="1360487"/>
            <a:ext cx="0" cy="4584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5" name="직선 화살표 연결선 114"/>
          <p:cNvCxnSpPr/>
          <p:nvPr/>
        </p:nvCxnSpPr>
        <p:spPr>
          <a:xfrm flipV="1">
            <a:off x="5823093" y="5407770"/>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6" name="직선 화살표 연결선 115"/>
          <p:cNvCxnSpPr/>
          <p:nvPr/>
        </p:nvCxnSpPr>
        <p:spPr>
          <a:xfrm flipV="1">
            <a:off x="6369078" y="3154206"/>
            <a:ext cx="0" cy="20386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7" name="직선 화살표 연결선 116"/>
          <p:cNvCxnSpPr/>
          <p:nvPr/>
        </p:nvCxnSpPr>
        <p:spPr>
          <a:xfrm>
            <a:off x="6806090" y="3018504"/>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8" name="직선 화살표 연결선 117"/>
          <p:cNvCxnSpPr/>
          <p:nvPr/>
        </p:nvCxnSpPr>
        <p:spPr>
          <a:xfrm flipV="1">
            <a:off x="8098612" y="2301543"/>
            <a:ext cx="450660" cy="127780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9" name="직선 화살표 연결선 118"/>
          <p:cNvCxnSpPr/>
          <p:nvPr/>
        </p:nvCxnSpPr>
        <p:spPr>
          <a:xfrm>
            <a:off x="9013755" y="2243045"/>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0" name="직선 화살표 연결선 119"/>
          <p:cNvCxnSpPr/>
          <p:nvPr/>
        </p:nvCxnSpPr>
        <p:spPr>
          <a:xfrm flipV="1">
            <a:off x="9025778" y="3150834"/>
            <a:ext cx="506780" cy="71225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직선 화살표 연결선 120"/>
          <p:cNvCxnSpPr/>
          <p:nvPr/>
        </p:nvCxnSpPr>
        <p:spPr>
          <a:xfrm flipH="1">
            <a:off x="10047169" y="2958291"/>
            <a:ext cx="2331" cy="147946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3" name="직선 화살표 연결선 122"/>
          <p:cNvCxnSpPr/>
          <p:nvPr/>
        </p:nvCxnSpPr>
        <p:spPr>
          <a:xfrm flipV="1">
            <a:off x="10047169" y="3839050"/>
            <a:ext cx="586897" cy="82437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1" name="모서리가 둥근 직사각형 110"/>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27" name="모서리가 둥근 직사각형 12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49" name="꺾인 연결선 148"/>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꺾인 연결선 150"/>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꺾인 연결선 15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꺾인 연결선 15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꺾인 연결선 153"/>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꺾인 연결선 15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꺾인 연결선 15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꺾인 연결선 158"/>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꺾인 연결선 159"/>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9" name="다이아몬드 10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8" name="다이아몬드 127"/>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9" name="다이아몬드 128"/>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2" name="다이아몬드 131"/>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163929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19</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5" name="TextBox 104"/>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모서리가 둥근 직사각형 105"/>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0" name="모서리가 둥근 직사각형 109"/>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꺾인 연결선 100"/>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꺾인 연결선 110"/>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도넛 76"/>
          <p:cNvSpPr/>
          <p:nvPr/>
        </p:nvSpPr>
        <p:spPr>
          <a:xfrm>
            <a:off x="349545" y="3112030"/>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18" name="다이아몬드 117"/>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다이아몬드 118"/>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모서리가 둥근 사각형 설명선 77"/>
          <p:cNvSpPr/>
          <p:nvPr/>
        </p:nvSpPr>
        <p:spPr>
          <a:xfrm>
            <a:off x="1365061" y="1202758"/>
            <a:ext cx="6099450" cy="1958532"/>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US" altLang="ko-KR" sz="1600" b="1" dirty="0" smtClean="0">
                <a:solidFill>
                  <a:sysClr val="windowText" lastClr="000000"/>
                </a:solidFill>
              </a:rPr>
              <a:t>‘</a:t>
            </a:r>
            <a:r>
              <a:rPr lang="ko-KR" altLang="en-US" sz="1600" b="1" dirty="0" smtClean="0">
                <a:solidFill>
                  <a:sysClr val="windowText" lastClr="000000"/>
                </a:solidFill>
              </a:rPr>
              <a:t>입구</a:t>
            </a:r>
            <a:r>
              <a:rPr lang="en-US" altLang="ko-KR" sz="1600" b="1" dirty="0" smtClean="0">
                <a:solidFill>
                  <a:sysClr val="windowText" lastClr="000000"/>
                </a:solidFill>
              </a:rPr>
              <a:t>’</a:t>
            </a:r>
            <a:endParaRPr lang="en-US" altLang="ko-KR" sz="1600" b="1" dirty="0" smtClean="0">
              <a:solidFill>
                <a:sysClr val="windowText" lastClr="000000"/>
              </a:solidFill>
            </a:endParaRPr>
          </a:p>
          <a:p>
            <a:pPr>
              <a:lnSpc>
                <a:spcPct val="200000"/>
              </a:lnSpc>
            </a:pPr>
            <a:r>
              <a:rPr lang="en-US" altLang="ko-KR" sz="1400" dirty="0">
                <a:solidFill>
                  <a:sysClr val="windowText" lastClr="000000"/>
                </a:solidFill>
              </a:rPr>
              <a:t>#1 </a:t>
            </a:r>
            <a:r>
              <a:rPr lang="ko-KR" altLang="en-US" sz="1400" dirty="0">
                <a:solidFill>
                  <a:sysClr val="windowText" lastClr="000000"/>
                </a:solidFill>
              </a:rPr>
              <a:t>플레이어에게 던전 탐험의 시작점을 명시적으로 표시해준다</a:t>
            </a:r>
            <a:r>
              <a:rPr lang="en-US" altLang="ko-KR" sz="1400" dirty="0" smtClean="0">
                <a:solidFill>
                  <a:sysClr val="windowText" lastClr="000000"/>
                </a:solidFill>
              </a:rPr>
              <a:t>.</a:t>
            </a:r>
            <a:br>
              <a:rPr lang="en-US" altLang="ko-KR" sz="1400" dirty="0" smtClean="0">
                <a:solidFill>
                  <a:sysClr val="windowText" lastClr="000000"/>
                </a:solidFill>
              </a:rPr>
            </a:br>
            <a:r>
              <a:rPr lang="en-US" altLang="ko-KR" sz="1400" dirty="0" smtClean="0">
                <a:solidFill>
                  <a:sysClr val="windowText" lastClr="000000"/>
                </a:solidFill>
              </a:rPr>
              <a:t>#</a:t>
            </a:r>
            <a:r>
              <a:rPr lang="en-US" altLang="ko-KR" sz="1400" dirty="0">
                <a:solidFill>
                  <a:sysClr val="windowText" lastClr="000000"/>
                </a:solidFill>
              </a:rPr>
              <a:t>2 </a:t>
            </a:r>
            <a:r>
              <a:rPr lang="ko-KR" altLang="en-US" sz="1400" dirty="0">
                <a:solidFill>
                  <a:sysClr val="windowText" lastClr="000000"/>
                </a:solidFill>
              </a:rPr>
              <a:t>던전 </a:t>
            </a:r>
            <a:r>
              <a:rPr lang="ko-KR" altLang="en-US" sz="1400" dirty="0" err="1">
                <a:solidFill>
                  <a:sysClr val="windowText" lastClr="000000"/>
                </a:solidFill>
              </a:rPr>
              <a:t>최심부에</a:t>
            </a:r>
            <a:r>
              <a:rPr lang="ko-KR" altLang="en-US" sz="1400" dirty="0">
                <a:solidFill>
                  <a:sysClr val="windowText" lastClr="000000"/>
                </a:solidFill>
              </a:rPr>
              <a:t> 대조되는 상징의 장소로서 던전의 </a:t>
            </a:r>
            <a:r>
              <a:rPr lang="ko-KR" altLang="en-US" sz="1400" dirty="0" err="1">
                <a:solidFill>
                  <a:sysClr val="windowText" lastClr="000000"/>
                </a:solidFill>
              </a:rPr>
              <a:t>최우측에</a:t>
            </a:r>
            <a:r>
              <a:rPr lang="ko-KR" altLang="en-US" sz="1400" dirty="0">
                <a:solidFill>
                  <a:sysClr val="windowText" lastClr="000000"/>
                </a:solidFill>
              </a:rPr>
              <a:t> 위치한다</a:t>
            </a:r>
            <a:r>
              <a:rPr lang="en-US" altLang="ko-KR" sz="1400" dirty="0" smtClean="0">
                <a:solidFill>
                  <a:sysClr val="windowText" lastClr="000000"/>
                </a:solidFill>
              </a:rPr>
              <a:t>.</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#3 </a:t>
            </a:r>
            <a:r>
              <a:rPr lang="ko-KR" altLang="en-US" sz="1400" dirty="0">
                <a:solidFill>
                  <a:sysClr val="windowText" lastClr="000000"/>
                </a:solidFill>
              </a:rPr>
              <a:t>플레이어의 원활한 초반 진행을 위해</a:t>
            </a:r>
            <a:r>
              <a:rPr lang="en-US" altLang="ko-KR" sz="1400" dirty="0">
                <a:solidFill>
                  <a:sysClr val="windowText" lastClr="000000"/>
                </a:solidFill>
              </a:rPr>
              <a:t>, </a:t>
            </a:r>
            <a:r>
              <a:rPr lang="ko-KR" altLang="en-US" sz="1400" dirty="0" err="1">
                <a:solidFill>
                  <a:sysClr val="windowText" lastClr="000000"/>
                </a:solidFill>
              </a:rPr>
              <a:t>아티팩트를</a:t>
            </a:r>
            <a:r>
              <a:rPr lang="ko-KR" altLang="en-US" sz="1400" dirty="0">
                <a:solidFill>
                  <a:sysClr val="windowText" lastClr="000000"/>
                </a:solidFill>
              </a:rPr>
              <a:t> 획득할 수 있다</a:t>
            </a:r>
            <a:r>
              <a:rPr lang="en-US" altLang="ko-KR" sz="1400" dirty="0">
                <a:solidFill>
                  <a:sysClr val="windowText" lastClr="000000"/>
                </a:solidFill>
              </a:rPr>
              <a:t>.</a:t>
            </a:r>
            <a:endParaRPr lang="en-US" altLang="ko-KR" sz="1200" dirty="0">
              <a:solidFill>
                <a:sysClr val="windowText" lastClr="000000"/>
              </a:solidFill>
            </a:endParaRPr>
          </a:p>
        </p:txBody>
      </p:sp>
    </p:spTree>
    <p:extLst>
      <p:ext uri="{BB962C8B-B14F-4D97-AF65-F5344CB8AC3E}">
        <p14:creationId xmlns:p14="http://schemas.microsoft.com/office/powerpoint/2010/main" val="39298827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20</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계</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TextBox 107"/>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9" name="모서리가 둥근 직사각형 108"/>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3" name="모서리가 둥근 직사각형 112"/>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꺾인 연결선 106"/>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1881609" y="1484513"/>
            <a:ext cx="6484697" cy="2281532"/>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계단</a:t>
            </a:r>
            <a:r>
              <a:rPr lang="en-US" altLang="ko-KR" sz="1600" b="1" dirty="0" smtClean="0">
                <a:solidFill>
                  <a:sysClr val="windowText" lastClr="000000"/>
                </a:solidFill>
              </a:rPr>
              <a:t>’</a:t>
            </a:r>
          </a:p>
          <a:p>
            <a:endParaRPr lang="en-US" altLang="ko-KR" sz="1600" b="1"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서로 다른 계층을 잇는 길로서</a:t>
            </a:r>
            <a:r>
              <a:rPr lang="en-US" altLang="ko-KR" sz="1400" dirty="0" smtClean="0">
                <a:solidFill>
                  <a:sysClr val="windowText" lastClr="000000"/>
                </a:solidFill>
              </a:rPr>
              <a:t>, </a:t>
            </a:r>
            <a:r>
              <a:rPr lang="ko-KR" altLang="en-US" sz="1400" dirty="0" smtClean="0">
                <a:solidFill>
                  <a:sysClr val="windowText" lastClr="000000"/>
                </a:solidFill>
              </a:rPr>
              <a:t>더욱 깊은 곳으로 향한다는 느낌을 주고 </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계층간의 경계를 나누는 역할을 한다</a:t>
            </a:r>
            <a:r>
              <a:rPr lang="en-US" altLang="ko-KR" sz="1400" dirty="0" smtClean="0">
                <a:solidFill>
                  <a:sysClr val="windowText" lastClr="000000"/>
                </a:solidFill>
              </a:rPr>
              <a:t>.</a:t>
            </a:r>
          </a:p>
          <a:p>
            <a:endParaRPr lang="en-US" altLang="ko-KR" sz="1400" dirty="0" smtClean="0">
              <a:solidFill>
                <a:sysClr val="windowText" lastClr="000000"/>
              </a:solidFill>
            </a:endParaRPr>
          </a:p>
          <a:p>
            <a:r>
              <a:rPr lang="en-US" altLang="ko-KR" sz="1400" dirty="0" smtClean="0">
                <a:solidFill>
                  <a:sysClr val="windowText" lastClr="000000"/>
                </a:solidFill>
              </a:rPr>
              <a:t>#</a:t>
            </a:r>
            <a:r>
              <a:rPr lang="en-US" altLang="ko-KR" sz="1400" dirty="0">
                <a:solidFill>
                  <a:sysClr val="windowText" lastClr="000000"/>
                </a:solidFill>
              </a:rPr>
              <a:t>2 </a:t>
            </a:r>
            <a:r>
              <a:rPr lang="ko-KR" altLang="en-US" sz="1400" dirty="0" smtClean="0">
                <a:solidFill>
                  <a:sysClr val="windowText" lastClr="000000"/>
                </a:solidFill>
              </a:rPr>
              <a:t>다음 계층으로 넘어간 뒤에는 이전 계층으로 돌아갈 수 없도록 설정하여</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던전을 탐험한다는 개념에 충실하고</a:t>
            </a:r>
            <a:r>
              <a:rPr lang="en-US" altLang="ko-KR" sz="1400" dirty="0" smtClean="0">
                <a:solidFill>
                  <a:sysClr val="windowText" lastClr="000000"/>
                </a:solidFill>
              </a:rPr>
              <a:t>, </a:t>
            </a:r>
            <a:r>
              <a:rPr lang="ko-KR" altLang="en-US" sz="1400" dirty="0" smtClean="0">
                <a:solidFill>
                  <a:sysClr val="windowText" lastClr="000000"/>
                </a:solidFill>
              </a:rPr>
              <a:t>이전 층을 도로 탐험하면서 게임이 </a:t>
            </a: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속도감을 잃고 지루해지는 것을 예방한다</a:t>
            </a:r>
            <a:r>
              <a:rPr lang="en-US" altLang="ko-KR" sz="1400" dirty="0" smtClean="0">
                <a:solidFill>
                  <a:sysClr val="windowText" lastClr="000000"/>
                </a:solidFill>
              </a:rPr>
              <a:t>.</a:t>
            </a:r>
            <a:endParaRPr lang="en-US" altLang="ko-KR" sz="1400" dirty="0">
              <a:solidFill>
                <a:sysClr val="windowText" lastClr="000000"/>
              </a:solidFill>
            </a:endParaRPr>
          </a:p>
        </p:txBody>
      </p:sp>
      <p:sp>
        <p:nvSpPr>
          <p:cNvPr id="106" name="도넛 105"/>
          <p:cNvSpPr/>
          <p:nvPr/>
        </p:nvSpPr>
        <p:spPr>
          <a:xfrm>
            <a:off x="1476039" y="3787676"/>
            <a:ext cx="783158" cy="717722"/>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6" name="다이아몬드 95"/>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679309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21</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복</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TextBox 107"/>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9" name="모서리가 둥근 직사각형 108"/>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3" name="모서리가 둥근 직사각형 112"/>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꺾인 연결선 106"/>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2409057" y="943576"/>
            <a:ext cx="5903585" cy="2755517"/>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복도</a:t>
            </a:r>
            <a:r>
              <a:rPr lang="en-US" altLang="ko-KR" sz="1600" b="1" dirty="0" smtClean="0">
                <a:solidFill>
                  <a:sysClr val="windowText" lastClr="000000"/>
                </a:solidFill>
              </a:rPr>
              <a:t>’</a:t>
            </a:r>
          </a:p>
          <a:p>
            <a:endParaRPr lang="en-US" altLang="ko-KR" sz="1600" b="1"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서로 다른 </a:t>
            </a:r>
            <a:r>
              <a:rPr lang="ko-KR" altLang="en-US" sz="1400" dirty="0" err="1" smtClean="0">
                <a:solidFill>
                  <a:sysClr val="windowText" lastClr="000000"/>
                </a:solidFill>
              </a:rPr>
              <a:t>에어리어를</a:t>
            </a:r>
            <a:r>
              <a:rPr lang="ko-KR" altLang="en-US" sz="1400" dirty="0" smtClean="0">
                <a:solidFill>
                  <a:sysClr val="windowText" lastClr="000000"/>
                </a:solidFill>
              </a:rPr>
              <a:t> 연결하는 길로서</a:t>
            </a:r>
            <a:r>
              <a:rPr lang="en-US" altLang="ko-KR" sz="1400" dirty="0" smtClean="0">
                <a:solidFill>
                  <a:sysClr val="windowText" lastClr="000000"/>
                </a:solidFill>
              </a:rPr>
              <a:t>, </a:t>
            </a:r>
            <a:r>
              <a:rPr lang="ko-KR" altLang="en-US" sz="1400" dirty="0" smtClean="0">
                <a:solidFill>
                  <a:sysClr val="windowText" lastClr="000000"/>
                </a:solidFill>
              </a:rPr>
              <a:t>계층 내에서 플레이어가 </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이동할 수 있는 경로를 나타냄</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#2 </a:t>
            </a:r>
            <a:r>
              <a:rPr lang="ko-KR" altLang="en-US" sz="1400" dirty="0" smtClean="0">
                <a:solidFill>
                  <a:sysClr val="windowText" lastClr="000000"/>
                </a:solidFill>
              </a:rPr>
              <a:t>한번에 하나의 복도를 건너 다른 </a:t>
            </a:r>
            <a:r>
              <a:rPr lang="ko-KR" altLang="en-US" sz="1400" dirty="0" err="1" smtClean="0">
                <a:solidFill>
                  <a:sysClr val="windowText" lastClr="000000"/>
                </a:solidFill>
              </a:rPr>
              <a:t>에어리어로</a:t>
            </a:r>
            <a:r>
              <a:rPr lang="ko-KR" altLang="en-US" sz="1400" dirty="0" smtClean="0">
                <a:solidFill>
                  <a:sysClr val="windowText" lastClr="000000"/>
                </a:solidFill>
              </a:rPr>
              <a:t> 이동할 수 있으며</a:t>
            </a:r>
            <a:r>
              <a:rPr lang="en-US" altLang="ko-KR" sz="1400" dirty="0" smtClean="0">
                <a:solidFill>
                  <a:sysClr val="windowText" lastClr="000000"/>
                </a:solidFill>
              </a:rPr>
              <a:t>, </a:t>
            </a: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이때 방향은 왕복 모두 가능하다</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#3 </a:t>
            </a:r>
            <a:r>
              <a:rPr lang="ko-KR" altLang="en-US" sz="1400" dirty="0" smtClean="0">
                <a:solidFill>
                  <a:sysClr val="windowText" lastClr="000000"/>
                </a:solidFill>
              </a:rPr>
              <a:t>에어리어들을 일렬로 연결하여</a:t>
            </a:r>
            <a:r>
              <a:rPr lang="en-US" altLang="ko-KR" sz="1400" dirty="0" smtClean="0">
                <a:solidFill>
                  <a:sysClr val="windowText" lastClr="000000"/>
                </a:solidFill>
              </a:rPr>
              <a:t>, </a:t>
            </a:r>
            <a:r>
              <a:rPr lang="ko-KR" altLang="en-US" sz="1400" dirty="0" smtClean="0">
                <a:solidFill>
                  <a:sysClr val="windowText" lastClr="000000"/>
                </a:solidFill>
              </a:rPr>
              <a:t>유저가 지하 한 층을 돌아다니며</a:t>
            </a: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 탐험하는 효과를 연출함</a:t>
            </a:r>
            <a:r>
              <a:rPr lang="en-US" altLang="ko-KR" sz="1400" dirty="0" smtClean="0">
                <a:solidFill>
                  <a:sysClr val="windowText" lastClr="000000"/>
                </a:solidFill>
              </a:rPr>
              <a:t>.</a:t>
            </a:r>
            <a:endParaRPr lang="en-US" altLang="ko-KR" sz="1400" dirty="0" smtClean="0">
              <a:solidFill>
                <a:schemeClr val="tx1"/>
              </a:solidFill>
            </a:endParaRPr>
          </a:p>
        </p:txBody>
      </p:sp>
      <p:sp>
        <p:nvSpPr>
          <p:cNvPr id="106" name="도넛 105"/>
          <p:cNvSpPr/>
          <p:nvPr/>
        </p:nvSpPr>
        <p:spPr>
          <a:xfrm>
            <a:off x="2135334" y="3831830"/>
            <a:ext cx="661383" cy="660887"/>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6" name="다이아몬드 95"/>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2445066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22</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3177703" y="775297"/>
            <a:ext cx="7142638" cy="4065350"/>
          </a:xfrm>
          <a:prstGeom prst="wedgeRoundRectCallout">
            <a:avLst>
              <a:gd name="adj1" fmla="val -55298"/>
              <a:gd name="adj2" fmla="val 3638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에어리어</a:t>
            </a:r>
            <a:r>
              <a:rPr lang="en-US" altLang="ko-KR" sz="1600" b="1" dirty="0" smtClean="0">
                <a:solidFill>
                  <a:sysClr val="windowText" lastClr="000000"/>
                </a:solidFill>
              </a:rPr>
              <a:t>’</a:t>
            </a:r>
          </a:p>
          <a:p>
            <a:endParaRPr lang="en-US" altLang="ko-KR" sz="1600" b="1" dirty="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계층을 구성하는 단위로</a:t>
            </a:r>
            <a:r>
              <a:rPr lang="en-US" altLang="ko-KR" sz="1400" dirty="0" smtClean="0">
                <a:solidFill>
                  <a:sysClr val="windowText" lastClr="000000"/>
                </a:solidFill>
              </a:rPr>
              <a:t>, </a:t>
            </a:r>
            <a:r>
              <a:rPr lang="ko-KR" altLang="en-US" sz="1400" dirty="0" smtClean="0">
                <a:solidFill>
                  <a:sysClr val="windowText" lastClr="000000"/>
                </a:solidFill>
              </a:rPr>
              <a:t>전투 혹은 </a:t>
            </a:r>
            <a:r>
              <a:rPr lang="ko-KR" altLang="en-US" sz="1400" dirty="0" err="1" smtClean="0">
                <a:solidFill>
                  <a:sysClr val="windowText" lastClr="000000"/>
                </a:solidFill>
              </a:rPr>
              <a:t>비전투</a:t>
            </a:r>
            <a:r>
              <a:rPr lang="ko-KR" altLang="en-US" sz="1400" dirty="0" smtClean="0">
                <a:solidFill>
                  <a:sysClr val="windowText" lastClr="000000"/>
                </a:solidFill>
              </a:rPr>
              <a:t> 이벤트를 가지고 있음</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a:solidFill>
                  <a:sysClr val="windowText" lastClr="000000"/>
                </a:solidFill>
              </a:rPr>
              <a:t>#2 </a:t>
            </a:r>
            <a:r>
              <a:rPr lang="ko-KR" altLang="en-US" sz="1400" dirty="0" smtClean="0">
                <a:solidFill>
                  <a:sysClr val="windowText" lastClr="000000"/>
                </a:solidFill>
              </a:rPr>
              <a:t>전투와 이벤트가 발생하는 주무대로서</a:t>
            </a:r>
            <a:r>
              <a:rPr lang="en-US" altLang="ko-KR" sz="1400" dirty="0" smtClean="0">
                <a:solidFill>
                  <a:sysClr val="windowText" lastClr="000000"/>
                </a:solidFill>
              </a:rPr>
              <a:t>, </a:t>
            </a:r>
            <a:r>
              <a:rPr lang="ko-KR" altLang="en-US" sz="1400" dirty="0" smtClean="0">
                <a:solidFill>
                  <a:sysClr val="windowText" lastClr="000000"/>
                </a:solidFill>
              </a:rPr>
              <a:t>던전의 계층을 이루는 하나의 방이라는</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 개념을 사용하여</a:t>
            </a:r>
            <a:r>
              <a:rPr lang="en-US" altLang="ko-KR" sz="1400" dirty="0" smtClean="0">
                <a:solidFill>
                  <a:sysClr val="windowText" lastClr="000000"/>
                </a:solidFill>
              </a:rPr>
              <a:t> </a:t>
            </a:r>
            <a:r>
              <a:rPr lang="ko-KR" altLang="en-US" sz="1400" dirty="0" smtClean="0">
                <a:solidFill>
                  <a:sysClr val="windowText" lastClr="000000"/>
                </a:solidFill>
              </a:rPr>
              <a:t>플레이어가 </a:t>
            </a:r>
            <a:r>
              <a:rPr lang="ko-KR" altLang="en-US" sz="1400" dirty="0" err="1" smtClean="0">
                <a:solidFill>
                  <a:sysClr val="windowText" lastClr="000000"/>
                </a:solidFill>
              </a:rPr>
              <a:t>에어리어</a:t>
            </a:r>
            <a:r>
              <a:rPr lang="ko-KR" altLang="en-US" sz="1400" dirty="0" smtClean="0">
                <a:solidFill>
                  <a:sysClr val="windowText" lastClr="000000"/>
                </a:solidFill>
              </a:rPr>
              <a:t> 자체에 주목하게끔 유도</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#3 </a:t>
            </a:r>
            <a:r>
              <a:rPr lang="ko-KR" altLang="en-US" sz="1400" dirty="0" smtClean="0">
                <a:solidFill>
                  <a:sysClr val="windowText" lastClr="000000"/>
                </a:solidFill>
              </a:rPr>
              <a:t>전리품을 통해</a:t>
            </a:r>
            <a:r>
              <a:rPr lang="en-US" altLang="ko-KR" sz="1400" dirty="0" smtClean="0">
                <a:solidFill>
                  <a:sysClr val="windowText" lastClr="000000"/>
                </a:solidFill>
              </a:rPr>
              <a:t> </a:t>
            </a:r>
            <a:r>
              <a:rPr lang="ko-KR" altLang="en-US" sz="1400" dirty="0" err="1" smtClean="0">
                <a:solidFill>
                  <a:sysClr val="windowText" lastClr="000000"/>
                </a:solidFill>
              </a:rPr>
              <a:t>에어리어마다</a:t>
            </a:r>
            <a:r>
              <a:rPr lang="ko-KR" altLang="en-US" sz="1400" dirty="0" smtClean="0">
                <a:solidFill>
                  <a:sysClr val="windowText" lastClr="000000"/>
                </a:solidFill>
              </a:rPr>
              <a:t> 클리어했을 때의 성취감을 느낄 수 있도록 설정함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#4 </a:t>
            </a:r>
            <a:r>
              <a:rPr lang="ko-KR" altLang="en-US" sz="1400" dirty="0" smtClean="0">
                <a:solidFill>
                  <a:sysClr val="windowText" lastClr="000000"/>
                </a:solidFill>
              </a:rPr>
              <a:t>정화 시스템과 연계하여</a:t>
            </a:r>
            <a:r>
              <a:rPr lang="en-US" altLang="ko-KR" sz="1400" dirty="0" smtClean="0">
                <a:solidFill>
                  <a:sysClr val="windowText" lastClr="000000"/>
                </a:solidFill>
              </a:rPr>
              <a:t>, </a:t>
            </a:r>
            <a:r>
              <a:rPr lang="ko-KR" altLang="en-US" sz="1400" dirty="0" smtClean="0">
                <a:solidFill>
                  <a:sysClr val="windowText" lastClr="000000"/>
                </a:solidFill>
              </a:rPr>
              <a:t>하나의 </a:t>
            </a:r>
            <a:r>
              <a:rPr lang="en-US" altLang="ko-KR" sz="1400" dirty="0" smtClean="0">
                <a:solidFill>
                  <a:sysClr val="windowText" lastClr="000000"/>
                </a:solidFill>
              </a:rPr>
              <a:t>(</a:t>
            </a:r>
            <a:r>
              <a:rPr lang="ko-KR" altLang="en-US" sz="1400" dirty="0" smtClean="0">
                <a:solidFill>
                  <a:sysClr val="windowText" lastClr="000000"/>
                </a:solidFill>
              </a:rPr>
              <a:t>전투</a:t>
            </a:r>
            <a:r>
              <a:rPr lang="en-US" altLang="ko-KR" sz="1400" dirty="0" smtClean="0">
                <a:solidFill>
                  <a:sysClr val="windowText" lastClr="000000"/>
                </a:solidFill>
              </a:rPr>
              <a:t>)</a:t>
            </a:r>
            <a:r>
              <a:rPr lang="ko-KR" altLang="en-US" sz="1400" dirty="0" err="1" smtClean="0">
                <a:solidFill>
                  <a:sysClr val="windowText" lastClr="000000"/>
                </a:solidFill>
              </a:rPr>
              <a:t>에어리어마다</a:t>
            </a:r>
            <a:r>
              <a:rPr lang="ko-KR" altLang="en-US" sz="1400" dirty="0" smtClean="0">
                <a:solidFill>
                  <a:sysClr val="windowText" lastClr="000000"/>
                </a:solidFill>
              </a:rPr>
              <a:t> 몬스터 </a:t>
            </a:r>
            <a:r>
              <a:rPr lang="en-US" altLang="ko-KR" sz="1400" dirty="0" smtClean="0">
                <a:solidFill>
                  <a:sysClr val="windowText" lastClr="000000"/>
                </a:solidFill>
              </a:rPr>
              <a:t>1</a:t>
            </a:r>
            <a:r>
              <a:rPr lang="ko-KR" altLang="en-US" sz="1400" dirty="0" smtClean="0">
                <a:solidFill>
                  <a:sysClr val="windowText" lastClr="000000"/>
                </a:solidFill>
              </a:rPr>
              <a:t>체를 얻게 되는</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암묵적 시스템을 구축함</a:t>
            </a:r>
            <a:r>
              <a:rPr lang="en-US" altLang="ko-KR" sz="1400" dirty="0" smtClean="0">
                <a:solidFill>
                  <a:sysClr val="windowText" lastClr="000000"/>
                </a:solidFill>
              </a:rPr>
              <a:t>. </a:t>
            </a:r>
            <a:r>
              <a:rPr lang="ko-KR" altLang="en-US" sz="1400" dirty="0" smtClean="0">
                <a:solidFill>
                  <a:sysClr val="windowText" lastClr="000000"/>
                </a:solidFill>
              </a:rPr>
              <a:t>더 나아가</a:t>
            </a:r>
            <a:r>
              <a:rPr lang="en-US" altLang="ko-KR" sz="1400" dirty="0" smtClean="0">
                <a:solidFill>
                  <a:sysClr val="windowText" lastClr="000000"/>
                </a:solidFill>
              </a:rPr>
              <a:t>, </a:t>
            </a:r>
            <a:r>
              <a:rPr lang="ko-KR" altLang="en-US" sz="1400" dirty="0" smtClean="0">
                <a:solidFill>
                  <a:sysClr val="windowText" lastClr="000000"/>
                </a:solidFill>
              </a:rPr>
              <a:t>최종보스까지의 최단경로에서 약 </a:t>
            </a:r>
            <a:r>
              <a:rPr lang="en-US" altLang="ko-KR" sz="1400" dirty="0" smtClean="0">
                <a:solidFill>
                  <a:sysClr val="windowText" lastClr="000000"/>
                </a:solidFill>
              </a:rPr>
              <a:t>20</a:t>
            </a:r>
            <a:r>
              <a:rPr lang="ko-KR" altLang="en-US" sz="1400" dirty="0" smtClean="0">
                <a:solidFill>
                  <a:sysClr val="windowText" lastClr="000000"/>
                </a:solidFill>
              </a:rPr>
              <a:t>번의</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 전투와 정화를</a:t>
            </a:r>
            <a:r>
              <a:rPr lang="en-US" altLang="ko-KR" sz="1400" dirty="0" smtClean="0">
                <a:solidFill>
                  <a:sysClr val="windowText" lastClr="000000"/>
                </a:solidFill>
              </a:rPr>
              <a:t> </a:t>
            </a:r>
            <a:r>
              <a:rPr lang="ko-KR" altLang="en-US" sz="1400" dirty="0" smtClean="0">
                <a:solidFill>
                  <a:sysClr val="windowText" lastClr="000000"/>
                </a:solidFill>
              </a:rPr>
              <a:t>예상해볼 수 있으며</a:t>
            </a:r>
            <a:r>
              <a:rPr lang="en-US" altLang="ko-KR" sz="1400" dirty="0" smtClean="0">
                <a:solidFill>
                  <a:sysClr val="windowText" lastClr="000000"/>
                </a:solidFill>
              </a:rPr>
              <a:t>, </a:t>
            </a:r>
            <a:r>
              <a:rPr lang="ko-KR" altLang="en-US" sz="1400" dirty="0" smtClean="0">
                <a:solidFill>
                  <a:sysClr val="windowText" lastClr="000000"/>
                </a:solidFill>
              </a:rPr>
              <a:t>이를 기타 밸런스 조정에 참고할 수 있</a:t>
            </a:r>
            <a:r>
              <a:rPr lang="ko-KR" altLang="en-US" sz="1400" dirty="0" smtClean="0">
                <a:solidFill>
                  <a:sysClr val="windowText" lastClr="000000"/>
                </a:solidFill>
              </a:rPr>
              <a:t>음</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#5 </a:t>
            </a:r>
            <a:r>
              <a:rPr lang="ko-KR" altLang="en-US" sz="1400" dirty="0" smtClean="0">
                <a:solidFill>
                  <a:sysClr val="windowText" lastClr="000000"/>
                </a:solidFill>
              </a:rPr>
              <a:t>탐험</a:t>
            </a:r>
            <a:r>
              <a:rPr lang="en-US" altLang="ko-KR" sz="1400" dirty="0" smtClean="0">
                <a:solidFill>
                  <a:sysClr val="windowText" lastClr="000000"/>
                </a:solidFill>
              </a:rPr>
              <a:t>, </a:t>
            </a:r>
            <a:r>
              <a:rPr lang="ko-KR" altLang="en-US" sz="1400" dirty="0" err="1" smtClean="0">
                <a:solidFill>
                  <a:sysClr val="windowText" lastClr="000000"/>
                </a:solidFill>
              </a:rPr>
              <a:t>미탐험</a:t>
            </a:r>
            <a:r>
              <a:rPr lang="ko-KR" altLang="en-US" sz="1400" dirty="0" smtClean="0">
                <a:solidFill>
                  <a:sysClr val="windowText" lastClr="000000"/>
                </a:solidFill>
              </a:rPr>
              <a:t> 지역을 각각 백색</a:t>
            </a:r>
            <a:r>
              <a:rPr lang="en-US" altLang="ko-KR" sz="1400" dirty="0" smtClean="0">
                <a:solidFill>
                  <a:sysClr val="windowText" lastClr="000000"/>
                </a:solidFill>
              </a:rPr>
              <a:t>, </a:t>
            </a:r>
            <a:r>
              <a:rPr lang="ko-KR" altLang="en-US" sz="1400" dirty="0" smtClean="0">
                <a:solidFill>
                  <a:sysClr val="windowText" lastClr="000000"/>
                </a:solidFill>
              </a:rPr>
              <a:t>회색으로 표시하여</a:t>
            </a:r>
            <a:r>
              <a:rPr lang="en-US" altLang="ko-KR" sz="1400" dirty="0" smtClean="0">
                <a:solidFill>
                  <a:sysClr val="windowText" lastClr="000000"/>
                </a:solidFill>
              </a:rPr>
              <a:t> </a:t>
            </a:r>
            <a:r>
              <a:rPr lang="ko-KR" altLang="en-US" sz="1400" dirty="0" smtClean="0">
                <a:solidFill>
                  <a:sysClr val="windowText" lastClr="000000"/>
                </a:solidFill>
              </a:rPr>
              <a:t>시각적인 도움을 줌</a:t>
            </a:r>
            <a:r>
              <a:rPr lang="en-US" altLang="ko-KR" sz="1400" dirty="0" smtClean="0">
                <a:solidFill>
                  <a:sysClr val="windowText" lastClr="000000"/>
                </a:solidFill>
              </a:rPr>
              <a:t>.</a:t>
            </a:r>
          </a:p>
          <a:p>
            <a:endParaRPr lang="en-US" altLang="ko-KR" sz="1400" dirty="0" smtClean="0">
              <a:solidFill>
                <a:sysClr val="windowText" lastClr="000000"/>
              </a:solidFill>
            </a:endParaRPr>
          </a:p>
          <a:p>
            <a:r>
              <a:rPr lang="en-US" altLang="ko-KR" sz="1400" dirty="0" smtClean="0">
                <a:solidFill>
                  <a:sysClr val="windowText" lastClr="000000"/>
                </a:solidFill>
              </a:rPr>
              <a:t>#6 </a:t>
            </a:r>
            <a:r>
              <a:rPr lang="ko-KR" altLang="en-US" sz="1400" dirty="0" smtClean="0">
                <a:solidFill>
                  <a:sysClr val="windowText" lastClr="000000"/>
                </a:solidFill>
              </a:rPr>
              <a:t>한번 탐험한 지역은 이벤트가 </a:t>
            </a:r>
            <a:r>
              <a:rPr lang="ko-KR" altLang="en-US" sz="1400" dirty="0" err="1" smtClean="0">
                <a:solidFill>
                  <a:sysClr val="windowText" lastClr="000000"/>
                </a:solidFill>
              </a:rPr>
              <a:t>재발생하지</a:t>
            </a:r>
            <a:r>
              <a:rPr lang="ko-KR" altLang="en-US" sz="1400" dirty="0" smtClean="0">
                <a:solidFill>
                  <a:sysClr val="windowText" lastClr="000000"/>
                </a:solidFill>
              </a:rPr>
              <a:t> 않게 하여 편법 플레이를 예방함</a:t>
            </a:r>
            <a:r>
              <a:rPr lang="en-US" altLang="ko-KR" sz="1400" dirty="0" smtClean="0">
                <a:solidFill>
                  <a:sysClr val="windowText" lastClr="000000"/>
                </a:solidFill>
              </a:rPr>
              <a:t>.</a:t>
            </a:r>
          </a:p>
        </p:txBody>
      </p:sp>
      <p:sp>
        <p:nvSpPr>
          <p:cNvPr id="119" name="다이아몬드 11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도넛 100"/>
          <p:cNvSpPr/>
          <p:nvPr/>
        </p:nvSpPr>
        <p:spPr>
          <a:xfrm>
            <a:off x="2096169" y="4241515"/>
            <a:ext cx="720826" cy="66892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34872687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23</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3201415" y="954074"/>
            <a:ext cx="6734598" cy="2824274"/>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계층</a:t>
            </a:r>
            <a:r>
              <a:rPr lang="en-US" altLang="ko-KR" sz="1600" b="1" dirty="0" smtClean="0">
                <a:solidFill>
                  <a:sysClr val="windowText" lastClr="000000"/>
                </a:solidFill>
              </a:rPr>
              <a:t>’</a:t>
            </a:r>
          </a:p>
          <a:p>
            <a:endParaRPr lang="en-US" altLang="ko-KR" sz="1600" b="1"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에어리어들이 연결되어 구성된 던전의 층계로</a:t>
            </a:r>
            <a:r>
              <a:rPr lang="en-US" altLang="ko-KR" sz="1400" dirty="0" smtClean="0">
                <a:solidFill>
                  <a:sysClr val="windowText" lastClr="000000"/>
                </a:solidFill>
              </a:rPr>
              <a:t>, </a:t>
            </a:r>
            <a:r>
              <a:rPr lang="ko-KR" altLang="en-US" sz="1400" dirty="0" smtClean="0">
                <a:solidFill>
                  <a:sysClr val="windowText" lastClr="000000"/>
                </a:solidFill>
              </a:rPr>
              <a:t>던전을 이루는 큰 줄기</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역할을 맡아 플레이어가 커다란 스테이지를 체험할 수 있게 설정함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a:solidFill>
                  <a:sysClr val="windowText" lastClr="000000"/>
                </a:solidFill>
              </a:rPr>
              <a:t>#2 </a:t>
            </a:r>
            <a:r>
              <a:rPr lang="ko-KR" altLang="en-US" sz="1400" dirty="0" smtClean="0">
                <a:solidFill>
                  <a:sysClr val="windowText" lastClr="000000"/>
                </a:solidFill>
              </a:rPr>
              <a:t>계단을 통해 계층을 이동할 수 있으며</a:t>
            </a:r>
            <a:r>
              <a:rPr lang="en-US" altLang="ko-KR" sz="1400" dirty="0" smtClean="0">
                <a:solidFill>
                  <a:sysClr val="windowText" lastClr="000000"/>
                </a:solidFill>
              </a:rPr>
              <a:t>, </a:t>
            </a:r>
            <a:r>
              <a:rPr lang="ko-KR" altLang="en-US" sz="1400" dirty="0" smtClean="0">
                <a:solidFill>
                  <a:sysClr val="windowText" lastClr="000000"/>
                </a:solidFill>
              </a:rPr>
              <a:t>이 때 계단은 계층 내 한 </a:t>
            </a:r>
            <a:r>
              <a:rPr lang="ko-KR" altLang="en-US" sz="1400" dirty="0" err="1" smtClean="0">
                <a:solidFill>
                  <a:sysClr val="windowText" lastClr="000000"/>
                </a:solidFill>
              </a:rPr>
              <a:t>에어리어에</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붙어 생성됨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a:solidFill>
                  <a:sysClr val="windowText" lastClr="000000"/>
                </a:solidFill>
              </a:rPr>
              <a:t>#3 </a:t>
            </a:r>
            <a:r>
              <a:rPr lang="ko-KR" altLang="en-US" sz="1400" dirty="0" smtClean="0">
                <a:solidFill>
                  <a:sysClr val="windowText" lastClr="000000"/>
                </a:solidFill>
              </a:rPr>
              <a:t>계층이 깊어질수록 등장하는 몬스터의 조합이 강해지고</a:t>
            </a:r>
            <a:r>
              <a:rPr lang="en-US" altLang="ko-KR" sz="1400" dirty="0" smtClean="0">
                <a:solidFill>
                  <a:sysClr val="windowText" lastClr="000000"/>
                </a:solidFill>
              </a:rPr>
              <a:t> </a:t>
            </a:r>
            <a:r>
              <a:rPr lang="ko-KR" altLang="en-US" sz="1400" dirty="0" smtClean="0">
                <a:solidFill>
                  <a:sysClr val="windowText" lastClr="000000"/>
                </a:solidFill>
              </a:rPr>
              <a:t>더 좋은 아이템이</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나오도록 설정하여</a:t>
            </a:r>
            <a:r>
              <a:rPr lang="en-US" altLang="ko-KR" sz="1400" dirty="0" smtClean="0">
                <a:solidFill>
                  <a:sysClr val="windowText" lastClr="000000"/>
                </a:solidFill>
              </a:rPr>
              <a:t>, </a:t>
            </a:r>
            <a:r>
              <a:rPr lang="ko-KR" altLang="en-US" sz="1400" dirty="0" smtClean="0">
                <a:solidFill>
                  <a:sysClr val="windowText" lastClr="000000"/>
                </a:solidFill>
              </a:rPr>
              <a:t>후반부로 갈수록 </a:t>
            </a:r>
            <a:r>
              <a:rPr lang="ko-KR" altLang="en-US" sz="1400" dirty="0" err="1" smtClean="0">
                <a:solidFill>
                  <a:sysClr val="windowText" lastClr="000000"/>
                </a:solidFill>
              </a:rPr>
              <a:t>하이리스크</a:t>
            </a:r>
            <a:r>
              <a:rPr lang="en-US" altLang="ko-KR" sz="1400" dirty="0" smtClean="0">
                <a:solidFill>
                  <a:sysClr val="windowText" lastClr="000000"/>
                </a:solidFill>
              </a:rPr>
              <a:t>-</a:t>
            </a:r>
            <a:r>
              <a:rPr lang="ko-KR" altLang="en-US" sz="1400" dirty="0" err="1" smtClean="0">
                <a:solidFill>
                  <a:sysClr val="windowText" lastClr="000000"/>
                </a:solidFill>
              </a:rPr>
              <a:t>하이리턴의</a:t>
            </a:r>
            <a:r>
              <a:rPr lang="ko-KR" altLang="en-US" sz="1400" dirty="0" smtClean="0">
                <a:solidFill>
                  <a:sysClr val="windowText" lastClr="000000"/>
                </a:solidFill>
              </a:rPr>
              <a:t> 플레이를</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유도하고 이를 통해 유저의 긴장감을 높이고 성취감을 자극시킴</a:t>
            </a:r>
            <a:r>
              <a:rPr lang="en-US" altLang="ko-KR" sz="1400" dirty="0" smtClean="0">
                <a:solidFill>
                  <a:sysClr val="windowText" lastClr="000000"/>
                </a:solidFill>
              </a:rPr>
              <a:t>.</a:t>
            </a:r>
            <a:endParaRPr lang="en-US" altLang="ko-KR" sz="1400" dirty="0">
              <a:solidFill>
                <a:schemeClr val="tx1"/>
              </a:solidFill>
            </a:endParaRPr>
          </a:p>
        </p:txBody>
      </p:sp>
      <p:sp>
        <p:nvSpPr>
          <p:cNvPr id="119" name="다이아몬드 11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도넛 100"/>
          <p:cNvSpPr/>
          <p:nvPr/>
        </p:nvSpPr>
        <p:spPr>
          <a:xfrm>
            <a:off x="1787188" y="627372"/>
            <a:ext cx="1335591" cy="5752149"/>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9429588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24</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중간보스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4789098" y="831368"/>
            <a:ext cx="6650674" cy="2430460"/>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중간보스</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a:solidFill>
                  <a:sysClr val="windowText" lastClr="000000"/>
                </a:solidFill>
              </a:rPr>
              <a:t>#1 </a:t>
            </a:r>
            <a:r>
              <a:rPr lang="en-US" altLang="ko-KR" sz="1400" dirty="0" smtClean="0">
                <a:solidFill>
                  <a:sysClr val="windowText" lastClr="000000"/>
                </a:solidFill>
              </a:rPr>
              <a:t>3</a:t>
            </a:r>
            <a:r>
              <a:rPr lang="ko-KR" altLang="en-US" sz="1400" dirty="0" smtClean="0">
                <a:solidFill>
                  <a:sysClr val="windowText" lastClr="000000"/>
                </a:solidFill>
              </a:rPr>
              <a:t>배수 계층을 보스 </a:t>
            </a:r>
            <a:r>
              <a:rPr lang="ko-KR" altLang="en-US" sz="1400" dirty="0" err="1" smtClean="0">
                <a:solidFill>
                  <a:sysClr val="windowText" lastClr="000000"/>
                </a:solidFill>
              </a:rPr>
              <a:t>에어리어로</a:t>
            </a:r>
            <a:r>
              <a:rPr lang="ko-KR" altLang="en-US" sz="1400" dirty="0" smtClean="0">
                <a:solidFill>
                  <a:sysClr val="windowText" lastClr="000000"/>
                </a:solidFill>
              </a:rPr>
              <a:t> 설정하여 강력한 보스와의 전투를 강제함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a:solidFill>
                  <a:sysClr val="windowText" lastClr="000000"/>
                </a:solidFill>
              </a:rPr>
              <a:t>#</a:t>
            </a:r>
            <a:r>
              <a:rPr lang="en-US" altLang="ko-KR" sz="1400" dirty="0" smtClean="0">
                <a:solidFill>
                  <a:sysClr val="windowText" lastClr="000000"/>
                </a:solidFill>
              </a:rPr>
              <a:t>2 </a:t>
            </a:r>
            <a:r>
              <a:rPr lang="ko-KR" altLang="en-US" sz="1400" dirty="0" smtClean="0">
                <a:solidFill>
                  <a:sysClr val="windowText" lastClr="000000"/>
                </a:solidFill>
              </a:rPr>
              <a:t>최종 던전 </a:t>
            </a:r>
            <a:r>
              <a:rPr lang="ko-KR" altLang="en-US" sz="1400" dirty="0" err="1" smtClean="0">
                <a:solidFill>
                  <a:sysClr val="windowText" lastClr="000000"/>
                </a:solidFill>
              </a:rPr>
              <a:t>클리어</a:t>
            </a:r>
            <a:r>
              <a:rPr lang="ko-KR" altLang="en-US" sz="1400" dirty="0" smtClean="0">
                <a:solidFill>
                  <a:sysClr val="windowText" lastClr="000000"/>
                </a:solidFill>
              </a:rPr>
              <a:t> 이전의 중간 목표로서 플레이의 이정표 역할을 수행하고</a:t>
            </a: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 중간 중간에 게임의 </a:t>
            </a:r>
            <a:r>
              <a:rPr lang="ko-KR" altLang="en-US" sz="1400" dirty="0">
                <a:solidFill>
                  <a:sysClr val="windowText" lastClr="000000"/>
                </a:solidFill>
              </a:rPr>
              <a:t>긴장감을 </a:t>
            </a:r>
            <a:r>
              <a:rPr lang="ko-KR" altLang="en-US" sz="1400" dirty="0" err="1" smtClean="0">
                <a:solidFill>
                  <a:sysClr val="windowText" lastClr="000000"/>
                </a:solidFill>
              </a:rPr>
              <a:t>높여줌</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#3 </a:t>
            </a:r>
            <a:r>
              <a:rPr lang="ko-KR" altLang="en-US" sz="1400" dirty="0" smtClean="0">
                <a:solidFill>
                  <a:sysClr val="windowText" lastClr="000000"/>
                </a:solidFill>
              </a:rPr>
              <a:t>확정적인 </a:t>
            </a:r>
            <a:r>
              <a:rPr lang="ko-KR" altLang="en-US" sz="1400" dirty="0" err="1" smtClean="0">
                <a:solidFill>
                  <a:sysClr val="windowText" lastClr="000000"/>
                </a:solidFill>
              </a:rPr>
              <a:t>아티팩트</a:t>
            </a:r>
            <a:r>
              <a:rPr lang="ko-KR" altLang="en-US" sz="1400" dirty="0" smtClean="0">
                <a:solidFill>
                  <a:sysClr val="windowText" lastClr="000000"/>
                </a:solidFill>
              </a:rPr>
              <a:t> </a:t>
            </a:r>
            <a:r>
              <a:rPr lang="ko-KR" altLang="en-US" sz="1400" dirty="0" err="1" smtClean="0">
                <a:solidFill>
                  <a:sysClr val="windowText" lastClr="000000"/>
                </a:solidFill>
              </a:rPr>
              <a:t>드랍과</a:t>
            </a:r>
            <a:r>
              <a:rPr lang="ko-KR" altLang="en-US" sz="1400" dirty="0" smtClean="0">
                <a:solidFill>
                  <a:sysClr val="windowText" lastClr="000000"/>
                </a:solidFill>
              </a:rPr>
              <a:t> 같이</a:t>
            </a:r>
            <a:r>
              <a:rPr lang="en-US" altLang="ko-KR" sz="1400" dirty="0" smtClean="0">
                <a:solidFill>
                  <a:sysClr val="windowText" lastClr="000000"/>
                </a:solidFill>
              </a:rPr>
              <a:t>, </a:t>
            </a:r>
            <a:r>
              <a:rPr lang="ko-KR" altLang="en-US" sz="1400" dirty="0" smtClean="0">
                <a:solidFill>
                  <a:sysClr val="windowText" lastClr="000000"/>
                </a:solidFill>
              </a:rPr>
              <a:t>일반 에어리어보다 우수한 보상을 통해</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유저들의 도전의식과 성취감을 고취시키고 게임 내 밸런스를 조정함</a:t>
            </a:r>
            <a:r>
              <a:rPr lang="en-US" altLang="ko-KR" sz="1400" dirty="0" smtClean="0">
                <a:solidFill>
                  <a:sysClr val="windowText" lastClr="000000"/>
                </a:solidFill>
              </a:rPr>
              <a:t>.</a:t>
            </a:r>
            <a:endParaRPr lang="en-US" altLang="ko-KR" sz="1400" dirty="0" smtClean="0">
              <a:solidFill>
                <a:sysClr val="windowText" lastClr="000000"/>
              </a:solidFill>
            </a:endParaRPr>
          </a:p>
        </p:txBody>
      </p:sp>
      <p:sp>
        <p:nvSpPr>
          <p:cNvPr id="119" name="다이아몬드 11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도넛 100"/>
          <p:cNvSpPr/>
          <p:nvPr/>
        </p:nvSpPr>
        <p:spPr>
          <a:xfrm>
            <a:off x="3956295" y="3225026"/>
            <a:ext cx="1195282" cy="1149724"/>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11146628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25</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최종보스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도넛 104"/>
          <p:cNvSpPr/>
          <p:nvPr/>
        </p:nvSpPr>
        <p:spPr>
          <a:xfrm>
            <a:off x="10541498" y="3198865"/>
            <a:ext cx="1219963" cy="1164424"/>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5671185" y="1062267"/>
            <a:ext cx="5164433" cy="1936816"/>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최종보스</a:t>
            </a:r>
            <a:r>
              <a:rPr lang="en-US" altLang="ko-KR" sz="1600" b="1" dirty="0" smtClean="0">
                <a:solidFill>
                  <a:sysClr val="windowText" lastClr="000000"/>
                </a:solidFill>
              </a:rPr>
              <a:t>’</a:t>
            </a:r>
            <a:endParaRPr lang="en-US" altLang="ko-KR" sz="1400" dirty="0">
              <a:solidFill>
                <a:sysClr val="windowText" lastClr="000000"/>
              </a:solidFill>
            </a:endParaRPr>
          </a:p>
          <a:p>
            <a:endParaRPr lang="en-US" altLang="ko-KR" sz="1400"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가장 마지막 </a:t>
            </a:r>
            <a:r>
              <a:rPr lang="ko-KR" altLang="en-US" sz="1400" dirty="0">
                <a:solidFill>
                  <a:sysClr val="windowText" lastClr="000000"/>
                </a:solidFill>
              </a:rPr>
              <a:t>계층을 </a:t>
            </a:r>
            <a:r>
              <a:rPr lang="ko-KR" altLang="en-US" sz="1400" dirty="0" smtClean="0">
                <a:solidFill>
                  <a:sysClr val="windowText" lastClr="000000"/>
                </a:solidFill>
              </a:rPr>
              <a:t>최종 보스 </a:t>
            </a:r>
            <a:r>
              <a:rPr lang="ko-KR" altLang="en-US" sz="1400" dirty="0" err="1">
                <a:solidFill>
                  <a:sysClr val="windowText" lastClr="000000"/>
                </a:solidFill>
              </a:rPr>
              <a:t>에어리어로</a:t>
            </a:r>
            <a:r>
              <a:rPr lang="ko-KR" altLang="en-US" sz="1400" dirty="0">
                <a:solidFill>
                  <a:sysClr val="windowText" lastClr="000000"/>
                </a:solidFill>
              </a:rPr>
              <a:t> </a:t>
            </a:r>
            <a:r>
              <a:rPr lang="ko-KR" altLang="en-US" sz="1400" dirty="0" smtClean="0">
                <a:solidFill>
                  <a:sysClr val="windowText" lastClr="000000"/>
                </a:solidFill>
              </a:rPr>
              <a:t>설정함</a:t>
            </a:r>
            <a:r>
              <a:rPr lang="en-US" altLang="ko-KR" sz="1400" dirty="0">
                <a:solidFill>
                  <a:sysClr val="windowText" lastClr="000000"/>
                </a:solidFill>
              </a:rPr>
              <a:t>.</a:t>
            </a:r>
          </a:p>
          <a:p>
            <a:endParaRPr lang="en-US" altLang="ko-KR" sz="1400" dirty="0">
              <a:solidFill>
                <a:sysClr val="windowText" lastClr="000000"/>
              </a:solidFill>
            </a:endParaRPr>
          </a:p>
          <a:p>
            <a:r>
              <a:rPr lang="en-US" altLang="ko-KR" sz="1400" dirty="0">
                <a:solidFill>
                  <a:sysClr val="windowText" lastClr="000000"/>
                </a:solidFill>
              </a:rPr>
              <a:t>#2 </a:t>
            </a:r>
            <a:r>
              <a:rPr lang="ko-KR" altLang="en-US" sz="1400" dirty="0" smtClean="0">
                <a:solidFill>
                  <a:sysClr val="windowText" lastClr="000000"/>
                </a:solidFill>
              </a:rPr>
              <a:t>게임 승리 조건이자 목표로서</a:t>
            </a:r>
            <a:r>
              <a:rPr lang="en-US" altLang="ko-KR" sz="1400" dirty="0" smtClean="0">
                <a:solidFill>
                  <a:sysClr val="windowText" lastClr="000000"/>
                </a:solidFill>
              </a:rPr>
              <a:t>, </a:t>
            </a:r>
            <a:r>
              <a:rPr lang="ko-KR" altLang="en-US" sz="1400" dirty="0" smtClean="0">
                <a:solidFill>
                  <a:sysClr val="windowText" lastClr="000000"/>
                </a:solidFill>
              </a:rPr>
              <a:t>던전의 </a:t>
            </a:r>
            <a:r>
              <a:rPr lang="ko-KR" altLang="en-US" sz="1400" dirty="0" err="1" smtClean="0">
                <a:solidFill>
                  <a:sysClr val="windowText" lastClr="000000"/>
                </a:solidFill>
              </a:rPr>
              <a:t>최심부에</a:t>
            </a:r>
            <a:r>
              <a:rPr lang="ko-KR" altLang="en-US" sz="1400" dirty="0" smtClean="0">
                <a:solidFill>
                  <a:sysClr val="windowText" lastClr="000000"/>
                </a:solidFill>
              </a:rPr>
              <a:t> 위치시</a:t>
            </a:r>
            <a:r>
              <a:rPr lang="ko-KR" altLang="en-US" sz="1400" dirty="0">
                <a:solidFill>
                  <a:sysClr val="windowText" lastClr="000000"/>
                </a:solidFill>
              </a:rPr>
              <a:t>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유저의 목표의식과 도전정신을 자극함</a:t>
            </a:r>
            <a:r>
              <a:rPr lang="en-US" altLang="ko-KR" sz="1400" dirty="0" smtClean="0">
                <a:solidFill>
                  <a:sysClr val="windowText" lastClr="000000"/>
                </a:solidFill>
              </a:rPr>
              <a:t>.</a:t>
            </a:r>
            <a:endParaRPr lang="en-US" altLang="ko-KR" sz="1400" dirty="0" smtClean="0">
              <a:solidFill>
                <a:sysClr val="windowText" lastClr="000000"/>
              </a:solidFill>
            </a:endParaRPr>
          </a:p>
        </p:txBody>
      </p:sp>
      <p:sp>
        <p:nvSpPr>
          <p:cNvPr id="120" name="다이아몬드 119"/>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5729399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26</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13" name="사각형 설명선 112"/>
          <p:cNvSpPr/>
          <p:nvPr/>
        </p:nvSpPr>
        <p:spPr>
          <a:xfrm>
            <a:off x="194201" y="1314578"/>
            <a:ext cx="1693191" cy="624773"/>
          </a:xfrm>
          <a:prstGeom prst="wedgeRectCallout">
            <a:avLst>
              <a:gd name="adj1" fmla="val -36276"/>
              <a:gd name="adj2" fmla="val -107976"/>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t>아티팩트</a:t>
            </a:r>
            <a:r>
              <a:rPr lang="ko-KR" altLang="en-US" dirty="0" smtClean="0"/>
              <a:t> 설명</a:t>
            </a:r>
            <a:endParaRPr lang="ko-KR" altLang="en-US" dirty="0"/>
          </a:p>
        </p:txBody>
      </p:sp>
      <p:cxnSp>
        <p:nvCxnSpPr>
          <p:cNvPr id="101" name="직선 화살표 연결선 100"/>
          <p:cNvCxnSpPr/>
          <p:nvPr/>
        </p:nvCxnSpPr>
        <p:spPr>
          <a:xfrm flipH="1" flipV="1">
            <a:off x="1958845" y="1936547"/>
            <a:ext cx="424674" cy="37651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꺾인 연결선 119"/>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꺾인 연결선 120"/>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2273015" y="900803"/>
            <a:ext cx="4162966" cy="2996963"/>
          </a:xfrm>
          <a:prstGeom prst="wedgeRoundRectCallout">
            <a:avLst>
              <a:gd name="adj1" fmla="val -59522"/>
              <a:gd name="adj2" fmla="val -40031"/>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아티팩트</a:t>
            </a:r>
            <a:r>
              <a:rPr lang="en-US" altLang="ko-KR" sz="1600" b="1" dirty="0" smtClean="0">
                <a:solidFill>
                  <a:sysClr val="windowText" lastClr="000000"/>
                </a:solidFill>
              </a:rPr>
              <a:t>’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현재 보유하고 있는 </a:t>
            </a:r>
            <a:r>
              <a:rPr lang="ko-KR" altLang="en-US" sz="1400" dirty="0" err="1" smtClean="0">
                <a:solidFill>
                  <a:sysClr val="windowText" lastClr="000000"/>
                </a:solidFill>
              </a:rPr>
              <a:t>아티팩트를</a:t>
            </a:r>
            <a:r>
              <a:rPr lang="ko-KR" altLang="en-US" sz="1400" dirty="0" smtClean="0">
                <a:solidFill>
                  <a:sysClr val="windowText" lastClr="000000"/>
                </a:solidFill>
              </a:rPr>
              <a:t> </a:t>
            </a:r>
            <a:r>
              <a:rPr lang="ko-KR" altLang="en-US" sz="1400" dirty="0" smtClean="0">
                <a:solidFill>
                  <a:sysClr val="windowText" lastClr="000000"/>
                </a:solidFill>
              </a:rPr>
              <a:t>표시함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최대 </a:t>
            </a:r>
            <a:r>
              <a:rPr lang="en-US" altLang="ko-KR" sz="1400" dirty="0" smtClean="0">
                <a:solidFill>
                  <a:sysClr val="windowText" lastClr="000000"/>
                </a:solidFill>
              </a:rPr>
              <a:t>5</a:t>
            </a:r>
            <a:r>
              <a:rPr lang="ko-KR" altLang="en-US" sz="1400" dirty="0" smtClean="0">
                <a:solidFill>
                  <a:sysClr val="windowText" lastClr="000000"/>
                </a:solidFill>
              </a:rPr>
              <a:t>개까지 소지 가능</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아이콘에 </a:t>
            </a:r>
            <a:r>
              <a:rPr lang="ko-KR" altLang="en-US" sz="1400" dirty="0">
                <a:solidFill>
                  <a:sysClr val="windowText" lastClr="000000"/>
                </a:solidFill>
              </a:rPr>
              <a:t>마우스를 </a:t>
            </a:r>
            <a:r>
              <a:rPr lang="ko-KR" altLang="en-US" sz="1400" dirty="0" err="1">
                <a:solidFill>
                  <a:sysClr val="windowText" lastClr="000000"/>
                </a:solidFill>
              </a:rPr>
              <a:t>가져다놓고</a:t>
            </a:r>
            <a:r>
              <a:rPr lang="ko-KR" altLang="en-US" sz="1400" dirty="0">
                <a:solidFill>
                  <a:sysClr val="windowText" lastClr="000000"/>
                </a:solidFill>
              </a:rPr>
              <a:t> </a:t>
            </a:r>
            <a:r>
              <a:rPr lang="en-US" altLang="ko-KR" sz="1400" dirty="0">
                <a:solidFill>
                  <a:sysClr val="windowText" lastClr="000000"/>
                </a:solidFill>
              </a:rPr>
              <a:t>1</a:t>
            </a:r>
            <a:r>
              <a:rPr lang="ko-KR" altLang="en-US" sz="1400" dirty="0">
                <a:solidFill>
                  <a:sysClr val="windowText" lastClr="000000"/>
                </a:solidFill>
              </a:rPr>
              <a:t>초 이상의 시간이 흐르면</a:t>
            </a:r>
            <a:r>
              <a:rPr lang="en-US" altLang="ko-KR" sz="1400" dirty="0">
                <a:solidFill>
                  <a:sysClr val="windowText" lastClr="000000"/>
                </a:solidFill>
              </a:rPr>
              <a:t>, </a:t>
            </a:r>
            <a:r>
              <a:rPr lang="ko-KR" altLang="en-US" sz="1400" dirty="0">
                <a:solidFill>
                  <a:sysClr val="windowText" lastClr="000000"/>
                </a:solidFill>
              </a:rPr>
              <a:t>해당 </a:t>
            </a:r>
            <a:r>
              <a:rPr lang="ko-KR" altLang="en-US" sz="1400" dirty="0" err="1" smtClean="0">
                <a:solidFill>
                  <a:sysClr val="windowText" lastClr="000000"/>
                </a:solidFill>
              </a:rPr>
              <a:t>아티팩트에</a:t>
            </a:r>
            <a:r>
              <a:rPr lang="ko-KR" altLang="en-US" sz="1400" dirty="0" smtClean="0">
                <a:solidFill>
                  <a:sysClr val="windowText" lastClr="000000"/>
                </a:solidFill>
              </a:rPr>
              <a:t> </a:t>
            </a:r>
            <a:r>
              <a:rPr lang="ko-KR" altLang="en-US" sz="1400" dirty="0">
                <a:solidFill>
                  <a:sysClr val="windowText" lastClr="000000"/>
                </a:solidFill>
              </a:rPr>
              <a:t>대한 </a:t>
            </a:r>
            <a:r>
              <a:rPr lang="ko-KR" altLang="en-US" sz="1400" dirty="0" smtClean="0">
                <a:solidFill>
                  <a:sysClr val="windowText" lastClr="000000"/>
                </a:solidFill>
              </a:rPr>
              <a:t>설명과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사용 가능한 </a:t>
            </a:r>
            <a:r>
              <a:rPr lang="ko-KR" altLang="en-US" sz="1400" dirty="0" err="1" smtClean="0">
                <a:solidFill>
                  <a:sysClr val="windowText" lastClr="000000"/>
                </a:solidFill>
              </a:rPr>
              <a:t>아티팩트의</a:t>
            </a:r>
            <a:r>
              <a:rPr lang="ko-KR" altLang="en-US" sz="1400" dirty="0" smtClean="0">
                <a:solidFill>
                  <a:sysClr val="windowText" lastClr="000000"/>
                </a:solidFill>
              </a:rPr>
              <a:t> 경우</a:t>
            </a:r>
            <a:r>
              <a:rPr lang="en-US" altLang="ko-KR" sz="1400" dirty="0" smtClean="0">
                <a:solidFill>
                  <a:sysClr val="windowText" lastClr="000000"/>
                </a:solidFill>
              </a:rPr>
              <a:t>, </a:t>
            </a:r>
            <a:r>
              <a:rPr lang="ko-KR" altLang="en-US" sz="1400" dirty="0" smtClean="0">
                <a:solidFill>
                  <a:sysClr val="windowText" lastClr="000000"/>
                </a:solidFill>
              </a:rPr>
              <a:t>마우스 클릭을 통해 사용할 수 있음</a:t>
            </a:r>
            <a:endParaRPr lang="en-US" altLang="ko-KR" sz="1400" dirty="0" smtClean="0">
              <a:solidFill>
                <a:sysClr val="windowText" lastClr="000000"/>
              </a:solidFill>
            </a:endParaRPr>
          </a:p>
        </p:txBody>
      </p:sp>
      <p:sp>
        <p:nvSpPr>
          <p:cNvPr id="122" name="다이아몬드 121"/>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5" name="다이아몬드 124"/>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6" name="다이아몬드 125"/>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도넛 104"/>
          <p:cNvSpPr/>
          <p:nvPr/>
        </p:nvSpPr>
        <p:spPr>
          <a:xfrm>
            <a:off x="66918" y="457139"/>
            <a:ext cx="2058105" cy="763635"/>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8580006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27</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5" name="도넛 104"/>
          <p:cNvSpPr/>
          <p:nvPr/>
        </p:nvSpPr>
        <p:spPr>
          <a:xfrm>
            <a:off x="10654575" y="4348988"/>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7023344" y="1740271"/>
            <a:ext cx="4084642" cy="2574835"/>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파티</a:t>
            </a:r>
            <a:r>
              <a:rPr lang="en-US" altLang="ko-KR" sz="1600" b="1" dirty="0" smtClean="0">
                <a:solidFill>
                  <a:sysClr val="windowText" lastClr="000000"/>
                </a:solidFill>
              </a:rPr>
              <a:t>’ </a:t>
            </a:r>
            <a:r>
              <a:rPr lang="ko-KR" altLang="en-US" sz="1600" b="1" dirty="0" smtClean="0">
                <a:solidFill>
                  <a:sysClr val="windowText" lastClr="000000"/>
                </a:solidFill>
              </a:rPr>
              <a:t>버튼</a:t>
            </a:r>
            <a:endParaRPr lang="en-US" altLang="ko-KR" sz="1600" b="1"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지도 상태에서 마우스 왼쪽 버튼 클릭으로 활성화</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플레이어 파티를 편성할 수 있는 창을 팝업</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파티창을</a:t>
            </a:r>
            <a:r>
              <a:rPr lang="ko-KR" altLang="en-US" sz="1400" dirty="0" smtClean="0">
                <a:solidFill>
                  <a:sysClr val="windowText" lastClr="000000"/>
                </a:solidFill>
              </a:rPr>
              <a:t> 통해 파티를 편성하고 캐릭터와 몬스터의 정보와 특성을 살펴볼 수 있음</a:t>
            </a:r>
            <a:endParaRPr lang="en-US" altLang="ko-KR" sz="1400" dirty="0" smtClean="0">
              <a:solidFill>
                <a:sysClr val="windowText" lastClr="000000"/>
              </a:solidFill>
            </a:endParaRPr>
          </a:p>
        </p:txBody>
      </p:sp>
      <p:sp>
        <p:nvSpPr>
          <p:cNvPr id="120" name="다이아몬드 119"/>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7234702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28</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5" name="도넛 104"/>
          <p:cNvSpPr/>
          <p:nvPr/>
        </p:nvSpPr>
        <p:spPr>
          <a:xfrm>
            <a:off x="10687739" y="5102933"/>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5763961" y="5367703"/>
            <a:ext cx="685800" cy="77992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7378715" y="2951745"/>
            <a:ext cx="3594196" cy="2036035"/>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가방</a:t>
            </a:r>
            <a:r>
              <a:rPr lang="en-US" altLang="ko-KR" sz="1600" b="1" dirty="0" smtClean="0">
                <a:solidFill>
                  <a:sysClr val="windowText" lastClr="000000"/>
                </a:solidFill>
              </a:rPr>
              <a:t>’ </a:t>
            </a:r>
            <a:r>
              <a:rPr lang="ko-KR" altLang="en-US" sz="1600" b="1" dirty="0" smtClean="0">
                <a:solidFill>
                  <a:sysClr val="windowText" lastClr="000000"/>
                </a:solidFill>
              </a:rPr>
              <a:t>버튼</a:t>
            </a:r>
            <a:endParaRPr lang="en-US" altLang="ko-KR" sz="1600" b="1"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지도 상태에서 마우스 왼쪽 버튼 클릭으로 활성화</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현재 </a:t>
            </a:r>
            <a:r>
              <a:rPr lang="ko-KR" altLang="en-US" sz="1400" dirty="0" smtClean="0">
                <a:solidFill>
                  <a:sysClr val="windowText" lastClr="000000"/>
                </a:solidFill>
              </a:rPr>
              <a:t>소지한 골드와 보유한 </a:t>
            </a:r>
            <a:r>
              <a:rPr lang="ko-KR" altLang="en-US" sz="1400" dirty="0" smtClean="0">
                <a:solidFill>
                  <a:sysClr val="windowText" lastClr="000000"/>
                </a:solidFill>
              </a:rPr>
              <a:t>아이템의 </a:t>
            </a:r>
            <a:r>
              <a:rPr lang="ko-KR" altLang="en-US" sz="1400" dirty="0" smtClean="0">
                <a:solidFill>
                  <a:sysClr val="windowText" lastClr="000000"/>
                </a:solidFill>
              </a:rPr>
              <a:t>정보</a:t>
            </a:r>
            <a:r>
              <a:rPr lang="en-US" altLang="ko-KR" sz="1400" dirty="0" smtClean="0">
                <a:solidFill>
                  <a:sysClr val="windowText" lastClr="000000"/>
                </a:solidFill>
              </a:rPr>
              <a:t>,</a:t>
            </a:r>
            <a:r>
              <a:rPr lang="ko-KR" altLang="en-US" sz="1400" dirty="0" smtClean="0">
                <a:solidFill>
                  <a:sysClr val="windowText" lastClr="000000"/>
                </a:solidFill>
              </a:rPr>
              <a:t> </a:t>
            </a:r>
            <a:r>
              <a:rPr lang="ko-KR" altLang="en-US" sz="1400" dirty="0">
                <a:solidFill>
                  <a:sysClr val="windowText" lastClr="000000"/>
                </a:solidFill>
              </a:rPr>
              <a:t>개</a:t>
            </a:r>
            <a:r>
              <a:rPr lang="ko-KR" altLang="en-US" sz="1400" dirty="0" smtClean="0">
                <a:solidFill>
                  <a:sysClr val="windowText" lastClr="000000"/>
                </a:solidFill>
              </a:rPr>
              <a:t>수를 살펴볼 수 있는 창을 팝업</a:t>
            </a:r>
            <a:endParaRPr lang="en-US" altLang="ko-KR" sz="1400" dirty="0" smtClean="0">
              <a:solidFill>
                <a:sysClr val="windowText" lastClr="000000"/>
              </a:solidFill>
            </a:endParaRPr>
          </a:p>
        </p:txBody>
      </p:sp>
      <p:sp>
        <p:nvSpPr>
          <p:cNvPr id="120" name="다이아몬드 119"/>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9997332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20310"/>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29</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910168" y="1281772"/>
            <a:ext cx="10443632" cy="5078313"/>
          </a:xfrm>
          <a:prstGeom prst="rect">
            <a:avLst/>
          </a:prstGeom>
          <a:noFill/>
        </p:spPr>
        <p:txBody>
          <a:bodyPr wrap="square" rtlCol="0">
            <a:spAutoFit/>
          </a:bodyPr>
          <a:lstStyle/>
          <a:p>
            <a:pPr>
              <a:lnSpc>
                <a:spcPct val="150000"/>
              </a:lnSpc>
            </a:pPr>
            <a:r>
              <a:rPr lang="en-US" altLang="ko-KR" dirty="0"/>
              <a:t>• </a:t>
            </a:r>
            <a:r>
              <a:rPr lang="ko-KR" altLang="en-US" b="1" dirty="0" smtClean="0"/>
              <a:t>소멸</a:t>
            </a:r>
            <a:r>
              <a:rPr lang="ko-KR" altLang="en-US" dirty="0" smtClean="0"/>
              <a:t>되는 요소</a:t>
            </a:r>
            <a:r>
              <a:rPr lang="en-US" altLang="ko-KR" dirty="0"/>
              <a:t/>
            </a:r>
            <a:br>
              <a:rPr lang="en-US" altLang="ko-KR" dirty="0"/>
            </a:br>
            <a:r>
              <a:rPr lang="en-US" altLang="ko-KR" dirty="0" smtClean="0"/>
              <a:t>1)  </a:t>
            </a:r>
            <a:r>
              <a:rPr lang="ko-KR" altLang="en-US" dirty="0" smtClean="0"/>
              <a:t>플레이어가 </a:t>
            </a:r>
            <a:r>
              <a:rPr lang="ko-KR" altLang="en-US" dirty="0" smtClean="0"/>
              <a:t>보유한 </a:t>
            </a:r>
            <a:r>
              <a:rPr lang="ko-KR" altLang="en-US" dirty="0" smtClean="0"/>
              <a:t>몬스터</a:t>
            </a:r>
            <a:r>
              <a:rPr lang="en-US" altLang="ko-KR" dirty="0"/>
              <a:t> </a:t>
            </a:r>
            <a:r>
              <a:rPr lang="en-US" altLang="ko-KR" dirty="0" smtClean="0"/>
              <a:t>/</a:t>
            </a:r>
            <a:r>
              <a:rPr lang="en-US" altLang="ko-KR" dirty="0" smtClean="0"/>
              <a:t> </a:t>
            </a:r>
            <a:r>
              <a:rPr lang="ko-KR" altLang="en-US" dirty="0" err="1" smtClean="0"/>
              <a:t>아티팩트</a:t>
            </a:r>
            <a:r>
              <a:rPr lang="en-US" altLang="ko-KR" dirty="0"/>
              <a:t> </a:t>
            </a:r>
            <a:r>
              <a:rPr lang="en-US" altLang="ko-KR" dirty="0" smtClean="0"/>
              <a:t>/</a:t>
            </a:r>
            <a:r>
              <a:rPr lang="en-US" altLang="ko-KR" dirty="0" smtClean="0"/>
              <a:t> </a:t>
            </a:r>
            <a:r>
              <a:rPr lang="ko-KR" altLang="en-US" dirty="0" smtClean="0"/>
              <a:t>아이템</a:t>
            </a:r>
            <a:endParaRPr lang="en-US" altLang="ko-KR" dirty="0"/>
          </a:p>
          <a:p>
            <a:pPr>
              <a:lnSpc>
                <a:spcPct val="150000"/>
              </a:lnSpc>
            </a:pPr>
            <a:r>
              <a:rPr lang="en-US" altLang="ko-KR" dirty="0" smtClean="0"/>
              <a:t>2</a:t>
            </a:r>
            <a:r>
              <a:rPr lang="en-US" altLang="ko-KR" dirty="0" smtClean="0"/>
              <a:t>) </a:t>
            </a:r>
            <a:r>
              <a:rPr lang="en-US" altLang="ko-KR" dirty="0" smtClean="0"/>
              <a:t> </a:t>
            </a:r>
            <a:r>
              <a:rPr lang="ko-KR" altLang="en-US" dirty="0" smtClean="0"/>
              <a:t>던전 </a:t>
            </a:r>
            <a:r>
              <a:rPr lang="ko-KR" altLang="en-US" dirty="0"/>
              <a:t>진행 </a:t>
            </a:r>
            <a:r>
              <a:rPr lang="ko-KR" altLang="en-US" dirty="0" smtClean="0"/>
              <a:t>상황</a:t>
            </a:r>
            <a:endParaRPr lang="en-US" altLang="ko-KR" dirty="0" smtClean="0"/>
          </a:p>
          <a:p>
            <a:pPr>
              <a:lnSpc>
                <a:spcPct val="150000"/>
              </a:lnSpc>
            </a:pPr>
            <a:r>
              <a:rPr lang="en-US" altLang="ko-KR" dirty="0" smtClean="0"/>
              <a:t/>
            </a:r>
            <a:br>
              <a:rPr lang="en-US" altLang="ko-KR" dirty="0" smtClean="0"/>
            </a:br>
            <a:r>
              <a:rPr lang="en-US" altLang="ko-KR" dirty="0" smtClean="0"/>
              <a:t>• </a:t>
            </a:r>
            <a:r>
              <a:rPr lang="ko-KR" altLang="en-US" b="1" dirty="0" smtClean="0"/>
              <a:t>유지</a:t>
            </a:r>
            <a:r>
              <a:rPr lang="ko-KR" altLang="en-US" dirty="0" smtClean="0"/>
              <a:t>되는 요소</a:t>
            </a:r>
            <a:r>
              <a:rPr lang="en-US" altLang="ko-KR" dirty="0" smtClean="0"/>
              <a:t/>
            </a:r>
            <a:br>
              <a:rPr lang="en-US" altLang="ko-KR" dirty="0" smtClean="0"/>
            </a:br>
            <a:r>
              <a:rPr lang="en-US" altLang="ko-KR" dirty="0" smtClean="0"/>
              <a:t>1) </a:t>
            </a:r>
            <a:r>
              <a:rPr lang="en-US" altLang="ko-KR" dirty="0" smtClean="0"/>
              <a:t> </a:t>
            </a:r>
            <a:r>
              <a:rPr lang="ko-KR" altLang="en-US" dirty="0" smtClean="0"/>
              <a:t>플레이어 </a:t>
            </a:r>
            <a:r>
              <a:rPr lang="ko-KR" altLang="en-US" dirty="0" smtClean="0"/>
              <a:t>계정 정보</a:t>
            </a:r>
            <a:endParaRPr lang="en-US" altLang="ko-KR" dirty="0"/>
          </a:p>
          <a:p>
            <a:pPr>
              <a:lnSpc>
                <a:spcPct val="150000"/>
              </a:lnSpc>
            </a:pPr>
            <a:r>
              <a:rPr lang="en-US" altLang="ko-KR" dirty="0" smtClean="0"/>
              <a:t>2) </a:t>
            </a:r>
            <a:r>
              <a:rPr lang="en-US" altLang="ko-KR" dirty="0" smtClean="0"/>
              <a:t> </a:t>
            </a:r>
            <a:r>
              <a:rPr lang="ko-KR" altLang="en-US" dirty="0" smtClean="0"/>
              <a:t>도전 </a:t>
            </a:r>
            <a:r>
              <a:rPr lang="ko-KR" altLang="en-US" dirty="0" smtClean="0"/>
              <a:t>과제</a:t>
            </a:r>
            <a:endParaRPr lang="en-US" altLang="ko-KR" dirty="0" smtClean="0"/>
          </a:p>
          <a:p>
            <a:pPr>
              <a:lnSpc>
                <a:spcPct val="150000"/>
              </a:lnSpc>
            </a:pPr>
            <a:endParaRPr lang="en-US" altLang="ko-KR" dirty="0" smtClean="0"/>
          </a:p>
          <a:p>
            <a:pPr>
              <a:lnSpc>
                <a:spcPct val="150000"/>
              </a:lnSpc>
            </a:pPr>
            <a:r>
              <a:rPr lang="en-US" altLang="ko-KR" dirty="0" smtClean="0"/>
              <a:t>• </a:t>
            </a:r>
            <a:r>
              <a:rPr lang="ko-KR" altLang="en-US" b="1" dirty="0" smtClean="0"/>
              <a:t>재설정</a:t>
            </a:r>
            <a:r>
              <a:rPr lang="ko-KR" altLang="en-US" dirty="0" smtClean="0"/>
              <a:t>되는 요소</a:t>
            </a:r>
            <a:endParaRPr lang="en-US" altLang="ko-KR" dirty="0" smtClean="0"/>
          </a:p>
          <a:p>
            <a:pPr marL="342900" indent="-342900">
              <a:lnSpc>
                <a:spcPct val="150000"/>
              </a:lnSpc>
              <a:buAutoNum type="arabicParenR"/>
            </a:pPr>
            <a:r>
              <a:rPr lang="ko-KR" altLang="en-US" dirty="0" err="1" smtClean="0"/>
              <a:t>에어리어</a:t>
            </a:r>
            <a:r>
              <a:rPr lang="ko-KR" altLang="en-US" dirty="0" smtClean="0"/>
              <a:t> 이벤트 </a:t>
            </a:r>
            <a:r>
              <a:rPr lang="en-US" altLang="ko-KR" dirty="0" smtClean="0"/>
              <a:t>/ </a:t>
            </a:r>
            <a:r>
              <a:rPr lang="ko-KR" altLang="en-US" dirty="0" err="1" smtClean="0"/>
              <a:t>에어리어</a:t>
            </a:r>
            <a:r>
              <a:rPr lang="ko-KR" altLang="en-US" dirty="0" smtClean="0"/>
              <a:t> 전리품 </a:t>
            </a:r>
            <a:r>
              <a:rPr lang="en-US" altLang="ko-KR" dirty="0" smtClean="0"/>
              <a:t>/ </a:t>
            </a:r>
            <a:r>
              <a:rPr lang="ko-KR" altLang="en-US" dirty="0" smtClean="0"/>
              <a:t>상인의 판매 물품</a:t>
            </a:r>
            <a:endParaRPr lang="en-US" altLang="ko-KR" dirty="0"/>
          </a:p>
          <a:p>
            <a:pPr marL="342900" indent="-342900">
              <a:lnSpc>
                <a:spcPct val="150000"/>
              </a:lnSpc>
              <a:buAutoNum type="arabicParenR"/>
            </a:pPr>
            <a:r>
              <a:rPr lang="ko-KR" altLang="en-US" dirty="0" smtClean="0"/>
              <a:t>보스</a:t>
            </a:r>
            <a:r>
              <a:rPr lang="en-US" altLang="ko-KR" dirty="0" smtClean="0"/>
              <a:t> </a:t>
            </a:r>
            <a:r>
              <a:rPr lang="ko-KR" altLang="en-US" dirty="0" smtClean="0"/>
              <a:t>몬스터</a:t>
            </a:r>
            <a:r>
              <a:rPr lang="en-US" altLang="ko-KR" dirty="0"/>
              <a:t> </a:t>
            </a:r>
            <a:r>
              <a:rPr lang="en-US" altLang="ko-KR" dirty="0" smtClean="0"/>
              <a:t>/ </a:t>
            </a:r>
            <a:r>
              <a:rPr lang="ko-KR" altLang="en-US" dirty="0" smtClean="0"/>
              <a:t>전투 이벤트에 등장하는 </a:t>
            </a:r>
            <a:r>
              <a:rPr lang="ko-KR" altLang="en-US" dirty="0" smtClean="0"/>
              <a:t>몬스터의 </a:t>
            </a:r>
            <a:r>
              <a:rPr lang="ko-KR" altLang="en-US" dirty="0" smtClean="0"/>
              <a:t>조합</a:t>
            </a:r>
            <a:r>
              <a:rPr lang="en-US" altLang="ko-KR" dirty="0"/>
              <a:t> </a:t>
            </a:r>
            <a:r>
              <a:rPr lang="en-US" altLang="ko-KR" dirty="0" smtClean="0"/>
              <a:t>/</a:t>
            </a:r>
            <a:r>
              <a:rPr lang="en-US" altLang="ko-KR" dirty="0" smtClean="0"/>
              <a:t> </a:t>
            </a:r>
            <a:r>
              <a:rPr lang="ko-KR" altLang="en-US" dirty="0" err="1" smtClean="0"/>
              <a:t>비전투</a:t>
            </a:r>
            <a:r>
              <a:rPr lang="ko-KR" altLang="en-US" dirty="0" smtClean="0"/>
              <a:t> 이벤트에 등장하는 물품</a:t>
            </a:r>
            <a:endParaRPr lang="en-US" altLang="ko-KR" dirty="0"/>
          </a:p>
          <a:p>
            <a:pPr marL="342900" indent="-342900">
              <a:lnSpc>
                <a:spcPct val="150000"/>
              </a:lnSpc>
              <a:buAutoNum type="arabicParenR"/>
            </a:pPr>
            <a:r>
              <a:rPr lang="ko-KR" altLang="en-US" dirty="0" smtClean="0"/>
              <a:t>계단의 위치와 연결</a:t>
            </a:r>
            <a:endParaRPr lang="en-US" altLang="ko-KR" dirty="0" smtClean="0"/>
          </a:p>
        </p:txBody>
      </p:sp>
    </p:spTree>
    <p:extLst>
      <p:ext uri="{BB962C8B-B14F-4D97-AF65-F5344CB8AC3E}">
        <p14:creationId xmlns:p14="http://schemas.microsoft.com/office/powerpoint/2010/main" val="34256989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518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30</a:t>
            </a:fld>
            <a:endParaRPr lang="ko-KR" altLang="en-US" sz="1800" dirty="0"/>
          </a:p>
        </p:txBody>
      </p:sp>
      <p:sp>
        <p:nvSpPr>
          <p:cNvPr id="9" name="이등변 삼각형 8"/>
          <p:cNvSpPr/>
          <p:nvPr/>
        </p:nvSpPr>
        <p:spPr>
          <a:xfrm rot="5400000">
            <a:off x="2010445" y="2423023"/>
            <a:ext cx="1275272" cy="895852"/>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ko-KR" altLang="en-US" dirty="0">
              <a:solidFill>
                <a:schemeClr val="tx1"/>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883" y="1629828"/>
            <a:ext cx="6934917" cy="3877985"/>
          </a:xfrm>
          <a:prstGeom prst="rect">
            <a:avLst/>
          </a:prstGeom>
          <a:noFill/>
        </p:spPr>
        <p:txBody>
          <a:bodyPr wrap="square" rtlCol="0">
            <a:spAutoFit/>
          </a:bodyPr>
          <a:lstStyle/>
          <a:p>
            <a:pPr>
              <a:lnSpc>
                <a:spcPct val="150000"/>
              </a:lnSpc>
            </a:pPr>
            <a:r>
              <a:rPr lang="en-US" altLang="ko-KR" sz="2400" dirty="0"/>
              <a:t>• </a:t>
            </a:r>
            <a:r>
              <a:rPr lang="ko-KR" altLang="en-US" sz="2000" dirty="0" err="1" smtClean="0"/>
              <a:t>던전맵</a:t>
            </a:r>
            <a:r>
              <a:rPr lang="ko-KR" altLang="en-US" sz="2000" dirty="0" smtClean="0"/>
              <a:t> 가장 좌측에 고정적으로 위치한다</a:t>
            </a:r>
            <a:r>
              <a:rPr lang="en-US" altLang="ko-KR" sz="2000" dirty="0" smtClean="0"/>
              <a:t>.</a:t>
            </a:r>
          </a:p>
          <a:p>
            <a:pPr>
              <a:lnSpc>
                <a:spcPct val="150000"/>
              </a:lnSpc>
            </a:pPr>
            <a:endParaRPr lang="en-US" altLang="ko-KR" sz="2000" dirty="0" smtClean="0"/>
          </a:p>
          <a:p>
            <a:pPr>
              <a:lnSpc>
                <a:spcPct val="150000"/>
              </a:lnSpc>
            </a:pPr>
            <a:r>
              <a:rPr lang="en-US" altLang="ko-KR" sz="2000" dirty="0" smtClean="0"/>
              <a:t>• </a:t>
            </a:r>
            <a:r>
              <a:rPr lang="ko-KR" altLang="en-US" sz="2000" dirty="0" smtClean="0"/>
              <a:t>이벤트가 발생하지 않으며</a:t>
            </a:r>
            <a:r>
              <a:rPr lang="en-US" altLang="ko-KR" sz="2000" dirty="0" smtClean="0"/>
              <a:t>, </a:t>
            </a:r>
            <a:r>
              <a:rPr lang="ko-KR" altLang="en-US" sz="2000" dirty="0" err="1" smtClean="0"/>
              <a:t>아티팩트를</a:t>
            </a:r>
            <a:r>
              <a:rPr lang="ko-KR" altLang="en-US" sz="2000" dirty="0" smtClean="0"/>
              <a:t> 획득할 수 있다</a:t>
            </a:r>
            <a:r>
              <a:rPr lang="en-US" altLang="ko-KR" sz="2000" dirty="0" smtClean="0"/>
              <a:t>.</a:t>
            </a:r>
            <a:endParaRPr lang="en-US" altLang="ko-KR" sz="2000" dirty="0"/>
          </a:p>
          <a:p>
            <a:pPr>
              <a:lnSpc>
                <a:spcPct val="150000"/>
              </a:lnSpc>
            </a:pPr>
            <a:endParaRPr lang="en-US" altLang="ko-KR" sz="2000" dirty="0" smtClean="0"/>
          </a:p>
          <a:p>
            <a:pPr>
              <a:lnSpc>
                <a:spcPct val="150000"/>
              </a:lnSpc>
            </a:pPr>
            <a:r>
              <a:rPr lang="en-US" altLang="ko-KR" sz="2000" dirty="0" smtClean="0"/>
              <a:t>• </a:t>
            </a:r>
            <a:r>
              <a:rPr lang="ko-KR" altLang="en-US" sz="2000" dirty="0" smtClean="0"/>
              <a:t>캐릭터가 던전 탐험을 </a:t>
            </a:r>
            <a:r>
              <a:rPr lang="ko-KR" altLang="en-US" sz="2000" dirty="0" smtClean="0"/>
              <a:t>시작하거나</a:t>
            </a:r>
            <a:r>
              <a:rPr lang="en-US" altLang="ko-KR" sz="2000" dirty="0" smtClean="0"/>
              <a:t>,</a:t>
            </a:r>
            <a:r>
              <a:rPr lang="ko-KR" altLang="en-US" sz="2000" dirty="0" smtClean="0"/>
              <a:t> </a:t>
            </a:r>
            <a:r>
              <a:rPr lang="ko-KR" altLang="en-US" sz="2000" dirty="0" smtClean="0"/>
              <a:t>던전 탐험 중 </a:t>
            </a:r>
            <a:endParaRPr lang="en-US" altLang="ko-KR" sz="2000" dirty="0" smtClean="0"/>
          </a:p>
          <a:p>
            <a:pPr>
              <a:lnSpc>
                <a:spcPct val="150000"/>
              </a:lnSpc>
            </a:pPr>
            <a:r>
              <a:rPr lang="en-US" altLang="ko-KR" sz="2000" dirty="0"/>
              <a:t> </a:t>
            </a:r>
            <a:r>
              <a:rPr lang="en-US" altLang="ko-KR" sz="2000" dirty="0" smtClean="0"/>
              <a:t> </a:t>
            </a:r>
            <a:r>
              <a:rPr lang="ko-KR" altLang="en-US" sz="2000" dirty="0" smtClean="0"/>
              <a:t>사망했을 </a:t>
            </a:r>
            <a:r>
              <a:rPr lang="ko-KR" altLang="en-US" sz="2000" dirty="0" smtClean="0"/>
              <a:t>때</a:t>
            </a:r>
            <a:r>
              <a:rPr lang="en-US" altLang="ko-KR" sz="2000" dirty="0"/>
              <a:t> </a:t>
            </a:r>
            <a:r>
              <a:rPr lang="ko-KR" altLang="en-US" sz="2000" dirty="0" smtClean="0"/>
              <a:t>돌아오는 위치이다</a:t>
            </a:r>
            <a:r>
              <a:rPr lang="en-US" altLang="ko-KR" sz="2000" dirty="0" smtClean="0"/>
              <a:t>.</a:t>
            </a:r>
          </a:p>
          <a:p>
            <a:pPr>
              <a:lnSpc>
                <a:spcPct val="150000"/>
              </a:lnSpc>
            </a:pPr>
            <a:endParaRPr lang="en-US" altLang="ko-KR" sz="2000" dirty="0" smtClean="0"/>
          </a:p>
          <a:p>
            <a:pPr>
              <a:lnSpc>
                <a:spcPct val="150000"/>
              </a:lnSpc>
            </a:pPr>
            <a:r>
              <a:rPr lang="en-US" altLang="ko-KR" sz="2000" dirty="0" smtClean="0"/>
              <a:t>• </a:t>
            </a:r>
            <a:r>
              <a:rPr lang="ko-KR" altLang="en-US" sz="2000" dirty="0" smtClean="0"/>
              <a:t>용사 </a:t>
            </a:r>
            <a:r>
              <a:rPr lang="ko-KR" altLang="en-US" sz="2000" dirty="0" smtClean="0"/>
              <a:t>사망으로 </a:t>
            </a:r>
            <a:r>
              <a:rPr lang="ko-KR" altLang="en-US" sz="2000" dirty="0" smtClean="0"/>
              <a:t>인한 </a:t>
            </a:r>
            <a:r>
              <a:rPr lang="ko-KR" altLang="en-US" sz="2000" b="1" dirty="0" smtClean="0"/>
              <a:t>맵 재설정에 영향을 받지 않는다</a:t>
            </a:r>
            <a:r>
              <a:rPr lang="en-US" altLang="ko-KR" sz="20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77343532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복도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31</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877352" y="1905307"/>
            <a:ext cx="7010400" cy="2400657"/>
          </a:xfrm>
          <a:prstGeom prst="rect">
            <a:avLst/>
          </a:prstGeom>
          <a:noFill/>
        </p:spPr>
        <p:txBody>
          <a:bodyPr wrap="square" rtlCol="0">
            <a:spAutoFit/>
          </a:bodyPr>
          <a:lstStyle/>
          <a:p>
            <a:pPr>
              <a:lnSpc>
                <a:spcPct val="150000"/>
              </a:lnSpc>
            </a:pPr>
            <a:r>
              <a:rPr lang="en-US" altLang="ko-KR" sz="2000" dirty="0"/>
              <a:t>• </a:t>
            </a:r>
            <a:r>
              <a:rPr lang="ko-KR" altLang="en-US" sz="2000" b="1" dirty="0" smtClean="0"/>
              <a:t>맵 재생성과 상관없이</a:t>
            </a:r>
            <a:r>
              <a:rPr lang="ko-KR" altLang="en-US" sz="2000" dirty="0" smtClean="0"/>
              <a:t> 동일한 계층 내의 에어리어들을</a:t>
            </a:r>
            <a:endParaRPr lang="en-US" altLang="ko-KR" sz="2000" dirty="0" smtClean="0"/>
          </a:p>
          <a:p>
            <a:pPr>
              <a:lnSpc>
                <a:spcPct val="150000"/>
              </a:lnSpc>
            </a:pPr>
            <a:r>
              <a:rPr lang="en-US" altLang="ko-KR" sz="2000" dirty="0"/>
              <a:t> </a:t>
            </a:r>
            <a:r>
              <a:rPr lang="ko-KR" altLang="en-US" sz="2000" dirty="0" smtClean="0"/>
              <a:t> 수직으로 연결한다</a:t>
            </a:r>
            <a:r>
              <a:rPr lang="en-US" altLang="ko-KR" sz="2000" dirty="0" smtClean="0"/>
              <a:t>.</a:t>
            </a:r>
            <a:endParaRPr lang="en-US" altLang="ko-KR" sz="2000" dirty="0"/>
          </a:p>
          <a:p>
            <a:pPr>
              <a:lnSpc>
                <a:spcPct val="150000"/>
              </a:lnSpc>
            </a:pPr>
            <a:endParaRPr lang="en-US" altLang="ko-KR" sz="2000" dirty="0" smtClean="0"/>
          </a:p>
          <a:p>
            <a:pPr>
              <a:lnSpc>
                <a:spcPct val="150000"/>
              </a:lnSpc>
            </a:pPr>
            <a:r>
              <a:rPr lang="en-US" altLang="ko-KR" sz="2000" dirty="0" smtClean="0"/>
              <a:t>• </a:t>
            </a:r>
            <a:r>
              <a:rPr lang="ko-KR" altLang="en-US" sz="2000" b="1" dirty="0" smtClean="0"/>
              <a:t>양방향 왕복</a:t>
            </a:r>
            <a:r>
              <a:rPr lang="ko-KR" altLang="en-US" sz="2000" dirty="0" smtClean="0"/>
              <a:t>으로 오갈 수 있으며</a:t>
            </a:r>
            <a:r>
              <a:rPr lang="en-US" altLang="ko-KR" sz="2000" dirty="0" smtClean="0"/>
              <a:t>, </a:t>
            </a:r>
            <a:r>
              <a:rPr lang="ko-KR" altLang="en-US" sz="2000" dirty="0" smtClean="0"/>
              <a:t>한번의 이동에 하나의 </a:t>
            </a:r>
            <a:endParaRPr lang="en-US" altLang="ko-KR" sz="2000" dirty="0" smtClean="0"/>
          </a:p>
          <a:p>
            <a:pPr>
              <a:lnSpc>
                <a:spcPct val="150000"/>
              </a:lnSpc>
            </a:pPr>
            <a:r>
              <a:rPr lang="en-US" altLang="ko-KR" sz="2000" dirty="0" smtClean="0"/>
              <a:t>  </a:t>
            </a:r>
            <a:r>
              <a:rPr lang="ko-KR" altLang="en-US" sz="2000" dirty="0" smtClean="0"/>
              <a:t>복도를 지나 다음 </a:t>
            </a:r>
            <a:r>
              <a:rPr lang="ko-KR" altLang="en-US" sz="2000" dirty="0" err="1" smtClean="0"/>
              <a:t>에어리어로</a:t>
            </a:r>
            <a:r>
              <a:rPr lang="ko-KR" altLang="en-US" sz="2000" dirty="0" smtClean="0"/>
              <a:t> 이동할 수 있다</a:t>
            </a:r>
            <a:r>
              <a:rPr lang="en-US" altLang="ko-KR" sz="20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복도</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2" name="직선 연결선 11"/>
          <p:cNvCxnSpPr/>
          <p:nvPr/>
        </p:nvCxnSpPr>
        <p:spPr>
          <a:xfrm>
            <a:off x="2123955" y="2796988"/>
            <a:ext cx="802541" cy="83455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4203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32</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4" y="1301074"/>
            <a:ext cx="7155855" cy="4708981"/>
          </a:xfrm>
          <a:prstGeom prst="rect">
            <a:avLst/>
          </a:prstGeom>
          <a:noFill/>
        </p:spPr>
        <p:txBody>
          <a:bodyPr wrap="square" rtlCol="0">
            <a:spAutoFit/>
          </a:bodyPr>
          <a:lstStyle/>
          <a:p>
            <a:pPr>
              <a:lnSpc>
                <a:spcPct val="150000"/>
              </a:lnSpc>
            </a:pPr>
            <a:r>
              <a:rPr lang="en-US" altLang="ko-KR" sz="2000" dirty="0"/>
              <a:t>• </a:t>
            </a:r>
            <a:r>
              <a:rPr lang="ko-KR" altLang="en-US" sz="2000" dirty="0"/>
              <a:t>동일한 계층 </a:t>
            </a:r>
            <a:r>
              <a:rPr lang="ko-KR" altLang="en-US" sz="2000" dirty="0" smtClean="0"/>
              <a:t>내에 </a:t>
            </a:r>
            <a:r>
              <a:rPr lang="en-US" altLang="ko-KR" sz="2000" b="1" dirty="0" smtClean="0"/>
              <a:t>7</a:t>
            </a:r>
            <a:r>
              <a:rPr lang="ko-KR" altLang="en-US" sz="2000" b="1" dirty="0"/>
              <a:t>개</a:t>
            </a:r>
            <a:r>
              <a:rPr lang="ko-KR" altLang="en-US" sz="2000" dirty="0"/>
              <a:t>의 </a:t>
            </a:r>
            <a:r>
              <a:rPr lang="ko-KR" altLang="en-US" sz="2000" dirty="0" err="1"/>
              <a:t>에어리어가</a:t>
            </a:r>
            <a:r>
              <a:rPr lang="ko-KR" altLang="en-US" sz="2000" dirty="0"/>
              <a:t> </a:t>
            </a:r>
            <a:r>
              <a:rPr lang="ko-KR" altLang="en-US" sz="2000" dirty="0" smtClean="0"/>
              <a:t>고정적으로 생성되며</a:t>
            </a:r>
            <a:r>
              <a:rPr lang="en-US" altLang="ko-KR" sz="2000" dirty="0" smtClean="0"/>
              <a:t>, </a:t>
            </a:r>
          </a:p>
          <a:p>
            <a:pPr>
              <a:lnSpc>
                <a:spcPct val="150000"/>
              </a:lnSpc>
            </a:pPr>
            <a:r>
              <a:rPr lang="en-US" altLang="ko-KR" sz="2000" dirty="0"/>
              <a:t> </a:t>
            </a:r>
            <a:r>
              <a:rPr lang="en-US" altLang="ko-KR" sz="2000" dirty="0" smtClean="0"/>
              <a:t> </a:t>
            </a:r>
            <a:r>
              <a:rPr lang="ko-KR" altLang="en-US" sz="2000" dirty="0" smtClean="0"/>
              <a:t>복도를 따라 일정 거리를 유지하며 </a:t>
            </a:r>
            <a:r>
              <a:rPr lang="ko-KR" altLang="en-US" sz="2000" b="1" dirty="0" smtClean="0"/>
              <a:t>수직 </a:t>
            </a:r>
            <a:r>
              <a:rPr lang="ko-KR" altLang="en-US" sz="2000" b="1" dirty="0"/>
              <a:t>일렬로 연결</a:t>
            </a:r>
            <a:r>
              <a:rPr lang="ko-KR" altLang="en-US" sz="2000" dirty="0"/>
              <a:t>된다</a:t>
            </a:r>
            <a:r>
              <a:rPr lang="en-US" altLang="ko-KR" sz="2000" dirty="0" smtClean="0"/>
              <a:t>.</a:t>
            </a:r>
          </a:p>
          <a:p>
            <a:pPr>
              <a:lnSpc>
                <a:spcPct val="150000"/>
              </a:lnSpc>
            </a:pPr>
            <a:endParaRPr lang="en-US" altLang="ko-KR" sz="2000" dirty="0" smtClean="0"/>
          </a:p>
          <a:p>
            <a:pPr>
              <a:lnSpc>
                <a:spcPct val="150000"/>
              </a:lnSpc>
            </a:pPr>
            <a:r>
              <a:rPr lang="en-US" altLang="ko-KR" sz="2000" dirty="0"/>
              <a:t>• </a:t>
            </a:r>
            <a:r>
              <a:rPr lang="ko-KR" altLang="en-US" sz="2000" dirty="0"/>
              <a:t>던전 진행중 탐색했던 </a:t>
            </a:r>
            <a:r>
              <a:rPr lang="ko-KR" altLang="en-US" sz="2000" dirty="0" err="1"/>
              <a:t>에어리어는</a:t>
            </a:r>
            <a:r>
              <a:rPr lang="ko-KR" altLang="en-US" sz="2000" dirty="0"/>
              <a:t> 흰색으로 표시하며 </a:t>
            </a:r>
            <a:r>
              <a:rPr lang="en-US" altLang="ko-KR" sz="2000" dirty="0" smtClean="0"/>
              <a:t/>
            </a:r>
            <a:br>
              <a:rPr lang="en-US" altLang="ko-KR" sz="2000" dirty="0" smtClean="0"/>
            </a:br>
            <a:r>
              <a:rPr lang="en-US" altLang="ko-KR" sz="2000" dirty="0" smtClean="0"/>
              <a:t>  </a:t>
            </a:r>
            <a:r>
              <a:rPr lang="ko-KR" altLang="en-US" sz="2000" dirty="0" smtClean="0"/>
              <a:t>그렇지 않은 </a:t>
            </a:r>
            <a:r>
              <a:rPr lang="ko-KR" altLang="en-US" sz="2000" dirty="0"/>
              <a:t>곳은 회색으로 표시한다</a:t>
            </a:r>
            <a:r>
              <a:rPr lang="en-US" altLang="ko-KR" sz="2000" dirty="0" smtClean="0"/>
              <a:t>.</a:t>
            </a:r>
            <a:endParaRPr lang="en-US" altLang="ko-KR" sz="2000" dirty="0"/>
          </a:p>
          <a:p>
            <a:pPr>
              <a:lnSpc>
                <a:spcPct val="150000"/>
              </a:lnSpc>
            </a:pPr>
            <a:endParaRPr lang="en-US" altLang="ko-KR" sz="2000" dirty="0" smtClean="0"/>
          </a:p>
          <a:p>
            <a:pPr>
              <a:lnSpc>
                <a:spcPct val="150000"/>
              </a:lnSpc>
            </a:pPr>
            <a:r>
              <a:rPr lang="en-US" altLang="ko-KR" sz="2000" dirty="0"/>
              <a:t>• </a:t>
            </a:r>
            <a:r>
              <a:rPr lang="ko-KR" altLang="en-US" sz="2000" dirty="0" err="1" smtClean="0"/>
              <a:t>재생성될</a:t>
            </a:r>
            <a:r>
              <a:rPr lang="ko-KR" altLang="en-US" sz="2000" dirty="0" smtClean="0"/>
              <a:t> 때 전투와 </a:t>
            </a:r>
            <a:r>
              <a:rPr lang="ko-KR" altLang="en-US" sz="2000" dirty="0" err="1"/>
              <a:t>비전투</a:t>
            </a:r>
            <a:r>
              <a:rPr lang="ko-KR" altLang="en-US" sz="2000" dirty="0"/>
              <a:t> </a:t>
            </a:r>
            <a:r>
              <a:rPr lang="ko-KR" altLang="en-US" sz="2000" dirty="0" smtClean="0"/>
              <a:t>중 </a:t>
            </a:r>
            <a:r>
              <a:rPr lang="ko-KR" altLang="en-US" sz="2000" dirty="0" smtClean="0"/>
              <a:t>하나의 </a:t>
            </a:r>
            <a:r>
              <a:rPr lang="ko-KR" altLang="en-US" sz="2000" b="1" dirty="0" smtClean="0"/>
              <a:t>이벤트</a:t>
            </a:r>
            <a:r>
              <a:rPr lang="ko-KR" altLang="en-US" sz="2000" dirty="0" smtClean="0"/>
              <a:t>를 </a:t>
            </a:r>
            <a:r>
              <a:rPr lang="ko-KR" altLang="en-US" sz="2000" dirty="0" smtClean="0"/>
              <a:t>가지며</a:t>
            </a:r>
            <a:r>
              <a:rPr lang="en-US" altLang="ko-KR" sz="2000" dirty="0" smtClean="0"/>
              <a:t>,</a:t>
            </a:r>
            <a:br>
              <a:rPr lang="en-US" altLang="ko-KR" sz="2000" dirty="0" smtClean="0"/>
            </a:br>
            <a:r>
              <a:rPr lang="en-US" altLang="ko-KR" sz="2000" dirty="0" smtClean="0"/>
              <a:t>  </a:t>
            </a:r>
            <a:r>
              <a:rPr lang="ko-KR" altLang="en-US" sz="2000" dirty="0" err="1" smtClean="0"/>
              <a:t>비전투</a:t>
            </a:r>
            <a:r>
              <a:rPr lang="ko-KR" altLang="en-US" sz="2000" dirty="0" smtClean="0"/>
              <a:t> </a:t>
            </a:r>
            <a:r>
              <a:rPr lang="ko-KR" altLang="en-US" sz="2000" dirty="0" err="1" smtClean="0"/>
              <a:t>에어리어가</a:t>
            </a:r>
            <a:r>
              <a:rPr lang="ko-KR" altLang="en-US" sz="2000" dirty="0" smtClean="0"/>
              <a:t> 결정되고 난 후 나머지 에어리어들은</a:t>
            </a:r>
            <a:r>
              <a:rPr lang="en-US" altLang="ko-KR" sz="2000" dirty="0" smtClean="0"/>
              <a:t/>
            </a:r>
            <a:br>
              <a:rPr lang="en-US" altLang="ko-KR" sz="2000" dirty="0" smtClean="0"/>
            </a:br>
            <a:r>
              <a:rPr lang="en-US" altLang="ko-KR" sz="2000" dirty="0" smtClean="0"/>
              <a:t>  </a:t>
            </a:r>
            <a:r>
              <a:rPr lang="ko-KR" altLang="en-US" sz="2000" dirty="0" smtClean="0"/>
              <a:t>자동으로 전투 </a:t>
            </a:r>
            <a:r>
              <a:rPr lang="ko-KR" altLang="en-US" sz="2000" dirty="0" err="1" smtClean="0"/>
              <a:t>에어리어가</a:t>
            </a:r>
            <a:r>
              <a:rPr lang="ko-KR" altLang="en-US" sz="2000" dirty="0" smtClean="0"/>
              <a:t> 된다</a:t>
            </a:r>
            <a:r>
              <a:rPr lang="en-US" altLang="ko-KR" sz="2000" dirty="0" smtClean="0"/>
              <a:t>. </a:t>
            </a:r>
            <a:r>
              <a:rPr lang="ko-KR" altLang="en-US" sz="2000" dirty="0" smtClean="0"/>
              <a:t>이 때</a:t>
            </a:r>
            <a:r>
              <a:rPr lang="en-US" altLang="ko-KR" sz="2000" dirty="0"/>
              <a:t> </a:t>
            </a:r>
            <a:r>
              <a:rPr lang="ko-KR" altLang="en-US" sz="2000" dirty="0" smtClean="0"/>
              <a:t>전투 </a:t>
            </a:r>
            <a:r>
              <a:rPr lang="ko-KR" altLang="en-US" sz="2000" dirty="0" smtClean="0"/>
              <a:t>이벤트의 경우</a:t>
            </a:r>
            <a:r>
              <a:rPr lang="en-US" altLang="ko-KR" sz="2000" dirty="0" smtClean="0"/>
              <a:t>  </a:t>
            </a:r>
          </a:p>
          <a:p>
            <a:pPr>
              <a:lnSpc>
                <a:spcPct val="150000"/>
              </a:lnSpc>
            </a:pPr>
            <a:r>
              <a:rPr lang="en-US" altLang="ko-KR" sz="2000" dirty="0"/>
              <a:t> </a:t>
            </a:r>
            <a:r>
              <a:rPr lang="en-US" altLang="ko-KR" sz="2000" dirty="0" smtClean="0"/>
              <a:t> </a:t>
            </a:r>
            <a:r>
              <a:rPr lang="ko-KR" altLang="en-US" sz="2000" dirty="0" err="1" smtClean="0"/>
              <a:t>몬스터들의</a:t>
            </a:r>
            <a:r>
              <a:rPr lang="ko-KR" altLang="en-US" sz="2000" dirty="0" smtClean="0"/>
              <a:t> 행동에 영향을 주는 </a:t>
            </a:r>
            <a:r>
              <a:rPr lang="ko-KR" altLang="en-US" sz="2000" b="1" dirty="0" smtClean="0"/>
              <a:t>컨셉</a:t>
            </a:r>
            <a:r>
              <a:rPr lang="ko-KR" altLang="en-US" sz="2000" dirty="0" smtClean="0"/>
              <a:t>이</a:t>
            </a:r>
            <a:r>
              <a:rPr lang="en-US" altLang="ko-KR" sz="2000" dirty="0" smtClean="0"/>
              <a:t> </a:t>
            </a:r>
            <a:r>
              <a:rPr lang="ko-KR" altLang="en-US" sz="2000" dirty="0" smtClean="0"/>
              <a:t>붙을 수 </a:t>
            </a:r>
            <a:r>
              <a:rPr lang="ko-KR" altLang="en-US" sz="2000" dirty="0" smtClean="0"/>
              <a:t>있</a:t>
            </a:r>
            <a:r>
              <a:rPr lang="ko-KR" altLang="en-US" sz="2000" dirty="0" smtClean="0"/>
              <a:t>다</a:t>
            </a:r>
            <a:r>
              <a:rPr lang="en-US" altLang="ko-KR" sz="2000" dirty="0" smtClean="0"/>
              <a:t>.</a:t>
            </a:r>
            <a:endParaRPr lang="en-US" altLang="ko-KR" sz="20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Tree>
    <p:extLst>
      <p:ext uri="{BB962C8B-B14F-4D97-AF65-F5344CB8AC3E}">
        <p14:creationId xmlns:p14="http://schemas.microsoft.com/office/powerpoint/2010/main" val="343928342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33</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667459" cy="3323987"/>
          </a:xfrm>
          <a:prstGeom prst="rect">
            <a:avLst/>
          </a:prstGeom>
          <a:noFill/>
        </p:spPr>
        <p:txBody>
          <a:bodyPr wrap="square" rtlCol="0">
            <a:spAutoFit/>
          </a:bodyPr>
          <a:lstStyle/>
          <a:p>
            <a:pPr>
              <a:lnSpc>
                <a:spcPct val="150000"/>
              </a:lnSpc>
            </a:pPr>
            <a:r>
              <a:rPr lang="en-US" altLang="ko-KR" sz="2000" dirty="0"/>
              <a:t>• </a:t>
            </a:r>
            <a:r>
              <a:rPr lang="ko-KR" altLang="en-US" sz="2000" dirty="0"/>
              <a:t>전투 </a:t>
            </a:r>
            <a:r>
              <a:rPr lang="ko-KR" altLang="en-US" sz="2000" dirty="0" smtClean="0"/>
              <a:t>이벤트 </a:t>
            </a:r>
            <a:r>
              <a:rPr lang="en-US" altLang="ko-KR" sz="2000" dirty="0" smtClean="0"/>
              <a:t>: </a:t>
            </a:r>
          </a:p>
          <a:p>
            <a:pPr>
              <a:lnSpc>
                <a:spcPct val="150000"/>
              </a:lnSpc>
            </a:pPr>
            <a:r>
              <a:rPr lang="en-US" altLang="ko-KR" sz="2000" dirty="0" smtClean="0"/>
              <a:t>1) </a:t>
            </a:r>
            <a:r>
              <a:rPr lang="ko-KR" altLang="en-US" sz="2000" dirty="0" smtClean="0"/>
              <a:t>전투에서 </a:t>
            </a:r>
            <a:r>
              <a:rPr lang="ko-KR" altLang="en-US" sz="2000" dirty="0" smtClean="0"/>
              <a:t>등장하는 </a:t>
            </a:r>
            <a:r>
              <a:rPr lang="ko-KR" altLang="en-US" sz="2000" dirty="0" smtClean="0"/>
              <a:t>몬스터는 </a:t>
            </a:r>
            <a:r>
              <a:rPr lang="ko-KR" altLang="en-US" sz="2000" dirty="0"/>
              <a:t>각 계층에 </a:t>
            </a:r>
            <a:r>
              <a:rPr lang="ko-KR" altLang="en-US" sz="2000" dirty="0" smtClean="0"/>
              <a:t>출몰하는 </a:t>
            </a:r>
            <a:r>
              <a:rPr lang="ko-KR" altLang="en-US" sz="2000" dirty="0" err="1" smtClean="0"/>
              <a:t>몬스터들의</a:t>
            </a:r>
            <a:r>
              <a:rPr lang="ko-KR" altLang="en-US" sz="2000" dirty="0" smtClean="0"/>
              <a:t>  </a:t>
            </a:r>
            <a:endParaRPr lang="en-US" altLang="ko-KR" sz="2000" dirty="0" smtClean="0"/>
          </a:p>
          <a:p>
            <a:pPr>
              <a:lnSpc>
                <a:spcPct val="150000"/>
              </a:lnSpc>
            </a:pPr>
            <a:r>
              <a:rPr lang="ko-KR" altLang="en-US" sz="2000" dirty="0" smtClean="0"/>
              <a:t>  조합들 </a:t>
            </a:r>
            <a:r>
              <a:rPr lang="ko-KR" altLang="en-US" sz="2000" dirty="0" smtClean="0"/>
              <a:t>중에서 하나가 선택되어 </a:t>
            </a:r>
            <a:r>
              <a:rPr lang="ko-KR" altLang="en-US" sz="2000" dirty="0" smtClean="0"/>
              <a:t>결정</a:t>
            </a:r>
            <a:r>
              <a:rPr lang="ko-KR" altLang="en-US" sz="2000" dirty="0" smtClean="0"/>
              <a:t>된다</a:t>
            </a:r>
            <a:r>
              <a:rPr lang="en-US" altLang="ko-KR" sz="2000" dirty="0" smtClean="0"/>
              <a:t>. </a:t>
            </a:r>
            <a:r>
              <a:rPr lang="ko-KR" altLang="en-US" sz="2000" dirty="0" smtClean="0"/>
              <a:t>더 깊은 계층일수록 </a:t>
            </a:r>
            <a:endParaRPr lang="en-US" altLang="ko-KR" sz="2000" dirty="0" smtClean="0"/>
          </a:p>
          <a:p>
            <a:pPr>
              <a:lnSpc>
                <a:spcPct val="150000"/>
              </a:lnSpc>
            </a:pPr>
            <a:r>
              <a:rPr lang="ko-KR" altLang="en-US" sz="2000" dirty="0" smtClean="0"/>
              <a:t>  등장 </a:t>
            </a:r>
            <a:r>
              <a:rPr lang="ko-KR" altLang="en-US" sz="2000" dirty="0" err="1" smtClean="0"/>
              <a:t>몬스터들이</a:t>
            </a:r>
            <a:r>
              <a:rPr lang="ko-KR" altLang="en-US" sz="2000" dirty="0" smtClean="0"/>
              <a:t> 강력해진다</a:t>
            </a:r>
            <a:r>
              <a:rPr lang="en-US" altLang="ko-KR" sz="2000" dirty="0" smtClean="0"/>
              <a:t>.</a:t>
            </a:r>
          </a:p>
          <a:p>
            <a:pPr>
              <a:lnSpc>
                <a:spcPct val="150000"/>
              </a:lnSpc>
            </a:pPr>
            <a:endParaRPr lang="en-US" altLang="ko-KR" sz="2000" dirty="0" smtClean="0"/>
          </a:p>
          <a:p>
            <a:pPr>
              <a:lnSpc>
                <a:spcPct val="150000"/>
              </a:lnSpc>
            </a:pPr>
            <a:r>
              <a:rPr lang="en-US" altLang="ko-KR" sz="2000" dirty="0" smtClean="0"/>
              <a:t>-</a:t>
            </a:r>
            <a:r>
              <a:rPr lang="ko-KR" altLang="en-US" sz="2000" dirty="0" err="1" smtClean="0"/>
              <a:t>에어리어</a:t>
            </a:r>
            <a:r>
              <a:rPr lang="ko-KR" altLang="en-US" sz="2000" dirty="0" smtClean="0"/>
              <a:t> 강화 공식</a:t>
            </a:r>
            <a:r>
              <a:rPr lang="en-US" altLang="ko-KR" sz="2000" dirty="0" smtClean="0"/>
              <a:t> :</a:t>
            </a:r>
            <a:br>
              <a:rPr lang="en-US" altLang="ko-KR" sz="2000" dirty="0" smtClean="0"/>
            </a:br>
            <a:r>
              <a:rPr lang="en-US" altLang="ko-KR" sz="2000" dirty="0" smtClean="0"/>
              <a:t>  </a:t>
            </a:r>
            <a:r>
              <a:rPr lang="ko-KR" altLang="en-US" sz="2000" dirty="0" smtClean="0"/>
              <a:t>몬스터 </a:t>
            </a:r>
            <a:r>
              <a:rPr lang="ko-KR" altLang="en-US" sz="2000" dirty="0" err="1" smtClean="0"/>
              <a:t>능력치</a:t>
            </a:r>
            <a:r>
              <a:rPr lang="ko-KR" altLang="en-US" sz="2000" dirty="0" smtClean="0"/>
              <a:t> </a:t>
            </a:r>
            <a:r>
              <a:rPr lang="en-US" altLang="ko-KR" sz="2000" dirty="0" smtClean="0"/>
              <a:t>= </a:t>
            </a:r>
            <a:r>
              <a:rPr lang="ko-KR" altLang="en-US" sz="2000" dirty="0" smtClean="0"/>
              <a:t>기본 </a:t>
            </a:r>
            <a:r>
              <a:rPr lang="ko-KR" altLang="en-US" sz="2000" dirty="0" err="1" smtClean="0"/>
              <a:t>능력치</a:t>
            </a:r>
            <a:r>
              <a:rPr lang="ko-KR" altLang="en-US" sz="2000" dirty="0" smtClean="0"/>
              <a:t> </a:t>
            </a:r>
            <a:r>
              <a:rPr lang="en-US" altLang="ko-KR" sz="2000" dirty="0" smtClean="0"/>
              <a:t>+ (</a:t>
            </a:r>
            <a:r>
              <a:rPr lang="ko-KR" altLang="en-US" sz="2000" dirty="0" smtClean="0"/>
              <a:t>기본 </a:t>
            </a:r>
            <a:r>
              <a:rPr lang="ko-KR" altLang="en-US" sz="2000" dirty="0" err="1" smtClean="0"/>
              <a:t>능력치</a:t>
            </a:r>
            <a:r>
              <a:rPr lang="ko-KR" altLang="en-US" sz="2000" dirty="0" smtClean="0"/>
              <a:t> </a:t>
            </a:r>
            <a:r>
              <a:rPr lang="en-US" altLang="ko-KR" sz="2000" dirty="0" smtClean="0"/>
              <a:t>x (</a:t>
            </a:r>
            <a:r>
              <a:rPr lang="ko-KR" altLang="en-US" sz="2000" dirty="0" smtClean="0"/>
              <a:t>층수</a:t>
            </a:r>
            <a:r>
              <a:rPr lang="en-US" altLang="ko-KR" sz="2000" dirty="0" smtClean="0"/>
              <a:t>-1)</a:t>
            </a:r>
            <a:r>
              <a:rPr lang="ko-KR" altLang="en-US" sz="2000" dirty="0" smtClean="0"/>
              <a:t> </a:t>
            </a:r>
            <a:r>
              <a:rPr lang="en-US" altLang="ko-KR" sz="2000" dirty="0" smtClean="0"/>
              <a:t>x 10%)</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Tree>
    <p:extLst>
      <p:ext uri="{BB962C8B-B14F-4D97-AF65-F5344CB8AC3E}">
        <p14:creationId xmlns:p14="http://schemas.microsoft.com/office/powerpoint/2010/main" val="352955018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34</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667459" cy="3785652"/>
          </a:xfrm>
          <a:prstGeom prst="rect">
            <a:avLst/>
          </a:prstGeom>
          <a:noFill/>
        </p:spPr>
        <p:txBody>
          <a:bodyPr wrap="square" rtlCol="0">
            <a:spAutoFit/>
          </a:bodyPr>
          <a:lstStyle/>
          <a:p>
            <a:pPr>
              <a:lnSpc>
                <a:spcPct val="150000"/>
              </a:lnSpc>
            </a:pPr>
            <a:r>
              <a:rPr lang="en-US" altLang="ko-KR" sz="2000" dirty="0"/>
              <a:t>• </a:t>
            </a:r>
            <a:r>
              <a:rPr lang="ko-KR" altLang="en-US" sz="2000" dirty="0"/>
              <a:t>전투 </a:t>
            </a:r>
            <a:r>
              <a:rPr lang="ko-KR" altLang="en-US" sz="2000" dirty="0" smtClean="0"/>
              <a:t>이벤트 </a:t>
            </a:r>
            <a:r>
              <a:rPr lang="en-US" altLang="ko-KR" sz="2000" dirty="0" smtClean="0"/>
              <a:t>: </a:t>
            </a:r>
          </a:p>
          <a:p>
            <a:pPr>
              <a:lnSpc>
                <a:spcPct val="150000"/>
              </a:lnSpc>
            </a:pPr>
            <a:r>
              <a:rPr lang="en-US" altLang="ko-KR" sz="2000" dirty="0"/>
              <a:t>2</a:t>
            </a:r>
            <a:r>
              <a:rPr lang="en-US" altLang="ko-KR" sz="2000" dirty="0" smtClean="0"/>
              <a:t>) </a:t>
            </a:r>
            <a:r>
              <a:rPr lang="ko-KR" altLang="en-US" sz="2000" dirty="0" err="1" smtClean="0"/>
              <a:t>에어리어가</a:t>
            </a:r>
            <a:r>
              <a:rPr lang="ko-KR" altLang="en-US" sz="2000" dirty="0" smtClean="0"/>
              <a:t> </a:t>
            </a:r>
            <a:r>
              <a:rPr lang="ko-KR" altLang="en-US" sz="2000" dirty="0" err="1" smtClean="0"/>
              <a:t>재생성될</a:t>
            </a:r>
            <a:r>
              <a:rPr lang="ko-KR" altLang="en-US" sz="2000" dirty="0" smtClean="0"/>
              <a:t> 때</a:t>
            </a:r>
            <a:r>
              <a:rPr lang="en-US" altLang="ko-KR" sz="2000" dirty="0" smtClean="0"/>
              <a:t>, </a:t>
            </a:r>
            <a:r>
              <a:rPr lang="ko-KR" altLang="en-US" sz="2000" dirty="0" smtClean="0"/>
              <a:t>일정 확률로 적 </a:t>
            </a:r>
            <a:r>
              <a:rPr lang="ko-KR" altLang="en-US" sz="2000" dirty="0" err="1" smtClean="0"/>
              <a:t>몬스터들의</a:t>
            </a:r>
            <a:r>
              <a:rPr lang="ko-KR" altLang="en-US" sz="2000" dirty="0" smtClean="0"/>
              <a:t> 우선 순위   </a:t>
            </a:r>
            <a:endParaRPr lang="en-US" altLang="ko-KR" sz="2000" dirty="0" smtClean="0"/>
          </a:p>
          <a:p>
            <a:pPr>
              <a:lnSpc>
                <a:spcPct val="150000"/>
              </a:lnSpc>
            </a:pPr>
            <a:r>
              <a:rPr lang="en-US" altLang="ko-KR" sz="2000" dirty="0"/>
              <a:t> </a:t>
            </a:r>
            <a:r>
              <a:rPr lang="en-US" altLang="ko-KR" sz="2000" dirty="0" smtClean="0"/>
              <a:t> </a:t>
            </a:r>
            <a:r>
              <a:rPr lang="ko-KR" altLang="en-US" sz="2000" dirty="0" smtClean="0"/>
              <a:t>계산에 영향을 주는 </a:t>
            </a:r>
            <a:r>
              <a:rPr lang="ko-KR" altLang="en-US" sz="2000" dirty="0" err="1" smtClean="0"/>
              <a:t>에어리어</a:t>
            </a:r>
            <a:r>
              <a:rPr lang="ko-KR" altLang="en-US" sz="2000" dirty="0" smtClean="0"/>
              <a:t> 컨셉이 붙을 수 있</a:t>
            </a:r>
            <a:r>
              <a:rPr lang="ko-KR" altLang="en-US" sz="2000" dirty="0" smtClean="0"/>
              <a:t>다</a:t>
            </a:r>
            <a:r>
              <a:rPr lang="en-US" altLang="ko-KR" sz="2000" dirty="0" smtClean="0"/>
              <a:t>. </a:t>
            </a:r>
            <a:r>
              <a:rPr lang="ko-KR" altLang="en-US" sz="2000" dirty="0" smtClean="0"/>
              <a:t>어떤 컨셉이</a:t>
            </a:r>
            <a:endParaRPr lang="en-US" altLang="ko-KR" sz="2000" dirty="0" smtClean="0"/>
          </a:p>
          <a:p>
            <a:pPr>
              <a:lnSpc>
                <a:spcPct val="150000"/>
              </a:lnSpc>
            </a:pPr>
            <a:r>
              <a:rPr lang="en-US" altLang="ko-KR" sz="2000" dirty="0"/>
              <a:t> </a:t>
            </a:r>
            <a:r>
              <a:rPr lang="en-US" altLang="ko-KR" sz="2000" dirty="0" smtClean="0"/>
              <a:t> </a:t>
            </a:r>
            <a:r>
              <a:rPr lang="ko-KR" altLang="en-US" sz="2000" dirty="0" smtClean="0"/>
              <a:t>붙는가에 따라 적군의 우선 순위 계산이 부분적으로 달라진다</a:t>
            </a:r>
            <a:r>
              <a:rPr lang="en-US" altLang="ko-KR" sz="2000" dirty="0" smtClean="0"/>
              <a:t>.</a:t>
            </a:r>
          </a:p>
          <a:p>
            <a:pPr>
              <a:lnSpc>
                <a:spcPct val="150000"/>
              </a:lnSpc>
            </a:pPr>
            <a:endParaRPr lang="en-US" altLang="ko-KR" sz="2000" dirty="0" smtClean="0"/>
          </a:p>
          <a:p>
            <a:pPr>
              <a:lnSpc>
                <a:spcPct val="150000"/>
              </a:lnSpc>
            </a:pPr>
            <a:r>
              <a:rPr lang="en-US" altLang="ko-KR" sz="2000" dirty="0" smtClean="0"/>
              <a:t>-</a:t>
            </a:r>
            <a:r>
              <a:rPr lang="ko-KR" altLang="en-US" sz="2000" dirty="0" err="1" smtClean="0"/>
              <a:t>에어리어</a:t>
            </a:r>
            <a:r>
              <a:rPr lang="ko-KR" altLang="en-US" sz="2000" dirty="0" smtClean="0"/>
              <a:t> 컨셉</a:t>
            </a:r>
            <a:r>
              <a:rPr lang="en-US" altLang="ko-KR" sz="2000" dirty="0" smtClean="0"/>
              <a:t> :</a:t>
            </a:r>
          </a:p>
          <a:p>
            <a:pPr marL="457200" indent="-457200">
              <a:lnSpc>
                <a:spcPct val="150000"/>
              </a:lnSpc>
              <a:buAutoNum type="arabicParenR"/>
            </a:pPr>
            <a:r>
              <a:rPr lang="ko-KR" altLang="en-US" sz="2000" dirty="0" smtClean="0"/>
              <a:t>컨셉이 붙을 확률 </a:t>
            </a:r>
            <a:r>
              <a:rPr lang="en-US" altLang="ko-KR" sz="2000" dirty="0" smtClean="0"/>
              <a:t>: 20%</a:t>
            </a:r>
          </a:p>
          <a:p>
            <a:pPr marL="457200" indent="-457200">
              <a:lnSpc>
                <a:spcPct val="150000"/>
              </a:lnSpc>
              <a:buAutoNum type="arabicParenR"/>
            </a:pPr>
            <a:r>
              <a:rPr lang="ko-KR" altLang="en-US" sz="2000" dirty="0"/>
              <a:t>종류 </a:t>
            </a:r>
            <a:r>
              <a:rPr lang="en-US" altLang="ko-KR" sz="2000" dirty="0"/>
              <a:t>: </a:t>
            </a:r>
            <a:r>
              <a:rPr lang="ko-KR" altLang="en-US" sz="2000" dirty="0"/>
              <a:t>고통의 방</a:t>
            </a:r>
            <a:r>
              <a:rPr lang="en-US" altLang="ko-KR" sz="2000" dirty="0"/>
              <a:t>(33%), </a:t>
            </a:r>
            <a:r>
              <a:rPr lang="ko-KR" altLang="en-US" sz="2000" dirty="0"/>
              <a:t>절망의 방</a:t>
            </a:r>
            <a:r>
              <a:rPr lang="en-US" altLang="ko-KR" sz="2000" dirty="0"/>
              <a:t>(33%), </a:t>
            </a:r>
            <a:r>
              <a:rPr lang="ko-KR" altLang="en-US" sz="2000" dirty="0"/>
              <a:t>약육강식의 방</a:t>
            </a:r>
            <a:r>
              <a:rPr lang="en-US" altLang="ko-KR" sz="2000" dirty="0"/>
              <a:t>(33%)</a:t>
            </a:r>
            <a:endParaRPr lang="en-US" altLang="ko-KR" sz="2000" dirty="0" smtClean="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Tree>
    <p:extLst>
      <p:ext uri="{BB962C8B-B14F-4D97-AF65-F5344CB8AC3E}">
        <p14:creationId xmlns:p14="http://schemas.microsoft.com/office/powerpoint/2010/main" val="4409413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35</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667459" cy="4708981"/>
          </a:xfrm>
          <a:prstGeom prst="rect">
            <a:avLst/>
          </a:prstGeom>
          <a:noFill/>
        </p:spPr>
        <p:txBody>
          <a:bodyPr wrap="square" rtlCol="0">
            <a:spAutoFit/>
          </a:bodyPr>
          <a:lstStyle/>
          <a:p>
            <a:pPr>
              <a:lnSpc>
                <a:spcPct val="150000"/>
              </a:lnSpc>
            </a:pPr>
            <a:r>
              <a:rPr lang="en-US" altLang="ko-KR" sz="2000" dirty="0"/>
              <a:t>• </a:t>
            </a:r>
            <a:r>
              <a:rPr lang="ko-KR" altLang="en-US" sz="2000" dirty="0"/>
              <a:t>전투 </a:t>
            </a:r>
            <a:r>
              <a:rPr lang="ko-KR" altLang="en-US" sz="2000" dirty="0" smtClean="0"/>
              <a:t>이벤트 </a:t>
            </a:r>
            <a:r>
              <a:rPr lang="en-US" altLang="ko-KR" sz="2000" dirty="0" smtClean="0"/>
              <a:t>: </a:t>
            </a:r>
            <a:r>
              <a:rPr lang="en-US" altLang="ko-KR" sz="2000" dirty="0" smtClean="0"/>
              <a:t/>
            </a:r>
            <a:br>
              <a:rPr lang="en-US" altLang="ko-KR" sz="2000" dirty="0" smtClean="0"/>
            </a:br>
            <a:r>
              <a:rPr lang="en-US" altLang="ko-KR" sz="2000" dirty="0" smtClean="0"/>
              <a:t>3) </a:t>
            </a:r>
            <a:r>
              <a:rPr lang="ko-KR" altLang="en-US" sz="2000" dirty="0" smtClean="0"/>
              <a:t>전투 </a:t>
            </a:r>
            <a:r>
              <a:rPr lang="ko-KR" altLang="en-US" sz="2000" dirty="0" smtClean="0"/>
              <a:t>전리품을 </a:t>
            </a:r>
            <a:r>
              <a:rPr lang="ko-KR" altLang="en-US" sz="2000" dirty="0"/>
              <a:t>가진다</a:t>
            </a:r>
            <a:r>
              <a:rPr lang="en-US" altLang="ko-KR" sz="2000" dirty="0"/>
              <a:t>. </a:t>
            </a:r>
            <a:r>
              <a:rPr lang="ko-KR" altLang="en-US" sz="2000" dirty="0" smtClean="0"/>
              <a:t>플레이어가 </a:t>
            </a:r>
            <a:r>
              <a:rPr lang="ko-KR" altLang="en-US" sz="2000" dirty="0" err="1" smtClean="0"/>
              <a:t>에어리어를</a:t>
            </a:r>
            <a:r>
              <a:rPr lang="ko-KR" altLang="en-US" sz="2000" dirty="0" smtClean="0"/>
              <a:t> 클리어하면</a:t>
            </a:r>
            <a:r>
              <a:rPr lang="en-US" altLang="ko-KR" sz="2000" dirty="0" smtClean="0"/>
              <a:t/>
            </a:r>
            <a:br>
              <a:rPr lang="en-US" altLang="ko-KR" sz="2000" dirty="0" smtClean="0"/>
            </a:br>
            <a:r>
              <a:rPr lang="en-US" altLang="ko-KR" sz="2000" dirty="0" smtClean="0"/>
              <a:t>  </a:t>
            </a:r>
            <a:r>
              <a:rPr lang="ko-KR" altLang="en-US" sz="2000" dirty="0" smtClean="0"/>
              <a:t>전리품 </a:t>
            </a:r>
            <a:r>
              <a:rPr lang="ko-KR" altLang="en-US" sz="2000" dirty="0"/>
              <a:t>형식의 </a:t>
            </a:r>
            <a:r>
              <a:rPr lang="ko-KR" altLang="en-US" sz="2000" dirty="0" smtClean="0"/>
              <a:t>보상이</a:t>
            </a:r>
            <a:r>
              <a:rPr lang="en-US" altLang="ko-KR" sz="2000" dirty="0" smtClean="0"/>
              <a:t> </a:t>
            </a:r>
            <a:r>
              <a:rPr lang="ko-KR" altLang="en-US" sz="2000" dirty="0"/>
              <a:t>주어지며</a:t>
            </a:r>
            <a:r>
              <a:rPr lang="en-US" altLang="ko-KR" sz="2000" dirty="0"/>
              <a:t>, </a:t>
            </a:r>
            <a:r>
              <a:rPr lang="ko-KR" altLang="en-US" sz="2000" dirty="0"/>
              <a:t>전리품은 골드 </a:t>
            </a:r>
            <a:r>
              <a:rPr lang="en-US" altLang="ko-KR" sz="2000" dirty="0"/>
              <a:t>/</a:t>
            </a:r>
            <a:r>
              <a:rPr lang="ko-KR" altLang="en-US" sz="2000" dirty="0"/>
              <a:t> </a:t>
            </a:r>
            <a:r>
              <a:rPr lang="ko-KR" altLang="en-US" sz="2000" dirty="0" err="1"/>
              <a:t>아티팩트</a:t>
            </a:r>
            <a:r>
              <a:rPr lang="ko-KR" altLang="en-US" sz="2000" dirty="0"/>
              <a:t> </a:t>
            </a:r>
            <a:r>
              <a:rPr lang="en-US" altLang="ko-KR" sz="2000" dirty="0"/>
              <a:t>/ </a:t>
            </a:r>
            <a:r>
              <a:rPr lang="en-US" altLang="ko-KR" sz="2000" dirty="0" smtClean="0"/>
              <a:t/>
            </a:r>
            <a:br>
              <a:rPr lang="en-US" altLang="ko-KR" sz="2000" dirty="0" smtClean="0"/>
            </a:br>
            <a:r>
              <a:rPr lang="en-US" altLang="ko-KR" sz="2000" dirty="0" smtClean="0"/>
              <a:t>  </a:t>
            </a:r>
            <a:r>
              <a:rPr lang="ko-KR" altLang="en-US" sz="2000" dirty="0" smtClean="0"/>
              <a:t>아이템이 각각의 확률에 따라 </a:t>
            </a:r>
            <a:r>
              <a:rPr lang="ko-KR" altLang="en-US" sz="2000" dirty="0" err="1" smtClean="0"/>
              <a:t>드랍된다</a:t>
            </a:r>
            <a:r>
              <a:rPr lang="en-US" altLang="ko-KR" sz="2000" dirty="0" smtClean="0"/>
              <a:t>. </a:t>
            </a:r>
            <a:r>
              <a:rPr lang="ko-KR" altLang="en-US" sz="2000" dirty="0" smtClean="0"/>
              <a:t>이 때 서로 다른 종류가</a:t>
            </a:r>
            <a:r>
              <a:rPr lang="en-US" altLang="ko-KR" sz="2000" dirty="0" smtClean="0"/>
              <a:t/>
            </a:r>
            <a:br>
              <a:rPr lang="en-US" altLang="ko-KR" sz="2000" dirty="0" smtClean="0"/>
            </a:br>
            <a:r>
              <a:rPr lang="en-US" altLang="ko-KR" sz="2000" dirty="0" smtClean="0"/>
              <a:t>  </a:t>
            </a:r>
            <a:r>
              <a:rPr lang="ko-KR" altLang="en-US" sz="2000" dirty="0" smtClean="0"/>
              <a:t>중복으로 </a:t>
            </a:r>
            <a:r>
              <a:rPr lang="ko-KR" altLang="en-US" sz="2000" dirty="0" err="1" smtClean="0"/>
              <a:t>드랍될</a:t>
            </a:r>
            <a:r>
              <a:rPr lang="ko-KR" altLang="en-US" sz="2000" dirty="0" smtClean="0"/>
              <a:t> 수 있다</a:t>
            </a:r>
            <a:r>
              <a:rPr lang="en-US" altLang="ko-KR" sz="2000" dirty="0" smtClean="0"/>
              <a:t>.</a:t>
            </a:r>
          </a:p>
          <a:p>
            <a:pPr>
              <a:lnSpc>
                <a:spcPct val="150000"/>
              </a:lnSpc>
            </a:pPr>
            <a:endParaRPr lang="en-US" altLang="ko-KR" sz="2000" dirty="0" smtClean="0"/>
          </a:p>
          <a:p>
            <a:pPr>
              <a:lnSpc>
                <a:spcPct val="150000"/>
              </a:lnSpc>
            </a:pPr>
            <a:r>
              <a:rPr lang="en-US" altLang="ko-KR" sz="2000" dirty="0" smtClean="0"/>
              <a:t>-</a:t>
            </a:r>
            <a:r>
              <a:rPr lang="ko-KR" altLang="en-US" sz="2000" dirty="0" smtClean="0"/>
              <a:t>보상 </a:t>
            </a:r>
            <a:r>
              <a:rPr lang="ko-KR" altLang="en-US" sz="2000" dirty="0" err="1" smtClean="0"/>
              <a:t>드랍량</a:t>
            </a:r>
            <a:r>
              <a:rPr lang="ko-KR" altLang="en-US" sz="2000" dirty="0" smtClean="0"/>
              <a:t> 및 확률</a:t>
            </a:r>
            <a:r>
              <a:rPr lang="en-US" altLang="ko-KR" sz="2000" dirty="0" smtClean="0"/>
              <a:t> </a:t>
            </a:r>
            <a:r>
              <a:rPr lang="en-US" altLang="ko-KR" sz="2000" dirty="0"/>
              <a:t>:</a:t>
            </a:r>
            <a:br>
              <a:rPr lang="en-US" altLang="ko-KR" sz="2000" dirty="0"/>
            </a:br>
            <a:r>
              <a:rPr lang="en-US" altLang="ko-KR" sz="2000" dirty="0" smtClean="0"/>
              <a:t>1) </a:t>
            </a:r>
            <a:r>
              <a:rPr lang="ko-KR" altLang="en-US" sz="2000" dirty="0" smtClean="0"/>
              <a:t>골드</a:t>
            </a:r>
            <a:r>
              <a:rPr lang="en-US" altLang="ko-KR" sz="2000" dirty="0" smtClean="0"/>
              <a:t/>
            </a:r>
            <a:br>
              <a:rPr lang="en-US" altLang="ko-KR" sz="2000" dirty="0" smtClean="0"/>
            </a:br>
            <a:r>
              <a:rPr lang="ko-KR" altLang="en-US" sz="2000" dirty="0"/>
              <a:t>개</a:t>
            </a:r>
            <a:r>
              <a:rPr lang="ko-KR" altLang="en-US" sz="2000" dirty="0" smtClean="0"/>
              <a:t>수 </a:t>
            </a:r>
            <a:r>
              <a:rPr lang="en-US" altLang="ko-KR" sz="2000" dirty="0" smtClean="0"/>
              <a:t>: (100 + </a:t>
            </a:r>
            <a:r>
              <a:rPr lang="ko-KR" altLang="en-US" sz="2000" dirty="0" smtClean="0"/>
              <a:t>층수</a:t>
            </a:r>
            <a:r>
              <a:rPr lang="en-US" altLang="ko-KR" sz="2000" dirty="0" smtClean="0"/>
              <a:t>x50) ~ (200 + </a:t>
            </a:r>
            <a:r>
              <a:rPr lang="ko-KR" altLang="en-US" sz="2000" dirty="0" smtClean="0"/>
              <a:t>층수</a:t>
            </a:r>
            <a:r>
              <a:rPr lang="en-US" altLang="ko-KR" sz="2000" dirty="0" smtClean="0"/>
              <a:t>x100) </a:t>
            </a:r>
            <a:r>
              <a:rPr lang="ko-KR" altLang="en-US" sz="2000" dirty="0" smtClean="0"/>
              <a:t>사이의 무작위 액수</a:t>
            </a:r>
            <a:endParaRPr lang="en-US" altLang="ko-KR" sz="2000" dirty="0" smtClean="0"/>
          </a:p>
          <a:p>
            <a:pPr>
              <a:lnSpc>
                <a:spcPct val="150000"/>
              </a:lnSpc>
            </a:pPr>
            <a:r>
              <a:rPr lang="ko-KR" altLang="en-US" sz="2000" dirty="0" smtClean="0"/>
              <a:t>확률 </a:t>
            </a:r>
            <a:r>
              <a:rPr lang="en-US" altLang="ko-KR" sz="2000" dirty="0" smtClean="0"/>
              <a:t>: 100%</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Tree>
    <p:extLst>
      <p:ext uri="{BB962C8B-B14F-4D97-AF65-F5344CB8AC3E}">
        <p14:creationId xmlns:p14="http://schemas.microsoft.com/office/powerpoint/2010/main" val="12985918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36</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667459" cy="5170646"/>
          </a:xfrm>
          <a:prstGeom prst="rect">
            <a:avLst/>
          </a:prstGeom>
          <a:noFill/>
        </p:spPr>
        <p:txBody>
          <a:bodyPr wrap="square" rtlCol="0">
            <a:spAutoFit/>
          </a:bodyPr>
          <a:lstStyle/>
          <a:p>
            <a:pPr>
              <a:lnSpc>
                <a:spcPct val="150000"/>
              </a:lnSpc>
            </a:pPr>
            <a:r>
              <a:rPr lang="en-US" altLang="ko-KR" sz="2000" dirty="0" smtClean="0"/>
              <a:t>-</a:t>
            </a:r>
            <a:r>
              <a:rPr lang="ko-KR" altLang="en-US" sz="2000" dirty="0" smtClean="0"/>
              <a:t>보상 </a:t>
            </a:r>
            <a:r>
              <a:rPr lang="ko-KR" altLang="en-US" sz="2000" dirty="0" err="1" smtClean="0"/>
              <a:t>드랍량</a:t>
            </a:r>
            <a:r>
              <a:rPr lang="ko-KR" altLang="en-US" sz="2000" dirty="0" smtClean="0"/>
              <a:t> 및 확률</a:t>
            </a:r>
            <a:r>
              <a:rPr lang="en-US" altLang="ko-KR" sz="2000" dirty="0" smtClean="0"/>
              <a:t> </a:t>
            </a:r>
            <a:r>
              <a:rPr lang="en-US" altLang="ko-KR" sz="2000" dirty="0"/>
              <a:t>:</a:t>
            </a:r>
            <a:br>
              <a:rPr lang="en-US" altLang="ko-KR" sz="2000" dirty="0"/>
            </a:br>
            <a:r>
              <a:rPr lang="en-US" altLang="ko-KR" sz="2000" dirty="0" smtClean="0"/>
              <a:t>2) </a:t>
            </a:r>
            <a:r>
              <a:rPr lang="ko-KR" altLang="en-US" sz="2000" dirty="0" smtClean="0"/>
              <a:t>아이템</a:t>
            </a:r>
            <a:r>
              <a:rPr lang="en-US" altLang="ko-KR" sz="2000" dirty="0" smtClean="0"/>
              <a:t/>
            </a:r>
            <a:br>
              <a:rPr lang="en-US" altLang="ko-KR" sz="2000" dirty="0" smtClean="0"/>
            </a:br>
            <a:r>
              <a:rPr lang="ko-KR" altLang="en-US" sz="2000" dirty="0" smtClean="0"/>
              <a:t>종류 </a:t>
            </a:r>
            <a:r>
              <a:rPr lang="en-US" altLang="ko-KR" sz="2000" dirty="0" smtClean="0"/>
              <a:t>: </a:t>
            </a:r>
            <a:r>
              <a:rPr lang="ko-KR" altLang="en-US" sz="2000" dirty="0" smtClean="0"/>
              <a:t>해당 계층에서 출현하는 아이템</a:t>
            </a:r>
            <a:endParaRPr lang="en-US" altLang="ko-KR" sz="2000" dirty="0" smtClean="0"/>
          </a:p>
          <a:p>
            <a:pPr>
              <a:lnSpc>
                <a:spcPct val="150000"/>
              </a:lnSpc>
            </a:pPr>
            <a:r>
              <a:rPr lang="ko-KR" altLang="en-US" sz="2000" dirty="0" smtClean="0"/>
              <a:t>등급 </a:t>
            </a:r>
            <a:r>
              <a:rPr lang="en-US" altLang="ko-KR" sz="2000" dirty="0" smtClean="0"/>
              <a:t>: </a:t>
            </a:r>
            <a:r>
              <a:rPr lang="ko-KR" altLang="en-US" sz="2000" dirty="0" smtClean="0"/>
              <a:t>특별</a:t>
            </a:r>
            <a:r>
              <a:rPr lang="en-US" altLang="ko-KR" sz="2000" dirty="0" smtClean="0"/>
              <a:t>(15%) / </a:t>
            </a:r>
            <a:r>
              <a:rPr lang="ko-KR" altLang="en-US" sz="2000" dirty="0" smtClean="0"/>
              <a:t>희귀</a:t>
            </a:r>
            <a:r>
              <a:rPr lang="en-US" altLang="ko-KR" sz="2000" dirty="0" smtClean="0"/>
              <a:t>(35%) / </a:t>
            </a:r>
            <a:r>
              <a:rPr lang="ko-KR" altLang="en-US" sz="2000" dirty="0" smtClean="0"/>
              <a:t>평범</a:t>
            </a:r>
            <a:r>
              <a:rPr lang="en-US" altLang="ko-KR" sz="2000" dirty="0" smtClean="0"/>
              <a:t>(50%)</a:t>
            </a:r>
          </a:p>
          <a:p>
            <a:pPr>
              <a:lnSpc>
                <a:spcPct val="150000"/>
              </a:lnSpc>
            </a:pPr>
            <a:r>
              <a:rPr lang="ko-KR" altLang="en-US" sz="2000" dirty="0" smtClean="0"/>
              <a:t>개수 </a:t>
            </a:r>
            <a:r>
              <a:rPr lang="en-US" altLang="ko-KR" sz="2000" dirty="0" smtClean="0"/>
              <a:t>: 1</a:t>
            </a:r>
            <a:r>
              <a:rPr lang="ko-KR" altLang="en-US" sz="2000" dirty="0" smtClean="0"/>
              <a:t>개</a:t>
            </a:r>
            <a:r>
              <a:rPr lang="en-US" altLang="ko-KR" sz="2000" dirty="0" smtClean="0"/>
              <a:t>(75%) /</a:t>
            </a:r>
            <a:r>
              <a:rPr lang="ko-KR" altLang="en-US" sz="2000" dirty="0" smtClean="0"/>
              <a:t> </a:t>
            </a:r>
            <a:r>
              <a:rPr lang="en-US" altLang="ko-KR" sz="2000" dirty="0" smtClean="0"/>
              <a:t>2</a:t>
            </a:r>
            <a:r>
              <a:rPr lang="ko-KR" altLang="en-US" sz="2000" dirty="0" smtClean="0"/>
              <a:t>개</a:t>
            </a:r>
            <a:r>
              <a:rPr lang="en-US" altLang="ko-KR" sz="2000" dirty="0" smtClean="0"/>
              <a:t>(25%)</a:t>
            </a:r>
          </a:p>
          <a:p>
            <a:pPr>
              <a:lnSpc>
                <a:spcPct val="150000"/>
              </a:lnSpc>
            </a:pPr>
            <a:r>
              <a:rPr lang="ko-KR" altLang="en-US" sz="2000" dirty="0" smtClean="0"/>
              <a:t>확률 </a:t>
            </a:r>
            <a:r>
              <a:rPr lang="en-US" altLang="ko-KR" sz="2000" dirty="0" smtClean="0"/>
              <a:t>: 33%</a:t>
            </a:r>
          </a:p>
          <a:p>
            <a:pPr>
              <a:lnSpc>
                <a:spcPct val="150000"/>
              </a:lnSpc>
            </a:pPr>
            <a:endParaRPr lang="en-US" altLang="ko-KR" sz="2000" dirty="0"/>
          </a:p>
          <a:p>
            <a:pPr>
              <a:lnSpc>
                <a:spcPct val="150000"/>
              </a:lnSpc>
            </a:pPr>
            <a:r>
              <a:rPr lang="en-US" altLang="ko-KR" sz="2000" dirty="0" smtClean="0"/>
              <a:t>3) </a:t>
            </a:r>
            <a:r>
              <a:rPr lang="ko-KR" altLang="en-US" sz="2000" dirty="0" err="1" smtClean="0"/>
              <a:t>아티팩트</a:t>
            </a:r>
            <a:endParaRPr lang="en-US" altLang="ko-KR" sz="2000" dirty="0" smtClean="0"/>
          </a:p>
          <a:p>
            <a:pPr>
              <a:lnSpc>
                <a:spcPct val="150000"/>
              </a:lnSpc>
            </a:pPr>
            <a:r>
              <a:rPr lang="ko-KR" altLang="en-US" sz="2000" dirty="0" smtClean="0"/>
              <a:t>종류 </a:t>
            </a:r>
            <a:r>
              <a:rPr lang="en-US" altLang="ko-KR" sz="2000" dirty="0" smtClean="0"/>
              <a:t>: </a:t>
            </a:r>
            <a:r>
              <a:rPr lang="ko-KR" altLang="en-US" sz="2000" dirty="0" smtClean="0"/>
              <a:t>모든 </a:t>
            </a:r>
            <a:r>
              <a:rPr lang="ko-KR" altLang="en-US" sz="2000" dirty="0" err="1" smtClean="0"/>
              <a:t>아티팩트</a:t>
            </a:r>
            <a:r>
              <a:rPr lang="ko-KR" altLang="en-US" sz="2000" dirty="0" smtClean="0"/>
              <a:t> 중 무작위</a:t>
            </a:r>
            <a:endParaRPr lang="en-US" altLang="ko-KR" sz="2000" dirty="0" smtClean="0"/>
          </a:p>
          <a:p>
            <a:pPr>
              <a:lnSpc>
                <a:spcPct val="150000"/>
              </a:lnSpc>
            </a:pPr>
            <a:r>
              <a:rPr lang="ko-KR" altLang="en-US" sz="2000" dirty="0" smtClean="0"/>
              <a:t>개수 </a:t>
            </a:r>
            <a:r>
              <a:rPr lang="en-US" altLang="ko-KR" sz="2000" dirty="0" smtClean="0"/>
              <a:t>: 1</a:t>
            </a:r>
            <a:r>
              <a:rPr lang="ko-KR" altLang="en-US" sz="2000" dirty="0" smtClean="0"/>
              <a:t>개</a:t>
            </a:r>
            <a:endParaRPr lang="en-US" altLang="ko-KR" sz="2000" dirty="0"/>
          </a:p>
          <a:p>
            <a:pPr>
              <a:lnSpc>
                <a:spcPct val="150000"/>
              </a:lnSpc>
            </a:pPr>
            <a:r>
              <a:rPr lang="ko-KR" altLang="en-US" sz="2000" dirty="0" smtClean="0"/>
              <a:t>확률 </a:t>
            </a:r>
            <a:r>
              <a:rPr lang="en-US" altLang="ko-KR" sz="2000" dirty="0" smtClean="0"/>
              <a:t>: 5%</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Tree>
    <p:extLst>
      <p:ext uri="{BB962C8B-B14F-4D97-AF65-F5344CB8AC3E}">
        <p14:creationId xmlns:p14="http://schemas.microsoft.com/office/powerpoint/2010/main" val="287995075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37</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4" y="1301074"/>
            <a:ext cx="7384456" cy="4247317"/>
          </a:xfrm>
          <a:prstGeom prst="rect">
            <a:avLst/>
          </a:prstGeom>
          <a:noFill/>
        </p:spPr>
        <p:txBody>
          <a:bodyPr wrap="square" rtlCol="0">
            <a:spAutoFit/>
          </a:bodyPr>
          <a:lstStyle/>
          <a:p>
            <a:pPr>
              <a:lnSpc>
                <a:spcPct val="150000"/>
              </a:lnSpc>
            </a:pPr>
            <a:r>
              <a:rPr lang="en-US" altLang="ko-KR" sz="2000" dirty="0" smtClean="0"/>
              <a:t>• </a:t>
            </a:r>
            <a:r>
              <a:rPr lang="ko-KR" altLang="en-US" sz="2000" dirty="0" err="1" smtClean="0"/>
              <a:t>비전</a:t>
            </a:r>
            <a:r>
              <a:rPr lang="ko-KR" altLang="en-US" sz="2000" dirty="0" err="1" smtClean="0"/>
              <a:t>투</a:t>
            </a:r>
            <a:r>
              <a:rPr lang="ko-KR" altLang="en-US" sz="2000" dirty="0" smtClean="0"/>
              <a:t> </a:t>
            </a:r>
            <a:r>
              <a:rPr lang="ko-KR" altLang="en-US" sz="2000" dirty="0" smtClean="0"/>
              <a:t>이벤트 </a:t>
            </a:r>
            <a:r>
              <a:rPr lang="en-US" altLang="ko-KR" sz="2000" dirty="0" smtClean="0"/>
              <a:t>:</a:t>
            </a:r>
          </a:p>
          <a:p>
            <a:pPr>
              <a:lnSpc>
                <a:spcPct val="150000"/>
              </a:lnSpc>
            </a:pPr>
            <a:r>
              <a:rPr lang="en-US" altLang="ko-KR" sz="2000" dirty="0" smtClean="0"/>
              <a:t>1) </a:t>
            </a:r>
            <a:r>
              <a:rPr lang="ko-KR" altLang="en-US" sz="2000" dirty="0" smtClean="0"/>
              <a:t>상인과 보물 상자 두 종류로 구분된다</a:t>
            </a:r>
            <a:r>
              <a:rPr lang="en-US" altLang="ko-KR" sz="2000" dirty="0" smtClean="0"/>
              <a:t>. </a:t>
            </a:r>
            <a:r>
              <a:rPr lang="ko-KR" altLang="en-US" sz="2000" dirty="0" smtClean="0"/>
              <a:t>전투가 발생하지 않고</a:t>
            </a:r>
            <a:r>
              <a:rPr lang="en-US" altLang="ko-KR" sz="2000" dirty="0" smtClean="0"/>
              <a:t>,</a:t>
            </a:r>
            <a:br>
              <a:rPr lang="en-US" altLang="ko-KR" sz="2000" dirty="0" smtClean="0"/>
            </a:br>
            <a:r>
              <a:rPr lang="en-US" altLang="ko-KR" sz="2000" dirty="0" smtClean="0"/>
              <a:t>  </a:t>
            </a:r>
            <a:r>
              <a:rPr lang="ko-KR" altLang="en-US" sz="2000" dirty="0" smtClean="0"/>
              <a:t>탐색 후 다른 </a:t>
            </a:r>
            <a:r>
              <a:rPr lang="ko-KR" altLang="en-US" sz="2000" dirty="0" err="1" smtClean="0"/>
              <a:t>에어리어를</a:t>
            </a:r>
            <a:r>
              <a:rPr lang="ko-KR" altLang="en-US" sz="2000" dirty="0" smtClean="0"/>
              <a:t> 탐험했다가 다시 돌아와도 목록</a:t>
            </a:r>
            <a:r>
              <a:rPr lang="en-US" altLang="ko-KR" sz="2000" dirty="0" smtClean="0"/>
              <a:t>, </a:t>
            </a:r>
            <a:br>
              <a:rPr lang="en-US" altLang="ko-KR" sz="2000" dirty="0" smtClean="0"/>
            </a:br>
            <a:r>
              <a:rPr lang="en-US" altLang="ko-KR" sz="2000" dirty="0" smtClean="0"/>
              <a:t>  </a:t>
            </a:r>
            <a:r>
              <a:rPr lang="ko-KR" altLang="en-US" sz="2000" dirty="0" smtClean="0"/>
              <a:t>구매 데이터가</a:t>
            </a:r>
            <a:r>
              <a:rPr lang="en-US" altLang="ko-KR" sz="2000" dirty="0" smtClean="0"/>
              <a:t> </a:t>
            </a:r>
            <a:r>
              <a:rPr lang="ko-KR" altLang="en-US" sz="2000" dirty="0" smtClean="0"/>
              <a:t>유지된다</a:t>
            </a:r>
            <a:r>
              <a:rPr lang="en-US" altLang="ko-KR" sz="2000" dirty="0" smtClean="0"/>
              <a:t>.</a:t>
            </a:r>
            <a:endParaRPr lang="en-US" altLang="ko-KR" sz="2000" dirty="0" smtClean="0"/>
          </a:p>
          <a:p>
            <a:pPr>
              <a:lnSpc>
                <a:spcPct val="150000"/>
              </a:lnSpc>
            </a:pPr>
            <a:endParaRPr lang="en-US" altLang="ko-KR" sz="2000" dirty="0"/>
          </a:p>
          <a:p>
            <a:pPr>
              <a:lnSpc>
                <a:spcPct val="150000"/>
              </a:lnSpc>
            </a:pPr>
            <a:r>
              <a:rPr lang="en-US" altLang="ko-KR" sz="2000" dirty="0" smtClean="0"/>
              <a:t>2) </a:t>
            </a:r>
            <a:r>
              <a:rPr lang="ko-KR" altLang="en-US" sz="2000" dirty="0" smtClean="0"/>
              <a:t>상인은 아이템과 </a:t>
            </a:r>
            <a:r>
              <a:rPr lang="ko-KR" altLang="en-US" sz="2000" dirty="0" err="1" smtClean="0"/>
              <a:t>아티팩트를</a:t>
            </a:r>
            <a:r>
              <a:rPr lang="ko-KR" altLang="en-US" sz="2000" dirty="0" smtClean="0"/>
              <a:t> 판매한다</a:t>
            </a:r>
            <a:r>
              <a:rPr lang="en-US" altLang="ko-KR" sz="2000" dirty="0" smtClean="0"/>
              <a:t>. </a:t>
            </a:r>
            <a:r>
              <a:rPr lang="ko-KR" altLang="en-US" sz="2000" dirty="0" smtClean="0"/>
              <a:t>아이템의 경우</a:t>
            </a:r>
            <a:r>
              <a:rPr lang="en-US" altLang="ko-KR" sz="2000" dirty="0" smtClean="0"/>
              <a:t>,</a:t>
            </a:r>
            <a:r>
              <a:rPr lang="ko-KR" altLang="en-US" sz="2000" dirty="0" smtClean="0"/>
              <a:t> </a:t>
            </a:r>
            <a:r>
              <a:rPr lang="en-US" altLang="ko-KR" sz="2000" dirty="0" smtClean="0"/>
              <a:t/>
            </a:r>
            <a:br>
              <a:rPr lang="en-US" altLang="ko-KR" sz="2000" dirty="0" smtClean="0"/>
            </a:br>
            <a:r>
              <a:rPr lang="en-US" altLang="ko-KR" sz="2000" dirty="0" smtClean="0"/>
              <a:t>  </a:t>
            </a:r>
            <a:r>
              <a:rPr lang="ko-KR" altLang="en-US" sz="2000" dirty="0" smtClean="0"/>
              <a:t>각 </a:t>
            </a:r>
            <a:r>
              <a:rPr lang="ko-KR" altLang="en-US" sz="2000" dirty="0"/>
              <a:t>계층에 </a:t>
            </a:r>
            <a:r>
              <a:rPr lang="ko-KR" altLang="en-US" sz="2000" dirty="0" smtClean="0"/>
              <a:t>등장하는 아이템의 범위 중에서 선택되어 </a:t>
            </a:r>
            <a:r>
              <a:rPr lang="ko-KR" altLang="en-US" sz="2000" dirty="0"/>
              <a:t>결정된다</a:t>
            </a:r>
            <a:r>
              <a:rPr lang="en-US" altLang="ko-KR" sz="2000" dirty="0" smtClean="0"/>
              <a:t>. </a:t>
            </a:r>
            <a:endParaRPr lang="en-US" altLang="ko-KR" sz="2000" dirty="0" smtClean="0"/>
          </a:p>
          <a:p>
            <a:pPr>
              <a:lnSpc>
                <a:spcPct val="150000"/>
              </a:lnSpc>
            </a:pPr>
            <a:r>
              <a:rPr lang="en-US" altLang="ko-KR" sz="2000" dirty="0"/>
              <a:t> </a:t>
            </a:r>
            <a:r>
              <a:rPr lang="en-US" altLang="ko-KR" sz="2000" dirty="0" smtClean="0"/>
              <a:t> </a:t>
            </a:r>
            <a:r>
              <a:rPr lang="ko-KR" altLang="en-US" sz="2000" dirty="0" smtClean="0"/>
              <a:t>더 </a:t>
            </a:r>
            <a:r>
              <a:rPr lang="ko-KR" altLang="en-US" sz="2000" dirty="0" smtClean="0"/>
              <a:t>깊은 </a:t>
            </a:r>
            <a:r>
              <a:rPr lang="ko-KR" altLang="en-US" sz="2000" dirty="0" smtClean="0"/>
              <a:t>계층일수록</a:t>
            </a:r>
            <a:r>
              <a:rPr lang="en-US" altLang="ko-KR" sz="2000" dirty="0" smtClean="0"/>
              <a:t> </a:t>
            </a:r>
            <a:r>
              <a:rPr lang="ko-KR" altLang="en-US" sz="2000" dirty="0" smtClean="0"/>
              <a:t>더 높은 등급과 </a:t>
            </a:r>
            <a:r>
              <a:rPr lang="ko-KR" altLang="en-US" sz="2000" dirty="0" smtClean="0"/>
              <a:t>효능을 지닌 아이템이</a:t>
            </a:r>
            <a:r>
              <a:rPr lang="en-US" altLang="ko-KR" sz="2000" dirty="0" smtClean="0"/>
              <a:t/>
            </a:r>
            <a:br>
              <a:rPr lang="en-US" altLang="ko-KR" sz="2000" dirty="0" smtClean="0"/>
            </a:br>
            <a:r>
              <a:rPr lang="en-US" altLang="ko-KR" sz="2000" dirty="0" smtClean="0"/>
              <a:t> </a:t>
            </a:r>
            <a:r>
              <a:rPr lang="ko-KR" altLang="en-US" sz="2000" dirty="0" smtClean="0"/>
              <a:t> 판매된다</a:t>
            </a:r>
            <a:r>
              <a:rPr lang="en-US" altLang="ko-KR" sz="2000" dirty="0" smtClean="0"/>
              <a:t>.</a:t>
            </a:r>
            <a:endParaRPr lang="en-US" altLang="ko-KR" sz="20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Tree>
    <p:extLst>
      <p:ext uri="{BB962C8B-B14F-4D97-AF65-F5344CB8AC3E}">
        <p14:creationId xmlns:p14="http://schemas.microsoft.com/office/powerpoint/2010/main" val="212269031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38</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667459" cy="5170646"/>
          </a:xfrm>
          <a:prstGeom prst="rect">
            <a:avLst/>
          </a:prstGeom>
          <a:noFill/>
        </p:spPr>
        <p:txBody>
          <a:bodyPr wrap="square" rtlCol="0">
            <a:spAutoFit/>
          </a:bodyPr>
          <a:lstStyle/>
          <a:p>
            <a:pPr>
              <a:lnSpc>
                <a:spcPct val="150000"/>
              </a:lnSpc>
            </a:pPr>
            <a:r>
              <a:rPr lang="en-US" altLang="ko-KR" sz="2000" dirty="0" smtClean="0"/>
              <a:t>-</a:t>
            </a:r>
            <a:r>
              <a:rPr lang="ko-KR" altLang="en-US" sz="2000" dirty="0" smtClean="0"/>
              <a:t>판매 아이템 </a:t>
            </a:r>
            <a:r>
              <a:rPr lang="en-US" altLang="ko-KR" sz="2000" dirty="0" smtClean="0"/>
              <a:t>:</a:t>
            </a:r>
          </a:p>
          <a:p>
            <a:pPr marL="457200" indent="-457200">
              <a:lnSpc>
                <a:spcPct val="150000"/>
              </a:lnSpc>
              <a:buAutoNum type="arabicParenR"/>
            </a:pPr>
            <a:r>
              <a:rPr lang="ko-KR" altLang="en-US" sz="2000" dirty="0" smtClean="0"/>
              <a:t>종류 </a:t>
            </a:r>
            <a:r>
              <a:rPr lang="en-US" altLang="ko-KR" sz="2000" dirty="0" smtClean="0"/>
              <a:t>: </a:t>
            </a:r>
            <a:r>
              <a:rPr lang="ko-KR" altLang="en-US" sz="2000" dirty="0" smtClean="0"/>
              <a:t>현재 계층에서 등장하는 아이템</a:t>
            </a:r>
            <a:r>
              <a:rPr lang="en-US" altLang="ko-KR" sz="2000" dirty="0" smtClean="0"/>
              <a:t>(92%)</a:t>
            </a:r>
            <a:r>
              <a:rPr lang="ko-KR" altLang="en-US" sz="2000" dirty="0" smtClean="0"/>
              <a:t> </a:t>
            </a:r>
            <a:r>
              <a:rPr lang="en-US" altLang="ko-KR" sz="2000" dirty="0" smtClean="0"/>
              <a:t>/ </a:t>
            </a:r>
            <a:r>
              <a:rPr lang="ko-KR" altLang="en-US" sz="2000" dirty="0" err="1" smtClean="0"/>
              <a:t>아티팩트</a:t>
            </a:r>
            <a:r>
              <a:rPr lang="en-US" altLang="ko-KR" sz="2000" dirty="0" smtClean="0"/>
              <a:t>(8%)</a:t>
            </a:r>
          </a:p>
          <a:p>
            <a:pPr marL="457200" indent="-457200">
              <a:lnSpc>
                <a:spcPct val="150000"/>
              </a:lnSpc>
              <a:buAutoNum type="arabicParenR"/>
            </a:pPr>
            <a:r>
              <a:rPr lang="ko-KR" altLang="en-US" sz="2000" dirty="0" smtClean="0"/>
              <a:t>가격 </a:t>
            </a:r>
            <a:r>
              <a:rPr lang="en-US" altLang="ko-KR" sz="2000" dirty="0" smtClean="0"/>
              <a:t>: </a:t>
            </a:r>
            <a:r>
              <a:rPr lang="ko-KR" altLang="en-US" sz="2000" dirty="0" smtClean="0"/>
              <a:t>고유의 판매가</a:t>
            </a:r>
            <a:endParaRPr lang="en-US" altLang="ko-KR" sz="2000" dirty="0" smtClean="0"/>
          </a:p>
          <a:p>
            <a:pPr marL="457200" indent="-457200">
              <a:lnSpc>
                <a:spcPct val="150000"/>
              </a:lnSpc>
              <a:buAutoNum type="arabicParenR"/>
            </a:pPr>
            <a:r>
              <a:rPr lang="ko-KR" altLang="en-US" sz="2000" dirty="0" smtClean="0"/>
              <a:t>개수 </a:t>
            </a:r>
            <a:r>
              <a:rPr lang="en-US" altLang="ko-KR" sz="2000" dirty="0" smtClean="0"/>
              <a:t>: 4</a:t>
            </a:r>
            <a:r>
              <a:rPr lang="ko-KR" altLang="en-US" sz="2000" dirty="0" smtClean="0"/>
              <a:t>개</a:t>
            </a:r>
            <a:r>
              <a:rPr lang="en-US" altLang="ko-KR" sz="2000" dirty="0" smtClean="0"/>
              <a:t>(80%) ~ 5</a:t>
            </a:r>
            <a:r>
              <a:rPr lang="ko-KR" altLang="en-US" sz="2000" dirty="0" smtClean="0"/>
              <a:t>개</a:t>
            </a:r>
            <a:r>
              <a:rPr lang="en-US" altLang="ko-KR" sz="2000" dirty="0"/>
              <a:t>(20</a:t>
            </a:r>
            <a:r>
              <a:rPr lang="en-US" altLang="ko-KR" sz="2000" dirty="0" smtClean="0"/>
              <a:t>%) (</a:t>
            </a:r>
            <a:r>
              <a:rPr lang="ko-KR" altLang="en-US" sz="2000" dirty="0" smtClean="0"/>
              <a:t>단</a:t>
            </a:r>
            <a:r>
              <a:rPr lang="en-US" altLang="ko-KR" sz="2000" dirty="0" smtClean="0"/>
              <a:t>, </a:t>
            </a:r>
            <a:r>
              <a:rPr lang="ko-KR" altLang="en-US" sz="2000" dirty="0" err="1" smtClean="0"/>
              <a:t>아티팩트는</a:t>
            </a:r>
            <a:r>
              <a:rPr lang="ko-KR" altLang="en-US" sz="2000" dirty="0" smtClean="0"/>
              <a:t> 최대 </a:t>
            </a:r>
            <a:r>
              <a:rPr lang="en-US" altLang="ko-KR" sz="2000" dirty="0" smtClean="0"/>
              <a:t>1</a:t>
            </a:r>
            <a:r>
              <a:rPr lang="ko-KR" altLang="en-US" sz="2000" dirty="0" smtClean="0"/>
              <a:t>개</a:t>
            </a:r>
            <a:r>
              <a:rPr lang="en-US" altLang="ko-KR" sz="2000" dirty="0" smtClean="0"/>
              <a:t>)</a:t>
            </a:r>
          </a:p>
          <a:p>
            <a:pPr marL="457200" indent="-457200">
              <a:lnSpc>
                <a:spcPct val="150000"/>
              </a:lnSpc>
              <a:buFontTx/>
              <a:buAutoNum type="arabicParenR"/>
            </a:pPr>
            <a:r>
              <a:rPr lang="ko-KR" altLang="en-US" sz="2000" dirty="0" smtClean="0"/>
              <a:t>아이템 등급 </a:t>
            </a:r>
            <a:r>
              <a:rPr lang="en-US" altLang="ko-KR" sz="2000" dirty="0" smtClean="0"/>
              <a:t>: </a:t>
            </a:r>
            <a:r>
              <a:rPr lang="ko-KR" altLang="en-US" sz="2000" dirty="0"/>
              <a:t>특별</a:t>
            </a:r>
            <a:r>
              <a:rPr lang="en-US" altLang="ko-KR" sz="2000" dirty="0" smtClean="0"/>
              <a:t>(20%) </a:t>
            </a:r>
            <a:r>
              <a:rPr lang="en-US" altLang="ko-KR" sz="2000" dirty="0"/>
              <a:t>/ </a:t>
            </a:r>
            <a:r>
              <a:rPr lang="ko-KR" altLang="en-US" sz="2000" dirty="0"/>
              <a:t>희귀</a:t>
            </a:r>
            <a:r>
              <a:rPr lang="en-US" altLang="ko-KR" sz="2000" dirty="0" smtClean="0"/>
              <a:t>(40%) </a:t>
            </a:r>
            <a:r>
              <a:rPr lang="en-US" altLang="ko-KR" sz="2000" dirty="0"/>
              <a:t>/ </a:t>
            </a:r>
            <a:r>
              <a:rPr lang="ko-KR" altLang="en-US" sz="2000" dirty="0"/>
              <a:t>평범</a:t>
            </a:r>
            <a:r>
              <a:rPr lang="en-US" altLang="ko-KR" sz="2000" dirty="0" smtClean="0"/>
              <a:t>(40%)</a:t>
            </a:r>
          </a:p>
          <a:p>
            <a:pPr marL="457200" indent="-457200">
              <a:lnSpc>
                <a:spcPct val="150000"/>
              </a:lnSpc>
              <a:buFontTx/>
              <a:buAutoNum type="arabicParenR"/>
            </a:pPr>
            <a:endParaRPr lang="en-US" altLang="ko-KR" sz="2000" dirty="0"/>
          </a:p>
          <a:p>
            <a:pPr>
              <a:lnSpc>
                <a:spcPct val="150000"/>
              </a:lnSpc>
            </a:pPr>
            <a:r>
              <a:rPr lang="en-US" altLang="ko-KR" sz="2000" dirty="0" smtClean="0"/>
              <a:t>-</a:t>
            </a:r>
            <a:r>
              <a:rPr lang="ko-KR" altLang="en-US" sz="2000" dirty="0" smtClean="0"/>
              <a:t>보물 상자 </a:t>
            </a:r>
            <a:r>
              <a:rPr lang="en-US" altLang="ko-KR" sz="2000" dirty="0"/>
              <a:t>:</a:t>
            </a:r>
          </a:p>
          <a:p>
            <a:pPr marL="457200" indent="-457200">
              <a:lnSpc>
                <a:spcPct val="150000"/>
              </a:lnSpc>
              <a:buAutoNum type="arabicParenR"/>
            </a:pPr>
            <a:r>
              <a:rPr lang="ko-KR" altLang="en-US" sz="2000" dirty="0"/>
              <a:t>종류 </a:t>
            </a:r>
            <a:r>
              <a:rPr lang="en-US" altLang="ko-KR" sz="2000" dirty="0"/>
              <a:t>: </a:t>
            </a:r>
            <a:r>
              <a:rPr lang="ko-KR" altLang="en-US" sz="2000" dirty="0"/>
              <a:t>현재 계층에서 등장하는 </a:t>
            </a:r>
            <a:r>
              <a:rPr lang="ko-KR" altLang="en-US" sz="2000" dirty="0" smtClean="0"/>
              <a:t>희귀 이상 아이템</a:t>
            </a:r>
            <a:r>
              <a:rPr lang="en-US" altLang="ko-KR" sz="2000" dirty="0" smtClean="0"/>
              <a:t>(80%)</a:t>
            </a:r>
            <a:r>
              <a:rPr lang="ko-KR" altLang="en-US" sz="2000" dirty="0" smtClean="0"/>
              <a:t> </a:t>
            </a:r>
            <a:r>
              <a:rPr lang="en-US" altLang="ko-KR" sz="2000" dirty="0"/>
              <a:t>/ </a:t>
            </a:r>
            <a:r>
              <a:rPr lang="en-US" altLang="ko-KR" sz="2000" dirty="0" smtClean="0"/>
              <a:t/>
            </a:r>
            <a:br>
              <a:rPr lang="en-US" altLang="ko-KR" sz="2000" dirty="0" smtClean="0"/>
            </a:br>
            <a:r>
              <a:rPr lang="en-US" altLang="ko-KR" sz="2000" dirty="0" smtClean="0"/>
              <a:t>        </a:t>
            </a:r>
            <a:r>
              <a:rPr lang="ko-KR" altLang="en-US" sz="2000" dirty="0" err="1" smtClean="0"/>
              <a:t>아티팩트</a:t>
            </a:r>
            <a:r>
              <a:rPr lang="en-US" altLang="ko-KR" sz="2000" dirty="0" smtClean="0"/>
              <a:t>(20%)</a:t>
            </a:r>
            <a:endParaRPr lang="en-US" altLang="ko-KR" sz="2000" dirty="0"/>
          </a:p>
          <a:p>
            <a:pPr marL="457200" indent="-457200">
              <a:lnSpc>
                <a:spcPct val="150000"/>
              </a:lnSpc>
              <a:buAutoNum type="arabicParenR"/>
            </a:pPr>
            <a:r>
              <a:rPr lang="ko-KR" altLang="en-US" sz="2000" dirty="0" smtClean="0"/>
              <a:t>개수 </a:t>
            </a:r>
            <a:r>
              <a:rPr lang="en-US" altLang="ko-KR" sz="2000" dirty="0"/>
              <a:t>: 1</a:t>
            </a:r>
            <a:r>
              <a:rPr lang="ko-KR" altLang="en-US" sz="2000" dirty="0" smtClean="0"/>
              <a:t>개</a:t>
            </a:r>
            <a:r>
              <a:rPr lang="en-US" altLang="ko-KR" sz="2000" dirty="0" smtClean="0"/>
              <a:t> </a:t>
            </a:r>
            <a:r>
              <a:rPr lang="en-US" altLang="ko-KR" sz="2000" dirty="0"/>
              <a:t>~ </a:t>
            </a:r>
            <a:r>
              <a:rPr lang="en-US" altLang="ko-KR" sz="2000" dirty="0" smtClean="0"/>
              <a:t>3</a:t>
            </a:r>
            <a:r>
              <a:rPr lang="ko-KR" altLang="en-US" sz="2000" dirty="0" smtClean="0"/>
              <a:t>개</a:t>
            </a:r>
            <a:r>
              <a:rPr lang="en-US" altLang="ko-KR" sz="2000" dirty="0" smtClean="0"/>
              <a:t> </a:t>
            </a:r>
            <a:r>
              <a:rPr lang="en-US" altLang="ko-KR" sz="2000" dirty="0"/>
              <a:t>(</a:t>
            </a:r>
            <a:r>
              <a:rPr lang="ko-KR" altLang="en-US" sz="2000" dirty="0"/>
              <a:t>단</a:t>
            </a:r>
            <a:r>
              <a:rPr lang="en-US" altLang="ko-KR" sz="2000" dirty="0"/>
              <a:t>, </a:t>
            </a:r>
            <a:r>
              <a:rPr lang="ko-KR" altLang="en-US" sz="2000" dirty="0" err="1"/>
              <a:t>아티팩트는</a:t>
            </a:r>
            <a:r>
              <a:rPr lang="ko-KR" altLang="en-US" sz="2000" dirty="0"/>
              <a:t> 최대 </a:t>
            </a:r>
            <a:r>
              <a:rPr lang="en-US" altLang="ko-KR" sz="2000" dirty="0"/>
              <a:t>1</a:t>
            </a:r>
            <a:r>
              <a:rPr lang="ko-KR" altLang="en-US" sz="2000" dirty="0"/>
              <a:t>개</a:t>
            </a:r>
            <a:r>
              <a:rPr lang="en-US" altLang="ko-KR" sz="2000" dirty="0"/>
              <a:t>)</a:t>
            </a:r>
          </a:p>
          <a:p>
            <a:pPr marL="457200" indent="-457200">
              <a:lnSpc>
                <a:spcPct val="150000"/>
              </a:lnSpc>
              <a:buFontTx/>
              <a:buAutoNum type="arabicParenR"/>
            </a:pPr>
            <a:r>
              <a:rPr lang="ko-KR" altLang="en-US" sz="2000" dirty="0"/>
              <a:t>아이템 등급 </a:t>
            </a:r>
            <a:r>
              <a:rPr lang="en-US" altLang="ko-KR" sz="2000" dirty="0"/>
              <a:t>: </a:t>
            </a:r>
            <a:r>
              <a:rPr lang="ko-KR" altLang="en-US" sz="2000" dirty="0"/>
              <a:t>특별</a:t>
            </a:r>
            <a:r>
              <a:rPr lang="en-US" altLang="ko-KR" sz="2000" dirty="0" smtClean="0"/>
              <a:t>(25%) </a:t>
            </a:r>
            <a:r>
              <a:rPr lang="en-US" altLang="ko-KR" sz="2000" dirty="0"/>
              <a:t>/ </a:t>
            </a:r>
            <a:r>
              <a:rPr lang="ko-KR" altLang="en-US" sz="2000" dirty="0"/>
              <a:t>희귀</a:t>
            </a:r>
            <a:r>
              <a:rPr lang="en-US" altLang="ko-KR" sz="2000" dirty="0" smtClean="0"/>
              <a:t>(75%)</a:t>
            </a:r>
            <a:endParaRPr lang="en-US" altLang="ko-KR" sz="20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Tree>
    <p:extLst>
      <p:ext uri="{BB962C8B-B14F-4D97-AF65-F5344CB8AC3E}">
        <p14:creationId xmlns:p14="http://schemas.microsoft.com/office/powerpoint/2010/main" val="31206246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39</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327738" y="1524889"/>
            <a:ext cx="7585965" cy="3323987"/>
          </a:xfrm>
          <a:prstGeom prst="rect">
            <a:avLst/>
          </a:prstGeom>
          <a:noFill/>
        </p:spPr>
        <p:txBody>
          <a:bodyPr wrap="square" rtlCol="0">
            <a:spAutoFit/>
          </a:bodyPr>
          <a:lstStyle/>
          <a:p>
            <a:pPr>
              <a:lnSpc>
                <a:spcPct val="150000"/>
              </a:lnSpc>
            </a:pPr>
            <a:r>
              <a:rPr lang="en-US" altLang="ko-KR" sz="2000" dirty="0" smtClean="0"/>
              <a:t>• </a:t>
            </a:r>
            <a:r>
              <a:rPr lang="ko-KR" altLang="en-US" sz="2000" dirty="0" smtClean="0"/>
              <a:t>다음 계층으로 향할 수 있는 길로서</a:t>
            </a:r>
            <a:r>
              <a:rPr lang="en-US" altLang="ko-KR" sz="2000" dirty="0" smtClean="0"/>
              <a:t>, </a:t>
            </a:r>
            <a:r>
              <a:rPr lang="ko-KR" altLang="en-US" sz="2000" b="1" dirty="0" smtClean="0"/>
              <a:t>편도로만</a:t>
            </a:r>
            <a:r>
              <a:rPr lang="ko-KR" altLang="en-US" sz="2000" dirty="0" smtClean="0"/>
              <a:t> 사용되기</a:t>
            </a:r>
            <a:r>
              <a:rPr lang="en-US" altLang="ko-KR" sz="2000" dirty="0" smtClean="0"/>
              <a:t> </a:t>
            </a:r>
            <a:r>
              <a:rPr lang="ko-KR" altLang="en-US" sz="2000" dirty="0" smtClean="0"/>
              <a:t>때문에</a:t>
            </a:r>
            <a:r>
              <a:rPr lang="en-US" altLang="ko-KR" sz="2000" dirty="0" smtClean="0"/>
              <a:t> </a:t>
            </a:r>
          </a:p>
          <a:p>
            <a:pPr>
              <a:lnSpc>
                <a:spcPct val="150000"/>
              </a:lnSpc>
            </a:pPr>
            <a:r>
              <a:rPr lang="en-US" altLang="ko-KR" sz="2000" dirty="0"/>
              <a:t> </a:t>
            </a:r>
            <a:r>
              <a:rPr lang="en-US" altLang="ko-KR" sz="2000" dirty="0" smtClean="0"/>
              <a:t> </a:t>
            </a:r>
            <a:r>
              <a:rPr lang="ko-KR" altLang="en-US" sz="2000" dirty="0" smtClean="0"/>
              <a:t>한번 계단을 통해 다음 계층으로 넘어갔다면 이전 계층으로 </a:t>
            </a:r>
            <a:endParaRPr lang="en-US" altLang="ko-KR" sz="2000" dirty="0" smtClean="0"/>
          </a:p>
          <a:p>
            <a:pPr>
              <a:lnSpc>
                <a:spcPct val="150000"/>
              </a:lnSpc>
            </a:pPr>
            <a:r>
              <a:rPr lang="en-US" altLang="ko-KR" sz="2000" dirty="0"/>
              <a:t> </a:t>
            </a:r>
            <a:r>
              <a:rPr lang="en-US" altLang="ko-KR" sz="2000" dirty="0" smtClean="0"/>
              <a:t> </a:t>
            </a:r>
            <a:r>
              <a:rPr lang="ko-KR" altLang="en-US" sz="2000" dirty="0" smtClean="0"/>
              <a:t>되돌아갈 수 없다</a:t>
            </a:r>
            <a:r>
              <a:rPr lang="en-US" altLang="ko-KR" sz="2000" dirty="0" smtClean="0"/>
              <a:t>.</a:t>
            </a:r>
            <a:endParaRPr lang="en-US" altLang="ko-KR" sz="2000" dirty="0"/>
          </a:p>
          <a:p>
            <a:pPr>
              <a:lnSpc>
                <a:spcPct val="150000"/>
              </a:lnSpc>
            </a:pPr>
            <a:endParaRPr lang="en-US" altLang="ko-KR" sz="2000" dirty="0"/>
          </a:p>
          <a:p>
            <a:pPr>
              <a:lnSpc>
                <a:spcPct val="150000"/>
              </a:lnSpc>
            </a:pPr>
            <a:r>
              <a:rPr lang="en-US" altLang="ko-KR" sz="2000" dirty="0" smtClean="0"/>
              <a:t>• </a:t>
            </a:r>
            <a:r>
              <a:rPr lang="ko-KR" altLang="en-US" sz="2000" dirty="0" smtClean="0"/>
              <a:t>맵 생성시</a:t>
            </a:r>
            <a:r>
              <a:rPr lang="en-US" altLang="ko-KR" sz="2000" dirty="0" smtClean="0"/>
              <a:t>, </a:t>
            </a:r>
            <a:r>
              <a:rPr lang="ko-KR" altLang="en-US" sz="2000" dirty="0" smtClean="0"/>
              <a:t>계층 </a:t>
            </a:r>
            <a:r>
              <a:rPr lang="ko-KR" altLang="en-US" sz="2000" dirty="0"/>
              <a:t>내 </a:t>
            </a:r>
            <a:r>
              <a:rPr lang="ko-KR" altLang="en-US" sz="2000" dirty="0" err="1"/>
              <a:t>에어리어</a:t>
            </a:r>
            <a:r>
              <a:rPr lang="ko-KR" altLang="en-US" sz="2000" dirty="0"/>
              <a:t> 중 무작위로 하나의 </a:t>
            </a:r>
            <a:r>
              <a:rPr lang="ko-KR" altLang="en-US" sz="2000" dirty="0" err="1" smtClean="0"/>
              <a:t>에어리어에</a:t>
            </a:r>
            <a:r>
              <a:rPr lang="en-US" altLang="ko-KR" sz="2000" dirty="0" smtClean="0"/>
              <a:t> </a:t>
            </a:r>
          </a:p>
          <a:p>
            <a:pPr>
              <a:lnSpc>
                <a:spcPct val="150000"/>
              </a:lnSpc>
            </a:pPr>
            <a:r>
              <a:rPr lang="en-US" altLang="ko-KR" sz="2000" dirty="0"/>
              <a:t> </a:t>
            </a:r>
            <a:r>
              <a:rPr lang="en-US" altLang="ko-KR" sz="2000" dirty="0" smtClean="0"/>
              <a:t> </a:t>
            </a:r>
            <a:r>
              <a:rPr lang="ko-KR" altLang="en-US" sz="2000" dirty="0" smtClean="0"/>
              <a:t>계단이 생성된다</a:t>
            </a:r>
            <a:r>
              <a:rPr lang="en-US" altLang="ko-KR" sz="2000" dirty="0" smtClean="0"/>
              <a:t>. </a:t>
            </a:r>
            <a:r>
              <a:rPr lang="ko-KR" altLang="en-US" sz="2000" dirty="0" smtClean="0"/>
              <a:t>이 때</a:t>
            </a:r>
            <a:r>
              <a:rPr lang="en-US" altLang="ko-KR" sz="2000" dirty="0" smtClean="0"/>
              <a:t>, </a:t>
            </a:r>
            <a:r>
              <a:rPr lang="ko-KR" altLang="en-US" sz="2000" dirty="0" smtClean="0"/>
              <a:t>현재 계층과 다음 계층이 가지고있는 </a:t>
            </a:r>
            <a:endParaRPr lang="en-US" altLang="ko-KR" sz="2000" dirty="0" smtClean="0"/>
          </a:p>
          <a:p>
            <a:pPr>
              <a:lnSpc>
                <a:spcPct val="150000"/>
              </a:lnSpc>
            </a:pPr>
            <a:r>
              <a:rPr lang="en-US" altLang="ko-KR" sz="2000" dirty="0"/>
              <a:t> </a:t>
            </a:r>
            <a:r>
              <a:rPr lang="en-US" altLang="ko-KR" sz="2000" dirty="0" smtClean="0"/>
              <a:t> </a:t>
            </a:r>
            <a:r>
              <a:rPr lang="ko-KR" altLang="en-US" sz="2000" dirty="0" smtClean="0"/>
              <a:t>계단 사이의 거리는</a:t>
            </a:r>
            <a:r>
              <a:rPr lang="en-US" altLang="ko-KR" sz="2000" dirty="0" smtClean="0"/>
              <a:t> 2~4 </a:t>
            </a:r>
            <a:r>
              <a:rPr lang="ko-KR" altLang="en-US" sz="2000" dirty="0" err="1" smtClean="0"/>
              <a:t>에어리어</a:t>
            </a:r>
            <a:r>
              <a:rPr lang="ko-KR" altLang="en-US" sz="2000" dirty="0" smtClean="0"/>
              <a:t> 사이에서 무작위로 설정된다</a:t>
            </a:r>
            <a:r>
              <a:rPr lang="en-US" altLang="ko-KR" sz="20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계단</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 name="꺾인 연결선 9"/>
          <p:cNvCxnSpPr/>
          <p:nvPr/>
        </p:nvCxnSpPr>
        <p:spPr>
          <a:xfrm flipV="1">
            <a:off x="2080590" y="2757932"/>
            <a:ext cx="1007166" cy="60968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382766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40</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548189" cy="4247317"/>
          </a:xfrm>
          <a:prstGeom prst="rect">
            <a:avLst/>
          </a:prstGeom>
          <a:noFill/>
        </p:spPr>
        <p:txBody>
          <a:bodyPr wrap="square" rtlCol="0">
            <a:spAutoFit/>
          </a:bodyPr>
          <a:lstStyle/>
          <a:p>
            <a:pPr>
              <a:lnSpc>
                <a:spcPct val="150000"/>
              </a:lnSpc>
            </a:pPr>
            <a:r>
              <a:rPr lang="en-US" altLang="ko-KR" sz="2000" dirty="0"/>
              <a:t>• </a:t>
            </a:r>
            <a:r>
              <a:rPr lang="en-US" altLang="ko-KR" sz="2000" dirty="0" smtClean="0"/>
              <a:t>7</a:t>
            </a:r>
            <a:r>
              <a:rPr lang="ko-KR" altLang="en-US" sz="2000" dirty="0"/>
              <a:t>개의 </a:t>
            </a:r>
            <a:r>
              <a:rPr lang="ko-KR" altLang="en-US" sz="2000" b="1" dirty="0" err="1"/>
              <a:t>에어리어가</a:t>
            </a:r>
            <a:r>
              <a:rPr lang="ko-KR" altLang="en-US" sz="2000" b="1" dirty="0"/>
              <a:t> </a:t>
            </a:r>
            <a:r>
              <a:rPr lang="ko-KR" altLang="en-US" sz="2000" b="1" dirty="0" smtClean="0"/>
              <a:t>일렬로 연결</a:t>
            </a:r>
            <a:r>
              <a:rPr lang="ko-KR" altLang="en-US" sz="2000" dirty="0" smtClean="0"/>
              <a:t>되어 구성된 하나의 층계로서</a:t>
            </a:r>
            <a:r>
              <a:rPr lang="en-US" altLang="ko-KR" sz="2000" dirty="0" smtClean="0"/>
              <a:t/>
            </a:r>
            <a:br>
              <a:rPr lang="en-US" altLang="ko-KR" sz="2000" dirty="0" smtClean="0"/>
            </a:br>
            <a:r>
              <a:rPr lang="en-US" altLang="ko-KR" sz="2000" dirty="0" smtClean="0"/>
              <a:t>  </a:t>
            </a:r>
            <a:r>
              <a:rPr lang="ko-KR" altLang="en-US" sz="2000" dirty="0" smtClean="0"/>
              <a:t>총 </a:t>
            </a:r>
            <a:r>
              <a:rPr lang="en-US" altLang="ko-KR" sz="2000" dirty="0" smtClean="0"/>
              <a:t>9</a:t>
            </a:r>
            <a:r>
              <a:rPr lang="ko-KR" altLang="en-US" sz="2000" dirty="0" smtClean="0"/>
              <a:t>개의 계층이 존재하고</a:t>
            </a:r>
            <a:r>
              <a:rPr lang="en-US" altLang="ko-KR" sz="2000" dirty="0" smtClean="0"/>
              <a:t>, </a:t>
            </a:r>
            <a:r>
              <a:rPr lang="ko-KR" altLang="en-US" sz="2000" dirty="0" smtClean="0"/>
              <a:t>이전 계층 </a:t>
            </a:r>
            <a:r>
              <a:rPr lang="ko-KR" altLang="en-US" sz="2000" dirty="0"/>
              <a:t>다음 계층과 연결되는 </a:t>
            </a:r>
            <a:r>
              <a:rPr lang="en-US" altLang="ko-KR" sz="2000" dirty="0" smtClean="0"/>
              <a:t/>
            </a:r>
            <a:br>
              <a:rPr lang="en-US" altLang="ko-KR" sz="2000" dirty="0" smtClean="0"/>
            </a:br>
            <a:r>
              <a:rPr lang="en-US" altLang="ko-KR" sz="2000" dirty="0" smtClean="0"/>
              <a:t>  </a:t>
            </a:r>
            <a:r>
              <a:rPr lang="ko-KR" altLang="en-US" sz="2000" dirty="0" smtClean="0"/>
              <a:t>두 </a:t>
            </a:r>
            <a:r>
              <a:rPr lang="ko-KR" altLang="en-US" sz="2000" b="1" dirty="0" smtClean="0"/>
              <a:t>계단</a:t>
            </a:r>
            <a:r>
              <a:rPr lang="ko-KR" altLang="en-US" sz="2000" dirty="0" smtClean="0"/>
              <a:t>을 </a:t>
            </a:r>
            <a:r>
              <a:rPr lang="ko-KR" altLang="en-US" sz="2000" dirty="0"/>
              <a:t>가지고 있다</a:t>
            </a:r>
            <a:r>
              <a:rPr lang="en-US" altLang="ko-KR" sz="2000" dirty="0" smtClean="0"/>
              <a:t>.</a:t>
            </a:r>
            <a:r>
              <a:rPr lang="en-US" altLang="ko-KR" sz="2000" dirty="0"/>
              <a:t/>
            </a:r>
            <a:br>
              <a:rPr lang="en-US" altLang="ko-KR" sz="2000" dirty="0"/>
            </a:br>
            <a:endParaRPr lang="en-US" altLang="ko-KR" sz="2000" dirty="0" smtClean="0"/>
          </a:p>
          <a:p>
            <a:pPr>
              <a:lnSpc>
                <a:spcPct val="150000"/>
              </a:lnSpc>
            </a:pPr>
            <a:r>
              <a:rPr lang="en-US" altLang="ko-KR" sz="2000" dirty="0"/>
              <a:t>• </a:t>
            </a:r>
            <a:r>
              <a:rPr lang="ko-KR" altLang="en-US" sz="2000" dirty="0"/>
              <a:t>계층이 깊어질수록 등장하는 몬스터의 조합과 보스의 위력이 </a:t>
            </a:r>
            <a:endParaRPr lang="en-US" altLang="ko-KR" sz="2000" dirty="0"/>
          </a:p>
          <a:p>
            <a:pPr>
              <a:lnSpc>
                <a:spcPct val="150000"/>
              </a:lnSpc>
            </a:pPr>
            <a:r>
              <a:rPr lang="en-US" altLang="ko-KR" sz="2000" dirty="0"/>
              <a:t>  </a:t>
            </a:r>
            <a:r>
              <a:rPr lang="ko-KR" altLang="en-US" sz="2000" dirty="0"/>
              <a:t>강해지고</a:t>
            </a:r>
            <a:r>
              <a:rPr lang="en-US" altLang="ko-KR" sz="2000" dirty="0"/>
              <a:t>, </a:t>
            </a:r>
            <a:r>
              <a:rPr lang="ko-KR" altLang="en-US" sz="2000" dirty="0"/>
              <a:t>등장하는 아이템과 보물들의 성능이 강화된다</a:t>
            </a:r>
            <a:r>
              <a:rPr lang="en-US" altLang="ko-KR" sz="2000" dirty="0"/>
              <a:t>.</a:t>
            </a:r>
          </a:p>
          <a:p>
            <a:pPr>
              <a:lnSpc>
                <a:spcPct val="150000"/>
              </a:lnSpc>
            </a:pPr>
            <a:endParaRPr lang="en-US" altLang="ko-KR" sz="2000" dirty="0" smtClean="0"/>
          </a:p>
          <a:p>
            <a:pPr>
              <a:lnSpc>
                <a:spcPct val="150000"/>
              </a:lnSpc>
            </a:pPr>
            <a:r>
              <a:rPr lang="en-US" altLang="ko-KR" sz="2000" dirty="0"/>
              <a:t>• </a:t>
            </a:r>
            <a:r>
              <a:rPr lang="ko-KR" altLang="en-US" sz="2000" dirty="0" smtClean="0"/>
              <a:t>동일 계층 내에서</a:t>
            </a:r>
            <a:r>
              <a:rPr lang="en-US" altLang="ko-KR" sz="2000" dirty="0" smtClean="0"/>
              <a:t>, </a:t>
            </a:r>
            <a:r>
              <a:rPr lang="ko-KR" altLang="en-US" sz="2000" dirty="0" smtClean="0"/>
              <a:t>에어리어들이 가지는 이벤트와 컨셉의</a:t>
            </a:r>
            <a:r>
              <a:rPr lang="en-US" altLang="ko-KR" sz="2000" dirty="0" smtClean="0"/>
              <a:t/>
            </a:r>
            <a:br>
              <a:rPr lang="en-US" altLang="ko-KR" sz="2000" dirty="0" smtClean="0"/>
            </a:br>
            <a:r>
              <a:rPr lang="en-US" altLang="ko-KR" sz="2000" dirty="0" smtClean="0"/>
              <a:t>  </a:t>
            </a:r>
            <a:r>
              <a:rPr lang="ko-KR" altLang="en-US" sz="2000" dirty="0" smtClean="0"/>
              <a:t>종류와 개수에 제한이 있다</a:t>
            </a:r>
            <a:r>
              <a:rPr lang="en-US" altLang="ko-KR" sz="2000" dirty="0" smtClean="0"/>
              <a:t>.</a:t>
            </a:r>
            <a:endParaRPr lang="en-US" altLang="ko-KR" sz="2000" dirty="0" smtClean="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5" name="그룹 4"/>
          <p:cNvGrpSpPr/>
          <p:nvPr/>
        </p:nvGrpSpPr>
        <p:grpSpPr>
          <a:xfrm>
            <a:off x="2456286" y="1208221"/>
            <a:ext cx="215096" cy="2443537"/>
            <a:chOff x="2279278" y="1239463"/>
            <a:chExt cx="371025" cy="5069532"/>
          </a:xfrm>
        </p:grpSpPr>
        <p:cxnSp>
          <p:nvCxnSpPr>
            <p:cNvPr id="12" name="직선 연결선 11"/>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타원 12"/>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6" name="타원 15"/>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7" name="타원 16"/>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8" name="타원 17"/>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9" name="타원 18"/>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0" name="타원 19"/>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pSp>
      <p:cxnSp>
        <p:nvCxnSpPr>
          <p:cNvPr id="24" name="꺾인 연결선 23"/>
          <p:cNvCxnSpPr>
            <a:endCxn id="20" idx="2"/>
          </p:cNvCxnSpPr>
          <p:nvPr/>
        </p:nvCxnSpPr>
        <p:spPr>
          <a:xfrm flipV="1">
            <a:off x="2007165" y="2809159"/>
            <a:ext cx="449587" cy="4005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16" idx="6"/>
          </p:cNvCxnSpPr>
          <p:nvPr/>
        </p:nvCxnSpPr>
        <p:spPr>
          <a:xfrm>
            <a:off x="2670917" y="1668410"/>
            <a:ext cx="467258" cy="409063"/>
          </a:xfrm>
          <a:prstGeom prst="bentConnector3">
            <a:avLst>
              <a:gd name="adj1" fmla="val 4206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445905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41</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548189" cy="4708981"/>
          </a:xfrm>
          <a:prstGeom prst="rect">
            <a:avLst/>
          </a:prstGeom>
          <a:noFill/>
        </p:spPr>
        <p:txBody>
          <a:bodyPr wrap="square" rtlCol="0">
            <a:spAutoFit/>
          </a:bodyPr>
          <a:lstStyle/>
          <a:p>
            <a:pPr>
              <a:lnSpc>
                <a:spcPct val="150000"/>
              </a:lnSpc>
            </a:pPr>
            <a:r>
              <a:rPr lang="en-US" altLang="ko-KR" sz="2000" dirty="0" smtClean="0"/>
              <a:t>• </a:t>
            </a:r>
            <a:r>
              <a:rPr lang="ko-KR" altLang="en-US" sz="2000" dirty="0" smtClean="0"/>
              <a:t>동일 계층 내 </a:t>
            </a:r>
            <a:r>
              <a:rPr lang="ko-KR" altLang="en-US" sz="2000" dirty="0" err="1" smtClean="0"/>
              <a:t>에어리어</a:t>
            </a:r>
            <a:r>
              <a:rPr lang="ko-KR" altLang="en-US" sz="2000" dirty="0" smtClean="0"/>
              <a:t> 이벤트 및 컨셉 개수 제한 </a:t>
            </a:r>
            <a:r>
              <a:rPr lang="en-US" altLang="ko-KR" sz="2000" dirty="0" smtClean="0"/>
              <a:t>: </a:t>
            </a:r>
          </a:p>
          <a:p>
            <a:pPr>
              <a:lnSpc>
                <a:spcPct val="150000"/>
              </a:lnSpc>
            </a:pPr>
            <a:r>
              <a:rPr lang="en-US" altLang="ko-KR" sz="2000" dirty="0" smtClean="0"/>
              <a:t>1) </a:t>
            </a:r>
            <a:r>
              <a:rPr lang="ko-KR" altLang="en-US" sz="2000" dirty="0" err="1" smtClean="0"/>
              <a:t>비전투</a:t>
            </a:r>
            <a:r>
              <a:rPr lang="ko-KR" altLang="en-US" sz="2000" dirty="0" smtClean="0"/>
              <a:t> </a:t>
            </a:r>
            <a:r>
              <a:rPr lang="ko-KR" altLang="en-US" sz="2000" dirty="0" err="1" smtClean="0"/>
              <a:t>에어리어</a:t>
            </a:r>
            <a:r>
              <a:rPr lang="en-US" altLang="ko-KR" sz="2000" dirty="0" smtClean="0"/>
              <a:t/>
            </a:r>
            <a:br>
              <a:rPr lang="en-US" altLang="ko-KR" sz="2000" dirty="0" smtClean="0"/>
            </a:br>
            <a:r>
              <a:rPr lang="en-US" altLang="ko-KR" sz="2000" dirty="0" smtClean="0"/>
              <a:t>  </a:t>
            </a:r>
            <a:r>
              <a:rPr lang="ko-KR" altLang="en-US" sz="2000" dirty="0" smtClean="0"/>
              <a:t>종류 </a:t>
            </a:r>
            <a:r>
              <a:rPr lang="en-US" altLang="ko-KR" sz="2000" dirty="0" smtClean="0"/>
              <a:t>: </a:t>
            </a:r>
            <a:r>
              <a:rPr lang="ko-KR" altLang="en-US" sz="2000" dirty="0" smtClean="0"/>
              <a:t>상인 </a:t>
            </a:r>
            <a:r>
              <a:rPr lang="en-US" altLang="ko-KR" sz="2000" dirty="0" smtClean="0"/>
              <a:t>/ </a:t>
            </a:r>
            <a:r>
              <a:rPr lang="ko-KR" altLang="en-US" sz="2000" dirty="0" smtClean="0"/>
              <a:t>보물 상자</a:t>
            </a:r>
            <a:endParaRPr lang="en-US" altLang="ko-KR" sz="2000" dirty="0" smtClean="0"/>
          </a:p>
          <a:p>
            <a:pPr>
              <a:lnSpc>
                <a:spcPct val="150000"/>
              </a:lnSpc>
            </a:pPr>
            <a:r>
              <a:rPr lang="en-US" altLang="ko-KR" sz="2000" dirty="0" smtClean="0"/>
              <a:t>  </a:t>
            </a:r>
            <a:r>
              <a:rPr lang="ko-KR" altLang="en-US" sz="2000" dirty="0" smtClean="0"/>
              <a:t>생성 개수 </a:t>
            </a:r>
            <a:r>
              <a:rPr lang="en-US" altLang="ko-KR" sz="2000" dirty="0" smtClean="0"/>
              <a:t>: 0</a:t>
            </a:r>
            <a:r>
              <a:rPr lang="ko-KR" altLang="en-US" sz="2000" dirty="0" smtClean="0"/>
              <a:t>개</a:t>
            </a:r>
            <a:r>
              <a:rPr lang="en-US" altLang="ko-KR" sz="2000" dirty="0" smtClean="0"/>
              <a:t>(20%)</a:t>
            </a:r>
            <a:r>
              <a:rPr lang="ko-KR" altLang="en-US" sz="2000" dirty="0" smtClean="0"/>
              <a:t> </a:t>
            </a:r>
            <a:r>
              <a:rPr lang="en-US" altLang="ko-KR" sz="2000" dirty="0" smtClean="0"/>
              <a:t>/ </a:t>
            </a:r>
            <a:r>
              <a:rPr lang="en-US" altLang="ko-KR" sz="2000" dirty="0" smtClean="0"/>
              <a:t>1</a:t>
            </a:r>
            <a:r>
              <a:rPr lang="ko-KR" altLang="en-US" sz="2000" dirty="0" smtClean="0"/>
              <a:t>개</a:t>
            </a:r>
            <a:r>
              <a:rPr lang="en-US" altLang="ko-KR" sz="2000" dirty="0" smtClean="0"/>
              <a:t>(50%)</a:t>
            </a:r>
            <a:r>
              <a:rPr lang="ko-KR" altLang="en-US" sz="2000" dirty="0" smtClean="0"/>
              <a:t> </a:t>
            </a:r>
            <a:r>
              <a:rPr lang="en-US" altLang="ko-KR" sz="2000" dirty="0" smtClean="0"/>
              <a:t>/ </a:t>
            </a:r>
            <a:r>
              <a:rPr lang="en-US" altLang="ko-KR" sz="2000" dirty="0" smtClean="0"/>
              <a:t>2</a:t>
            </a:r>
            <a:r>
              <a:rPr lang="ko-KR" altLang="en-US" sz="2000" dirty="0" smtClean="0"/>
              <a:t>개</a:t>
            </a:r>
            <a:r>
              <a:rPr lang="en-US" altLang="ko-KR" sz="2000" dirty="0" smtClean="0"/>
              <a:t>(30%)</a:t>
            </a:r>
            <a:br>
              <a:rPr lang="en-US" altLang="ko-KR" sz="2000" dirty="0" smtClean="0"/>
            </a:br>
            <a:r>
              <a:rPr lang="en-US" altLang="ko-KR" sz="2000" dirty="0" smtClean="0"/>
              <a:t>  </a:t>
            </a:r>
            <a:r>
              <a:rPr lang="ko-KR" altLang="en-US" sz="2000" dirty="0" smtClean="0"/>
              <a:t>위치 </a:t>
            </a:r>
            <a:r>
              <a:rPr lang="en-US" altLang="ko-KR" sz="2000" dirty="0" smtClean="0"/>
              <a:t>: </a:t>
            </a:r>
            <a:r>
              <a:rPr lang="ko-KR" altLang="en-US" sz="2000" dirty="0" smtClean="0"/>
              <a:t>무작위</a:t>
            </a:r>
            <a:r>
              <a:rPr lang="en-US" altLang="ko-KR" sz="2000" dirty="0" smtClean="0"/>
              <a:t>(</a:t>
            </a:r>
            <a:r>
              <a:rPr lang="ko-KR" altLang="en-US" sz="2000" dirty="0" smtClean="0"/>
              <a:t>단</a:t>
            </a:r>
            <a:r>
              <a:rPr lang="en-US" altLang="ko-KR" sz="2000" dirty="0" smtClean="0"/>
              <a:t>, 2</a:t>
            </a:r>
            <a:r>
              <a:rPr lang="ko-KR" altLang="en-US" sz="2000" dirty="0" smtClean="0"/>
              <a:t>개일 경우 </a:t>
            </a:r>
            <a:r>
              <a:rPr lang="ko-KR" altLang="en-US" sz="2000" dirty="0" err="1" smtClean="0"/>
              <a:t>에어리어가</a:t>
            </a:r>
            <a:r>
              <a:rPr lang="ko-KR" altLang="en-US" sz="2000" dirty="0" smtClean="0"/>
              <a:t> 서로 인접할 수 없음</a:t>
            </a:r>
            <a:r>
              <a:rPr lang="en-US" altLang="ko-KR" sz="2000" dirty="0" smtClean="0"/>
              <a:t>)</a:t>
            </a:r>
            <a:r>
              <a:rPr lang="en-US" altLang="ko-KR" sz="2000" dirty="0" smtClean="0"/>
              <a:t/>
            </a:r>
            <a:br>
              <a:rPr lang="en-US" altLang="ko-KR" sz="2000" dirty="0" smtClean="0"/>
            </a:br>
            <a:r>
              <a:rPr lang="en-US" altLang="ko-KR" sz="2000" dirty="0" smtClean="0"/>
              <a:t>  </a:t>
            </a:r>
            <a:r>
              <a:rPr lang="ko-KR" altLang="en-US" sz="2000" dirty="0" smtClean="0"/>
              <a:t>제한 </a:t>
            </a:r>
            <a:r>
              <a:rPr lang="en-US" altLang="ko-KR" sz="2000" dirty="0" smtClean="0"/>
              <a:t>: </a:t>
            </a:r>
            <a:r>
              <a:rPr lang="ko-KR" altLang="en-US" sz="2000" dirty="0" smtClean="0"/>
              <a:t>동일 계층에 </a:t>
            </a:r>
            <a:r>
              <a:rPr lang="ko-KR" altLang="en-US" sz="2000" dirty="0" smtClean="0"/>
              <a:t>같은</a:t>
            </a:r>
            <a:r>
              <a:rPr lang="ko-KR" altLang="en-US" sz="2000" dirty="0" smtClean="0"/>
              <a:t> </a:t>
            </a:r>
            <a:r>
              <a:rPr lang="ko-KR" altLang="en-US" sz="2000" dirty="0" smtClean="0"/>
              <a:t>종류의 이벤트가 </a:t>
            </a:r>
            <a:r>
              <a:rPr lang="en-US" altLang="ko-KR" sz="2000" dirty="0" smtClean="0"/>
              <a:t>2</a:t>
            </a:r>
            <a:r>
              <a:rPr lang="ko-KR" altLang="en-US" sz="2000" dirty="0" smtClean="0"/>
              <a:t>개 배정될 수 </a:t>
            </a:r>
            <a:r>
              <a:rPr lang="ko-KR" altLang="en-US" sz="2000" dirty="0" smtClean="0"/>
              <a:t>없음</a:t>
            </a:r>
            <a:endParaRPr lang="en-US" altLang="ko-KR" sz="2000" dirty="0" smtClean="0"/>
          </a:p>
          <a:p>
            <a:pPr>
              <a:lnSpc>
                <a:spcPct val="150000"/>
              </a:lnSpc>
            </a:pPr>
            <a:endParaRPr lang="en-US" altLang="ko-KR" sz="2000" dirty="0"/>
          </a:p>
          <a:p>
            <a:pPr>
              <a:lnSpc>
                <a:spcPct val="150000"/>
              </a:lnSpc>
            </a:pPr>
            <a:r>
              <a:rPr lang="en-US" altLang="ko-KR" sz="2000" dirty="0" smtClean="0"/>
              <a:t>2) (</a:t>
            </a:r>
            <a:r>
              <a:rPr lang="ko-KR" altLang="en-US" sz="2000" dirty="0" smtClean="0"/>
              <a:t>전투</a:t>
            </a:r>
            <a:r>
              <a:rPr lang="en-US" altLang="ko-KR" sz="2000" dirty="0" smtClean="0"/>
              <a:t>) </a:t>
            </a:r>
            <a:r>
              <a:rPr lang="ko-KR" altLang="en-US" sz="2000" dirty="0" err="1" smtClean="0"/>
              <a:t>에어리어</a:t>
            </a:r>
            <a:r>
              <a:rPr lang="ko-KR" altLang="en-US" sz="2000" dirty="0" smtClean="0"/>
              <a:t> 컨셉</a:t>
            </a:r>
            <a:endParaRPr lang="en-US" altLang="ko-KR" sz="2000" dirty="0" smtClean="0"/>
          </a:p>
          <a:p>
            <a:pPr>
              <a:lnSpc>
                <a:spcPct val="150000"/>
              </a:lnSpc>
            </a:pPr>
            <a:r>
              <a:rPr lang="en-US" altLang="ko-KR" sz="2000" dirty="0"/>
              <a:t> </a:t>
            </a:r>
            <a:r>
              <a:rPr lang="en-US" altLang="ko-KR" sz="2000" dirty="0" smtClean="0"/>
              <a:t> </a:t>
            </a:r>
            <a:r>
              <a:rPr lang="ko-KR" altLang="en-US" sz="2000" dirty="0" smtClean="0"/>
              <a:t>종류 </a:t>
            </a:r>
            <a:r>
              <a:rPr lang="en-US" altLang="ko-KR" sz="2000" dirty="0" smtClean="0"/>
              <a:t>: </a:t>
            </a:r>
            <a:r>
              <a:rPr lang="ko-KR" altLang="en-US" sz="2000" dirty="0" smtClean="0"/>
              <a:t>고통의 방 </a:t>
            </a:r>
            <a:r>
              <a:rPr lang="en-US" altLang="ko-KR" sz="2000" dirty="0" smtClean="0"/>
              <a:t>/ </a:t>
            </a:r>
            <a:r>
              <a:rPr lang="ko-KR" altLang="en-US" sz="2000" dirty="0" smtClean="0"/>
              <a:t>절망의 방</a:t>
            </a:r>
            <a:r>
              <a:rPr lang="en-US" altLang="ko-KR" sz="2000" dirty="0"/>
              <a:t> </a:t>
            </a:r>
            <a:r>
              <a:rPr lang="en-US" altLang="ko-KR" sz="2000" dirty="0" smtClean="0"/>
              <a:t>/ </a:t>
            </a:r>
            <a:r>
              <a:rPr lang="ko-KR" altLang="en-US" sz="2000" dirty="0" smtClean="0"/>
              <a:t>약육강식의 방</a:t>
            </a:r>
            <a:endParaRPr lang="en-US" altLang="ko-KR" sz="2000" dirty="0" smtClean="0"/>
          </a:p>
          <a:p>
            <a:pPr>
              <a:lnSpc>
                <a:spcPct val="150000"/>
              </a:lnSpc>
            </a:pPr>
            <a:r>
              <a:rPr lang="en-US" altLang="ko-KR" sz="2000" dirty="0"/>
              <a:t> </a:t>
            </a:r>
            <a:r>
              <a:rPr lang="en-US" altLang="ko-KR" sz="2000" dirty="0" smtClean="0"/>
              <a:t> </a:t>
            </a:r>
            <a:r>
              <a:rPr lang="ko-KR" altLang="en-US" sz="2000" dirty="0" smtClean="0"/>
              <a:t>생성 개수 </a:t>
            </a:r>
            <a:r>
              <a:rPr lang="en-US" altLang="ko-KR" sz="2000" dirty="0" smtClean="0"/>
              <a:t>: </a:t>
            </a:r>
            <a:r>
              <a:rPr lang="ko-KR" altLang="en-US" sz="2000" dirty="0" smtClean="0"/>
              <a:t>최대 </a:t>
            </a:r>
            <a:r>
              <a:rPr lang="en-US" altLang="ko-KR" sz="2000" dirty="0" smtClean="0"/>
              <a:t>4</a:t>
            </a:r>
            <a:r>
              <a:rPr lang="ko-KR" altLang="en-US" sz="2000" dirty="0" smtClean="0"/>
              <a:t>개</a:t>
            </a:r>
            <a:endParaRPr lang="en-US" altLang="ko-KR" sz="2000" dirty="0" smtClean="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5" name="그룹 4"/>
          <p:cNvGrpSpPr/>
          <p:nvPr/>
        </p:nvGrpSpPr>
        <p:grpSpPr>
          <a:xfrm>
            <a:off x="2456286" y="1208221"/>
            <a:ext cx="215096" cy="2443537"/>
            <a:chOff x="2279278" y="1239463"/>
            <a:chExt cx="371025" cy="5069532"/>
          </a:xfrm>
        </p:grpSpPr>
        <p:cxnSp>
          <p:nvCxnSpPr>
            <p:cNvPr id="12" name="직선 연결선 11"/>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타원 12"/>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6" name="타원 15"/>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7" name="타원 16"/>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8" name="타원 17"/>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9" name="타원 18"/>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0" name="타원 19"/>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pSp>
      <p:cxnSp>
        <p:nvCxnSpPr>
          <p:cNvPr id="24" name="꺾인 연결선 23"/>
          <p:cNvCxnSpPr>
            <a:endCxn id="20" idx="2"/>
          </p:cNvCxnSpPr>
          <p:nvPr/>
        </p:nvCxnSpPr>
        <p:spPr>
          <a:xfrm flipV="1">
            <a:off x="2007165" y="2809159"/>
            <a:ext cx="449587" cy="4005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16" idx="6"/>
          </p:cNvCxnSpPr>
          <p:nvPr/>
        </p:nvCxnSpPr>
        <p:spPr>
          <a:xfrm>
            <a:off x="2670917" y="1668410"/>
            <a:ext cx="467258" cy="409063"/>
          </a:xfrm>
          <a:prstGeom prst="bentConnector3">
            <a:avLst>
              <a:gd name="adj1" fmla="val 4206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237957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42</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728333"/>
            <a:ext cx="7548189" cy="3785652"/>
          </a:xfrm>
          <a:prstGeom prst="rect">
            <a:avLst/>
          </a:prstGeom>
          <a:noFill/>
        </p:spPr>
        <p:txBody>
          <a:bodyPr wrap="square" rtlCol="0">
            <a:spAutoFit/>
          </a:bodyPr>
          <a:lstStyle/>
          <a:p>
            <a:pPr>
              <a:lnSpc>
                <a:spcPct val="150000"/>
              </a:lnSpc>
            </a:pPr>
            <a:r>
              <a:rPr lang="en-US" altLang="ko-KR" sz="2000" dirty="0"/>
              <a:t>• </a:t>
            </a:r>
            <a:r>
              <a:rPr lang="en-US" altLang="ko-KR" sz="2000" dirty="0" smtClean="0"/>
              <a:t>3</a:t>
            </a:r>
            <a:r>
              <a:rPr lang="ko-KR" altLang="en-US" sz="2000" dirty="0" smtClean="0"/>
              <a:t>배수 계층</a:t>
            </a:r>
            <a:r>
              <a:rPr lang="en-US" altLang="ko-KR" sz="2000" dirty="0" smtClean="0"/>
              <a:t>(3,6…)</a:t>
            </a:r>
            <a:r>
              <a:rPr lang="ko-KR" altLang="en-US" sz="2000" dirty="0" smtClean="0"/>
              <a:t> </a:t>
            </a:r>
            <a:r>
              <a:rPr lang="en-US" altLang="ko-KR" sz="2000" dirty="0" smtClean="0"/>
              <a:t>: </a:t>
            </a:r>
          </a:p>
          <a:p>
            <a:pPr>
              <a:lnSpc>
                <a:spcPct val="150000"/>
              </a:lnSpc>
            </a:pPr>
            <a:r>
              <a:rPr lang="en-US" altLang="ko-KR" sz="2000" dirty="0"/>
              <a:t> </a:t>
            </a:r>
            <a:r>
              <a:rPr lang="en-US" altLang="ko-KR" sz="2000" dirty="0" smtClean="0"/>
              <a:t> </a:t>
            </a:r>
            <a:r>
              <a:rPr lang="ko-KR" altLang="en-US" sz="2000" dirty="0" smtClean="0"/>
              <a:t>중간 보스가 등장하는 보스 </a:t>
            </a:r>
            <a:r>
              <a:rPr lang="ko-KR" altLang="en-US" sz="2000" dirty="0" err="1" smtClean="0"/>
              <a:t>에어리어가</a:t>
            </a:r>
            <a:r>
              <a:rPr lang="ko-KR" altLang="en-US" sz="2000" dirty="0" smtClean="0"/>
              <a:t> 된다</a:t>
            </a:r>
            <a:r>
              <a:rPr lang="en-US" altLang="ko-KR" sz="2000" dirty="0"/>
              <a:t>. </a:t>
            </a:r>
            <a:r>
              <a:rPr lang="ko-KR" altLang="en-US" sz="2000" dirty="0" smtClean="0"/>
              <a:t>이 때 등장하는 </a:t>
            </a:r>
            <a:endParaRPr lang="en-US" altLang="ko-KR" sz="2000" dirty="0" smtClean="0"/>
          </a:p>
          <a:p>
            <a:pPr>
              <a:lnSpc>
                <a:spcPct val="150000"/>
              </a:lnSpc>
            </a:pPr>
            <a:r>
              <a:rPr lang="en-US" altLang="ko-KR" sz="2000" dirty="0"/>
              <a:t> </a:t>
            </a:r>
            <a:r>
              <a:rPr lang="en-US" altLang="ko-KR" sz="2000" dirty="0" smtClean="0"/>
              <a:t> </a:t>
            </a:r>
            <a:r>
              <a:rPr lang="ko-KR" altLang="en-US" sz="2000" dirty="0" smtClean="0"/>
              <a:t>보스는 보스의 </a:t>
            </a:r>
            <a:r>
              <a:rPr lang="ko-KR" altLang="en-US" sz="2000" dirty="0"/>
              <a:t>가짓수 중 하나가 무작위로 </a:t>
            </a:r>
            <a:r>
              <a:rPr lang="ko-KR" altLang="en-US" sz="2000" dirty="0" smtClean="0"/>
              <a:t>배정되며</a:t>
            </a:r>
            <a:r>
              <a:rPr lang="en-US" altLang="ko-KR" sz="2000" dirty="0" smtClean="0"/>
              <a:t>, </a:t>
            </a:r>
            <a:r>
              <a:rPr lang="ko-KR" altLang="en-US" sz="2000" dirty="0" smtClean="0"/>
              <a:t>계층이</a:t>
            </a:r>
            <a:r>
              <a:rPr lang="en-US" altLang="ko-KR" sz="2000" dirty="0" smtClean="0"/>
              <a:t/>
            </a:r>
            <a:br>
              <a:rPr lang="en-US" altLang="ko-KR" sz="2000" dirty="0" smtClean="0"/>
            </a:br>
            <a:r>
              <a:rPr lang="en-US" altLang="ko-KR" sz="2000" dirty="0" smtClean="0"/>
              <a:t>  </a:t>
            </a:r>
            <a:r>
              <a:rPr lang="ko-KR" altLang="en-US" sz="2000" dirty="0" smtClean="0"/>
              <a:t>깊은 에어리어일수록 배정된 보스가 강해진다</a:t>
            </a:r>
            <a:r>
              <a:rPr lang="en-US" altLang="ko-KR" sz="2000" dirty="0" smtClean="0"/>
              <a:t>. </a:t>
            </a:r>
            <a:r>
              <a:rPr lang="ko-KR" altLang="en-US" sz="2000" dirty="0" err="1" smtClean="0"/>
              <a:t>클리어</a:t>
            </a:r>
            <a:r>
              <a:rPr lang="ko-KR" altLang="en-US" sz="2000" dirty="0" smtClean="0"/>
              <a:t> 시</a:t>
            </a:r>
            <a:r>
              <a:rPr lang="en-US" altLang="ko-KR" sz="2000" dirty="0" smtClean="0"/>
              <a:t>,</a:t>
            </a:r>
          </a:p>
          <a:p>
            <a:pPr>
              <a:lnSpc>
                <a:spcPct val="150000"/>
              </a:lnSpc>
            </a:pPr>
            <a:r>
              <a:rPr lang="en-US" altLang="ko-KR" sz="2000" dirty="0"/>
              <a:t> </a:t>
            </a:r>
            <a:r>
              <a:rPr lang="en-US" altLang="ko-KR" sz="2000" dirty="0" smtClean="0"/>
              <a:t> </a:t>
            </a:r>
            <a:r>
              <a:rPr lang="ko-KR" altLang="en-US" sz="2000" dirty="0" smtClean="0"/>
              <a:t>전리품으로 </a:t>
            </a:r>
            <a:r>
              <a:rPr lang="ko-KR" altLang="en-US" sz="2000" dirty="0" err="1" smtClean="0"/>
              <a:t>아티팩트를</a:t>
            </a:r>
            <a:r>
              <a:rPr lang="ko-KR" altLang="en-US" sz="2000" dirty="0" smtClean="0"/>
              <a:t> 확정적으로 얻을 수 있다</a:t>
            </a:r>
            <a:r>
              <a:rPr lang="en-US" altLang="ko-KR" sz="2000" dirty="0" smtClean="0"/>
              <a:t>.</a:t>
            </a:r>
            <a:endParaRPr lang="en-US" altLang="ko-KR" sz="2000" dirty="0" smtClean="0"/>
          </a:p>
          <a:p>
            <a:pPr>
              <a:lnSpc>
                <a:spcPct val="150000"/>
              </a:lnSpc>
            </a:pPr>
            <a:endParaRPr lang="en-US" altLang="ko-KR" sz="2000" dirty="0"/>
          </a:p>
          <a:p>
            <a:pPr>
              <a:lnSpc>
                <a:spcPct val="150000"/>
              </a:lnSpc>
            </a:pPr>
            <a:r>
              <a:rPr lang="en-US" altLang="ko-KR" sz="2000" dirty="0"/>
              <a:t>• </a:t>
            </a:r>
            <a:r>
              <a:rPr lang="ko-KR" altLang="en-US" sz="2000" dirty="0" smtClean="0"/>
              <a:t>마지막 계층</a:t>
            </a:r>
            <a:r>
              <a:rPr lang="en-US" altLang="ko-KR" sz="2000" dirty="0" smtClean="0"/>
              <a:t>(9) :</a:t>
            </a:r>
          </a:p>
          <a:p>
            <a:pPr>
              <a:lnSpc>
                <a:spcPct val="150000"/>
              </a:lnSpc>
            </a:pPr>
            <a:r>
              <a:rPr lang="en-US" altLang="ko-KR" sz="2000" dirty="0" smtClean="0"/>
              <a:t>  </a:t>
            </a:r>
            <a:r>
              <a:rPr lang="ko-KR" altLang="en-US" sz="2000" dirty="0" smtClean="0"/>
              <a:t>자동으로 최종 </a:t>
            </a:r>
            <a:r>
              <a:rPr lang="ko-KR" altLang="en-US" sz="2000" dirty="0"/>
              <a:t>보스인 </a:t>
            </a:r>
            <a:r>
              <a:rPr lang="en-US" altLang="ko-KR" sz="2000" dirty="0"/>
              <a:t>‘</a:t>
            </a:r>
            <a:r>
              <a:rPr lang="ko-KR" altLang="en-US" sz="2000" dirty="0"/>
              <a:t>마왕</a:t>
            </a:r>
            <a:r>
              <a:rPr lang="en-US" altLang="ko-KR" sz="2000" dirty="0"/>
              <a:t>’</a:t>
            </a:r>
            <a:r>
              <a:rPr lang="ko-KR" altLang="en-US" sz="2000" dirty="0"/>
              <a:t>이 </a:t>
            </a:r>
            <a:r>
              <a:rPr lang="ko-KR" altLang="en-US" sz="2000" dirty="0" smtClean="0"/>
              <a:t>등장한다</a:t>
            </a:r>
            <a:r>
              <a:rPr lang="en-US" altLang="ko-KR" sz="20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직사각형 9"/>
          <p:cNvSpPr/>
          <p:nvPr/>
        </p:nvSpPr>
        <p:spPr>
          <a:xfrm>
            <a:off x="1633040" y="2836783"/>
            <a:ext cx="699247" cy="784075"/>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 name="직사각형 12"/>
          <p:cNvSpPr/>
          <p:nvPr/>
        </p:nvSpPr>
        <p:spPr>
          <a:xfrm>
            <a:off x="2674631" y="2836784"/>
            <a:ext cx="699247" cy="784074"/>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Tree>
    <p:extLst>
      <p:ext uri="{BB962C8B-B14F-4D97-AF65-F5344CB8AC3E}">
        <p14:creationId xmlns:p14="http://schemas.microsoft.com/office/powerpoint/2010/main" val="334224499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43</a:t>
            </a:fld>
            <a:endParaRPr lang="ko-KR" altLang="en-US" sz="1800" dirty="0"/>
          </a:p>
        </p:txBody>
      </p:sp>
      <p:sp>
        <p:nvSpPr>
          <p:cNvPr id="15" name="타원 14"/>
          <p:cNvSpPr/>
          <p:nvPr/>
        </p:nvSpPr>
        <p:spPr>
          <a:xfrm>
            <a:off x="838842" y="4785709"/>
            <a:ext cx="851617" cy="85684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9" name="이등변 삼각형 8"/>
          <p:cNvSpPr/>
          <p:nvPr/>
        </p:nvSpPr>
        <p:spPr>
          <a:xfrm rot="5400000">
            <a:off x="649132" y="1204321"/>
            <a:ext cx="1275272" cy="895852"/>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9714783" y="1247504"/>
            <a:ext cx="699247" cy="784075"/>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414030" y="1247506"/>
            <a:ext cx="699247" cy="784074"/>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64" name="직선 연결선 163"/>
          <p:cNvCxnSpPr/>
          <p:nvPr/>
        </p:nvCxnSpPr>
        <p:spPr>
          <a:xfrm>
            <a:off x="10734194" y="2217568"/>
            <a:ext cx="758165" cy="80009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1993900" y="1014611"/>
            <a:ext cx="5740400" cy="1615827"/>
          </a:xfrm>
          <a:prstGeom prst="rect">
            <a:avLst/>
          </a:prstGeom>
          <a:noFill/>
        </p:spPr>
        <p:txBody>
          <a:bodyPr wrap="square" rtlCol="0">
            <a:spAutoFit/>
          </a:bodyPr>
          <a:lstStyle/>
          <a:p>
            <a:pPr>
              <a:lnSpc>
                <a:spcPct val="150000"/>
              </a:lnSpc>
            </a:pPr>
            <a:r>
              <a:rPr lang="en-US" altLang="ko-KR" dirty="0"/>
              <a:t>• </a:t>
            </a:r>
            <a:r>
              <a:rPr lang="ko-KR" altLang="en-US" sz="1600" dirty="0" err="1" smtClean="0"/>
              <a:t>던전맵</a:t>
            </a:r>
            <a:r>
              <a:rPr lang="ko-KR" altLang="en-US" sz="1600" dirty="0" smtClean="0"/>
              <a:t> 가장 좌측에 고정적으로 위치한다</a:t>
            </a:r>
            <a:r>
              <a:rPr lang="en-US" altLang="ko-KR" sz="1600" dirty="0" smtClean="0"/>
              <a:t>.</a:t>
            </a:r>
          </a:p>
          <a:p>
            <a:pPr>
              <a:lnSpc>
                <a:spcPct val="150000"/>
              </a:lnSpc>
            </a:pPr>
            <a:r>
              <a:rPr lang="en-US" altLang="ko-KR" sz="1600" dirty="0" smtClean="0"/>
              <a:t>• </a:t>
            </a:r>
            <a:r>
              <a:rPr lang="ko-KR" altLang="en-US" sz="1600" dirty="0" smtClean="0"/>
              <a:t>캐릭터가 던전 탐험을 시작하는 위치이다</a:t>
            </a:r>
            <a:r>
              <a:rPr lang="en-US" altLang="ko-KR" sz="1600" dirty="0" smtClean="0"/>
              <a:t>.</a:t>
            </a:r>
          </a:p>
          <a:p>
            <a:pPr>
              <a:lnSpc>
                <a:spcPct val="150000"/>
              </a:lnSpc>
            </a:pPr>
            <a:r>
              <a:rPr lang="en-US" altLang="ko-KR" sz="1600" dirty="0"/>
              <a:t>• </a:t>
            </a:r>
            <a:r>
              <a:rPr lang="ko-KR" altLang="en-US" sz="1600" dirty="0" smtClean="0"/>
              <a:t>캐릭터가 던전 탐험 중 사망했을 때</a:t>
            </a:r>
            <a:r>
              <a:rPr lang="en-US" altLang="ko-KR" sz="1600" dirty="0"/>
              <a:t> </a:t>
            </a:r>
            <a:r>
              <a:rPr lang="ko-KR" altLang="en-US" sz="1600" dirty="0" smtClean="0"/>
              <a:t>돌아오는 위치이다</a:t>
            </a:r>
            <a:r>
              <a:rPr lang="en-US" altLang="ko-KR" sz="1600" dirty="0" smtClean="0"/>
              <a:t>.</a:t>
            </a:r>
          </a:p>
          <a:p>
            <a:pPr>
              <a:lnSpc>
                <a:spcPct val="150000"/>
              </a:lnSpc>
            </a:pPr>
            <a:r>
              <a:rPr lang="en-US" altLang="ko-KR" sz="1600" dirty="0" smtClean="0"/>
              <a:t>• </a:t>
            </a:r>
            <a:r>
              <a:rPr lang="ko-KR" altLang="en-US" sz="1600" dirty="0" smtClean="0"/>
              <a:t>캐릭터 사망으로 인한 맵 재설정에 영향을 받지 않는다</a:t>
            </a:r>
            <a:r>
              <a:rPr lang="en-US" altLang="ko-KR" sz="1600" dirty="0" smtClean="0"/>
              <a:t>.</a:t>
            </a:r>
          </a:p>
        </p:txBody>
      </p:sp>
      <p:sp>
        <p:nvSpPr>
          <p:cNvPr id="105" name="TextBox 104"/>
          <p:cNvSpPr txBox="1"/>
          <p:nvPr/>
        </p:nvSpPr>
        <p:spPr>
          <a:xfrm>
            <a:off x="1993899" y="4400445"/>
            <a:ext cx="9359900" cy="1615827"/>
          </a:xfrm>
          <a:prstGeom prst="rect">
            <a:avLst/>
          </a:prstGeom>
          <a:noFill/>
        </p:spPr>
        <p:txBody>
          <a:bodyPr wrap="square" rtlCol="0">
            <a:spAutoFit/>
          </a:bodyPr>
          <a:lstStyle/>
          <a:p>
            <a:pPr>
              <a:lnSpc>
                <a:spcPct val="150000"/>
              </a:lnSpc>
            </a:pPr>
            <a:r>
              <a:rPr lang="en-US" altLang="ko-KR" dirty="0" smtClean="0"/>
              <a:t>• </a:t>
            </a:r>
            <a:r>
              <a:rPr lang="ko-KR" altLang="en-US" sz="1600" dirty="0" smtClean="0"/>
              <a:t>동일한 계층 내에 고정적으로 </a:t>
            </a:r>
            <a:r>
              <a:rPr lang="en-US" altLang="ko-KR" sz="1600" dirty="0" smtClean="0"/>
              <a:t>7</a:t>
            </a:r>
            <a:r>
              <a:rPr lang="ko-KR" altLang="en-US" sz="1600" dirty="0" smtClean="0"/>
              <a:t>개의 </a:t>
            </a:r>
            <a:r>
              <a:rPr lang="ko-KR" altLang="en-US" sz="1600" dirty="0" err="1" smtClean="0"/>
              <a:t>에어리어가</a:t>
            </a:r>
            <a:r>
              <a:rPr lang="ko-KR" altLang="en-US" sz="1600" dirty="0" smtClean="0"/>
              <a:t> 수직 일렬로 연결된다</a:t>
            </a:r>
            <a:r>
              <a:rPr lang="en-US" altLang="ko-KR" sz="1600" dirty="0" smtClean="0"/>
              <a:t>.</a:t>
            </a:r>
            <a:endParaRPr lang="en-US" altLang="ko-KR" dirty="0" smtClean="0"/>
          </a:p>
          <a:p>
            <a:pPr>
              <a:lnSpc>
                <a:spcPct val="150000"/>
              </a:lnSpc>
            </a:pPr>
            <a:r>
              <a:rPr lang="en-US" altLang="ko-KR" sz="1600" dirty="0" smtClean="0"/>
              <a:t>• </a:t>
            </a:r>
            <a:r>
              <a:rPr lang="ko-KR" altLang="en-US" sz="1600" dirty="0" err="1" smtClean="0"/>
              <a:t>에어리어</a:t>
            </a:r>
            <a:r>
              <a:rPr lang="ko-KR" altLang="en-US" sz="1600" dirty="0" smtClean="0"/>
              <a:t> 마다 이벤트를 품고 있으며</a:t>
            </a:r>
            <a:r>
              <a:rPr lang="en-US" altLang="ko-KR" sz="1600" dirty="0" smtClean="0"/>
              <a:t>, </a:t>
            </a:r>
            <a:r>
              <a:rPr lang="ko-KR" altLang="en-US" sz="1600" dirty="0" smtClean="0"/>
              <a:t>재생성 시 일부 </a:t>
            </a:r>
            <a:r>
              <a:rPr lang="ko-KR" altLang="en-US" sz="1600" dirty="0" err="1" smtClean="0"/>
              <a:t>에어리어를</a:t>
            </a:r>
            <a:r>
              <a:rPr lang="ko-KR" altLang="en-US" sz="1600" dirty="0" smtClean="0"/>
              <a:t> 제외하고 무작위로 변경된다</a:t>
            </a:r>
            <a:r>
              <a:rPr lang="en-US" altLang="ko-KR" sz="1600" dirty="0" smtClean="0"/>
              <a:t>.</a:t>
            </a:r>
            <a:br>
              <a:rPr lang="en-US" altLang="ko-KR" sz="1600" dirty="0" smtClean="0"/>
            </a:br>
            <a:r>
              <a:rPr lang="en-US" altLang="ko-KR" sz="1600" dirty="0" smtClean="0"/>
              <a:t>• </a:t>
            </a:r>
            <a:r>
              <a:rPr lang="ko-KR" altLang="en-US" sz="1600" dirty="0" smtClean="0"/>
              <a:t>서로 다른 계층을 잇는 길에 연결된 </a:t>
            </a:r>
            <a:r>
              <a:rPr lang="ko-KR" altLang="en-US" sz="1600" dirty="0" err="1" smtClean="0"/>
              <a:t>에어리어는</a:t>
            </a:r>
            <a:r>
              <a:rPr lang="ko-KR" altLang="en-US" sz="1600" dirty="0" smtClean="0"/>
              <a:t> 전투 이벤트를 가지고있다</a:t>
            </a:r>
            <a:r>
              <a:rPr lang="en-US" altLang="ko-KR" sz="1600" dirty="0" smtClean="0"/>
              <a:t>.</a:t>
            </a:r>
          </a:p>
          <a:p>
            <a:pPr>
              <a:lnSpc>
                <a:spcPct val="150000"/>
              </a:lnSpc>
            </a:pPr>
            <a:r>
              <a:rPr lang="en-US" altLang="ko-KR" sz="1600" dirty="0" smtClean="0"/>
              <a:t>• </a:t>
            </a:r>
            <a:r>
              <a:rPr lang="ko-KR" altLang="en-US" sz="1600" dirty="0" smtClean="0"/>
              <a:t>캐릭터 사망으로 인한 맵 재설정에 영향을 받지 않음</a:t>
            </a:r>
            <a:endParaRPr lang="en-US" altLang="ko-KR" sz="1600" dirty="0" smtClean="0"/>
          </a:p>
        </p:txBody>
      </p:sp>
      <p:sp>
        <p:nvSpPr>
          <p:cNvPr id="106" name="곱셈 기호 10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8164951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44</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389468" y="1105085"/>
            <a:ext cx="11383432" cy="5216813"/>
          </a:xfrm>
          <a:prstGeom prst="rect">
            <a:avLst/>
          </a:prstGeom>
          <a:noFill/>
        </p:spPr>
        <p:txBody>
          <a:bodyPr wrap="square" rtlCol="0">
            <a:spAutoFit/>
          </a:bodyPr>
          <a:lstStyle/>
          <a:p>
            <a:pPr>
              <a:lnSpc>
                <a:spcPct val="150000"/>
              </a:lnSpc>
            </a:pPr>
            <a:r>
              <a:rPr lang="en-US" altLang="ko-KR" dirty="0"/>
              <a:t>• </a:t>
            </a:r>
            <a:r>
              <a:rPr lang="ko-KR" altLang="en-US" dirty="0" smtClean="0"/>
              <a:t>규칙 </a:t>
            </a:r>
            <a:r>
              <a:rPr lang="en-US" altLang="ko-KR" dirty="0" smtClean="0"/>
              <a:t>1 : </a:t>
            </a:r>
            <a:r>
              <a:rPr lang="ko-KR" altLang="en-US" dirty="0" smtClean="0"/>
              <a:t>고정 요소</a:t>
            </a:r>
            <a:endParaRPr lang="en-US" altLang="ko-KR" dirty="0" smtClean="0"/>
          </a:p>
          <a:p>
            <a:pPr>
              <a:lnSpc>
                <a:spcPct val="150000"/>
              </a:lnSpc>
            </a:pPr>
            <a:r>
              <a:rPr lang="en-US" altLang="ko-KR" dirty="0" smtClean="0"/>
              <a:t>- </a:t>
            </a:r>
            <a:r>
              <a:rPr lang="ko-KR" altLang="en-US" dirty="0" smtClean="0"/>
              <a:t>입구는 </a:t>
            </a:r>
            <a:r>
              <a:rPr lang="ko-KR" altLang="en-US" dirty="0" err="1" smtClean="0"/>
              <a:t>최좌측</a:t>
            </a:r>
            <a:r>
              <a:rPr lang="en-US" altLang="ko-KR" dirty="0" smtClean="0"/>
              <a:t>, </a:t>
            </a:r>
            <a:r>
              <a:rPr lang="ko-KR" altLang="en-US" dirty="0" err="1" smtClean="0"/>
              <a:t>최심부는</a:t>
            </a:r>
            <a:r>
              <a:rPr lang="ko-KR" altLang="en-US" dirty="0" smtClean="0"/>
              <a:t> </a:t>
            </a:r>
            <a:r>
              <a:rPr lang="ko-KR" altLang="en-US" dirty="0" err="1" smtClean="0"/>
              <a:t>최우측에</a:t>
            </a:r>
            <a:r>
              <a:rPr lang="ko-KR" altLang="en-US" dirty="0" smtClean="0"/>
              <a:t> 위치하며 길과 계층을 따라 선형적으로 연결되어 있다</a:t>
            </a:r>
            <a:r>
              <a:rPr lang="en-US" altLang="ko-KR" dirty="0" smtClean="0"/>
              <a:t>.</a:t>
            </a:r>
          </a:p>
          <a:p>
            <a:pPr>
              <a:lnSpc>
                <a:spcPct val="150000"/>
              </a:lnSpc>
            </a:pPr>
            <a:r>
              <a:rPr lang="en-US" altLang="ko-KR" dirty="0" smtClean="0"/>
              <a:t>- </a:t>
            </a:r>
            <a:r>
              <a:rPr lang="ko-KR" altLang="en-US" dirty="0" smtClean="0"/>
              <a:t>한 계층에서 다른 계층으로 이동할 수 있는 길은</a:t>
            </a:r>
            <a:r>
              <a:rPr lang="en-US" altLang="ko-KR" dirty="0" smtClean="0"/>
              <a:t>, </a:t>
            </a:r>
            <a:r>
              <a:rPr lang="ko-KR" altLang="en-US" dirty="0" smtClean="0"/>
              <a:t>계층 내 하나의 에어리어에만 존재한다</a:t>
            </a:r>
            <a:r>
              <a:rPr lang="en-US" altLang="ko-KR" dirty="0" smtClean="0"/>
              <a:t>.</a:t>
            </a:r>
          </a:p>
          <a:p>
            <a:pPr>
              <a:lnSpc>
                <a:spcPct val="150000"/>
              </a:lnSpc>
            </a:pPr>
            <a:r>
              <a:rPr lang="en-US" altLang="ko-KR" dirty="0" smtClean="0"/>
              <a:t>- </a:t>
            </a:r>
            <a:r>
              <a:rPr lang="ko-KR" altLang="en-US" dirty="0" smtClean="0"/>
              <a:t>입구</a:t>
            </a:r>
            <a:r>
              <a:rPr lang="en-US" altLang="ko-KR" dirty="0" smtClean="0"/>
              <a:t>, 3</a:t>
            </a:r>
            <a:r>
              <a:rPr lang="ko-KR" altLang="en-US" dirty="0" smtClean="0"/>
              <a:t>의 배수 계층</a:t>
            </a:r>
            <a:r>
              <a:rPr lang="en-US" altLang="ko-KR" dirty="0" smtClean="0"/>
              <a:t>(</a:t>
            </a:r>
            <a:r>
              <a:rPr lang="ko-KR" altLang="en-US" dirty="0" smtClean="0"/>
              <a:t>보스 </a:t>
            </a:r>
            <a:r>
              <a:rPr lang="ko-KR" altLang="en-US" dirty="0" err="1" smtClean="0"/>
              <a:t>에어리어</a:t>
            </a:r>
            <a:r>
              <a:rPr lang="en-US" altLang="ko-KR" dirty="0" smtClean="0"/>
              <a:t>)</a:t>
            </a:r>
            <a:r>
              <a:rPr lang="ko-KR" altLang="en-US" dirty="0" smtClean="0"/>
              <a:t>의 위치는 게임의 리셋과 상관없이 고정적이다</a:t>
            </a:r>
            <a:r>
              <a:rPr lang="en-US" altLang="ko-KR" dirty="0" smtClean="0"/>
              <a:t>.</a:t>
            </a:r>
          </a:p>
          <a:p>
            <a:pPr>
              <a:lnSpc>
                <a:spcPct val="150000"/>
              </a:lnSpc>
            </a:pPr>
            <a:r>
              <a:rPr lang="en-US" altLang="ko-KR" dirty="0" smtClean="0"/>
              <a:t>- 3</a:t>
            </a:r>
            <a:r>
              <a:rPr lang="ko-KR" altLang="en-US" dirty="0" smtClean="0"/>
              <a:t>의 배수 계층에는 보스 몬스터가 존재한다</a:t>
            </a:r>
            <a:r>
              <a:rPr lang="en-US" altLang="ko-KR" dirty="0" smtClean="0"/>
              <a:t>.</a:t>
            </a:r>
            <a:endParaRPr lang="en-US" altLang="ko-KR" dirty="0"/>
          </a:p>
          <a:p>
            <a:pPr>
              <a:lnSpc>
                <a:spcPct val="150000"/>
              </a:lnSpc>
            </a:pPr>
            <a:endParaRPr lang="en-US" altLang="ko-KR" dirty="0" smtClean="0"/>
          </a:p>
          <a:p>
            <a:pPr>
              <a:lnSpc>
                <a:spcPct val="150000"/>
              </a:lnSpc>
            </a:pPr>
            <a:r>
              <a:rPr lang="en-US" altLang="ko-KR" dirty="0" smtClean="0"/>
              <a:t>• </a:t>
            </a:r>
            <a:r>
              <a:rPr lang="ko-KR" altLang="en-US" dirty="0" smtClean="0"/>
              <a:t>규칙 </a:t>
            </a:r>
            <a:r>
              <a:rPr lang="en-US" altLang="ko-KR" dirty="0" smtClean="0"/>
              <a:t>2 : </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임의 저장과 불러오기가 불가능하며</a:t>
            </a:r>
            <a:r>
              <a:rPr lang="en-US" altLang="ko-KR" dirty="0" smtClean="0"/>
              <a:t>, </a:t>
            </a:r>
            <a:r>
              <a:rPr lang="ko-KR" altLang="en-US" dirty="0" smtClean="0"/>
              <a:t>캐릭터 사망 시</a:t>
            </a:r>
            <a:endParaRPr lang="en-US" altLang="ko-KR" dirty="0" smtClean="0"/>
          </a:p>
          <a:p>
            <a:pPr>
              <a:lnSpc>
                <a:spcPct val="150000"/>
              </a:lnSpc>
            </a:pPr>
            <a:r>
              <a:rPr lang="en-US" altLang="ko-KR" dirty="0"/>
              <a:t> </a:t>
            </a:r>
            <a:r>
              <a:rPr lang="ko-KR" altLang="en-US" dirty="0" smtClean="0"/>
              <a:t> 레벨</a:t>
            </a:r>
            <a:r>
              <a:rPr lang="en-US" altLang="ko-KR" dirty="0" smtClean="0"/>
              <a:t>, </a:t>
            </a:r>
            <a:r>
              <a:rPr lang="ko-KR" altLang="en-US" dirty="0" smtClean="0"/>
              <a:t>아이템 등의 데이터를 잃고 </a:t>
            </a:r>
            <a:r>
              <a:rPr lang="ko-KR" altLang="en-US" b="1" dirty="0" smtClean="0"/>
              <a:t>게임이 </a:t>
            </a:r>
            <a:r>
              <a:rPr lang="ko-KR" altLang="en-US" b="1" dirty="0" err="1" smtClean="0"/>
              <a:t>리셋</a:t>
            </a:r>
            <a:r>
              <a:rPr lang="ko-KR" altLang="en-US" dirty="0" err="1" smtClean="0"/>
              <a:t>됩니다</a:t>
            </a:r>
            <a:r>
              <a:rPr lang="en-US" altLang="ko-KR" dirty="0" smtClean="0"/>
              <a:t>.</a:t>
            </a:r>
          </a:p>
          <a:p>
            <a:pPr>
              <a:lnSpc>
                <a:spcPct val="150000"/>
              </a:lnSpc>
            </a:pPr>
            <a:endParaRPr lang="en-US" altLang="ko-KR" sz="1200" dirty="0"/>
          </a:p>
          <a:p>
            <a:pPr>
              <a:lnSpc>
                <a:spcPct val="150000"/>
              </a:lnSpc>
            </a:pPr>
            <a:r>
              <a:rPr lang="en-US" altLang="ko-KR" dirty="0" smtClean="0"/>
              <a:t>• </a:t>
            </a:r>
            <a:r>
              <a:rPr lang="ko-KR" altLang="en-US" dirty="0" smtClean="0"/>
              <a:t>접근성과 성취감을 높이고 </a:t>
            </a:r>
            <a:r>
              <a:rPr lang="ko-KR" altLang="en-US" dirty="0" err="1" smtClean="0"/>
              <a:t>다회차</a:t>
            </a:r>
            <a:r>
              <a:rPr lang="ko-KR" altLang="en-US" dirty="0" smtClean="0"/>
              <a:t> 플레이어의 형평성을</a:t>
            </a:r>
            <a:endParaRPr lang="en-US" altLang="ko-KR" dirty="0" smtClean="0"/>
          </a:p>
          <a:p>
            <a:pPr>
              <a:lnSpc>
                <a:spcPct val="150000"/>
              </a:lnSpc>
            </a:pPr>
            <a:r>
              <a:rPr lang="en-US" altLang="ko-KR" dirty="0"/>
              <a:t> </a:t>
            </a:r>
            <a:r>
              <a:rPr lang="ko-KR" altLang="en-US" dirty="0" smtClean="0"/>
              <a:t> 위해</a:t>
            </a:r>
            <a:r>
              <a:rPr lang="en-US" altLang="ko-KR" dirty="0" smtClean="0"/>
              <a:t>, </a:t>
            </a:r>
            <a:r>
              <a:rPr lang="ko-KR" altLang="en-US" dirty="0" smtClean="0"/>
              <a:t>사망해도 </a:t>
            </a:r>
            <a:r>
              <a:rPr lang="ko-KR" altLang="en-US" b="1" dirty="0" smtClean="0"/>
              <a:t>잃지 않는 데이터가</a:t>
            </a:r>
            <a:r>
              <a:rPr lang="en-US" altLang="ko-KR" b="1" dirty="0" smtClean="0"/>
              <a:t> </a:t>
            </a:r>
            <a:r>
              <a:rPr lang="ko-KR" altLang="en-US" dirty="0" smtClean="0"/>
              <a:t>존재합니다</a:t>
            </a:r>
            <a:r>
              <a:rPr lang="en-US" altLang="ko-KR" dirty="0" smtClean="0"/>
              <a:t>.</a:t>
            </a:r>
            <a:endParaRPr lang="en-US" altLang="ko-KR"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85844453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45</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a:off x="2287232"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a:off x="2279278"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a:off x="2279279"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p:cNvSpPr/>
          <p:nvPr/>
        </p:nvSpPr>
        <p:spPr>
          <a:xfrm>
            <a:off x="3321853"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3322656"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3314702"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p:cNvSpPr/>
          <p:nvPr/>
        </p:nvSpPr>
        <p:spPr>
          <a:xfrm>
            <a:off x="3314703"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p:cNvSpPr/>
          <p:nvPr/>
        </p:nvSpPr>
        <p:spPr>
          <a:xfrm>
            <a:off x="540804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p:cNvSpPr/>
          <p:nvPr/>
        </p:nvSpPr>
        <p:spPr>
          <a:xfrm>
            <a:off x="5408041" y="203283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타원 59"/>
          <p:cNvSpPr/>
          <p:nvPr/>
        </p:nvSpPr>
        <p:spPr>
          <a:xfrm>
            <a:off x="5408844"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sp>
        <p:nvSpPr>
          <p:cNvPr id="134" name="직사각형 133"/>
          <p:cNvSpPr/>
          <p:nvPr/>
        </p:nvSpPr>
        <p:spPr>
          <a:xfrm>
            <a:off x="4195481" y="3394351"/>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5" name="직사각형 134"/>
          <p:cNvSpPr/>
          <p:nvPr/>
        </p:nvSpPr>
        <p:spPr>
          <a:xfrm>
            <a:off x="7346576" y="3380904"/>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6" name="직사각형 135"/>
          <p:cNvSpPr/>
          <p:nvPr/>
        </p:nvSpPr>
        <p:spPr>
          <a:xfrm>
            <a:off x="10765240" y="3380903"/>
            <a:ext cx="699247" cy="781371"/>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최종</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직선 화살표 연결선 70"/>
          <p:cNvCxnSpPr/>
          <p:nvPr/>
        </p:nvCxnSpPr>
        <p:spPr>
          <a:xfrm>
            <a:off x="1521917" y="3942318"/>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5" name="직선 화살표 연결선 74"/>
          <p:cNvCxnSpPr/>
          <p:nvPr/>
        </p:nvCxnSpPr>
        <p:spPr>
          <a:xfrm flipH="1" flipV="1">
            <a:off x="2705753" y="2422643"/>
            <a:ext cx="104682" cy="208195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6" name="직선 화살표 연결선 75"/>
          <p:cNvCxnSpPr/>
          <p:nvPr/>
        </p:nvCxnSpPr>
        <p:spPr>
          <a:xfrm>
            <a:off x="2606995" y="1958880"/>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7" name="직선 화살표 연결선 76"/>
          <p:cNvCxnSpPr/>
          <p:nvPr/>
        </p:nvCxnSpPr>
        <p:spPr>
          <a:xfrm>
            <a:off x="3747969" y="2961121"/>
            <a:ext cx="14251"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8" name="직선 화살표 연결선 77"/>
          <p:cNvCxnSpPr/>
          <p:nvPr/>
        </p:nvCxnSpPr>
        <p:spPr>
          <a:xfrm flipV="1">
            <a:off x="3621384" y="4176696"/>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직선 화살표 연결선 78"/>
          <p:cNvCxnSpPr/>
          <p:nvPr/>
        </p:nvCxnSpPr>
        <p:spPr>
          <a:xfrm>
            <a:off x="4942322" y="3677956"/>
            <a:ext cx="466522"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0" name="직선 화살표 연결선 79"/>
          <p:cNvCxnSpPr/>
          <p:nvPr/>
        </p:nvCxnSpPr>
        <p:spPr>
          <a:xfrm flipV="1">
            <a:off x="5252976" y="1694329"/>
            <a:ext cx="155064" cy="1858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1" name="직선 화살표 연결선 80"/>
          <p:cNvCxnSpPr/>
          <p:nvPr/>
        </p:nvCxnSpPr>
        <p:spPr>
          <a:xfrm>
            <a:off x="5875515" y="1360487"/>
            <a:ext cx="0" cy="4584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2" name="직선 화살표 연결선 81"/>
          <p:cNvCxnSpPr/>
          <p:nvPr/>
        </p:nvCxnSpPr>
        <p:spPr>
          <a:xfrm flipV="1">
            <a:off x="5862737" y="5542516"/>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3" name="직선 화살표 연결선 82"/>
          <p:cNvCxnSpPr/>
          <p:nvPr/>
        </p:nvCxnSpPr>
        <p:spPr>
          <a:xfrm flipV="1">
            <a:off x="6369078" y="3154206"/>
            <a:ext cx="0" cy="20386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5" name="직선 화살표 연결선 84"/>
          <p:cNvCxnSpPr/>
          <p:nvPr/>
        </p:nvCxnSpPr>
        <p:spPr>
          <a:xfrm>
            <a:off x="6820785" y="2752256"/>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 name="직선 화살표 연결선 90"/>
          <p:cNvCxnSpPr/>
          <p:nvPr/>
        </p:nvCxnSpPr>
        <p:spPr>
          <a:xfrm flipV="1">
            <a:off x="8045823" y="2812765"/>
            <a:ext cx="491695" cy="65085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5" name="직선 화살표 연결선 94"/>
          <p:cNvCxnSpPr/>
          <p:nvPr/>
        </p:nvCxnSpPr>
        <p:spPr>
          <a:xfrm>
            <a:off x="8991721" y="2961121"/>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1" name="직선 화살표 연결선 100"/>
          <p:cNvCxnSpPr/>
          <p:nvPr/>
        </p:nvCxnSpPr>
        <p:spPr>
          <a:xfrm>
            <a:off x="8908543" y="4733620"/>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a:off x="9519835" y="4971960"/>
            <a:ext cx="53106" cy="9537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flipH="1" flipV="1">
            <a:off x="9943966" y="3955766"/>
            <a:ext cx="151174" cy="203049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a:off x="10019553" y="3652787"/>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10374267" y="802896"/>
            <a:ext cx="1943240" cy="369332"/>
            <a:chOff x="10374267" y="802896"/>
            <a:chExt cx="1943240" cy="369332"/>
          </a:xfrm>
        </p:grpSpPr>
        <p:cxnSp>
          <p:nvCxnSpPr>
            <p:cNvPr id="114" name="직선 화살표 연결선 113"/>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grpSp>
      <p:sp>
        <p:nvSpPr>
          <p:cNvPr id="107" name="TextBox 106"/>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6" name="TextBox 115"/>
          <p:cNvSpPr txBox="1"/>
          <p:nvPr/>
        </p:nvSpPr>
        <p:spPr>
          <a:xfrm>
            <a:off x="4316878" y="392472"/>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전체 지도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6" name="곱셈 기호 9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015570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46</a:t>
            </a:fld>
            <a:endParaRPr lang="ko-KR" altLang="en-US" sz="1800" dirty="0"/>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cxnSp>
        <p:nvCxnSpPr>
          <p:cNvPr id="130" name="직선 연결선 129"/>
          <p:cNvCxnSpPr/>
          <p:nvPr/>
        </p:nvCxnSpPr>
        <p:spPr>
          <a:xfrm rot="5400000" flipH="1">
            <a:off x="6324047" y="-254260"/>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타원 6"/>
          <p:cNvSpPr/>
          <p:nvPr/>
        </p:nvSpPr>
        <p:spPr>
          <a:xfrm rot="5400000">
            <a:off x="6142093" y="175058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rot="5400000">
            <a:off x="6922022" y="175607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rot="5400000">
            <a:off x="7715396" y="175607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rot="5400000">
            <a:off x="8495324" y="175688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5400000">
            <a:off x="3775416" y="174892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rot="5400000">
            <a:off x="4555343" y="174892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rot="5400000">
            <a:off x="5348718" y="17497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2" name="직선 연결선 141"/>
          <p:cNvCxnSpPr>
            <a:stCxn id="14" idx="6"/>
          </p:cNvCxnSpPr>
          <p:nvPr/>
        </p:nvCxnSpPr>
        <p:spPr>
          <a:xfrm rot="5400000">
            <a:off x="7164068" y="2051915"/>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endCxn id="24" idx="2"/>
          </p:cNvCxnSpPr>
          <p:nvPr/>
        </p:nvCxnSpPr>
        <p:spPr>
          <a:xfrm rot="5400000">
            <a:off x="5551220" y="963877"/>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2" name="그룹 1"/>
          <p:cNvGrpSpPr/>
          <p:nvPr/>
        </p:nvGrpSpPr>
        <p:grpSpPr>
          <a:xfrm>
            <a:off x="10374267" y="802896"/>
            <a:ext cx="1943240" cy="369332"/>
            <a:chOff x="10374267" y="802896"/>
            <a:chExt cx="1943240" cy="369332"/>
          </a:xfrm>
        </p:grpSpPr>
        <p:sp>
          <p:nvSpPr>
            <p:cNvPr id="75" name="TextBox 7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cxnSp>
          <p:nvCxnSpPr>
            <p:cNvPr id="76" name="직선 화살표 연결선 75"/>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77" name="TextBox 76"/>
          <p:cNvSpPr txBox="1"/>
          <p:nvPr/>
        </p:nvSpPr>
        <p:spPr>
          <a:xfrm>
            <a:off x="586462" y="1692907"/>
            <a:ext cx="1824307"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 지도</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타원 94"/>
          <p:cNvSpPr/>
          <p:nvPr/>
        </p:nvSpPr>
        <p:spPr>
          <a:xfrm rot="5400000">
            <a:off x="6166407" y="67824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TextBox 95"/>
          <p:cNvSpPr txBox="1"/>
          <p:nvPr/>
        </p:nvSpPr>
        <p:spPr>
          <a:xfrm>
            <a:off x="3714007" y="538681"/>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6720246" y="538681"/>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5" name="TextBox 104"/>
          <p:cNvSpPr txBox="1"/>
          <p:nvPr/>
        </p:nvSpPr>
        <p:spPr>
          <a:xfrm>
            <a:off x="2850190" y="736802"/>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2852951" y="1766722"/>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TextBox 106"/>
          <p:cNvSpPr txBox="1"/>
          <p:nvPr/>
        </p:nvSpPr>
        <p:spPr>
          <a:xfrm>
            <a:off x="2850190" y="279703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타원 107"/>
          <p:cNvSpPr/>
          <p:nvPr/>
        </p:nvSpPr>
        <p:spPr>
          <a:xfrm rot="5400000">
            <a:off x="6957556" y="277475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TextBox 111"/>
          <p:cNvSpPr txBox="1"/>
          <p:nvPr/>
        </p:nvSpPr>
        <p:spPr>
          <a:xfrm>
            <a:off x="4505156" y="2635193"/>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3" name="TextBox 112"/>
          <p:cNvSpPr txBox="1"/>
          <p:nvPr/>
        </p:nvSpPr>
        <p:spPr>
          <a:xfrm>
            <a:off x="7511395" y="2635193"/>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2" name="액자 31"/>
          <p:cNvSpPr/>
          <p:nvPr/>
        </p:nvSpPr>
        <p:spPr>
          <a:xfrm>
            <a:off x="8944960" y="1596946"/>
            <a:ext cx="1867339" cy="1820490"/>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3" name="모서리가 둥근 사각형 설명선 32"/>
          <p:cNvSpPr/>
          <p:nvPr/>
        </p:nvSpPr>
        <p:spPr>
          <a:xfrm>
            <a:off x="8284898" y="3530426"/>
            <a:ext cx="2713851" cy="2261498"/>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b="1" dirty="0" smtClean="0">
                <a:solidFill>
                  <a:sysClr val="windowText" lastClr="000000"/>
                </a:solidFill>
              </a:rPr>
              <a:t>‘</a:t>
            </a:r>
            <a:r>
              <a:rPr lang="ko-KR" altLang="en-US" sz="1400" b="1" dirty="0" smtClean="0">
                <a:solidFill>
                  <a:sysClr val="windowText" lastClr="000000"/>
                </a:solidFill>
              </a:rPr>
              <a:t>캐릭터</a:t>
            </a:r>
            <a:r>
              <a:rPr lang="en-US" altLang="ko-KR" sz="14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- 30x30 unit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 크기 제작의 기준</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a:t>
            </a:r>
          </a:p>
        </p:txBody>
      </p:sp>
      <p:sp>
        <p:nvSpPr>
          <p:cNvPr id="35" name="곱셈 기호 34"/>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5652549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47</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52331227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48</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2128569" y="2123288"/>
            <a:ext cx="1511256" cy="1437499"/>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407641" y="1531919"/>
            <a:ext cx="3274456" cy="3536600"/>
          </a:xfrm>
          <a:prstGeom prst="wedgeRoundRectCallout">
            <a:avLst>
              <a:gd name="adj1" fmla="val -66725"/>
              <a:gd name="adj2" fmla="val 401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용사</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요소의 크기의 척도</a:t>
            </a:r>
            <a:r>
              <a:rPr lang="en-US" altLang="ko-KR" sz="1400" dirty="0" smtClean="0">
                <a:solidFill>
                  <a:sysClr val="windowText" lastClr="000000"/>
                </a:solidFill>
              </a:rPr>
              <a:t>, </a:t>
            </a:r>
            <a:r>
              <a:rPr lang="ko-KR" altLang="en-US" sz="1400" dirty="0" smtClean="0">
                <a:solidFill>
                  <a:sysClr val="windowText" lastClr="000000"/>
                </a:solidFill>
              </a:rPr>
              <a:t>기준 단위 </a:t>
            </a:r>
            <a:r>
              <a:rPr lang="en-US" altLang="ko-KR" sz="1400" dirty="0" smtClean="0">
                <a:solidFill>
                  <a:sysClr val="windowText" lastClr="000000"/>
                </a:solidFill>
              </a:rPr>
              <a:t>C</a:t>
            </a:r>
            <a:br>
              <a:rPr lang="en-US" altLang="ko-KR" sz="1400" dirty="0" smtClean="0">
                <a:solidFill>
                  <a:sysClr val="windowText" lastClr="000000"/>
                </a:solidFill>
              </a:rPr>
            </a:b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항상 고정된 자리</a:t>
            </a:r>
            <a:r>
              <a:rPr lang="en-US" altLang="ko-KR" sz="1400" dirty="0" smtClean="0">
                <a:solidFill>
                  <a:sysClr val="windowText" lastClr="000000"/>
                </a:solidFill>
              </a:rPr>
              <a:t>(</a:t>
            </a:r>
            <a:r>
              <a:rPr lang="en-US" altLang="ko-KR" sz="1400" dirty="0">
                <a:solidFill>
                  <a:sysClr val="windowText" lastClr="000000"/>
                </a:solidFill>
              </a:rPr>
              <a:t>75, 100</a:t>
            </a:r>
            <a:r>
              <a:rPr lang="en-US" altLang="ko-KR" sz="1400" dirty="0" smtClean="0">
                <a:solidFill>
                  <a:sysClr val="windowText" lastClr="000000"/>
                </a:solidFill>
              </a:rPr>
              <a:t>)</a:t>
            </a:r>
            <a:r>
              <a:rPr lang="ko-KR" altLang="en-US" sz="1400" dirty="0" smtClean="0">
                <a:solidFill>
                  <a:sysClr val="windowText" lastClr="000000"/>
                </a:solidFill>
              </a:rPr>
              <a:t>에 위치해있으며 </a:t>
            </a:r>
            <a:r>
              <a:rPr lang="en-US" altLang="ko-KR" sz="1400" dirty="0" smtClean="0">
                <a:solidFill>
                  <a:sysClr val="windowText" lastClr="000000"/>
                </a:solidFill>
              </a:rPr>
              <a:t>HP, SP </a:t>
            </a:r>
            <a:r>
              <a:rPr lang="ko-KR" altLang="en-US" sz="1400" dirty="0" smtClean="0">
                <a:solidFill>
                  <a:sysClr val="windowText" lastClr="000000"/>
                </a:solidFill>
              </a:rPr>
              <a:t>게이지가 표시됨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오른쪽</a:t>
            </a:r>
            <a:r>
              <a:rPr lang="en-US" altLang="ko-KR" sz="1400" dirty="0" smtClean="0">
                <a:solidFill>
                  <a:sysClr val="windowText" lastClr="000000"/>
                </a:solidFill>
              </a:rPr>
              <a:t>(</a:t>
            </a:r>
            <a:r>
              <a:rPr lang="ko-KR" altLang="en-US" sz="1400" dirty="0" smtClean="0">
                <a:solidFill>
                  <a:sysClr val="windowText" lastClr="000000"/>
                </a:solidFill>
              </a:rPr>
              <a:t>적</a:t>
            </a:r>
            <a:r>
              <a:rPr lang="en-US" altLang="ko-KR" sz="1400" dirty="0" smtClean="0">
                <a:solidFill>
                  <a:sysClr val="windowText" lastClr="000000"/>
                </a:solidFill>
              </a:rPr>
              <a:t>)</a:t>
            </a:r>
            <a:r>
              <a:rPr lang="ko-KR" altLang="en-US" sz="1400" dirty="0" smtClean="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마우스 클릭으로 선택 시 하단에 원형이 그려져 선택되었음을 알림</a:t>
            </a:r>
            <a:endParaRPr lang="en-US" altLang="ko-KR" sz="1400" dirty="0" smtClean="0">
              <a:solidFill>
                <a:sysClr val="windowText" lastClr="000000"/>
              </a:solidFill>
            </a:endParaRPr>
          </a:p>
        </p:txBody>
      </p:sp>
      <p:sp>
        <p:nvSpPr>
          <p:cNvPr id="74" name="TextBox 7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8995532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49</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화면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964119" y="947892"/>
            <a:ext cx="10234311" cy="5457199"/>
          </a:xfrm>
          <a:prstGeom prst="frame">
            <a:avLst>
              <a:gd name="adj1" fmla="val 1106"/>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8460926" y="1351472"/>
            <a:ext cx="3517564" cy="2688168"/>
          </a:xfrm>
          <a:prstGeom prst="wedgeRoundRectCallout">
            <a:avLst>
              <a:gd name="adj1" fmla="val -63616"/>
              <a:gd name="adj2" fmla="val -50852"/>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화면</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- 300 x 150 unit</a:t>
            </a:r>
            <a:br>
              <a:rPr lang="en-US" altLang="ko-KR" sz="1400" dirty="0" smtClean="0">
                <a:solidFill>
                  <a:sysClr val="windowText" lastClr="000000"/>
                </a:solidFill>
              </a:rPr>
            </a:br>
            <a:r>
              <a:rPr lang="en-US" altLang="ko-KR" sz="1400" dirty="0" smtClean="0">
                <a:solidFill>
                  <a:sysClr val="windowText" lastClr="000000"/>
                </a:solidFill>
              </a:rPr>
              <a:t>( C*12 x C*6 )</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t>
            </a:r>
            <a:r>
              <a:rPr lang="ko-KR" altLang="en-US" sz="1400" dirty="0">
                <a:solidFill>
                  <a:sysClr val="windowText" lastClr="000000"/>
                </a:solidFill>
              </a:rPr>
              <a:t>전투</a:t>
            </a:r>
            <a:r>
              <a:rPr lang="en-US" altLang="ko-KR" sz="1400" dirty="0">
                <a:solidFill>
                  <a:sysClr val="windowText" lastClr="000000"/>
                </a:solidFill>
              </a:rPr>
              <a:t>, </a:t>
            </a:r>
            <a:r>
              <a:rPr lang="ko-KR" altLang="en-US" sz="1400" dirty="0">
                <a:solidFill>
                  <a:sysClr val="windowText" lastClr="000000"/>
                </a:solidFill>
              </a:rPr>
              <a:t>상점</a:t>
            </a:r>
            <a:r>
              <a:rPr lang="en-US" altLang="ko-KR" sz="1400" dirty="0">
                <a:solidFill>
                  <a:sysClr val="windowText" lastClr="000000"/>
                </a:solidFill>
              </a:rPr>
              <a:t>, </a:t>
            </a:r>
            <a:r>
              <a:rPr lang="ko-KR" altLang="en-US" sz="1400" dirty="0" smtClean="0">
                <a:solidFill>
                  <a:sysClr val="windowText" lastClr="000000"/>
                </a:solidFill>
              </a:rPr>
              <a:t>이벤트</a:t>
            </a:r>
            <a:r>
              <a:rPr lang="en-US" altLang="ko-KR" sz="1400" dirty="0" smtClean="0">
                <a:solidFill>
                  <a:sysClr val="windowText" lastClr="000000"/>
                </a:solidFill>
              </a:rPr>
              <a:t> </a:t>
            </a:r>
            <a:r>
              <a:rPr lang="ko-KR" altLang="en-US" sz="1400" dirty="0" smtClean="0">
                <a:solidFill>
                  <a:sysClr val="windowText" lastClr="000000"/>
                </a:solidFill>
              </a:rPr>
              <a:t>등 에어리어에서 볼 수 있는 한 </a:t>
            </a:r>
            <a:r>
              <a:rPr lang="ko-KR" altLang="en-US" sz="1400" dirty="0">
                <a:solidFill>
                  <a:sysClr val="windowText" lastClr="000000"/>
                </a:solidFill>
              </a:rPr>
              <a:t>화면의 크기를 나타냄</a:t>
            </a:r>
            <a:endParaRPr lang="en-US" altLang="ko-KR" sz="1400" dirty="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좌측 하단을 원점</a:t>
            </a:r>
            <a:r>
              <a:rPr lang="en-US" altLang="ko-KR" sz="1400" dirty="0" smtClean="0">
                <a:solidFill>
                  <a:sysClr val="windowText" lastClr="000000"/>
                </a:solidFill>
              </a:rPr>
              <a:t>(0,0) </a:t>
            </a:r>
            <a:r>
              <a:rPr lang="ko-KR" altLang="en-US" sz="1400" dirty="0" smtClean="0">
                <a:solidFill>
                  <a:sysClr val="windowText" lastClr="000000"/>
                </a:solidFill>
              </a:rPr>
              <a:t>으로 하여</a:t>
            </a:r>
            <a:r>
              <a:rPr lang="en-US" altLang="ko-KR" sz="1400" dirty="0" smtClean="0">
                <a:solidFill>
                  <a:sysClr val="windowText" lastClr="000000"/>
                </a:solidFill>
              </a:rPr>
              <a:t>,</a:t>
            </a:r>
            <a:br>
              <a:rPr lang="en-US" altLang="ko-KR" sz="1400" dirty="0" smtClean="0">
                <a:solidFill>
                  <a:sysClr val="windowText" lastClr="000000"/>
                </a:solidFill>
              </a:rPr>
            </a:br>
            <a:r>
              <a:rPr lang="ko-KR" altLang="en-US" sz="1400" dirty="0" smtClean="0">
                <a:solidFill>
                  <a:sysClr val="windowText" lastClr="000000"/>
                </a:solidFill>
              </a:rPr>
              <a:t>오브젝트들의 중점을 기준으로 </a:t>
            </a:r>
            <a:r>
              <a:rPr lang="ko-KR" altLang="en-US" sz="1400" dirty="0" err="1" smtClean="0">
                <a:solidFill>
                  <a:sysClr val="windowText" lastClr="000000"/>
                </a:solidFill>
              </a:rPr>
              <a:t>좌표값을</a:t>
            </a:r>
            <a:r>
              <a:rPr lang="ko-KR" altLang="en-US" sz="1400" dirty="0" smtClean="0">
                <a:solidFill>
                  <a:sysClr val="windowText" lastClr="000000"/>
                </a:solidFill>
              </a:rPr>
              <a:t> 설정</a:t>
            </a:r>
            <a:endParaRPr lang="en-US" altLang="ko-KR" sz="1400" dirty="0" smtClean="0">
              <a:solidFill>
                <a:sysClr val="windowText" lastClr="000000"/>
              </a:solidFill>
            </a:endParaRPr>
          </a:p>
        </p:txBody>
      </p:sp>
      <p:cxnSp>
        <p:nvCxnSpPr>
          <p:cNvPr id="6" name="직선 화살표 연결선 5"/>
          <p:cNvCxnSpPr/>
          <p:nvPr/>
        </p:nvCxnSpPr>
        <p:spPr>
          <a:xfrm>
            <a:off x="783771" y="1094825"/>
            <a:ext cx="0" cy="3449338"/>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166386" y="2432157"/>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1 0 0 </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79" name="직선 화살표 연결선 78"/>
          <p:cNvCxnSpPr/>
          <p:nvPr/>
        </p:nvCxnSpPr>
        <p:spPr>
          <a:xfrm>
            <a:off x="783771" y="4544163"/>
            <a:ext cx="0" cy="1726736"/>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159876" y="5260912"/>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0</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97" name="직선 화살표 연결선 96"/>
          <p:cNvCxnSpPr/>
          <p:nvPr/>
        </p:nvCxnSpPr>
        <p:spPr>
          <a:xfrm flipH="1">
            <a:off x="1244980" y="4455740"/>
            <a:ext cx="4839842" cy="6112"/>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직선 화살표 연결선 97"/>
          <p:cNvCxnSpPr/>
          <p:nvPr/>
        </p:nvCxnSpPr>
        <p:spPr>
          <a:xfrm flipH="1" flipV="1">
            <a:off x="6084821" y="4450927"/>
            <a:ext cx="4876506" cy="829"/>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725275" y="4081595"/>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rPr>
              <a:t>1 5 0 </a:t>
            </a:r>
            <a:endParaRPr lang="ko-KR" altLang="en-US" spc="-300" dirty="0">
              <a:gradFill>
                <a:gsLst>
                  <a:gs pos="0">
                    <a:schemeClr val="tx1"/>
                  </a:gs>
                  <a:gs pos="100000">
                    <a:schemeClr val="tx1"/>
                  </a:gs>
                </a:gsLst>
                <a:lin ang="5400000" scaled="1"/>
              </a:gradFill>
              <a:latin typeface="맑은 고딕" panose="020B0503020000020004" pitchFamily="50" charset="-127"/>
            </a:endParaRPr>
          </a:p>
        </p:txBody>
      </p:sp>
      <p:sp>
        <p:nvSpPr>
          <p:cNvPr id="100" name="TextBox 99"/>
          <p:cNvSpPr txBox="1"/>
          <p:nvPr/>
        </p:nvSpPr>
        <p:spPr>
          <a:xfrm>
            <a:off x="9430710" y="4081595"/>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1 5 0 </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2" name="직선 화살표 연결선 101"/>
          <p:cNvCxnSpPr/>
          <p:nvPr/>
        </p:nvCxnSpPr>
        <p:spPr>
          <a:xfrm flipH="1">
            <a:off x="8624483" y="5305311"/>
            <a:ext cx="2421746" cy="0"/>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10393333" y="4960950"/>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7 5</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4" name="직선 화살표 연결선 103"/>
          <p:cNvCxnSpPr/>
          <p:nvPr/>
        </p:nvCxnSpPr>
        <p:spPr>
          <a:xfrm flipV="1">
            <a:off x="8497498" y="4574750"/>
            <a:ext cx="8612" cy="808843"/>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7935981" y="4568997"/>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5</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7" name="직선 화살표 연결선 106"/>
          <p:cNvCxnSpPr/>
          <p:nvPr/>
        </p:nvCxnSpPr>
        <p:spPr>
          <a:xfrm flipH="1">
            <a:off x="1219540" y="1222908"/>
            <a:ext cx="9753663" cy="10891"/>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630369" y="1288199"/>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rPr>
              <a:t>3 0 0 </a:t>
            </a:r>
            <a:endParaRPr lang="ko-KR" altLang="en-US" spc="-300" dirty="0">
              <a:gradFill>
                <a:gsLst>
                  <a:gs pos="0">
                    <a:schemeClr val="tx1"/>
                  </a:gs>
                  <a:gs pos="100000">
                    <a:schemeClr val="tx1"/>
                  </a:gs>
                </a:gsLst>
                <a:lin ang="5400000" scaled="1"/>
              </a:gradFill>
              <a:latin typeface="맑은 고딕" panose="020B0503020000020004" pitchFamily="50" charset="-127"/>
            </a:endParaRPr>
          </a:p>
        </p:txBody>
      </p:sp>
      <p:sp>
        <p:nvSpPr>
          <p:cNvPr id="111" name="TextBox 110"/>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81895561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50</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C00000"/>
                  </a:solidFill>
                </a:ln>
                <a:solidFill>
                  <a:sysClr val="windowText" lastClr="000000"/>
                </a:solidFill>
              </a:rPr>
              <a:t>정예</a:t>
            </a:r>
            <a:endParaRPr lang="en-US" altLang="ko-KR" sz="1200" dirty="0" smtClean="0">
              <a:ln>
                <a:solidFill>
                  <a:srgbClr val="C00000"/>
                </a:solidFill>
              </a:ln>
              <a:solidFill>
                <a:sysClr val="windowText" lastClr="000000"/>
              </a:solidFill>
            </a:endParaRPr>
          </a:p>
          <a:p>
            <a:pPr algn="ctr"/>
            <a:r>
              <a:rPr lang="ko-KR" altLang="en-US" sz="1200" dirty="0" err="1" smtClean="0">
                <a:ln>
                  <a:solidFill>
                    <a:srgbClr val="C00000"/>
                  </a:solidFill>
                </a:ln>
                <a:solidFill>
                  <a:sysClr val="windowText" lastClr="000000"/>
                </a:solidFill>
              </a:rPr>
              <a:t>몬스터</a:t>
            </a:r>
            <a:endParaRPr lang="en-US" altLang="ko-KR" sz="1200"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3529937" y="1182889"/>
            <a:ext cx="1511256" cy="3285808"/>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5528447" y="1816796"/>
            <a:ext cx="3021236" cy="3541498"/>
          </a:xfrm>
          <a:prstGeom prst="wedgeRoundRectCallout">
            <a:avLst>
              <a:gd name="adj1" fmla="val -63946"/>
              <a:gd name="adj2" fmla="val -35981"/>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몬스터 </a:t>
            </a:r>
            <a:r>
              <a:rPr lang="en-US" altLang="ko-KR" sz="1600" b="1" dirty="0" smtClean="0">
                <a:solidFill>
                  <a:sysClr val="windowText" lastClr="000000"/>
                </a:solidFill>
              </a:rPr>
              <a:t>(</a:t>
            </a:r>
            <a:r>
              <a:rPr lang="ko-KR" altLang="en-US" sz="1600" b="1" dirty="0" smtClean="0">
                <a:solidFill>
                  <a:sysClr val="windowText" lastClr="000000"/>
                </a:solidFill>
              </a:rPr>
              <a:t>아군</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유저가 컨트롤하는 몬스터로</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 </a:t>
            </a:r>
            <a:r>
              <a:rPr lang="ko-KR" altLang="en-US" sz="1400" dirty="0" smtClean="0">
                <a:solidFill>
                  <a:sysClr val="windowText" lastClr="000000"/>
                </a:solidFill>
              </a:rPr>
              <a:t>게이지가 표시됨</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t>
            </a:r>
            <a:r>
              <a:rPr lang="ko-KR" altLang="en-US" sz="1400" dirty="0">
                <a:solidFill>
                  <a:sysClr val="windowText" lastClr="000000"/>
                </a:solidFill>
              </a:rPr>
              <a:t>오른쪽</a:t>
            </a:r>
            <a:r>
              <a:rPr lang="en-US" altLang="ko-KR" sz="1400" dirty="0">
                <a:solidFill>
                  <a:sysClr val="windowText" lastClr="000000"/>
                </a:solidFill>
              </a:rPr>
              <a:t>(</a:t>
            </a:r>
            <a:r>
              <a:rPr lang="ko-KR" altLang="en-US" sz="1400" dirty="0">
                <a:solidFill>
                  <a:sysClr val="windowText" lastClr="000000"/>
                </a:solidFill>
              </a:rPr>
              <a:t>적</a:t>
            </a:r>
            <a:r>
              <a:rPr lang="en-US" altLang="ko-KR" sz="1400" dirty="0">
                <a:solidFill>
                  <a:sysClr val="windowText" lastClr="000000"/>
                </a:solidFill>
              </a:rPr>
              <a:t>)</a:t>
            </a:r>
            <a:r>
              <a:rPr lang="ko-KR" altLang="en-US" sz="1400" dirty="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파티 내 몬스터의 수에 따라 배치가 달라짐</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하단에 청색 원 표시</a:t>
            </a:r>
            <a:endParaRPr lang="en-US" altLang="ko-KR" sz="1400" dirty="0" smtClean="0">
              <a:solidFill>
                <a:sysClr val="windowText" lastClr="000000"/>
              </a:solidFill>
            </a:endParaRPr>
          </a:p>
        </p:txBody>
      </p:sp>
      <p:sp>
        <p:nvSpPr>
          <p:cNvPr id="74" name="TextBox 7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3279154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타원 21"/>
          <p:cNvSpPr/>
          <p:nvPr/>
        </p:nvSpPr>
        <p:spPr>
          <a:xfrm rot="1265973" flipH="1">
            <a:off x="10071741" y="4939497"/>
            <a:ext cx="1109922" cy="652908"/>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2303732" y="3659392"/>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6103367" y="2995519"/>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51</a:t>
            </a:fld>
            <a:endParaRPr lang="ko-KR" altLang="en-US" sz="1800" dirty="0"/>
          </a:p>
        </p:txBody>
      </p:sp>
      <p:sp>
        <p:nvSpPr>
          <p:cNvPr id="25" name="타원 24"/>
          <p:cNvSpPr/>
          <p:nvPr/>
        </p:nvSpPr>
        <p:spPr>
          <a:xfrm>
            <a:off x="6269829" y="24400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475087" y="31477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10241764" y="441043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32" name="TextBox 31"/>
          <p:cNvSpPr txBox="1"/>
          <p:nvPr/>
        </p:nvSpPr>
        <p:spPr>
          <a:xfrm>
            <a:off x="555572" y="1403431"/>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1</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3" name="이등변 삼각형 32"/>
          <p:cNvSpPr/>
          <p:nvPr/>
        </p:nvSpPr>
        <p:spPr>
          <a:xfrm rot="19319858">
            <a:off x="582237" y="34328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p:cNvSpPr/>
          <p:nvPr/>
        </p:nvSpPr>
        <p:spPr>
          <a:xfrm>
            <a:off x="904866" y="31477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용사</a:t>
            </a:r>
            <a:endParaRPr lang="ko-KR" altLang="en-US" sz="2400" dirty="0">
              <a:ln>
                <a:solidFill>
                  <a:srgbClr val="0BC10F"/>
                </a:solidFill>
              </a:ln>
              <a:solidFill>
                <a:schemeClr val="tx1"/>
              </a:solidFill>
            </a:endParaRPr>
          </a:p>
        </p:txBody>
      </p:sp>
      <p:sp>
        <p:nvSpPr>
          <p:cNvPr id="35" name="TextBox 34"/>
          <p:cNvSpPr txBox="1"/>
          <p:nvPr/>
        </p:nvSpPr>
        <p:spPr>
          <a:xfrm>
            <a:off x="4403069" y="1403431"/>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2</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8205440" y="1403432"/>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3</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타원 36"/>
          <p:cNvSpPr/>
          <p:nvPr/>
        </p:nvSpPr>
        <p:spPr>
          <a:xfrm rot="1265973" flipH="1">
            <a:off x="6098474" y="4215334"/>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6269829" y="3703738"/>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39" name="이등변 삼각형 38"/>
          <p:cNvSpPr/>
          <p:nvPr/>
        </p:nvSpPr>
        <p:spPr>
          <a:xfrm rot="19319858">
            <a:off x="4424479" y="3439113"/>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747108" y="3154107"/>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a:ln>
                  <a:solidFill>
                    <a:srgbClr val="0BC10F"/>
                  </a:solidFill>
                </a:ln>
                <a:solidFill>
                  <a:schemeClr val="tx1"/>
                </a:solidFill>
              </a:rPr>
              <a:t>용사</a:t>
            </a:r>
          </a:p>
        </p:txBody>
      </p:sp>
      <p:sp>
        <p:nvSpPr>
          <p:cNvPr id="41" name="타원 40"/>
          <p:cNvSpPr/>
          <p:nvPr/>
        </p:nvSpPr>
        <p:spPr>
          <a:xfrm rot="1265973" flipH="1">
            <a:off x="10065021" y="2438729"/>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10231483" y="188330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43" name="타원 42"/>
          <p:cNvSpPr/>
          <p:nvPr/>
        </p:nvSpPr>
        <p:spPr>
          <a:xfrm rot="1265973" flipH="1">
            <a:off x="10060128" y="3658544"/>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10231483" y="3146948"/>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45" name="이등변 삼각형 44"/>
          <p:cNvSpPr/>
          <p:nvPr/>
        </p:nvSpPr>
        <p:spPr>
          <a:xfrm rot="19319858">
            <a:off x="8373784" y="34328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8696413" y="31477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a:ln>
                  <a:solidFill>
                    <a:srgbClr val="0BC10F"/>
                  </a:solidFill>
                </a:ln>
                <a:solidFill>
                  <a:schemeClr val="tx1"/>
                </a:solidFill>
              </a:rPr>
              <a:t>용사</a:t>
            </a:r>
          </a:p>
        </p:txBody>
      </p:sp>
      <p:sp>
        <p:nvSpPr>
          <p:cNvPr id="29" name="TextBox 2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6310413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52</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464467" y="1158585"/>
            <a:ext cx="4042164" cy="3285808"/>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3050202" y="1451897"/>
            <a:ext cx="2896175" cy="4048085"/>
          </a:xfrm>
          <a:prstGeom prst="wedgeRoundRectCallout">
            <a:avLst>
              <a:gd name="adj1" fmla="val 63575"/>
              <a:gd name="adj2" fmla="val -37752"/>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몬스터 </a:t>
            </a:r>
            <a:r>
              <a:rPr lang="en-US" altLang="ko-KR" sz="1600" b="1" dirty="0" smtClean="0">
                <a:solidFill>
                  <a:sysClr val="windowText" lastClr="000000"/>
                </a:solidFill>
              </a:rPr>
              <a:t>(</a:t>
            </a:r>
            <a:r>
              <a:rPr lang="ko-KR" altLang="en-US" sz="1600" b="1" dirty="0" smtClean="0">
                <a:solidFill>
                  <a:sysClr val="windowText" lastClr="000000"/>
                </a:solidFill>
              </a:rPr>
              <a:t>적</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던전에서 적으로 출현하는 몬스터로</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 </a:t>
            </a:r>
            <a:r>
              <a:rPr lang="ko-KR" altLang="en-US" sz="1400" dirty="0" smtClean="0">
                <a:solidFill>
                  <a:sysClr val="windowText" lastClr="000000"/>
                </a:solidFill>
              </a:rPr>
              <a:t>게이지가 표시됨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왼쪽</a:t>
            </a:r>
            <a:r>
              <a:rPr lang="en-US" altLang="ko-KR" sz="1400" dirty="0" smtClean="0">
                <a:solidFill>
                  <a:sysClr val="windowText" lastClr="000000"/>
                </a:solidFill>
              </a:rPr>
              <a:t>(</a:t>
            </a:r>
            <a:r>
              <a:rPr lang="ko-KR" altLang="en-US" sz="1400" dirty="0" smtClean="0">
                <a:solidFill>
                  <a:sysClr val="windowText" lastClr="000000"/>
                </a:solidFill>
              </a:rPr>
              <a:t>아군</a:t>
            </a:r>
            <a:r>
              <a:rPr lang="en-US" altLang="ko-KR" sz="1400" dirty="0" smtClean="0">
                <a:solidFill>
                  <a:sysClr val="windowText" lastClr="000000"/>
                </a:solidFill>
              </a:rPr>
              <a:t>)</a:t>
            </a:r>
            <a:r>
              <a:rPr lang="ko-KR" altLang="en-US" sz="1400" dirty="0" smtClean="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위</a:t>
            </a:r>
            <a:r>
              <a:rPr lang="en-US" altLang="ko-KR" sz="1400" dirty="0" smtClean="0">
                <a:solidFill>
                  <a:sysClr val="windowText" lastClr="000000"/>
                </a:solidFill>
              </a:rPr>
              <a:t>, </a:t>
            </a:r>
            <a:r>
              <a:rPr lang="ko-KR" altLang="en-US" sz="1400" dirty="0" smtClean="0">
                <a:solidFill>
                  <a:sysClr val="windowText" lastClr="000000"/>
                </a:solidFill>
              </a:rPr>
              <a:t>왼쪽부터 차례가 시작됨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파티 내 몬스터의 수에 따라 배치가 달라짐</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차례 시 하단에 적색 원 표시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21086009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그룹 72"/>
          <p:cNvGrpSpPr/>
          <p:nvPr/>
        </p:nvGrpSpPr>
        <p:grpSpPr>
          <a:xfrm>
            <a:off x="8065852" y="3034568"/>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53</a:t>
            </a:fld>
            <a:endParaRPr lang="ko-KR" altLang="en-US" sz="1800" dirty="0"/>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8701578" y="190230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7958240" y="1797067"/>
            <a:ext cx="2087264" cy="1896792"/>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550534" y="1290064"/>
            <a:ext cx="2889648" cy="2588974"/>
          </a:xfrm>
          <a:prstGeom prst="wedgeRoundRectCallout">
            <a:avLst>
              <a:gd name="adj1" fmla="val 65061"/>
              <a:gd name="adj2" fmla="val 2458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보스</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보스 에어리어에서 등장하는 강력한 몬스터</a:t>
            </a:r>
            <a:r>
              <a:rPr lang="en-US" altLang="ko-KR" sz="1400" dirty="0">
                <a:solidFill>
                  <a:sysClr val="windowText" lastClr="000000"/>
                </a:solidFill>
              </a:rPr>
              <a:t/>
            </a:r>
            <a:br>
              <a:rPr lang="en-US" altLang="ko-KR" sz="1400" dirty="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주로 </a:t>
            </a:r>
            <a:r>
              <a:rPr lang="ko-KR" altLang="en-US" sz="1400" dirty="0" err="1" smtClean="0">
                <a:solidFill>
                  <a:sysClr val="windowText" lastClr="000000"/>
                </a:solidFill>
              </a:rPr>
              <a:t>혼자거나</a:t>
            </a:r>
            <a:r>
              <a:rPr lang="en-US" altLang="ko-KR" sz="1400" dirty="0" smtClean="0">
                <a:solidFill>
                  <a:sysClr val="windowText" lastClr="000000"/>
                </a:solidFill>
              </a:rPr>
              <a:t>,</a:t>
            </a:r>
            <a:r>
              <a:rPr lang="ko-KR" altLang="en-US" sz="1400" dirty="0" smtClean="0">
                <a:solidFill>
                  <a:sysClr val="windowText" lastClr="000000"/>
                </a:solidFill>
              </a:rPr>
              <a:t> </a:t>
            </a:r>
            <a:r>
              <a:rPr lang="en-US" altLang="ko-KR" sz="1400" dirty="0" smtClean="0">
                <a:solidFill>
                  <a:sysClr val="windowText" lastClr="000000"/>
                </a:solidFill>
              </a:rPr>
              <a:t>2</a:t>
            </a:r>
            <a:r>
              <a:rPr lang="ko-KR" altLang="en-US" sz="1400" dirty="0" smtClean="0">
                <a:solidFill>
                  <a:sysClr val="windowText" lastClr="000000"/>
                </a:solidFill>
              </a:rPr>
              <a:t>마리의 몬스터를 대동하고 등장함</a:t>
            </a:r>
            <a:endParaRPr lang="en-US" altLang="ko-KR" sz="1400" dirty="0">
              <a:solidFill>
                <a:sysClr val="windowText" lastClr="000000"/>
              </a:solidFill>
            </a:endParaRPr>
          </a:p>
        </p:txBody>
      </p:sp>
      <p:sp>
        <p:nvSpPr>
          <p:cNvPr id="85" name="포인트가 5개인 별 84"/>
          <p:cNvSpPr/>
          <p:nvPr/>
        </p:nvSpPr>
        <p:spPr>
          <a:xfrm>
            <a:off x="8276269" y="2025724"/>
            <a:ext cx="1451207" cy="1258931"/>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n>
                  <a:solidFill>
                    <a:srgbClr val="FF0000"/>
                  </a:solidFill>
                </a:ln>
                <a:solidFill>
                  <a:sysClr val="windowText" lastClr="000000"/>
                </a:solidFill>
              </a:rPr>
              <a:t>보스</a:t>
            </a:r>
            <a:endParaRPr lang="en-US" altLang="ko-KR" sz="1400" dirty="0" smtClean="0">
              <a:ln>
                <a:solidFill>
                  <a:srgbClr val="FF0000"/>
                </a:solidFill>
              </a:ln>
              <a:solidFill>
                <a:sysClr val="windowText" lastClr="000000"/>
              </a:solidFill>
            </a:endParaRPr>
          </a:p>
        </p:txBody>
      </p:sp>
      <p:sp>
        <p:nvSpPr>
          <p:cNvPr id="98" name="TextBox 97"/>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8358578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54</a:t>
            </a:fld>
            <a:endParaRPr lang="ko-KR" altLang="en-US" sz="1800" dirty="0"/>
          </a:p>
        </p:txBody>
      </p:sp>
      <p:sp>
        <p:nvSpPr>
          <p:cNvPr id="32" name="TextBox 31"/>
          <p:cNvSpPr txBox="1"/>
          <p:nvPr/>
        </p:nvSpPr>
        <p:spPr>
          <a:xfrm>
            <a:off x="1398720" y="1545840"/>
            <a:ext cx="179197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1</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5" name="TextBox 34"/>
          <p:cNvSpPr txBox="1"/>
          <p:nvPr/>
        </p:nvSpPr>
        <p:spPr>
          <a:xfrm>
            <a:off x="5246217" y="1545840"/>
            <a:ext cx="180772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2</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9048588" y="1545841"/>
            <a:ext cx="1722331"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3</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2647915" y="33892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a:off x="1502501" y="309877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0" name="이등변 삼각형 29"/>
          <p:cNvSpPr/>
          <p:nvPr/>
        </p:nvSpPr>
        <p:spPr>
          <a:xfrm rot="2940484">
            <a:off x="6511168" y="2781751"/>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a:off x="5365754" y="2491319"/>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7" name="이등변 삼각형 46"/>
          <p:cNvSpPr/>
          <p:nvPr/>
        </p:nvSpPr>
        <p:spPr>
          <a:xfrm rot="2940484">
            <a:off x="6511168" y="389315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이등변 삼각형 47"/>
          <p:cNvSpPr/>
          <p:nvPr/>
        </p:nvSpPr>
        <p:spPr>
          <a:xfrm>
            <a:off x="5365754" y="360272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이등변 삼각형 48"/>
          <p:cNvSpPr/>
          <p:nvPr/>
        </p:nvSpPr>
        <p:spPr>
          <a:xfrm rot="2940484">
            <a:off x="10374421" y="260443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이등변 삼각형 49"/>
          <p:cNvSpPr/>
          <p:nvPr/>
        </p:nvSpPr>
        <p:spPr>
          <a:xfrm>
            <a:off x="9229007" y="231400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1" name="이등변 삼각형 50"/>
          <p:cNvSpPr/>
          <p:nvPr/>
        </p:nvSpPr>
        <p:spPr>
          <a:xfrm rot="2940484">
            <a:off x="10374421" y="3541546"/>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이등변 삼각형 51"/>
          <p:cNvSpPr/>
          <p:nvPr/>
        </p:nvSpPr>
        <p:spPr>
          <a:xfrm>
            <a:off x="9229007" y="325111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3" name="이등변 삼각형 52"/>
          <p:cNvSpPr/>
          <p:nvPr/>
        </p:nvSpPr>
        <p:spPr>
          <a:xfrm rot="2940484">
            <a:off x="10374421" y="44768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p:cNvSpPr/>
          <p:nvPr/>
        </p:nvSpPr>
        <p:spPr>
          <a:xfrm>
            <a:off x="9229007" y="418638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3" name="TextBox 22"/>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3079022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55</a:t>
            </a:fld>
            <a:endParaRPr lang="ko-KR" altLang="en-US" sz="1800" dirty="0"/>
          </a:p>
        </p:txBody>
      </p:sp>
      <p:sp>
        <p:nvSpPr>
          <p:cNvPr id="35" name="TextBox 34"/>
          <p:cNvSpPr txBox="1"/>
          <p:nvPr/>
        </p:nvSpPr>
        <p:spPr>
          <a:xfrm>
            <a:off x="2432260" y="1600316"/>
            <a:ext cx="180772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4</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7840684" y="1545840"/>
            <a:ext cx="1722331"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5</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0" name="이등변 삼각형 29"/>
          <p:cNvSpPr/>
          <p:nvPr/>
        </p:nvSpPr>
        <p:spPr>
          <a:xfrm rot="2940484">
            <a:off x="4690221" y="278674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a:off x="3544807" y="249630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7" name="이등변 삼각형 46"/>
          <p:cNvSpPr/>
          <p:nvPr/>
        </p:nvSpPr>
        <p:spPr>
          <a:xfrm rot="2940484">
            <a:off x="4690221" y="399294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이등변 삼각형 47"/>
          <p:cNvSpPr/>
          <p:nvPr/>
        </p:nvSpPr>
        <p:spPr>
          <a:xfrm>
            <a:off x="3544807" y="370251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이등변 삼각형 48"/>
          <p:cNvSpPr/>
          <p:nvPr/>
        </p:nvSpPr>
        <p:spPr>
          <a:xfrm rot="2940484">
            <a:off x="8365656" y="256911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이등변 삼각형 49"/>
          <p:cNvSpPr/>
          <p:nvPr/>
        </p:nvSpPr>
        <p:spPr>
          <a:xfrm>
            <a:off x="7220242" y="227868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1" name="이등변 삼각형 50"/>
          <p:cNvSpPr/>
          <p:nvPr/>
        </p:nvSpPr>
        <p:spPr>
          <a:xfrm rot="2940484">
            <a:off x="8365656" y="3506226"/>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이등변 삼각형 51"/>
          <p:cNvSpPr/>
          <p:nvPr/>
        </p:nvSpPr>
        <p:spPr>
          <a:xfrm>
            <a:off x="7220242" y="321579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3" name="이등변 삼각형 52"/>
          <p:cNvSpPr/>
          <p:nvPr/>
        </p:nvSpPr>
        <p:spPr>
          <a:xfrm rot="2940484">
            <a:off x="8365656" y="444150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p:cNvSpPr/>
          <p:nvPr/>
        </p:nvSpPr>
        <p:spPr>
          <a:xfrm>
            <a:off x="7220242" y="415106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2" name="이등변 삼각형 21"/>
          <p:cNvSpPr/>
          <p:nvPr/>
        </p:nvSpPr>
        <p:spPr>
          <a:xfrm rot="2940484">
            <a:off x="2888888" y="278674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a:off x="1743474" y="249630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4" name="이등변 삼각형 23"/>
          <p:cNvSpPr/>
          <p:nvPr/>
        </p:nvSpPr>
        <p:spPr>
          <a:xfrm rot="2940484">
            <a:off x="2888888" y="399294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a:off x="1743474" y="370251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6" name="이등변 삼각형 25"/>
          <p:cNvSpPr/>
          <p:nvPr/>
        </p:nvSpPr>
        <p:spPr>
          <a:xfrm rot="2940484">
            <a:off x="10145117" y="296367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이등변 삼각형 26"/>
          <p:cNvSpPr/>
          <p:nvPr/>
        </p:nvSpPr>
        <p:spPr>
          <a:xfrm>
            <a:off x="8999703" y="26732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rot="2940484">
            <a:off x="10145117" y="390078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이등변 삼각형 33"/>
          <p:cNvSpPr/>
          <p:nvPr/>
        </p:nvSpPr>
        <p:spPr>
          <a:xfrm>
            <a:off x="8999703" y="361035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9" name="TextBox 2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49686600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56</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정보창</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993293" y="4421955"/>
            <a:ext cx="5251613" cy="1976845"/>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7082526" y="3051619"/>
            <a:ext cx="2896175" cy="2205661"/>
          </a:xfrm>
          <a:prstGeom prst="wedgeRoundRectCallout">
            <a:avLst>
              <a:gd name="adj1" fmla="val -75837"/>
              <a:gd name="adj2" fmla="val 373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정보창</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- 150 x 50 unit</a:t>
            </a:r>
            <a:br>
              <a:rPr lang="en-US" altLang="ko-KR" sz="1400" dirty="0" smtClean="0">
                <a:solidFill>
                  <a:sysClr val="windowText" lastClr="000000"/>
                </a:solidFill>
              </a:rPr>
            </a:br>
            <a:r>
              <a:rPr lang="en-US" altLang="ko-KR" sz="1400" dirty="0" smtClean="0">
                <a:solidFill>
                  <a:sysClr val="windowText" lastClr="000000"/>
                </a:solidFill>
              </a:rPr>
              <a:t>( C*6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플레이어가 마우스 클릭으로 선택한 아군</a:t>
            </a:r>
            <a:r>
              <a:rPr lang="en-US" altLang="ko-KR" sz="1400" dirty="0" smtClean="0">
                <a:solidFill>
                  <a:sysClr val="windowText" lastClr="000000"/>
                </a:solidFill>
              </a:rPr>
              <a:t>, </a:t>
            </a:r>
            <a:r>
              <a:rPr lang="ko-KR" altLang="en-US" sz="1400" dirty="0" smtClean="0">
                <a:solidFill>
                  <a:sysClr val="windowText" lastClr="000000"/>
                </a:solidFill>
              </a:rPr>
              <a:t>적군 혹은 사물의 정보와 상태를 표시함</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09223993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57</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초상화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1215551" y="4573915"/>
            <a:ext cx="1142550" cy="1136629"/>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847918" y="3004245"/>
            <a:ext cx="3081853" cy="2491318"/>
          </a:xfrm>
          <a:prstGeom prst="wedgeRoundRectCallout">
            <a:avLst>
              <a:gd name="adj1" fmla="val -63946"/>
              <a:gd name="adj2" fmla="val 2927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초상화</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사물을 간략하게 그려낸 초상화를 표시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바로 밑에 해당 개체의 이름을 명시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43388198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58</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게이지 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1212354" y="5683697"/>
            <a:ext cx="1142550" cy="521046"/>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824804" y="3524747"/>
            <a:ext cx="3170128" cy="2491318"/>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게이지 바</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5 unit</a:t>
            </a:r>
            <a:br>
              <a:rPr lang="en-US" altLang="ko-KR" sz="1400" dirty="0" smtClean="0">
                <a:solidFill>
                  <a:sysClr val="windowText" lastClr="000000"/>
                </a:solidFill>
              </a:rPr>
            </a:br>
            <a:r>
              <a:rPr lang="en-US" altLang="ko-KR" sz="1400" dirty="0" smtClean="0">
                <a:solidFill>
                  <a:sysClr val="windowText" lastClr="000000"/>
                </a:solidFill>
              </a:rPr>
              <a:t>( C x C*0.2 )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사물이 체력을 가진 개체라면</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a:t>
            </a:r>
            <a:r>
              <a:rPr lang="ko-KR" altLang="en-US" sz="1400" dirty="0" smtClean="0">
                <a:solidFill>
                  <a:sysClr val="windowText" lastClr="000000"/>
                </a:solidFill>
              </a:rPr>
              <a:t>를 게이지 바 형태로 표시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우측에 구체적인 수치를 기입</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3540480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59</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스탯</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2459216" y="4595720"/>
            <a:ext cx="1849185" cy="15327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841306" y="2609721"/>
            <a:ext cx="3170128" cy="2964050"/>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스탯</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개체의 </a:t>
            </a:r>
            <a:r>
              <a:rPr lang="ko-KR" altLang="en-US" sz="1400" dirty="0" err="1" smtClean="0">
                <a:solidFill>
                  <a:sysClr val="windowText" lastClr="000000"/>
                </a:solidFill>
              </a:rPr>
              <a:t>스탯을</a:t>
            </a:r>
            <a:r>
              <a:rPr lang="ko-KR" altLang="en-US" sz="1400" dirty="0" smtClean="0">
                <a:solidFill>
                  <a:sysClr val="windowText" lastClr="000000"/>
                </a:solidFill>
              </a:rPr>
              <a:t> 보여줌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TYPE : Type, </a:t>
            </a:r>
            <a:r>
              <a:rPr lang="ko-KR" altLang="en-US" sz="1400" dirty="0" smtClean="0">
                <a:solidFill>
                  <a:sysClr val="windowText" lastClr="000000"/>
                </a:solidFill>
              </a:rPr>
              <a:t>속성</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CRT : Critical, </a:t>
            </a:r>
            <a:r>
              <a:rPr lang="ko-KR" altLang="en-US" sz="1400" dirty="0" smtClean="0">
                <a:solidFill>
                  <a:sysClr val="windowText" lastClr="000000"/>
                </a:solidFill>
              </a:rPr>
              <a:t>크리티컬 확률</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ATK : Attack, </a:t>
            </a:r>
            <a:r>
              <a:rPr lang="ko-KR" altLang="en-US" sz="1400" dirty="0" smtClean="0">
                <a:solidFill>
                  <a:sysClr val="windowText" lastClr="000000"/>
                </a:solidFill>
              </a:rPr>
              <a:t>공격력</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DEF : Defense, </a:t>
            </a:r>
            <a:r>
              <a:rPr lang="ko-KR" altLang="en-US" sz="1400" dirty="0" smtClean="0">
                <a:solidFill>
                  <a:sysClr val="windowText" lastClr="000000"/>
                </a:solidFill>
              </a:rPr>
              <a:t>방어력</a:t>
            </a:r>
            <a:endParaRPr lang="en-US" altLang="ko-KR" sz="1400" dirty="0" smtClean="0">
              <a:solidFill>
                <a:sysClr val="windowText" lastClr="000000"/>
              </a:solidFill>
            </a:endParaRPr>
          </a:p>
          <a:p>
            <a:r>
              <a:rPr lang="en-US" altLang="ko-KR" sz="1400" dirty="0" smtClean="0">
                <a:solidFill>
                  <a:sysClr val="windowText" lastClr="000000"/>
                </a:solidFill>
              </a:rPr>
              <a:t>  AVD : Avoid, </a:t>
            </a:r>
            <a:r>
              <a:rPr lang="ko-KR" altLang="en-US" sz="1400" dirty="0" err="1" smtClean="0">
                <a:solidFill>
                  <a:sysClr val="windowText" lastClr="000000"/>
                </a:solidFill>
              </a:rPr>
              <a:t>회피율</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22176561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60</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상태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4444391" y="4595721"/>
            <a:ext cx="1479395" cy="15327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6399784" y="2616908"/>
            <a:ext cx="3294183" cy="2624444"/>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상태</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능력</a:t>
            </a:r>
            <a:r>
              <a:rPr lang="en-US" altLang="ko-KR" sz="1400" dirty="0" smtClean="0">
                <a:solidFill>
                  <a:sysClr val="windowText" lastClr="000000"/>
                </a:solidFill>
              </a:rPr>
              <a:t>, </a:t>
            </a:r>
            <a:r>
              <a:rPr lang="ko-KR" altLang="en-US" sz="1400" dirty="0" smtClean="0">
                <a:solidFill>
                  <a:sysClr val="windowText" lastClr="000000"/>
                </a:solidFill>
              </a:rPr>
              <a:t>상태이상</a:t>
            </a:r>
            <a:r>
              <a:rPr lang="en-US" altLang="ko-KR" sz="1400" dirty="0" smtClean="0">
                <a:solidFill>
                  <a:sysClr val="windowText" lastClr="000000"/>
                </a:solidFill>
              </a:rPr>
              <a:t>, </a:t>
            </a:r>
            <a:r>
              <a:rPr lang="ko-KR" altLang="en-US" sz="1400" dirty="0" smtClean="0">
                <a:solidFill>
                  <a:sysClr val="windowText" lastClr="000000"/>
                </a:solidFill>
              </a:rPr>
              <a:t>버프</a:t>
            </a:r>
            <a:r>
              <a:rPr lang="en-US" altLang="ko-KR" sz="1400" dirty="0" smtClean="0">
                <a:solidFill>
                  <a:sysClr val="windowText" lastClr="000000"/>
                </a:solidFill>
              </a:rPr>
              <a:t>, </a:t>
            </a:r>
            <a:r>
              <a:rPr lang="ko-KR" altLang="en-US" sz="1400" dirty="0" err="1" smtClean="0">
                <a:solidFill>
                  <a:sysClr val="windowText" lastClr="000000"/>
                </a:solidFill>
              </a:rPr>
              <a:t>디버프</a:t>
            </a:r>
            <a:r>
              <a:rPr lang="ko-KR" altLang="en-US" sz="1400" dirty="0" smtClean="0">
                <a:solidFill>
                  <a:sysClr val="windowText" lastClr="000000"/>
                </a:solidFill>
              </a:rPr>
              <a:t> 등 개체의 현재 상태를 보여줌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직관성을</a:t>
            </a:r>
            <a:r>
              <a:rPr lang="ko-KR" altLang="en-US" sz="1400" dirty="0" smtClean="0">
                <a:solidFill>
                  <a:sysClr val="windowText" lastClr="000000"/>
                </a:solidFill>
              </a:rPr>
              <a:t> 높이기 위해</a:t>
            </a:r>
            <a:r>
              <a:rPr lang="en-US" altLang="ko-KR" sz="1400" dirty="0" smtClean="0">
                <a:solidFill>
                  <a:sysClr val="windowText" lastClr="000000"/>
                </a:solidFill>
              </a:rPr>
              <a:t>, </a:t>
            </a:r>
            <a:r>
              <a:rPr lang="ko-KR" altLang="en-US" sz="1400" dirty="0" smtClean="0">
                <a:solidFill>
                  <a:sysClr val="windowText" lastClr="000000"/>
                </a:solidFill>
              </a:rPr>
              <a:t>각 상태에 해당하는 정사각형의 아이콘을 통해 표시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72129824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61</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행동창</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5973857" y="4469547"/>
            <a:ext cx="5150193" cy="1867617"/>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535786" y="1451898"/>
            <a:ext cx="3294183" cy="3514084"/>
          </a:xfrm>
          <a:prstGeom prst="wedgeRoundRectCallout">
            <a:avLst>
              <a:gd name="adj1" fmla="val 62662"/>
              <a:gd name="adj2" fmla="val 3599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행동창</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- 150 x 50 unit</a:t>
            </a:r>
            <a:br>
              <a:rPr lang="en-US" altLang="ko-KR" sz="1400" dirty="0" smtClean="0">
                <a:solidFill>
                  <a:sysClr val="windowText" lastClr="000000"/>
                </a:solidFill>
              </a:rPr>
            </a:br>
            <a:r>
              <a:rPr lang="en-US" altLang="ko-KR" sz="1400" dirty="0" smtClean="0">
                <a:solidFill>
                  <a:sysClr val="windowText" lastClr="000000"/>
                </a:solidFill>
              </a:rPr>
              <a:t>( C*6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아군 개체가 자신의 턴에 행동할 수 있는 옵션들을 나타냄</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한 턴에 하나의 옵션만 행할 수 있으며</a:t>
            </a:r>
            <a:r>
              <a:rPr lang="en-US" altLang="ko-KR" sz="1400" dirty="0" smtClean="0">
                <a:solidFill>
                  <a:sysClr val="windowText" lastClr="000000"/>
                </a:solidFill>
              </a:rPr>
              <a:t>, </a:t>
            </a:r>
            <a:r>
              <a:rPr lang="ko-KR" altLang="en-US" sz="1400" dirty="0" smtClean="0">
                <a:solidFill>
                  <a:sysClr val="windowText" lastClr="000000"/>
                </a:solidFill>
              </a:rPr>
              <a:t>확정하기 전까지 이전으로 되돌릴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일부 옵션은 선택 시 세부 옵션을 살펴볼 수 있음</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86280553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62</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006376" y="4473815"/>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466590" y="2338121"/>
            <a:ext cx="3019729" cy="2997631"/>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공격</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통상 공격을 명령하는 버튼</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버튼 클릭 시</a:t>
            </a:r>
            <a:r>
              <a:rPr lang="en-US" altLang="ko-KR" sz="1400" dirty="0" smtClean="0">
                <a:solidFill>
                  <a:sysClr val="windowText" lastClr="000000"/>
                </a:solidFill>
              </a:rPr>
              <a:t>, </a:t>
            </a:r>
            <a:r>
              <a:rPr lang="ko-KR" altLang="en-US" sz="1400" dirty="0" smtClean="0">
                <a:solidFill>
                  <a:sysClr val="windowText" lastClr="000000"/>
                </a:solidFill>
              </a:rPr>
              <a:t>적 </a:t>
            </a:r>
            <a:r>
              <a:rPr lang="ko-KR" altLang="en-US" sz="1400" dirty="0" err="1" smtClean="0">
                <a:solidFill>
                  <a:sysClr val="windowText" lastClr="000000"/>
                </a:solidFill>
              </a:rPr>
              <a:t>몬스터</a:t>
            </a:r>
            <a:r>
              <a:rPr lang="ko-KR" altLang="en-US" sz="1400" dirty="0" smtClean="0">
                <a:solidFill>
                  <a:sysClr val="windowText" lastClr="000000"/>
                </a:solidFill>
              </a:rPr>
              <a:t> 위에 표시가 생김</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최종적으로 공격할 적을 선택하면 공격을 실행함</a:t>
            </a:r>
            <a:endParaRPr lang="en-US" altLang="ko-KR" sz="1400" dirty="0" smtClean="0">
              <a:solidFill>
                <a:sysClr val="windowText" lastClr="000000"/>
              </a:solidFill>
            </a:endParaRPr>
          </a:p>
        </p:txBody>
      </p:sp>
      <p:sp>
        <p:nvSpPr>
          <p:cNvPr id="5" name="이등변 삼각형 4"/>
          <p:cNvSpPr/>
          <p:nvPr/>
        </p:nvSpPr>
        <p:spPr>
          <a:xfrm rot="10800000">
            <a:off x="9276637" y="1215960"/>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5" name="이등변 삼각형 84"/>
          <p:cNvSpPr/>
          <p:nvPr/>
        </p:nvSpPr>
        <p:spPr>
          <a:xfrm rot="10800000">
            <a:off x="9276637" y="2577737"/>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이등변 삼각형 96"/>
          <p:cNvSpPr/>
          <p:nvPr/>
        </p:nvSpPr>
        <p:spPr>
          <a:xfrm rot="10800000">
            <a:off x="7502113" y="3101058"/>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이등변 삼각형 97"/>
          <p:cNvSpPr/>
          <p:nvPr/>
        </p:nvSpPr>
        <p:spPr>
          <a:xfrm rot="10800000">
            <a:off x="7518567" y="996369"/>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이등변 삼각형 98"/>
          <p:cNvSpPr/>
          <p:nvPr/>
        </p:nvSpPr>
        <p:spPr>
          <a:xfrm rot="10800000">
            <a:off x="7518567" y="2042428"/>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도넛 99"/>
          <p:cNvSpPr/>
          <p:nvPr/>
        </p:nvSpPr>
        <p:spPr>
          <a:xfrm>
            <a:off x="7197689" y="2876540"/>
            <a:ext cx="694007" cy="648342"/>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2" name="직선 화살표 연결선 101"/>
          <p:cNvCxnSpPr/>
          <p:nvPr/>
        </p:nvCxnSpPr>
        <p:spPr>
          <a:xfrm flipV="1">
            <a:off x="5285008" y="3395248"/>
            <a:ext cx="1834303" cy="73419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9272814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63</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8486141" y="4475819"/>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907920" y="3536642"/>
            <a:ext cx="3036677" cy="1701786"/>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방어</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방어 태세를 </a:t>
            </a:r>
            <a:r>
              <a:rPr lang="ko-KR" altLang="en-US" sz="1400" dirty="0">
                <a:solidFill>
                  <a:sysClr val="windowText" lastClr="000000"/>
                </a:solidFill>
              </a:rPr>
              <a:t>명령하는 </a:t>
            </a:r>
            <a:r>
              <a:rPr lang="ko-KR" altLang="en-US" sz="1400" dirty="0" smtClean="0">
                <a:solidFill>
                  <a:sysClr val="windowText" lastClr="000000"/>
                </a:solidFill>
              </a:rPr>
              <a:t>버튼</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93332581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64</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009478" y="5331071"/>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312126" y="2953326"/>
            <a:ext cx="3202577" cy="3020563"/>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특수</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특수 기능을 </a:t>
            </a:r>
            <a:r>
              <a:rPr lang="ko-KR" altLang="en-US" sz="1400" dirty="0">
                <a:solidFill>
                  <a:sysClr val="windowText" lastClr="000000"/>
                </a:solidFill>
              </a:rPr>
              <a:t>명령하는 </a:t>
            </a:r>
            <a:r>
              <a:rPr lang="ko-KR" altLang="en-US" sz="1400" dirty="0" smtClean="0">
                <a:solidFill>
                  <a:sysClr val="windowText" lastClr="000000"/>
                </a:solidFill>
              </a:rPr>
              <a:t>버튼으로</a:t>
            </a:r>
            <a:r>
              <a:rPr lang="en-US" altLang="ko-KR" sz="1400" dirty="0" smtClean="0">
                <a:solidFill>
                  <a:sysClr val="windowText" lastClr="000000"/>
                </a:solidFill>
              </a:rPr>
              <a:t>, </a:t>
            </a:r>
            <a:r>
              <a:rPr lang="ko-KR" altLang="en-US" sz="1400" dirty="0" smtClean="0">
                <a:solidFill>
                  <a:sysClr val="windowText" lastClr="000000"/>
                </a:solidFill>
              </a:rPr>
              <a:t>기술들을 사용할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최종적으로 사용 대상을 정한 뒤</a:t>
            </a:r>
            <a:r>
              <a:rPr lang="en-US" altLang="ko-KR" sz="1400" dirty="0" smtClean="0">
                <a:solidFill>
                  <a:sysClr val="windowText" lastClr="000000"/>
                </a:solidFill>
              </a:rPr>
              <a:t> </a:t>
            </a:r>
            <a:r>
              <a:rPr lang="ko-KR" altLang="en-US" sz="1400" dirty="0" smtClean="0">
                <a:solidFill>
                  <a:sysClr val="windowText" lastClr="000000"/>
                </a:solidFill>
              </a:rPr>
              <a:t>효과를 발휘함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세부 옵션을 표시함</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4494564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65</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sp>
        <p:nvSpPr>
          <p:cNvPr id="69" name="액자 68"/>
          <p:cNvSpPr/>
          <p:nvPr/>
        </p:nvSpPr>
        <p:spPr>
          <a:xfrm>
            <a:off x="5900053" y="4440782"/>
            <a:ext cx="5255625" cy="193389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5" name="TextBox 84"/>
          <p:cNvSpPr txBox="1"/>
          <p:nvPr/>
        </p:nvSpPr>
        <p:spPr>
          <a:xfrm>
            <a:off x="6109655" y="4765331"/>
            <a:ext cx="4936574" cy="1261884"/>
          </a:xfrm>
          <a:prstGeom prst="rect">
            <a:avLst/>
          </a:prstGeom>
          <a:noFill/>
        </p:spPr>
        <p:txBody>
          <a:bodyPr wrap="square" rtlCol="0">
            <a:spAutoFit/>
          </a:bodyPr>
          <a:lstStyle/>
          <a:p>
            <a:r>
              <a:rPr lang="en-US" altLang="ko-KR" sz="2000" dirty="0" smtClean="0"/>
              <a:t>•</a:t>
            </a:r>
            <a:r>
              <a:rPr lang="ko-KR" altLang="en-US" sz="2000" dirty="0" smtClean="0"/>
              <a:t>         기술이름</a:t>
            </a:r>
            <a:r>
              <a:rPr lang="en-US" altLang="ko-KR" sz="2000" dirty="0" smtClean="0"/>
              <a:t>1     •         </a:t>
            </a:r>
            <a:r>
              <a:rPr lang="ko-KR" altLang="en-US" sz="2000" dirty="0" smtClean="0"/>
              <a:t>기술이름</a:t>
            </a:r>
            <a:r>
              <a:rPr lang="en-US" altLang="ko-KR" sz="2000" dirty="0" smtClean="0"/>
              <a:t>2</a:t>
            </a:r>
            <a:endParaRPr lang="en-US" altLang="ko-KR" sz="2000" dirty="0"/>
          </a:p>
          <a:p>
            <a:endParaRPr lang="en-US" altLang="ko-KR" dirty="0" smtClean="0"/>
          </a:p>
          <a:p>
            <a:endParaRPr lang="en-US" altLang="ko-KR" dirty="0" smtClean="0"/>
          </a:p>
          <a:p>
            <a:r>
              <a:rPr lang="en-US" altLang="ko-KR" sz="2000" dirty="0" smtClean="0"/>
              <a:t>•         </a:t>
            </a:r>
            <a:r>
              <a:rPr lang="ko-KR" altLang="en-US" sz="2000" dirty="0" smtClean="0"/>
              <a:t>기술이름</a:t>
            </a:r>
            <a:r>
              <a:rPr lang="en-US" altLang="ko-KR" sz="2000" dirty="0" smtClean="0"/>
              <a:t>3</a:t>
            </a:r>
            <a:endParaRPr lang="en-US" altLang="ko-KR" sz="2000" spc="-300" dirty="0">
              <a:gradFill>
                <a:gsLst>
                  <a:gs pos="0">
                    <a:schemeClr val="tx1"/>
                  </a:gs>
                  <a:gs pos="100000">
                    <a:schemeClr val="tx1"/>
                  </a:gs>
                </a:gsLst>
                <a:lin ang="5400000" scaled="1"/>
              </a:gradFill>
              <a:ea typeface="돋움" panose="020B0600000101010101" pitchFamily="50" charset="-127"/>
            </a:endParaRPr>
          </a:p>
        </p:txBody>
      </p:sp>
      <p:sp>
        <p:nvSpPr>
          <p:cNvPr id="97" name="TextBox 96"/>
          <p:cNvSpPr txBox="1"/>
          <p:nvPr/>
        </p:nvSpPr>
        <p:spPr>
          <a:xfrm>
            <a:off x="9821219" y="5635409"/>
            <a:ext cx="990173"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취소</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8" name="액자 97"/>
          <p:cNvSpPr/>
          <p:nvPr/>
        </p:nvSpPr>
        <p:spPr>
          <a:xfrm>
            <a:off x="6366312" y="4683073"/>
            <a:ext cx="622317" cy="583780"/>
          </a:xfrm>
          <a:prstGeom prst="frame">
            <a:avLst>
              <a:gd name="adj1" fmla="val 7069"/>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9" name="액자 98"/>
          <p:cNvSpPr/>
          <p:nvPr/>
        </p:nvSpPr>
        <p:spPr>
          <a:xfrm>
            <a:off x="8877526" y="4670946"/>
            <a:ext cx="622317" cy="583780"/>
          </a:xfrm>
          <a:prstGeom prst="frame">
            <a:avLst>
              <a:gd name="adj1" fmla="val 7069"/>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0" name="액자 99"/>
          <p:cNvSpPr/>
          <p:nvPr/>
        </p:nvSpPr>
        <p:spPr>
          <a:xfrm>
            <a:off x="6366311" y="5537019"/>
            <a:ext cx="622317" cy="583780"/>
          </a:xfrm>
          <a:prstGeom prst="frame">
            <a:avLst>
              <a:gd name="adj1" fmla="val 7069"/>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 name="사각형 설명선 4"/>
          <p:cNvSpPr/>
          <p:nvPr/>
        </p:nvSpPr>
        <p:spPr>
          <a:xfrm>
            <a:off x="6449755" y="3907451"/>
            <a:ext cx="2360030" cy="624773"/>
          </a:xfrm>
          <a:prstGeom prst="wedgeRectCallout">
            <a:avLst>
              <a:gd name="adj1" fmla="val -35041"/>
              <a:gd name="adj2" fmla="val 91232"/>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t>기술 설명</a:t>
            </a:r>
            <a:r>
              <a:rPr lang="en-US" altLang="ko-KR" dirty="0" smtClean="0"/>
              <a:t>, </a:t>
            </a:r>
            <a:r>
              <a:rPr lang="ko-KR" altLang="en-US" dirty="0" smtClean="0"/>
              <a:t>소모</a:t>
            </a:r>
            <a:r>
              <a:rPr lang="en-US" altLang="ko-KR" dirty="0" smtClean="0"/>
              <a:t>SP </a:t>
            </a:r>
            <a:r>
              <a:rPr lang="ko-KR" altLang="en-US" dirty="0" smtClean="0"/>
              <a:t>등</a:t>
            </a:r>
            <a:endParaRPr lang="ko-KR" altLang="en-US" dirty="0"/>
          </a:p>
        </p:txBody>
      </p:sp>
      <p:sp>
        <p:nvSpPr>
          <p:cNvPr id="102" name="모서리가 둥근 사각형 설명선 101"/>
          <p:cNvSpPr/>
          <p:nvPr/>
        </p:nvSpPr>
        <p:spPr>
          <a:xfrm>
            <a:off x="2351314" y="1672954"/>
            <a:ext cx="3566162" cy="3798682"/>
          </a:xfrm>
          <a:prstGeom prst="wedgeRoundRectCallout">
            <a:avLst>
              <a:gd name="adj1" fmla="val 60619"/>
              <a:gd name="adj2" fmla="val 3106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특수 </a:t>
            </a:r>
            <a:r>
              <a:rPr lang="en-US" altLang="ko-KR" sz="1600" b="1" dirty="0" smtClean="0">
                <a:solidFill>
                  <a:sysClr val="windowText" lastClr="000000"/>
                </a:solidFill>
              </a:rPr>
              <a:t>- </a:t>
            </a:r>
            <a:r>
              <a:rPr lang="ko-KR" altLang="en-US" sz="1600" b="1" dirty="0" smtClean="0">
                <a:solidFill>
                  <a:sysClr val="windowText" lastClr="000000"/>
                </a:solidFill>
              </a:rPr>
              <a:t>세부</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미정</a:t>
            </a:r>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캐릭터의 기술을 </a:t>
            </a:r>
            <a:r>
              <a:rPr lang="en-US" altLang="ko-KR" sz="1400" dirty="0" smtClean="0">
                <a:solidFill>
                  <a:sysClr val="windowText" lastClr="000000"/>
                </a:solidFill>
              </a:rPr>
              <a:t>3</a:t>
            </a:r>
            <a:r>
              <a:rPr lang="ko-KR" altLang="en-US" sz="1400" dirty="0" smtClean="0">
                <a:solidFill>
                  <a:sysClr val="windowText" lastClr="000000"/>
                </a:solidFill>
              </a:rPr>
              <a:t>개까지</a:t>
            </a:r>
            <a:r>
              <a:rPr lang="en-US" altLang="ko-KR" sz="1400" dirty="0" smtClean="0">
                <a:solidFill>
                  <a:sysClr val="windowText" lastClr="000000"/>
                </a:solidFill>
              </a:rPr>
              <a:t>,</a:t>
            </a:r>
            <a:r>
              <a:rPr lang="ko-KR" altLang="en-US" sz="1400" dirty="0" smtClean="0">
                <a:solidFill>
                  <a:sysClr val="windowText" lastClr="000000"/>
                </a:solidFill>
              </a:rPr>
              <a:t> 아이콘과 이름을 표시함</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기술 아이콘에 마우스를 </a:t>
            </a:r>
            <a:r>
              <a:rPr lang="ko-KR" altLang="en-US" sz="1400" dirty="0" err="1" smtClean="0">
                <a:solidFill>
                  <a:sysClr val="windowText" lastClr="000000"/>
                </a:solidFill>
              </a:rPr>
              <a:t>가져다놓고</a:t>
            </a:r>
            <a:r>
              <a:rPr lang="ko-KR" altLang="en-US" sz="1400" dirty="0" smtClean="0">
                <a:solidFill>
                  <a:sysClr val="windowText" lastClr="000000"/>
                </a:solidFill>
              </a:rPr>
              <a:t> </a:t>
            </a:r>
            <a:r>
              <a:rPr lang="en-US" altLang="ko-KR" sz="1400" dirty="0" smtClean="0">
                <a:solidFill>
                  <a:sysClr val="windowText" lastClr="000000"/>
                </a:solidFill>
              </a:rPr>
              <a:t>1</a:t>
            </a:r>
            <a:r>
              <a:rPr lang="ko-KR" altLang="en-US" sz="1400" dirty="0" smtClean="0">
                <a:solidFill>
                  <a:sysClr val="windowText" lastClr="000000"/>
                </a:solidFill>
              </a:rPr>
              <a:t>초 이상의 시간이 흐르면</a:t>
            </a:r>
            <a:r>
              <a:rPr lang="en-US" altLang="ko-KR" sz="1400" dirty="0" smtClean="0">
                <a:solidFill>
                  <a:sysClr val="windowText" lastClr="000000"/>
                </a:solidFill>
              </a:rPr>
              <a:t>, </a:t>
            </a:r>
            <a:r>
              <a:rPr lang="ko-KR" altLang="en-US" sz="1400" dirty="0" smtClean="0">
                <a:solidFill>
                  <a:sysClr val="windowText" lastClr="000000"/>
                </a:solidFill>
              </a:rPr>
              <a:t>해당 기술에 대한 설명</a:t>
            </a:r>
            <a:r>
              <a:rPr lang="en-US" altLang="ko-KR" sz="1400" dirty="0" smtClean="0">
                <a:solidFill>
                  <a:sysClr val="windowText" lastClr="000000"/>
                </a:solidFill>
              </a:rPr>
              <a:t>(</a:t>
            </a:r>
            <a:r>
              <a:rPr lang="ko-KR" altLang="en-US" sz="1400" dirty="0" err="1" smtClean="0">
                <a:solidFill>
                  <a:sysClr val="windowText" lastClr="000000"/>
                </a:solidFill>
              </a:rPr>
              <a:t>데미지</a:t>
            </a:r>
            <a:r>
              <a:rPr lang="en-US" altLang="ko-KR" sz="1400" dirty="0" smtClean="0">
                <a:solidFill>
                  <a:sysClr val="windowText" lastClr="000000"/>
                </a:solidFill>
              </a:rPr>
              <a:t>, </a:t>
            </a:r>
            <a:r>
              <a:rPr lang="ko-KR" altLang="en-US" sz="1400" dirty="0" err="1" smtClean="0">
                <a:solidFill>
                  <a:sysClr val="windowText" lastClr="000000"/>
                </a:solidFill>
              </a:rPr>
              <a:t>버프</a:t>
            </a:r>
            <a:r>
              <a:rPr lang="ko-KR" altLang="en-US" sz="1400" dirty="0" smtClean="0">
                <a:solidFill>
                  <a:sysClr val="windowText" lastClr="000000"/>
                </a:solidFill>
              </a:rPr>
              <a:t> 수치</a:t>
            </a:r>
            <a:r>
              <a:rPr lang="en-US" altLang="ko-KR" sz="1400" dirty="0" smtClean="0">
                <a:solidFill>
                  <a:sysClr val="windowText" lastClr="000000"/>
                </a:solidFill>
              </a:rPr>
              <a:t>, </a:t>
            </a:r>
            <a:r>
              <a:rPr lang="ko-KR" altLang="en-US" sz="1400" dirty="0" smtClean="0">
                <a:solidFill>
                  <a:sysClr val="windowText" lastClr="000000"/>
                </a:solidFill>
              </a:rPr>
              <a:t>속성</a:t>
            </a:r>
            <a:r>
              <a:rPr lang="en-US" altLang="ko-KR" sz="1400" dirty="0" smtClean="0">
                <a:solidFill>
                  <a:sysClr val="windowText" lastClr="000000"/>
                </a:solidFill>
              </a:rPr>
              <a:t>, </a:t>
            </a:r>
            <a:r>
              <a:rPr lang="ko-KR" altLang="en-US" sz="1400" dirty="0" err="1" smtClean="0">
                <a:solidFill>
                  <a:sysClr val="windowText" lastClr="000000"/>
                </a:solidFill>
              </a:rPr>
              <a:t>타겟범위</a:t>
            </a:r>
            <a:r>
              <a:rPr lang="ko-KR" altLang="en-US" sz="1400" dirty="0" smtClean="0">
                <a:solidFill>
                  <a:sysClr val="windowText" lastClr="000000"/>
                </a:solidFill>
              </a:rPr>
              <a:t> 등</a:t>
            </a:r>
            <a:r>
              <a:rPr lang="en-US" altLang="ko-KR" sz="1400" dirty="0" smtClean="0">
                <a:solidFill>
                  <a:sysClr val="windowText" lastClr="000000"/>
                </a:solidFill>
              </a:rPr>
              <a:t>)</a:t>
            </a:r>
            <a:r>
              <a:rPr lang="ko-KR" altLang="en-US" sz="1400" dirty="0" smtClean="0">
                <a:solidFill>
                  <a:sysClr val="windowText" lastClr="000000"/>
                </a:solidFill>
              </a:rPr>
              <a:t>과 사용에 필요한 </a:t>
            </a:r>
            <a:r>
              <a:rPr lang="en-US" altLang="ko-KR" sz="1400" dirty="0" smtClean="0">
                <a:solidFill>
                  <a:sysClr val="windowText" lastClr="000000"/>
                </a:solidFill>
              </a:rPr>
              <a:t>SP</a:t>
            </a:r>
            <a:r>
              <a:rPr lang="ko-KR" altLang="en-US" sz="1400" dirty="0" smtClean="0">
                <a:solidFill>
                  <a:sysClr val="windowText" lastClr="000000"/>
                </a:solidFill>
              </a:rPr>
              <a:t>에 관한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취소 버튼으로 초기 </a:t>
            </a:r>
            <a:r>
              <a:rPr lang="ko-KR" altLang="en-US" sz="1400" dirty="0" err="1" smtClean="0">
                <a:solidFill>
                  <a:sysClr val="windowText" lastClr="000000"/>
                </a:solidFill>
              </a:rPr>
              <a:t>행동창으로</a:t>
            </a:r>
            <a:endParaRPr lang="en-US" altLang="ko-KR" sz="1400" dirty="0" smtClean="0">
              <a:solidFill>
                <a:sysClr val="windowText" lastClr="000000"/>
              </a:solidFill>
            </a:endParaRPr>
          </a:p>
          <a:p>
            <a:r>
              <a:rPr lang="ko-KR" altLang="en-US" sz="1400" dirty="0" smtClean="0">
                <a:solidFill>
                  <a:sysClr val="windowText" lastClr="000000"/>
                </a:solidFill>
              </a:rPr>
              <a:t>돌아갈 수 있음</a:t>
            </a:r>
            <a:endParaRPr lang="en-US" altLang="ko-KR" sz="1400" dirty="0">
              <a:solidFill>
                <a:sysClr val="windowText" lastClr="000000"/>
              </a:solidFill>
            </a:endParaRPr>
          </a:p>
        </p:txBody>
      </p:sp>
      <p:cxnSp>
        <p:nvCxnSpPr>
          <p:cNvPr id="103" name="직선 화살표 연결선 102"/>
          <p:cNvCxnSpPr/>
          <p:nvPr/>
        </p:nvCxnSpPr>
        <p:spPr>
          <a:xfrm flipV="1">
            <a:off x="5656287" y="4129440"/>
            <a:ext cx="710024" cy="13203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78411343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66</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8491944" y="5343369"/>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701646" y="2649227"/>
            <a:ext cx="3283220" cy="3482222"/>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사용</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아이템 사용을 </a:t>
            </a:r>
            <a:r>
              <a:rPr lang="ko-KR" altLang="en-US" sz="1400" dirty="0">
                <a:solidFill>
                  <a:sysClr val="windowText" lastClr="000000"/>
                </a:solidFill>
              </a:rPr>
              <a:t>명령하는 </a:t>
            </a:r>
            <a:r>
              <a:rPr lang="ko-KR" altLang="en-US" sz="1400" dirty="0" smtClean="0">
                <a:solidFill>
                  <a:sysClr val="windowText" lastClr="000000"/>
                </a:solidFill>
              </a:rPr>
              <a:t>버튼</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가방을 살펴보아 원하는 아이템을 사용할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a:solidFill>
                  <a:sysClr val="windowText" lastClr="000000"/>
                </a:solidFill>
              </a:rPr>
              <a:t>최종적으로 사용 대상을 정한 뒤</a:t>
            </a:r>
            <a:r>
              <a:rPr lang="en-US" altLang="ko-KR" sz="1400" dirty="0">
                <a:solidFill>
                  <a:sysClr val="windowText" lastClr="000000"/>
                </a:solidFill>
              </a:rPr>
              <a:t> </a:t>
            </a:r>
            <a:r>
              <a:rPr lang="ko-KR" altLang="en-US" sz="1400" dirty="0">
                <a:solidFill>
                  <a:sysClr val="windowText" lastClr="000000"/>
                </a:solidFill>
              </a:rPr>
              <a:t>효과를 발휘함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세부 옵션을 표시함</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3636113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67</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sp>
        <p:nvSpPr>
          <p:cNvPr id="69" name="액자 68"/>
          <p:cNvSpPr/>
          <p:nvPr/>
        </p:nvSpPr>
        <p:spPr>
          <a:xfrm>
            <a:off x="5900053" y="4440782"/>
            <a:ext cx="5255625" cy="193389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5" name="TextBox 84"/>
          <p:cNvSpPr txBox="1"/>
          <p:nvPr/>
        </p:nvSpPr>
        <p:spPr>
          <a:xfrm>
            <a:off x="6083529" y="4621638"/>
            <a:ext cx="4936574" cy="1477328"/>
          </a:xfrm>
          <a:prstGeom prst="rect">
            <a:avLst/>
          </a:prstGeom>
          <a:noFill/>
        </p:spPr>
        <p:txBody>
          <a:bodyPr wrap="square" rtlCol="0">
            <a:spAutoFit/>
          </a:bodyPr>
          <a:lstStyle/>
          <a:p>
            <a:r>
              <a:rPr lang="en-US" altLang="ko-KR" dirty="0" smtClean="0"/>
              <a:t>•</a:t>
            </a:r>
            <a:r>
              <a:rPr lang="ko-KR" altLang="en-US" dirty="0" smtClean="0"/>
              <a:t> </a:t>
            </a:r>
            <a:r>
              <a:rPr lang="en-US" altLang="ko-KR" dirty="0" smtClean="0"/>
              <a:t>ITEM</a:t>
            </a:r>
            <a:r>
              <a:rPr lang="ko-KR" altLang="en-US" dirty="0" smtClean="0"/>
              <a:t>이름</a:t>
            </a:r>
            <a:r>
              <a:rPr lang="en-US" altLang="ko-KR" dirty="0" smtClean="0"/>
              <a:t>1x</a:t>
            </a:r>
            <a:r>
              <a:rPr lang="ko-KR" altLang="en-US" dirty="0" smtClean="0"/>
              <a:t>개수</a:t>
            </a:r>
            <a:r>
              <a:rPr lang="en-US" altLang="ko-KR" dirty="0" smtClean="0"/>
              <a:t>     </a:t>
            </a:r>
            <a:r>
              <a:rPr lang="en-US" altLang="ko-KR" dirty="0" smtClean="0"/>
              <a:t>• ITEM</a:t>
            </a:r>
            <a:r>
              <a:rPr lang="ko-KR" altLang="en-US" dirty="0" smtClean="0"/>
              <a:t>이름</a:t>
            </a:r>
            <a:r>
              <a:rPr lang="en-US" altLang="ko-KR" dirty="0" smtClean="0"/>
              <a:t>2x</a:t>
            </a:r>
            <a:r>
              <a:rPr lang="ko-KR" altLang="en-US" dirty="0" smtClean="0"/>
              <a:t>개수</a:t>
            </a:r>
            <a:endParaRPr lang="en-US" altLang="ko-KR" dirty="0" smtClean="0"/>
          </a:p>
          <a:p>
            <a:endParaRPr lang="en-US" altLang="ko-KR" spc="-300" dirty="0">
              <a:gradFill>
                <a:gsLst>
                  <a:gs pos="0">
                    <a:schemeClr val="tx1"/>
                  </a:gs>
                  <a:gs pos="100000">
                    <a:schemeClr val="tx1"/>
                  </a:gs>
                </a:gsLst>
                <a:lin ang="5400000" scaled="1"/>
              </a:gradFill>
              <a:ea typeface="돋움" panose="020B0600000101010101" pitchFamily="50" charset="-127"/>
            </a:endParaRPr>
          </a:p>
          <a:p>
            <a:r>
              <a:rPr lang="en-US" altLang="ko-KR" dirty="0"/>
              <a:t>•</a:t>
            </a:r>
            <a:r>
              <a:rPr lang="ko-KR" altLang="en-US" dirty="0"/>
              <a:t> </a:t>
            </a:r>
            <a:r>
              <a:rPr lang="en-US" altLang="ko-KR" dirty="0" smtClean="0"/>
              <a:t>ITEM</a:t>
            </a:r>
            <a:r>
              <a:rPr lang="ko-KR" altLang="en-US" dirty="0" smtClean="0"/>
              <a:t>이름</a:t>
            </a:r>
            <a:r>
              <a:rPr lang="en-US" altLang="ko-KR" dirty="0" smtClean="0"/>
              <a:t>3x</a:t>
            </a:r>
            <a:r>
              <a:rPr lang="ko-KR" altLang="en-US" dirty="0" smtClean="0"/>
              <a:t>개수</a:t>
            </a:r>
            <a:r>
              <a:rPr lang="en-US" altLang="ko-KR" dirty="0" smtClean="0"/>
              <a:t>     </a:t>
            </a:r>
            <a:r>
              <a:rPr lang="en-US" altLang="ko-KR" dirty="0" smtClean="0"/>
              <a:t>• ITEM</a:t>
            </a:r>
            <a:r>
              <a:rPr lang="ko-KR" altLang="en-US" dirty="0" smtClean="0"/>
              <a:t>이름</a:t>
            </a:r>
            <a:r>
              <a:rPr lang="en-US" altLang="ko-KR" dirty="0" smtClean="0"/>
              <a:t>4x</a:t>
            </a:r>
            <a:r>
              <a:rPr lang="ko-KR" altLang="en-US" dirty="0" smtClean="0"/>
              <a:t>개수</a:t>
            </a:r>
            <a:endParaRPr lang="en-US" altLang="ko-KR" dirty="0" smtClean="0"/>
          </a:p>
          <a:p>
            <a:endParaRPr lang="en-US" altLang="ko-KR" dirty="0" smtClean="0"/>
          </a:p>
          <a:p>
            <a:r>
              <a:rPr lang="en-US" altLang="ko-KR" dirty="0" smtClean="0"/>
              <a:t>•</a:t>
            </a:r>
            <a:r>
              <a:rPr lang="ko-KR" altLang="en-US" dirty="0" smtClean="0"/>
              <a:t> </a:t>
            </a:r>
            <a:r>
              <a:rPr lang="en-US" altLang="ko-KR" dirty="0" smtClean="0"/>
              <a:t>ITEM</a:t>
            </a:r>
            <a:r>
              <a:rPr lang="ko-KR" altLang="en-US" dirty="0" smtClean="0"/>
              <a:t>이름</a:t>
            </a:r>
            <a:r>
              <a:rPr lang="en-US" altLang="ko-KR" dirty="0" smtClean="0"/>
              <a:t>5x</a:t>
            </a:r>
            <a:r>
              <a:rPr lang="ko-KR" altLang="en-US" dirty="0" smtClean="0"/>
              <a:t>개수</a:t>
            </a:r>
            <a:r>
              <a:rPr lang="en-US" altLang="ko-KR" dirty="0" smtClean="0"/>
              <a:t>     </a:t>
            </a:r>
            <a:endParaRPr lang="en-US" altLang="ko-KR" spc="-300" dirty="0">
              <a:gradFill>
                <a:gsLst>
                  <a:gs pos="0">
                    <a:schemeClr val="tx1"/>
                  </a:gs>
                  <a:gs pos="100000">
                    <a:schemeClr val="tx1"/>
                  </a:gs>
                </a:gsLst>
                <a:lin ang="5400000" scaled="1"/>
              </a:gradFill>
              <a:ea typeface="돋움" panose="020B0600000101010101" pitchFamily="50" charset="-127"/>
            </a:endParaRPr>
          </a:p>
        </p:txBody>
      </p:sp>
      <p:sp>
        <p:nvSpPr>
          <p:cNvPr id="97" name="TextBox 96"/>
          <p:cNvSpPr txBox="1"/>
          <p:nvPr/>
        </p:nvSpPr>
        <p:spPr>
          <a:xfrm>
            <a:off x="10131774" y="5726803"/>
            <a:ext cx="771888" cy="400110"/>
          </a:xfrm>
          <a:prstGeom prst="rect">
            <a:avLst/>
          </a:prstGeom>
          <a:noFill/>
        </p:spPr>
        <p:txBody>
          <a:bodyPr wrap="square" rtlCol="0">
            <a:spAutoFit/>
          </a:bodyPr>
          <a:lstStyle/>
          <a:p>
            <a:pPr algn="ctr"/>
            <a:r>
              <a:rPr lang="ko-KR" altLang="en-US"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취소</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사각형 설명선 4"/>
          <p:cNvSpPr/>
          <p:nvPr/>
        </p:nvSpPr>
        <p:spPr>
          <a:xfrm>
            <a:off x="6681241" y="3771464"/>
            <a:ext cx="1958331" cy="624773"/>
          </a:xfrm>
          <a:prstGeom prst="wedgeRectCallout">
            <a:avLst>
              <a:gd name="adj1" fmla="val -35041"/>
              <a:gd name="adj2" fmla="val 91232"/>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t>아이</a:t>
            </a:r>
            <a:r>
              <a:rPr lang="ko-KR" altLang="en-US" dirty="0"/>
              <a:t>템</a:t>
            </a:r>
            <a:r>
              <a:rPr lang="ko-KR" altLang="en-US" dirty="0" smtClean="0"/>
              <a:t> 설명</a:t>
            </a:r>
            <a:endParaRPr lang="ko-KR" altLang="en-US" dirty="0"/>
          </a:p>
        </p:txBody>
      </p:sp>
      <p:sp>
        <p:nvSpPr>
          <p:cNvPr id="102" name="모서리가 둥근 사각형 설명선 101"/>
          <p:cNvSpPr/>
          <p:nvPr/>
        </p:nvSpPr>
        <p:spPr>
          <a:xfrm>
            <a:off x="2129977" y="1786745"/>
            <a:ext cx="3566162" cy="3798682"/>
          </a:xfrm>
          <a:prstGeom prst="wedgeRoundRectCallout">
            <a:avLst>
              <a:gd name="adj1" fmla="val 60619"/>
              <a:gd name="adj2" fmla="val 3106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사용 </a:t>
            </a:r>
            <a:r>
              <a:rPr lang="en-US" altLang="ko-KR" sz="1600" b="1" dirty="0" smtClean="0">
                <a:solidFill>
                  <a:sysClr val="windowText" lastClr="000000"/>
                </a:solidFill>
              </a:rPr>
              <a:t>- </a:t>
            </a:r>
            <a:r>
              <a:rPr lang="ko-KR" altLang="en-US" sz="1600" b="1" dirty="0" smtClean="0">
                <a:solidFill>
                  <a:sysClr val="windowText" lastClr="000000"/>
                </a:solidFill>
              </a:rPr>
              <a:t>세부</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미정</a:t>
            </a:r>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보유한 아이템의 정보를 페이지의 형식으로 표시하여</a:t>
            </a:r>
            <a:r>
              <a:rPr lang="en-US" altLang="ko-KR" sz="1400" dirty="0" smtClean="0">
                <a:solidFill>
                  <a:sysClr val="windowText" lastClr="000000"/>
                </a:solidFill>
              </a:rPr>
              <a:t>, </a:t>
            </a:r>
            <a:r>
              <a:rPr lang="ko-KR" altLang="en-US" sz="1400" dirty="0" smtClean="0">
                <a:solidFill>
                  <a:sysClr val="windowText" lastClr="000000"/>
                </a:solidFill>
              </a:rPr>
              <a:t>화살표를 클릭해 이전</a:t>
            </a:r>
            <a:r>
              <a:rPr lang="en-US" altLang="ko-KR" sz="1400" dirty="0" smtClean="0">
                <a:solidFill>
                  <a:sysClr val="windowText" lastClr="000000"/>
                </a:solidFill>
              </a:rPr>
              <a:t>, </a:t>
            </a:r>
            <a:r>
              <a:rPr lang="ko-KR" altLang="en-US" sz="1400" dirty="0" smtClean="0">
                <a:solidFill>
                  <a:sysClr val="windowText" lastClr="000000"/>
                </a:solidFill>
              </a:rPr>
              <a:t>다음 페이지로 넘어갈 수 있음</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아이템 이름에 마우스를 </a:t>
            </a:r>
            <a:r>
              <a:rPr lang="ko-KR" altLang="en-US" sz="1400" dirty="0" err="1" smtClean="0">
                <a:solidFill>
                  <a:sysClr val="windowText" lastClr="000000"/>
                </a:solidFill>
              </a:rPr>
              <a:t>가져다놓고</a:t>
            </a:r>
            <a:r>
              <a:rPr lang="ko-KR" altLang="en-US" sz="1400" dirty="0" smtClean="0">
                <a:solidFill>
                  <a:sysClr val="windowText" lastClr="000000"/>
                </a:solidFill>
              </a:rPr>
              <a:t> </a:t>
            </a:r>
            <a:r>
              <a:rPr lang="en-US" altLang="ko-KR" sz="1400" dirty="0" smtClean="0">
                <a:solidFill>
                  <a:sysClr val="windowText" lastClr="000000"/>
                </a:solidFill>
              </a:rPr>
              <a:t>1</a:t>
            </a:r>
            <a:r>
              <a:rPr lang="ko-KR" altLang="en-US" sz="1400" dirty="0" smtClean="0">
                <a:solidFill>
                  <a:sysClr val="windowText" lastClr="000000"/>
                </a:solidFill>
              </a:rPr>
              <a:t>초 이상의 시간이 흐르면</a:t>
            </a:r>
            <a:r>
              <a:rPr lang="en-US" altLang="ko-KR" sz="1400" dirty="0" smtClean="0">
                <a:solidFill>
                  <a:sysClr val="windowText" lastClr="000000"/>
                </a:solidFill>
              </a:rPr>
              <a:t>, </a:t>
            </a:r>
            <a:r>
              <a:rPr lang="ko-KR" altLang="en-US" sz="1400" dirty="0" smtClean="0">
                <a:solidFill>
                  <a:sysClr val="windowText" lastClr="000000"/>
                </a:solidFill>
              </a:rPr>
              <a:t>해당 아이템에 대한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취소 버튼으로 초기 </a:t>
            </a:r>
            <a:r>
              <a:rPr lang="ko-KR" altLang="en-US" sz="1400" dirty="0" err="1" smtClean="0">
                <a:solidFill>
                  <a:sysClr val="windowText" lastClr="000000"/>
                </a:solidFill>
              </a:rPr>
              <a:t>행동창으로</a:t>
            </a:r>
            <a:r>
              <a:rPr lang="ko-KR" altLang="en-US" sz="1400" dirty="0" smtClean="0">
                <a:solidFill>
                  <a:sysClr val="windowText" lastClr="000000"/>
                </a:solidFill>
              </a:rPr>
              <a:t> 돌아갈 수 있음</a:t>
            </a:r>
            <a:endParaRPr lang="en-US" altLang="ko-KR" sz="1400" dirty="0">
              <a:solidFill>
                <a:sysClr val="windowText" lastClr="000000"/>
              </a:solidFill>
            </a:endParaRPr>
          </a:p>
        </p:txBody>
      </p:sp>
      <p:cxnSp>
        <p:nvCxnSpPr>
          <p:cNvPr id="103" name="직선 화살표 연결선 102"/>
          <p:cNvCxnSpPr/>
          <p:nvPr/>
        </p:nvCxnSpPr>
        <p:spPr>
          <a:xfrm flipV="1">
            <a:off x="5656287" y="4129440"/>
            <a:ext cx="710024" cy="13203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8" name="그룹 7"/>
          <p:cNvGrpSpPr/>
          <p:nvPr/>
        </p:nvGrpSpPr>
        <p:grpSpPr>
          <a:xfrm>
            <a:off x="8427514" y="5567811"/>
            <a:ext cx="1404733" cy="646331"/>
            <a:chOff x="8346340" y="5543233"/>
            <a:chExt cx="1404733" cy="646331"/>
          </a:xfrm>
        </p:grpSpPr>
        <p:sp>
          <p:nvSpPr>
            <p:cNvPr id="71" name="오른쪽 화살표 70"/>
            <p:cNvSpPr/>
            <p:nvPr/>
          </p:nvSpPr>
          <p:spPr>
            <a:xfrm flipH="1">
              <a:off x="8346340" y="5740011"/>
              <a:ext cx="332671" cy="327685"/>
            </a:xfrm>
            <a:prstGeom prst="rightArrow">
              <a:avLst>
                <a:gd name="adj1" fmla="val 50000"/>
                <a:gd name="adj2" fmla="val 742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TextBox 74"/>
            <p:cNvSpPr txBox="1"/>
            <p:nvPr/>
          </p:nvSpPr>
          <p:spPr>
            <a:xfrm>
              <a:off x="8711193" y="5543233"/>
              <a:ext cx="687619" cy="646331"/>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ea typeface="돋움" panose="020B0600000101010101" pitchFamily="50" charset="-127"/>
                </a:rPr>
                <a:t>P a g e</a:t>
              </a:r>
            </a:p>
            <a:p>
              <a:r>
                <a:rPr lang="en-US" altLang="ko-KR" spc="-300" dirty="0">
                  <a:gradFill>
                    <a:gsLst>
                      <a:gs pos="0">
                        <a:schemeClr val="tx1"/>
                      </a:gs>
                      <a:gs pos="100000">
                        <a:schemeClr val="tx1"/>
                      </a:gs>
                    </a:gsLst>
                    <a:lin ang="5400000" scaled="1"/>
                  </a:gradFill>
                  <a:ea typeface="돋움" panose="020B0600000101010101" pitchFamily="50" charset="-127"/>
                </a:rPr>
                <a:t> </a:t>
              </a:r>
              <a:r>
                <a:rPr lang="en-US" altLang="ko-KR" spc="-300" dirty="0" smtClean="0">
                  <a:gradFill>
                    <a:gsLst>
                      <a:gs pos="0">
                        <a:schemeClr val="tx1"/>
                      </a:gs>
                      <a:gs pos="100000">
                        <a:schemeClr val="tx1"/>
                      </a:gs>
                    </a:gsLst>
                    <a:lin ang="5400000" scaled="1"/>
                  </a:gradFill>
                  <a:ea typeface="돋움" panose="020B0600000101010101" pitchFamily="50" charset="-127"/>
                </a:rPr>
                <a:t> 1  /  </a:t>
              </a:r>
              <a:r>
                <a:rPr lang="en-US" altLang="ko-KR" spc="-300" dirty="0" smtClean="0">
                  <a:gradFill>
                    <a:gsLst>
                      <a:gs pos="0">
                        <a:schemeClr val="tx1"/>
                      </a:gs>
                      <a:gs pos="100000">
                        <a:schemeClr val="tx1"/>
                      </a:gs>
                    </a:gsLst>
                    <a:lin ang="5400000" scaled="1"/>
                  </a:gradFill>
                  <a:ea typeface="돋움" panose="020B0600000101010101" pitchFamily="50" charset="-127"/>
                </a:rPr>
                <a:t>2</a:t>
              </a:r>
              <a:endParaRPr lang="en-US" altLang="ko-KR" spc="-300" dirty="0">
                <a:gradFill>
                  <a:gsLst>
                    <a:gs pos="0">
                      <a:schemeClr val="tx1"/>
                    </a:gs>
                    <a:gs pos="100000">
                      <a:schemeClr val="tx1"/>
                    </a:gs>
                  </a:gsLst>
                  <a:lin ang="5400000" scaled="1"/>
                </a:gradFill>
                <a:ea typeface="돋움" panose="020B0600000101010101" pitchFamily="50" charset="-127"/>
              </a:endParaRPr>
            </a:p>
          </p:txBody>
        </p:sp>
        <p:sp>
          <p:nvSpPr>
            <p:cNvPr id="76" name="오른쪽 화살표 75"/>
            <p:cNvSpPr/>
            <p:nvPr/>
          </p:nvSpPr>
          <p:spPr>
            <a:xfrm>
              <a:off x="9418402" y="5740011"/>
              <a:ext cx="332671" cy="327685"/>
            </a:xfrm>
            <a:prstGeom prst="rightArrow">
              <a:avLst>
                <a:gd name="adj1" fmla="val 50000"/>
                <a:gd name="adj2" fmla="val 742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7275353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68</a:t>
            </a:fld>
            <a:endParaRPr lang="ko-KR" altLang="en-US" sz="1800" dirty="0"/>
          </a:p>
        </p:txBody>
      </p:sp>
      <p:sp>
        <p:nvSpPr>
          <p:cNvPr id="39" name="곱셈 기호 3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472674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532315" y="1904905"/>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10904997" y="2296439"/>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532316" y="3317509"/>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10889712" y="4045998"/>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532314" y="4748265"/>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819737" y="31953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2835146" y="4910347"/>
            <a:ext cx="1109922" cy="652908"/>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2833814" y="3421892"/>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2838707" y="2060988"/>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69</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6" name="직선 연결선 5"/>
          <p:cNvCxnSpPr/>
          <p:nvPr/>
        </p:nvCxnSpPr>
        <p:spPr>
          <a:xfrm flipV="1">
            <a:off x="0" y="1216757"/>
            <a:ext cx="12192000" cy="2"/>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935139"/>
            <a:ext cx="12192000" cy="2"/>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3005169" y="150556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3005169" y="29102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3005169" y="438128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1142366" y="29102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7022248" y="150838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7022248" y="291759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ln>
                  <a:solidFill>
                    <a:srgbClr val="C00000"/>
                  </a:solidFill>
                </a:ln>
                <a:solidFill>
                  <a:sysClr val="windowText" lastClr="000000"/>
                </a:solidFill>
              </a:rPr>
              <a:t>정예</a:t>
            </a:r>
            <a:endParaRPr lang="en-US" altLang="ko-KR" dirty="0" smtClean="0">
              <a:ln>
                <a:solidFill>
                  <a:srgbClr val="C00000"/>
                </a:solidFill>
              </a:ln>
              <a:solidFill>
                <a:sysClr val="windowText" lastClr="000000"/>
              </a:solidFill>
            </a:endParaRPr>
          </a:p>
          <a:p>
            <a:pPr algn="ctr"/>
            <a:r>
              <a:rPr lang="ko-KR" altLang="en-US" dirty="0" err="1" smtClean="0">
                <a:ln>
                  <a:solidFill>
                    <a:srgbClr val="C00000"/>
                  </a:solidFill>
                </a:ln>
                <a:solidFill>
                  <a:sysClr val="windowText" lastClr="000000"/>
                </a:solidFill>
              </a:rPr>
              <a:t>몬스터</a:t>
            </a:r>
            <a:endParaRPr lang="en-US" altLang="ko-KR"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7022248" y="435451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9379647" y="1902690"/>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9379646" y="3652247"/>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7560226" y="537865"/>
            <a:ext cx="3385860"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2" name="곱셈 기호 3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4577244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70</a:t>
            </a:fld>
            <a:endParaRPr lang="ko-KR" altLang="en-US" sz="1800" dirty="0"/>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8322364" y="156375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8322364" y="283595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1" name="이등변 삼각형 100"/>
          <p:cNvSpPr/>
          <p:nvPr/>
        </p:nvSpPr>
        <p:spPr>
          <a:xfrm>
            <a:off x="8322364" y="414792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a:t>
            </a:r>
            <a:r>
              <a:rPr lang="ko-KR" altLang="en-US" sz="2400" spc="-300" dirty="0" err="1">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포인트가 5개인 별 1"/>
          <p:cNvSpPr/>
          <p:nvPr/>
        </p:nvSpPr>
        <p:spPr>
          <a:xfrm>
            <a:off x="10177670" y="2650422"/>
            <a:ext cx="1868557" cy="1431235"/>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rgbClr val="FF0000"/>
                  </a:solidFill>
                </a:ln>
                <a:solidFill>
                  <a:sysClr val="windowText" lastClr="000000"/>
                </a:solidFill>
              </a:rPr>
              <a:t>보스</a:t>
            </a:r>
            <a:endParaRPr lang="en-US" altLang="ko-KR" sz="2000" dirty="0" smtClean="0">
              <a:ln>
                <a:solidFill>
                  <a:srgbClr val="FF0000"/>
                </a:solidFill>
              </a:ln>
              <a:solidFill>
                <a:sysClr val="windowText" lastClr="000000"/>
              </a:solidFill>
            </a:endParaRPr>
          </a:p>
        </p:txBody>
      </p:sp>
      <p:sp>
        <p:nvSpPr>
          <p:cNvPr id="18" name="TextBox 1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곱셈 기호 1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2371032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71</a:t>
            </a:fld>
            <a:endParaRPr lang="ko-KR" altLang="en-US" sz="1800" dirty="0"/>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 이벤트</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정오각형 4"/>
          <p:cNvSpPr/>
          <p:nvPr/>
        </p:nvSpPr>
        <p:spPr>
          <a:xfrm>
            <a:off x="9568069" y="2822711"/>
            <a:ext cx="1736035" cy="1470992"/>
          </a:xfrm>
          <a:prstGeom prst="pentagon">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rgbClr val="FFFF00"/>
                </a:solidFill>
              </a:rPr>
              <a:t>보물상자</a:t>
            </a:r>
            <a:endParaRPr lang="ko-KR" altLang="en-US" sz="2400" dirty="0">
              <a:solidFill>
                <a:srgbClr val="FFFF00"/>
              </a:solidFill>
            </a:endParaRPr>
          </a:p>
        </p:txBody>
      </p:sp>
      <p:sp>
        <p:nvSpPr>
          <p:cNvPr id="15" name="TextBox 14"/>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곱셈 기호 1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9816200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72</a:t>
            </a:fld>
            <a:endParaRPr lang="ko-KR" altLang="en-US" sz="1800" dirty="0"/>
          </a:p>
        </p:txBody>
      </p:sp>
      <p:sp>
        <p:nvSpPr>
          <p:cNvPr id="7" name="타원 6"/>
          <p:cNvSpPr/>
          <p:nvPr/>
        </p:nvSpPr>
        <p:spPr>
          <a:xfrm>
            <a:off x="5499652" y="1378226"/>
            <a:ext cx="1192696" cy="1152939"/>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chemeClr val="tx1"/>
                </a:solidFill>
              </a:rPr>
              <a:t>상인</a:t>
            </a:r>
            <a:endParaRPr lang="ko-KR" altLang="en-US" sz="2400" dirty="0">
              <a:solidFill>
                <a:schemeClr val="tx1"/>
              </a:solidFill>
            </a:endParaRPr>
          </a:p>
        </p:txBody>
      </p:sp>
      <p:grpSp>
        <p:nvGrpSpPr>
          <p:cNvPr id="17" name="그룹 16"/>
          <p:cNvGrpSpPr/>
          <p:nvPr/>
        </p:nvGrpSpPr>
        <p:grpSpPr>
          <a:xfrm>
            <a:off x="1179567" y="1160151"/>
            <a:ext cx="9478462" cy="4737066"/>
            <a:chOff x="1258956" y="1160151"/>
            <a:chExt cx="9478462" cy="4737066"/>
          </a:xfrm>
        </p:grpSpPr>
        <p:cxnSp>
          <p:nvCxnSpPr>
            <p:cNvPr id="15" name="직선 연결선 14"/>
            <p:cNvCxnSpPr/>
            <p:nvPr/>
          </p:nvCxnSpPr>
          <p:spPr>
            <a:xfrm>
              <a:off x="1258956"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10737418"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flipH="1">
              <a:off x="1258956" y="5897217"/>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flipH="1">
              <a:off x="1258956" y="1160151"/>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타원 31"/>
          <p:cNvSpPr/>
          <p:nvPr/>
        </p:nvSpPr>
        <p:spPr>
          <a:xfrm>
            <a:off x="7583795" y="5027382"/>
            <a:ext cx="764839" cy="7117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3" name="직사각형 32"/>
          <p:cNvSpPr/>
          <p:nvPr/>
        </p:nvSpPr>
        <p:spPr>
          <a:xfrm>
            <a:off x="2219549" y="4947033"/>
            <a:ext cx="671128" cy="6357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4" name="이등변 삼각형 33"/>
          <p:cNvSpPr/>
          <p:nvPr/>
        </p:nvSpPr>
        <p:spPr>
          <a:xfrm>
            <a:off x="4989442" y="4983653"/>
            <a:ext cx="1020419" cy="655996"/>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아이템</a:t>
            </a:r>
          </a:p>
        </p:txBody>
      </p:sp>
      <p:sp>
        <p:nvSpPr>
          <p:cNvPr id="35" name="포인트가 5개인 별 34"/>
          <p:cNvSpPr/>
          <p:nvPr/>
        </p:nvSpPr>
        <p:spPr>
          <a:xfrm>
            <a:off x="3286849" y="3939810"/>
            <a:ext cx="1251047" cy="1043843"/>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8" name="십자형 17"/>
          <p:cNvSpPr/>
          <p:nvPr/>
        </p:nvSpPr>
        <p:spPr>
          <a:xfrm>
            <a:off x="8702349" y="4162211"/>
            <a:ext cx="715618" cy="655996"/>
          </a:xfrm>
          <a:prstGeom prst="plu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9" name="순서도: 판단 18"/>
          <p:cNvSpPr/>
          <p:nvPr/>
        </p:nvSpPr>
        <p:spPr>
          <a:xfrm>
            <a:off x="6098710" y="4162211"/>
            <a:ext cx="969301" cy="78482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tx1"/>
                </a:solidFill>
              </a:rPr>
              <a:t>아이템</a:t>
            </a:r>
            <a:endParaRPr lang="ko-KR" altLang="en-US" sz="1400" dirty="0">
              <a:solidFill>
                <a:schemeClr val="tx1"/>
              </a:solidFill>
            </a:endParaRPr>
          </a:p>
        </p:txBody>
      </p:sp>
      <p:cxnSp>
        <p:nvCxnSpPr>
          <p:cNvPr id="23" name="구부러진 연결선 22"/>
          <p:cNvCxnSpPr>
            <a:stCxn id="7" idx="2"/>
          </p:cNvCxnSpPr>
          <p:nvPr/>
        </p:nvCxnSpPr>
        <p:spPr>
          <a:xfrm rot="10800000" flipV="1">
            <a:off x="4678018" y="1954695"/>
            <a:ext cx="821635" cy="914399"/>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구부러진 연결선 42"/>
          <p:cNvCxnSpPr>
            <a:endCxn id="7" idx="6"/>
          </p:cNvCxnSpPr>
          <p:nvPr/>
        </p:nvCxnSpPr>
        <p:spPr>
          <a:xfrm rot="16200000" flipV="1">
            <a:off x="6610812" y="2036233"/>
            <a:ext cx="914399" cy="751326"/>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타원 43"/>
          <p:cNvSpPr/>
          <p:nvPr/>
        </p:nvSpPr>
        <p:spPr>
          <a:xfrm>
            <a:off x="4537896" y="2869095"/>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2" name="타원 51"/>
          <p:cNvSpPr/>
          <p:nvPr/>
        </p:nvSpPr>
        <p:spPr>
          <a:xfrm>
            <a:off x="7303552" y="2869096"/>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4" name="TextBox 23"/>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곱셈 기호 24"/>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0869103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시스템 디자인</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73</a:t>
            </a:fld>
            <a:endParaRPr lang="ko-KR" altLang="en-US" dirty="0">
              <a:solidFill>
                <a:prstClr val="black">
                  <a:tint val="75000"/>
                </a:prstClr>
              </a:solidFill>
            </a:endParaRPr>
          </a:p>
        </p:txBody>
      </p:sp>
    </p:spTree>
    <p:extLst>
      <p:ext uri="{BB962C8B-B14F-4D97-AF65-F5344CB8AC3E}">
        <p14:creationId xmlns:p14="http://schemas.microsoft.com/office/powerpoint/2010/main" val="248813968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타원 48"/>
          <p:cNvSpPr/>
          <p:nvPr/>
        </p:nvSpPr>
        <p:spPr>
          <a:xfrm rot="1265973" flipH="1">
            <a:off x="2890997" y="4546986"/>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파티 시스템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74</a:t>
            </a:fld>
            <a:endParaRPr lang="ko-KR" altLang="en-US" sz="1800" dirty="0"/>
          </a:p>
        </p:txBody>
      </p:sp>
      <p:sp>
        <p:nvSpPr>
          <p:cNvPr id="13" name="TextBox 12"/>
          <p:cNvSpPr txBox="1"/>
          <p:nvPr/>
        </p:nvSpPr>
        <p:spPr>
          <a:xfrm>
            <a:off x="5357971" y="1467818"/>
            <a:ext cx="6148229" cy="4662815"/>
          </a:xfrm>
          <a:prstGeom prst="rect">
            <a:avLst/>
          </a:prstGeom>
          <a:noFill/>
        </p:spPr>
        <p:txBody>
          <a:bodyPr wrap="square" rtlCol="0">
            <a:spAutoFit/>
          </a:bodyPr>
          <a:lstStyle/>
          <a:p>
            <a:pPr>
              <a:lnSpc>
                <a:spcPct val="150000"/>
              </a:lnSpc>
            </a:pPr>
            <a:r>
              <a:rPr lang="en-US" altLang="ko-KR" dirty="0" smtClean="0"/>
              <a:t>• </a:t>
            </a:r>
            <a:r>
              <a:rPr lang="ko-KR" altLang="en-US" dirty="0" smtClean="0"/>
              <a:t>플레이어는 게임 시작 시 캐릭터 </a:t>
            </a:r>
            <a:r>
              <a:rPr lang="ko-KR" altLang="en-US" dirty="0" err="1" smtClean="0"/>
              <a:t>혼자부터</a:t>
            </a:r>
            <a:r>
              <a:rPr lang="ko-KR" altLang="en-US" dirty="0" smtClean="0"/>
              <a:t> 출발하여</a:t>
            </a:r>
            <a:r>
              <a:rPr lang="en-US" altLang="ko-KR" dirty="0" smtClean="0"/>
              <a:t>,</a:t>
            </a:r>
            <a:br>
              <a:rPr lang="en-US" altLang="ko-KR" dirty="0" smtClean="0"/>
            </a:br>
            <a:r>
              <a:rPr lang="en-US" altLang="ko-KR" dirty="0" smtClean="0"/>
              <a:t>  </a:t>
            </a:r>
            <a:r>
              <a:rPr lang="ko-KR" altLang="en-US" dirty="0" smtClean="0"/>
              <a:t>던전의 몬스터를 정화하고 자신의 파티로 귀속시킨다</a:t>
            </a:r>
            <a:r>
              <a:rPr lang="en-US" altLang="ko-KR" dirty="0" smtClean="0"/>
              <a:t>.</a:t>
            </a:r>
            <a:br>
              <a:rPr lang="en-US" altLang="ko-KR" dirty="0" smtClean="0"/>
            </a:br>
            <a:r>
              <a:rPr lang="en-US" altLang="ko-KR" dirty="0" smtClean="0"/>
              <a:t>  </a:t>
            </a:r>
            <a:r>
              <a:rPr lang="ko-KR" altLang="en-US" dirty="0" smtClean="0"/>
              <a:t>아군 몬스터는 용사와 함께 전투를 치른다</a:t>
            </a:r>
            <a:r>
              <a:rPr lang="en-US" altLang="ko-KR" dirty="0" smtClean="0"/>
              <a:t>.</a:t>
            </a:r>
          </a:p>
          <a:p>
            <a:pPr>
              <a:lnSpc>
                <a:spcPct val="150000"/>
              </a:lnSpc>
            </a:pPr>
            <a:endParaRPr lang="en-US" altLang="ko-KR" dirty="0" smtClean="0"/>
          </a:p>
          <a:p>
            <a:pPr>
              <a:lnSpc>
                <a:spcPct val="150000"/>
              </a:lnSpc>
            </a:pPr>
            <a:r>
              <a:rPr lang="en-US" altLang="ko-KR" dirty="0"/>
              <a:t>• </a:t>
            </a:r>
            <a:r>
              <a:rPr lang="ko-KR" altLang="en-US" dirty="0"/>
              <a:t>플레이어는 던전 지도 화면에서 파티 버튼을 클릭해</a:t>
            </a:r>
            <a:r>
              <a:rPr lang="en-US" altLang="ko-KR" dirty="0"/>
              <a:t/>
            </a:r>
            <a:br>
              <a:rPr lang="en-US" altLang="ko-KR" dirty="0"/>
            </a:br>
            <a:r>
              <a:rPr lang="en-US" altLang="ko-KR" dirty="0"/>
              <a:t>  </a:t>
            </a:r>
            <a:r>
              <a:rPr lang="ko-KR" altLang="en-US" dirty="0" err="1"/>
              <a:t>파티창을</a:t>
            </a:r>
            <a:r>
              <a:rPr lang="ko-KR" altLang="en-US" dirty="0"/>
              <a:t> 열어</a:t>
            </a:r>
            <a:r>
              <a:rPr lang="en-US" altLang="ko-KR" dirty="0"/>
              <a:t> </a:t>
            </a:r>
            <a:r>
              <a:rPr lang="ko-KR" altLang="en-US" dirty="0"/>
              <a:t>아군의 정보와 파티 구성과 살펴볼 수</a:t>
            </a:r>
            <a:r>
              <a:rPr lang="en-US" altLang="ko-KR" dirty="0"/>
              <a:t/>
            </a:r>
            <a:br>
              <a:rPr lang="en-US" altLang="ko-KR" dirty="0"/>
            </a:br>
            <a:r>
              <a:rPr lang="en-US" altLang="ko-KR" dirty="0"/>
              <a:t> </a:t>
            </a:r>
            <a:r>
              <a:rPr lang="ko-KR" altLang="en-US" dirty="0"/>
              <a:t> 있으며</a:t>
            </a:r>
            <a:r>
              <a:rPr lang="en-US" altLang="ko-KR" dirty="0"/>
              <a:t> </a:t>
            </a:r>
            <a:r>
              <a:rPr lang="ko-KR" altLang="en-US" dirty="0"/>
              <a:t>아군 몬스터의 배치 순서를 변경할 수 있다</a:t>
            </a:r>
            <a:r>
              <a:rPr lang="en-US" altLang="ko-KR" dirty="0" smtClean="0"/>
              <a:t>.</a:t>
            </a:r>
            <a:endParaRPr lang="en-US" altLang="ko-KR" dirty="0"/>
          </a:p>
          <a:p>
            <a:pPr>
              <a:lnSpc>
                <a:spcPct val="150000"/>
              </a:lnSpc>
            </a:pPr>
            <a:endParaRPr lang="en-US" altLang="ko-KR" dirty="0"/>
          </a:p>
          <a:p>
            <a:pPr>
              <a:lnSpc>
                <a:spcPct val="150000"/>
              </a:lnSpc>
            </a:pPr>
            <a:r>
              <a:rPr lang="en-US" altLang="ko-KR" dirty="0" smtClean="0"/>
              <a:t>• </a:t>
            </a:r>
            <a:r>
              <a:rPr lang="ko-KR" altLang="en-US" dirty="0" smtClean="0"/>
              <a:t>몬스터는 최대 </a:t>
            </a:r>
            <a:r>
              <a:rPr lang="en-US" altLang="ko-KR" dirty="0" smtClean="0"/>
              <a:t>3</a:t>
            </a:r>
            <a:r>
              <a:rPr lang="ko-KR" altLang="en-US" dirty="0" smtClean="0"/>
              <a:t>마리까지 자신의 파티로서 데려갈 수</a:t>
            </a:r>
            <a:r>
              <a:rPr lang="en-US" altLang="ko-KR" dirty="0" smtClean="0"/>
              <a:t/>
            </a:r>
            <a:br>
              <a:rPr lang="en-US" altLang="ko-KR" dirty="0" smtClean="0"/>
            </a:br>
            <a:r>
              <a:rPr lang="en-US" altLang="ko-KR" dirty="0" smtClean="0"/>
              <a:t>  </a:t>
            </a:r>
            <a:r>
              <a:rPr lang="ko-KR" altLang="en-US" dirty="0" smtClean="0"/>
              <a:t>있으며 정화를 통해 </a:t>
            </a:r>
            <a:r>
              <a:rPr lang="en-US" altLang="ko-KR" dirty="0" smtClean="0"/>
              <a:t>3</a:t>
            </a:r>
            <a:r>
              <a:rPr lang="ko-KR" altLang="en-US" dirty="0" smtClean="0"/>
              <a:t>마리를 초과하여 보유하게 될 경우 </a:t>
            </a:r>
            <a:endParaRPr lang="en-US" altLang="ko-KR" dirty="0" smtClean="0"/>
          </a:p>
          <a:p>
            <a:pPr>
              <a:lnSpc>
                <a:spcPct val="150000"/>
              </a:lnSpc>
            </a:pPr>
            <a:r>
              <a:rPr lang="en-US" altLang="ko-KR" dirty="0"/>
              <a:t> </a:t>
            </a:r>
            <a:r>
              <a:rPr lang="en-US" altLang="ko-KR" dirty="0" smtClean="0"/>
              <a:t> </a:t>
            </a:r>
            <a:r>
              <a:rPr lang="ko-KR" altLang="en-US" dirty="0" smtClean="0"/>
              <a:t>기존 몬스터 중 </a:t>
            </a:r>
            <a:r>
              <a:rPr lang="en-US" altLang="ko-KR" dirty="0" smtClean="0"/>
              <a:t>1</a:t>
            </a:r>
            <a:r>
              <a:rPr lang="ko-KR" altLang="en-US" dirty="0" smtClean="0"/>
              <a:t>체</a:t>
            </a:r>
            <a:r>
              <a:rPr lang="en-US" altLang="ko-KR" dirty="0" smtClean="0"/>
              <a:t> </a:t>
            </a:r>
            <a:r>
              <a:rPr lang="ko-KR" altLang="en-US" dirty="0" smtClean="0"/>
              <a:t>혹은 새로 얻은 몬스터를 버려야한다</a:t>
            </a:r>
            <a:r>
              <a:rPr lang="en-US" altLang="ko-KR" dirty="0" smtClean="0"/>
              <a:t>.</a:t>
            </a:r>
          </a:p>
        </p:txBody>
      </p:sp>
      <p:sp>
        <p:nvSpPr>
          <p:cNvPr id="15" name="TextBox 14"/>
          <p:cNvSpPr txBox="1"/>
          <p:nvPr/>
        </p:nvSpPr>
        <p:spPr>
          <a:xfrm>
            <a:off x="72571" y="250721"/>
            <a:ext cx="6277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 및 정화 시스템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1372147" y="328358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2881488" y="345176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2885154" y="244165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009900" y="202940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009900" y="307204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009900" y="416386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1613924" y="307204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7" name="직사각형 36"/>
          <p:cNvSpPr/>
          <p:nvPr/>
        </p:nvSpPr>
        <p:spPr>
          <a:xfrm>
            <a:off x="3170694" y="19454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1759484" y="29011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3148637" y="298460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3148637" y="408213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1759484" y="295173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55482987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정화 시스템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75</a:t>
            </a:fld>
            <a:endParaRPr lang="ko-KR" altLang="en-US" sz="1800" dirty="0"/>
          </a:p>
        </p:txBody>
      </p:sp>
      <p:sp>
        <p:nvSpPr>
          <p:cNvPr id="22" name="이등변 삼각형 21"/>
          <p:cNvSpPr/>
          <p:nvPr/>
        </p:nvSpPr>
        <p:spPr>
          <a:xfrm rot="2940484">
            <a:off x="3206386" y="194903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이등변 삼각형 34"/>
          <p:cNvSpPr/>
          <p:nvPr/>
        </p:nvSpPr>
        <p:spPr>
          <a:xfrm>
            <a:off x="2060972" y="165859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3" name="직사각형 42"/>
          <p:cNvSpPr/>
          <p:nvPr/>
        </p:nvSpPr>
        <p:spPr>
          <a:xfrm>
            <a:off x="2455857" y="153577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TextBox 46"/>
          <p:cNvSpPr txBox="1"/>
          <p:nvPr/>
        </p:nvSpPr>
        <p:spPr>
          <a:xfrm>
            <a:off x="72571" y="250721"/>
            <a:ext cx="6277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 및 정화 시스템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8" name="TextBox 47"/>
          <p:cNvSpPr txBox="1"/>
          <p:nvPr/>
        </p:nvSpPr>
        <p:spPr>
          <a:xfrm>
            <a:off x="5156201" y="1467818"/>
            <a:ext cx="6769100" cy="4662815"/>
          </a:xfrm>
          <a:prstGeom prst="rect">
            <a:avLst/>
          </a:prstGeom>
          <a:noFill/>
        </p:spPr>
        <p:txBody>
          <a:bodyPr wrap="square" rtlCol="0">
            <a:spAutoFit/>
          </a:bodyPr>
          <a:lstStyle/>
          <a:p>
            <a:pPr>
              <a:lnSpc>
                <a:spcPct val="150000"/>
              </a:lnSpc>
            </a:pPr>
            <a:r>
              <a:rPr lang="en-US" altLang="ko-KR" dirty="0" smtClean="0"/>
              <a:t>• </a:t>
            </a:r>
            <a:r>
              <a:rPr lang="ko-KR" altLang="en-US" dirty="0" smtClean="0"/>
              <a:t>플레이어는 마왕의 저주로 난폭해진 </a:t>
            </a:r>
            <a:r>
              <a:rPr lang="ko-KR" altLang="en-US" dirty="0" err="1" smtClean="0"/>
              <a:t>몬스터들을</a:t>
            </a:r>
            <a:r>
              <a:rPr lang="ko-KR" altLang="en-US" dirty="0" smtClean="0"/>
              <a:t> 쓰러트려</a:t>
            </a:r>
            <a:r>
              <a:rPr lang="en-US" altLang="ko-KR" dirty="0" smtClean="0"/>
              <a:t/>
            </a:r>
            <a:br>
              <a:rPr lang="en-US" altLang="ko-KR" dirty="0" smtClean="0"/>
            </a:br>
            <a:r>
              <a:rPr lang="en-US" altLang="ko-KR" dirty="0" smtClean="0"/>
              <a:t>  </a:t>
            </a:r>
            <a:r>
              <a:rPr lang="ko-KR" altLang="en-US" dirty="0" smtClean="0"/>
              <a:t>진정시킨 후</a:t>
            </a:r>
            <a:r>
              <a:rPr lang="en-US" altLang="ko-KR" dirty="0" smtClean="0"/>
              <a:t>, </a:t>
            </a:r>
            <a:r>
              <a:rPr lang="ko-KR" altLang="en-US" dirty="0" smtClean="0"/>
              <a:t>전투가 종료된 뒤 저주를 정화한다</a:t>
            </a:r>
            <a:r>
              <a:rPr lang="en-US" altLang="ko-KR" dirty="0" smtClean="0"/>
              <a:t>.</a:t>
            </a:r>
          </a:p>
          <a:p>
            <a:pPr>
              <a:lnSpc>
                <a:spcPct val="150000"/>
              </a:lnSpc>
            </a:pPr>
            <a:endParaRPr lang="en-US" altLang="ko-KR" dirty="0" smtClean="0"/>
          </a:p>
          <a:p>
            <a:pPr>
              <a:lnSpc>
                <a:spcPct val="150000"/>
              </a:lnSpc>
            </a:pPr>
            <a:r>
              <a:rPr lang="en-US" altLang="ko-KR" dirty="0"/>
              <a:t>• </a:t>
            </a:r>
            <a:r>
              <a:rPr lang="ko-KR" altLang="en-US" dirty="0" smtClean="0"/>
              <a:t>정화 의식을 통해 전투 이벤트에서 등장한 적 몬스터 전부가</a:t>
            </a:r>
            <a:r>
              <a:rPr lang="en-US" altLang="ko-KR" dirty="0" smtClean="0"/>
              <a:t/>
            </a:r>
            <a:br>
              <a:rPr lang="en-US" altLang="ko-KR" dirty="0" smtClean="0"/>
            </a:br>
            <a:r>
              <a:rPr lang="en-US" altLang="ko-KR" dirty="0" smtClean="0"/>
              <a:t>  </a:t>
            </a:r>
            <a:r>
              <a:rPr lang="ko-KR" altLang="en-US" dirty="0" err="1" smtClean="0"/>
              <a:t>정화되며</a:t>
            </a:r>
            <a:r>
              <a:rPr lang="en-US" altLang="ko-KR" dirty="0" smtClean="0"/>
              <a:t>, </a:t>
            </a:r>
            <a:r>
              <a:rPr lang="ko-KR" altLang="en-US" dirty="0" smtClean="0"/>
              <a:t>이 때</a:t>
            </a:r>
            <a:r>
              <a:rPr lang="en-US" altLang="ko-KR" dirty="0" smtClean="0"/>
              <a:t> </a:t>
            </a:r>
            <a:r>
              <a:rPr lang="ko-KR" altLang="en-US" dirty="0" smtClean="0"/>
              <a:t>특별한 비용은 소모되지 않는다</a:t>
            </a:r>
            <a:r>
              <a:rPr lang="en-US" altLang="ko-KR" dirty="0" smtClean="0"/>
              <a:t>.</a:t>
            </a:r>
            <a:br>
              <a:rPr lang="en-US" altLang="ko-KR" dirty="0" smtClean="0"/>
            </a:br>
            <a:r>
              <a:rPr lang="en-US" altLang="ko-KR" dirty="0" smtClean="0"/>
              <a:t/>
            </a:r>
            <a:br>
              <a:rPr lang="en-US" altLang="ko-KR" dirty="0" smtClean="0"/>
            </a:br>
            <a:r>
              <a:rPr lang="en-US" altLang="ko-KR" dirty="0"/>
              <a:t>• </a:t>
            </a:r>
            <a:r>
              <a:rPr lang="ko-KR" altLang="en-US" dirty="0" smtClean="0"/>
              <a:t>플레이어는 전투에서 정화된</a:t>
            </a:r>
            <a:r>
              <a:rPr lang="en-US" altLang="ko-KR" dirty="0" smtClean="0"/>
              <a:t> </a:t>
            </a:r>
            <a:r>
              <a:rPr lang="ko-KR" altLang="en-US" dirty="0" smtClean="0"/>
              <a:t>몬스터 중 </a:t>
            </a:r>
            <a:r>
              <a:rPr lang="en-US" altLang="ko-KR" dirty="0" smtClean="0"/>
              <a:t>1</a:t>
            </a:r>
            <a:r>
              <a:rPr lang="ko-KR" altLang="en-US" dirty="0" smtClean="0"/>
              <a:t>체를 선택하여 </a:t>
            </a:r>
            <a:r>
              <a:rPr lang="en-US" altLang="ko-KR" dirty="0" smtClean="0"/>
              <a:t/>
            </a:r>
            <a:br>
              <a:rPr lang="en-US" altLang="ko-KR" dirty="0" smtClean="0"/>
            </a:br>
            <a:r>
              <a:rPr lang="en-US" altLang="ko-KR" dirty="0" smtClean="0"/>
              <a:t>  </a:t>
            </a:r>
            <a:r>
              <a:rPr lang="ko-KR" altLang="en-US" dirty="0" smtClean="0"/>
              <a:t>자신의 파티에 편입할 수 있다</a:t>
            </a:r>
            <a:r>
              <a:rPr lang="en-US" altLang="ko-KR" dirty="0" smtClean="0"/>
              <a:t>.</a:t>
            </a:r>
            <a:br>
              <a:rPr lang="en-US" altLang="ko-KR" dirty="0" smtClean="0"/>
            </a:br>
            <a:r>
              <a:rPr lang="en-US" altLang="ko-KR" dirty="0" smtClean="0"/>
              <a:t/>
            </a:r>
            <a:br>
              <a:rPr lang="en-US" altLang="ko-KR" dirty="0" smtClean="0"/>
            </a:br>
            <a:r>
              <a:rPr lang="en-US" altLang="ko-KR" dirty="0"/>
              <a:t>• </a:t>
            </a:r>
            <a:r>
              <a:rPr lang="ko-KR" altLang="en-US" dirty="0" smtClean="0"/>
              <a:t>파티에 들어간 몬스터는 답례로써 유저와 동행하며 마왕을</a:t>
            </a:r>
            <a:endParaRPr lang="en-US" altLang="ko-KR" dirty="0" smtClean="0"/>
          </a:p>
          <a:p>
            <a:pPr>
              <a:lnSpc>
                <a:spcPct val="150000"/>
              </a:lnSpc>
            </a:pPr>
            <a:r>
              <a:rPr lang="en-US" altLang="ko-KR" dirty="0"/>
              <a:t> </a:t>
            </a:r>
            <a:r>
              <a:rPr lang="en-US" altLang="ko-KR" dirty="0" smtClean="0"/>
              <a:t> </a:t>
            </a:r>
            <a:r>
              <a:rPr lang="ko-KR" altLang="en-US" dirty="0" smtClean="0"/>
              <a:t>무찌르기 위해 던전 탐험과 전투를 함께한다</a:t>
            </a:r>
            <a:r>
              <a:rPr lang="en-US" altLang="ko-KR" dirty="0" smtClean="0"/>
              <a:t>.</a:t>
            </a:r>
          </a:p>
        </p:txBody>
      </p:sp>
      <p:sp>
        <p:nvSpPr>
          <p:cNvPr id="2" name="구름 1"/>
          <p:cNvSpPr/>
          <p:nvPr/>
        </p:nvSpPr>
        <p:spPr>
          <a:xfrm>
            <a:off x="2234120" y="1746602"/>
            <a:ext cx="1044061" cy="786373"/>
          </a:xfrm>
          <a:prstGeom prst="cloud">
            <a:avLst/>
          </a:prstGeom>
          <a:solidFill>
            <a:schemeClr val="tx1">
              <a:lumMod val="95000"/>
              <a:lumOff val="5000"/>
              <a:alpha val="2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TextBox 48"/>
          <p:cNvSpPr txBox="1"/>
          <p:nvPr/>
        </p:nvSpPr>
        <p:spPr>
          <a:xfrm>
            <a:off x="1865819" y="2619260"/>
            <a:ext cx="178066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mn-ea"/>
              </a:rPr>
              <a:t>저주에 걸린 몬스터</a:t>
            </a:r>
            <a:endParaRPr lang="ko-KR" altLang="en-US" sz="1600" spc="-300" dirty="0">
              <a:gradFill>
                <a:gsLst>
                  <a:gs pos="0">
                    <a:schemeClr val="tx1"/>
                  </a:gs>
                  <a:gs pos="100000">
                    <a:schemeClr val="tx1"/>
                  </a:gs>
                </a:gsLst>
                <a:lin ang="5400000" scaled="1"/>
              </a:gradFill>
              <a:latin typeface="+mn-ea"/>
            </a:endParaRPr>
          </a:p>
        </p:txBody>
      </p:sp>
      <p:sp>
        <p:nvSpPr>
          <p:cNvPr id="50" name="이등변 삼각형 49"/>
          <p:cNvSpPr/>
          <p:nvPr/>
        </p:nvSpPr>
        <p:spPr>
          <a:xfrm rot="2940484">
            <a:off x="3206386" y="443494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이등변 삼각형 50"/>
          <p:cNvSpPr/>
          <p:nvPr/>
        </p:nvSpPr>
        <p:spPr>
          <a:xfrm>
            <a:off x="2060972" y="414451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2" name="직사각형 51"/>
          <p:cNvSpPr/>
          <p:nvPr/>
        </p:nvSpPr>
        <p:spPr>
          <a:xfrm>
            <a:off x="2455857" y="402169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TextBox 53"/>
          <p:cNvSpPr txBox="1"/>
          <p:nvPr/>
        </p:nvSpPr>
        <p:spPr>
          <a:xfrm>
            <a:off x="1865819" y="5105178"/>
            <a:ext cx="178066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mn-ea"/>
              </a:rPr>
              <a:t>정화된 몬스터</a:t>
            </a:r>
            <a:endParaRPr lang="ko-KR" altLang="en-US" sz="1600" spc="-300" dirty="0">
              <a:gradFill>
                <a:gsLst>
                  <a:gs pos="0">
                    <a:schemeClr val="tx1"/>
                  </a:gs>
                  <a:gs pos="100000">
                    <a:schemeClr val="tx1"/>
                  </a:gs>
                </a:gsLst>
                <a:lin ang="5400000" scaled="1"/>
              </a:gradFill>
              <a:latin typeface="+mn-ea"/>
            </a:endParaRPr>
          </a:p>
        </p:txBody>
      </p:sp>
      <p:sp>
        <p:nvSpPr>
          <p:cNvPr id="3" name="아래쪽 화살표 2"/>
          <p:cNvSpPr/>
          <p:nvPr/>
        </p:nvSpPr>
        <p:spPr>
          <a:xfrm>
            <a:off x="2593176" y="3138825"/>
            <a:ext cx="325945" cy="660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598722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턴 전투 방식</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76</a:t>
            </a:fld>
            <a:endParaRPr lang="ko-KR" altLang="en-US" sz="1800" dirty="0"/>
          </a:p>
        </p:txBody>
      </p:sp>
      <p:sp>
        <p:nvSpPr>
          <p:cNvPr id="13" name="TextBox 12"/>
          <p:cNvSpPr txBox="1"/>
          <p:nvPr/>
        </p:nvSpPr>
        <p:spPr>
          <a:xfrm>
            <a:off x="2464852" y="4007329"/>
            <a:ext cx="8222276" cy="2585323"/>
          </a:xfrm>
          <a:prstGeom prst="rect">
            <a:avLst/>
          </a:prstGeom>
          <a:noFill/>
        </p:spPr>
        <p:txBody>
          <a:bodyPr wrap="square" rtlCol="0">
            <a:spAutoFit/>
          </a:bodyPr>
          <a:lstStyle/>
          <a:p>
            <a:pPr>
              <a:lnSpc>
                <a:spcPct val="150000"/>
              </a:lnSpc>
            </a:pPr>
            <a:r>
              <a:rPr lang="en-US" altLang="ko-KR" dirty="0" smtClean="0"/>
              <a:t>• </a:t>
            </a:r>
            <a:r>
              <a:rPr lang="ko-KR" altLang="en-US" dirty="0" smtClean="0"/>
              <a:t>턴은 크게 아군의 턴과 적군의 턴으로 구분할 수 있다</a:t>
            </a:r>
            <a:r>
              <a:rPr lang="en-US" altLang="ko-KR" dirty="0"/>
              <a:t>. </a:t>
            </a:r>
            <a:br>
              <a:rPr lang="en-US" altLang="ko-KR" dirty="0"/>
            </a:br>
            <a:r>
              <a:rPr lang="en-US" altLang="ko-KR" dirty="0"/>
              <a:t>• </a:t>
            </a:r>
            <a:r>
              <a:rPr lang="ko-KR" altLang="en-US" dirty="0" smtClean="0"/>
              <a:t>아군의 </a:t>
            </a:r>
            <a:r>
              <a:rPr lang="ko-KR" altLang="en-US" dirty="0"/>
              <a:t>선공으로 시작하여 파티 구성원 전체가 </a:t>
            </a:r>
            <a:r>
              <a:rPr lang="ko-KR" altLang="en-US" dirty="0" smtClean="0"/>
              <a:t>동시에 </a:t>
            </a:r>
            <a:r>
              <a:rPr lang="ko-KR" altLang="en-US" dirty="0"/>
              <a:t>전투에 임하게 된다</a:t>
            </a:r>
            <a:r>
              <a:rPr lang="en-US" altLang="ko-KR" dirty="0" smtClean="0"/>
              <a:t>.</a:t>
            </a:r>
          </a:p>
          <a:p>
            <a:pPr>
              <a:lnSpc>
                <a:spcPct val="150000"/>
              </a:lnSpc>
            </a:pPr>
            <a:r>
              <a:rPr lang="en-US" altLang="ko-KR" dirty="0" smtClean="0"/>
              <a:t>• </a:t>
            </a:r>
            <a:r>
              <a:rPr lang="ko-KR" altLang="en-US" dirty="0" smtClean="0"/>
              <a:t>아군의 턴 동안</a:t>
            </a:r>
            <a:r>
              <a:rPr lang="en-US" altLang="ko-KR" dirty="0"/>
              <a:t> </a:t>
            </a:r>
            <a:r>
              <a:rPr lang="ko-KR" altLang="en-US" dirty="0" smtClean="0"/>
              <a:t>아군만 행동할 수 있으며</a:t>
            </a:r>
            <a:r>
              <a:rPr lang="en-US" altLang="ko-KR" dirty="0" smtClean="0"/>
              <a:t>, </a:t>
            </a:r>
            <a:r>
              <a:rPr lang="ko-KR" altLang="en-US" dirty="0" smtClean="0"/>
              <a:t>아군 캐릭터 각자의 차례 때 </a:t>
            </a:r>
            <a:r>
              <a:rPr lang="en-US" altLang="ko-KR" dirty="0" smtClean="0"/>
              <a:t/>
            </a:r>
            <a:br>
              <a:rPr lang="en-US" altLang="ko-KR" dirty="0" smtClean="0"/>
            </a:br>
            <a:r>
              <a:rPr lang="en-US" altLang="ko-KR" dirty="0" smtClean="0"/>
              <a:t>  </a:t>
            </a:r>
            <a:r>
              <a:rPr lang="ko-KR" altLang="en-US" dirty="0" smtClean="0"/>
              <a:t>하나씩 행동을 선택</a:t>
            </a:r>
            <a:r>
              <a:rPr lang="en-US" altLang="ko-KR" dirty="0" smtClean="0"/>
              <a:t>, </a:t>
            </a:r>
            <a:r>
              <a:rPr lang="ko-KR" altLang="en-US" dirty="0" smtClean="0"/>
              <a:t>수행한다</a:t>
            </a:r>
            <a:r>
              <a:rPr lang="en-US" altLang="ko-KR" dirty="0" smtClean="0"/>
              <a:t>. </a:t>
            </a:r>
            <a:r>
              <a:rPr lang="ko-KR" altLang="en-US" dirty="0" smtClean="0"/>
              <a:t>적군의 턴 역시 마찬가지로 진행된다</a:t>
            </a:r>
            <a:r>
              <a:rPr lang="en-US" altLang="ko-KR" dirty="0" smtClean="0"/>
              <a:t>.</a:t>
            </a:r>
            <a:br>
              <a:rPr lang="en-US" altLang="ko-KR" dirty="0" smtClean="0"/>
            </a:br>
            <a:r>
              <a:rPr lang="en-US" altLang="ko-KR" dirty="0" smtClean="0"/>
              <a:t>• </a:t>
            </a:r>
            <a:r>
              <a:rPr lang="ko-KR" altLang="en-US" dirty="0" smtClean="0"/>
              <a:t>모든 아군이 행동을 마치면 적군의 턴이 진행되고</a:t>
            </a:r>
            <a:r>
              <a:rPr lang="en-US" altLang="ko-KR" dirty="0" smtClean="0"/>
              <a:t>, </a:t>
            </a:r>
            <a:r>
              <a:rPr lang="ko-KR" altLang="en-US" dirty="0" smtClean="0"/>
              <a:t>그 후 아군과 적군의 턴이  </a:t>
            </a:r>
            <a:endParaRPr lang="en-US" altLang="ko-KR" dirty="0" smtClean="0"/>
          </a:p>
          <a:p>
            <a:pPr>
              <a:lnSpc>
                <a:spcPct val="150000"/>
              </a:lnSpc>
            </a:pPr>
            <a:r>
              <a:rPr lang="en-US" altLang="ko-KR" dirty="0"/>
              <a:t> </a:t>
            </a:r>
            <a:r>
              <a:rPr lang="en-US" altLang="ko-KR" dirty="0" smtClean="0"/>
              <a:t> </a:t>
            </a:r>
            <a:r>
              <a:rPr lang="ko-KR" altLang="en-US" dirty="0" smtClean="0"/>
              <a:t>번갈아 진행된다</a:t>
            </a:r>
            <a:r>
              <a:rPr lang="en-US" altLang="ko-KR" dirty="0" smtClean="0"/>
              <a:t>.</a:t>
            </a:r>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3" name="그룹 2"/>
          <p:cNvGrpSpPr/>
          <p:nvPr/>
        </p:nvGrpSpPr>
        <p:grpSpPr>
          <a:xfrm>
            <a:off x="1593118" y="1131783"/>
            <a:ext cx="9595581" cy="2716318"/>
            <a:chOff x="1466118" y="1102444"/>
            <a:chExt cx="9647693" cy="3691575"/>
          </a:xfrm>
        </p:grpSpPr>
        <p:sp>
          <p:nvSpPr>
            <p:cNvPr id="50" name="타원 49"/>
            <p:cNvSpPr/>
            <p:nvPr/>
          </p:nvSpPr>
          <p:spPr>
            <a:xfrm rot="1265973" flipH="1">
              <a:off x="3770640" y="4091156"/>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도넛 1"/>
            <p:cNvSpPr/>
            <p:nvPr/>
          </p:nvSpPr>
          <p:spPr>
            <a:xfrm>
              <a:off x="1979045" y="1169744"/>
              <a:ext cx="4027130" cy="3624275"/>
            </a:xfrm>
            <a:prstGeom prst="donut">
              <a:avLst>
                <a:gd name="adj" fmla="val 15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1" name="TextBox 50"/>
            <p:cNvSpPr txBox="1"/>
            <p:nvPr/>
          </p:nvSpPr>
          <p:spPr>
            <a:xfrm>
              <a:off x="1466118" y="1169744"/>
              <a:ext cx="1595010" cy="400110"/>
            </a:xfrm>
            <a:prstGeom prst="rect">
              <a:avLst/>
            </a:prstGeom>
            <a:noFill/>
          </p:spPr>
          <p:txBody>
            <a:bodyPr wrap="square" rtlCol="0">
              <a:spAutoFit/>
            </a:bodyPr>
            <a:lstStyle/>
            <a:p>
              <a:pPr algn="ctr"/>
              <a:r>
                <a:rPr lang="ko-KR" altLang="en-US" sz="2000" spc="-300" dirty="0" smtClean="0">
                  <a:solidFill>
                    <a:srgbClr val="00B050"/>
                  </a:solidFill>
                  <a:latin typeface="맑은 고딕" panose="020B0503020000020004" pitchFamily="50" charset="-127"/>
                  <a:ea typeface="맑은 고딕" panose="020B0503020000020004" pitchFamily="50" charset="-127"/>
                </a:rPr>
                <a:t>아군</a:t>
              </a:r>
              <a:r>
                <a:rPr lang="ko-KR" altLang="en-US"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의 턴</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2" name="도넛 51"/>
            <p:cNvSpPr/>
            <p:nvPr/>
          </p:nvSpPr>
          <p:spPr>
            <a:xfrm>
              <a:off x="6234744" y="1102444"/>
              <a:ext cx="4254541" cy="3691575"/>
            </a:xfrm>
            <a:prstGeom prst="donut">
              <a:avLst>
                <a:gd name="adj" fmla="val 1518"/>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3" name="TextBox 52"/>
            <p:cNvSpPr txBox="1"/>
            <p:nvPr/>
          </p:nvSpPr>
          <p:spPr>
            <a:xfrm>
              <a:off x="9518801" y="1169744"/>
              <a:ext cx="1595010" cy="400110"/>
            </a:xfrm>
            <a:prstGeom prst="rect">
              <a:avLst/>
            </a:prstGeom>
            <a:noFill/>
          </p:spPr>
          <p:txBody>
            <a:bodyPr wrap="square" rtlCol="0">
              <a:spAutoFit/>
            </a:bodyPr>
            <a:lstStyle/>
            <a:p>
              <a:pPr algn="ctr"/>
              <a:r>
                <a:rPr lang="ko-KR" altLang="en-US" sz="2000" spc="-300" dirty="0">
                  <a:solidFill>
                    <a:srgbClr val="7030A0"/>
                  </a:solidFill>
                  <a:latin typeface="맑은 고딕" panose="020B0503020000020004" pitchFamily="50" charset="-127"/>
                  <a:ea typeface="맑은 고딕" panose="020B0503020000020004" pitchFamily="50" charset="-127"/>
                </a:rPr>
                <a:t>적</a:t>
              </a:r>
              <a:r>
                <a:rPr lang="ko-KR" altLang="en-US" sz="2000" spc="-300" dirty="0" smtClean="0">
                  <a:solidFill>
                    <a:srgbClr val="7030A0"/>
                  </a:solidFill>
                  <a:latin typeface="맑은 고딕" panose="020B0503020000020004" pitchFamily="50" charset="-127"/>
                  <a:ea typeface="맑은 고딕" panose="020B0503020000020004" pitchFamily="50" charset="-127"/>
                </a:rPr>
                <a:t>군</a:t>
              </a:r>
              <a:r>
                <a:rPr lang="ko-KR" altLang="en-US"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의 턴</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spTree>
    <p:extLst>
      <p:ext uri="{BB962C8B-B14F-4D97-AF65-F5344CB8AC3E}">
        <p14:creationId xmlns:p14="http://schemas.microsoft.com/office/powerpoint/2010/main" val="354371083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타원 53"/>
          <p:cNvSpPr/>
          <p:nvPr/>
        </p:nvSpPr>
        <p:spPr>
          <a:xfrm rot="1265973" flipH="1">
            <a:off x="3767419" y="4091979"/>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아군의 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77</a:t>
            </a:fld>
            <a:endParaRPr lang="ko-KR" altLang="en-US" sz="1800" dirty="0"/>
          </a:p>
        </p:txBody>
      </p:sp>
      <p:sp>
        <p:nvSpPr>
          <p:cNvPr id="13" name="TextBox 12"/>
          <p:cNvSpPr txBox="1"/>
          <p:nvPr/>
        </p:nvSpPr>
        <p:spPr>
          <a:xfrm>
            <a:off x="2930030" y="4689388"/>
            <a:ext cx="7386276" cy="1754326"/>
          </a:xfrm>
          <a:prstGeom prst="rect">
            <a:avLst/>
          </a:prstGeom>
          <a:noFill/>
        </p:spPr>
        <p:txBody>
          <a:bodyPr wrap="square" rtlCol="0">
            <a:spAutoFit/>
          </a:bodyPr>
          <a:lstStyle/>
          <a:p>
            <a:pPr>
              <a:lnSpc>
                <a:spcPct val="150000"/>
              </a:lnSpc>
            </a:pPr>
            <a:r>
              <a:rPr lang="en-US" altLang="ko-KR" dirty="0" smtClean="0"/>
              <a:t>• </a:t>
            </a:r>
            <a:r>
              <a:rPr lang="ko-KR" altLang="en-US" dirty="0" smtClean="0"/>
              <a:t>플레이어는 아직 행동을 수행하지 않은</a:t>
            </a:r>
            <a:r>
              <a:rPr lang="en-US" altLang="ko-KR" dirty="0" smtClean="0"/>
              <a:t> </a:t>
            </a:r>
            <a:r>
              <a:rPr lang="ko-KR" altLang="en-US" dirty="0" smtClean="0"/>
              <a:t>아군 중 하나를 선택하여</a:t>
            </a:r>
            <a:r>
              <a:rPr lang="en-US" altLang="ko-KR" dirty="0" smtClean="0"/>
              <a:t/>
            </a:r>
            <a:br>
              <a:rPr lang="en-US" altLang="ko-KR" dirty="0" smtClean="0"/>
            </a:br>
            <a:r>
              <a:rPr lang="en-US" altLang="ko-KR" dirty="0" smtClean="0"/>
              <a:t>  </a:t>
            </a:r>
            <a:r>
              <a:rPr lang="ko-KR" altLang="en-US" dirty="0" smtClean="0"/>
              <a:t>행동을 명령한다</a:t>
            </a:r>
            <a:r>
              <a:rPr lang="en-US" altLang="ko-KR" dirty="0" smtClean="0"/>
              <a:t>. </a:t>
            </a:r>
            <a:r>
              <a:rPr lang="ko-KR" altLang="en-US" dirty="0" smtClean="0"/>
              <a:t>그 후 모든 아군이 저마다 한 개의 행동을 수행할 </a:t>
            </a:r>
            <a:endParaRPr lang="en-US" altLang="ko-KR" dirty="0" smtClean="0"/>
          </a:p>
          <a:p>
            <a:pPr>
              <a:lnSpc>
                <a:spcPct val="150000"/>
              </a:lnSpc>
            </a:pPr>
            <a:r>
              <a:rPr lang="en-US" altLang="ko-KR" dirty="0"/>
              <a:t> </a:t>
            </a:r>
            <a:r>
              <a:rPr lang="en-US" altLang="ko-KR" dirty="0" smtClean="0"/>
              <a:t> </a:t>
            </a:r>
            <a:r>
              <a:rPr lang="ko-KR" altLang="en-US" dirty="0" smtClean="0"/>
              <a:t>때까지 반복한다</a:t>
            </a:r>
            <a:r>
              <a:rPr lang="en-US" altLang="ko-KR" dirty="0" smtClean="0"/>
              <a:t>.</a:t>
            </a:r>
            <a:br>
              <a:rPr lang="en-US" altLang="ko-KR" dirty="0" smtClean="0"/>
            </a:br>
            <a:r>
              <a:rPr lang="en-US" altLang="ko-KR" dirty="0" smtClean="0"/>
              <a:t>• </a:t>
            </a:r>
            <a:r>
              <a:rPr lang="ko-KR" altLang="en-US" dirty="0" smtClean="0"/>
              <a:t>모든 아군 캐릭터가 각자의 행동을 마치면</a:t>
            </a:r>
            <a:r>
              <a:rPr lang="en-US" altLang="ko-KR" dirty="0" smtClean="0"/>
              <a:t>, </a:t>
            </a:r>
            <a:r>
              <a:rPr lang="ko-KR" altLang="en-US" dirty="0" smtClean="0"/>
              <a:t>적군의 턴으로 넘어간다</a:t>
            </a:r>
            <a:r>
              <a:rPr lang="en-US" altLang="ko-KR" dirty="0" smtClean="0"/>
              <a:t>.</a:t>
            </a:r>
            <a:endParaRPr lang="en-US" altLang="ko-KR"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오른쪽 화살표 2"/>
          <p:cNvSpPr/>
          <p:nvPr/>
        </p:nvSpPr>
        <p:spPr>
          <a:xfrm rot="1255206">
            <a:off x="4607352" y="2300292"/>
            <a:ext cx="2769312"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오른쪽 화살표 50"/>
          <p:cNvSpPr/>
          <p:nvPr/>
        </p:nvSpPr>
        <p:spPr>
          <a:xfrm rot="20746983">
            <a:off x="3301550" y="2326010"/>
            <a:ext cx="3748625"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1297992">
            <a:off x="4653426" y="3381130"/>
            <a:ext cx="2701911"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오른쪽 화살표 52"/>
          <p:cNvSpPr/>
          <p:nvPr/>
        </p:nvSpPr>
        <p:spPr>
          <a:xfrm rot="20371291">
            <a:off x="4602517" y="3419494"/>
            <a:ext cx="2689543"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5057677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꺾인 연결선 23"/>
          <p:cNvCxnSpPr>
            <a:stCxn id="82" idx="2"/>
            <a:endCxn id="41" idx="2"/>
          </p:cNvCxnSpPr>
          <p:nvPr/>
        </p:nvCxnSpPr>
        <p:spPr>
          <a:xfrm rot="5400000" flipH="1">
            <a:off x="3888143" y="2986132"/>
            <a:ext cx="336666" cy="2058524"/>
          </a:xfrm>
          <a:prstGeom prst="bentConnector3">
            <a:avLst>
              <a:gd name="adj1" fmla="val -162208"/>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4944814" y="4180295"/>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5855010" y="316348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3404261" y="4747483"/>
            <a:ext cx="114089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명령 불가능</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2" name="모서리가 둥근 직사각형 151"/>
          <p:cNvSpPr/>
          <p:nvPr/>
        </p:nvSpPr>
        <p:spPr>
          <a:xfrm>
            <a:off x="386517" y="3254184"/>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아군 턴 시작</a:t>
            </a:r>
            <a:endParaRPr lang="en-US" altLang="ko-KR" sz="1400" dirty="0" smtClean="0">
              <a:solidFill>
                <a:schemeClr val="tx1"/>
              </a:solidFill>
            </a:endParaRPr>
          </a:p>
        </p:txBody>
      </p:sp>
      <p:cxnSp>
        <p:nvCxnSpPr>
          <p:cNvPr id="159" name="직선 화살표 연결선 158"/>
          <p:cNvCxnSpPr/>
          <p:nvPr/>
        </p:nvCxnSpPr>
        <p:spPr>
          <a:xfrm>
            <a:off x="1932595" y="3547534"/>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78</a:t>
            </a:fld>
            <a:endParaRPr lang="ko-KR" altLang="en-US" sz="1800" dirty="0"/>
          </a:p>
        </p:txBody>
      </p:sp>
      <p:sp>
        <p:nvSpPr>
          <p:cNvPr id="40" name="TextBox 39"/>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모서리가 둥근 직사각형 40"/>
          <p:cNvSpPr/>
          <p:nvPr/>
        </p:nvSpPr>
        <p:spPr>
          <a:xfrm>
            <a:off x="2254679" y="3249135"/>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아군 캐릭터</a:t>
            </a:r>
            <a:endParaRPr lang="en-US" altLang="ko-KR" sz="1400" dirty="0" smtClean="0">
              <a:solidFill>
                <a:schemeClr val="tx1"/>
              </a:solidFill>
            </a:endParaRPr>
          </a:p>
          <a:p>
            <a:pPr algn="ctr"/>
            <a:r>
              <a:rPr lang="ko-KR" altLang="en-US" sz="1400" dirty="0" smtClean="0">
                <a:solidFill>
                  <a:schemeClr val="tx1"/>
                </a:solidFill>
              </a:rPr>
              <a:t>선택</a:t>
            </a:r>
            <a:endParaRPr lang="en-US" altLang="ko-KR" sz="1400" dirty="0" smtClean="0">
              <a:solidFill>
                <a:schemeClr val="tx1"/>
              </a:solidFill>
            </a:endParaRPr>
          </a:p>
        </p:txBody>
      </p:sp>
      <p:grpSp>
        <p:nvGrpSpPr>
          <p:cNvPr id="7" name="그룹 6"/>
          <p:cNvGrpSpPr/>
          <p:nvPr/>
        </p:nvGrpSpPr>
        <p:grpSpPr>
          <a:xfrm>
            <a:off x="3960184" y="2911341"/>
            <a:ext cx="2281727" cy="1272386"/>
            <a:chOff x="4711507" y="2867828"/>
            <a:chExt cx="2281727" cy="1272386"/>
          </a:xfrm>
        </p:grpSpPr>
        <p:sp>
          <p:nvSpPr>
            <p:cNvPr id="82" name="다이아몬드 81"/>
            <p:cNvSpPr/>
            <p:nvPr/>
          </p:nvSpPr>
          <p:spPr>
            <a:xfrm>
              <a:off x="4894329" y="2867828"/>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2" name="TextBox 41"/>
            <p:cNvSpPr txBox="1"/>
            <p:nvPr/>
          </p:nvSpPr>
          <p:spPr>
            <a:xfrm>
              <a:off x="4711507" y="3214037"/>
              <a:ext cx="2281727"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캐릭터가 </a:t>
              </a:r>
              <a:endPar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 동 을  마쳤는가 </a:t>
              </a:r>
              <a:r>
                <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cxnSp>
        <p:nvCxnSpPr>
          <p:cNvPr id="43" name="직선 화살표 연결선 42"/>
          <p:cNvCxnSpPr/>
          <p:nvPr/>
        </p:nvCxnSpPr>
        <p:spPr>
          <a:xfrm>
            <a:off x="3810707" y="3547534"/>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44" name="직선 화살표 연결선 43"/>
          <p:cNvCxnSpPr/>
          <p:nvPr/>
        </p:nvCxnSpPr>
        <p:spPr>
          <a:xfrm>
            <a:off x="6034589" y="3560234"/>
            <a:ext cx="414563" cy="1001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8" name="모서리가 둥근 직사각형 47"/>
          <p:cNvSpPr/>
          <p:nvPr/>
        </p:nvSpPr>
        <p:spPr>
          <a:xfrm>
            <a:off x="6446697" y="3244271"/>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행동 수행</a:t>
            </a:r>
            <a:endParaRPr lang="en-US" altLang="ko-KR" sz="1400" dirty="0" smtClean="0">
              <a:solidFill>
                <a:schemeClr val="tx1"/>
              </a:solidFill>
            </a:endParaRPr>
          </a:p>
        </p:txBody>
      </p:sp>
      <p:grpSp>
        <p:nvGrpSpPr>
          <p:cNvPr id="15" name="그룹 14"/>
          <p:cNvGrpSpPr/>
          <p:nvPr/>
        </p:nvGrpSpPr>
        <p:grpSpPr>
          <a:xfrm>
            <a:off x="8126905" y="2936741"/>
            <a:ext cx="2281727" cy="1272386"/>
            <a:chOff x="8253905" y="2936741"/>
            <a:chExt cx="2281727" cy="1272386"/>
          </a:xfrm>
        </p:grpSpPr>
        <p:sp>
          <p:nvSpPr>
            <p:cNvPr id="50" name="다이아몬드 49"/>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51" name="TextBox 50"/>
            <p:cNvSpPr txBox="1"/>
            <p:nvPr/>
          </p:nvSpPr>
          <p:spPr>
            <a:xfrm>
              <a:off x="8253905" y="3271161"/>
              <a:ext cx="2281727"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모 든  캐릭터 가 </a:t>
              </a:r>
              <a:endPar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 동 을  마 쳤 는 가 </a:t>
              </a:r>
              <a:r>
                <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cxnSp>
        <p:nvCxnSpPr>
          <p:cNvPr id="52" name="직선 화살표 연결선 51"/>
          <p:cNvCxnSpPr/>
          <p:nvPr/>
        </p:nvCxnSpPr>
        <p:spPr>
          <a:xfrm>
            <a:off x="7997031" y="3572790"/>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순서도: 문서 18"/>
          <p:cNvSpPr/>
          <p:nvPr/>
        </p:nvSpPr>
        <p:spPr>
          <a:xfrm>
            <a:off x="10605416" y="3181745"/>
            <a:ext cx="1320800" cy="807778"/>
          </a:xfrm>
          <a:prstGeom prst="flowChartDocumen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t>아군 턴 종료</a:t>
            </a:r>
            <a:endParaRPr lang="ko-KR" altLang="en-US" sz="1400" dirty="0"/>
          </a:p>
        </p:txBody>
      </p:sp>
      <p:cxnSp>
        <p:nvCxnSpPr>
          <p:cNvPr id="69" name="꺾인 연결선 68"/>
          <p:cNvCxnSpPr>
            <a:stCxn id="50" idx="0"/>
            <a:endCxn id="41" idx="0"/>
          </p:cNvCxnSpPr>
          <p:nvPr/>
        </p:nvCxnSpPr>
        <p:spPr>
          <a:xfrm rot="16200000" flipH="1" flipV="1">
            <a:off x="5991294" y="-27339"/>
            <a:ext cx="312394" cy="6240554"/>
          </a:xfrm>
          <a:prstGeom prst="bentConnector3">
            <a:avLst>
              <a:gd name="adj1" fmla="val -182943"/>
            </a:avLst>
          </a:prstGeom>
          <a:ln>
            <a:tailEnd type="arrow"/>
          </a:ln>
        </p:spPr>
        <p:style>
          <a:lnRef idx="3">
            <a:schemeClr val="dk1"/>
          </a:lnRef>
          <a:fillRef idx="0">
            <a:schemeClr val="dk1"/>
          </a:fillRef>
          <a:effectRef idx="2">
            <a:schemeClr val="dk1"/>
          </a:effectRef>
          <a:fontRef idx="minor">
            <a:schemeClr val="tx1"/>
          </a:fontRef>
        </p:style>
      </p:cxnSp>
      <p:sp>
        <p:nvSpPr>
          <p:cNvPr id="80" name="TextBox 79"/>
          <p:cNvSpPr txBox="1"/>
          <p:nvPr/>
        </p:nvSpPr>
        <p:spPr>
          <a:xfrm>
            <a:off x="3009900" y="5684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아군 턴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83" name="직선 화살표 연결선 82"/>
          <p:cNvCxnSpPr>
            <a:endCxn id="19" idx="1"/>
          </p:cNvCxnSpPr>
          <p:nvPr/>
        </p:nvCxnSpPr>
        <p:spPr>
          <a:xfrm>
            <a:off x="10205274" y="3585634"/>
            <a:ext cx="40014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4" name="TextBox 83"/>
          <p:cNvSpPr txBox="1"/>
          <p:nvPr/>
        </p:nvSpPr>
        <p:spPr>
          <a:xfrm>
            <a:off x="10015768" y="323324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8" name="TextBox 87"/>
          <p:cNvSpPr txBox="1"/>
          <p:nvPr/>
        </p:nvSpPr>
        <p:spPr>
          <a:xfrm>
            <a:off x="9248775" y="2514560"/>
            <a:ext cx="568325"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9" name="TextBox 88"/>
          <p:cNvSpPr txBox="1"/>
          <p:nvPr/>
        </p:nvSpPr>
        <p:spPr>
          <a:xfrm>
            <a:off x="5496181" y="2030714"/>
            <a:ext cx="1491378" cy="338554"/>
          </a:xfrm>
          <a:prstGeom prst="rect">
            <a:avLst/>
          </a:prstGeom>
          <a:noFill/>
        </p:spPr>
        <p:txBody>
          <a:bodyPr wrap="square" rtlCol="0">
            <a:spAutoFit/>
          </a:bodyPr>
          <a:lstStyle/>
          <a:p>
            <a:pPr algn="ctr"/>
            <a:r>
              <a:rPr lang="ko-KR" altLang="en-US" sz="1600"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다른 개체 선택</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2400558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타원 47"/>
          <p:cNvSpPr/>
          <p:nvPr/>
        </p:nvSpPr>
        <p:spPr>
          <a:xfrm rot="1265973" flipH="1">
            <a:off x="3757787" y="410427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a:gradFill>
                  <a:gsLst>
                    <a:gs pos="0">
                      <a:schemeClr val="tx1"/>
                    </a:gs>
                    <a:gs pos="100000">
                      <a:schemeClr val="tx1"/>
                    </a:gs>
                  </a:gsLst>
                  <a:lin ang="5400000" scaled="1"/>
                </a:gradFill>
                <a:latin typeface="맑은 고딕" panose="020B0503020000020004" pitchFamily="50" charset="-127"/>
              </a:rPr>
              <a:t>적</a:t>
            </a:r>
            <a:r>
              <a:rPr lang="ko-KR" altLang="en-US" sz="3200" b="1" dirty="0" smtClean="0">
                <a:gradFill>
                  <a:gsLst>
                    <a:gs pos="0">
                      <a:schemeClr val="tx1"/>
                    </a:gs>
                    <a:gs pos="100000">
                      <a:schemeClr val="tx1"/>
                    </a:gs>
                  </a:gsLst>
                  <a:lin ang="5400000" scaled="1"/>
                </a:gradFill>
                <a:latin typeface="맑은 고딕" panose="020B0503020000020004" pitchFamily="50" charset="-127"/>
              </a:rPr>
              <a:t>군의 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79</a:t>
            </a:fld>
            <a:endParaRPr lang="ko-KR" altLang="en-US" sz="1800" dirty="0"/>
          </a:p>
        </p:txBody>
      </p:sp>
      <p:sp>
        <p:nvSpPr>
          <p:cNvPr id="13" name="TextBox 12"/>
          <p:cNvSpPr txBox="1"/>
          <p:nvPr/>
        </p:nvSpPr>
        <p:spPr>
          <a:xfrm>
            <a:off x="2930030" y="4689388"/>
            <a:ext cx="7386276" cy="1754326"/>
          </a:xfrm>
          <a:prstGeom prst="rect">
            <a:avLst/>
          </a:prstGeom>
          <a:noFill/>
        </p:spPr>
        <p:txBody>
          <a:bodyPr wrap="square" rtlCol="0">
            <a:spAutoFit/>
          </a:bodyPr>
          <a:lstStyle/>
          <a:p>
            <a:pPr>
              <a:lnSpc>
                <a:spcPct val="150000"/>
              </a:lnSpc>
            </a:pPr>
            <a:r>
              <a:rPr lang="en-US" altLang="ko-KR" dirty="0" smtClean="0"/>
              <a:t>• </a:t>
            </a:r>
            <a:r>
              <a:rPr lang="ko-KR" altLang="en-US" dirty="0" smtClean="0"/>
              <a:t>공격</a:t>
            </a:r>
            <a:r>
              <a:rPr lang="en-US" altLang="ko-KR" dirty="0" smtClean="0"/>
              <a:t>, </a:t>
            </a:r>
            <a:r>
              <a:rPr lang="ko-KR" altLang="en-US" dirty="0" smtClean="0"/>
              <a:t>특수 중 하나의 행동을 취한다</a:t>
            </a:r>
            <a:r>
              <a:rPr lang="en-US" altLang="ko-KR" dirty="0" smtClean="0"/>
              <a:t>.</a:t>
            </a:r>
            <a:br>
              <a:rPr lang="en-US" altLang="ko-KR" dirty="0" smtClean="0"/>
            </a:br>
            <a:r>
              <a:rPr lang="en-US" altLang="ko-KR" dirty="0" smtClean="0"/>
              <a:t>• </a:t>
            </a:r>
            <a:r>
              <a:rPr lang="ko-KR" altLang="en-US" dirty="0" smtClean="0"/>
              <a:t>위치에 따라 위에서 아래로</a:t>
            </a:r>
            <a:r>
              <a:rPr lang="en-US" altLang="ko-KR" dirty="0" smtClean="0"/>
              <a:t>, </a:t>
            </a:r>
            <a:r>
              <a:rPr lang="ko-KR" altLang="en-US" dirty="0" smtClean="0"/>
              <a:t>왼쪽에서 오른쪽으로 차례를 수행한다</a:t>
            </a:r>
            <a:r>
              <a:rPr lang="en-US" altLang="ko-KR" dirty="0" smtClean="0"/>
              <a:t>.</a:t>
            </a:r>
          </a:p>
          <a:p>
            <a:pPr>
              <a:lnSpc>
                <a:spcPct val="150000"/>
              </a:lnSpc>
            </a:pPr>
            <a:r>
              <a:rPr lang="en-US" altLang="ko-KR" dirty="0"/>
              <a:t>• </a:t>
            </a:r>
            <a:r>
              <a:rPr lang="ko-KR" altLang="en-US" dirty="0" smtClean="0"/>
              <a:t>적은 우선 순위에 따라 인공지능으로 행동한다</a:t>
            </a:r>
            <a:r>
              <a:rPr lang="en-US" altLang="ko-KR" dirty="0" smtClean="0"/>
              <a:t>.</a:t>
            </a:r>
            <a:br>
              <a:rPr lang="en-US" altLang="ko-KR" dirty="0" smtClean="0"/>
            </a:br>
            <a:r>
              <a:rPr lang="en-US" altLang="ko-KR" dirty="0" smtClean="0"/>
              <a:t>• </a:t>
            </a:r>
            <a:r>
              <a:rPr lang="ko-KR" altLang="en-US" dirty="0" smtClean="0"/>
              <a:t>모든 적군 개체가 각자의 행동을 마치면</a:t>
            </a:r>
            <a:r>
              <a:rPr lang="en-US" altLang="ko-KR" dirty="0" smtClean="0"/>
              <a:t>, </a:t>
            </a:r>
            <a:r>
              <a:rPr lang="ko-KR" altLang="en-US" dirty="0" smtClean="0"/>
              <a:t>아군의 턴이 돌아온다</a:t>
            </a:r>
            <a:r>
              <a:rPr lang="en-US" altLang="ko-KR" dirty="0" smtClean="0"/>
              <a:t>.</a:t>
            </a:r>
            <a:endParaRPr lang="en-US" altLang="ko-KR"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오른쪽 화살표 2"/>
          <p:cNvSpPr/>
          <p:nvPr/>
        </p:nvSpPr>
        <p:spPr>
          <a:xfrm rot="20858472" flipH="1">
            <a:off x="3234368" y="2367194"/>
            <a:ext cx="3954968"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오른쪽 화살표 50"/>
          <p:cNvSpPr/>
          <p:nvPr/>
        </p:nvSpPr>
        <p:spPr>
          <a:xfrm rot="232648" flipH="1">
            <a:off x="4656310" y="1741759"/>
            <a:ext cx="4470219"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20302008" flipH="1">
            <a:off x="4653426" y="3381130"/>
            <a:ext cx="2701911"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오른쪽 화살표 52"/>
          <p:cNvSpPr/>
          <p:nvPr/>
        </p:nvSpPr>
        <p:spPr>
          <a:xfrm rot="1228709" flipH="1">
            <a:off x="4600994" y="3451724"/>
            <a:ext cx="2737764"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47" name="오른쪽 화살표 46"/>
          <p:cNvSpPr/>
          <p:nvPr/>
        </p:nvSpPr>
        <p:spPr>
          <a:xfrm rot="531830" flipH="1">
            <a:off x="4637113" y="3108850"/>
            <a:ext cx="4285383"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50" name="타원 49"/>
          <p:cNvSpPr/>
          <p:nvPr/>
        </p:nvSpPr>
        <p:spPr>
          <a:xfrm>
            <a:off x="7945775" y="1440905"/>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1</a:t>
            </a:r>
            <a:endParaRPr lang="ko-KR" altLang="en-US" dirty="0"/>
          </a:p>
        </p:txBody>
      </p:sp>
      <p:sp>
        <p:nvSpPr>
          <p:cNvPr id="54" name="타원 53"/>
          <p:cNvSpPr/>
          <p:nvPr/>
        </p:nvSpPr>
        <p:spPr>
          <a:xfrm>
            <a:off x="9703961" y="1791650"/>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2</a:t>
            </a:r>
            <a:endParaRPr lang="ko-KR" altLang="en-US" dirty="0"/>
          </a:p>
        </p:txBody>
      </p:sp>
      <p:sp>
        <p:nvSpPr>
          <p:cNvPr id="55" name="타원 54"/>
          <p:cNvSpPr/>
          <p:nvPr/>
        </p:nvSpPr>
        <p:spPr>
          <a:xfrm>
            <a:off x="7890910" y="2541582"/>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3</a:t>
            </a:r>
            <a:endParaRPr lang="ko-KR" altLang="en-US" dirty="0"/>
          </a:p>
        </p:txBody>
      </p:sp>
      <p:sp>
        <p:nvSpPr>
          <p:cNvPr id="56" name="타원 55"/>
          <p:cNvSpPr/>
          <p:nvPr/>
        </p:nvSpPr>
        <p:spPr>
          <a:xfrm>
            <a:off x="9652639" y="3114102"/>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4</a:t>
            </a:r>
            <a:endParaRPr lang="ko-KR" altLang="en-US" dirty="0"/>
          </a:p>
        </p:txBody>
      </p:sp>
      <p:sp>
        <p:nvSpPr>
          <p:cNvPr id="57" name="타원 56"/>
          <p:cNvSpPr/>
          <p:nvPr/>
        </p:nvSpPr>
        <p:spPr>
          <a:xfrm>
            <a:off x="7862169" y="3647056"/>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5</a:t>
            </a:r>
            <a:endParaRPr lang="ko-KR" altLang="en-US" dirty="0"/>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TextBox 57"/>
          <p:cNvSpPr txBox="1"/>
          <p:nvPr/>
        </p:nvSpPr>
        <p:spPr>
          <a:xfrm>
            <a:off x="8144135" y="1176564"/>
            <a:ext cx="890322"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차례 순서</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3067250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이등변 삼각형 15"/>
          <p:cNvSpPr/>
          <p:nvPr/>
        </p:nvSpPr>
        <p:spPr>
          <a:xfrm rot="19319858">
            <a:off x="2249693" y="2829209"/>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p:cNvSpPr/>
          <p:nvPr/>
        </p:nvSpPr>
        <p:spPr>
          <a:xfrm>
            <a:off x="2491470" y="2617667"/>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 name="오른쪽 화살표 2"/>
          <p:cNvSpPr/>
          <p:nvPr/>
        </p:nvSpPr>
        <p:spPr>
          <a:xfrm rot="20858472" flipH="1">
            <a:off x="3201522" y="2376565"/>
            <a:ext cx="4091815"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타원 47"/>
          <p:cNvSpPr/>
          <p:nvPr/>
        </p:nvSpPr>
        <p:spPr>
          <a:xfrm rot="1265973" flipH="1">
            <a:off x="3759034" y="410259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공격 우선 순위 설정</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80</a:t>
            </a:fld>
            <a:endParaRPr lang="ko-KR" altLang="en-US" sz="1800" dirty="0"/>
          </a:p>
        </p:txBody>
      </p:sp>
      <p:sp>
        <p:nvSpPr>
          <p:cNvPr id="13" name="TextBox 12"/>
          <p:cNvSpPr txBox="1"/>
          <p:nvPr/>
        </p:nvSpPr>
        <p:spPr>
          <a:xfrm>
            <a:off x="2502346" y="4713126"/>
            <a:ext cx="7962454" cy="1754326"/>
          </a:xfrm>
          <a:prstGeom prst="rect">
            <a:avLst/>
          </a:prstGeom>
          <a:noFill/>
        </p:spPr>
        <p:txBody>
          <a:bodyPr wrap="square" rtlCol="0">
            <a:spAutoFit/>
          </a:bodyPr>
          <a:lstStyle/>
          <a:p>
            <a:pPr>
              <a:lnSpc>
                <a:spcPct val="150000"/>
              </a:lnSpc>
            </a:pPr>
            <a:r>
              <a:rPr lang="en-US" altLang="ko-KR" dirty="0"/>
              <a:t>• </a:t>
            </a:r>
            <a:r>
              <a:rPr lang="ko-KR" altLang="en-US" dirty="0" smtClean="0"/>
              <a:t>적 몬스터가 공격을 실행할 때</a:t>
            </a:r>
            <a:r>
              <a:rPr lang="en-US" altLang="ko-KR" dirty="0" smtClean="0"/>
              <a:t>, </a:t>
            </a:r>
            <a:r>
              <a:rPr lang="ko-KR" altLang="en-US" dirty="0" smtClean="0"/>
              <a:t>아군 캐릭터의 상태와 공격자의 정보 등을 </a:t>
            </a:r>
            <a:endParaRPr lang="en-US" altLang="ko-KR" dirty="0" smtClean="0"/>
          </a:p>
          <a:p>
            <a:pPr>
              <a:lnSpc>
                <a:spcPct val="150000"/>
              </a:lnSpc>
            </a:pPr>
            <a:r>
              <a:rPr lang="en-US" altLang="ko-KR" dirty="0"/>
              <a:t> </a:t>
            </a:r>
            <a:r>
              <a:rPr lang="en-US" altLang="ko-KR" dirty="0" smtClean="0"/>
              <a:t> </a:t>
            </a:r>
            <a:r>
              <a:rPr lang="ko-KR" altLang="en-US" dirty="0" smtClean="0"/>
              <a:t>토대로 항목마다 점수를 매긴 후</a:t>
            </a:r>
            <a:r>
              <a:rPr lang="en-US" altLang="ko-KR" dirty="0" smtClean="0"/>
              <a:t>, </a:t>
            </a:r>
            <a:r>
              <a:rPr lang="ko-KR" altLang="en-US" dirty="0" smtClean="0"/>
              <a:t>가장 높은 점수가 나온 아군 캐릭터를 </a:t>
            </a:r>
            <a:r>
              <a:rPr lang="en-US" altLang="ko-KR" dirty="0" smtClean="0"/>
              <a:t/>
            </a:r>
            <a:br>
              <a:rPr lang="en-US" altLang="ko-KR" dirty="0" smtClean="0"/>
            </a:br>
            <a:r>
              <a:rPr lang="en-US" altLang="ko-KR" dirty="0" smtClean="0"/>
              <a:t>  </a:t>
            </a:r>
            <a:r>
              <a:rPr lang="ko-KR" altLang="en-US" dirty="0" smtClean="0"/>
              <a:t>우선하여 공격하게 된다</a:t>
            </a:r>
            <a:r>
              <a:rPr lang="en-US" altLang="ko-KR" dirty="0" smtClean="0"/>
              <a:t>.</a:t>
            </a:r>
            <a:br>
              <a:rPr lang="en-US" altLang="ko-KR" dirty="0" smtClean="0"/>
            </a:br>
            <a:r>
              <a:rPr lang="en-US" altLang="ko-KR" dirty="0" smtClean="0"/>
              <a:t>• </a:t>
            </a:r>
            <a:r>
              <a:rPr lang="ko-KR" altLang="en-US" dirty="0" smtClean="0"/>
              <a:t>동점일 경우</a:t>
            </a:r>
            <a:r>
              <a:rPr lang="en-US" altLang="ko-KR" dirty="0" smtClean="0"/>
              <a:t>, </a:t>
            </a:r>
            <a:r>
              <a:rPr lang="ko-KR" altLang="en-US" dirty="0" err="1" smtClean="0"/>
              <a:t>동점자</a:t>
            </a:r>
            <a:r>
              <a:rPr lang="ko-KR" altLang="en-US" dirty="0" smtClean="0"/>
              <a:t> 중 무작위로 한 캐릭터를 공격하게 된다</a:t>
            </a:r>
            <a:r>
              <a:rPr lang="en-US" altLang="ko-KR" dirty="0" smtClean="0"/>
              <a:t>.</a:t>
            </a:r>
            <a:endParaRPr lang="en-US" altLang="ko-KR"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이등변 삼각형 19"/>
          <p:cNvSpPr/>
          <p:nvPr/>
        </p:nvSpPr>
        <p:spPr>
          <a:xfrm rot="2940484">
            <a:off x="8008154" y="186751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6232" y="2158125"/>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8155" y="2916001"/>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4777" y="345671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8154" y="39779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9034" y="2997392"/>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2700" y="1987279"/>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7446" y="1575024"/>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0" name="타원 29"/>
          <p:cNvSpPr/>
          <p:nvPr/>
        </p:nvSpPr>
        <p:spPr>
          <a:xfrm>
            <a:off x="3887446" y="370949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4" name="이등변 삼각형 33"/>
          <p:cNvSpPr/>
          <p:nvPr/>
        </p:nvSpPr>
        <p:spPr>
          <a:xfrm>
            <a:off x="6874194" y="36875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40818" y="1867693"/>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40818" y="316627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8240" y="149104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7030" y="244682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6183" y="253023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6183" y="362775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61178" y="35715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5703" y="304562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5703" y="174487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9079" y="145509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61178" y="250131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7030" y="2497360"/>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p:cNvSpPr/>
          <p:nvPr/>
        </p:nvSpPr>
        <p:spPr>
          <a:xfrm>
            <a:off x="3887446" y="2617667"/>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47" name="오른쪽 화살표 46"/>
          <p:cNvSpPr/>
          <p:nvPr/>
        </p:nvSpPr>
        <p:spPr>
          <a:xfrm rot="215038" flipH="1">
            <a:off x="4666999" y="1870679"/>
            <a:ext cx="2512442"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이등변 삼각형 32"/>
          <p:cNvSpPr/>
          <p:nvPr/>
        </p:nvSpPr>
        <p:spPr>
          <a:xfrm>
            <a:off x="6874194" y="262099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53" name="오른쪽 화살표 52"/>
          <p:cNvSpPr/>
          <p:nvPr/>
        </p:nvSpPr>
        <p:spPr>
          <a:xfrm rot="20565422" flipH="1">
            <a:off x="4560850" y="2359223"/>
            <a:ext cx="2737764"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19569313" flipH="1">
            <a:off x="4306460" y="2877991"/>
            <a:ext cx="3220010"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이등변 삼각형 31"/>
          <p:cNvSpPr/>
          <p:nvPr/>
        </p:nvSpPr>
        <p:spPr>
          <a:xfrm>
            <a:off x="6874194" y="157502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TextBox 48"/>
          <p:cNvSpPr txBox="1"/>
          <p:nvPr/>
        </p:nvSpPr>
        <p:spPr>
          <a:xfrm>
            <a:off x="5441296" y="1853165"/>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45</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0" name="TextBox 49"/>
          <p:cNvSpPr txBox="1"/>
          <p:nvPr/>
        </p:nvSpPr>
        <p:spPr>
          <a:xfrm>
            <a:off x="5454519" y="3006961"/>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37</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5479224" y="2422248"/>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68</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5" name="TextBox 54"/>
          <p:cNvSpPr txBox="1"/>
          <p:nvPr/>
        </p:nvSpPr>
        <p:spPr>
          <a:xfrm>
            <a:off x="4781471" y="2409302"/>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51</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6" name="도넛 55"/>
          <p:cNvSpPr/>
          <p:nvPr/>
        </p:nvSpPr>
        <p:spPr>
          <a:xfrm>
            <a:off x="5393063" y="2299897"/>
            <a:ext cx="674307" cy="666067"/>
          </a:xfrm>
          <a:prstGeom prst="donut">
            <a:avLst>
              <a:gd name="adj" fmla="val 72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215634400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공격 우선 순위 </a:t>
            </a:r>
            <a:r>
              <a:rPr lang="ko-KR" altLang="en-US" sz="3200" b="1" dirty="0" smtClean="0">
                <a:gradFill>
                  <a:gsLst>
                    <a:gs pos="0">
                      <a:schemeClr val="tx1"/>
                    </a:gs>
                    <a:gs pos="100000">
                      <a:schemeClr val="tx1"/>
                    </a:gs>
                  </a:gsLst>
                  <a:lin ang="5400000" scaled="1"/>
                </a:gradFill>
                <a:latin typeface="맑은 고딕" panose="020B0503020000020004" pitchFamily="50" charset="-127"/>
              </a:rPr>
              <a:t>항목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81</a:t>
            </a:fld>
            <a:endParaRPr lang="ko-KR" altLang="en-US" sz="1800" dirty="0"/>
          </a:p>
        </p:txBody>
      </p:sp>
      <p:sp>
        <p:nvSpPr>
          <p:cNvPr id="13" name="TextBox 12"/>
          <p:cNvSpPr txBox="1"/>
          <p:nvPr/>
        </p:nvSpPr>
        <p:spPr>
          <a:xfrm>
            <a:off x="497752" y="1520583"/>
            <a:ext cx="5048806" cy="4247317"/>
          </a:xfrm>
          <a:prstGeom prst="rect">
            <a:avLst/>
          </a:prstGeom>
          <a:noFill/>
        </p:spPr>
        <p:txBody>
          <a:bodyPr wrap="square" rtlCol="0">
            <a:spAutoFit/>
          </a:bodyPr>
          <a:lstStyle/>
          <a:p>
            <a:pPr marL="342900" indent="-342900">
              <a:lnSpc>
                <a:spcPct val="150000"/>
              </a:lnSpc>
              <a:buAutoNum type="arabicParenR"/>
            </a:pPr>
            <a:r>
              <a:rPr lang="ko-KR" altLang="en-US" dirty="0" smtClean="0"/>
              <a:t>상대방에게 </a:t>
            </a:r>
            <a:r>
              <a:rPr lang="ko-KR" altLang="en-US" dirty="0" smtClean="0"/>
              <a:t>유리한 상성일 때 </a:t>
            </a:r>
            <a:r>
              <a:rPr lang="en-US" altLang="ko-KR" dirty="0"/>
              <a:t>:</a:t>
            </a:r>
            <a:r>
              <a:rPr lang="en-US" altLang="ko-KR" dirty="0" smtClean="0"/>
              <a:t> +30</a:t>
            </a:r>
          </a:p>
          <a:p>
            <a:pPr marL="342900" indent="-342900">
              <a:lnSpc>
                <a:spcPct val="150000"/>
              </a:lnSpc>
              <a:buAutoNum type="arabicParenR"/>
            </a:pPr>
            <a:r>
              <a:rPr lang="ko-KR" altLang="en-US" dirty="0" smtClean="0"/>
              <a:t>상대방과 </a:t>
            </a:r>
            <a:r>
              <a:rPr lang="ko-KR" altLang="en-US" dirty="0" smtClean="0"/>
              <a:t>상성 관계가 없을 때 </a:t>
            </a:r>
            <a:r>
              <a:rPr lang="en-US" altLang="ko-KR" dirty="0"/>
              <a:t>: </a:t>
            </a:r>
            <a:r>
              <a:rPr lang="en-US" altLang="ko-KR" dirty="0" smtClean="0"/>
              <a:t>+10</a:t>
            </a:r>
          </a:p>
          <a:p>
            <a:pPr marL="342900" indent="-342900">
              <a:lnSpc>
                <a:spcPct val="150000"/>
              </a:lnSpc>
              <a:buAutoNum type="arabicParenR"/>
            </a:pPr>
            <a:r>
              <a:rPr lang="ko-KR" altLang="en-US" dirty="0" smtClean="0"/>
              <a:t>상대방 </a:t>
            </a:r>
            <a:r>
              <a:rPr lang="ko-KR" altLang="en-US" dirty="0" smtClean="0"/>
              <a:t>체력이 </a:t>
            </a:r>
            <a:r>
              <a:rPr lang="en-US" altLang="ko-KR" dirty="0" smtClean="0"/>
              <a:t>50% </a:t>
            </a:r>
            <a:r>
              <a:rPr lang="ko-KR" altLang="en-US" dirty="0" smtClean="0"/>
              <a:t>미만일 때 </a:t>
            </a:r>
            <a:r>
              <a:rPr lang="en-US" altLang="ko-KR" dirty="0"/>
              <a:t>: </a:t>
            </a:r>
            <a:r>
              <a:rPr lang="en-US" altLang="ko-KR" dirty="0" smtClean="0"/>
              <a:t>+15</a:t>
            </a:r>
          </a:p>
          <a:p>
            <a:pPr marL="342900" indent="-342900">
              <a:lnSpc>
                <a:spcPct val="150000"/>
              </a:lnSpc>
              <a:buAutoNum type="arabicParenR"/>
            </a:pPr>
            <a:r>
              <a:rPr lang="ko-KR" altLang="en-US" dirty="0" smtClean="0"/>
              <a:t>최근에 </a:t>
            </a:r>
            <a:r>
              <a:rPr lang="ko-KR" altLang="en-US" dirty="0" smtClean="0"/>
              <a:t>자신에게 피해를 입혔을 때 </a:t>
            </a:r>
            <a:r>
              <a:rPr lang="en-US" altLang="ko-KR" dirty="0" smtClean="0"/>
              <a:t>:</a:t>
            </a:r>
            <a:r>
              <a:rPr lang="en-US" altLang="ko-KR" dirty="0"/>
              <a:t> </a:t>
            </a:r>
            <a:r>
              <a:rPr lang="en-US" altLang="ko-KR" dirty="0" smtClean="0"/>
              <a:t>+10</a:t>
            </a:r>
          </a:p>
          <a:p>
            <a:pPr marL="342900" indent="-342900">
              <a:lnSpc>
                <a:spcPct val="150000"/>
              </a:lnSpc>
              <a:buAutoNum type="arabicParenR"/>
            </a:pPr>
            <a:r>
              <a:rPr lang="ko-KR" altLang="en-US" dirty="0" err="1" smtClean="0"/>
              <a:t>디버프를</a:t>
            </a:r>
            <a:r>
              <a:rPr lang="ko-KR" altLang="en-US" dirty="0" smtClean="0"/>
              <a:t> </a:t>
            </a:r>
            <a:r>
              <a:rPr lang="ko-KR" altLang="en-US" dirty="0" smtClean="0"/>
              <a:t>보유하고 있을 때</a:t>
            </a:r>
            <a:r>
              <a:rPr lang="en-US" altLang="ko-KR" dirty="0" smtClean="0"/>
              <a:t>, 1</a:t>
            </a:r>
            <a:r>
              <a:rPr lang="ko-KR" altLang="en-US" dirty="0" smtClean="0"/>
              <a:t>개당 </a:t>
            </a:r>
            <a:r>
              <a:rPr lang="en-US" altLang="ko-KR" dirty="0"/>
              <a:t>: </a:t>
            </a:r>
            <a:r>
              <a:rPr lang="en-US" altLang="ko-KR" dirty="0" smtClean="0"/>
              <a:t>+5</a:t>
            </a:r>
          </a:p>
          <a:p>
            <a:pPr marL="342900" indent="-342900">
              <a:lnSpc>
                <a:spcPct val="150000"/>
              </a:lnSpc>
              <a:buAutoNum type="arabicParenR"/>
            </a:pPr>
            <a:r>
              <a:rPr lang="ko-KR" altLang="en-US" dirty="0" smtClean="0"/>
              <a:t>타입이 </a:t>
            </a:r>
            <a:r>
              <a:rPr lang="ko-KR" altLang="en-US" dirty="0" err="1" smtClean="0"/>
              <a:t>체력형일</a:t>
            </a:r>
            <a:r>
              <a:rPr lang="ko-KR" altLang="en-US" dirty="0" smtClean="0"/>
              <a:t> 때 </a:t>
            </a:r>
            <a:r>
              <a:rPr lang="en-US" altLang="ko-KR" dirty="0" smtClean="0"/>
              <a:t>: +10</a:t>
            </a:r>
          </a:p>
          <a:p>
            <a:pPr marL="342900" indent="-342900">
              <a:lnSpc>
                <a:spcPct val="150000"/>
              </a:lnSpc>
              <a:buAutoNum type="arabicParenR"/>
            </a:pPr>
            <a:r>
              <a:rPr lang="ko-KR" altLang="en-US" dirty="0" smtClean="0"/>
              <a:t>타입이 </a:t>
            </a:r>
            <a:r>
              <a:rPr lang="ko-KR" altLang="en-US" dirty="0" smtClean="0"/>
              <a:t>보조형일 때 </a:t>
            </a:r>
            <a:r>
              <a:rPr lang="en-US" altLang="ko-KR" dirty="0" smtClean="0"/>
              <a:t>: +5</a:t>
            </a:r>
          </a:p>
          <a:p>
            <a:pPr marL="342900" indent="-342900">
              <a:lnSpc>
                <a:spcPct val="150000"/>
              </a:lnSpc>
              <a:buAutoNum type="arabicParenR"/>
            </a:pPr>
            <a:r>
              <a:rPr lang="ko-KR" altLang="en-US" dirty="0" smtClean="0"/>
              <a:t>아군에게 </a:t>
            </a:r>
            <a:r>
              <a:rPr lang="ko-KR" altLang="en-US" dirty="0" smtClean="0"/>
              <a:t>가장 높은 피해를 주었을 때 </a:t>
            </a:r>
            <a:r>
              <a:rPr lang="en-US" altLang="ko-KR" dirty="0" smtClean="0"/>
              <a:t>: +20</a:t>
            </a:r>
          </a:p>
          <a:p>
            <a:pPr marL="342900" indent="-342900">
              <a:lnSpc>
                <a:spcPct val="150000"/>
              </a:lnSpc>
              <a:buAutoNum type="arabicParenR"/>
            </a:pPr>
            <a:r>
              <a:rPr lang="ko-KR" altLang="en-US" dirty="0" smtClean="0"/>
              <a:t>최근에 </a:t>
            </a:r>
            <a:r>
              <a:rPr lang="ko-KR" altLang="en-US" dirty="0" smtClean="0"/>
              <a:t>적군에게 버프를 주었을 때 </a:t>
            </a:r>
            <a:r>
              <a:rPr lang="en-US" altLang="ko-KR" dirty="0" smtClean="0"/>
              <a:t>: +10</a:t>
            </a:r>
          </a:p>
          <a:p>
            <a:pPr marL="342900" indent="-342900">
              <a:lnSpc>
                <a:spcPct val="150000"/>
              </a:lnSpc>
              <a:buAutoNum type="arabicParenR"/>
            </a:pPr>
            <a:r>
              <a:rPr lang="en-US" altLang="ko-KR" dirty="0" smtClean="0"/>
              <a:t> </a:t>
            </a:r>
            <a:r>
              <a:rPr lang="ko-KR" altLang="en-US" dirty="0" smtClean="0"/>
              <a:t>최근에 </a:t>
            </a:r>
            <a:r>
              <a:rPr lang="ko-KR" altLang="en-US" dirty="0" smtClean="0"/>
              <a:t>적군을 회복시켜 주었을 때 </a:t>
            </a:r>
            <a:r>
              <a:rPr lang="en-US" altLang="ko-KR" dirty="0" smtClean="0"/>
              <a:t>: +15</a:t>
            </a:r>
            <a:endParaRPr lang="en-US" altLang="ko-KR"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 name="TextBox 7"/>
          <p:cNvSpPr txBox="1"/>
          <p:nvPr/>
        </p:nvSpPr>
        <p:spPr>
          <a:xfrm>
            <a:off x="5801895" y="1520583"/>
            <a:ext cx="6146354" cy="2169825"/>
          </a:xfrm>
          <a:prstGeom prst="rect">
            <a:avLst/>
          </a:prstGeom>
          <a:noFill/>
        </p:spPr>
        <p:txBody>
          <a:bodyPr wrap="square" rtlCol="0">
            <a:spAutoFit/>
          </a:bodyPr>
          <a:lstStyle/>
          <a:p>
            <a:pPr>
              <a:lnSpc>
                <a:spcPct val="150000"/>
              </a:lnSpc>
            </a:pPr>
            <a:r>
              <a:rPr lang="en-US" altLang="ko-KR" dirty="0" smtClean="0"/>
              <a:t>11) (</a:t>
            </a:r>
            <a:r>
              <a:rPr lang="ko-KR" altLang="en-US" dirty="0" smtClean="0"/>
              <a:t>고통</a:t>
            </a:r>
            <a:r>
              <a:rPr lang="en-US" altLang="ko-KR" dirty="0" smtClean="0"/>
              <a:t>)</a:t>
            </a:r>
            <a:r>
              <a:rPr lang="ko-KR" altLang="en-US" dirty="0" smtClean="0"/>
              <a:t>용사 캐릭터일 때 </a:t>
            </a:r>
            <a:r>
              <a:rPr lang="en-US" altLang="ko-KR" dirty="0"/>
              <a:t>:</a:t>
            </a:r>
            <a:r>
              <a:rPr lang="en-US" altLang="ko-KR" dirty="0" smtClean="0"/>
              <a:t> </a:t>
            </a:r>
            <a:r>
              <a:rPr lang="en-US" altLang="ko-KR" dirty="0" smtClean="0"/>
              <a:t>+30</a:t>
            </a:r>
            <a:endParaRPr lang="en-US" altLang="ko-KR" dirty="0" smtClean="0"/>
          </a:p>
          <a:p>
            <a:pPr marL="342900" indent="-342900">
              <a:lnSpc>
                <a:spcPct val="150000"/>
              </a:lnSpc>
              <a:buAutoNum type="arabicParenR" startAt="12"/>
            </a:pPr>
            <a:r>
              <a:rPr lang="en-US" altLang="ko-KR" dirty="0" smtClean="0"/>
              <a:t> (</a:t>
            </a:r>
            <a:r>
              <a:rPr lang="ko-KR" altLang="en-US" dirty="0" smtClean="0"/>
              <a:t>절망</a:t>
            </a:r>
            <a:r>
              <a:rPr lang="en-US" altLang="ko-KR" dirty="0" smtClean="0"/>
              <a:t>)</a:t>
            </a:r>
            <a:r>
              <a:rPr lang="ko-KR" altLang="en-US" dirty="0" smtClean="0"/>
              <a:t>최근 적군을 회복시켜 주었을 때</a:t>
            </a:r>
            <a:r>
              <a:rPr lang="ko-KR" altLang="en-US" dirty="0" smtClean="0"/>
              <a:t> </a:t>
            </a:r>
            <a:r>
              <a:rPr lang="en-US" altLang="ko-KR" dirty="0"/>
              <a:t>: </a:t>
            </a:r>
            <a:r>
              <a:rPr lang="en-US" altLang="ko-KR" dirty="0" smtClean="0"/>
              <a:t>+25</a:t>
            </a:r>
            <a:endParaRPr lang="en-US" altLang="ko-KR" dirty="0" smtClean="0"/>
          </a:p>
          <a:p>
            <a:pPr marL="342900" indent="-342900">
              <a:lnSpc>
                <a:spcPct val="150000"/>
              </a:lnSpc>
              <a:buAutoNum type="arabicParenR" startAt="12"/>
            </a:pPr>
            <a:r>
              <a:rPr lang="en-US" altLang="ko-KR" dirty="0"/>
              <a:t> </a:t>
            </a:r>
            <a:r>
              <a:rPr lang="en-US" altLang="ko-KR" dirty="0" smtClean="0"/>
              <a:t>(</a:t>
            </a:r>
            <a:r>
              <a:rPr lang="ko-KR" altLang="en-US" dirty="0" smtClean="0"/>
              <a:t>절망</a:t>
            </a:r>
            <a:r>
              <a:rPr lang="en-US" altLang="ko-KR" dirty="0" smtClean="0"/>
              <a:t>)</a:t>
            </a:r>
            <a:r>
              <a:rPr lang="ko-KR" altLang="en-US" dirty="0" smtClean="0"/>
              <a:t>최근 회복 받았을 때 </a:t>
            </a:r>
            <a:r>
              <a:rPr lang="en-US" altLang="ko-KR" dirty="0" smtClean="0"/>
              <a:t>: +15</a:t>
            </a:r>
          </a:p>
          <a:p>
            <a:pPr marL="342900" indent="-342900">
              <a:lnSpc>
                <a:spcPct val="150000"/>
              </a:lnSpc>
              <a:buAutoNum type="arabicParenR" startAt="12"/>
            </a:pPr>
            <a:r>
              <a:rPr lang="en-US" altLang="ko-KR" dirty="0" smtClean="0"/>
              <a:t> (</a:t>
            </a:r>
            <a:r>
              <a:rPr lang="ko-KR" altLang="en-US" dirty="0" smtClean="0"/>
              <a:t>약육강식</a:t>
            </a:r>
            <a:r>
              <a:rPr lang="en-US" altLang="ko-KR" dirty="0" smtClean="0"/>
              <a:t>)</a:t>
            </a:r>
            <a:r>
              <a:rPr lang="ko-KR" altLang="en-US" dirty="0" smtClean="0"/>
              <a:t>최대 체력 비율이 </a:t>
            </a:r>
            <a:r>
              <a:rPr lang="ko-KR" altLang="en-US" dirty="0" smtClean="0"/>
              <a:t>가장 낮을</a:t>
            </a:r>
            <a:r>
              <a:rPr lang="ko-KR" altLang="en-US" dirty="0" smtClean="0"/>
              <a:t> </a:t>
            </a:r>
            <a:r>
              <a:rPr lang="ko-KR" altLang="en-US" dirty="0" smtClean="0"/>
              <a:t>때 </a:t>
            </a:r>
            <a:r>
              <a:rPr lang="en-US" altLang="ko-KR" dirty="0"/>
              <a:t>: </a:t>
            </a:r>
            <a:r>
              <a:rPr lang="en-US" altLang="ko-KR" dirty="0" smtClean="0"/>
              <a:t>+</a:t>
            </a:r>
            <a:r>
              <a:rPr lang="en-US" altLang="ko-KR" dirty="0" smtClean="0"/>
              <a:t>20</a:t>
            </a:r>
          </a:p>
          <a:p>
            <a:pPr marL="342900" indent="-342900">
              <a:lnSpc>
                <a:spcPct val="150000"/>
              </a:lnSpc>
              <a:buAutoNum type="arabicParenR" startAt="12"/>
            </a:pPr>
            <a:r>
              <a:rPr lang="en-US" altLang="ko-KR" dirty="0"/>
              <a:t> </a:t>
            </a:r>
            <a:r>
              <a:rPr lang="en-US" altLang="ko-KR" dirty="0" smtClean="0"/>
              <a:t>(</a:t>
            </a:r>
            <a:r>
              <a:rPr lang="ko-KR" altLang="en-US" dirty="0" smtClean="0"/>
              <a:t>약육강식</a:t>
            </a:r>
            <a:r>
              <a:rPr lang="en-US" altLang="ko-KR" dirty="0" smtClean="0"/>
              <a:t>)</a:t>
            </a:r>
            <a:r>
              <a:rPr lang="ko-KR" altLang="en-US" dirty="0" smtClean="0"/>
              <a:t>현재 체력 비율이 가장 낮을 때 </a:t>
            </a:r>
            <a:r>
              <a:rPr lang="en-US" altLang="ko-KR" dirty="0" smtClean="0"/>
              <a:t>: +15</a:t>
            </a:r>
            <a:endParaRPr lang="en-US" altLang="ko-KR" dirty="0" smtClean="0"/>
          </a:p>
        </p:txBody>
      </p:sp>
    </p:spTree>
    <p:extLst>
      <p:ext uri="{BB962C8B-B14F-4D97-AF65-F5344CB8AC3E}">
        <p14:creationId xmlns:p14="http://schemas.microsoft.com/office/powerpoint/2010/main" val="387190546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다이아몬드 81"/>
          <p:cNvSpPr/>
          <p:nvPr/>
        </p:nvSpPr>
        <p:spPr>
          <a:xfrm>
            <a:off x="162820" y="2678107"/>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2" name="TextBox 41"/>
          <p:cNvSpPr txBox="1"/>
          <p:nvPr/>
        </p:nvSpPr>
        <p:spPr>
          <a:xfrm>
            <a:off x="92204" y="2989392"/>
            <a:ext cx="2026561"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j-ea"/>
                <a:ea typeface="+mj-ea"/>
              </a:rPr>
              <a:t>아군 체력이  </a:t>
            </a:r>
            <a:r>
              <a:rPr lang="en-US" altLang="ko-KR" sz="1400" spc="-300" dirty="0">
                <a:gradFill>
                  <a:gsLst>
                    <a:gs pos="0">
                      <a:schemeClr val="tx1"/>
                    </a:gs>
                    <a:gs pos="100000">
                      <a:schemeClr val="tx1"/>
                    </a:gs>
                  </a:gsLst>
                  <a:lin ang="5400000" scaled="1"/>
                </a:gradFill>
                <a:latin typeface="+mj-ea"/>
                <a:ea typeface="+mj-ea"/>
              </a:rPr>
              <a:t>6</a:t>
            </a:r>
            <a:r>
              <a:rPr lang="en-US" altLang="ko-KR" sz="1400" spc="-300" dirty="0" smtClean="0">
                <a:gradFill>
                  <a:gsLst>
                    <a:gs pos="0">
                      <a:schemeClr val="tx1"/>
                    </a:gs>
                    <a:gs pos="100000">
                      <a:schemeClr val="tx1"/>
                    </a:gs>
                  </a:gsLst>
                  <a:lin ang="5400000" scaled="1"/>
                </a:gradFill>
                <a:latin typeface="+mj-ea"/>
                <a:ea typeface="+mj-ea"/>
              </a:rPr>
              <a:t> 0 %  </a:t>
            </a:r>
          </a:p>
          <a:p>
            <a:pPr algn="ctr"/>
            <a:r>
              <a:rPr lang="ko-KR" altLang="en-US" sz="1400" spc="-300" dirty="0" smtClean="0">
                <a:gradFill>
                  <a:gsLst>
                    <a:gs pos="0">
                      <a:schemeClr val="tx1"/>
                    </a:gs>
                    <a:gs pos="100000">
                      <a:schemeClr val="tx1"/>
                    </a:gs>
                  </a:gsLst>
                  <a:lin ang="5400000" scaled="1"/>
                </a:gradFill>
                <a:latin typeface="+mj-ea"/>
                <a:ea typeface="+mj-ea"/>
              </a:rPr>
              <a:t>이 하이며 </a:t>
            </a:r>
            <a:r>
              <a:rPr lang="en-US" altLang="ko-KR" sz="1400" spc="-300" dirty="0" smtClean="0">
                <a:gradFill>
                  <a:gsLst>
                    <a:gs pos="0">
                      <a:schemeClr val="tx1"/>
                    </a:gs>
                    <a:gs pos="100000">
                      <a:schemeClr val="tx1"/>
                    </a:gs>
                  </a:gsLst>
                  <a:lin ang="5400000" scaled="1"/>
                </a:gradFill>
                <a:latin typeface="+mj-ea"/>
                <a:ea typeface="+mj-ea"/>
              </a:rPr>
              <a:t>,  </a:t>
            </a:r>
            <a:r>
              <a:rPr lang="ko-KR" altLang="en-US" sz="1400" spc="-300" dirty="0" smtClean="0">
                <a:gradFill>
                  <a:gsLst>
                    <a:gs pos="0">
                      <a:schemeClr val="tx1"/>
                    </a:gs>
                    <a:gs pos="100000">
                      <a:schemeClr val="tx1"/>
                    </a:gs>
                  </a:gsLst>
                  <a:lin ang="5400000" scaled="1"/>
                </a:gradFill>
                <a:latin typeface="+mj-ea"/>
                <a:ea typeface="+mj-ea"/>
              </a:rPr>
              <a:t>회복 스킬이 </a:t>
            </a:r>
            <a:endParaRPr lang="en-US" altLang="ko-KR" sz="1400" spc="-300" dirty="0" smtClean="0">
              <a:gradFill>
                <a:gsLst>
                  <a:gs pos="0">
                    <a:schemeClr val="tx1"/>
                  </a:gs>
                  <a:gs pos="100000">
                    <a:schemeClr val="tx1"/>
                  </a:gs>
                </a:gsLst>
                <a:lin ang="5400000" scaled="1"/>
              </a:gradFill>
              <a:latin typeface="+mj-ea"/>
              <a:ea typeface="+mj-ea"/>
            </a:endParaRPr>
          </a:p>
          <a:p>
            <a:pPr algn="ctr"/>
            <a:r>
              <a:rPr lang="ko-KR" altLang="en-US" sz="1400" spc="-300" dirty="0" smtClean="0">
                <a:gradFill>
                  <a:gsLst>
                    <a:gs pos="0">
                      <a:schemeClr val="tx1"/>
                    </a:gs>
                    <a:gs pos="100000">
                      <a:schemeClr val="tx1"/>
                    </a:gs>
                  </a:gsLst>
                  <a:lin ang="5400000" scaled="1"/>
                </a:gradFill>
                <a:latin typeface="+mj-ea"/>
                <a:ea typeface="+mj-ea"/>
              </a:rPr>
              <a:t>사용 가능한가 </a:t>
            </a:r>
            <a:r>
              <a:rPr lang="en-US" altLang="ko-KR" sz="1400" spc="-300" dirty="0" smtClean="0">
                <a:gradFill>
                  <a:gsLst>
                    <a:gs pos="0">
                      <a:schemeClr val="tx1"/>
                    </a:gs>
                    <a:gs pos="100000">
                      <a:schemeClr val="tx1"/>
                    </a:gs>
                  </a:gsLst>
                  <a:lin ang="5400000" scaled="1"/>
                </a:gradFill>
                <a:latin typeface="+mj-ea"/>
                <a:ea typeface="+mj-ea"/>
              </a:rPr>
              <a:t>?</a:t>
            </a:r>
            <a:endParaRPr lang="ko-KR" altLang="en-US" sz="1400" spc="-300" dirty="0">
              <a:gradFill>
                <a:gsLst>
                  <a:gs pos="0">
                    <a:schemeClr val="tx1"/>
                  </a:gs>
                  <a:gs pos="100000">
                    <a:schemeClr val="tx1"/>
                  </a:gs>
                </a:gsLst>
                <a:lin ang="5400000" scaled="1"/>
              </a:gradFill>
              <a:latin typeface="+mj-ea"/>
              <a:ea typeface="+mj-ea"/>
            </a:endParaRPr>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꺾인 연결선 23"/>
          <p:cNvCxnSpPr>
            <a:stCxn id="82" idx="2"/>
            <a:endCxn id="48" idx="0"/>
          </p:cNvCxnSpPr>
          <p:nvPr/>
        </p:nvCxnSpPr>
        <p:spPr>
          <a:xfrm rot="16200000" flipH="1">
            <a:off x="3908222" y="1147822"/>
            <a:ext cx="1291682" cy="6897023"/>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475141" y="387699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1830473" y="2989392"/>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650461" y="4730229"/>
            <a:ext cx="1428172"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해당 스킬 사용</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2" name="모서리가 둥근 직사각형 151"/>
          <p:cNvSpPr/>
          <p:nvPr/>
        </p:nvSpPr>
        <p:spPr>
          <a:xfrm>
            <a:off x="335628" y="1009965"/>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a:solidFill>
                  <a:schemeClr val="tx1"/>
                </a:solidFill>
              </a:rPr>
              <a:t>적</a:t>
            </a:r>
            <a:r>
              <a:rPr lang="ko-KR" altLang="en-US" sz="1400" dirty="0" smtClean="0">
                <a:solidFill>
                  <a:schemeClr val="tx1"/>
                </a:solidFill>
              </a:rPr>
              <a:t>군 턴 시작</a:t>
            </a:r>
            <a:endParaRPr lang="en-US" altLang="ko-KR" sz="1400" dirty="0" smtClean="0">
              <a:solidFill>
                <a:schemeClr val="tx1"/>
              </a:solidFill>
            </a:endParaRPr>
          </a:p>
        </p:txBody>
      </p:sp>
      <p:cxnSp>
        <p:nvCxnSpPr>
          <p:cNvPr id="159" name="직선 화살표 연결선 158"/>
          <p:cNvCxnSpPr>
            <a:stCxn id="152" idx="2"/>
            <a:endCxn id="41" idx="0"/>
          </p:cNvCxnSpPr>
          <p:nvPr/>
        </p:nvCxnSpPr>
        <p:spPr>
          <a:xfrm>
            <a:off x="1108163" y="1607891"/>
            <a:ext cx="0" cy="25480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82</a:t>
            </a:fld>
            <a:endParaRPr lang="ko-KR" altLang="en-US" sz="1800" dirty="0"/>
          </a:p>
        </p:txBody>
      </p:sp>
      <p:sp>
        <p:nvSpPr>
          <p:cNvPr id="40" name="TextBox 39"/>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모서리가 둥근 직사각형 40"/>
          <p:cNvSpPr/>
          <p:nvPr/>
        </p:nvSpPr>
        <p:spPr>
          <a:xfrm>
            <a:off x="335628" y="1862692"/>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순서대로</a:t>
            </a:r>
            <a:endParaRPr lang="en-US" altLang="ko-KR" sz="1400" dirty="0" smtClean="0">
              <a:solidFill>
                <a:schemeClr val="tx1"/>
              </a:solidFill>
            </a:endParaRPr>
          </a:p>
          <a:p>
            <a:pPr algn="ctr"/>
            <a:r>
              <a:rPr lang="ko-KR" altLang="en-US" sz="1400" dirty="0" smtClean="0">
                <a:solidFill>
                  <a:schemeClr val="tx1"/>
                </a:solidFill>
              </a:rPr>
              <a:t>행동 개시</a:t>
            </a:r>
            <a:endParaRPr lang="en-US" altLang="ko-KR" sz="1400" dirty="0" smtClean="0">
              <a:solidFill>
                <a:schemeClr val="tx1"/>
              </a:solidFill>
            </a:endParaRPr>
          </a:p>
        </p:txBody>
      </p:sp>
      <p:cxnSp>
        <p:nvCxnSpPr>
          <p:cNvPr id="43" name="직선 화살표 연결선 42"/>
          <p:cNvCxnSpPr>
            <a:stCxn id="41" idx="2"/>
            <a:endCxn id="82" idx="0"/>
          </p:cNvCxnSpPr>
          <p:nvPr/>
        </p:nvCxnSpPr>
        <p:spPr>
          <a:xfrm flipH="1">
            <a:off x="1105552" y="2460618"/>
            <a:ext cx="2611" cy="21748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8" name="모서리가 둥근 직사각형 47"/>
          <p:cNvSpPr/>
          <p:nvPr/>
        </p:nvSpPr>
        <p:spPr>
          <a:xfrm>
            <a:off x="7230040" y="5242175"/>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행동 수행</a:t>
            </a:r>
            <a:endParaRPr lang="en-US" altLang="ko-KR" sz="1400" dirty="0" smtClean="0">
              <a:solidFill>
                <a:schemeClr val="tx1"/>
              </a:solidFill>
            </a:endParaRPr>
          </a:p>
        </p:txBody>
      </p:sp>
      <p:sp>
        <p:nvSpPr>
          <p:cNvPr id="50" name="다이아몬드 49"/>
          <p:cNvSpPr/>
          <p:nvPr/>
        </p:nvSpPr>
        <p:spPr>
          <a:xfrm>
            <a:off x="2376795" y="2678107"/>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51" name="TextBox 50"/>
          <p:cNvSpPr txBox="1"/>
          <p:nvPr/>
        </p:nvSpPr>
        <p:spPr>
          <a:xfrm>
            <a:off x="2180613" y="2962775"/>
            <a:ext cx="2410863"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아군을 강화하는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버프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endParaRPr lang="ko-KR" altLang="en-US" sz="1400" spc="-300" dirty="0">
              <a:gradFill>
                <a:gsLst>
                  <a:gs pos="0">
                    <a:schemeClr val="tx1"/>
                  </a:gs>
                  <a:gs pos="100000">
                    <a:schemeClr val="tx1"/>
                  </a:gs>
                </a:gsLst>
                <a:lin ang="5400000" scaled="1"/>
              </a:gradFill>
              <a:latin typeface="+mn-ea"/>
            </a:endParaRPr>
          </a:p>
        </p:txBody>
      </p:sp>
      <p:sp>
        <p:nvSpPr>
          <p:cNvPr id="19" name="순서도: 문서 18"/>
          <p:cNvSpPr/>
          <p:nvPr/>
        </p:nvSpPr>
        <p:spPr>
          <a:xfrm>
            <a:off x="2575778" y="5141070"/>
            <a:ext cx="1320800" cy="807778"/>
          </a:xfrm>
          <a:prstGeom prst="flowChartDocumen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적군 턴 종료</a:t>
            </a:r>
            <a:endParaRPr lang="ko-KR" altLang="en-US" sz="1400" dirty="0">
              <a:solidFill>
                <a:schemeClr val="tx1"/>
              </a:solidFill>
            </a:endParaRPr>
          </a:p>
        </p:txBody>
      </p:sp>
      <p:cxnSp>
        <p:nvCxnSpPr>
          <p:cNvPr id="69" name="꺾인 연결선 68"/>
          <p:cNvCxnSpPr>
            <a:stCxn id="103" idx="3"/>
            <a:endCxn id="48" idx="3"/>
          </p:cNvCxnSpPr>
          <p:nvPr/>
        </p:nvCxnSpPr>
        <p:spPr>
          <a:xfrm flipH="1">
            <a:off x="8775109" y="3324587"/>
            <a:ext cx="2527544" cy="2216551"/>
          </a:xfrm>
          <a:prstGeom prst="bentConnector3">
            <a:avLst>
              <a:gd name="adj1" fmla="val -9044"/>
            </a:avLst>
          </a:prstGeom>
          <a:ln>
            <a:tailEnd type="arrow"/>
          </a:ln>
        </p:spPr>
        <p:style>
          <a:lnRef idx="3">
            <a:schemeClr val="dk1"/>
          </a:lnRef>
          <a:fillRef idx="0">
            <a:schemeClr val="dk1"/>
          </a:fillRef>
          <a:effectRef idx="2">
            <a:schemeClr val="dk1"/>
          </a:effectRef>
          <a:fontRef idx="minor">
            <a:schemeClr val="tx1"/>
          </a:fontRef>
        </p:style>
      </p:cxnSp>
      <p:sp>
        <p:nvSpPr>
          <p:cNvPr id="80" name="TextBox 79"/>
          <p:cNvSpPr txBox="1"/>
          <p:nvPr/>
        </p:nvSpPr>
        <p:spPr>
          <a:xfrm>
            <a:off x="3009900" y="5684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적군 행동 알고리즘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45" name="그룹 44"/>
          <p:cNvGrpSpPr/>
          <p:nvPr/>
        </p:nvGrpSpPr>
        <p:grpSpPr>
          <a:xfrm>
            <a:off x="4486255" y="2687056"/>
            <a:ext cx="2410863" cy="1272386"/>
            <a:chOff x="8265923" y="2936741"/>
            <a:chExt cx="2281727" cy="1272386"/>
          </a:xfrm>
        </p:grpSpPr>
        <p:sp>
          <p:nvSpPr>
            <p:cNvPr id="46" name="다이아몬드 45"/>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7" name="TextBox 46"/>
            <p:cNvSpPr txBox="1"/>
            <p:nvPr/>
          </p:nvSpPr>
          <p:spPr>
            <a:xfrm>
              <a:off x="8265923" y="3232973"/>
              <a:ext cx="2281727"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적을 약 화시키는</a:t>
              </a:r>
              <a:r>
                <a:rPr lang="en-US" altLang="ko-KR" sz="1400" spc="-300" dirty="0" smtClean="0">
                  <a:gradFill>
                    <a:gsLst>
                      <a:gs pos="0">
                        <a:schemeClr val="tx1"/>
                      </a:gs>
                      <a:gs pos="100000">
                        <a:schemeClr val="tx1"/>
                      </a:gs>
                    </a:gsLst>
                    <a:lin ang="5400000" scaled="1"/>
                  </a:gradFill>
                  <a:latin typeface="+mn-ea"/>
                </a:rPr>
                <a:t/>
              </a:r>
              <a:br>
                <a:rPr lang="en-US" altLang="ko-KR" sz="1400" spc="-300" dirty="0" smtClean="0">
                  <a:gradFill>
                    <a:gsLst>
                      <a:gs pos="0">
                        <a:schemeClr val="tx1"/>
                      </a:gs>
                      <a:gs pos="100000">
                        <a:schemeClr val="tx1"/>
                      </a:gs>
                    </a:gsLst>
                    <a:lin ang="5400000" scaled="1"/>
                  </a:gradFill>
                  <a:latin typeface="+mn-ea"/>
                </a:rPr>
              </a:br>
              <a:r>
                <a:rPr lang="ko-KR" altLang="en-US" sz="1400" spc="-300" dirty="0" err="1" smtClean="0">
                  <a:gradFill>
                    <a:gsLst>
                      <a:gs pos="0">
                        <a:schemeClr val="tx1"/>
                      </a:gs>
                      <a:gs pos="100000">
                        <a:schemeClr val="tx1"/>
                      </a:gs>
                    </a:gsLst>
                    <a:lin ang="5400000" scaled="1"/>
                  </a:gradFill>
                  <a:latin typeface="+mn-ea"/>
                </a:rPr>
                <a:t>디버프</a:t>
              </a:r>
              <a:r>
                <a:rPr lang="ko-KR" altLang="en-US" sz="1400" spc="-300" dirty="0" smtClean="0">
                  <a:gradFill>
                    <a:gsLst>
                      <a:gs pos="0">
                        <a:schemeClr val="tx1"/>
                      </a:gs>
                      <a:gs pos="100000">
                        <a:schemeClr val="tx1"/>
                      </a:gs>
                    </a:gsLst>
                    <a:lin ang="5400000" scaled="1"/>
                  </a:gradFill>
                  <a:latin typeface="+mn-ea"/>
                </a:rPr>
                <a:t>  스킬이</a:t>
              </a:r>
              <a:r>
                <a:rPr lang="en-US" altLang="ko-KR" sz="1400" spc="-300" dirty="0" smtClean="0">
                  <a:gradFill>
                    <a:gsLst>
                      <a:gs pos="0">
                        <a:schemeClr val="tx1"/>
                      </a:gs>
                      <a:gs pos="100000">
                        <a:schemeClr val="tx1"/>
                      </a:gs>
                    </a:gsLst>
                    <a:lin ang="5400000" scaled="1"/>
                  </a:gradFill>
                  <a:latin typeface="+mn-ea"/>
                </a:rPr>
                <a:t/>
              </a:r>
              <a:br>
                <a:rPr lang="en-US" altLang="ko-KR" sz="1400" spc="-300" dirty="0" smtClean="0">
                  <a:gradFill>
                    <a:gsLst>
                      <a:gs pos="0">
                        <a:schemeClr val="tx1"/>
                      </a:gs>
                      <a:gs pos="100000">
                        <a:schemeClr val="tx1"/>
                      </a:gs>
                    </a:gsLst>
                    <a:lin ang="5400000" scaled="1"/>
                  </a:gradFill>
                  <a:latin typeface="+mn-ea"/>
                </a:rPr>
              </a:b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endParaRPr lang="ko-KR" altLang="en-US" sz="1400" spc="-300" dirty="0">
                <a:gradFill>
                  <a:gsLst>
                    <a:gs pos="0">
                      <a:schemeClr val="tx1"/>
                    </a:gs>
                    <a:gs pos="100000">
                      <a:schemeClr val="tx1"/>
                    </a:gs>
                  </a:gsLst>
                  <a:lin ang="5400000" scaled="1"/>
                </a:gradFill>
                <a:latin typeface="+mn-ea"/>
              </a:endParaRPr>
            </a:p>
          </p:txBody>
        </p:sp>
      </p:grpSp>
      <p:cxnSp>
        <p:nvCxnSpPr>
          <p:cNvPr id="71" name="직선 화살표 연결선 70"/>
          <p:cNvCxnSpPr/>
          <p:nvPr/>
        </p:nvCxnSpPr>
        <p:spPr>
          <a:xfrm flipV="1">
            <a:off x="2056918" y="3318359"/>
            <a:ext cx="331704" cy="5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72" name="직선 화살표 연결선 71"/>
          <p:cNvCxnSpPr/>
          <p:nvPr/>
        </p:nvCxnSpPr>
        <p:spPr>
          <a:xfrm>
            <a:off x="4364473" y="3332107"/>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73" name="TextBox 72"/>
          <p:cNvSpPr txBox="1"/>
          <p:nvPr/>
        </p:nvSpPr>
        <p:spPr>
          <a:xfrm>
            <a:off x="4128236" y="299635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74" name="직선 화살표 연결선 73"/>
          <p:cNvCxnSpPr/>
          <p:nvPr/>
        </p:nvCxnSpPr>
        <p:spPr>
          <a:xfrm>
            <a:off x="6682559" y="3322530"/>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75" name="TextBox 74"/>
          <p:cNvSpPr txBox="1"/>
          <p:nvPr/>
        </p:nvSpPr>
        <p:spPr>
          <a:xfrm>
            <a:off x="6458089" y="299635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76" name="그룹 75"/>
          <p:cNvGrpSpPr/>
          <p:nvPr/>
        </p:nvGrpSpPr>
        <p:grpSpPr>
          <a:xfrm>
            <a:off x="6797144" y="2686337"/>
            <a:ext cx="2410863" cy="1272386"/>
            <a:chOff x="8265923" y="2936741"/>
            <a:chExt cx="2281727" cy="1272386"/>
          </a:xfrm>
        </p:grpSpPr>
        <p:sp>
          <p:nvSpPr>
            <p:cNvPr id="77" name="다이아몬드 76"/>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78" name="TextBox 77"/>
            <p:cNvSpPr txBox="1"/>
            <p:nvPr/>
          </p:nvSpPr>
          <p:spPr>
            <a:xfrm>
              <a:off x="8265923" y="3245673"/>
              <a:ext cx="2281727"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 전체를 공격하는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광역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p>
          </p:txBody>
        </p:sp>
      </p:grpSp>
      <p:cxnSp>
        <p:nvCxnSpPr>
          <p:cNvPr id="79" name="직선 화살표 연결선 78"/>
          <p:cNvCxnSpPr/>
          <p:nvPr/>
        </p:nvCxnSpPr>
        <p:spPr>
          <a:xfrm>
            <a:off x="8987945" y="3332107"/>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1" name="TextBox 80"/>
          <p:cNvSpPr txBox="1"/>
          <p:nvPr/>
        </p:nvSpPr>
        <p:spPr>
          <a:xfrm>
            <a:off x="8757930" y="2981927"/>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84" name="꺾인 연결선 83"/>
          <p:cNvCxnSpPr>
            <a:stCxn id="50" idx="2"/>
            <a:endCxn id="48" idx="0"/>
          </p:cNvCxnSpPr>
          <p:nvPr/>
        </p:nvCxnSpPr>
        <p:spPr>
          <a:xfrm rot="16200000" flipH="1">
            <a:off x="5041887" y="2281487"/>
            <a:ext cx="1291682" cy="4629693"/>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85" name="꺾인 연결선 84"/>
          <p:cNvCxnSpPr>
            <a:stCxn id="46" idx="2"/>
            <a:endCxn id="48" idx="0"/>
          </p:cNvCxnSpPr>
          <p:nvPr/>
        </p:nvCxnSpPr>
        <p:spPr>
          <a:xfrm rot="16200000" flipH="1">
            <a:off x="6199415" y="3439014"/>
            <a:ext cx="1282733" cy="2323587"/>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86" name="꺾인 연결선 85"/>
          <p:cNvCxnSpPr>
            <a:stCxn id="77" idx="2"/>
            <a:endCxn id="48" idx="0"/>
          </p:cNvCxnSpPr>
          <p:nvPr/>
        </p:nvCxnSpPr>
        <p:spPr>
          <a:xfrm rot="16200000" flipH="1">
            <a:off x="7354500" y="4594100"/>
            <a:ext cx="1283452" cy="12698"/>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91" name="TextBox 90"/>
          <p:cNvSpPr txBox="1"/>
          <p:nvPr/>
        </p:nvSpPr>
        <p:spPr>
          <a:xfrm>
            <a:off x="2806680" y="388749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2" name="TextBox 91"/>
          <p:cNvSpPr txBox="1"/>
          <p:nvPr/>
        </p:nvSpPr>
        <p:spPr>
          <a:xfrm>
            <a:off x="5116411" y="39272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3" name="TextBox 92"/>
          <p:cNvSpPr txBox="1"/>
          <p:nvPr/>
        </p:nvSpPr>
        <p:spPr>
          <a:xfrm>
            <a:off x="7427489" y="3942622"/>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3" name="다이아몬드 102"/>
          <p:cNvSpPr/>
          <p:nvPr/>
        </p:nvSpPr>
        <p:spPr>
          <a:xfrm>
            <a:off x="9310480" y="2688394"/>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104" name="TextBox 103"/>
          <p:cNvSpPr txBox="1"/>
          <p:nvPr/>
        </p:nvSpPr>
        <p:spPr>
          <a:xfrm>
            <a:off x="9104400" y="2984900"/>
            <a:ext cx="2410863"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 을 공격하는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단일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p>
        </p:txBody>
      </p:sp>
      <p:cxnSp>
        <p:nvCxnSpPr>
          <p:cNvPr id="110" name="꺾인 연결선 109"/>
          <p:cNvCxnSpPr>
            <a:stCxn id="103" idx="2"/>
            <a:endCxn id="48" idx="0"/>
          </p:cNvCxnSpPr>
          <p:nvPr/>
        </p:nvCxnSpPr>
        <p:spPr>
          <a:xfrm rot="5400000">
            <a:off x="8513874" y="3449481"/>
            <a:ext cx="1281395" cy="2303992"/>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113" name="TextBox 112"/>
          <p:cNvSpPr txBox="1"/>
          <p:nvPr/>
        </p:nvSpPr>
        <p:spPr>
          <a:xfrm>
            <a:off x="9625645" y="392802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0" name="TextBox 149"/>
          <p:cNvSpPr txBox="1"/>
          <p:nvPr/>
        </p:nvSpPr>
        <p:spPr>
          <a:xfrm>
            <a:off x="11043233" y="298079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4" name="TextBox 163"/>
          <p:cNvSpPr txBox="1"/>
          <p:nvPr/>
        </p:nvSpPr>
        <p:spPr>
          <a:xfrm>
            <a:off x="9607178" y="5177657"/>
            <a:ext cx="110556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 공격</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76" name="다이아몬드 175"/>
          <p:cNvSpPr/>
          <p:nvPr/>
        </p:nvSpPr>
        <p:spPr>
          <a:xfrm>
            <a:off x="4696195" y="4904945"/>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177" name="TextBox 176"/>
          <p:cNvSpPr txBox="1"/>
          <p:nvPr/>
        </p:nvSpPr>
        <p:spPr>
          <a:xfrm>
            <a:off x="5039104" y="5275335"/>
            <a:ext cx="1314781"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모든 아군이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행동을 마쳤는가</a:t>
            </a:r>
            <a:r>
              <a:rPr lang="en-US" altLang="ko-KR" sz="1400" spc="-300" dirty="0" smtClean="0">
                <a:gradFill>
                  <a:gsLst>
                    <a:gs pos="0">
                      <a:schemeClr val="tx1"/>
                    </a:gs>
                    <a:gs pos="100000">
                      <a:schemeClr val="tx1"/>
                    </a:gs>
                  </a:gsLst>
                  <a:lin ang="5400000" scaled="1"/>
                </a:gradFill>
                <a:latin typeface="+mn-ea"/>
              </a:rPr>
              <a:t>?</a:t>
            </a:r>
          </a:p>
        </p:txBody>
      </p:sp>
      <p:cxnSp>
        <p:nvCxnSpPr>
          <p:cNvPr id="180" name="직선 화살표 연결선 179"/>
          <p:cNvCxnSpPr>
            <a:stCxn id="176" idx="1"/>
            <a:endCxn id="19" idx="3"/>
          </p:cNvCxnSpPr>
          <p:nvPr/>
        </p:nvCxnSpPr>
        <p:spPr>
          <a:xfrm flipH="1">
            <a:off x="3896578" y="5541138"/>
            <a:ext cx="799617" cy="382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86" name="꺾인 연결선 185"/>
          <p:cNvCxnSpPr>
            <a:stCxn id="176" idx="2"/>
            <a:endCxn id="41" idx="3"/>
          </p:cNvCxnSpPr>
          <p:nvPr/>
        </p:nvCxnSpPr>
        <p:spPr>
          <a:xfrm rot="5400000" flipH="1">
            <a:off x="1778652" y="2263701"/>
            <a:ext cx="4015676" cy="3811585"/>
          </a:xfrm>
          <a:prstGeom prst="bentConnector4">
            <a:avLst>
              <a:gd name="adj1" fmla="val -5693"/>
              <a:gd name="adj2" fmla="val -163172"/>
            </a:avLst>
          </a:prstGeom>
          <a:ln>
            <a:tailEnd type="arrow"/>
          </a:ln>
        </p:spPr>
        <p:style>
          <a:lnRef idx="3">
            <a:schemeClr val="dk1"/>
          </a:lnRef>
          <a:fillRef idx="0">
            <a:schemeClr val="dk1"/>
          </a:fillRef>
          <a:effectRef idx="2">
            <a:schemeClr val="dk1"/>
          </a:effectRef>
          <a:fontRef idx="minor">
            <a:schemeClr val="tx1"/>
          </a:fontRef>
        </p:style>
      </p:cxnSp>
      <p:cxnSp>
        <p:nvCxnSpPr>
          <p:cNvPr id="195" name="직선 화살표 연결선 194"/>
          <p:cNvCxnSpPr>
            <a:stCxn id="48" idx="1"/>
            <a:endCxn id="176" idx="3"/>
          </p:cNvCxnSpPr>
          <p:nvPr/>
        </p:nvCxnSpPr>
        <p:spPr>
          <a:xfrm flipH="1">
            <a:off x="6688368" y="5541138"/>
            <a:ext cx="54167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8" name="TextBox 197"/>
          <p:cNvSpPr txBox="1"/>
          <p:nvPr/>
        </p:nvSpPr>
        <p:spPr>
          <a:xfrm>
            <a:off x="5178595" y="6087831"/>
            <a:ext cx="500392"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9" name="TextBox 198"/>
          <p:cNvSpPr txBox="1"/>
          <p:nvPr/>
        </p:nvSpPr>
        <p:spPr>
          <a:xfrm>
            <a:off x="3963995" y="5204356"/>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77876130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턴 방식 전투 방식</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83</a:t>
            </a:fld>
            <a:endParaRPr lang="ko-KR" altLang="en-US" sz="1800" dirty="0"/>
          </a:p>
        </p:txBody>
      </p:sp>
      <p:sp>
        <p:nvSpPr>
          <p:cNvPr id="13" name="TextBox 12"/>
          <p:cNvSpPr txBox="1"/>
          <p:nvPr/>
        </p:nvSpPr>
        <p:spPr>
          <a:xfrm>
            <a:off x="832486" y="5039568"/>
            <a:ext cx="6317614" cy="923330"/>
          </a:xfrm>
          <a:prstGeom prst="rect">
            <a:avLst/>
          </a:prstGeom>
          <a:noFill/>
        </p:spPr>
        <p:txBody>
          <a:bodyPr wrap="square" rtlCol="0">
            <a:spAutoFit/>
          </a:bodyPr>
          <a:lstStyle/>
          <a:p>
            <a:pPr>
              <a:lnSpc>
                <a:spcPct val="150000"/>
              </a:lnSpc>
            </a:pPr>
            <a:r>
              <a:rPr lang="en-US" altLang="ko-KR" dirty="0" smtClean="0"/>
              <a:t>• </a:t>
            </a:r>
            <a:r>
              <a:rPr lang="ko-KR" altLang="en-US" dirty="0" smtClean="0"/>
              <a:t>턴은 크게 아군의 턴과 적군의 턴으로 구분할 수 있다</a:t>
            </a:r>
            <a:r>
              <a:rPr lang="en-US" altLang="ko-KR" dirty="0" smtClean="0"/>
              <a:t>. </a:t>
            </a:r>
          </a:p>
          <a:p>
            <a:pPr>
              <a:lnSpc>
                <a:spcPct val="150000"/>
              </a:lnSpc>
            </a:pPr>
            <a:r>
              <a:rPr lang="en-US" altLang="ko-KR" dirty="0"/>
              <a:t>• </a:t>
            </a:r>
            <a:r>
              <a:rPr lang="ko-KR" altLang="en-US" dirty="0" smtClean="0"/>
              <a:t>전투 이벤트가 시작되면</a:t>
            </a:r>
            <a:r>
              <a:rPr lang="en-US" altLang="ko-KR" dirty="0" smtClean="0"/>
              <a:t> </a:t>
            </a:r>
            <a:r>
              <a:rPr lang="ko-KR" altLang="en-US" dirty="0" smtClean="0"/>
              <a:t>아군의 선공으로 시작된다</a:t>
            </a:r>
            <a:r>
              <a:rPr lang="en-US" altLang="ko-KR" dirty="0" smtClean="0"/>
              <a:t>.</a:t>
            </a:r>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4129813" y="2778254"/>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5639154" y="2946437"/>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5642820" y="1936324"/>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5767566" y="1524069"/>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5767566" y="256671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5767566" y="365853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4371590" y="2566712"/>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37" name="직사각형 36"/>
          <p:cNvSpPr/>
          <p:nvPr/>
        </p:nvSpPr>
        <p:spPr>
          <a:xfrm>
            <a:off x="5928360" y="144008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4517150" y="239586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5906303" y="247927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5906303" y="357680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4517150" y="2446405"/>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a:off x="5397080" y="1349047"/>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1</a:t>
            </a:r>
            <a:endParaRPr lang="ko-KR" altLang="en-US" dirty="0"/>
          </a:p>
        </p:txBody>
      </p:sp>
      <p:sp>
        <p:nvSpPr>
          <p:cNvPr id="22" name="타원 21"/>
          <p:cNvSpPr/>
          <p:nvPr/>
        </p:nvSpPr>
        <p:spPr>
          <a:xfrm>
            <a:off x="5384800" y="2400856"/>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2</a:t>
            </a:r>
            <a:endParaRPr lang="ko-KR" altLang="en-US" dirty="0"/>
          </a:p>
        </p:txBody>
      </p:sp>
      <p:sp>
        <p:nvSpPr>
          <p:cNvPr id="23" name="타원 22"/>
          <p:cNvSpPr/>
          <p:nvPr/>
        </p:nvSpPr>
        <p:spPr>
          <a:xfrm>
            <a:off x="5384800" y="3455408"/>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3</a:t>
            </a:r>
            <a:endParaRPr lang="ko-KR" altLang="en-US" dirty="0"/>
          </a:p>
        </p:txBody>
      </p:sp>
      <p:sp>
        <p:nvSpPr>
          <p:cNvPr id="24" name="곱셈 기호 23"/>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4015035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63300401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디엘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화염</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불굴 </a:t>
                      </a:r>
                      <a:r>
                        <a:rPr lang="en-US" altLang="ko-KR" dirty="0" smtClean="0"/>
                        <a:t>(</a:t>
                      </a:r>
                      <a:r>
                        <a:rPr lang="ko-KR" altLang="en-US" dirty="0" smtClean="0"/>
                        <a:t>캐릭터가 죽음의 위기에 처했을 때</a:t>
                      </a:r>
                      <a:r>
                        <a:rPr lang="en-US" altLang="ko-KR" dirty="0" smtClean="0"/>
                        <a:t>, </a:t>
                      </a:r>
                      <a:r>
                        <a:rPr lang="ko-KR" altLang="en-US" dirty="0" err="1" smtClean="0"/>
                        <a:t>반피로</a:t>
                      </a:r>
                      <a:r>
                        <a:rPr lang="ko-KR" altLang="en-US" dirty="0" smtClean="0"/>
                        <a:t> 회복하고 그 </a:t>
                      </a:r>
                      <a:r>
                        <a:rPr lang="ko-KR" altLang="en-US" dirty="0" err="1" smtClean="0"/>
                        <a:t>턴동안</a:t>
                      </a:r>
                      <a:r>
                        <a:rPr lang="ko-KR" altLang="en-US" dirty="0" smtClean="0"/>
                        <a:t> 무적</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약점 포착</a:t>
                      </a:r>
                      <a:r>
                        <a:rPr lang="en-US" altLang="ko-KR" dirty="0" smtClean="0"/>
                        <a:t>(</a:t>
                      </a:r>
                      <a:r>
                        <a:rPr lang="ko-KR" altLang="en-US" dirty="0" smtClean="0"/>
                        <a:t>한 적 방 감소</a:t>
                      </a:r>
                      <a:r>
                        <a:rPr lang="en-US" altLang="ko-KR" baseline="0" dirty="0" smtClean="0"/>
                        <a:t> </a:t>
                      </a:r>
                      <a:r>
                        <a:rPr lang="ko-KR" altLang="en-US" baseline="0" dirty="0" smtClean="0"/>
                        <a:t>후 공격</a:t>
                      </a:r>
                      <a:r>
                        <a:rPr lang="en-US" altLang="ko-KR" baseline="0" dirty="0" smtClean="0"/>
                        <a:t>)</a:t>
                      </a:r>
                      <a:r>
                        <a:rPr lang="ko-KR" altLang="en-US" dirty="0" smtClean="0"/>
                        <a:t> </a:t>
                      </a:r>
                      <a:r>
                        <a:rPr lang="en-US" altLang="ko-KR" dirty="0" smtClean="0"/>
                        <a:t>/ </a:t>
                      </a:r>
                      <a:r>
                        <a:rPr lang="ko-KR" altLang="en-US" dirty="0" smtClean="0"/>
                        <a:t>정신 집중</a:t>
                      </a:r>
                      <a:r>
                        <a:rPr lang="en-US" altLang="ko-KR" dirty="0" smtClean="0"/>
                        <a:t>(HP,</a:t>
                      </a:r>
                      <a:r>
                        <a:rPr lang="ko-KR" altLang="en-US" dirty="0" smtClean="0"/>
                        <a:t>공</a:t>
                      </a:r>
                      <a:r>
                        <a:rPr lang="en-US" altLang="ko-KR" dirty="0" smtClean="0"/>
                        <a:t>,</a:t>
                      </a:r>
                      <a:r>
                        <a:rPr lang="ko-KR" altLang="en-US" dirty="0" smtClean="0"/>
                        <a:t>방 상승</a:t>
                      </a:r>
                      <a:r>
                        <a:rPr lang="en-US" altLang="ko-KR" dirty="0" smtClean="0"/>
                        <a:t>)</a:t>
                      </a:r>
                      <a:r>
                        <a:rPr lang="ko-KR" altLang="en-US" dirty="0" smtClean="0"/>
                        <a:t> </a:t>
                      </a:r>
                      <a:r>
                        <a:rPr lang="en-US" altLang="ko-KR" dirty="0" smtClean="0"/>
                        <a:t>/ </a:t>
                      </a:r>
                      <a:r>
                        <a:rPr lang="ko-KR" altLang="en-US" dirty="0" smtClean="0"/>
                        <a:t>분노의 일격</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84</a:t>
            </a:fld>
            <a:endParaRPr lang="ko-KR" altLang="en-US" sz="1800" dirty="0"/>
          </a:p>
        </p:txBody>
      </p:sp>
    </p:spTree>
    <p:extLst>
      <p:ext uri="{BB962C8B-B14F-4D97-AF65-F5344CB8AC3E}">
        <p14:creationId xmlns:p14="http://schemas.microsoft.com/office/powerpoint/2010/main" val="41956932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64066262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세실리아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빙결</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마력 순환 </a:t>
                      </a:r>
                      <a:r>
                        <a:rPr lang="en-US" altLang="ko-KR" dirty="0" smtClean="0"/>
                        <a:t>(</a:t>
                      </a:r>
                      <a:r>
                        <a:rPr lang="ko-KR" altLang="en-US" dirty="0" smtClean="0"/>
                        <a:t>자신의 턴마다 아군</a:t>
                      </a:r>
                      <a:r>
                        <a:rPr lang="ko-KR" altLang="en-US" baseline="0" dirty="0" smtClean="0"/>
                        <a:t> </a:t>
                      </a:r>
                      <a:r>
                        <a:rPr lang="en-US" altLang="ko-KR" baseline="0" dirty="0" smtClean="0"/>
                        <a:t>SP </a:t>
                      </a:r>
                      <a:r>
                        <a:rPr lang="ko-KR" altLang="en-US" baseline="0" dirty="0" smtClean="0"/>
                        <a:t>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물방울 폭탄</a:t>
                      </a:r>
                      <a:r>
                        <a:rPr lang="en-US" altLang="ko-KR" dirty="0" smtClean="0"/>
                        <a:t>(</a:t>
                      </a:r>
                      <a:r>
                        <a:rPr lang="ko-KR" altLang="en-US" dirty="0" smtClean="0"/>
                        <a:t>한 적 뎀</a:t>
                      </a:r>
                      <a:r>
                        <a:rPr lang="en-US" altLang="ko-KR" baseline="0" dirty="0" smtClean="0"/>
                        <a:t>)</a:t>
                      </a:r>
                      <a:r>
                        <a:rPr lang="ko-KR" altLang="en-US" dirty="0" smtClean="0"/>
                        <a:t> </a:t>
                      </a:r>
                      <a:r>
                        <a:rPr lang="en-US" altLang="ko-KR" dirty="0" smtClean="0"/>
                        <a:t>/ </a:t>
                      </a:r>
                      <a:r>
                        <a:rPr lang="ko-KR" altLang="en-US" dirty="0" err="1" smtClean="0"/>
                        <a:t>칼바람</a:t>
                      </a:r>
                      <a:r>
                        <a:rPr lang="en-US" altLang="ko-KR" dirty="0" smtClean="0"/>
                        <a:t>(</a:t>
                      </a:r>
                      <a:r>
                        <a:rPr lang="ko-KR" altLang="en-US" dirty="0" smtClean="0"/>
                        <a:t>모든 적 뎀</a:t>
                      </a:r>
                      <a:r>
                        <a:rPr lang="en-US" altLang="ko-KR" dirty="0" smtClean="0"/>
                        <a:t>)</a:t>
                      </a:r>
                      <a:r>
                        <a:rPr lang="ko-KR" altLang="en-US" dirty="0" smtClean="0"/>
                        <a:t> </a:t>
                      </a:r>
                      <a:r>
                        <a:rPr lang="en-US" altLang="ko-KR" dirty="0" smtClean="0"/>
                        <a:t>/ </a:t>
                      </a:r>
                      <a:r>
                        <a:rPr lang="ko-KR" altLang="en-US" dirty="0" smtClean="0"/>
                        <a:t>서리 폭풍</a:t>
                      </a:r>
                      <a:r>
                        <a:rPr lang="en-US" altLang="ko-KR" dirty="0" smtClean="0"/>
                        <a:t>(</a:t>
                      </a:r>
                      <a:r>
                        <a:rPr lang="ko-KR" altLang="en-US" dirty="0" smtClean="0"/>
                        <a:t>모든 적 뎀</a:t>
                      </a:r>
                      <a:r>
                        <a:rPr lang="en-US" altLang="ko-KR" dirty="0" smtClean="0"/>
                        <a:t>, </a:t>
                      </a:r>
                      <a:r>
                        <a:rPr lang="ko-KR" altLang="en-US" dirty="0" smtClean="0"/>
                        <a:t>빙결</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85</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6275947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967430271"/>
              </p:ext>
            </p:extLst>
          </p:nvPr>
        </p:nvGraphicFramePr>
        <p:xfrm>
          <a:off x="277760" y="218627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프리스톤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587654416"/>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800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318801916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85310263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363351160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난공불락 </a:t>
                      </a:r>
                      <a:r>
                        <a:rPr lang="en-US" altLang="ko-KR" dirty="0" smtClean="0"/>
                        <a:t>(</a:t>
                      </a:r>
                      <a:r>
                        <a:rPr lang="ko-KR" altLang="en-US" dirty="0" smtClean="0"/>
                        <a:t>잃은 체력에 비례하여 방어력 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방패 돌격</a:t>
                      </a:r>
                      <a:r>
                        <a:rPr lang="en-US" altLang="ko-KR" dirty="0" smtClean="0"/>
                        <a:t>(</a:t>
                      </a:r>
                      <a:r>
                        <a:rPr lang="ko-KR" altLang="en-US" dirty="0" smtClean="0"/>
                        <a:t>적</a:t>
                      </a:r>
                      <a:r>
                        <a:rPr lang="en-US" altLang="ko-KR" dirty="0" smtClean="0"/>
                        <a:t>1</a:t>
                      </a:r>
                      <a:r>
                        <a:rPr lang="ko-KR" altLang="en-US" dirty="0" smtClean="0"/>
                        <a:t> </a:t>
                      </a:r>
                      <a:r>
                        <a:rPr lang="ko-KR" altLang="en-US" dirty="0" err="1" smtClean="0"/>
                        <a:t>방비례뎀</a:t>
                      </a:r>
                      <a:r>
                        <a:rPr lang="en-US" altLang="ko-KR" dirty="0" smtClean="0"/>
                        <a:t>)</a:t>
                      </a:r>
                      <a:r>
                        <a:rPr lang="ko-KR" altLang="en-US" dirty="0" smtClean="0"/>
                        <a:t> </a:t>
                      </a:r>
                      <a:r>
                        <a:rPr lang="en-US" altLang="ko-KR" dirty="0" smtClean="0"/>
                        <a:t>/ </a:t>
                      </a:r>
                      <a:r>
                        <a:rPr lang="ko-KR" altLang="en-US" dirty="0" smtClean="0"/>
                        <a:t>용기의 외침</a:t>
                      </a:r>
                      <a:r>
                        <a:rPr lang="en-US" altLang="ko-KR" dirty="0" smtClean="0"/>
                        <a:t>(</a:t>
                      </a:r>
                      <a:r>
                        <a:rPr lang="ko-KR" altLang="en-US" dirty="0" smtClean="0"/>
                        <a:t>체 회복</a:t>
                      </a:r>
                      <a:r>
                        <a:rPr lang="en-US" altLang="ko-KR" dirty="0" smtClean="0"/>
                        <a:t>, </a:t>
                      </a:r>
                      <a:r>
                        <a:rPr lang="ko-KR" altLang="en-US" dirty="0" smtClean="0"/>
                        <a:t>방 상승</a:t>
                      </a:r>
                      <a:r>
                        <a:rPr lang="en-US" altLang="ko-KR" baseline="0" dirty="0" smtClean="0"/>
                        <a:t>)</a:t>
                      </a:r>
                      <a:r>
                        <a:rPr lang="ko-KR" altLang="en-US" dirty="0" smtClean="0"/>
                        <a:t> </a:t>
                      </a:r>
                      <a:r>
                        <a:rPr lang="en-US" altLang="ko-KR" dirty="0" smtClean="0"/>
                        <a:t>/ </a:t>
                      </a:r>
                      <a:r>
                        <a:rPr lang="ko-KR" altLang="en-US" dirty="0" smtClean="0"/>
                        <a:t>수호의 방패</a:t>
                      </a:r>
                      <a:r>
                        <a:rPr lang="en-US" altLang="ko-KR" dirty="0" smtClean="0"/>
                        <a:t>(2</a:t>
                      </a:r>
                      <a:r>
                        <a:rPr lang="ko-KR" altLang="en-US" dirty="0" smtClean="0"/>
                        <a:t>턴 아군 체</a:t>
                      </a:r>
                      <a:r>
                        <a:rPr lang="en-US" altLang="ko-KR" dirty="0" smtClean="0"/>
                        <a:t>, </a:t>
                      </a:r>
                      <a:r>
                        <a:rPr lang="ko-KR" altLang="en-US" dirty="0" smtClean="0"/>
                        <a:t>방 </a:t>
                      </a:r>
                      <a:r>
                        <a:rPr lang="en-US" altLang="ko-KR" dirty="0" smtClean="0"/>
                        <a:t>2</a:t>
                      </a:r>
                      <a:r>
                        <a:rPr lang="ko-KR" altLang="en-US" dirty="0" smtClean="0"/>
                        <a:t>배</a:t>
                      </a:r>
                      <a:r>
                        <a:rPr lang="en-US" altLang="ko-KR" dirty="0" smtClean="0"/>
                        <a:t>, </a:t>
                      </a:r>
                      <a:r>
                        <a:rPr lang="ko-KR" altLang="en-US" dirty="0" err="1" smtClean="0"/>
                        <a:t>자석탱</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86</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1850357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2403635941"/>
              </p:ext>
            </p:extLst>
          </p:nvPr>
        </p:nvGraphicFramePr>
        <p:xfrm>
          <a:off x="280219" y="2180963"/>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아이리스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ko-KR" altLang="en-US" baseline="0" dirty="0" smtClean="0"/>
                        <a:t> </a:t>
                      </a:r>
                      <a:r>
                        <a:rPr lang="ko-KR" altLang="en-US" dirty="0" smtClean="0"/>
                        <a:t>중 보조형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빛</a:t>
                      </a:r>
                      <a:endParaRPr lang="ko-KR" altLang="en-US" dirty="0"/>
                    </a:p>
                  </a:txBody>
                  <a:tcPr anchor="ctr"/>
                </a:tc>
                <a:extLst>
                  <a:ext uri="{0D108BD9-81ED-4DB2-BD59-A6C34878D82A}">
                    <a16:rowId xmlns:a16="http://schemas.microsoft.com/office/drawing/2014/main" val="3140618441"/>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112046401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42927731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2869796385"/>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정화</a:t>
                      </a:r>
                      <a:r>
                        <a:rPr lang="en-US" altLang="ko-KR" dirty="0" smtClean="0"/>
                        <a:t>(</a:t>
                      </a:r>
                      <a:r>
                        <a:rPr lang="ko-KR" altLang="en-US" dirty="0" smtClean="0"/>
                        <a:t>자신의 턴에 랜덤으로 아군의 상태이상 중 하나를 해제</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축복</a:t>
                      </a:r>
                      <a:r>
                        <a:rPr lang="en-US" altLang="ko-KR" dirty="0" smtClean="0"/>
                        <a:t>(</a:t>
                      </a:r>
                      <a:r>
                        <a:rPr lang="ko-KR" altLang="en-US" dirty="0" smtClean="0"/>
                        <a:t>아군 방</a:t>
                      </a:r>
                      <a:r>
                        <a:rPr lang="en-US" altLang="ko-KR" dirty="0" smtClean="0"/>
                        <a:t>,</a:t>
                      </a:r>
                      <a:r>
                        <a:rPr lang="ko-KR" altLang="en-US" dirty="0" smtClean="0"/>
                        <a:t>공 상승</a:t>
                      </a:r>
                      <a:r>
                        <a:rPr lang="en-US" altLang="ko-KR" dirty="0" smtClean="0"/>
                        <a:t>)</a:t>
                      </a:r>
                      <a:r>
                        <a:rPr lang="ko-KR" altLang="en-US" dirty="0" smtClean="0"/>
                        <a:t> </a:t>
                      </a:r>
                      <a:r>
                        <a:rPr lang="en-US" altLang="ko-KR" dirty="0" smtClean="0"/>
                        <a:t>/ </a:t>
                      </a:r>
                      <a:r>
                        <a:rPr lang="ko-KR" altLang="en-US" dirty="0" smtClean="0"/>
                        <a:t>치유</a:t>
                      </a:r>
                      <a:r>
                        <a:rPr lang="en-US" altLang="ko-KR" dirty="0" smtClean="0"/>
                        <a:t>(</a:t>
                      </a:r>
                      <a:r>
                        <a:rPr lang="ko-KR" altLang="en-US" dirty="0" smtClean="0"/>
                        <a:t>아군 체 회복</a:t>
                      </a:r>
                      <a:r>
                        <a:rPr lang="en-US" altLang="ko-KR" baseline="0" dirty="0" smtClean="0"/>
                        <a:t>)</a:t>
                      </a:r>
                      <a:r>
                        <a:rPr lang="ko-KR" altLang="en-US" dirty="0" smtClean="0"/>
                        <a:t> </a:t>
                      </a:r>
                      <a:r>
                        <a:rPr lang="en-US" altLang="ko-KR" dirty="0" smtClean="0"/>
                        <a:t>/ </a:t>
                      </a:r>
                      <a:r>
                        <a:rPr lang="ko-KR" altLang="en-US" dirty="0" smtClean="0"/>
                        <a:t>빛의</a:t>
                      </a:r>
                      <a:r>
                        <a:rPr lang="ko-KR" altLang="en-US" baseline="0" dirty="0" smtClean="0"/>
                        <a:t> </a:t>
                      </a:r>
                      <a:r>
                        <a:rPr lang="ko-KR" altLang="en-US" dirty="0" smtClean="0"/>
                        <a:t>찬가</a:t>
                      </a:r>
                      <a:r>
                        <a:rPr lang="en-US" altLang="ko-KR" dirty="0" smtClean="0"/>
                        <a:t>(1</a:t>
                      </a:r>
                      <a:r>
                        <a:rPr lang="ko-KR" altLang="en-US" dirty="0" smtClean="0"/>
                        <a:t>턴 간 아군 상태이상 면역</a:t>
                      </a:r>
                      <a:r>
                        <a:rPr lang="en-US" altLang="ko-KR" dirty="0" smtClean="0"/>
                        <a:t>, </a:t>
                      </a:r>
                      <a:r>
                        <a:rPr lang="ko-KR" altLang="en-US" dirty="0" smtClean="0"/>
                        <a:t>방</a:t>
                      </a:r>
                      <a:r>
                        <a:rPr lang="en-US" altLang="ko-KR" dirty="0" smtClean="0"/>
                        <a:t>,</a:t>
                      </a:r>
                      <a:r>
                        <a:rPr lang="ko-KR" altLang="en-US" dirty="0" smtClean="0"/>
                        <a:t>공 상승</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87</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5086130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390373945"/>
              </p:ext>
            </p:extLst>
          </p:nvPr>
        </p:nvGraphicFramePr>
        <p:xfrm>
          <a:off x="280219" y="218096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메리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a:t>
                      </a:r>
                      <a:r>
                        <a:rPr lang="en-US" altLang="ko-KR" baseline="0" dirty="0" smtClean="0"/>
                        <a:t> </a:t>
                      </a:r>
                      <a:r>
                        <a:rPr lang="ko-KR" altLang="en-US" baseline="0" dirty="0" smtClean="0"/>
                        <a:t>보조</a:t>
                      </a:r>
                      <a:r>
                        <a:rPr lang="ko-KR" altLang="en-US" dirty="0" smtClean="0"/>
                        <a:t>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endParaRPr lang="ko-KR" altLang="en-US" dirty="0"/>
                    </a:p>
                  </a:txBody>
                  <a:tcPr anchor="ctr"/>
                </a:tc>
                <a:extLst>
                  <a:ext uri="{0D108BD9-81ED-4DB2-BD59-A6C34878D82A}">
                    <a16:rowId xmlns:a16="http://schemas.microsoft.com/office/drawing/2014/main" val="202632424"/>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3439633105"/>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07853842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1225362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인형의 저주</a:t>
                      </a:r>
                      <a:r>
                        <a:rPr lang="en-US" altLang="ko-KR" dirty="0" smtClean="0"/>
                        <a:t>(</a:t>
                      </a:r>
                      <a:r>
                        <a:rPr lang="ko-KR" altLang="en-US" dirty="0" err="1" smtClean="0"/>
                        <a:t>랜덤한</a:t>
                      </a:r>
                      <a:r>
                        <a:rPr lang="ko-KR" altLang="en-US" dirty="0" smtClean="0"/>
                        <a:t> 적 몬스터 </a:t>
                      </a:r>
                      <a:r>
                        <a:rPr lang="en-US" altLang="ko-KR" dirty="0" smtClean="0"/>
                        <a:t>1</a:t>
                      </a:r>
                      <a:r>
                        <a:rPr lang="ko-KR" altLang="en-US" dirty="0" smtClean="0"/>
                        <a:t>체에 </a:t>
                      </a:r>
                      <a:r>
                        <a:rPr lang="ko-KR" altLang="en-US" dirty="0" err="1" smtClean="0"/>
                        <a:t>랜덤한</a:t>
                      </a:r>
                      <a:r>
                        <a:rPr lang="ko-KR" altLang="en-US" dirty="0" smtClean="0"/>
                        <a:t> 상태이상 부여</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검은 손</a:t>
                      </a:r>
                      <a:r>
                        <a:rPr lang="en-US" altLang="ko-KR" dirty="0" smtClean="0"/>
                        <a:t>(</a:t>
                      </a:r>
                      <a:r>
                        <a:rPr lang="ko-KR" altLang="en-US" dirty="0" smtClean="0"/>
                        <a:t>적 뎀</a:t>
                      </a:r>
                      <a:r>
                        <a:rPr lang="en-US" altLang="ko-KR" dirty="0" smtClean="0"/>
                        <a:t>, </a:t>
                      </a:r>
                      <a:r>
                        <a:rPr lang="ko-KR" altLang="en-US" dirty="0" smtClean="0"/>
                        <a:t>방 감소</a:t>
                      </a:r>
                      <a:r>
                        <a:rPr lang="en-US" altLang="ko-KR" dirty="0" smtClean="0"/>
                        <a:t>)</a:t>
                      </a:r>
                      <a:r>
                        <a:rPr lang="ko-KR" altLang="en-US" dirty="0" smtClean="0"/>
                        <a:t> </a:t>
                      </a:r>
                      <a:r>
                        <a:rPr lang="en-US" altLang="ko-KR" dirty="0" smtClean="0"/>
                        <a:t>/ </a:t>
                      </a:r>
                      <a:r>
                        <a:rPr lang="ko-KR" altLang="en-US" dirty="0" smtClean="0"/>
                        <a:t>유혹의 키스 </a:t>
                      </a:r>
                      <a:r>
                        <a:rPr lang="en-US" altLang="ko-KR" dirty="0" smtClean="0"/>
                        <a:t>(</a:t>
                      </a:r>
                      <a:r>
                        <a:rPr lang="ko-KR" altLang="en-US" dirty="0" smtClean="0"/>
                        <a:t>적 혼란</a:t>
                      </a:r>
                      <a:r>
                        <a:rPr lang="en-US" altLang="ko-KR" baseline="0" dirty="0" smtClean="0"/>
                        <a:t>)</a:t>
                      </a:r>
                      <a:r>
                        <a:rPr lang="ko-KR" altLang="en-US" dirty="0" smtClean="0"/>
                        <a:t> </a:t>
                      </a:r>
                      <a:r>
                        <a:rPr lang="en-US" altLang="ko-KR" dirty="0" smtClean="0"/>
                        <a:t>/ </a:t>
                      </a:r>
                      <a:r>
                        <a:rPr lang="ko-KR" altLang="en-US" dirty="0" err="1" smtClean="0"/>
                        <a:t>판데모니엄</a:t>
                      </a:r>
                      <a:r>
                        <a:rPr lang="en-US" altLang="ko-KR" dirty="0" smtClean="0"/>
                        <a:t>(</a:t>
                      </a:r>
                      <a:r>
                        <a:rPr lang="ko-KR" altLang="en-US" dirty="0" smtClean="0"/>
                        <a:t>적 전체 </a:t>
                      </a:r>
                      <a:r>
                        <a:rPr lang="ko-KR" altLang="en-US" dirty="0" err="1" smtClean="0"/>
                        <a:t>체비뎀</a:t>
                      </a:r>
                      <a:r>
                        <a:rPr lang="en-US" altLang="ko-KR" dirty="0" smtClean="0"/>
                        <a:t>, </a:t>
                      </a:r>
                      <a:r>
                        <a:rPr lang="ko-KR" altLang="en-US" dirty="0" smtClean="0"/>
                        <a:t>기절</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88</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2132441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89</a:t>
            </a:fld>
            <a:endParaRPr lang="ko-KR" altLang="en-US" sz="1800" dirty="0"/>
          </a:p>
        </p:txBody>
      </p:sp>
      <p:sp>
        <p:nvSpPr>
          <p:cNvPr id="13" name="TextBox 12"/>
          <p:cNvSpPr txBox="1"/>
          <p:nvPr/>
        </p:nvSpPr>
        <p:spPr>
          <a:xfrm>
            <a:off x="766917" y="1348401"/>
            <a:ext cx="6577313" cy="3831818"/>
          </a:xfrm>
          <a:prstGeom prst="rect">
            <a:avLst/>
          </a:prstGeom>
          <a:noFill/>
        </p:spPr>
        <p:txBody>
          <a:bodyPr wrap="square" rtlCol="0">
            <a:spAutoFit/>
          </a:bodyPr>
          <a:lstStyle/>
          <a:p>
            <a:pPr>
              <a:lnSpc>
                <a:spcPct val="150000"/>
              </a:lnSpc>
            </a:pPr>
            <a:r>
              <a:rPr lang="en-US" altLang="ko-KR" dirty="0"/>
              <a:t>• </a:t>
            </a:r>
            <a:r>
              <a:rPr lang="ko-KR" altLang="en-US" dirty="0" err="1" smtClean="0">
                <a:latin typeface="+mn-ea"/>
              </a:rPr>
              <a:t>몬스터들은</a:t>
            </a:r>
            <a:r>
              <a:rPr lang="ko-KR" altLang="en-US" dirty="0" smtClean="0">
                <a:latin typeface="+mn-ea"/>
              </a:rPr>
              <a:t> 던전 안에 도사리고 있습니다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각기 다른 특성과 능력을 지니고 있습니다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용사가 몬스터를 처치하면</a:t>
            </a:r>
            <a:r>
              <a:rPr lang="en-US" altLang="ko-KR" dirty="0" smtClean="0"/>
              <a:t>, </a:t>
            </a:r>
            <a:r>
              <a:rPr lang="ko-KR" altLang="en-US" dirty="0" smtClean="0"/>
              <a:t>전투 후 용사의 </a:t>
            </a:r>
            <a:r>
              <a:rPr lang="ko-KR" altLang="en-US" dirty="0"/>
              <a:t>것</a:t>
            </a:r>
            <a:r>
              <a:rPr lang="ko-KR" altLang="en-US" dirty="0" smtClean="0"/>
              <a:t>이 됩니다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한번 전투에서 사망하면 재사용할 수 없습니다</a:t>
            </a:r>
            <a:r>
              <a:rPr lang="en-US" altLang="ko-KR" dirty="0" smtClean="0"/>
              <a:t>.</a:t>
            </a:r>
            <a:endParaRPr lang="en-US" altLang="ko-KR" dirty="0">
              <a:latin typeface="+mn-ea"/>
            </a:endParaRPr>
          </a:p>
          <a:p>
            <a:pPr>
              <a:lnSpc>
                <a:spcPct val="150000"/>
              </a:lnSpc>
            </a:pPr>
            <a:endParaRPr lang="en-US" altLang="ko-KR" dirty="0" smtClean="0">
              <a:latin typeface="+mn-ea"/>
            </a:endParaRPr>
          </a:p>
          <a:p>
            <a:pPr>
              <a:lnSpc>
                <a:spcPct val="150000"/>
              </a:lnSpc>
            </a:pPr>
            <a:r>
              <a:rPr lang="en-US" altLang="ko-KR" dirty="0"/>
              <a:t>• 3</a:t>
            </a:r>
            <a:r>
              <a:rPr lang="ko-KR" altLang="en-US" dirty="0" smtClean="0"/>
              <a:t>마리까지 파티를 편성할 수 있다</a:t>
            </a:r>
            <a:r>
              <a:rPr lang="en-US" altLang="ko-KR" dirty="0" smtClean="0"/>
              <a:t>.</a:t>
            </a:r>
            <a:endParaRPr lang="en-US" altLang="ko-KR" dirty="0" smtClean="0">
              <a:latin typeface="+mn-ea"/>
            </a:endParaRPr>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4690500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4268948201"/>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리치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en-US" altLang="ko-KR" baseline="0" dirty="0" smtClean="0"/>
                        <a:t> </a:t>
                      </a:r>
                      <a:r>
                        <a:rPr lang="ko-KR" altLang="en-US" dirty="0" smtClean="0"/>
                        <a:t>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r>
                        <a:rPr lang="en-US" altLang="ko-KR" dirty="0" smtClean="0"/>
                        <a:t>, </a:t>
                      </a:r>
                      <a:r>
                        <a:rPr lang="ko-KR" altLang="en-US" dirty="0" smtClean="0"/>
                        <a:t>빙결</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350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100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5</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불사</a:t>
                      </a:r>
                      <a:r>
                        <a:rPr lang="en-US" altLang="ko-KR" baseline="0" dirty="0" smtClean="0"/>
                        <a:t>(</a:t>
                      </a:r>
                      <a:r>
                        <a:rPr lang="ko-KR" altLang="en-US" baseline="0" dirty="0" smtClean="0"/>
                        <a:t>죽음의 위기를 </a:t>
                      </a:r>
                      <a:r>
                        <a:rPr lang="en-US" altLang="ko-KR" baseline="0" dirty="0" smtClean="0"/>
                        <a:t>1</a:t>
                      </a:r>
                      <a:r>
                        <a:rPr lang="ko-KR" altLang="en-US" baseline="0" dirty="0" smtClean="0"/>
                        <a:t>번 모면합니다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부정한 손길</a:t>
                      </a:r>
                      <a:r>
                        <a:rPr lang="en-US" altLang="ko-KR" dirty="0" smtClean="0"/>
                        <a:t>(</a:t>
                      </a:r>
                      <a:r>
                        <a:rPr lang="ko-KR" altLang="en-US" dirty="0" smtClean="0"/>
                        <a:t>방 감</a:t>
                      </a:r>
                      <a:r>
                        <a:rPr lang="en-US" altLang="ko-KR" dirty="0" smtClean="0"/>
                        <a:t>, </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망자의 손길</a:t>
                      </a:r>
                      <a:r>
                        <a:rPr lang="en-US" altLang="ko-KR" dirty="0" smtClean="0"/>
                        <a:t>(</a:t>
                      </a:r>
                      <a:r>
                        <a:rPr lang="ko-KR" altLang="en-US" dirty="0" smtClean="0"/>
                        <a:t>뎀</a:t>
                      </a:r>
                      <a:r>
                        <a:rPr lang="en-US" altLang="ko-KR" dirty="0" smtClean="0"/>
                        <a:t>)</a:t>
                      </a:r>
                      <a:r>
                        <a:rPr lang="ko-KR" altLang="en-US" dirty="0" smtClean="0"/>
                        <a:t> </a:t>
                      </a:r>
                      <a:r>
                        <a:rPr lang="en-US" altLang="ko-KR" dirty="0" smtClean="0"/>
                        <a:t>/ </a:t>
                      </a:r>
                      <a:r>
                        <a:rPr lang="ko-KR" altLang="en-US" dirty="0" smtClean="0"/>
                        <a:t>서리 폭발</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90</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14691112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530292396"/>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그리즐리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두꺼운 피부</a:t>
                      </a:r>
                      <a:r>
                        <a:rPr lang="en-US" altLang="ko-KR" baseline="0" dirty="0" smtClean="0"/>
                        <a:t>(</a:t>
                      </a:r>
                      <a:r>
                        <a:rPr lang="ko-KR" altLang="en-US" baseline="0" dirty="0" smtClean="0"/>
                        <a:t>받는 </a:t>
                      </a:r>
                      <a:r>
                        <a:rPr lang="ko-KR" altLang="en-US" baseline="0" dirty="0" err="1" smtClean="0"/>
                        <a:t>데미지를</a:t>
                      </a:r>
                      <a:r>
                        <a:rPr lang="ko-KR" altLang="en-US" baseline="0" dirty="0" smtClean="0"/>
                        <a:t> </a:t>
                      </a:r>
                      <a:r>
                        <a:rPr lang="en-US" altLang="ko-KR" baseline="0" dirty="0" smtClean="0"/>
                        <a:t>10% </a:t>
                      </a:r>
                      <a:r>
                        <a:rPr lang="ko-KR" altLang="en-US" baseline="0" dirty="0" smtClean="0"/>
                        <a:t>감소시킵니다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err="1" smtClean="0"/>
                        <a:t>휘둘러치기</a:t>
                      </a:r>
                      <a:r>
                        <a:rPr lang="en-US" altLang="ko-KR" dirty="0" smtClean="0"/>
                        <a:t>(</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웅크리기</a:t>
                      </a:r>
                      <a:r>
                        <a:rPr lang="en-US" altLang="ko-KR" dirty="0" smtClean="0"/>
                        <a:t>(</a:t>
                      </a:r>
                      <a:r>
                        <a:rPr lang="ko-KR" altLang="en-US" dirty="0" err="1" smtClean="0"/>
                        <a:t>체회복</a:t>
                      </a:r>
                      <a:r>
                        <a:rPr lang="en-US" altLang="ko-KR" dirty="0" smtClean="0"/>
                        <a:t>, </a:t>
                      </a:r>
                      <a:r>
                        <a:rPr lang="ko-KR" altLang="en-US" dirty="0" err="1" smtClean="0"/>
                        <a:t>방상승</a:t>
                      </a:r>
                      <a:r>
                        <a:rPr lang="en-US" altLang="ko-KR" dirty="0" smtClean="0"/>
                        <a:t>)</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91</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8575834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762461420"/>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피냐타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기능형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선물꾸러미 </a:t>
                      </a:r>
                      <a:r>
                        <a:rPr lang="en-US" altLang="ko-KR" baseline="0" dirty="0" smtClean="0"/>
                        <a:t>(</a:t>
                      </a:r>
                      <a:r>
                        <a:rPr lang="ko-KR" altLang="en-US" baseline="0" dirty="0" smtClean="0"/>
                        <a:t>자신이 사망했을 때</a:t>
                      </a:r>
                      <a:r>
                        <a:rPr lang="en-US" altLang="ko-KR" baseline="0" dirty="0" smtClean="0"/>
                        <a:t>, </a:t>
                      </a:r>
                      <a:r>
                        <a:rPr lang="ko-KR" altLang="en-US" baseline="0" dirty="0" smtClean="0"/>
                        <a:t>아군 전체 체력 회복 </a:t>
                      </a:r>
                      <a:r>
                        <a:rPr lang="en-US" altLang="ko-KR" baseline="0" dirty="0" smtClean="0"/>
                        <a:t>+ </a:t>
                      </a:r>
                      <a:r>
                        <a:rPr lang="ko-KR" altLang="en-US" baseline="0" dirty="0" smtClean="0"/>
                        <a:t>방</a:t>
                      </a:r>
                      <a:r>
                        <a:rPr lang="en-US" altLang="ko-KR" baseline="0" dirty="0" smtClean="0"/>
                        <a:t>, </a:t>
                      </a:r>
                      <a:r>
                        <a:rPr lang="ko-KR" altLang="en-US" baseline="0" dirty="0" smtClean="0"/>
                        <a:t>공 상승</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en-US" altLang="ko-KR" dirty="0" smtClean="0"/>
                        <a:t>-</a:t>
                      </a:r>
                      <a:r>
                        <a:rPr lang="ko-KR" altLang="en-US" dirty="0" smtClean="0"/>
                        <a:t> </a:t>
                      </a:r>
                      <a:r>
                        <a:rPr lang="en-US" altLang="ko-KR" dirty="0" smtClean="0"/>
                        <a:t>/ -</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92</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99947237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93</a:t>
            </a:fld>
            <a:endParaRPr lang="ko-KR" altLang="en-US" sz="1800" dirty="0"/>
          </a:p>
        </p:txBody>
      </p:sp>
      <p:sp>
        <p:nvSpPr>
          <p:cNvPr id="8" name="TextBox 7"/>
          <p:cNvSpPr txBox="1"/>
          <p:nvPr/>
        </p:nvSpPr>
        <p:spPr>
          <a:xfrm>
            <a:off x="766917" y="1348401"/>
            <a:ext cx="10058399" cy="3000821"/>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용사는 던전을 탐험하면서 다양한 아이템을 얻습니다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아이템은 용사 혹은 몬스터가 장비하거나 사용하여</a:t>
            </a:r>
            <a:r>
              <a:rPr lang="en-US" altLang="ko-KR" dirty="0" smtClean="0"/>
              <a:t>,</a:t>
            </a:r>
          </a:p>
          <a:p>
            <a:pPr>
              <a:lnSpc>
                <a:spcPct val="150000"/>
              </a:lnSpc>
            </a:pPr>
            <a:r>
              <a:rPr lang="ko-KR" altLang="en-US" dirty="0" smtClean="0"/>
              <a:t>  던전을 정복하는 데에 도움을 줍니다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던전 속 지하 상점에서 구입</a:t>
            </a:r>
            <a:r>
              <a:rPr lang="en-US" altLang="ko-KR" dirty="0" smtClean="0"/>
              <a:t>, </a:t>
            </a:r>
            <a:r>
              <a:rPr lang="ko-KR" altLang="en-US" dirty="0" smtClean="0"/>
              <a:t>몬스터의 </a:t>
            </a:r>
            <a:r>
              <a:rPr lang="ko-KR" altLang="en-US" dirty="0" err="1" smtClean="0"/>
              <a:t>드랍</a:t>
            </a:r>
            <a:r>
              <a:rPr lang="ko-KR" altLang="en-US" dirty="0" smtClean="0"/>
              <a:t> 등으로 </a:t>
            </a:r>
            <a:endParaRPr lang="en-US" altLang="ko-KR" dirty="0" smtClean="0"/>
          </a:p>
          <a:p>
            <a:pPr>
              <a:lnSpc>
                <a:spcPct val="150000"/>
              </a:lnSpc>
            </a:pPr>
            <a:r>
              <a:rPr lang="en-US" altLang="ko-KR" dirty="0"/>
              <a:t> </a:t>
            </a:r>
            <a:r>
              <a:rPr lang="en-US" altLang="ko-KR" dirty="0" smtClean="0"/>
              <a:t> </a:t>
            </a:r>
            <a:r>
              <a:rPr lang="ko-KR" altLang="en-US" dirty="0" smtClean="0"/>
              <a:t>획득할 수 있으며</a:t>
            </a:r>
            <a:r>
              <a:rPr lang="en-US" altLang="ko-KR" dirty="0" smtClean="0"/>
              <a:t>,</a:t>
            </a:r>
            <a:r>
              <a:rPr lang="en-US" altLang="ko-KR" dirty="0" smtClean="0">
                <a:latin typeface="+mn-ea"/>
              </a:rPr>
              <a:t> </a:t>
            </a:r>
            <a:r>
              <a:rPr lang="ko-KR" altLang="en-US" dirty="0" smtClean="0">
                <a:latin typeface="+mn-ea"/>
              </a:rPr>
              <a:t>소유자가 사망 시 모두 잃습니다</a:t>
            </a:r>
            <a:r>
              <a:rPr lang="en-US" altLang="ko-KR" dirty="0" smtClean="0">
                <a:latin typeface="+mn-ea"/>
              </a:rPr>
              <a:t>.</a:t>
            </a:r>
          </a:p>
        </p:txBody>
      </p:sp>
      <p:sp>
        <p:nvSpPr>
          <p:cNvPr id="9" name="TextBox 8"/>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0268608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94</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432250167"/>
              </p:ext>
            </p:extLst>
          </p:nvPr>
        </p:nvGraphicFramePr>
        <p:xfrm>
          <a:off x="1076048" y="3538426"/>
          <a:ext cx="10029487" cy="210312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할아버지의 낡은 시계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악세서리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방어력</a:t>
                      </a:r>
                      <a:r>
                        <a:rPr lang="en-US" altLang="ko-KR"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전투에서 </a:t>
                      </a:r>
                      <a:r>
                        <a:rPr lang="en-US" altLang="ko-KR" dirty="0" smtClean="0"/>
                        <a:t>1</a:t>
                      </a:r>
                      <a:r>
                        <a:rPr lang="ko-KR" altLang="en-US" dirty="0" smtClean="0"/>
                        <a:t>번</a:t>
                      </a:r>
                      <a:r>
                        <a:rPr lang="en-US" altLang="ko-KR" dirty="0" smtClean="0"/>
                        <a:t>, </a:t>
                      </a:r>
                      <a:r>
                        <a:rPr lang="ko-KR" altLang="en-US" dirty="0" smtClean="0"/>
                        <a:t>몬스터 </a:t>
                      </a:r>
                      <a:r>
                        <a:rPr lang="en-US" altLang="ko-KR" dirty="0" smtClean="0"/>
                        <a:t>1</a:t>
                      </a:r>
                      <a:r>
                        <a:rPr lang="ko-KR" altLang="en-US" dirty="0" smtClean="0"/>
                        <a:t>체를 </a:t>
                      </a:r>
                      <a:r>
                        <a:rPr lang="en-US" altLang="ko-KR" dirty="0" smtClean="0"/>
                        <a:t>1</a:t>
                      </a:r>
                      <a:r>
                        <a:rPr lang="ko-KR" altLang="en-US" dirty="0" smtClean="0"/>
                        <a:t>턴 </a:t>
                      </a:r>
                      <a:r>
                        <a:rPr lang="ko-KR" altLang="en-US" baseline="0" dirty="0" smtClean="0"/>
                        <a:t>동안 상태이상 면역</a:t>
                      </a:r>
                      <a:r>
                        <a:rPr lang="en-US" altLang="ko-KR" baseline="0" dirty="0" smtClean="0"/>
                        <a:t>, </a:t>
                      </a:r>
                      <a:r>
                        <a:rPr lang="ko-KR" altLang="en-US" baseline="0" dirty="0" smtClean="0"/>
                        <a:t>무적이지만 행동 불가 상태로 만듭니다</a:t>
                      </a:r>
                      <a:r>
                        <a:rPr lang="en-US" altLang="ko-KR" baseline="0"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몬스터 </a:t>
                      </a:r>
                      <a:r>
                        <a:rPr lang="ko-KR" altLang="en-US" dirty="0" err="1" smtClean="0"/>
                        <a:t>드랍</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9645578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95</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676330391"/>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핏빛 대검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smtClean="0"/>
                        <a:t>무기</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공격력</a:t>
                      </a:r>
                      <a:r>
                        <a:rPr lang="en-US" altLang="ko-KR" dirty="0" smtClean="0"/>
                        <a:t>+20,</a:t>
                      </a:r>
                      <a:r>
                        <a:rPr lang="en-US" altLang="ko-KR" baseline="0" dirty="0" smtClean="0"/>
                        <a:t> </a:t>
                      </a:r>
                      <a:r>
                        <a:rPr lang="ko-KR" altLang="en-US" baseline="0" dirty="0" smtClean="0"/>
                        <a:t>회피</a:t>
                      </a:r>
                      <a:r>
                        <a:rPr lang="en-US" altLang="ko-KR" baseline="0"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공격 시 일정 확률로 상대방을 상태이상 </a:t>
                      </a:r>
                      <a:r>
                        <a:rPr lang="en-US" altLang="ko-KR" dirty="0" smtClean="0"/>
                        <a:t>: </a:t>
                      </a:r>
                      <a:r>
                        <a:rPr lang="ko-KR" altLang="en-US" dirty="0" smtClean="0"/>
                        <a:t>출혈 상태로 만듭니다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7799912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96</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4438752"/>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가시갑옷</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방어구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방어력 </a:t>
                      </a:r>
                      <a:r>
                        <a:rPr lang="en-US" altLang="ko-KR" baseline="0" dirty="0" smtClean="0"/>
                        <a:t>+ 10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피격 시 공격자에게 </a:t>
                      </a:r>
                      <a:r>
                        <a:rPr lang="ko-KR" altLang="en-US" dirty="0" err="1" smtClean="0"/>
                        <a:t>데미지의</a:t>
                      </a:r>
                      <a:r>
                        <a:rPr lang="ko-KR" altLang="en-US" dirty="0" smtClean="0"/>
                        <a:t> </a:t>
                      </a:r>
                      <a:r>
                        <a:rPr lang="en-US" altLang="ko-KR" dirty="0" smtClean="0"/>
                        <a:t>30%</a:t>
                      </a:r>
                      <a:r>
                        <a:rPr lang="ko-KR" altLang="en-US" dirty="0" smtClean="0"/>
                        <a:t>를 돌려줍니다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20183990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97</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79796133"/>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en-US" altLang="ko-KR" b="0" dirty="0" smtClean="0"/>
                        <a:t>V</a:t>
                      </a:r>
                      <a:r>
                        <a:rPr lang="ko-KR" altLang="en-US" b="0" dirty="0" smtClean="0"/>
                        <a:t>타 </a:t>
                      </a:r>
                      <a:r>
                        <a:rPr lang="en-US" altLang="ko-KR" b="0" dirty="0" smtClean="0"/>
                        <a:t>500</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소비형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en-US" altLang="ko-KR" dirty="0" smtClean="0"/>
                        <a:t>HP</a:t>
                      </a:r>
                      <a:r>
                        <a:rPr lang="ko-KR" altLang="en-US" dirty="0" smtClean="0"/>
                        <a:t> </a:t>
                      </a:r>
                      <a:r>
                        <a:rPr lang="en-US" altLang="ko-KR" dirty="0" smtClean="0"/>
                        <a:t>+ 50, SP + 50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7924898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29390" y="765193"/>
            <a:ext cx="27332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3243357557"/>
              </p:ext>
            </p:extLst>
          </p:nvPr>
        </p:nvGraphicFramePr>
        <p:xfrm>
          <a:off x="1001485" y="1486485"/>
          <a:ext cx="10189028" cy="4793258"/>
        </p:xfrm>
        <a:graphic>
          <a:graphicData uri="http://schemas.openxmlformats.org/drawingml/2006/table">
            <a:tbl>
              <a:tblPr firstRow="1" bandRow="1">
                <a:tableStyleId>{073A0DAA-6AF3-43AB-8588-CEC1D06C72B9}</a:tableStyleId>
              </a:tblPr>
              <a:tblGrid>
                <a:gridCol w="1451429">
                  <a:extLst>
                    <a:ext uri="{9D8B030D-6E8A-4147-A177-3AD203B41FA5}">
                      <a16:colId xmlns:a16="http://schemas.microsoft.com/office/drawing/2014/main" val="3321536260"/>
                    </a:ext>
                  </a:extLst>
                </a:gridCol>
                <a:gridCol w="6285865">
                  <a:extLst>
                    <a:ext uri="{9D8B030D-6E8A-4147-A177-3AD203B41FA5}">
                      <a16:colId xmlns:a16="http://schemas.microsoft.com/office/drawing/2014/main" val="2362139744"/>
                    </a:ext>
                  </a:extLst>
                </a:gridCol>
                <a:gridCol w="2451734">
                  <a:extLst>
                    <a:ext uri="{9D8B030D-6E8A-4147-A177-3AD203B41FA5}">
                      <a16:colId xmlns:a16="http://schemas.microsoft.com/office/drawing/2014/main" val="431622231"/>
                    </a:ext>
                  </a:extLst>
                </a:gridCol>
              </a:tblGrid>
              <a:tr h="564759">
                <a:tc>
                  <a:txBody>
                    <a:bodyPr/>
                    <a:lstStyle/>
                    <a:p>
                      <a:pPr algn="ctr" latinLnBrk="1"/>
                      <a:r>
                        <a:rPr lang="ko-KR" altLang="en-US" dirty="0" smtClean="0"/>
                        <a:t>요소</a:t>
                      </a:r>
                      <a:endParaRPr lang="ko-KR" altLang="en-US" dirty="0"/>
                    </a:p>
                  </a:txBody>
                  <a:tcPr anchor="ctr"/>
                </a:tc>
                <a:tc>
                  <a:txBody>
                    <a:bodyPr/>
                    <a:lstStyle/>
                    <a:p>
                      <a:pPr algn="ctr" latinLnBrk="1"/>
                      <a:r>
                        <a:rPr lang="ko-KR" altLang="en-US" dirty="0" smtClean="0"/>
                        <a:t>설명</a:t>
                      </a:r>
                      <a:endParaRPr lang="ko-KR" altLang="en-US" dirty="0"/>
                    </a:p>
                  </a:txBody>
                  <a:tcPr anchor="ctr"/>
                </a:tc>
                <a:tc>
                  <a:txBody>
                    <a:bodyPr/>
                    <a:lstStyle/>
                    <a:p>
                      <a:pPr algn="ctr" latinLnBrk="1"/>
                      <a:r>
                        <a:rPr lang="ko-KR" altLang="en-US" dirty="0" smtClean="0"/>
                        <a:t>비고</a:t>
                      </a:r>
                      <a:endParaRPr lang="ko-KR" altLang="en-US" dirty="0"/>
                    </a:p>
                  </a:txBody>
                  <a:tcPr anchor="ctr"/>
                </a:tc>
                <a:extLst>
                  <a:ext uri="{0D108BD9-81ED-4DB2-BD59-A6C34878D82A}">
                    <a16:rowId xmlns:a16="http://schemas.microsoft.com/office/drawing/2014/main" val="4217640868"/>
                  </a:ext>
                </a:extLst>
              </a:tr>
              <a:tr h="612670">
                <a:tc>
                  <a:txBody>
                    <a:bodyPr/>
                    <a:lstStyle/>
                    <a:p>
                      <a:pPr algn="ctr" latinLnBrk="1"/>
                      <a:r>
                        <a:rPr lang="ko-KR" altLang="en-US" b="1" dirty="0" smtClean="0"/>
                        <a:t>시간</a:t>
                      </a:r>
                      <a:endParaRPr lang="ko-KR" altLang="en-US" b="1" dirty="0"/>
                    </a:p>
                  </a:txBody>
                  <a:tcPr anchor="ctr"/>
                </a:tc>
                <a:tc>
                  <a:txBody>
                    <a:bodyPr/>
                    <a:lstStyle/>
                    <a:p>
                      <a:pPr algn="l" latinLnBrk="1"/>
                      <a:r>
                        <a:rPr lang="en-US" altLang="ko-KR" sz="1700" dirty="0" smtClean="0"/>
                        <a:t>- </a:t>
                      </a:r>
                      <a:r>
                        <a:rPr lang="ko-KR" altLang="en-US" sz="1700" dirty="0" smtClean="0"/>
                        <a:t>게임은 하루를 기준으로 돌아간다</a:t>
                      </a:r>
                      <a:r>
                        <a:rPr lang="en-US" altLang="ko-KR" sz="1700" dirty="0" smtClean="0"/>
                        <a:t>.</a:t>
                      </a:r>
                      <a:endParaRPr lang="ko-KR" altLang="en-US" sz="1700" dirty="0"/>
                    </a:p>
                  </a:txBody>
                  <a:tcPr anchor="ctr"/>
                </a:tc>
                <a:tc>
                  <a:txBody>
                    <a:bodyPr/>
                    <a:lstStyle/>
                    <a:p>
                      <a:pPr algn="l" latinLnBrk="1"/>
                      <a:endParaRPr lang="ko-KR" altLang="en-US" dirty="0"/>
                    </a:p>
                  </a:txBody>
                  <a:tcPr anchor="ctr"/>
                </a:tc>
                <a:extLst>
                  <a:ext uri="{0D108BD9-81ED-4DB2-BD59-A6C34878D82A}">
                    <a16:rowId xmlns:a16="http://schemas.microsoft.com/office/drawing/2014/main" val="10001"/>
                  </a:ext>
                </a:extLst>
              </a:tr>
              <a:tr h="612670">
                <a:tc>
                  <a:txBody>
                    <a:bodyPr/>
                    <a:lstStyle/>
                    <a:p>
                      <a:pPr algn="ctr" latinLnBrk="1"/>
                      <a:r>
                        <a:rPr lang="ko-KR" altLang="en-US" b="1" dirty="0" err="1" smtClean="0"/>
                        <a:t>범죄율</a:t>
                      </a:r>
                      <a:endParaRPr lang="ko-KR" altLang="en-US" b="1" dirty="0"/>
                    </a:p>
                  </a:txBody>
                  <a:tcPr anchor="ctr"/>
                </a:tc>
                <a:tc>
                  <a:txBody>
                    <a:bodyPr/>
                    <a:lstStyle/>
                    <a:p>
                      <a:pPr algn="l" latinLnBrk="1"/>
                      <a:r>
                        <a:rPr lang="en-US" altLang="ko-KR" sz="1700" dirty="0" smtClean="0"/>
                        <a:t>- </a:t>
                      </a:r>
                      <a:r>
                        <a:rPr lang="ko-KR" altLang="en-US" sz="1700" dirty="0" smtClean="0"/>
                        <a:t>도시의 현재 </a:t>
                      </a:r>
                      <a:r>
                        <a:rPr lang="ko-KR" altLang="en-US" sz="1700" dirty="0" err="1" smtClean="0"/>
                        <a:t>범죄율을</a:t>
                      </a:r>
                      <a:r>
                        <a:rPr lang="ko-KR" altLang="en-US" sz="1700" dirty="0" smtClean="0"/>
                        <a:t> 나타내는 수치</a:t>
                      </a:r>
                      <a:endParaRPr lang="en-US" altLang="ko-KR" sz="1700" dirty="0" smtClean="0"/>
                    </a:p>
                    <a:p>
                      <a:pPr algn="l" latinLnBrk="1"/>
                      <a:r>
                        <a:rPr lang="en-US" altLang="ko-KR" sz="1700" dirty="0" smtClean="0"/>
                        <a:t>- </a:t>
                      </a:r>
                      <a:r>
                        <a:rPr lang="ko-KR" altLang="en-US" sz="1700" dirty="0" smtClean="0"/>
                        <a:t>각종 이벤트에 따라 증가</a:t>
                      </a:r>
                      <a:r>
                        <a:rPr lang="en-US" altLang="ko-KR" sz="1700" dirty="0" smtClean="0"/>
                        <a:t>, </a:t>
                      </a:r>
                      <a:r>
                        <a:rPr lang="ko-KR" altLang="en-US" sz="1700" dirty="0" smtClean="0"/>
                        <a:t>감소한다</a:t>
                      </a:r>
                      <a:endParaRPr lang="ko-KR" altLang="en-US" sz="1700" dirty="0"/>
                    </a:p>
                  </a:txBody>
                  <a:tcPr anchor="ctr"/>
                </a:tc>
                <a:tc>
                  <a:txBody>
                    <a:bodyPr/>
                    <a:lstStyle/>
                    <a:p>
                      <a:pPr algn="l" latinLnBrk="1"/>
                      <a:r>
                        <a:rPr lang="en-US" altLang="ko-KR" sz="1700" dirty="0" smtClean="0"/>
                        <a:t>0 </a:t>
                      </a:r>
                      <a:r>
                        <a:rPr lang="ko-KR" altLang="en-US" sz="1700" dirty="0" smtClean="0"/>
                        <a:t>이 되면 승리</a:t>
                      </a:r>
                      <a:endParaRPr lang="en-US" altLang="ko-KR" sz="1700" dirty="0" smtClean="0"/>
                    </a:p>
                    <a:p>
                      <a:pPr algn="l" latinLnBrk="1"/>
                      <a:r>
                        <a:rPr lang="en-US" altLang="ko-KR" sz="1700" dirty="0" smtClean="0"/>
                        <a:t>100 </a:t>
                      </a:r>
                      <a:r>
                        <a:rPr lang="ko-KR" altLang="en-US" sz="1700" dirty="0" smtClean="0"/>
                        <a:t>이 되면 패배</a:t>
                      </a:r>
                      <a:endParaRPr lang="ko-KR" altLang="en-US" sz="1700" dirty="0"/>
                    </a:p>
                  </a:txBody>
                  <a:tcPr anchor="ctr"/>
                </a:tc>
                <a:extLst>
                  <a:ext uri="{0D108BD9-81ED-4DB2-BD59-A6C34878D82A}">
                    <a16:rowId xmlns:a16="http://schemas.microsoft.com/office/drawing/2014/main" val="1447082540"/>
                  </a:ext>
                </a:extLst>
              </a:tr>
              <a:tr h="564802">
                <a:tc>
                  <a:txBody>
                    <a:bodyPr/>
                    <a:lstStyle/>
                    <a:p>
                      <a:pPr algn="ctr" latinLnBrk="1"/>
                      <a:r>
                        <a:rPr lang="ko-KR" altLang="en-US" b="1" dirty="0" smtClean="0"/>
                        <a:t>명성</a:t>
                      </a:r>
                      <a:endParaRPr lang="ko-KR" altLang="en-US" b="1" dirty="0"/>
                    </a:p>
                  </a:txBody>
                  <a:tcPr anchor="ctr"/>
                </a:tc>
                <a:tc>
                  <a:txBody>
                    <a:bodyPr/>
                    <a:lstStyle/>
                    <a:p>
                      <a:pPr algn="l" latinLnBrk="1"/>
                      <a:r>
                        <a:rPr lang="en-US" altLang="ko-KR" sz="1700" dirty="0" smtClean="0"/>
                        <a:t>- </a:t>
                      </a:r>
                      <a:r>
                        <a:rPr lang="ko-KR" altLang="en-US" sz="1700" dirty="0" smtClean="0"/>
                        <a:t>특수 경찰관으로서의 명성을 나타내는 수치</a:t>
                      </a:r>
                      <a:endParaRPr lang="en-US" altLang="ko-KR" sz="1700" dirty="0" smtClean="0"/>
                    </a:p>
                    <a:p>
                      <a:pPr algn="l" latinLnBrk="1"/>
                      <a:r>
                        <a:rPr lang="en-US" altLang="ko-KR" sz="1700" dirty="0" smtClean="0"/>
                        <a:t>- </a:t>
                      </a:r>
                      <a:r>
                        <a:rPr lang="ko-KR" altLang="en-US" sz="1700" dirty="0" smtClean="0"/>
                        <a:t>수치의 고저가 게임 플레이에 영향을 준다</a:t>
                      </a:r>
                      <a:endParaRPr lang="ko-KR" altLang="en-US" sz="1700" dirty="0"/>
                    </a:p>
                  </a:txBody>
                  <a:tcPr anchor="ctr"/>
                </a:tc>
                <a:tc>
                  <a:txBody>
                    <a:bodyPr/>
                    <a:lstStyle/>
                    <a:p>
                      <a:pPr algn="l" latinLnBrk="1"/>
                      <a:r>
                        <a:rPr lang="en-US" altLang="ko-KR" sz="1700" dirty="0" smtClean="0"/>
                        <a:t>0 </a:t>
                      </a:r>
                      <a:r>
                        <a:rPr lang="ko-KR" altLang="en-US" sz="1700" dirty="0" smtClean="0"/>
                        <a:t>이 되면 패배</a:t>
                      </a:r>
                      <a:endParaRPr lang="ko-KR" altLang="en-US" sz="1700" dirty="0"/>
                    </a:p>
                  </a:txBody>
                  <a:tcPr anchor="ctr"/>
                </a:tc>
                <a:extLst>
                  <a:ext uri="{0D108BD9-81ED-4DB2-BD59-A6C34878D82A}">
                    <a16:rowId xmlns:a16="http://schemas.microsoft.com/office/drawing/2014/main" val="1166069635"/>
                  </a:ext>
                </a:extLst>
              </a:tr>
              <a:tr h="564802">
                <a:tc>
                  <a:txBody>
                    <a:bodyPr/>
                    <a:lstStyle/>
                    <a:p>
                      <a:pPr algn="ctr" latinLnBrk="1"/>
                      <a:r>
                        <a:rPr lang="ko-KR" altLang="en-US" b="1" dirty="0" smtClean="0"/>
                        <a:t>자금</a:t>
                      </a:r>
                      <a:endParaRPr lang="ko-KR" altLang="en-US" b="1" dirty="0"/>
                    </a:p>
                  </a:txBody>
                  <a:tcPr anchor="ctr"/>
                </a:tc>
                <a:tc>
                  <a:txBody>
                    <a:bodyPr/>
                    <a:lstStyle/>
                    <a:p>
                      <a:pPr algn="l" latinLnBrk="1"/>
                      <a:r>
                        <a:rPr lang="en-US" altLang="ko-KR" sz="1700" dirty="0" smtClean="0"/>
                        <a:t>- </a:t>
                      </a:r>
                      <a:r>
                        <a:rPr lang="ko-KR" altLang="en-US" sz="1700" dirty="0" smtClean="0"/>
                        <a:t>플레이어가 사용 가능한 돈의 수치</a:t>
                      </a:r>
                      <a:endParaRPr lang="en-US" altLang="ko-KR" sz="1700" dirty="0" smtClean="0"/>
                    </a:p>
                    <a:p>
                      <a:pPr algn="l" latinLnBrk="1"/>
                      <a:r>
                        <a:rPr lang="en-US" altLang="ko-KR" sz="1700" dirty="0" smtClean="0"/>
                        <a:t>- </a:t>
                      </a:r>
                      <a:r>
                        <a:rPr lang="ko-KR" altLang="en-US" sz="1700" dirty="0" smtClean="0"/>
                        <a:t>각종 장비를 구입하거나 업그레이드 할 수 있다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2270031616"/>
                  </a:ext>
                </a:extLst>
              </a:tr>
              <a:tr h="564802">
                <a:tc>
                  <a:txBody>
                    <a:bodyPr/>
                    <a:lstStyle/>
                    <a:p>
                      <a:pPr algn="ctr" latinLnBrk="1"/>
                      <a:r>
                        <a:rPr lang="ko-KR" altLang="en-US" b="1" dirty="0" err="1" smtClean="0"/>
                        <a:t>행동력</a:t>
                      </a:r>
                      <a:endParaRPr lang="ko-KR" altLang="en-US" b="1" dirty="0"/>
                    </a:p>
                  </a:txBody>
                  <a:tcPr anchor="ctr"/>
                </a:tc>
                <a:tc>
                  <a:txBody>
                    <a:bodyPr/>
                    <a:lstStyle/>
                    <a:p>
                      <a:pPr algn="l" latinLnBrk="1"/>
                      <a:r>
                        <a:rPr lang="en-US" altLang="ko-KR" sz="1700" dirty="0" smtClean="0"/>
                        <a:t>- </a:t>
                      </a:r>
                      <a:r>
                        <a:rPr lang="ko-KR" altLang="en-US" sz="1700" dirty="0" smtClean="0"/>
                        <a:t>한 사건에서 행동</a:t>
                      </a:r>
                      <a:r>
                        <a:rPr lang="en-US" altLang="ko-KR" sz="1700" dirty="0" smtClean="0"/>
                        <a:t>(</a:t>
                      </a:r>
                      <a:r>
                        <a:rPr lang="ko-KR" altLang="en-US" sz="1700" dirty="0" smtClean="0"/>
                        <a:t>수사</a:t>
                      </a:r>
                      <a:r>
                        <a:rPr lang="en-US" altLang="ko-KR" sz="1700" dirty="0" smtClean="0"/>
                        <a:t>, </a:t>
                      </a:r>
                      <a:r>
                        <a:rPr lang="ko-KR" altLang="en-US" sz="1700" dirty="0" smtClean="0"/>
                        <a:t>탐색</a:t>
                      </a:r>
                      <a:r>
                        <a:rPr lang="en-US" altLang="ko-KR" sz="1700" dirty="0" smtClean="0"/>
                        <a:t>, </a:t>
                      </a:r>
                      <a:r>
                        <a:rPr lang="ko-KR" altLang="en-US" sz="1700" dirty="0" smtClean="0"/>
                        <a:t>설득 등</a:t>
                      </a:r>
                      <a:r>
                        <a:rPr lang="en-US" altLang="ko-KR" sz="1700" dirty="0" smtClean="0"/>
                        <a:t>) </a:t>
                      </a:r>
                      <a:r>
                        <a:rPr lang="ko-KR" altLang="en-US" sz="1700" dirty="0" smtClean="0"/>
                        <a:t>할 수 있는 한계치</a:t>
                      </a:r>
                      <a:endParaRPr lang="en-US" altLang="ko-KR" sz="1700" dirty="0" smtClean="0"/>
                    </a:p>
                    <a:p>
                      <a:pPr algn="l" latinLnBrk="1"/>
                      <a:r>
                        <a:rPr lang="en-US" altLang="ko-KR" sz="1700" dirty="0" smtClean="0"/>
                        <a:t>- </a:t>
                      </a:r>
                      <a:r>
                        <a:rPr lang="ko-KR" altLang="en-US" sz="1700" dirty="0" smtClean="0"/>
                        <a:t>매 행동 마다 </a:t>
                      </a:r>
                      <a:r>
                        <a:rPr lang="ko-KR" altLang="en-US" sz="1700" dirty="0" err="1" smtClean="0"/>
                        <a:t>행동력을</a:t>
                      </a:r>
                      <a:r>
                        <a:rPr lang="ko-KR" altLang="en-US" sz="1700" dirty="0" smtClean="0"/>
                        <a:t> 소모하여 실행된다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3714715161"/>
                  </a:ext>
                </a:extLst>
              </a:tr>
              <a:tr h="564802">
                <a:tc>
                  <a:txBody>
                    <a:bodyPr/>
                    <a:lstStyle/>
                    <a:p>
                      <a:pPr algn="ctr" latinLnBrk="1"/>
                      <a:r>
                        <a:rPr lang="ko-KR" altLang="en-US" b="1" dirty="0" smtClean="0"/>
                        <a:t>특성</a:t>
                      </a:r>
                      <a:endParaRPr lang="ko-KR" altLang="en-US" b="1" dirty="0"/>
                    </a:p>
                  </a:txBody>
                  <a:tcPr anchor="ctr"/>
                </a:tc>
                <a:tc>
                  <a:txBody>
                    <a:bodyPr/>
                    <a:lstStyle/>
                    <a:p>
                      <a:pPr algn="l" latinLnBrk="1"/>
                      <a:r>
                        <a:rPr lang="en-US" altLang="ko-KR" sz="1700" dirty="0" smtClean="0"/>
                        <a:t>- </a:t>
                      </a:r>
                      <a:r>
                        <a:rPr lang="ko-KR" altLang="en-US" sz="1700" dirty="0" smtClean="0"/>
                        <a:t>플레이를 통해 얻은 특성 포인트로 배울 수 있다</a:t>
                      </a:r>
                      <a:endParaRPr lang="en-US" altLang="ko-KR" sz="1700" dirty="0" smtClean="0"/>
                    </a:p>
                    <a:p>
                      <a:pPr algn="l" latinLnBrk="1"/>
                      <a:r>
                        <a:rPr lang="en-US" altLang="ko-KR" sz="1700" dirty="0" smtClean="0"/>
                        <a:t>- </a:t>
                      </a:r>
                      <a:r>
                        <a:rPr lang="ko-KR" altLang="en-US" sz="1700" dirty="0" smtClean="0"/>
                        <a:t>게임 플레이에 도움을 주는 효과를 가지고 있다</a:t>
                      </a:r>
                      <a:endParaRPr lang="ko-KR" altLang="en-US" sz="1700" dirty="0"/>
                    </a:p>
                  </a:txBody>
                  <a:tcPr anchor="ctr"/>
                </a:tc>
                <a:tc>
                  <a:txBody>
                    <a:bodyPr/>
                    <a:lstStyle/>
                    <a:p>
                      <a:pPr algn="l" latinLnBrk="1"/>
                      <a:r>
                        <a:rPr lang="ko-KR" altLang="en-US" sz="1700" dirty="0" smtClean="0"/>
                        <a:t>최대 </a:t>
                      </a:r>
                      <a:r>
                        <a:rPr lang="en-US" altLang="ko-KR" sz="1700" dirty="0" smtClean="0"/>
                        <a:t>3</a:t>
                      </a:r>
                      <a:r>
                        <a:rPr lang="ko-KR" altLang="en-US" sz="1700" dirty="0" smtClean="0"/>
                        <a:t>가지 사용 가능</a:t>
                      </a:r>
                      <a:endParaRPr lang="ko-KR" altLang="en-US" sz="1700" dirty="0"/>
                    </a:p>
                  </a:txBody>
                  <a:tcPr anchor="ctr"/>
                </a:tc>
                <a:extLst>
                  <a:ext uri="{0D108BD9-81ED-4DB2-BD59-A6C34878D82A}">
                    <a16:rowId xmlns:a16="http://schemas.microsoft.com/office/drawing/2014/main" val="1529809939"/>
                  </a:ext>
                </a:extLst>
              </a:tr>
              <a:tr h="564759">
                <a:tc>
                  <a:txBody>
                    <a:bodyPr/>
                    <a:lstStyle/>
                    <a:p>
                      <a:pPr algn="ctr" latinLnBrk="1"/>
                      <a:r>
                        <a:rPr lang="ko-KR" altLang="en-US" b="1" dirty="0" smtClean="0"/>
                        <a:t>스킬 체크</a:t>
                      </a:r>
                      <a:endParaRPr lang="ko-KR" altLang="en-US" b="1" dirty="0"/>
                    </a:p>
                  </a:txBody>
                  <a:tcPr anchor="ctr"/>
                </a:tc>
                <a:tc>
                  <a:txBody>
                    <a:bodyPr/>
                    <a:lstStyle/>
                    <a:p>
                      <a:pPr algn="l" latinLnBrk="1"/>
                      <a:r>
                        <a:rPr lang="en-US" altLang="ko-KR" sz="1700" dirty="0" smtClean="0"/>
                        <a:t>- </a:t>
                      </a:r>
                      <a:r>
                        <a:rPr lang="ko-KR" altLang="en-US" sz="1700" dirty="0" smtClean="0"/>
                        <a:t>수사</a:t>
                      </a:r>
                      <a:r>
                        <a:rPr lang="en-US" altLang="ko-KR" sz="1700" dirty="0" smtClean="0"/>
                        <a:t>, </a:t>
                      </a:r>
                      <a:r>
                        <a:rPr lang="ko-KR" altLang="en-US" sz="1700" dirty="0" smtClean="0"/>
                        <a:t>심문</a:t>
                      </a:r>
                      <a:r>
                        <a:rPr lang="en-US" altLang="ko-KR" sz="1700" dirty="0" smtClean="0"/>
                        <a:t>, </a:t>
                      </a:r>
                      <a:r>
                        <a:rPr lang="ko-KR" altLang="en-US" sz="1700" dirty="0" smtClean="0"/>
                        <a:t>탐색 등 행동 전반에 걸쳐 사용되는 기능</a:t>
                      </a:r>
                      <a:endParaRPr lang="en-US" altLang="ko-KR" sz="1700" dirty="0" smtClean="0"/>
                    </a:p>
                  </a:txBody>
                  <a:tcPr anchor="ctr"/>
                </a:tc>
                <a:tc>
                  <a:txBody>
                    <a:bodyPr/>
                    <a:lstStyle/>
                    <a:p>
                      <a:pPr algn="l" latinLnBrk="1"/>
                      <a:r>
                        <a:rPr lang="ko-KR" altLang="en-US" sz="1700" dirty="0" smtClean="0"/>
                        <a:t>성공</a:t>
                      </a:r>
                      <a:r>
                        <a:rPr lang="en-US" altLang="ko-KR" sz="1700" dirty="0" smtClean="0"/>
                        <a:t>, </a:t>
                      </a:r>
                      <a:r>
                        <a:rPr lang="ko-KR" altLang="en-US" sz="1700" dirty="0" smtClean="0"/>
                        <a:t>실패</a:t>
                      </a:r>
                      <a:r>
                        <a:rPr lang="en-US" altLang="ko-KR" sz="1700" dirty="0" smtClean="0"/>
                        <a:t>, </a:t>
                      </a:r>
                      <a:r>
                        <a:rPr lang="ko-KR" altLang="en-US" sz="1700" dirty="0" smtClean="0"/>
                        <a:t>대성공</a:t>
                      </a:r>
                      <a:endParaRPr lang="ko-KR" altLang="en-US" sz="1700" dirty="0"/>
                    </a:p>
                  </a:txBody>
                  <a:tcPr anchor="ctr"/>
                </a:tc>
                <a:extLst>
                  <a:ext uri="{0D108BD9-81ED-4DB2-BD59-A6C34878D82A}">
                    <a16:rowId xmlns:a16="http://schemas.microsoft.com/office/drawing/2014/main" val="2358325592"/>
                  </a:ext>
                </a:extLst>
              </a:tr>
            </a:tbl>
          </a:graphicData>
        </a:graphic>
      </p:graphicFrame>
      <p:sp>
        <p:nvSpPr>
          <p:cNvPr id="3" name="슬라이드 번호 개체 틀 2"/>
          <p:cNvSpPr>
            <a:spLocks noGrp="1"/>
          </p:cNvSpPr>
          <p:nvPr>
            <p:ph type="sldNum" sz="quarter" idx="12"/>
          </p:nvPr>
        </p:nvSpPr>
        <p:spPr/>
        <p:txBody>
          <a:bodyPr/>
          <a:lstStyle/>
          <a:p>
            <a:fld id="{95F8FB6C-4300-4EF3-AEA9-23A98D8A74E1}" type="slidenum">
              <a:rPr lang="ko-KR" altLang="en-US" sz="1800" smtClean="0"/>
              <a:t>98</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4805585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99</a:t>
            </a:fld>
            <a:endParaRPr lang="ko-KR" altLang="en-US" sz="1800" dirty="0"/>
          </a:p>
        </p:txBody>
      </p:sp>
      <p:sp>
        <p:nvSpPr>
          <p:cNvPr id="39" name="곱셈 기호 3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24940028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탐험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03203" y="1596326"/>
            <a:ext cx="5604329" cy="4524315"/>
          </a:xfrm>
          <a:prstGeom prst="rect">
            <a:avLst/>
          </a:prstGeom>
          <a:noFill/>
        </p:spPr>
        <p:txBody>
          <a:bodyPr wrap="square" rtlCol="0">
            <a:spAutoFit/>
          </a:bodyPr>
          <a:lstStyle/>
          <a:p>
            <a:r>
              <a:rPr lang="en-US" altLang="ko-KR" sz="2400" dirty="0" smtClean="0"/>
              <a:t>• </a:t>
            </a:r>
            <a:r>
              <a:rPr lang="ko-KR" altLang="ko-KR" sz="2400" dirty="0" smtClean="0"/>
              <a:t>플레이</a:t>
            </a:r>
            <a:r>
              <a:rPr lang="ko-KR" altLang="en-US" sz="2400" dirty="0" smtClean="0"/>
              <a:t>어가 캐릭터를 선택하면 탐험이 시작됩니다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던전은 입구부터 </a:t>
            </a:r>
            <a:r>
              <a:rPr lang="ko-KR" altLang="en-US" sz="2400" dirty="0" err="1" smtClean="0"/>
              <a:t>최심부까지</a:t>
            </a:r>
            <a:r>
              <a:rPr lang="ko-KR" altLang="en-US" sz="2400" dirty="0" smtClean="0"/>
              <a:t> 이어져있으며</a:t>
            </a:r>
            <a:r>
              <a:rPr lang="en-US" altLang="ko-KR" sz="2400" dirty="0" smtClean="0"/>
              <a:t>, </a:t>
            </a:r>
            <a:r>
              <a:rPr lang="ko-KR" altLang="en-US" sz="2400" dirty="0" smtClean="0"/>
              <a:t>한 번에 하나의 방을 탐험할 수 있습니다</a:t>
            </a:r>
            <a:r>
              <a:rPr lang="en-US" altLang="ko-KR" sz="2400" dirty="0" smtClean="0"/>
              <a:t>.</a:t>
            </a:r>
          </a:p>
          <a:p>
            <a:endParaRPr lang="en-US" altLang="ko-KR" sz="2400" dirty="0" smtClean="0"/>
          </a:p>
          <a:p>
            <a:r>
              <a:rPr lang="en-US" altLang="ko-KR" sz="2400" dirty="0"/>
              <a:t>• </a:t>
            </a:r>
            <a:r>
              <a:rPr lang="ko-KR" altLang="en-US" sz="2400" dirty="0"/>
              <a:t>한번 클리어한 방을 다시 클리어할 수는 </a:t>
            </a:r>
            <a:r>
              <a:rPr lang="ko-KR" altLang="en-US" sz="2400" dirty="0" smtClean="0"/>
              <a:t>없습니다</a:t>
            </a:r>
            <a:r>
              <a:rPr lang="en-US" altLang="ko-KR" sz="2400" dirty="0" smtClean="0"/>
              <a:t>.</a:t>
            </a:r>
            <a:endParaRPr lang="en-US" altLang="ko-KR" sz="2400" dirty="0"/>
          </a:p>
          <a:p>
            <a:r>
              <a:rPr lang="en-US" altLang="ko-KR" sz="2400" dirty="0"/>
              <a:t/>
            </a:r>
            <a:br>
              <a:rPr lang="en-US" altLang="ko-KR" sz="2400" dirty="0"/>
            </a:br>
            <a:r>
              <a:rPr lang="en-US" altLang="ko-KR" sz="2400" dirty="0"/>
              <a:t>•</a:t>
            </a:r>
            <a:r>
              <a:rPr lang="en-US" altLang="ko-KR" sz="2400" dirty="0" smtClean="0"/>
              <a:t> </a:t>
            </a:r>
            <a:r>
              <a:rPr lang="ko-KR" altLang="en-US" sz="2400" dirty="0" smtClean="0"/>
              <a:t>던전의 </a:t>
            </a:r>
            <a:r>
              <a:rPr lang="ko-KR" altLang="en-US" sz="2400" dirty="0" err="1" smtClean="0"/>
              <a:t>최심부를</a:t>
            </a:r>
            <a:r>
              <a:rPr lang="ko-KR" altLang="en-US" sz="2400" dirty="0" smtClean="0"/>
              <a:t> 클리어하는 것이 목표입니다</a:t>
            </a:r>
            <a:r>
              <a:rPr lang="en-US" altLang="ko-KR" sz="2400"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100</a:t>
            </a:fld>
            <a:endParaRPr lang="ko-KR" altLang="en-US" sz="1800" dirty="0"/>
          </a:p>
        </p:txBody>
      </p:sp>
      <p:pic>
        <p:nvPicPr>
          <p:cNvPr id="3" name="그림 2"/>
          <p:cNvPicPr>
            <a:picLocks noChangeAspect="1"/>
          </p:cNvPicPr>
          <p:nvPr/>
        </p:nvPicPr>
        <p:blipFill>
          <a:blip r:embed="rId2"/>
          <a:stretch>
            <a:fillRect/>
          </a:stretch>
        </p:blipFill>
        <p:spPr>
          <a:xfrm>
            <a:off x="6095999" y="1849971"/>
            <a:ext cx="5836845" cy="3278361"/>
          </a:xfrm>
          <a:prstGeom prst="rect">
            <a:avLst/>
          </a:prstGeom>
        </p:spPr>
      </p:pic>
      <p:sp>
        <p:nvSpPr>
          <p:cNvPr id="9" name="TextBox 8"/>
          <p:cNvSpPr txBox="1"/>
          <p:nvPr/>
        </p:nvSpPr>
        <p:spPr>
          <a:xfrm>
            <a:off x="8075717" y="5128332"/>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2" name="곱셈 기호 1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133704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54909" y="1340223"/>
            <a:ext cx="5039181" cy="2677656"/>
          </a:xfrm>
          <a:prstGeom prst="rect">
            <a:avLst/>
          </a:prstGeom>
          <a:noFill/>
        </p:spPr>
        <p:txBody>
          <a:bodyPr wrap="square" rtlCol="0">
            <a:spAutoFit/>
          </a:bodyPr>
          <a:lstStyle/>
          <a:p>
            <a:r>
              <a:rPr lang="en-US" altLang="ko-KR" sz="2400" dirty="0"/>
              <a:t>• </a:t>
            </a:r>
            <a:r>
              <a:rPr lang="ko-KR" altLang="en-US" sz="2400" dirty="0" smtClean="0"/>
              <a:t>아군 캐릭터와 적 몬스터의 최대 </a:t>
            </a:r>
            <a:r>
              <a:rPr lang="en-US" altLang="ko-KR" sz="2400" dirty="0" smtClean="0"/>
              <a:t>4:4 </a:t>
            </a:r>
            <a:r>
              <a:rPr lang="ko-KR" altLang="en-US" sz="2400" dirty="0" smtClean="0"/>
              <a:t>전투로 진행됩니다</a:t>
            </a:r>
            <a:r>
              <a:rPr lang="en-US" altLang="ko-KR" sz="2400" dirty="0" smtClean="0"/>
              <a:t>.</a:t>
            </a:r>
          </a:p>
          <a:p>
            <a:r>
              <a:rPr lang="en-US" altLang="ko-KR" sz="2400" dirty="0" smtClean="0"/>
              <a:t/>
            </a:r>
            <a:br>
              <a:rPr lang="en-US" altLang="ko-KR" sz="2400" dirty="0" smtClean="0"/>
            </a:br>
            <a:r>
              <a:rPr lang="en-US" altLang="ko-KR" sz="2400" dirty="0"/>
              <a:t>• </a:t>
            </a:r>
            <a:r>
              <a:rPr lang="ko-KR" altLang="en-US" sz="2400" dirty="0" smtClean="0"/>
              <a:t>아군부터</a:t>
            </a:r>
            <a:r>
              <a:rPr lang="en-US" altLang="ko-KR" sz="2400" dirty="0" smtClean="0"/>
              <a:t>, </a:t>
            </a:r>
            <a:r>
              <a:rPr lang="ko-KR" altLang="en-US" sz="2400" dirty="0" smtClean="0"/>
              <a:t>가장 왼쪽 캐릭터부터  시작하여</a:t>
            </a:r>
            <a:r>
              <a:rPr lang="en-US" altLang="ko-KR" sz="2400" dirty="0" smtClean="0"/>
              <a:t>, </a:t>
            </a:r>
            <a:r>
              <a:rPr lang="ko-KR" altLang="en-US" sz="2400" dirty="0" smtClean="0"/>
              <a:t>차례대로 한 진영의 모든 캐릭터가 행동을 마치면 차례가 넘어갑니다</a:t>
            </a:r>
            <a:r>
              <a:rPr lang="en-US" altLang="ko-KR" sz="2400" dirty="0" smtClean="0"/>
              <a:t>.</a:t>
            </a:r>
            <a:endParaRPr lang="en-US"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101</a:t>
            </a:fld>
            <a:endParaRPr lang="ko-KR" altLang="en-US" sz="1800" dirty="0"/>
          </a:p>
        </p:txBody>
      </p:sp>
      <p:pic>
        <p:nvPicPr>
          <p:cNvPr id="1026" name="Picture 2" descr="https://steamcdn-a.akamaihd.net/steam/apps/503560/ss_ec620eea4998f7ad180bf5b762ea606830c1af2f.600x338.jpg?t=15318411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1812752"/>
            <a:ext cx="5715000" cy="320992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8014795" y="50256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7</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3" name="곱셈 기호 12"/>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7007944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육성</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35480" y="1559202"/>
            <a:ext cx="5642809" cy="3416320"/>
          </a:xfrm>
          <a:prstGeom prst="rect">
            <a:avLst/>
          </a:prstGeom>
          <a:noFill/>
        </p:spPr>
        <p:txBody>
          <a:bodyPr wrap="square" rtlCol="0">
            <a:spAutoFit/>
          </a:bodyPr>
          <a:lstStyle/>
          <a:p>
            <a:r>
              <a:rPr lang="en-US" altLang="ko-KR" sz="2400" dirty="0"/>
              <a:t>• </a:t>
            </a:r>
            <a:r>
              <a:rPr lang="ko-KR" altLang="en-US" sz="2400" dirty="0" smtClean="0"/>
              <a:t>아군 캐릭터들은 전투를 통해 경험치를 획득하고</a:t>
            </a:r>
            <a:r>
              <a:rPr lang="en-US" altLang="ko-KR" sz="2400" dirty="0" smtClean="0"/>
              <a:t>, </a:t>
            </a:r>
            <a:r>
              <a:rPr lang="ko-KR" altLang="en-US" sz="2400" dirty="0" smtClean="0"/>
              <a:t>일정한 경험치를 만족하면 </a:t>
            </a:r>
            <a:r>
              <a:rPr lang="ko-KR" altLang="en-US" sz="2400" dirty="0" err="1" smtClean="0"/>
              <a:t>레벨업</a:t>
            </a:r>
            <a:r>
              <a:rPr lang="ko-KR" altLang="en-US" sz="2400" dirty="0" smtClean="0"/>
              <a:t> 하여 성장합니다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동일한 몬스터를 재료로 사용하여 특정 몬스터를 강화할 수 있습니다</a:t>
            </a:r>
            <a:r>
              <a:rPr lang="en-US" altLang="ko-KR" sz="2400" dirty="0" smtClean="0"/>
              <a:t>.</a:t>
            </a:r>
          </a:p>
          <a:p>
            <a:endParaRPr lang="en-US" altLang="ko-KR" sz="2400" dirty="0"/>
          </a:p>
          <a:p>
            <a:r>
              <a:rPr lang="en-US" altLang="ko-KR" sz="2400" dirty="0"/>
              <a:t>• </a:t>
            </a:r>
            <a:r>
              <a:rPr lang="ko-KR" altLang="en-US" sz="2400" dirty="0" smtClean="0"/>
              <a:t>캐릭터에게 아이템을 </a:t>
            </a:r>
            <a:r>
              <a:rPr lang="ko-KR" altLang="en-US" sz="2400" dirty="0" err="1" smtClean="0"/>
              <a:t>장비시켜</a:t>
            </a:r>
            <a:r>
              <a:rPr lang="ko-KR" altLang="en-US" sz="2400" dirty="0" smtClean="0"/>
              <a:t> 능력을 향상시킬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102</a:t>
            </a:fld>
            <a:endParaRPr lang="ko-KR" altLang="en-US" sz="1800" dirty="0"/>
          </a:p>
        </p:txBody>
      </p:sp>
      <p:pic>
        <p:nvPicPr>
          <p:cNvPr id="5" name="그림 4"/>
          <p:cNvPicPr>
            <a:picLocks noChangeAspect="1"/>
          </p:cNvPicPr>
          <p:nvPr/>
        </p:nvPicPr>
        <p:blipFill>
          <a:blip r:embed="rId2"/>
          <a:stretch>
            <a:fillRect/>
          </a:stretch>
        </p:blipFill>
        <p:spPr>
          <a:xfrm>
            <a:off x="6076949" y="1844063"/>
            <a:ext cx="5715000" cy="3209925"/>
          </a:xfrm>
          <a:prstGeom prst="rect">
            <a:avLst/>
          </a:prstGeom>
        </p:spPr>
      </p:pic>
      <p:sp>
        <p:nvSpPr>
          <p:cNvPr id="12" name="TextBox 11"/>
          <p:cNvSpPr txBox="1"/>
          <p:nvPr/>
        </p:nvSpPr>
        <p:spPr>
          <a:xfrm>
            <a:off x="7995745" y="5041298"/>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8</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3" name="곱셈 기호 12"/>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9102953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41305" y="1894220"/>
            <a:ext cx="4845051" cy="3785652"/>
          </a:xfrm>
          <a:prstGeom prst="rect">
            <a:avLst/>
          </a:prstGeom>
          <a:noFill/>
        </p:spPr>
        <p:txBody>
          <a:bodyPr wrap="square" rtlCol="0">
            <a:spAutoFit/>
          </a:bodyPr>
          <a:lstStyle/>
          <a:p>
            <a:r>
              <a:rPr lang="en-US" altLang="ko-KR" sz="2400" dirty="0"/>
              <a:t>•</a:t>
            </a:r>
            <a:r>
              <a:rPr lang="en-US" altLang="ko-KR" sz="2400" dirty="0" smtClean="0"/>
              <a:t> </a:t>
            </a:r>
            <a:r>
              <a:rPr lang="ko-KR" altLang="en-US" sz="2400" dirty="0" smtClean="0"/>
              <a:t>캐릭터와 몬스터가 가진 능력과 스킬을 활용하여 다양한 전략을 사용할 수 있습니다</a:t>
            </a:r>
            <a:r>
              <a:rPr lang="en-US" altLang="ko-KR" sz="2400" dirty="0" smtClean="0"/>
              <a:t>.</a:t>
            </a:r>
          </a:p>
          <a:p>
            <a:endParaRPr lang="en-US" altLang="ko-KR" sz="2400" dirty="0"/>
          </a:p>
          <a:p>
            <a:r>
              <a:rPr lang="en-US" altLang="ko-KR" sz="2400" dirty="0"/>
              <a:t>•</a:t>
            </a:r>
            <a:r>
              <a:rPr lang="en-US" altLang="ko-KR" sz="2400" dirty="0" smtClean="0"/>
              <a:t> </a:t>
            </a:r>
            <a:r>
              <a:rPr lang="ko-KR" altLang="en-US" sz="2400" dirty="0" smtClean="0"/>
              <a:t>아이템으로 아군의 장점을 살리고 약점을 커버할 수 있습니다</a:t>
            </a:r>
            <a:r>
              <a:rPr lang="en-US" altLang="ko-KR" sz="2400" dirty="0" smtClean="0"/>
              <a:t>.</a:t>
            </a:r>
            <a:endParaRPr lang="en-US" altLang="ko-KR" sz="2400" dirty="0"/>
          </a:p>
          <a:p>
            <a:pPr marL="285750" indent="-285750">
              <a:buFontTx/>
              <a:buChar char="-"/>
            </a:pPr>
            <a:endParaRPr lang="en-US" altLang="ko-KR" sz="2400" dirty="0"/>
          </a:p>
          <a:p>
            <a:r>
              <a:rPr lang="en-US" altLang="ko-KR" sz="2400" dirty="0" smtClean="0"/>
              <a:t>• </a:t>
            </a:r>
            <a:r>
              <a:rPr lang="ko-KR" altLang="en-US" sz="2400" dirty="0" smtClean="0"/>
              <a:t>아군과 적의 상성을 파악하여 원하는 조합을 편성하고 전술을 펼칠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103</a:t>
            </a:fld>
            <a:endParaRPr lang="ko-KR" altLang="en-US" sz="1800" dirty="0"/>
          </a:p>
        </p:txBody>
      </p:sp>
      <p:pic>
        <p:nvPicPr>
          <p:cNvPr id="3" name="그림 2"/>
          <p:cNvPicPr>
            <a:picLocks noChangeAspect="1"/>
          </p:cNvPicPr>
          <p:nvPr/>
        </p:nvPicPr>
        <p:blipFill>
          <a:blip r:embed="rId2"/>
          <a:stretch>
            <a:fillRect/>
          </a:stretch>
        </p:blipFill>
        <p:spPr>
          <a:xfrm>
            <a:off x="6000750" y="1850852"/>
            <a:ext cx="5715000" cy="3209925"/>
          </a:xfrm>
          <a:prstGeom prst="rect">
            <a:avLst/>
          </a:prstGeom>
        </p:spPr>
      </p:pic>
      <p:sp>
        <p:nvSpPr>
          <p:cNvPr id="9" name="TextBox 8"/>
          <p:cNvSpPr txBox="1"/>
          <p:nvPr/>
        </p:nvSpPr>
        <p:spPr>
          <a:xfrm>
            <a:off x="7919546" y="50637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4" name="TextBox 13"/>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전략과 조합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곱셈 기호 10"/>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1811414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990973" y="771996"/>
            <a:ext cx="4210049"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세부 </a:t>
            </a:r>
            <a:r>
              <a:rPr lang="ko-KR" altLang="en-US" sz="3200" b="1" dirty="0">
                <a:gradFill>
                  <a:gsLst>
                    <a:gs pos="0">
                      <a:schemeClr val="tx1"/>
                    </a:gs>
                    <a:gs pos="100000">
                      <a:schemeClr val="tx1"/>
                    </a:gs>
                  </a:gsLst>
                  <a:lin ang="5400000" scaled="1"/>
                </a:gradFill>
                <a:latin typeface="맑은 고딕" panose="020B0503020000020004" pitchFamily="50" charset="-127"/>
              </a:rPr>
              <a:t>기획 </a:t>
            </a:r>
            <a:r>
              <a:rPr lang="ko-KR" altLang="en-US" sz="3200" b="1" dirty="0" smtClean="0">
                <a:gradFill>
                  <a:gsLst>
                    <a:gs pos="0">
                      <a:schemeClr val="tx1"/>
                    </a:gs>
                    <a:gs pos="100000">
                      <a:schemeClr val="tx1"/>
                    </a:gs>
                  </a:gsLst>
                  <a:lin ang="5400000" scaled="1"/>
                </a:gradFill>
                <a:latin typeface="맑은 고딕" panose="020B0503020000020004" pitchFamily="50" charset="-127"/>
              </a:rPr>
              <a:t>컨텐츠</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4" y="1392603"/>
            <a:ext cx="10869388" cy="4539704"/>
          </a:xfrm>
          <a:prstGeom prst="rect">
            <a:avLst/>
          </a:prstGeom>
          <a:noFill/>
        </p:spPr>
        <p:txBody>
          <a:bodyPr wrap="square" rtlCol="0">
            <a:spAutoFit/>
          </a:bodyPr>
          <a:lstStyle/>
          <a:p>
            <a:r>
              <a:rPr lang="ko-KR" altLang="en-US" sz="2000" u="sng" dirty="0" smtClean="0"/>
              <a:t>전투 시스템</a:t>
            </a:r>
            <a:r>
              <a:rPr lang="en-US" altLang="ko-KR" sz="2000" u="sng" dirty="0" smtClean="0"/>
              <a:t>, </a:t>
            </a:r>
            <a:r>
              <a:rPr lang="ko-KR" altLang="en-US" sz="2000" u="sng" dirty="0" smtClean="0"/>
              <a:t>육성 시스템</a:t>
            </a:r>
            <a:r>
              <a:rPr lang="ko-KR" altLang="ko-KR" sz="2000" u="sng" dirty="0" smtClean="0"/>
              <a:t>을 </a:t>
            </a:r>
            <a:r>
              <a:rPr lang="ko-KR" altLang="ko-KR" sz="2000" u="sng" dirty="0"/>
              <a:t>세부 기획 컨텐츠로 설정한다</a:t>
            </a:r>
            <a:r>
              <a:rPr lang="en-US" altLang="ko-KR" sz="2000" u="sng" dirty="0" smtClean="0"/>
              <a:t>.</a:t>
            </a:r>
            <a:br>
              <a:rPr lang="en-US" altLang="ko-KR" sz="2000" u="sng" dirty="0" smtClean="0"/>
            </a:br>
            <a:r>
              <a:rPr lang="en-US" altLang="ko-KR" sz="1100" u="sng" dirty="0" smtClean="0"/>
              <a:t/>
            </a:r>
            <a:br>
              <a:rPr lang="en-US" altLang="ko-KR" sz="1100" u="sng" dirty="0" smtClean="0"/>
            </a:br>
            <a:r>
              <a:rPr lang="ko-KR" altLang="en-US" sz="2000" u="sng" dirty="0" smtClean="0"/>
              <a:t>상성과 능력에 관한 구체적인 시스템과 밸런스에</a:t>
            </a:r>
            <a:r>
              <a:rPr lang="ko-KR" altLang="ko-KR" sz="2000" u="sng" dirty="0" smtClean="0"/>
              <a:t> </a:t>
            </a:r>
            <a:r>
              <a:rPr lang="ko-KR" altLang="ko-KR" sz="2000" u="sng" dirty="0"/>
              <a:t>초점을 두어 기획한다</a:t>
            </a:r>
            <a:r>
              <a:rPr lang="en-US" altLang="ko-KR" sz="2000" dirty="0" smtClean="0"/>
              <a:t>.</a:t>
            </a:r>
            <a:r>
              <a:rPr lang="en-US" altLang="ko-KR" dirty="0" smtClean="0"/>
              <a:t/>
            </a:r>
            <a:br>
              <a:rPr lang="en-US" altLang="ko-KR" dirty="0" smtClean="0"/>
            </a:br>
            <a:r>
              <a:rPr lang="en-US" altLang="ko-KR" dirty="0" smtClean="0"/>
              <a:t/>
            </a:r>
            <a:br>
              <a:rPr lang="en-US" altLang="ko-KR" dirty="0" smtClean="0"/>
            </a:br>
            <a:r>
              <a:rPr lang="en-US" altLang="ko-KR" sz="2000" dirty="0" smtClean="0"/>
              <a:t>• </a:t>
            </a:r>
            <a:r>
              <a:rPr lang="ko-KR" altLang="en-US" sz="2000" dirty="0" smtClean="0"/>
              <a:t>캐릭터와 </a:t>
            </a:r>
            <a:r>
              <a:rPr lang="ko-KR" altLang="en-US" sz="2000" dirty="0" err="1" smtClean="0"/>
              <a:t>몬스터</a:t>
            </a:r>
            <a:r>
              <a:rPr lang="ko-KR" altLang="en-US" sz="2000" dirty="0" smtClean="0"/>
              <a:t> 각각의 </a:t>
            </a:r>
            <a:r>
              <a:rPr lang="ko-KR" altLang="en-US" sz="2000" dirty="0" err="1" smtClean="0"/>
              <a:t>컨셉에</a:t>
            </a:r>
            <a:r>
              <a:rPr lang="ko-KR" altLang="en-US" sz="2000" dirty="0" smtClean="0"/>
              <a:t> 맞는 전투 방식과 능력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수치와 상성을 기반으로 공식을 설정하여 실질적인 전투 시스템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아이템과 </a:t>
            </a:r>
            <a:r>
              <a:rPr lang="ko-KR" altLang="en-US" sz="2000" dirty="0" err="1" smtClean="0"/>
              <a:t>레벨업을</a:t>
            </a:r>
            <a:r>
              <a:rPr lang="ko-KR" altLang="en-US" sz="2000" dirty="0" smtClean="0"/>
              <a:t> 고려한 </a:t>
            </a:r>
            <a:r>
              <a:rPr lang="ko-KR" altLang="en-US" sz="2000" dirty="0" err="1" smtClean="0"/>
              <a:t>스테이터스</a:t>
            </a:r>
            <a:r>
              <a:rPr lang="ko-KR" altLang="en-US" sz="2000" dirty="0" smtClean="0"/>
              <a:t> 밸런스 설정과 조정</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 </a:t>
            </a:r>
            <a:r>
              <a:rPr lang="ko-KR" altLang="en-US" sz="2000" dirty="0" err="1" smtClean="0"/>
              <a:t>던전</a:t>
            </a:r>
            <a:r>
              <a:rPr lang="ko-KR" altLang="en-US" sz="2000" dirty="0" smtClean="0"/>
              <a:t> 내 세부 </a:t>
            </a:r>
            <a:r>
              <a:rPr lang="ko-KR" altLang="en-US" sz="2000" dirty="0" err="1" smtClean="0"/>
              <a:t>에어리어들</a:t>
            </a:r>
            <a:r>
              <a:rPr lang="ko-KR" altLang="en-US" sz="2000" dirty="0" smtClean="0"/>
              <a:t> 및 전투</a:t>
            </a:r>
            <a:r>
              <a:rPr lang="en-US" altLang="ko-KR" sz="2000" dirty="0" smtClean="0"/>
              <a:t>(</a:t>
            </a:r>
            <a:r>
              <a:rPr lang="ko-KR" altLang="en-US" sz="2000" dirty="0" err="1" smtClean="0"/>
              <a:t>던전</a:t>
            </a:r>
            <a:r>
              <a:rPr lang="en-US" altLang="ko-KR" sz="2000" dirty="0" smtClean="0"/>
              <a:t>)</a:t>
            </a:r>
            <a:r>
              <a:rPr lang="ko-KR" altLang="en-US" sz="2000" dirty="0" smtClean="0"/>
              <a:t> 레벨 디자인 기획</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a:t>• </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104</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53743636"/>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089296" y="797899"/>
            <a:ext cx="2127705"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보완점</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5" y="1539074"/>
            <a:ext cx="10869388" cy="4462760"/>
          </a:xfrm>
          <a:prstGeom prst="rect">
            <a:avLst/>
          </a:prstGeom>
          <a:noFill/>
        </p:spPr>
        <p:txBody>
          <a:bodyPr wrap="square" rtlCol="0">
            <a:spAutoFit/>
          </a:bodyPr>
          <a:lstStyle/>
          <a:p>
            <a:r>
              <a:rPr lang="en-US" altLang="ko-KR" sz="2000" dirty="0"/>
              <a:t>• </a:t>
            </a:r>
            <a:r>
              <a:rPr lang="ko-KR" altLang="ko-KR" sz="2000" dirty="0" smtClean="0"/>
              <a:t>구체적인 </a:t>
            </a:r>
            <a:r>
              <a:rPr lang="ko-KR" altLang="en-US" sz="2000" dirty="0" smtClean="0"/>
              <a:t>그래픽 </a:t>
            </a:r>
            <a:r>
              <a:rPr lang="ko-KR" altLang="en-US" sz="2000" dirty="0" err="1" smtClean="0"/>
              <a:t>컨셉과</a:t>
            </a:r>
            <a:r>
              <a:rPr lang="ko-KR" altLang="en-US" sz="2000" dirty="0" smtClean="0"/>
              <a:t> </a:t>
            </a:r>
            <a:r>
              <a:rPr lang="ko-KR" altLang="ko-KR" sz="2000" dirty="0" smtClean="0"/>
              <a:t>레벨 디자인</a:t>
            </a:r>
            <a:r>
              <a:rPr lang="en-US" altLang="ko-KR" sz="2000" dirty="0"/>
              <a:t>,</a:t>
            </a:r>
            <a:r>
              <a:rPr lang="ko-KR" altLang="en-US" sz="2000" dirty="0" smtClean="0"/>
              <a:t> </a:t>
            </a:r>
            <a:r>
              <a:rPr lang="en-US" altLang="ko-KR" sz="2000" dirty="0" smtClean="0"/>
              <a:t>UI</a:t>
            </a:r>
            <a:r>
              <a:rPr lang="ko-KR" altLang="ko-KR" sz="2000" dirty="0" smtClean="0"/>
              <a:t>에 </a:t>
            </a:r>
            <a:r>
              <a:rPr lang="ko-KR" altLang="ko-KR" sz="2000" dirty="0"/>
              <a:t>대한 </a:t>
            </a:r>
            <a:r>
              <a:rPr lang="ko-KR" altLang="ko-KR" sz="2000" dirty="0" smtClean="0"/>
              <a:t>기획</a:t>
            </a:r>
            <a:r>
              <a:rPr lang="ko-KR" altLang="en-US" sz="2000" dirty="0" smtClean="0"/>
              <a:t>의 빈약함</a:t>
            </a:r>
            <a:endParaRPr lang="en-US" altLang="ko-KR" sz="2000" dirty="0" smtClean="0"/>
          </a:p>
          <a:p>
            <a:r>
              <a:rPr lang="en-US" altLang="ko-KR" sz="2000" dirty="0" smtClean="0"/>
              <a:t> └&gt; </a:t>
            </a:r>
            <a:r>
              <a:rPr lang="ko-KR" altLang="en-US" sz="2000" dirty="0" smtClean="0"/>
              <a:t>레벨 디자인과 </a:t>
            </a:r>
            <a:r>
              <a:rPr lang="en-US" altLang="ko-KR" sz="2000" dirty="0" smtClean="0"/>
              <a:t>UI</a:t>
            </a:r>
            <a:r>
              <a:rPr lang="ko-KR" altLang="en-US" sz="2000" dirty="0" smtClean="0"/>
              <a:t>에 대한 기획을 통해 그래픽 </a:t>
            </a:r>
            <a:r>
              <a:rPr lang="ko-KR" altLang="en-US" sz="2000" dirty="0" err="1" smtClean="0"/>
              <a:t>컨셉을</a:t>
            </a:r>
            <a:r>
              <a:rPr lang="ko-KR" altLang="en-US" sz="2000" dirty="0" smtClean="0"/>
              <a:t> 밝히고 </a:t>
            </a:r>
            <a:r>
              <a:rPr lang="ko-KR" altLang="en-US" sz="2000" dirty="0" err="1" smtClean="0"/>
              <a:t>직관성을</a:t>
            </a:r>
            <a:r>
              <a:rPr lang="ko-KR" altLang="en-US" sz="2000" dirty="0" smtClean="0"/>
              <a:t> 높여야 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ko-KR" sz="2000" dirty="0" smtClean="0"/>
              <a:t>수사 </a:t>
            </a:r>
            <a:r>
              <a:rPr lang="ko-KR" altLang="ko-KR" sz="2000" dirty="0"/>
              <a:t>과정을 표현한 것이 단순한 스킬 체크 방식이었던 </a:t>
            </a:r>
            <a:r>
              <a:rPr lang="ko-KR" altLang="en-US" sz="2000" dirty="0"/>
              <a:t>점</a:t>
            </a:r>
            <a:endParaRPr lang="en-US" altLang="ko-KR" sz="2000" dirty="0" smtClean="0"/>
          </a:p>
          <a:p>
            <a:r>
              <a:rPr lang="en-US" altLang="ko-KR" sz="2000" dirty="0" smtClean="0"/>
              <a:t> └&gt; </a:t>
            </a:r>
            <a:r>
              <a:rPr lang="ko-KR" altLang="en-US" sz="2000" dirty="0" smtClean="0"/>
              <a:t>너무 어렵지 않으면서도 긴장감을 줄 수 있는 다양한 미니게임 고안이 필요하다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시스템 요소들의 구체적인 수치에 대한 기획이 전무</a:t>
            </a:r>
            <a:endParaRPr lang="en-US" altLang="ko-KR" sz="2000" dirty="0" smtClean="0"/>
          </a:p>
          <a:p>
            <a:r>
              <a:rPr lang="en-US" altLang="ko-KR" sz="2000" dirty="0" smtClean="0"/>
              <a:t> </a:t>
            </a:r>
            <a:r>
              <a:rPr lang="en-US" altLang="ko-KR" sz="2000" dirty="0"/>
              <a:t>└</a:t>
            </a:r>
            <a:r>
              <a:rPr lang="en-US" altLang="ko-KR" sz="2000" dirty="0" smtClean="0"/>
              <a:t>&gt; </a:t>
            </a:r>
            <a:r>
              <a:rPr lang="ko-KR" altLang="en-US" sz="2000" dirty="0" err="1" smtClean="0"/>
              <a:t>범죄율</a:t>
            </a:r>
            <a:r>
              <a:rPr lang="en-US" altLang="ko-KR" sz="2000" dirty="0" smtClean="0"/>
              <a:t>, </a:t>
            </a:r>
            <a:r>
              <a:rPr lang="ko-KR" altLang="en-US" sz="2000" dirty="0" smtClean="0"/>
              <a:t>명성</a:t>
            </a:r>
            <a:r>
              <a:rPr lang="en-US" altLang="ko-KR" sz="2000" dirty="0" smtClean="0"/>
              <a:t>, </a:t>
            </a:r>
            <a:r>
              <a:rPr lang="ko-KR" altLang="en-US" sz="2000" dirty="0" smtClean="0"/>
              <a:t>자금</a:t>
            </a:r>
            <a:r>
              <a:rPr lang="en-US" altLang="ko-KR" sz="2000" dirty="0" smtClean="0"/>
              <a:t>(</a:t>
            </a:r>
            <a:r>
              <a:rPr lang="ko-KR" altLang="en-US" sz="2000" dirty="0" smtClean="0"/>
              <a:t>가격</a:t>
            </a:r>
            <a:r>
              <a:rPr lang="en-US" altLang="ko-KR" sz="2000" dirty="0" smtClean="0"/>
              <a:t>) </a:t>
            </a:r>
            <a:r>
              <a:rPr lang="ko-KR" altLang="en-US" sz="2000" dirty="0" smtClean="0"/>
              <a:t>등에 대한 밸런스 디자인이 요구된다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선택 요소들과 </a:t>
            </a:r>
            <a:r>
              <a:rPr lang="ko-KR" altLang="ko-KR" sz="2000" dirty="0" smtClean="0"/>
              <a:t>이벤트 소개</a:t>
            </a:r>
            <a:r>
              <a:rPr lang="ko-KR" altLang="en-US" sz="2000" dirty="0" smtClean="0"/>
              <a:t>의 모호함</a:t>
            </a:r>
            <a:endParaRPr lang="en-US" altLang="ko-KR" sz="2000" dirty="0" smtClean="0"/>
          </a:p>
          <a:p>
            <a:r>
              <a:rPr lang="en-US" altLang="ko-KR" sz="2000" dirty="0" smtClean="0"/>
              <a:t> └</a:t>
            </a:r>
            <a:r>
              <a:rPr lang="en-US" altLang="ko-KR" sz="2000" dirty="0"/>
              <a:t>&gt; </a:t>
            </a:r>
            <a:r>
              <a:rPr lang="ko-KR" altLang="en-US" sz="2000" dirty="0" smtClean="0"/>
              <a:t>핵심 선택 요소들과 특수 이벤트들을 간추려 구체적으로 제시할 필요가 있다</a:t>
            </a:r>
            <a:r>
              <a:rPr lang="en-US" altLang="ko-KR" sz="2000" dirty="0"/>
              <a:t>.</a:t>
            </a:r>
            <a:br>
              <a:rPr lang="en-US" altLang="ko-KR" sz="2000" dirty="0"/>
            </a:br>
            <a:r>
              <a:rPr lang="en-US" altLang="ko-KR" sz="2000" dirty="0"/>
              <a:t/>
            </a:r>
            <a:br>
              <a:rPr lang="en-US" altLang="ko-KR" sz="2000" dirty="0"/>
            </a:br>
            <a:r>
              <a:rPr lang="en-US" altLang="ko-KR" sz="2000" dirty="0"/>
              <a:t>• </a:t>
            </a:r>
            <a:r>
              <a:rPr lang="ko-KR" altLang="en-US" sz="2000" dirty="0" smtClean="0"/>
              <a:t>게임 플레이에 더욱 몰입할 수 있는 요소가 부족</a:t>
            </a:r>
            <a:endParaRPr lang="en-US" altLang="ko-KR" sz="2000" dirty="0"/>
          </a:p>
          <a:p>
            <a:r>
              <a:rPr lang="en-US" altLang="ko-KR" sz="2000" dirty="0"/>
              <a:t> └&gt; </a:t>
            </a:r>
            <a:r>
              <a:rPr lang="ko-KR" altLang="en-US" sz="2000" dirty="0" smtClean="0"/>
              <a:t>도전과제처럼 게이머의 도전 정신을 불러일으킬 수 있는 </a:t>
            </a:r>
            <a:r>
              <a:rPr lang="ko-KR" altLang="en-US" sz="2000" dirty="0" err="1" smtClean="0"/>
              <a:t>컨텐츠를</a:t>
            </a:r>
            <a:r>
              <a:rPr lang="ko-KR" altLang="en-US" sz="2000" dirty="0" smtClean="0"/>
              <a:t> 추가해야 한다</a:t>
            </a: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105</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9740876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1" y="1109945"/>
            <a:ext cx="11698516" cy="5078313"/>
          </a:xfrm>
          <a:prstGeom prst="rect">
            <a:avLst/>
          </a:prstGeom>
          <a:noFill/>
        </p:spPr>
        <p:txBody>
          <a:bodyPr wrap="square" rtlCol="0">
            <a:spAutoFit/>
          </a:bodyPr>
          <a:lstStyle/>
          <a:p>
            <a:pPr>
              <a:lnSpc>
                <a:spcPct val="150000"/>
              </a:lnSpc>
            </a:pPr>
            <a:r>
              <a:rPr lang="en-US" altLang="ko-KR" dirty="0" smtClean="0"/>
              <a:t>1-1) </a:t>
            </a:r>
            <a:r>
              <a:rPr lang="ko-KR" altLang="en-US" dirty="0" smtClean="0"/>
              <a:t>포켓몬스터 모바일 게임 속 전투 화면</a:t>
            </a:r>
            <a:endParaRPr lang="en-US" altLang="ko-KR" dirty="0" smtClean="0"/>
          </a:p>
          <a:p>
            <a:pPr>
              <a:lnSpc>
                <a:spcPct val="150000"/>
              </a:lnSpc>
            </a:pPr>
            <a:r>
              <a:rPr lang="en-US" altLang="ko-KR" dirty="0" smtClean="0">
                <a:hlinkClick r:id="rId2"/>
              </a:rPr>
              <a:t>https</a:t>
            </a:r>
            <a:r>
              <a:rPr lang="en-US" altLang="ko-KR" dirty="0">
                <a:hlinkClick r:id="rId2"/>
              </a:rPr>
              <a:t>://</a:t>
            </a:r>
            <a:r>
              <a:rPr lang="en-US" altLang="ko-KR" dirty="0" smtClean="0">
                <a:hlinkClick r:id="rId2"/>
              </a:rPr>
              <a:t>www.clien.net/service/board/park/12754454</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1-2</a:t>
            </a:r>
            <a:r>
              <a:rPr lang="en-US" altLang="ko-KR" dirty="0"/>
              <a:t>)</a:t>
            </a:r>
            <a:r>
              <a:rPr lang="en-US" altLang="ko-KR" dirty="0" smtClean="0"/>
              <a:t> ‘</a:t>
            </a:r>
            <a:r>
              <a:rPr lang="ko-KR" altLang="en-US" dirty="0" err="1" smtClean="0"/>
              <a:t>서머너즈</a:t>
            </a:r>
            <a:r>
              <a:rPr lang="ko-KR" altLang="en-US" dirty="0" smtClean="0"/>
              <a:t> 워</a:t>
            </a:r>
            <a:r>
              <a:rPr lang="en-US" altLang="ko-KR" dirty="0" smtClean="0"/>
              <a:t>’, </a:t>
            </a:r>
            <a:r>
              <a:rPr lang="ko-KR" altLang="en-US" dirty="0" smtClean="0"/>
              <a:t>아레나 전투 화면</a:t>
            </a:r>
            <a:endParaRPr lang="en-US" altLang="ko-KR" dirty="0" smtClean="0"/>
          </a:p>
          <a:p>
            <a:pPr>
              <a:lnSpc>
                <a:spcPct val="150000"/>
              </a:lnSpc>
            </a:pPr>
            <a:r>
              <a:rPr lang="en-US" altLang="ko-KR" dirty="0" smtClean="0">
                <a:hlinkClick r:id="rId3"/>
              </a:rPr>
              <a:t>http</a:t>
            </a:r>
            <a:r>
              <a:rPr lang="en-US" altLang="ko-KR" dirty="0">
                <a:hlinkClick r:id="rId3"/>
              </a:rPr>
              <a:t>://</a:t>
            </a:r>
            <a:r>
              <a:rPr lang="en-US" altLang="ko-KR" dirty="0" smtClean="0">
                <a:hlinkClick r:id="rId3"/>
              </a:rPr>
              <a:t>www.kukinews.com/news/article.html?no=467851</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2-1) ‘</a:t>
            </a:r>
            <a:r>
              <a:rPr lang="ko-KR" altLang="en-US" dirty="0" err="1" smtClean="0"/>
              <a:t>던그리드</a:t>
            </a:r>
            <a:r>
              <a:rPr lang="en-US" altLang="ko-KR" dirty="0" smtClean="0"/>
              <a:t>’, </a:t>
            </a:r>
            <a:r>
              <a:rPr lang="ko-KR" altLang="en-US" dirty="0" err="1" smtClean="0"/>
              <a:t>튜토리얼</a:t>
            </a:r>
            <a:r>
              <a:rPr lang="ko-KR" altLang="en-US" dirty="0" smtClean="0"/>
              <a:t> 속 던전의 출현 화면</a:t>
            </a:r>
            <a:endParaRPr lang="en-US" altLang="ko-KR" dirty="0" smtClean="0"/>
          </a:p>
          <a:p>
            <a:pPr>
              <a:lnSpc>
                <a:spcPct val="150000"/>
              </a:lnSpc>
            </a:pPr>
            <a:r>
              <a:rPr lang="en-US" altLang="ko-KR" dirty="0" smtClean="0">
                <a:hlinkClick r:id="rId4"/>
              </a:rPr>
              <a:t>https</a:t>
            </a:r>
            <a:r>
              <a:rPr lang="en-US" altLang="ko-KR" dirty="0">
                <a:hlinkClick r:id="rId4"/>
              </a:rPr>
              <a:t>://</a:t>
            </a:r>
            <a:r>
              <a:rPr lang="en-US" altLang="ko-KR" dirty="0" smtClean="0">
                <a:hlinkClick r:id="rId4"/>
              </a:rPr>
              <a:t>www.vingle.net/posts/2320991</a:t>
            </a:r>
            <a:r>
              <a:rPr lang="en-US" altLang="ko-KR" dirty="0" smtClean="0"/>
              <a:t> (</a:t>
            </a:r>
            <a:r>
              <a:rPr lang="en-US" altLang="ko-KR" dirty="0"/>
              <a:t>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-2) ‘</a:t>
            </a:r>
            <a:r>
              <a:rPr lang="ko-KR" altLang="en-US" dirty="0" err="1" smtClean="0"/>
              <a:t>다키스트</a:t>
            </a:r>
            <a:r>
              <a:rPr lang="ko-KR" altLang="en-US" dirty="0" smtClean="0"/>
              <a:t> 던전</a:t>
            </a:r>
            <a:r>
              <a:rPr lang="en-US" altLang="ko-KR" dirty="0" smtClean="0"/>
              <a:t>’, </a:t>
            </a:r>
            <a:r>
              <a:rPr lang="ko-KR" altLang="en-US" dirty="0" smtClean="0"/>
              <a:t>던전 전투 화면</a:t>
            </a:r>
            <a:endParaRPr lang="en-US" altLang="ko-KR" dirty="0" smtClean="0"/>
          </a:p>
          <a:p>
            <a:pPr>
              <a:lnSpc>
                <a:spcPct val="150000"/>
              </a:lnSpc>
            </a:pPr>
            <a:r>
              <a:rPr lang="en-US" altLang="ko-KR" dirty="0" smtClean="0">
                <a:hlinkClick r:id="rId5"/>
              </a:rPr>
              <a:t>https</a:t>
            </a:r>
            <a:r>
              <a:rPr lang="en-US" altLang="ko-KR" dirty="0">
                <a:hlinkClick r:id="rId5"/>
              </a:rPr>
              <a:t>://steamcommunity.com/sharedfiles/filedetails/?</a:t>
            </a:r>
            <a:r>
              <a:rPr lang="en-US" altLang="ko-KR" dirty="0" smtClean="0">
                <a:hlinkClick r:id="rId5"/>
              </a:rPr>
              <a:t>id=396427946</a:t>
            </a:r>
            <a:r>
              <a:rPr lang="en-US" altLang="ko-KR" dirty="0" smtClean="0"/>
              <a:t> (11</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-3) ‘</a:t>
            </a:r>
            <a:r>
              <a:rPr lang="ko-KR" altLang="en-US" dirty="0" err="1" smtClean="0"/>
              <a:t>아이작의</a:t>
            </a:r>
            <a:r>
              <a:rPr lang="ko-KR" altLang="en-US" dirty="0" smtClean="0"/>
              <a:t> </a:t>
            </a:r>
            <a:r>
              <a:rPr lang="ko-KR" altLang="en-US" dirty="0" err="1" smtClean="0"/>
              <a:t>번제</a:t>
            </a:r>
            <a:r>
              <a:rPr lang="en-US" altLang="ko-KR" dirty="0" smtClean="0"/>
              <a:t>‘, </a:t>
            </a:r>
            <a:r>
              <a:rPr lang="ko-KR" altLang="en-US" dirty="0" smtClean="0"/>
              <a:t>사망 결과 화면</a:t>
            </a:r>
            <a:endParaRPr lang="en-US" altLang="ko-KR" dirty="0" smtClean="0"/>
          </a:p>
          <a:p>
            <a:pPr>
              <a:lnSpc>
                <a:spcPct val="150000"/>
              </a:lnSpc>
            </a:pPr>
            <a:r>
              <a:rPr lang="en-US" altLang="ko-KR" dirty="0" smtClean="0">
                <a:hlinkClick r:id="rId6"/>
              </a:rPr>
              <a:t>https</a:t>
            </a:r>
            <a:r>
              <a:rPr lang="en-US" altLang="ko-KR" dirty="0">
                <a:hlinkClick r:id="rId6"/>
              </a:rPr>
              <a:t>://entropymag.org/hobby-horse-anatomy-bawdy-and-body-in-the-binding-of-isaac-ch-3</a:t>
            </a:r>
            <a:r>
              <a:rPr lang="en-US" altLang="ko-KR" dirty="0" smtClean="0">
                <a:hlinkClick r:id="rId6"/>
              </a:rPr>
              <a:t>/</a:t>
            </a:r>
            <a:r>
              <a:rPr lang="en-US" altLang="ko-KR" dirty="0" smtClean="0"/>
              <a:t> (2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-4) ‘</a:t>
            </a:r>
            <a:r>
              <a:rPr lang="ko-KR" altLang="en-US" dirty="0" smtClean="0"/>
              <a:t>던전 메이커</a:t>
            </a:r>
            <a:r>
              <a:rPr lang="en-US" altLang="ko-KR" dirty="0" smtClean="0"/>
              <a:t>’, </a:t>
            </a:r>
            <a:r>
              <a:rPr lang="ko-KR" altLang="en-US" dirty="0" smtClean="0"/>
              <a:t>보유 몬스터 화면</a:t>
            </a:r>
            <a:endParaRPr lang="en-US" altLang="ko-KR" dirty="0" smtClean="0"/>
          </a:p>
          <a:p>
            <a:pPr>
              <a:lnSpc>
                <a:spcPct val="150000"/>
              </a:lnSpc>
            </a:pPr>
            <a:r>
              <a:rPr lang="en-US" altLang="ko-KR" dirty="0">
                <a:hlinkClick r:id="rId7"/>
              </a:rPr>
              <a:t>https://</a:t>
            </a:r>
            <a:r>
              <a:rPr lang="en-US" altLang="ko-KR" dirty="0" smtClean="0">
                <a:hlinkClick r:id="rId7"/>
              </a:rPr>
              <a:t>minimap.net/game/dungeon-maker/review</a:t>
            </a:r>
            <a:r>
              <a:rPr lang="en-US" altLang="ko-KR" dirty="0" smtClean="0"/>
              <a:t> (9</a:t>
            </a:r>
            <a:r>
              <a:rPr lang="ko-KR" altLang="en-US" dirty="0" smtClean="0"/>
              <a:t>번 </a:t>
            </a:r>
            <a:r>
              <a:rPr lang="ko-KR" altLang="en-US" dirty="0" err="1"/>
              <a:t>스크린샷</a:t>
            </a:r>
            <a:r>
              <a:rPr lang="en-US" altLang="ko-KR"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106</a:t>
            </a:fld>
            <a:endParaRPr lang="ko-KR" altLang="en-US" sz="1800" dirty="0"/>
          </a:p>
        </p:txBody>
      </p:sp>
    </p:spTree>
    <p:extLst>
      <p:ext uri="{BB962C8B-B14F-4D97-AF65-F5344CB8AC3E}">
        <p14:creationId xmlns:p14="http://schemas.microsoft.com/office/powerpoint/2010/main" val="103834342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0" y="1217411"/>
            <a:ext cx="11698516" cy="5493812"/>
          </a:xfrm>
          <a:prstGeom prst="rect">
            <a:avLst/>
          </a:prstGeom>
          <a:noFill/>
        </p:spPr>
        <p:txBody>
          <a:bodyPr wrap="square" rtlCol="0">
            <a:spAutoFit/>
          </a:bodyPr>
          <a:lstStyle/>
          <a:p>
            <a:pPr>
              <a:lnSpc>
                <a:spcPct val="150000"/>
              </a:lnSpc>
            </a:pPr>
            <a:r>
              <a:rPr lang="en-US" altLang="ko-KR" dirty="0" smtClean="0"/>
              <a:t>2-5) ‘</a:t>
            </a:r>
            <a:r>
              <a:rPr lang="ko-KR" altLang="en-US" dirty="0" err="1" smtClean="0"/>
              <a:t>던그리드</a:t>
            </a:r>
            <a:r>
              <a:rPr lang="en-US" altLang="ko-KR" dirty="0" smtClean="0"/>
              <a:t>’, </a:t>
            </a:r>
            <a:r>
              <a:rPr lang="ko-KR" altLang="en-US" dirty="0" smtClean="0"/>
              <a:t>의상실 화면</a:t>
            </a:r>
            <a:endParaRPr lang="en-US" altLang="ko-KR" dirty="0" smtClean="0"/>
          </a:p>
          <a:p>
            <a:pPr>
              <a:lnSpc>
                <a:spcPct val="150000"/>
              </a:lnSpc>
            </a:pPr>
            <a:r>
              <a:rPr lang="en-US" altLang="ko-KR" dirty="0">
                <a:hlinkClick r:id="rId2"/>
              </a:rPr>
              <a:t>https://</a:t>
            </a:r>
            <a:r>
              <a:rPr lang="en-US" altLang="ko-KR" dirty="0" smtClean="0">
                <a:hlinkClick r:id="rId2"/>
              </a:rPr>
              <a:t>realust.tistory.com/506</a:t>
            </a:r>
            <a:r>
              <a:rPr lang="en-US" altLang="ko-KR" dirty="0" smtClean="0"/>
              <a:t> (4</a:t>
            </a:r>
            <a:r>
              <a:rPr lang="ko-KR" altLang="en-US" dirty="0" smtClean="0"/>
              <a:t>번 </a:t>
            </a:r>
            <a:r>
              <a:rPr lang="ko-KR" altLang="en-US" dirty="0" err="1"/>
              <a:t>스크린샷</a:t>
            </a:r>
            <a:r>
              <a:rPr lang="en-US" altLang="ko-KR" dirty="0"/>
              <a:t>)</a:t>
            </a:r>
          </a:p>
          <a:p>
            <a:pPr>
              <a:lnSpc>
                <a:spcPct val="150000"/>
              </a:lnSpc>
            </a:pPr>
            <a:r>
              <a:rPr lang="en-US" altLang="ko-KR" dirty="0" smtClean="0"/>
              <a:t>2-6) ‘</a:t>
            </a:r>
            <a:r>
              <a:rPr lang="ko-KR" altLang="en-US" dirty="0" smtClean="0"/>
              <a:t>몬스터슈퍼리그</a:t>
            </a:r>
            <a:r>
              <a:rPr lang="en-US" altLang="ko-KR" dirty="0" smtClean="0"/>
              <a:t>’, </a:t>
            </a:r>
            <a:r>
              <a:rPr lang="ko-KR" altLang="en-US" dirty="0" smtClean="0"/>
              <a:t>몬스터 획득 장면</a:t>
            </a:r>
            <a:endParaRPr lang="en-US" altLang="ko-KR" dirty="0" smtClean="0"/>
          </a:p>
          <a:p>
            <a:pPr>
              <a:lnSpc>
                <a:spcPct val="150000"/>
              </a:lnSpc>
            </a:pPr>
            <a:r>
              <a:rPr lang="en-US" altLang="ko-KR" dirty="0">
                <a:hlinkClick r:id="rId3"/>
              </a:rPr>
              <a:t>http://www.thisisgame.com/webzine/game/nboard/19/?</a:t>
            </a:r>
            <a:r>
              <a:rPr lang="en-US" altLang="ko-KR" dirty="0" smtClean="0">
                <a:hlinkClick r:id="rId3"/>
              </a:rPr>
              <a:t>page=13&amp;n=64534</a:t>
            </a:r>
            <a:r>
              <a:rPr lang="en-US" altLang="ko-KR" dirty="0" smtClean="0"/>
              <a:t> (</a:t>
            </a:r>
            <a:r>
              <a:rPr lang="en-US" altLang="ko-KR" dirty="0"/>
              <a:t>4</a:t>
            </a:r>
            <a:r>
              <a:rPr lang="ko-KR" altLang="en-US" dirty="0"/>
              <a:t>번 </a:t>
            </a:r>
            <a:r>
              <a:rPr lang="ko-KR" altLang="en-US" dirty="0" err="1"/>
              <a:t>스크린샷</a:t>
            </a:r>
            <a:r>
              <a:rPr lang="en-US" altLang="ko-KR" dirty="0"/>
              <a:t>)</a:t>
            </a:r>
          </a:p>
          <a:p>
            <a:pPr>
              <a:lnSpc>
                <a:spcPct val="150000"/>
              </a:lnSpc>
            </a:pPr>
            <a:r>
              <a:rPr lang="en-US" altLang="ko-KR" dirty="0" smtClean="0"/>
              <a:t>2-7) ‘</a:t>
            </a:r>
            <a:r>
              <a:rPr lang="ko-KR" altLang="en-US" dirty="0" err="1" smtClean="0"/>
              <a:t>마계전기</a:t>
            </a:r>
            <a:r>
              <a:rPr lang="ko-KR" altLang="en-US" dirty="0" smtClean="0"/>
              <a:t> </a:t>
            </a:r>
            <a:r>
              <a:rPr lang="ko-KR" altLang="en-US" dirty="0" err="1" smtClean="0"/>
              <a:t>디스가이아</a:t>
            </a:r>
            <a:r>
              <a:rPr lang="ko-KR" altLang="en-US" dirty="0" smtClean="0"/>
              <a:t> </a:t>
            </a:r>
            <a:r>
              <a:rPr lang="en-US" altLang="ko-KR" dirty="0" smtClean="0"/>
              <a:t>5’</a:t>
            </a:r>
          </a:p>
          <a:p>
            <a:pPr>
              <a:lnSpc>
                <a:spcPct val="150000"/>
              </a:lnSpc>
            </a:pPr>
            <a:r>
              <a:rPr lang="en-US" altLang="ko-KR" dirty="0">
                <a:hlinkClick r:id="rId4"/>
              </a:rPr>
              <a:t>http://www.thisisgame.com/pad/tboard/?</a:t>
            </a:r>
            <a:r>
              <a:rPr lang="en-US" altLang="ko-KR" dirty="0" smtClean="0">
                <a:hlinkClick r:id="rId4"/>
              </a:rPr>
              <a:t>board=37&amp;n=286482</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2-8) ‘</a:t>
            </a:r>
            <a:r>
              <a:rPr lang="ko-KR" altLang="en-US" dirty="0" err="1" smtClean="0"/>
              <a:t>미소스</a:t>
            </a:r>
            <a:r>
              <a:rPr lang="ko-KR" altLang="en-US" dirty="0" smtClean="0"/>
              <a:t> 영웅전 </a:t>
            </a:r>
            <a:r>
              <a:rPr lang="en-US" altLang="ko-KR" dirty="0" smtClean="0"/>
              <a:t>for </a:t>
            </a:r>
            <a:r>
              <a:rPr lang="en-US" altLang="ko-KR" dirty="0" err="1" smtClean="0"/>
              <a:t>kakao</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5"/>
              </a:rPr>
              <a:t>http://www.thisisgame.com/mobile/nboard/1/?</a:t>
            </a:r>
            <a:r>
              <a:rPr lang="en-US" altLang="ko-KR" dirty="0" smtClean="0">
                <a:hlinkClick r:id="rId5"/>
              </a:rPr>
              <a:t>n=55660&amp;mode=print</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2-9) ‘</a:t>
            </a:r>
            <a:r>
              <a:rPr lang="ko-KR" altLang="en-US" dirty="0" err="1" smtClean="0"/>
              <a:t>그랜드체이스</a:t>
            </a:r>
            <a:r>
              <a:rPr lang="ko-KR" altLang="en-US" dirty="0" smtClean="0"/>
              <a:t> 올스타</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6"/>
              </a:rPr>
              <a:t>http://www.thisisgame.com/mobile/nboard/1/?</a:t>
            </a:r>
            <a:r>
              <a:rPr lang="en-US" altLang="ko-KR" dirty="0" smtClean="0">
                <a:hlinkClick r:id="rId6"/>
              </a:rPr>
              <a:t>n=51285</a:t>
            </a:r>
            <a:r>
              <a:rPr lang="en-US" altLang="ko-KR" dirty="0" smtClean="0"/>
              <a:t> (2</a:t>
            </a:r>
            <a:r>
              <a:rPr lang="ko-KR" altLang="en-US" dirty="0" smtClean="0"/>
              <a:t>번 </a:t>
            </a:r>
            <a:r>
              <a:rPr lang="ko-KR" altLang="en-US" dirty="0" err="1"/>
              <a:t>스크린샷</a:t>
            </a:r>
            <a:r>
              <a:rPr lang="en-US" altLang="ko-KR" dirty="0"/>
              <a:t>)</a:t>
            </a:r>
          </a:p>
          <a:p>
            <a:pPr>
              <a:lnSpc>
                <a:spcPct val="150000"/>
              </a:lnSpc>
            </a:pPr>
            <a:r>
              <a:rPr lang="en-US" altLang="ko-KR" dirty="0"/>
              <a:t>2-10) </a:t>
            </a:r>
            <a:r>
              <a:rPr lang="en-US" altLang="ko-KR" dirty="0">
                <a:hlinkClick r:id="rId7"/>
              </a:rPr>
              <a:t>https://store.steampowered.com/app/785740/This_Is_the_Police_2/</a:t>
            </a:r>
            <a:r>
              <a:rPr lang="en-US" altLang="ko-KR" dirty="0"/>
              <a:t> (2</a:t>
            </a:r>
            <a:r>
              <a:rPr lang="ko-KR" altLang="en-US" dirty="0"/>
              <a:t>번 </a:t>
            </a:r>
            <a:r>
              <a:rPr lang="ko-KR" altLang="en-US" dirty="0" err="1"/>
              <a:t>스크린샷</a:t>
            </a:r>
            <a:r>
              <a:rPr lang="en-US" altLang="ko-KR" dirty="0"/>
              <a:t>)</a:t>
            </a:r>
          </a:p>
          <a:p>
            <a:pPr>
              <a:lnSpc>
                <a:spcPct val="150000"/>
              </a:lnSpc>
            </a:pPr>
            <a:r>
              <a:rPr lang="en-US" altLang="ko-KR" dirty="0"/>
              <a:t>2-11) </a:t>
            </a:r>
            <a:r>
              <a:rPr lang="en-US" altLang="ko-KR" dirty="0">
                <a:hlinkClick r:id="rId8"/>
              </a:rPr>
              <a:t>https://taskandpurpose.com/xcom2-war-chosen-review/</a:t>
            </a:r>
            <a:r>
              <a:rPr lang="en-US" altLang="ko-KR" dirty="0"/>
              <a:t> </a:t>
            </a:r>
          </a:p>
          <a:p>
            <a:pPr>
              <a:lnSpc>
                <a:spcPct val="150000"/>
              </a:lnSpc>
            </a:pPr>
            <a:endParaRPr lang="ko-KR" altLang="ko-KR"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107</a:t>
            </a:fld>
            <a:endParaRPr lang="ko-KR" altLang="en-US" dirty="0"/>
          </a:p>
        </p:txBody>
      </p:sp>
    </p:spTree>
    <p:extLst>
      <p:ext uri="{BB962C8B-B14F-4D97-AF65-F5344CB8AC3E}">
        <p14:creationId xmlns:p14="http://schemas.microsoft.com/office/powerpoint/2010/main" val="336750069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97713" y="892460"/>
            <a:ext cx="1436915" cy="523220"/>
          </a:xfrm>
          <a:prstGeom prst="rect">
            <a:avLst/>
          </a:prstGeom>
          <a:noFill/>
        </p:spPr>
        <p:txBody>
          <a:bodyPr wrap="square" rtlCol="0">
            <a:spAutoFit/>
          </a:bodyPr>
          <a:lstStyle/>
          <a:p>
            <a:r>
              <a:rPr lang="en-US" altLang="ko-KR" sz="2800" b="1" dirty="0">
                <a:gradFill>
                  <a:gsLst>
                    <a:gs pos="0">
                      <a:schemeClr val="tx1"/>
                    </a:gs>
                    <a:gs pos="100000">
                      <a:schemeClr val="tx1"/>
                    </a:gs>
                  </a:gsLst>
                  <a:lin ang="5400000" scaled="1"/>
                </a:gradFill>
                <a:latin typeface="맑은 고딕" panose="020B0503020000020004" pitchFamily="50" charset="-127"/>
              </a:rPr>
              <a:t>&lt;</a:t>
            </a:r>
            <a:r>
              <a:rPr lang="ko-KR" altLang="en-US" sz="2800" b="1" dirty="0" smtClean="0">
                <a:gradFill>
                  <a:gsLst>
                    <a:gs pos="0">
                      <a:schemeClr val="tx1"/>
                    </a:gs>
                    <a:gs pos="100000">
                      <a:schemeClr val="tx1"/>
                    </a:gs>
                  </a:gsLst>
                  <a:lin ang="5400000" scaled="1"/>
                </a:gradFill>
                <a:latin typeface="맑은 고딕" panose="020B0503020000020004" pitchFamily="50" charset="-127"/>
              </a:rPr>
              <a:t>부록</a:t>
            </a:r>
            <a:r>
              <a:rPr lang="en-US" altLang="ko-KR" sz="2800" b="1" dirty="0" smtClean="0">
                <a:gradFill>
                  <a:gsLst>
                    <a:gs pos="0">
                      <a:schemeClr val="tx1"/>
                    </a:gs>
                    <a:gs pos="100000">
                      <a:schemeClr val="tx1"/>
                    </a:gs>
                  </a:gsLst>
                  <a:lin ang="5400000" scaled="1"/>
                </a:gradFill>
                <a:latin typeface="맑은 고딕" panose="020B0503020000020004" pitchFamily="50" charset="-127"/>
              </a:rPr>
              <a:t>&gt;</a:t>
            </a:r>
            <a:endParaRPr lang="ko-KR" altLang="en-US" sz="2800" b="1" dirty="0">
              <a:gradFill>
                <a:gsLst>
                  <a:gs pos="0">
                    <a:schemeClr val="tx1"/>
                  </a:gs>
                  <a:gs pos="100000">
                    <a:schemeClr val="tx1"/>
                  </a:gs>
                </a:gsLst>
                <a:lin ang="5400000" scaled="1"/>
              </a:gradFill>
              <a:latin typeface="맑은 고딕" panose="020B0503020000020004" pitchFamily="50" charset="-127"/>
            </a:endParaRPr>
          </a:p>
        </p:txBody>
      </p:sp>
      <p:sp>
        <p:nvSpPr>
          <p:cNvPr id="8" name="TextBox 7"/>
          <p:cNvSpPr txBox="1"/>
          <p:nvPr/>
        </p:nvSpPr>
        <p:spPr>
          <a:xfrm>
            <a:off x="1235927" y="1763768"/>
            <a:ext cx="8403373" cy="830997"/>
          </a:xfrm>
          <a:prstGeom prst="rect">
            <a:avLst/>
          </a:prstGeom>
          <a:noFill/>
        </p:spPr>
        <p:txBody>
          <a:bodyPr wrap="square" rtlCol="0">
            <a:spAutoFit/>
          </a:bodyPr>
          <a:lstStyle/>
          <a:p>
            <a:r>
              <a:rPr lang="en-US" altLang="ko-KR" sz="2400" dirty="0"/>
              <a:t>• </a:t>
            </a:r>
            <a:r>
              <a:rPr lang="ko-KR" altLang="en-US" sz="2400" dirty="0" err="1" smtClean="0"/>
              <a:t>별첨문서</a:t>
            </a:r>
            <a:r>
              <a:rPr lang="ko-KR" altLang="en-US" sz="2400" dirty="0" smtClean="0"/>
              <a:t> </a:t>
            </a:r>
            <a:r>
              <a:rPr lang="en-US" altLang="ko-KR" sz="2400" dirty="0" smtClean="0"/>
              <a:t>‘I AM THE LAW.docx’</a:t>
            </a:r>
            <a:br>
              <a:rPr lang="en-US" altLang="ko-KR" sz="2400" dirty="0" smtClean="0"/>
            </a:br>
            <a:r>
              <a:rPr lang="en-US" altLang="ko-KR" sz="2400" dirty="0" smtClean="0"/>
              <a:t>  (PPT </a:t>
            </a:r>
            <a:r>
              <a:rPr lang="ko-KR" altLang="en-US" sz="2400" dirty="0" smtClean="0"/>
              <a:t>제작 전</a:t>
            </a:r>
            <a:r>
              <a:rPr lang="en-US" altLang="ko-KR" sz="2400" dirty="0" smtClean="0"/>
              <a:t>, </a:t>
            </a:r>
            <a:r>
              <a:rPr lang="ko-KR" altLang="en-US" sz="2400" dirty="0" smtClean="0"/>
              <a:t>기획 내용 작성 및 정리를 위한 워드 문서</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108</a:t>
            </a:fld>
            <a:endParaRPr lang="ko-KR" altLang="en-US" dirty="0"/>
          </a:p>
        </p:txBody>
      </p:sp>
      <p:sp>
        <p:nvSpPr>
          <p:cNvPr id="9" name="곱셈 기호 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3495960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감사합니다</a:t>
            </a:r>
            <a:r>
              <a:rPr lang="en-US" altLang="ko-KR" sz="4800" b="1" spc="-150" dirty="0" smtClean="0">
                <a:gradFill>
                  <a:gsLst>
                    <a:gs pos="0">
                      <a:prstClr val="white"/>
                    </a:gs>
                    <a:gs pos="100000">
                      <a:prstClr val="white"/>
                    </a:gs>
                  </a:gsLst>
                  <a:lin ang="5400000" scaled="1"/>
                </a:gradFill>
                <a:latin typeface="+mj-ea"/>
                <a:ea typeface="+mj-ea"/>
              </a:rPr>
              <a:t>.</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109</a:t>
            </a:fld>
            <a:endParaRPr lang="ko-KR" altLang="en-US" dirty="0">
              <a:solidFill>
                <a:prstClr val="black">
                  <a:tint val="75000"/>
                </a:prstClr>
              </a:solidFill>
            </a:endParaRPr>
          </a:p>
        </p:txBody>
      </p:sp>
    </p:spTree>
    <p:extLst>
      <p:ext uri="{BB962C8B-B14F-4D97-AF65-F5344CB8AC3E}">
        <p14:creationId xmlns:p14="http://schemas.microsoft.com/office/powerpoint/2010/main" val="34078395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10006</TotalTime>
  <Words>6392</Words>
  <Application>Microsoft Office PowerPoint</Application>
  <PresentationFormat>와이드스크린</PresentationFormat>
  <Paragraphs>2140</Paragraphs>
  <Slides>109</Slides>
  <Notes>2</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109</vt:i4>
      </vt:variant>
    </vt:vector>
  </HeadingPairs>
  <TitlesOfParts>
    <vt:vector size="116" baseType="lpstr">
      <vt:lpstr>Arial</vt:lpstr>
      <vt:lpstr>돋움</vt:lpstr>
      <vt:lpstr>HY견명조</vt:lpstr>
      <vt:lpstr>맑은 고딕</vt:lpstr>
      <vt:lpstr>210 앱굴림 R</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YEONGBEOM KIM</dc:creator>
  <cp:lastModifiedBy>Windows 사용자</cp:lastModifiedBy>
  <cp:revision>637</cp:revision>
  <dcterms:created xsi:type="dcterms:W3CDTF">2017-06-15T12:10:59Z</dcterms:created>
  <dcterms:modified xsi:type="dcterms:W3CDTF">2019-01-17T17:38:50Z</dcterms:modified>
</cp:coreProperties>
</file>