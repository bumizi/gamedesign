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5"/>
  </p:notesMasterIdLst>
  <p:sldIdLst>
    <p:sldId id="258" r:id="rId2"/>
    <p:sldId id="263" r:id="rId3"/>
    <p:sldId id="266" r:id="rId4"/>
    <p:sldId id="264" r:id="rId5"/>
    <p:sldId id="274" r:id="rId6"/>
    <p:sldId id="265" r:id="rId7"/>
    <p:sldId id="267" r:id="rId8"/>
    <p:sldId id="268" r:id="rId9"/>
    <p:sldId id="269" r:id="rId10"/>
    <p:sldId id="270" r:id="rId11"/>
    <p:sldId id="271" r:id="rId12"/>
    <p:sldId id="272" r:id="rId13"/>
    <p:sldId id="27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48" autoAdjust="0"/>
    <p:restoredTop sz="94660"/>
  </p:normalViewPr>
  <p:slideViewPr>
    <p:cSldViewPr snapToGrid="0">
      <p:cViewPr varScale="1">
        <p:scale>
          <a:sx n="66" d="100"/>
          <a:sy n="66" d="100"/>
        </p:scale>
        <p:origin x="-120" y="-52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49F3D-8A57-43DD-A757-DD94CEE66A95}" type="datetimeFigureOut">
              <a:rPr lang="ko-KR" altLang="en-US" smtClean="0"/>
              <a:t>2019-05-20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9D354-F42C-4D9A-B07B-D149DDF9556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8628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BC4B5A23-C81F-4AF5-A748-1D1EE93505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26F8B85E-9692-4475-9B5C-3E3DB5D888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C005B73-604A-4AB5-8137-DDC71FB76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4AC02-6366-4543-ACE0-490F6AFC9295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657B5ED-EDEA-4726-A63A-ABCD88DDA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E561B83-F1A6-46DA-BD34-3B375CB3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4492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2AFF599-F9A5-411F-BFB9-C4FB2A3A3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93CECED-CCAF-4DDD-B539-F3AF15540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BC0C8BE3-B2E2-4859-8481-2ADA01A44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2D272F-33BA-4C74-B876-F2EA41DFF738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288CDC39-E89C-42A8-9B52-C7D6DAC2A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E1B28C08-4C0A-48B8-A2D2-41A018AB9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5340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B24B900-D8B5-4B2F-9A9B-DAFD43923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6D0AAEF-5449-4C97-B530-902BE63F1B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98CE2F0-2D83-432D-AAAB-53B7BDADB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5F42-93B9-4AE7-BBC8-83DACB8319F1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14A1FD5-451B-4844-91B8-CAAD13002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C4FCB56-5F29-4966-828B-6F12C897F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2096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7A8BCA9-CCD6-4662-A75A-296836740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2DB64179-D214-4078-BA5F-DFCB5B7AB5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B1779CDF-61C0-406A-811C-6499DEFD4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AE2950D3-3FB5-4335-966B-7606E3544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85B76-7806-4CC3-8B8C-EBAED68E004F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EA6937B-7D55-49EA-B7A1-89529F5A3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BB794612-C908-4F25-B9A3-09427AE34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611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F3C1362-BBA7-4D01-B788-14FDB950EC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65AC57B0-4E1F-4D85-8918-3867A4BE7C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5E57D204-8AC0-4D04-AEF3-91D2112061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695EB064-60AB-4FE5-AF06-C9FE48BB48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79DB6808-33C3-4B13-8365-0D85B8DDB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9C2640C7-3844-4222-AC6F-AB4902A4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03526E-4356-41AB-863E-484F5DD0E204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61889AA5-8486-41FD-8413-A10122960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72CBBB2D-B216-4BCD-8B81-731C681CF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988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6649871-FAAA-407D-9245-5C61A8E32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3A38A7DA-9D13-4BB7-ADE4-F35E84E3A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205871-C335-4457-8D24-BB9E092F69B9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43FEE6E1-89D7-49AE-A816-C7B25C1D5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516B1AE1-FDC9-44CA-9C12-53013C082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0097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275ACA46-7E3A-4F54-B5C7-2D501C80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CA0430-33F4-4CC5-9AEC-861228FFEC26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3A6C4713-7972-4FE4-B6C4-CD4F252FD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7D64F96C-A2F1-409B-B68C-BE3C8992C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646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113D69A-09A1-4C99-B3A6-6FFAF00F0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EA0AD2F4-8A1D-4D48-B8E0-B0A9F378B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1F2D0DD9-6BA7-496D-AB88-10339921C6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EE604958-49B0-4000-9AE8-1A82649DB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60F60-F2C3-4201-8F80-8B50251C37B5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5A224506-57FE-4AE4-915B-1BCF662CF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06D5D81-A0DA-465B-9DDB-DA44E7CFA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17752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8BD983AA-0F4A-45E5-9631-DE95D3748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4E327D0E-1174-49F8-B6E6-ED9C4C24C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909C250D-0505-42BE-A5E8-7419DF44E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1BEAFD8E-9839-4C72-8762-8562A91618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9D9C8-EE62-4186-8042-55E39FA4CDFD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9BFA4037-6B16-4DCF-B42A-04CA15059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F41A69A5-76C9-4317-9EA8-5195D125D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623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9E36BD6-A4CF-4B25-AB1E-51253291E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8749623F-E56B-4F2D-8C1B-7FE5A67088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638878DC-1F89-454E-8C22-21927454B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A95F9-FEC0-46BF-80AA-01DC38917C18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A9C32D40-FC59-4599-8DB0-4EDB5515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C4BECE70-0B94-4918-8A6B-CE318F78D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42917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1CC509A6-106F-4F30-B678-2B05478C05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4728D6E4-1D89-4B38-BBBD-0F0516981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C995D7F-87F4-4EAE-B067-A371E5D3C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8A44C-DB12-4F62-AD8F-32C2DBCE715B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B56F322D-4B78-410F-883C-30640F0A1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8A676F9-DE6E-4CF9-8A5F-C636669B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239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E67ADECC-9799-4216-9862-AA5ADA4C8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247C8BE3-DBC3-496D-978E-EEAF27BD1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EA01D7B-4D81-4C57-A818-0D2B635AD1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79E5E5-153C-49AA-BC4E-27CD0ADFC09E}" type="datetime1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t>2019-05-20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D5504206-C714-4A83-8AB2-390F6A4DB1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C61C595-D0A5-4894-99F9-5A8A1E0099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878A70-FB77-4F9B-8311-4FBED7F04F1E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708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ë°°íê·¸ë¼ì´ëì ëí ì´ë¯¸ì§ ê²ìê²°ê³¼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0870" y="246196"/>
            <a:ext cx="3635027" cy="1698981"/>
          </a:xfrm>
          <a:prstGeom prst="rect">
            <a:avLst/>
          </a:prstGeom>
          <a:noFill/>
          <a:effectLst>
            <a:reflection stA="50000" endPos="6500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직사각형 43">
            <a:extLst>
              <a:ext uri="{FF2B5EF4-FFF2-40B4-BE49-F238E27FC236}">
                <a16:creationId xmlns:a16="http://schemas.microsoft.com/office/drawing/2014/main" xmlns="" id="{D8241E59-0646-41EB-8ED0-090409856B7D}"/>
              </a:ext>
            </a:extLst>
          </p:cNvPr>
          <p:cNvSpPr/>
          <p:nvPr/>
        </p:nvSpPr>
        <p:spPr>
          <a:xfrm>
            <a:off x="0" y="3329431"/>
            <a:ext cx="12192000" cy="1301188"/>
          </a:xfrm>
          <a:prstGeom prst="rect">
            <a:avLst/>
          </a:prstGeom>
          <a:solidFill>
            <a:srgbClr val="181E26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24EDB60A-88EE-4624-924F-1D4B6948100C}"/>
              </a:ext>
            </a:extLst>
          </p:cNvPr>
          <p:cNvSpPr/>
          <p:nvPr/>
        </p:nvSpPr>
        <p:spPr>
          <a:xfrm>
            <a:off x="2555745" y="1761599"/>
            <a:ext cx="582651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400" b="1" i="1" kern="0" dirty="0" smtClean="0">
                <a:solidFill>
                  <a:srgbClr val="FFC000"/>
                </a:solidFill>
              </a:rPr>
              <a:t>PLAYERUNKNOWN’S BATTLEGROUND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2400" b="1" kern="0" dirty="0" smtClean="0">
                <a:solidFill>
                  <a:prstClr val="white"/>
                </a:solidFill>
              </a:rPr>
              <a:t>전투 </a:t>
            </a:r>
            <a:r>
              <a:rPr lang="en-US" altLang="ko-KR" sz="2400" b="1" kern="0" dirty="0" smtClean="0">
                <a:solidFill>
                  <a:prstClr val="white"/>
                </a:solidFill>
              </a:rPr>
              <a:t>UI </a:t>
            </a:r>
            <a:r>
              <a:rPr lang="ko-KR" altLang="en-US" sz="2400" b="1" kern="0" dirty="0" err="1" smtClean="0">
                <a:solidFill>
                  <a:prstClr val="white"/>
                </a:solidFill>
              </a:rPr>
              <a:t>역기획서</a:t>
            </a:r>
            <a:endParaRPr lang="en-US" altLang="ko-KR" sz="3200" b="1" kern="0" dirty="0">
              <a:solidFill>
                <a:prstClr val="white"/>
              </a:solidFill>
            </a:endParaRP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2431709" y="2010983"/>
            <a:ext cx="45719" cy="78408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2656152" y="3465515"/>
            <a:ext cx="372221" cy="372221"/>
            <a:chOff x="4110879" y="3817205"/>
            <a:chExt cx="276225" cy="276225"/>
          </a:xfrm>
        </p:grpSpPr>
        <p:sp>
          <p:nvSpPr>
            <p:cNvPr id="34" name="타원 33">
              <a:extLst>
                <a:ext uri="{FF2B5EF4-FFF2-40B4-BE49-F238E27FC236}">
                  <a16:creationId xmlns:a16="http://schemas.microsoft.com/office/drawing/2014/main" xmlns="" id="{D8241E59-0646-41EB-8ED0-090409856B7D}"/>
                </a:ext>
              </a:extLst>
            </p:cNvPr>
            <p:cNvSpPr/>
            <p:nvPr/>
          </p:nvSpPr>
          <p:spPr>
            <a:xfrm>
              <a:off x="4110879" y="3817205"/>
              <a:ext cx="276225" cy="276225"/>
            </a:xfrm>
            <a:prstGeom prst="ellipse">
              <a:avLst/>
            </a:prstGeom>
            <a:solidFill>
              <a:srgbClr val="090C0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sp>
          <p:nvSpPr>
            <p:cNvPr id="35" name="Freeform 11">
              <a:extLst>
                <a:ext uri="{FF2B5EF4-FFF2-40B4-BE49-F238E27FC236}">
                  <a16:creationId xmlns:a16="http://schemas.microsoft.com/office/drawing/2014/main" xmlns="" id="{C4F9A130-FA06-4C64-B9C8-AF00295A3700}"/>
                </a:ext>
              </a:extLst>
            </p:cNvPr>
            <p:cNvSpPr>
              <a:spLocks noEditPoints="1"/>
            </p:cNvSpPr>
            <p:nvPr/>
          </p:nvSpPr>
          <p:spPr bwMode="auto">
            <a:xfrm flipH="1">
              <a:off x="4181795" y="3892653"/>
              <a:ext cx="111637" cy="137059"/>
            </a:xfrm>
            <a:custGeom>
              <a:avLst/>
              <a:gdLst>
                <a:gd name="T0" fmla="*/ 1930 w 2831"/>
                <a:gd name="T1" fmla="*/ 2787 h 3472"/>
                <a:gd name="T2" fmla="*/ 1791 w 2831"/>
                <a:gd name="T3" fmla="*/ 2855 h 3472"/>
                <a:gd name="T4" fmla="*/ 2114 w 2831"/>
                <a:gd name="T5" fmla="*/ 3172 h 3472"/>
                <a:gd name="T6" fmla="*/ 2628 w 2831"/>
                <a:gd name="T7" fmla="*/ 2656 h 3472"/>
                <a:gd name="T8" fmla="*/ 2538 w 2831"/>
                <a:gd name="T9" fmla="*/ 2529 h 3472"/>
                <a:gd name="T10" fmla="*/ 1440 w 2831"/>
                <a:gd name="T11" fmla="*/ 2529 h 3472"/>
                <a:gd name="T12" fmla="*/ 914 w 2831"/>
                <a:gd name="T13" fmla="*/ 2569 h 3472"/>
                <a:gd name="T14" fmla="*/ 928 w 2831"/>
                <a:gd name="T15" fmla="*/ 2433 h 3472"/>
                <a:gd name="T16" fmla="*/ 807 w 2831"/>
                <a:gd name="T17" fmla="*/ 2382 h 3472"/>
                <a:gd name="T18" fmla="*/ 439 w 2831"/>
                <a:gd name="T19" fmla="*/ 2514 h 3472"/>
                <a:gd name="T20" fmla="*/ 470 w 2831"/>
                <a:gd name="T21" fmla="*/ 2433 h 3472"/>
                <a:gd name="T22" fmla="*/ 2186 w 2831"/>
                <a:gd name="T23" fmla="*/ 2182 h 3472"/>
                <a:gd name="T24" fmla="*/ 2642 w 2831"/>
                <a:gd name="T25" fmla="*/ 2371 h 3472"/>
                <a:gd name="T26" fmla="*/ 2831 w 2831"/>
                <a:gd name="T27" fmla="*/ 2827 h 3472"/>
                <a:gd name="T28" fmla="*/ 2642 w 2831"/>
                <a:gd name="T29" fmla="*/ 3283 h 3472"/>
                <a:gd name="T30" fmla="*/ 2186 w 2831"/>
                <a:gd name="T31" fmla="*/ 3472 h 3472"/>
                <a:gd name="T32" fmla="*/ 1729 w 2831"/>
                <a:gd name="T33" fmla="*/ 3283 h 3472"/>
                <a:gd name="T34" fmla="*/ 1540 w 2831"/>
                <a:gd name="T35" fmla="*/ 2827 h 3472"/>
                <a:gd name="T36" fmla="*/ 1729 w 2831"/>
                <a:gd name="T37" fmla="*/ 2371 h 3472"/>
                <a:gd name="T38" fmla="*/ 2186 w 2831"/>
                <a:gd name="T39" fmla="*/ 2182 h 3472"/>
                <a:gd name="T40" fmla="*/ 1540 w 2831"/>
                <a:gd name="T41" fmla="*/ 2083 h 3472"/>
                <a:gd name="T42" fmla="*/ 914 w 2831"/>
                <a:gd name="T43" fmla="*/ 2123 h 3472"/>
                <a:gd name="T44" fmla="*/ 928 w 2831"/>
                <a:gd name="T45" fmla="*/ 1986 h 3472"/>
                <a:gd name="T46" fmla="*/ 807 w 2831"/>
                <a:gd name="T47" fmla="*/ 1957 h 3472"/>
                <a:gd name="T48" fmla="*/ 439 w 2831"/>
                <a:gd name="T49" fmla="*/ 2088 h 3472"/>
                <a:gd name="T50" fmla="*/ 470 w 2831"/>
                <a:gd name="T51" fmla="*/ 2007 h 3472"/>
                <a:gd name="T52" fmla="*/ 944 w 2831"/>
                <a:gd name="T53" fmla="*/ 1588 h 3472"/>
                <a:gd name="T54" fmla="*/ 1786 w 2831"/>
                <a:gd name="T55" fmla="*/ 1702 h 3472"/>
                <a:gd name="T56" fmla="*/ 904 w 2831"/>
                <a:gd name="T57" fmla="*/ 1716 h 3472"/>
                <a:gd name="T58" fmla="*/ 944 w 2831"/>
                <a:gd name="T59" fmla="*/ 1588 h 3472"/>
                <a:gd name="T60" fmla="*/ 800 w 2831"/>
                <a:gd name="T61" fmla="*/ 1548 h 3472"/>
                <a:gd name="T62" fmla="*/ 430 w 2831"/>
                <a:gd name="T63" fmla="*/ 1656 h 3472"/>
                <a:gd name="T64" fmla="*/ 484 w 2831"/>
                <a:gd name="T65" fmla="*/ 1589 h 3472"/>
                <a:gd name="T66" fmla="*/ 1738 w 2831"/>
                <a:gd name="T67" fmla="*/ 1140 h 3472"/>
                <a:gd name="T68" fmla="*/ 1778 w 2831"/>
                <a:gd name="T69" fmla="*/ 1269 h 3472"/>
                <a:gd name="T70" fmla="*/ 896 w 2831"/>
                <a:gd name="T71" fmla="*/ 1255 h 3472"/>
                <a:gd name="T72" fmla="*/ 769 w 2831"/>
                <a:gd name="T73" fmla="*/ 1030 h 3472"/>
                <a:gd name="T74" fmla="*/ 616 w 2831"/>
                <a:gd name="T75" fmla="*/ 1312 h 3472"/>
                <a:gd name="T76" fmla="*/ 423 w 2831"/>
                <a:gd name="T77" fmla="*/ 1202 h 3472"/>
                <a:gd name="T78" fmla="*/ 496 w 2831"/>
                <a:gd name="T79" fmla="*/ 1154 h 3472"/>
                <a:gd name="T80" fmla="*/ 548 w 2831"/>
                <a:gd name="T81" fmla="*/ 372 h 3472"/>
                <a:gd name="T82" fmla="*/ 681 w 2831"/>
                <a:gd name="T83" fmla="*/ 618 h 3472"/>
                <a:gd name="T84" fmla="*/ 1588 w 2831"/>
                <a:gd name="T85" fmla="*/ 597 h 3472"/>
                <a:gd name="T86" fmla="*/ 1683 w 2831"/>
                <a:gd name="T87" fmla="*/ 347 h 3472"/>
                <a:gd name="T88" fmla="*/ 2201 w 2831"/>
                <a:gd name="T89" fmla="*/ 438 h 3472"/>
                <a:gd name="T90" fmla="*/ 2118 w 2831"/>
                <a:gd name="T91" fmla="*/ 2037 h 3472"/>
                <a:gd name="T92" fmla="*/ 1412 w 2831"/>
                <a:gd name="T93" fmla="*/ 3005 h 3472"/>
                <a:gd name="T94" fmla="*/ 47 w 2831"/>
                <a:gd name="T95" fmla="*/ 3054 h 3472"/>
                <a:gd name="T96" fmla="*/ 21 w 2831"/>
                <a:gd name="T97" fmla="*/ 455 h 3472"/>
                <a:gd name="T98" fmla="*/ 1118 w 2831"/>
                <a:gd name="T99" fmla="*/ 99 h 3472"/>
                <a:gd name="T100" fmla="*/ 1053 w 2831"/>
                <a:gd name="T101" fmla="*/ 211 h 3472"/>
                <a:gd name="T102" fmla="*/ 1182 w 2831"/>
                <a:gd name="T103" fmla="*/ 211 h 3472"/>
                <a:gd name="T104" fmla="*/ 1118 w 2831"/>
                <a:gd name="T105" fmla="*/ 99 h 3472"/>
                <a:gd name="T106" fmla="*/ 1268 w 2831"/>
                <a:gd name="T107" fmla="*/ 85 h 3472"/>
                <a:gd name="T108" fmla="*/ 1328 w 2831"/>
                <a:gd name="T109" fmla="*/ 238 h 3472"/>
                <a:gd name="T110" fmla="*/ 1564 w 2831"/>
                <a:gd name="T111" fmla="*/ 312 h 3472"/>
                <a:gd name="T112" fmla="*/ 1547 w 2831"/>
                <a:gd name="T113" fmla="*/ 503 h 3472"/>
                <a:gd name="T114" fmla="*/ 711 w 2831"/>
                <a:gd name="T115" fmla="*/ 521 h 3472"/>
                <a:gd name="T116" fmla="*/ 657 w 2831"/>
                <a:gd name="T117" fmla="*/ 338 h 3472"/>
                <a:gd name="T118" fmla="*/ 889 w 2831"/>
                <a:gd name="T119" fmla="*/ 245 h 3472"/>
                <a:gd name="T120" fmla="*/ 954 w 2831"/>
                <a:gd name="T121" fmla="*/ 112 h 34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831" h="3472">
                  <a:moveTo>
                    <a:pt x="2538" y="2529"/>
                  </a:moveTo>
                  <a:lnTo>
                    <a:pt x="2517" y="2531"/>
                  </a:lnTo>
                  <a:lnTo>
                    <a:pt x="2496" y="2537"/>
                  </a:lnTo>
                  <a:lnTo>
                    <a:pt x="2476" y="2547"/>
                  </a:lnTo>
                  <a:lnTo>
                    <a:pt x="2459" y="2563"/>
                  </a:lnTo>
                  <a:lnTo>
                    <a:pt x="2124" y="2939"/>
                  </a:lnTo>
                  <a:lnTo>
                    <a:pt x="1950" y="2800"/>
                  </a:lnTo>
                  <a:lnTo>
                    <a:pt x="1930" y="2787"/>
                  </a:lnTo>
                  <a:lnTo>
                    <a:pt x="1909" y="2780"/>
                  </a:lnTo>
                  <a:lnTo>
                    <a:pt x="1888" y="2778"/>
                  </a:lnTo>
                  <a:lnTo>
                    <a:pt x="1866" y="2780"/>
                  </a:lnTo>
                  <a:lnTo>
                    <a:pt x="1845" y="2787"/>
                  </a:lnTo>
                  <a:lnTo>
                    <a:pt x="1826" y="2799"/>
                  </a:lnTo>
                  <a:lnTo>
                    <a:pt x="1810" y="2814"/>
                  </a:lnTo>
                  <a:lnTo>
                    <a:pt x="1797" y="2834"/>
                  </a:lnTo>
                  <a:lnTo>
                    <a:pt x="1791" y="2855"/>
                  </a:lnTo>
                  <a:lnTo>
                    <a:pt x="1788" y="2876"/>
                  </a:lnTo>
                  <a:lnTo>
                    <a:pt x="1791" y="2899"/>
                  </a:lnTo>
                  <a:lnTo>
                    <a:pt x="1797" y="2920"/>
                  </a:lnTo>
                  <a:lnTo>
                    <a:pt x="1809" y="2938"/>
                  </a:lnTo>
                  <a:lnTo>
                    <a:pt x="1826" y="2954"/>
                  </a:lnTo>
                  <a:lnTo>
                    <a:pt x="2073" y="3152"/>
                  </a:lnTo>
                  <a:lnTo>
                    <a:pt x="2093" y="3165"/>
                  </a:lnTo>
                  <a:lnTo>
                    <a:pt x="2114" y="3172"/>
                  </a:lnTo>
                  <a:lnTo>
                    <a:pt x="2135" y="3174"/>
                  </a:lnTo>
                  <a:lnTo>
                    <a:pt x="2156" y="3172"/>
                  </a:lnTo>
                  <a:lnTo>
                    <a:pt x="2175" y="3166"/>
                  </a:lnTo>
                  <a:lnTo>
                    <a:pt x="2194" y="3155"/>
                  </a:lnTo>
                  <a:lnTo>
                    <a:pt x="2210" y="3142"/>
                  </a:lnTo>
                  <a:lnTo>
                    <a:pt x="2607" y="2694"/>
                  </a:lnTo>
                  <a:lnTo>
                    <a:pt x="2620" y="2676"/>
                  </a:lnTo>
                  <a:lnTo>
                    <a:pt x="2628" y="2656"/>
                  </a:lnTo>
                  <a:lnTo>
                    <a:pt x="2633" y="2633"/>
                  </a:lnTo>
                  <a:lnTo>
                    <a:pt x="2631" y="2612"/>
                  </a:lnTo>
                  <a:lnTo>
                    <a:pt x="2625" y="2591"/>
                  </a:lnTo>
                  <a:lnTo>
                    <a:pt x="2615" y="2571"/>
                  </a:lnTo>
                  <a:lnTo>
                    <a:pt x="2599" y="2555"/>
                  </a:lnTo>
                  <a:lnTo>
                    <a:pt x="2580" y="2542"/>
                  </a:lnTo>
                  <a:lnTo>
                    <a:pt x="2560" y="2534"/>
                  </a:lnTo>
                  <a:lnTo>
                    <a:pt x="2538" y="2529"/>
                  </a:lnTo>
                  <a:close/>
                  <a:moveTo>
                    <a:pt x="944" y="2430"/>
                  </a:moveTo>
                  <a:lnTo>
                    <a:pt x="1391" y="2430"/>
                  </a:lnTo>
                  <a:lnTo>
                    <a:pt x="1406" y="2433"/>
                  </a:lnTo>
                  <a:lnTo>
                    <a:pt x="1420" y="2440"/>
                  </a:lnTo>
                  <a:lnTo>
                    <a:pt x="1431" y="2450"/>
                  </a:lnTo>
                  <a:lnTo>
                    <a:pt x="1438" y="2464"/>
                  </a:lnTo>
                  <a:lnTo>
                    <a:pt x="1440" y="2480"/>
                  </a:lnTo>
                  <a:lnTo>
                    <a:pt x="1440" y="2529"/>
                  </a:lnTo>
                  <a:lnTo>
                    <a:pt x="1438" y="2545"/>
                  </a:lnTo>
                  <a:lnTo>
                    <a:pt x="1431" y="2559"/>
                  </a:lnTo>
                  <a:lnTo>
                    <a:pt x="1420" y="2569"/>
                  </a:lnTo>
                  <a:lnTo>
                    <a:pt x="1406" y="2577"/>
                  </a:lnTo>
                  <a:lnTo>
                    <a:pt x="1391" y="2579"/>
                  </a:lnTo>
                  <a:lnTo>
                    <a:pt x="944" y="2579"/>
                  </a:lnTo>
                  <a:lnTo>
                    <a:pt x="928" y="2577"/>
                  </a:lnTo>
                  <a:lnTo>
                    <a:pt x="914" y="2569"/>
                  </a:lnTo>
                  <a:lnTo>
                    <a:pt x="904" y="2559"/>
                  </a:lnTo>
                  <a:lnTo>
                    <a:pt x="896" y="2545"/>
                  </a:lnTo>
                  <a:lnTo>
                    <a:pt x="894" y="2529"/>
                  </a:lnTo>
                  <a:lnTo>
                    <a:pt x="894" y="2480"/>
                  </a:lnTo>
                  <a:lnTo>
                    <a:pt x="896" y="2464"/>
                  </a:lnTo>
                  <a:lnTo>
                    <a:pt x="904" y="2450"/>
                  </a:lnTo>
                  <a:lnTo>
                    <a:pt x="914" y="2440"/>
                  </a:lnTo>
                  <a:lnTo>
                    <a:pt x="928" y="2433"/>
                  </a:lnTo>
                  <a:lnTo>
                    <a:pt x="944" y="2430"/>
                  </a:lnTo>
                  <a:close/>
                  <a:moveTo>
                    <a:pt x="769" y="2319"/>
                  </a:moveTo>
                  <a:lnTo>
                    <a:pt x="783" y="2322"/>
                  </a:lnTo>
                  <a:lnTo>
                    <a:pt x="795" y="2330"/>
                  </a:lnTo>
                  <a:lnTo>
                    <a:pt x="805" y="2341"/>
                  </a:lnTo>
                  <a:lnTo>
                    <a:pt x="810" y="2355"/>
                  </a:lnTo>
                  <a:lnTo>
                    <a:pt x="810" y="2368"/>
                  </a:lnTo>
                  <a:lnTo>
                    <a:pt x="807" y="2382"/>
                  </a:lnTo>
                  <a:lnTo>
                    <a:pt x="800" y="2395"/>
                  </a:lnTo>
                  <a:lnTo>
                    <a:pt x="616" y="2600"/>
                  </a:lnTo>
                  <a:lnTo>
                    <a:pt x="606" y="2608"/>
                  </a:lnTo>
                  <a:lnTo>
                    <a:pt x="594" y="2613"/>
                  </a:lnTo>
                  <a:lnTo>
                    <a:pt x="581" y="2616"/>
                  </a:lnTo>
                  <a:lnTo>
                    <a:pt x="567" y="2612"/>
                  </a:lnTo>
                  <a:lnTo>
                    <a:pt x="553" y="2605"/>
                  </a:lnTo>
                  <a:lnTo>
                    <a:pt x="439" y="2514"/>
                  </a:lnTo>
                  <a:lnTo>
                    <a:pt x="430" y="2503"/>
                  </a:lnTo>
                  <a:lnTo>
                    <a:pt x="423" y="2490"/>
                  </a:lnTo>
                  <a:lnTo>
                    <a:pt x="422" y="2477"/>
                  </a:lnTo>
                  <a:lnTo>
                    <a:pt x="425" y="2463"/>
                  </a:lnTo>
                  <a:lnTo>
                    <a:pt x="432" y="2449"/>
                  </a:lnTo>
                  <a:lnTo>
                    <a:pt x="442" y="2440"/>
                  </a:lnTo>
                  <a:lnTo>
                    <a:pt x="456" y="2435"/>
                  </a:lnTo>
                  <a:lnTo>
                    <a:pt x="470" y="2433"/>
                  </a:lnTo>
                  <a:lnTo>
                    <a:pt x="484" y="2436"/>
                  </a:lnTo>
                  <a:lnTo>
                    <a:pt x="496" y="2443"/>
                  </a:lnTo>
                  <a:lnTo>
                    <a:pt x="576" y="2507"/>
                  </a:lnTo>
                  <a:lnTo>
                    <a:pt x="731" y="2334"/>
                  </a:lnTo>
                  <a:lnTo>
                    <a:pt x="742" y="2324"/>
                  </a:lnTo>
                  <a:lnTo>
                    <a:pt x="755" y="2320"/>
                  </a:lnTo>
                  <a:lnTo>
                    <a:pt x="769" y="2319"/>
                  </a:lnTo>
                  <a:close/>
                  <a:moveTo>
                    <a:pt x="2186" y="2182"/>
                  </a:moveTo>
                  <a:lnTo>
                    <a:pt x="2251" y="2185"/>
                  </a:lnTo>
                  <a:lnTo>
                    <a:pt x="2316" y="2196"/>
                  </a:lnTo>
                  <a:lnTo>
                    <a:pt x="2378" y="2212"/>
                  </a:lnTo>
                  <a:lnTo>
                    <a:pt x="2437" y="2233"/>
                  </a:lnTo>
                  <a:lnTo>
                    <a:pt x="2494" y="2260"/>
                  </a:lnTo>
                  <a:lnTo>
                    <a:pt x="2546" y="2293"/>
                  </a:lnTo>
                  <a:lnTo>
                    <a:pt x="2596" y="2329"/>
                  </a:lnTo>
                  <a:lnTo>
                    <a:pt x="2642" y="2371"/>
                  </a:lnTo>
                  <a:lnTo>
                    <a:pt x="2683" y="2417"/>
                  </a:lnTo>
                  <a:lnTo>
                    <a:pt x="2721" y="2466"/>
                  </a:lnTo>
                  <a:lnTo>
                    <a:pt x="2753" y="2520"/>
                  </a:lnTo>
                  <a:lnTo>
                    <a:pt x="2780" y="2577"/>
                  </a:lnTo>
                  <a:lnTo>
                    <a:pt x="2802" y="2636"/>
                  </a:lnTo>
                  <a:lnTo>
                    <a:pt x="2818" y="2698"/>
                  </a:lnTo>
                  <a:lnTo>
                    <a:pt x="2828" y="2761"/>
                  </a:lnTo>
                  <a:lnTo>
                    <a:pt x="2831" y="2827"/>
                  </a:lnTo>
                  <a:lnTo>
                    <a:pt x="2828" y="2893"/>
                  </a:lnTo>
                  <a:lnTo>
                    <a:pt x="2818" y="2958"/>
                  </a:lnTo>
                  <a:lnTo>
                    <a:pt x="2802" y="3019"/>
                  </a:lnTo>
                  <a:lnTo>
                    <a:pt x="2780" y="3079"/>
                  </a:lnTo>
                  <a:lnTo>
                    <a:pt x="2753" y="3134"/>
                  </a:lnTo>
                  <a:lnTo>
                    <a:pt x="2721" y="3188"/>
                  </a:lnTo>
                  <a:lnTo>
                    <a:pt x="2683" y="3237"/>
                  </a:lnTo>
                  <a:lnTo>
                    <a:pt x="2642" y="3283"/>
                  </a:lnTo>
                  <a:lnTo>
                    <a:pt x="2596" y="3325"/>
                  </a:lnTo>
                  <a:lnTo>
                    <a:pt x="2546" y="3362"/>
                  </a:lnTo>
                  <a:lnTo>
                    <a:pt x="2494" y="3394"/>
                  </a:lnTo>
                  <a:lnTo>
                    <a:pt x="2437" y="3421"/>
                  </a:lnTo>
                  <a:lnTo>
                    <a:pt x="2378" y="3443"/>
                  </a:lnTo>
                  <a:lnTo>
                    <a:pt x="2316" y="3459"/>
                  </a:lnTo>
                  <a:lnTo>
                    <a:pt x="2251" y="3469"/>
                  </a:lnTo>
                  <a:lnTo>
                    <a:pt x="2186" y="3472"/>
                  </a:lnTo>
                  <a:lnTo>
                    <a:pt x="2120" y="3469"/>
                  </a:lnTo>
                  <a:lnTo>
                    <a:pt x="2055" y="3459"/>
                  </a:lnTo>
                  <a:lnTo>
                    <a:pt x="1993" y="3443"/>
                  </a:lnTo>
                  <a:lnTo>
                    <a:pt x="1934" y="3421"/>
                  </a:lnTo>
                  <a:lnTo>
                    <a:pt x="1877" y="3394"/>
                  </a:lnTo>
                  <a:lnTo>
                    <a:pt x="1825" y="3362"/>
                  </a:lnTo>
                  <a:lnTo>
                    <a:pt x="1775" y="3325"/>
                  </a:lnTo>
                  <a:lnTo>
                    <a:pt x="1729" y="3283"/>
                  </a:lnTo>
                  <a:lnTo>
                    <a:pt x="1688" y="3237"/>
                  </a:lnTo>
                  <a:lnTo>
                    <a:pt x="1650" y="3188"/>
                  </a:lnTo>
                  <a:lnTo>
                    <a:pt x="1618" y="3134"/>
                  </a:lnTo>
                  <a:lnTo>
                    <a:pt x="1591" y="3079"/>
                  </a:lnTo>
                  <a:lnTo>
                    <a:pt x="1569" y="3019"/>
                  </a:lnTo>
                  <a:lnTo>
                    <a:pt x="1553" y="2958"/>
                  </a:lnTo>
                  <a:lnTo>
                    <a:pt x="1543" y="2893"/>
                  </a:lnTo>
                  <a:lnTo>
                    <a:pt x="1540" y="2827"/>
                  </a:lnTo>
                  <a:lnTo>
                    <a:pt x="1543" y="2761"/>
                  </a:lnTo>
                  <a:lnTo>
                    <a:pt x="1553" y="2698"/>
                  </a:lnTo>
                  <a:lnTo>
                    <a:pt x="1569" y="2636"/>
                  </a:lnTo>
                  <a:lnTo>
                    <a:pt x="1591" y="2577"/>
                  </a:lnTo>
                  <a:lnTo>
                    <a:pt x="1618" y="2520"/>
                  </a:lnTo>
                  <a:lnTo>
                    <a:pt x="1650" y="2466"/>
                  </a:lnTo>
                  <a:lnTo>
                    <a:pt x="1688" y="2417"/>
                  </a:lnTo>
                  <a:lnTo>
                    <a:pt x="1729" y="2371"/>
                  </a:lnTo>
                  <a:lnTo>
                    <a:pt x="1775" y="2329"/>
                  </a:lnTo>
                  <a:lnTo>
                    <a:pt x="1825" y="2293"/>
                  </a:lnTo>
                  <a:lnTo>
                    <a:pt x="1877" y="2260"/>
                  </a:lnTo>
                  <a:lnTo>
                    <a:pt x="1934" y="2233"/>
                  </a:lnTo>
                  <a:lnTo>
                    <a:pt x="1993" y="2212"/>
                  </a:lnTo>
                  <a:lnTo>
                    <a:pt x="2055" y="2196"/>
                  </a:lnTo>
                  <a:lnTo>
                    <a:pt x="2120" y="2185"/>
                  </a:lnTo>
                  <a:lnTo>
                    <a:pt x="2186" y="2182"/>
                  </a:lnTo>
                  <a:close/>
                  <a:moveTo>
                    <a:pt x="944" y="1984"/>
                  </a:moveTo>
                  <a:lnTo>
                    <a:pt x="1491" y="1984"/>
                  </a:lnTo>
                  <a:lnTo>
                    <a:pt x="1505" y="1986"/>
                  </a:lnTo>
                  <a:lnTo>
                    <a:pt x="1519" y="1994"/>
                  </a:lnTo>
                  <a:lnTo>
                    <a:pt x="1531" y="2004"/>
                  </a:lnTo>
                  <a:lnTo>
                    <a:pt x="1537" y="2018"/>
                  </a:lnTo>
                  <a:lnTo>
                    <a:pt x="1540" y="2034"/>
                  </a:lnTo>
                  <a:lnTo>
                    <a:pt x="1540" y="2083"/>
                  </a:lnTo>
                  <a:lnTo>
                    <a:pt x="1537" y="2099"/>
                  </a:lnTo>
                  <a:lnTo>
                    <a:pt x="1531" y="2113"/>
                  </a:lnTo>
                  <a:lnTo>
                    <a:pt x="1519" y="2123"/>
                  </a:lnTo>
                  <a:lnTo>
                    <a:pt x="1505" y="2131"/>
                  </a:lnTo>
                  <a:lnTo>
                    <a:pt x="1491" y="2133"/>
                  </a:lnTo>
                  <a:lnTo>
                    <a:pt x="944" y="2133"/>
                  </a:lnTo>
                  <a:lnTo>
                    <a:pt x="928" y="2131"/>
                  </a:lnTo>
                  <a:lnTo>
                    <a:pt x="914" y="2123"/>
                  </a:lnTo>
                  <a:lnTo>
                    <a:pt x="904" y="2113"/>
                  </a:lnTo>
                  <a:lnTo>
                    <a:pt x="896" y="2099"/>
                  </a:lnTo>
                  <a:lnTo>
                    <a:pt x="894" y="2083"/>
                  </a:lnTo>
                  <a:lnTo>
                    <a:pt x="894" y="2034"/>
                  </a:lnTo>
                  <a:lnTo>
                    <a:pt x="896" y="2018"/>
                  </a:lnTo>
                  <a:lnTo>
                    <a:pt x="904" y="2004"/>
                  </a:lnTo>
                  <a:lnTo>
                    <a:pt x="914" y="1994"/>
                  </a:lnTo>
                  <a:lnTo>
                    <a:pt x="928" y="1986"/>
                  </a:lnTo>
                  <a:lnTo>
                    <a:pt x="944" y="1984"/>
                  </a:lnTo>
                  <a:close/>
                  <a:moveTo>
                    <a:pt x="769" y="1894"/>
                  </a:moveTo>
                  <a:lnTo>
                    <a:pt x="783" y="1897"/>
                  </a:lnTo>
                  <a:lnTo>
                    <a:pt x="795" y="1905"/>
                  </a:lnTo>
                  <a:lnTo>
                    <a:pt x="805" y="1916"/>
                  </a:lnTo>
                  <a:lnTo>
                    <a:pt x="810" y="1930"/>
                  </a:lnTo>
                  <a:lnTo>
                    <a:pt x="810" y="1943"/>
                  </a:lnTo>
                  <a:lnTo>
                    <a:pt x="807" y="1957"/>
                  </a:lnTo>
                  <a:lnTo>
                    <a:pt x="800" y="1970"/>
                  </a:lnTo>
                  <a:lnTo>
                    <a:pt x="616" y="2175"/>
                  </a:lnTo>
                  <a:lnTo>
                    <a:pt x="606" y="2183"/>
                  </a:lnTo>
                  <a:lnTo>
                    <a:pt x="594" y="2188"/>
                  </a:lnTo>
                  <a:lnTo>
                    <a:pt x="581" y="2191"/>
                  </a:lnTo>
                  <a:lnTo>
                    <a:pt x="567" y="2187"/>
                  </a:lnTo>
                  <a:lnTo>
                    <a:pt x="553" y="2180"/>
                  </a:lnTo>
                  <a:lnTo>
                    <a:pt x="439" y="2088"/>
                  </a:lnTo>
                  <a:lnTo>
                    <a:pt x="430" y="2078"/>
                  </a:lnTo>
                  <a:lnTo>
                    <a:pt x="423" y="2065"/>
                  </a:lnTo>
                  <a:lnTo>
                    <a:pt x="422" y="2052"/>
                  </a:lnTo>
                  <a:lnTo>
                    <a:pt x="425" y="2038"/>
                  </a:lnTo>
                  <a:lnTo>
                    <a:pt x="432" y="2024"/>
                  </a:lnTo>
                  <a:lnTo>
                    <a:pt x="442" y="2015"/>
                  </a:lnTo>
                  <a:lnTo>
                    <a:pt x="456" y="2010"/>
                  </a:lnTo>
                  <a:lnTo>
                    <a:pt x="470" y="2007"/>
                  </a:lnTo>
                  <a:lnTo>
                    <a:pt x="484" y="2011"/>
                  </a:lnTo>
                  <a:lnTo>
                    <a:pt x="496" y="2018"/>
                  </a:lnTo>
                  <a:lnTo>
                    <a:pt x="576" y="2082"/>
                  </a:lnTo>
                  <a:lnTo>
                    <a:pt x="731" y="1909"/>
                  </a:lnTo>
                  <a:lnTo>
                    <a:pt x="742" y="1899"/>
                  </a:lnTo>
                  <a:lnTo>
                    <a:pt x="755" y="1895"/>
                  </a:lnTo>
                  <a:lnTo>
                    <a:pt x="769" y="1894"/>
                  </a:lnTo>
                  <a:close/>
                  <a:moveTo>
                    <a:pt x="944" y="1588"/>
                  </a:moveTo>
                  <a:lnTo>
                    <a:pt x="1738" y="1588"/>
                  </a:lnTo>
                  <a:lnTo>
                    <a:pt x="1754" y="1590"/>
                  </a:lnTo>
                  <a:lnTo>
                    <a:pt x="1768" y="1597"/>
                  </a:lnTo>
                  <a:lnTo>
                    <a:pt x="1778" y="1608"/>
                  </a:lnTo>
                  <a:lnTo>
                    <a:pt x="1786" y="1621"/>
                  </a:lnTo>
                  <a:lnTo>
                    <a:pt x="1788" y="1637"/>
                  </a:lnTo>
                  <a:lnTo>
                    <a:pt x="1788" y="1687"/>
                  </a:lnTo>
                  <a:lnTo>
                    <a:pt x="1786" y="1702"/>
                  </a:lnTo>
                  <a:lnTo>
                    <a:pt x="1778" y="1716"/>
                  </a:lnTo>
                  <a:lnTo>
                    <a:pt x="1768" y="1727"/>
                  </a:lnTo>
                  <a:lnTo>
                    <a:pt x="1754" y="1734"/>
                  </a:lnTo>
                  <a:lnTo>
                    <a:pt x="1738" y="1736"/>
                  </a:lnTo>
                  <a:lnTo>
                    <a:pt x="944" y="1736"/>
                  </a:lnTo>
                  <a:lnTo>
                    <a:pt x="928" y="1734"/>
                  </a:lnTo>
                  <a:lnTo>
                    <a:pt x="914" y="1727"/>
                  </a:lnTo>
                  <a:lnTo>
                    <a:pt x="904" y="1716"/>
                  </a:lnTo>
                  <a:lnTo>
                    <a:pt x="896" y="1702"/>
                  </a:lnTo>
                  <a:lnTo>
                    <a:pt x="894" y="1687"/>
                  </a:lnTo>
                  <a:lnTo>
                    <a:pt x="894" y="1637"/>
                  </a:lnTo>
                  <a:lnTo>
                    <a:pt x="896" y="1621"/>
                  </a:lnTo>
                  <a:lnTo>
                    <a:pt x="904" y="1608"/>
                  </a:lnTo>
                  <a:lnTo>
                    <a:pt x="914" y="1597"/>
                  </a:lnTo>
                  <a:lnTo>
                    <a:pt x="928" y="1590"/>
                  </a:lnTo>
                  <a:lnTo>
                    <a:pt x="944" y="1588"/>
                  </a:lnTo>
                  <a:close/>
                  <a:moveTo>
                    <a:pt x="769" y="1472"/>
                  </a:moveTo>
                  <a:lnTo>
                    <a:pt x="783" y="1475"/>
                  </a:lnTo>
                  <a:lnTo>
                    <a:pt x="795" y="1483"/>
                  </a:lnTo>
                  <a:lnTo>
                    <a:pt x="805" y="1494"/>
                  </a:lnTo>
                  <a:lnTo>
                    <a:pt x="810" y="1508"/>
                  </a:lnTo>
                  <a:lnTo>
                    <a:pt x="810" y="1521"/>
                  </a:lnTo>
                  <a:lnTo>
                    <a:pt x="807" y="1535"/>
                  </a:lnTo>
                  <a:lnTo>
                    <a:pt x="800" y="1548"/>
                  </a:lnTo>
                  <a:lnTo>
                    <a:pt x="616" y="1753"/>
                  </a:lnTo>
                  <a:lnTo>
                    <a:pt x="606" y="1761"/>
                  </a:lnTo>
                  <a:lnTo>
                    <a:pt x="594" y="1767"/>
                  </a:lnTo>
                  <a:lnTo>
                    <a:pt x="581" y="1769"/>
                  </a:lnTo>
                  <a:lnTo>
                    <a:pt x="567" y="1765"/>
                  </a:lnTo>
                  <a:lnTo>
                    <a:pt x="553" y="1758"/>
                  </a:lnTo>
                  <a:lnTo>
                    <a:pt x="439" y="1667"/>
                  </a:lnTo>
                  <a:lnTo>
                    <a:pt x="430" y="1656"/>
                  </a:lnTo>
                  <a:lnTo>
                    <a:pt x="423" y="1643"/>
                  </a:lnTo>
                  <a:lnTo>
                    <a:pt x="422" y="1630"/>
                  </a:lnTo>
                  <a:lnTo>
                    <a:pt x="425" y="1615"/>
                  </a:lnTo>
                  <a:lnTo>
                    <a:pt x="432" y="1602"/>
                  </a:lnTo>
                  <a:lnTo>
                    <a:pt x="442" y="1593"/>
                  </a:lnTo>
                  <a:lnTo>
                    <a:pt x="456" y="1588"/>
                  </a:lnTo>
                  <a:lnTo>
                    <a:pt x="470" y="1586"/>
                  </a:lnTo>
                  <a:lnTo>
                    <a:pt x="484" y="1589"/>
                  </a:lnTo>
                  <a:lnTo>
                    <a:pt x="496" y="1596"/>
                  </a:lnTo>
                  <a:lnTo>
                    <a:pt x="576" y="1660"/>
                  </a:lnTo>
                  <a:lnTo>
                    <a:pt x="731" y="1487"/>
                  </a:lnTo>
                  <a:lnTo>
                    <a:pt x="742" y="1477"/>
                  </a:lnTo>
                  <a:lnTo>
                    <a:pt x="755" y="1473"/>
                  </a:lnTo>
                  <a:lnTo>
                    <a:pt x="769" y="1472"/>
                  </a:lnTo>
                  <a:close/>
                  <a:moveTo>
                    <a:pt x="944" y="1140"/>
                  </a:moveTo>
                  <a:lnTo>
                    <a:pt x="1738" y="1140"/>
                  </a:lnTo>
                  <a:lnTo>
                    <a:pt x="1754" y="1144"/>
                  </a:lnTo>
                  <a:lnTo>
                    <a:pt x="1768" y="1150"/>
                  </a:lnTo>
                  <a:lnTo>
                    <a:pt x="1778" y="1162"/>
                  </a:lnTo>
                  <a:lnTo>
                    <a:pt x="1786" y="1175"/>
                  </a:lnTo>
                  <a:lnTo>
                    <a:pt x="1788" y="1190"/>
                  </a:lnTo>
                  <a:lnTo>
                    <a:pt x="1788" y="1240"/>
                  </a:lnTo>
                  <a:lnTo>
                    <a:pt x="1786" y="1255"/>
                  </a:lnTo>
                  <a:lnTo>
                    <a:pt x="1778" y="1269"/>
                  </a:lnTo>
                  <a:lnTo>
                    <a:pt x="1768" y="1280"/>
                  </a:lnTo>
                  <a:lnTo>
                    <a:pt x="1754" y="1287"/>
                  </a:lnTo>
                  <a:lnTo>
                    <a:pt x="1738" y="1290"/>
                  </a:lnTo>
                  <a:lnTo>
                    <a:pt x="944" y="1290"/>
                  </a:lnTo>
                  <a:lnTo>
                    <a:pt x="928" y="1287"/>
                  </a:lnTo>
                  <a:lnTo>
                    <a:pt x="914" y="1280"/>
                  </a:lnTo>
                  <a:lnTo>
                    <a:pt x="904" y="1269"/>
                  </a:lnTo>
                  <a:lnTo>
                    <a:pt x="896" y="1255"/>
                  </a:lnTo>
                  <a:lnTo>
                    <a:pt x="894" y="1240"/>
                  </a:lnTo>
                  <a:lnTo>
                    <a:pt x="894" y="1190"/>
                  </a:lnTo>
                  <a:lnTo>
                    <a:pt x="896" y="1175"/>
                  </a:lnTo>
                  <a:lnTo>
                    <a:pt x="904" y="1162"/>
                  </a:lnTo>
                  <a:lnTo>
                    <a:pt x="914" y="1150"/>
                  </a:lnTo>
                  <a:lnTo>
                    <a:pt x="928" y="1144"/>
                  </a:lnTo>
                  <a:lnTo>
                    <a:pt x="944" y="1140"/>
                  </a:lnTo>
                  <a:close/>
                  <a:moveTo>
                    <a:pt x="769" y="1030"/>
                  </a:moveTo>
                  <a:lnTo>
                    <a:pt x="783" y="1034"/>
                  </a:lnTo>
                  <a:lnTo>
                    <a:pt x="795" y="1042"/>
                  </a:lnTo>
                  <a:lnTo>
                    <a:pt x="805" y="1053"/>
                  </a:lnTo>
                  <a:lnTo>
                    <a:pt x="810" y="1066"/>
                  </a:lnTo>
                  <a:lnTo>
                    <a:pt x="810" y="1081"/>
                  </a:lnTo>
                  <a:lnTo>
                    <a:pt x="807" y="1094"/>
                  </a:lnTo>
                  <a:lnTo>
                    <a:pt x="800" y="1106"/>
                  </a:lnTo>
                  <a:lnTo>
                    <a:pt x="616" y="1312"/>
                  </a:lnTo>
                  <a:lnTo>
                    <a:pt x="606" y="1320"/>
                  </a:lnTo>
                  <a:lnTo>
                    <a:pt x="594" y="1326"/>
                  </a:lnTo>
                  <a:lnTo>
                    <a:pt x="581" y="1327"/>
                  </a:lnTo>
                  <a:lnTo>
                    <a:pt x="567" y="1325"/>
                  </a:lnTo>
                  <a:lnTo>
                    <a:pt x="553" y="1317"/>
                  </a:lnTo>
                  <a:lnTo>
                    <a:pt x="439" y="1226"/>
                  </a:lnTo>
                  <a:lnTo>
                    <a:pt x="430" y="1215"/>
                  </a:lnTo>
                  <a:lnTo>
                    <a:pt x="423" y="1202"/>
                  </a:lnTo>
                  <a:lnTo>
                    <a:pt x="422" y="1188"/>
                  </a:lnTo>
                  <a:lnTo>
                    <a:pt x="425" y="1174"/>
                  </a:lnTo>
                  <a:lnTo>
                    <a:pt x="432" y="1162"/>
                  </a:lnTo>
                  <a:lnTo>
                    <a:pt x="442" y="1152"/>
                  </a:lnTo>
                  <a:lnTo>
                    <a:pt x="456" y="1146"/>
                  </a:lnTo>
                  <a:lnTo>
                    <a:pt x="470" y="1145"/>
                  </a:lnTo>
                  <a:lnTo>
                    <a:pt x="484" y="1147"/>
                  </a:lnTo>
                  <a:lnTo>
                    <a:pt x="496" y="1154"/>
                  </a:lnTo>
                  <a:lnTo>
                    <a:pt x="576" y="1218"/>
                  </a:lnTo>
                  <a:lnTo>
                    <a:pt x="731" y="1046"/>
                  </a:lnTo>
                  <a:lnTo>
                    <a:pt x="742" y="1036"/>
                  </a:lnTo>
                  <a:lnTo>
                    <a:pt x="755" y="1031"/>
                  </a:lnTo>
                  <a:lnTo>
                    <a:pt x="769" y="1030"/>
                  </a:lnTo>
                  <a:close/>
                  <a:moveTo>
                    <a:pt x="150" y="347"/>
                  </a:moveTo>
                  <a:lnTo>
                    <a:pt x="552" y="347"/>
                  </a:lnTo>
                  <a:lnTo>
                    <a:pt x="548" y="372"/>
                  </a:lnTo>
                  <a:lnTo>
                    <a:pt x="547" y="399"/>
                  </a:lnTo>
                  <a:lnTo>
                    <a:pt x="550" y="439"/>
                  </a:lnTo>
                  <a:lnTo>
                    <a:pt x="559" y="477"/>
                  </a:lnTo>
                  <a:lnTo>
                    <a:pt x="574" y="511"/>
                  </a:lnTo>
                  <a:lnTo>
                    <a:pt x="594" y="544"/>
                  </a:lnTo>
                  <a:lnTo>
                    <a:pt x="618" y="572"/>
                  </a:lnTo>
                  <a:lnTo>
                    <a:pt x="648" y="598"/>
                  </a:lnTo>
                  <a:lnTo>
                    <a:pt x="681" y="618"/>
                  </a:lnTo>
                  <a:lnTo>
                    <a:pt x="715" y="632"/>
                  </a:lnTo>
                  <a:lnTo>
                    <a:pt x="753" y="642"/>
                  </a:lnTo>
                  <a:lnTo>
                    <a:pt x="793" y="645"/>
                  </a:lnTo>
                  <a:lnTo>
                    <a:pt x="1442" y="645"/>
                  </a:lnTo>
                  <a:lnTo>
                    <a:pt x="1482" y="642"/>
                  </a:lnTo>
                  <a:lnTo>
                    <a:pt x="1520" y="632"/>
                  </a:lnTo>
                  <a:lnTo>
                    <a:pt x="1555" y="618"/>
                  </a:lnTo>
                  <a:lnTo>
                    <a:pt x="1588" y="597"/>
                  </a:lnTo>
                  <a:lnTo>
                    <a:pt x="1616" y="572"/>
                  </a:lnTo>
                  <a:lnTo>
                    <a:pt x="1641" y="543"/>
                  </a:lnTo>
                  <a:lnTo>
                    <a:pt x="1661" y="510"/>
                  </a:lnTo>
                  <a:lnTo>
                    <a:pt x="1676" y="475"/>
                  </a:lnTo>
                  <a:lnTo>
                    <a:pt x="1686" y="436"/>
                  </a:lnTo>
                  <a:lnTo>
                    <a:pt x="1689" y="396"/>
                  </a:lnTo>
                  <a:lnTo>
                    <a:pt x="1688" y="371"/>
                  </a:lnTo>
                  <a:lnTo>
                    <a:pt x="1683" y="347"/>
                  </a:lnTo>
                  <a:lnTo>
                    <a:pt x="1987" y="347"/>
                  </a:lnTo>
                  <a:lnTo>
                    <a:pt x="2029" y="349"/>
                  </a:lnTo>
                  <a:lnTo>
                    <a:pt x="2067" y="356"/>
                  </a:lnTo>
                  <a:lnTo>
                    <a:pt x="2101" y="366"/>
                  </a:lnTo>
                  <a:lnTo>
                    <a:pt x="2132" y="379"/>
                  </a:lnTo>
                  <a:lnTo>
                    <a:pt x="2159" y="396"/>
                  </a:lnTo>
                  <a:lnTo>
                    <a:pt x="2182" y="416"/>
                  </a:lnTo>
                  <a:lnTo>
                    <a:pt x="2201" y="438"/>
                  </a:lnTo>
                  <a:lnTo>
                    <a:pt x="2215" y="462"/>
                  </a:lnTo>
                  <a:lnTo>
                    <a:pt x="2226" y="488"/>
                  </a:lnTo>
                  <a:lnTo>
                    <a:pt x="2233" y="517"/>
                  </a:lnTo>
                  <a:lnTo>
                    <a:pt x="2235" y="546"/>
                  </a:lnTo>
                  <a:lnTo>
                    <a:pt x="2235" y="2036"/>
                  </a:lnTo>
                  <a:lnTo>
                    <a:pt x="2210" y="2035"/>
                  </a:lnTo>
                  <a:lnTo>
                    <a:pt x="2186" y="2034"/>
                  </a:lnTo>
                  <a:lnTo>
                    <a:pt x="2118" y="2037"/>
                  </a:lnTo>
                  <a:lnTo>
                    <a:pt x="2051" y="2045"/>
                  </a:lnTo>
                  <a:lnTo>
                    <a:pt x="1987" y="2060"/>
                  </a:lnTo>
                  <a:lnTo>
                    <a:pt x="1987" y="893"/>
                  </a:lnTo>
                  <a:lnTo>
                    <a:pt x="249" y="893"/>
                  </a:lnTo>
                  <a:lnTo>
                    <a:pt x="249" y="2876"/>
                  </a:lnTo>
                  <a:lnTo>
                    <a:pt x="1394" y="2876"/>
                  </a:lnTo>
                  <a:lnTo>
                    <a:pt x="1400" y="2942"/>
                  </a:lnTo>
                  <a:lnTo>
                    <a:pt x="1412" y="3005"/>
                  </a:lnTo>
                  <a:lnTo>
                    <a:pt x="1429" y="3066"/>
                  </a:lnTo>
                  <a:lnTo>
                    <a:pt x="1450" y="3125"/>
                  </a:lnTo>
                  <a:lnTo>
                    <a:pt x="199" y="3125"/>
                  </a:lnTo>
                  <a:lnTo>
                    <a:pt x="163" y="3122"/>
                  </a:lnTo>
                  <a:lnTo>
                    <a:pt x="130" y="3112"/>
                  </a:lnTo>
                  <a:lnTo>
                    <a:pt x="99" y="3097"/>
                  </a:lnTo>
                  <a:lnTo>
                    <a:pt x="71" y="3079"/>
                  </a:lnTo>
                  <a:lnTo>
                    <a:pt x="47" y="3054"/>
                  </a:lnTo>
                  <a:lnTo>
                    <a:pt x="27" y="3027"/>
                  </a:lnTo>
                  <a:lnTo>
                    <a:pt x="13" y="2995"/>
                  </a:lnTo>
                  <a:lnTo>
                    <a:pt x="3" y="2962"/>
                  </a:lnTo>
                  <a:lnTo>
                    <a:pt x="0" y="2926"/>
                  </a:lnTo>
                  <a:lnTo>
                    <a:pt x="0" y="546"/>
                  </a:lnTo>
                  <a:lnTo>
                    <a:pt x="3" y="513"/>
                  </a:lnTo>
                  <a:lnTo>
                    <a:pt x="9" y="483"/>
                  </a:lnTo>
                  <a:lnTo>
                    <a:pt x="21" y="455"/>
                  </a:lnTo>
                  <a:lnTo>
                    <a:pt x="36" y="428"/>
                  </a:lnTo>
                  <a:lnTo>
                    <a:pt x="53" y="405"/>
                  </a:lnTo>
                  <a:lnTo>
                    <a:pt x="71" y="385"/>
                  </a:lnTo>
                  <a:lnTo>
                    <a:pt x="91" y="369"/>
                  </a:lnTo>
                  <a:lnTo>
                    <a:pt x="111" y="358"/>
                  </a:lnTo>
                  <a:lnTo>
                    <a:pt x="131" y="349"/>
                  </a:lnTo>
                  <a:lnTo>
                    <a:pt x="150" y="347"/>
                  </a:lnTo>
                  <a:close/>
                  <a:moveTo>
                    <a:pt x="1118" y="99"/>
                  </a:moveTo>
                  <a:lnTo>
                    <a:pt x="1098" y="102"/>
                  </a:lnTo>
                  <a:lnTo>
                    <a:pt x="1080" y="109"/>
                  </a:lnTo>
                  <a:lnTo>
                    <a:pt x="1065" y="121"/>
                  </a:lnTo>
                  <a:lnTo>
                    <a:pt x="1053" y="136"/>
                  </a:lnTo>
                  <a:lnTo>
                    <a:pt x="1046" y="154"/>
                  </a:lnTo>
                  <a:lnTo>
                    <a:pt x="1043" y="174"/>
                  </a:lnTo>
                  <a:lnTo>
                    <a:pt x="1046" y="194"/>
                  </a:lnTo>
                  <a:lnTo>
                    <a:pt x="1053" y="211"/>
                  </a:lnTo>
                  <a:lnTo>
                    <a:pt x="1065" y="226"/>
                  </a:lnTo>
                  <a:lnTo>
                    <a:pt x="1080" y="238"/>
                  </a:lnTo>
                  <a:lnTo>
                    <a:pt x="1098" y="245"/>
                  </a:lnTo>
                  <a:lnTo>
                    <a:pt x="1118" y="248"/>
                  </a:lnTo>
                  <a:lnTo>
                    <a:pt x="1138" y="245"/>
                  </a:lnTo>
                  <a:lnTo>
                    <a:pt x="1156" y="238"/>
                  </a:lnTo>
                  <a:lnTo>
                    <a:pt x="1170" y="226"/>
                  </a:lnTo>
                  <a:lnTo>
                    <a:pt x="1182" y="211"/>
                  </a:lnTo>
                  <a:lnTo>
                    <a:pt x="1189" y="194"/>
                  </a:lnTo>
                  <a:lnTo>
                    <a:pt x="1193" y="174"/>
                  </a:lnTo>
                  <a:lnTo>
                    <a:pt x="1189" y="154"/>
                  </a:lnTo>
                  <a:lnTo>
                    <a:pt x="1182" y="136"/>
                  </a:lnTo>
                  <a:lnTo>
                    <a:pt x="1170" y="121"/>
                  </a:lnTo>
                  <a:lnTo>
                    <a:pt x="1156" y="109"/>
                  </a:lnTo>
                  <a:lnTo>
                    <a:pt x="1138" y="102"/>
                  </a:lnTo>
                  <a:lnTo>
                    <a:pt x="1118" y="99"/>
                  </a:lnTo>
                  <a:close/>
                  <a:moveTo>
                    <a:pt x="1116" y="0"/>
                  </a:moveTo>
                  <a:lnTo>
                    <a:pt x="1120" y="0"/>
                  </a:lnTo>
                  <a:lnTo>
                    <a:pt x="1150" y="3"/>
                  </a:lnTo>
                  <a:lnTo>
                    <a:pt x="1180" y="11"/>
                  </a:lnTo>
                  <a:lnTo>
                    <a:pt x="1206" y="23"/>
                  </a:lnTo>
                  <a:lnTo>
                    <a:pt x="1230" y="40"/>
                  </a:lnTo>
                  <a:lnTo>
                    <a:pt x="1252" y="61"/>
                  </a:lnTo>
                  <a:lnTo>
                    <a:pt x="1268" y="85"/>
                  </a:lnTo>
                  <a:lnTo>
                    <a:pt x="1281" y="112"/>
                  </a:lnTo>
                  <a:lnTo>
                    <a:pt x="1288" y="141"/>
                  </a:lnTo>
                  <a:lnTo>
                    <a:pt x="1292" y="171"/>
                  </a:lnTo>
                  <a:lnTo>
                    <a:pt x="1292" y="174"/>
                  </a:lnTo>
                  <a:lnTo>
                    <a:pt x="1294" y="194"/>
                  </a:lnTo>
                  <a:lnTo>
                    <a:pt x="1302" y="211"/>
                  </a:lnTo>
                  <a:lnTo>
                    <a:pt x="1314" y="226"/>
                  </a:lnTo>
                  <a:lnTo>
                    <a:pt x="1328" y="238"/>
                  </a:lnTo>
                  <a:lnTo>
                    <a:pt x="1345" y="245"/>
                  </a:lnTo>
                  <a:lnTo>
                    <a:pt x="1365" y="248"/>
                  </a:lnTo>
                  <a:lnTo>
                    <a:pt x="1442" y="248"/>
                  </a:lnTo>
                  <a:lnTo>
                    <a:pt x="1472" y="251"/>
                  </a:lnTo>
                  <a:lnTo>
                    <a:pt x="1499" y="260"/>
                  </a:lnTo>
                  <a:lnTo>
                    <a:pt x="1524" y="274"/>
                  </a:lnTo>
                  <a:lnTo>
                    <a:pt x="1547" y="291"/>
                  </a:lnTo>
                  <a:lnTo>
                    <a:pt x="1564" y="312"/>
                  </a:lnTo>
                  <a:lnTo>
                    <a:pt x="1578" y="338"/>
                  </a:lnTo>
                  <a:lnTo>
                    <a:pt x="1587" y="366"/>
                  </a:lnTo>
                  <a:lnTo>
                    <a:pt x="1590" y="396"/>
                  </a:lnTo>
                  <a:lnTo>
                    <a:pt x="1590" y="399"/>
                  </a:lnTo>
                  <a:lnTo>
                    <a:pt x="1587" y="428"/>
                  </a:lnTo>
                  <a:lnTo>
                    <a:pt x="1578" y="456"/>
                  </a:lnTo>
                  <a:lnTo>
                    <a:pt x="1564" y="481"/>
                  </a:lnTo>
                  <a:lnTo>
                    <a:pt x="1547" y="503"/>
                  </a:lnTo>
                  <a:lnTo>
                    <a:pt x="1524" y="521"/>
                  </a:lnTo>
                  <a:lnTo>
                    <a:pt x="1499" y="534"/>
                  </a:lnTo>
                  <a:lnTo>
                    <a:pt x="1472" y="543"/>
                  </a:lnTo>
                  <a:lnTo>
                    <a:pt x="1442" y="546"/>
                  </a:lnTo>
                  <a:lnTo>
                    <a:pt x="793" y="546"/>
                  </a:lnTo>
                  <a:lnTo>
                    <a:pt x="764" y="543"/>
                  </a:lnTo>
                  <a:lnTo>
                    <a:pt x="736" y="534"/>
                  </a:lnTo>
                  <a:lnTo>
                    <a:pt x="711" y="521"/>
                  </a:lnTo>
                  <a:lnTo>
                    <a:pt x="689" y="503"/>
                  </a:lnTo>
                  <a:lnTo>
                    <a:pt x="671" y="481"/>
                  </a:lnTo>
                  <a:lnTo>
                    <a:pt x="657" y="456"/>
                  </a:lnTo>
                  <a:lnTo>
                    <a:pt x="649" y="428"/>
                  </a:lnTo>
                  <a:lnTo>
                    <a:pt x="646" y="399"/>
                  </a:lnTo>
                  <a:lnTo>
                    <a:pt x="646" y="396"/>
                  </a:lnTo>
                  <a:lnTo>
                    <a:pt x="649" y="366"/>
                  </a:lnTo>
                  <a:lnTo>
                    <a:pt x="657" y="338"/>
                  </a:lnTo>
                  <a:lnTo>
                    <a:pt x="671" y="312"/>
                  </a:lnTo>
                  <a:lnTo>
                    <a:pt x="689" y="291"/>
                  </a:lnTo>
                  <a:lnTo>
                    <a:pt x="711" y="274"/>
                  </a:lnTo>
                  <a:lnTo>
                    <a:pt x="736" y="260"/>
                  </a:lnTo>
                  <a:lnTo>
                    <a:pt x="764" y="251"/>
                  </a:lnTo>
                  <a:lnTo>
                    <a:pt x="793" y="248"/>
                  </a:lnTo>
                  <a:lnTo>
                    <a:pt x="870" y="248"/>
                  </a:lnTo>
                  <a:lnTo>
                    <a:pt x="889" y="245"/>
                  </a:lnTo>
                  <a:lnTo>
                    <a:pt x="907" y="238"/>
                  </a:lnTo>
                  <a:lnTo>
                    <a:pt x="922" y="226"/>
                  </a:lnTo>
                  <a:lnTo>
                    <a:pt x="933" y="211"/>
                  </a:lnTo>
                  <a:lnTo>
                    <a:pt x="941" y="194"/>
                  </a:lnTo>
                  <a:lnTo>
                    <a:pt x="944" y="174"/>
                  </a:lnTo>
                  <a:lnTo>
                    <a:pt x="944" y="171"/>
                  </a:lnTo>
                  <a:lnTo>
                    <a:pt x="947" y="141"/>
                  </a:lnTo>
                  <a:lnTo>
                    <a:pt x="954" y="112"/>
                  </a:lnTo>
                  <a:lnTo>
                    <a:pt x="967" y="85"/>
                  </a:lnTo>
                  <a:lnTo>
                    <a:pt x="984" y="61"/>
                  </a:lnTo>
                  <a:lnTo>
                    <a:pt x="1005" y="40"/>
                  </a:lnTo>
                  <a:lnTo>
                    <a:pt x="1029" y="23"/>
                  </a:lnTo>
                  <a:lnTo>
                    <a:pt x="1056" y="11"/>
                  </a:lnTo>
                  <a:lnTo>
                    <a:pt x="1085" y="3"/>
                  </a:lnTo>
                  <a:lnTo>
                    <a:pt x="1116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sz="1600">
                <a:solidFill>
                  <a:prstClr val="black"/>
                </a:solidFill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2656152" y="4090990"/>
            <a:ext cx="372221" cy="372221"/>
            <a:chOff x="4110879" y="4322030"/>
            <a:chExt cx="276225" cy="276225"/>
          </a:xfrm>
        </p:grpSpPr>
        <p:sp>
          <p:nvSpPr>
            <p:cNvPr id="36" name="타원 35">
              <a:extLst>
                <a:ext uri="{FF2B5EF4-FFF2-40B4-BE49-F238E27FC236}">
                  <a16:creationId xmlns:a16="http://schemas.microsoft.com/office/drawing/2014/main" xmlns="" id="{D8241E59-0646-41EB-8ED0-090409856B7D}"/>
                </a:ext>
              </a:extLst>
            </p:cNvPr>
            <p:cNvSpPr/>
            <p:nvPr/>
          </p:nvSpPr>
          <p:spPr>
            <a:xfrm>
              <a:off x="4110879" y="4322030"/>
              <a:ext cx="276225" cy="276225"/>
            </a:xfrm>
            <a:prstGeom prst="ellipse">
              <a:avLst/>
            </a:prstGeom>
            <a:solidFill>
              <a:srgbClr val="090C0F"/>
            </a:soli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prstClr val="white"/>
                </a:solidFill>
              </a:endParaRPr>
            </a:p>
          </p:txBody>
        </p:sp>
        <p:grpSp>
          <p:nvGrpSpPr>
            <p:cNvPr id="38" name="Group 20">
              <a:extLst>
                <a:ext uri="{FF2B5EF4-FFF2-40B4-BE49-F238E27FC236}">
                  <a16:creationId xmlns:a16="http://schemas.microsoft.com/office/drawing/2014/main" xmlns="" id="{1C7089A4-20D7-4AF1-BE6E-531433FE9E6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200844" y="4384003"/>
              <a:ext cx="111637" cy="152278"/>
              <a:chOff x="2597" y="4163"/>
              <a:chExt cx="217" cy="296"/>
            </a:xfrm>
            <a:solidFill>
              <a:schemeClr val="bg1"/>
            </a:solidFill>
          </p:grpSpPr>
          <p:sp>
            <p:nvSpPr>
              <p:cNvPr id="39" name="Freeform 22">
                <a:extLst>
                  <a:ext uri="{FF2B5EF4-FFF2-40B4-BE49-F238E27FC236}">
                    <a16:creationId xmlns:a16="http://schemas.microsoft.com/office/drawing/2014/main" xmlns="" id="{4FD96A79-3125-4B4D-9D0F-5318695145E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30" y="4163"/>
                <a:ext cx="151" cy="176"/>
              </a:xfrm>
              <a:custGeom>
                <a:avLst/>
                <a:gdLst>
                  <a:gd name="T0" fmla="*/ 410 w 1662"/>
                  <a:gd name="T1" fmla="*/ 645 h 1942"/>
                  <a:gd name="T2" fmla="*/ 309 w 1662"/>
                  <a:gd name="T3" fmla="*/ 847 h 1942"/>
                  <a:gd name="T4" fmla="*/ 255 w 1662"/>
                  <a:gd name="T5" fmla="*/ 1023 h 1942"/>
                  <a:gd name="T6" fmla="*/ 263 w 1662"/>
                  <a:gd name="T7" fmla="*/ 1206 h 1942"/>
                  <a:gd name="T8" fmla="*/ 347 w 1662"/>
                  <a:gd name="T9" fmla="*/ 1429 h 1942"/>
                  <a:gd name="T10" fmla="*/ 476 w 1662"/>
                  <a:gd name="T11" fmla="*/ 1620 h 1942"/>
                  <a:gd name="T12" fmla="*/ 638 w 1662"/>
                  <a:gd name="T13" fmla="*/ 1753 h 1942"/>
                  <a:gd name="T14" fmla="*/ 825 w 1662"/>
                  <a:gd name="T15" fmla="*/ 1803 h 1942"/>
                  <a:gd name="T16" fmla="*/ 1013 w 1662"/>
                  <a:gd name="T17" fmla="*/ 1753 h 1942"/>
                  <a:gd name="T18" fmla="*/ 1176 w 1662"/>
                  <a:gd name="T19" fmla="*/ 1619 h 1942"/>
                  <a:gd name="T20" fmla="*/ 1305 w 1662"/>
                  <a:gd name="T21" fmla="*/ 1428 h 1942"/>
                  <a:gd name="T22" fmla="*/ 1388 w 1662"/>
                  <a:gd name="T23" fmla="*/ 1205 h 1942"/>
                  <a:gd name="T24" fmla="*/ 1418 w 1662"/>
                  <a:gd name="T25" fmla="*/ 974 h 1942"/>
                  <a:gd name="T26" fmla="*/ 1266 w 1662"/>
                  <a:gd name="T27" fmla="*/ 836 h 1942"/>
                  <a:gd name="T28" fmla="*/ 1012 w 1662"/>
                  <a:gd name="T29" fmla="*/ 794 h 1942"/>
                  <a:gd name="T30" fmla="*/ 806 w 1662"/>
                  <a:gd name="T31" fmla="*/ 713 h 1942"/>
                  <a:gd name="T32" fmla="*/ 646 w 1662"/>
                  <a:gd name="T33" fmla="*/ 610 h 1942"/>
                  <a:gd name="T34" fmla="*/ 526 w 1662"/>
                  <a:gd name="T35" fmla="*/ 499 h 1942"/>
                  <a:gd name="T36" fmla="*/ 944 w 1662"/>
                  <a:gd name="T37" fmla="*/ 23 h 1942"/>
                  <a:gd name="T38" fmla="*/ 1152 w 1662"/>
                  <a:gd name="T39" fmla="*/ 118 h 1942"/>
                  <a:gd name="T40" fmla="*/ 1271 w 1662"/>
                  <a:gd name="T41" fmla="*/ 205 h 1942"/>
                  <a:gd name="T42" fmla="*/ 1388 w 1662"/>
                  <a:gd name="T43" fmla="*/ 323 h 1942"/>
                  <a:gd name="T44" fmla="*/ 1455 w 1662"/>
                  <a:gd name="T45" fmla="*/ 429 h 1942"/>
                  <a:gd name="T46" fmla="*/ 1524 w 1662"/>
                  <a:gd name="T47" fmla="*/ 626 h 1942"/>
                  <a:gd name="T48" fmla="*/ 1555 w 1662"/>
                  <a:gd name="T49" fmla="*/ 892 h 1942"/>
                  <a:gd name="T50" fmla="*/ 1619 w 1662"/>
                  <a:gd name="T51" fmla="*/ 939 h 1942"/>
                  <a:gd name="T52" fmla="*/ 1657 w 1662"/>
                  <a:gd name="T53" fmla="*/ 1032 h 1942"/>
                  <a:gd name="T54" fmla="*/ 1655 w 1662"/>
                  <a:gd name="T55" fmla="*/ 1183 h 1942"/>
                  <a:gd name="T56" fmla="*/ 1611 w 1662"/>
                  <a:gd name="T57" fmla="*/ 1304 h 1942"/>
                  <a:gd name="T58" fmla="*/ 1537 w 1662"/>
                  <a:gd name="T59" fmla="*/ 1372 h 1942"/>
                  <a:gd name="T60" fmla="*/ 1445 w 1662"/>
                  <a:gd name="T61" fmla="*/ 1454 h 1942"/>
                  <a:gd name="T62" fmla="*/ 1313 w 1662"/>
                  <a:gd name="T63" fmla="*/ 1670 h 1942"/>
                  <a:gd name="T64" fmla="*/ 1141 w 1662"/>
                  <a:gd name="T65" fmla="*/ 1836 h 1942"/>
                  <a:gd name="T66" fmla="*/ 937 w 1662"/>
                  <a:gd name="T67" fmla="*/ 1930 h 1942"/>
                  <a:gd name="T68" fmla="*/ 714 w 1662"/>
                  <a:gd name="T69" fmla="*/ 1930 h 1942"/>
                  <a:gd name="T70" fmla="*/ 510 w 1662"/>
                  <a:gd name="T71" fmla="*/ 1836 h 1942"/>
                  <a:gd name="T72" fmla="*/ 337 w 1662"/>
                  <a:gd name="T73" fmla="*/ 1669 h 1942"/>
                  <a:gd name="T74" fmla="*/ 205 w 1662"/>
                  <a:gd name="T75" fmla="*/ 1452 h 1942"/>
                  <a:gd name="T76" fmla="*/ 111 w 1662"/>
                  <a:gd name="T77" fmla="*/ 1364 h 1942"/>
                  <a:gd name="T78" fmla="*/ 39 w 1662"/>
                  <a:gd name="T79" fmla="*/ 1284 h 1942"/>
                  <a:gd name="T80" fmla="*/ 2 w 1662"/>
                  <a:gd name="T81" fmla="*/ 1143 h 1942"/>
                  <a:gd name="T82" fmla="*/ 9 w 1662"/>
                  <a:gd name="T83" fmla="*/ 1009 h 1942"/>
                  <a:gd name="T84" fmla="*/ 50 w 1662"/>
                  <a:gd name="T85" fmla="*/ 930 h 1942"/>
                  <a:gd name="T86" fmla="*/ 98 w 1662"/>
                  <a:gd name="T87" fmla="*/ 851 h 1942"/>
                  <a:gd name="T88" fmla="*/ 85 w 1662"/>
                  <a:gd name="T89" fmla="*/ 643 h 1942"/>
                  <a:gd name="T90" fmla="*/ 120 w 1662"/>
                  <a:gd name="T91" fmla="*/ 487 h 1942"/>
                  <a:gd name="T92" fmla="*/ 183 w 1662"/>
                  <a:gd name="T93" fmla="*/ 377 h 1942"/>
                  <a:gd name="T94" fmla="*/ 257 w 1662"/>
                  <a:gd name="T95" fmla="*/ 305 h 1942"/>
                  <a:gd name="T96" fmla="*/ 319 w 1662"/>
                  <a:gd name="T97" fmla="*/ 266 h 1942"/>
                  <a:gd name="T98" fmla="*/ 352 w 1662"/>
                  <a:gd name="T99" fmla="*/ 246 h 1942"/>
                  <a:gd name="T100" fmla="*/ 390 w 1662"/>
                  <a:gd name="T101" fmla="*/ 196 h 1942"/>
                  <a:gd name="T102" fmla="*/ 459 w 1662"/>
                  <a:gd name="T103" fmla="*/ 127 h 1942"/>
                  <a:gd name="T104" fmla="*/ 559 w 1662"/>
                  <a:gd name="T105" fmla="*/ 57 h 1942"/>
                  <a:gd name="T106" fmla="*/ 690 w 1662"/>
                  <a:gd name="T107" fmla="*/ 10 h 19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</a:cxnLst>
                <a:rect l="0" t="0" r="r" b="b"/>
                <a:pathLst>
                  <a:path w="1662" h="1942">
                    <a:moveTo>
                      <a:pt x="526" y="499"/>
                    </a:moveTo>
                    <a:lnTo>
                      <a:pt x="484" y="546"/>
                    </a:lnTo>
                    <a:lnTo>
                      <a:pt x="445" y="595"/>
                    </a:lnTo>
                    <a:lnTo>
                      <a:pt x="410" y="645"/>
                    </a:lnTo>
                    <a:lnTo>
                      <a:pt x="379" y="696"/>
                    </a:lnTo>
                    <a:lnTo>
                      <a:pt x="352" y="747"/>
                    </a:lnTo>
                    <a:lnTo>
                      <a:pt x="329" y="797"/>
                    </a:lnTo>
                    <a:lnTo>
                      <a:pt x="309" y="847"/>
                    </a:lnTo>
                    <a:lnTo>
                      <a:pt x="291" y="895"/>
                    </a:lnTo>
                    <a:lnTo>
                      <a:pt x="277" y="941"/>
                    </a:lnTo>
                    <a:lnTo>
                      <a:pt x="264" y="984"/>
                    </a:lnTo>
                    <a:lnTo>
                      <a:pt x="255" y="1023"/>
                    </a:lnTo>
                    <a:lnTo>
                      <a:pt x="247" y="1059"/>
                    </a:lnTo>
                    <a:lnTo>
                      <a:pt x="241" y="1091"/>
                    </a:lnTo>
                    <a:lnTo>
                      <a:pt x="250" y="1148"/>
                    </a:lnTo>
                    <a:lnTo>
                      <a:pt x="263" y="1206"/>
                    </a:lnTo>
                    <a:lnTo>
                      <a:pt x="280" y="1263"/>
                    </a:lnTo>
                    <a:lnTo>
                      <a:pt x="299" y="1320"/>
                    </a:lnTo>
                    <a:lnTo>
                      <a:pt x="322" y="1375"/>
                    </a:lnTo>
                    <a:lnTo>
                      <a:pt x="347" y="1429"/>
                    </a:lnTo>
                    <a:lnTo>
                      <a:pt x="375" y="1480"/>
                    </a:lnTo>
                    <a:lnTo>
                      <a:pt x="406" y="1530"/>
                    </a:lnTo>
                    <a:lnTo>
                      <a:pt x="440" y="1576"/>
                    </a:lnTo>
                    <a:lnTo>
                      <a:pt x="476" y="1620"/>
                    </a:lnTo>
                    <a:lnTo>
                      <a:pt x="513" y="1659"/>
                    </a:lnTo>
                    <a:lnTo>
                      <a:pt x="553" y="1695"/>
                    </a:lnTo>
                    <a:lnTo>
                      <a:pt x="594" y="1726"/>
                    </a:lnTo>
                    <a:lnTo>
                      <a:pt x="638" y="1753"/>
                    </a:lnTo>
                    <a:lnTo>
                      <a:pt x="683" y="1774"/>
                    </a:lnTo>
                    <a:lnTo>
                      <a:pt x="729" y="1789"/>
                    </a:lnTo>
                    <a:lnTo>
                      <a:pt x="777" y="1800"/>
                    </a:lnTo>
                    <a:lnTo>
                      <a:pt x="825" y="1803"/>
                    </a:lnTo>
                    <a:lnTo>
                      <a:pt x="875" y="1800"/>
                    </a:lnTo>
                    <a:lnTo>
                      <a:pt x="922" y="1789"/>
                    </a:lnTo>
                    <a:lnTo>
                      <a:pt x="968" y="1774"/>
                    </a:lnTo>
                    <a:lnTo>
                      <a:pt x="1013" y="1753"/>
                    </a:lnTo>
                    <a:lnTo>
                      <a:pt x="1056" y="1726"/>
                    </a:lnTo>
                    <a:lnTo>
                      <a:pt x="1099" y="1695"/>
                    </a:lnTo>
                    <a:lnTo>
                      <a:pt x="1139" y="1659"/>
                    </a:lnTo>
                    <a:lnTo>
                      <a:pt x="1176" y="1619"/>
                    </a:lnTo>
                    <a:lnTo>
                      <a:pt x="1212" y="1576"/>
                    </a:lnTo>
                    <a:lnTo>
                      <a:pt x="1245" y="1529"/>
                    </a:lnTo>
                    <a:lnTo>
                      <a:pt x="1276" y="1480"/>
                    </a:lnTo>
                    <a:lnTo>
                      <a:pt x="1305" y="1428"/>
                    </a:lnTo>
                    <a:lnTo>
                      <a:pt x="1330" y="1374"/>
                    </a:lnTo>
                    <a:lnTo>
                      <a:pt x="1353" y="1319"/>
                    </a:lnTo>
                    <a:lnTo>
                      <a:pt x="1372" y="1262"/>
                    </a:lnTo>
                    <a:lnTo>
                      <a:pt x="1388" y="1205"/>
                    </a:lnTo>
                    <a:lnTo>
                      <a:pt x="1401" y="1147"/>
                    </a:lnTo>
                    <a:lnTo>
                      <a:pt x="1411" y="1089"/>
                    </a:lnTo>
                    <a:lnTo>
                      <a:pt x="1416" y="1032"/>
                    </a:lnTo>
                    <a:lnTo>
                      <a:pt x="1418" y="974"/>
                    </a:lnTo>
                    <a:lnTo>
                      <a:pt x="1417" y="904"/>
                    </a:lnTo>
                    <a:lnTo>
                      <a:pt x="1414" y="838"/>
                    </a:lnTo>
                    <a:lnTo>
                      <a:pt x="1339" y="839"/>
                    </a:lnTo>
                    <a:lnTo>
                      <a:pt x="1266" y="836"/>
                    </a:lnTo>
                    <a:lnTo>
                      <a:pt x="1198" y="830"/>
                    </a:lnTo>
                    <a:lnTo>
                      <a:pt x="1133" y="820"/>
                    </a:lnTo>
                    <a:lnTo>
                      <a:pt x="1070" y="808"/>
                    </a:lnTo>
                    <a:lnTo>
                      <a:pt x="1012" y="794"/>
                    </a:lnTo>
                    <a:lnTo>
                      <a:pt x="956" y="777"/>
                    </a:lnTo>
                    <a:lnTo>
                      <a:pt x="903" y="757"/>
                    </a:lnTo>
                    <a:lnTo>
                      <a:pt x="853" y="737"/>
                    </a:lnTo>
                    <a:lnTo>
                      <a:pt x="806" y="713"/>
                    </a:lnTo>
                    <a:lnTo>
                      <a:pt x="762" y="690"/>
                    </a:lnTo>
                    <a:lnTo>
                      <a:pt x="721" y="664"/>
                    </a:lnTo>
                    <a:lnTo>
                      <a:pt x="682" y="638"/>
                    </a:lnTo>
                    <a:lnTo>
                      <a:pt x="646" y="610"/>
                    </a:lnTo>
                    <a:lnTo>
                      <a:pt x="612" y="583"/>
                    </a:lnTo>
                    <a:lnTo>
                      <a:pt x="581" y="555"/>
                    </a:lnTo>
                    <a:lnTo>
                      <a:pt x="552" y="527"/>
                    </a:lnTo>
                    <a:lnTo>
                      <a:pt x="526" y="499"/>
                    </a:lnTo>
                    <a:close/>
                    <a:moveTo>
                      <a:pt x="808" y="0"/>
                    </a:moveTo>
                    <a:lnTo>
                      <a:pt x="851" y="3"/>
                    </a:lnTo>
                    <a:lnTo>
                      <a:pt x="897" y="11"/>
                    </a:lnTo>
                    <a:lnTo>
                      <a:pt x="944" y="23"/>
                    </a:lnTo>
                    <a:lnTo>
                      <a:pt x="993" y="39"/>
                    </a:lnTo>
                    <a:lnTo>
                      <a:pt x="1044" y="60"/>
                    </a:lnTo>
                    <a:lnTo>
                      <a:pt x="1097" y="86"/>
                    </a:lnTo>
                    <a:lnTo>
                      <a:pt x="1152" y="118"/>
                    </a:lnTo>
                    <a:lnTo>
                      <a:pt x="1179" y="135"/>
                    </a:lnTo>
                    <a:lnTo>
                      <a:pt x="1208" y="155"/>
                    </a:lnTo>
                    <a:lnTo>
                      <a:pt x="1239" y="179"/>
                    </a:lnTo>
                    <a:lnTo>
                      <a:pt x="1271" y="205"/>
                    </a:lnTo>
                    <a:lnTo>
                      <a:pt x="1304" y="233"/>
                    </a:lnTo>
                    <a:lnTo>
                      <a:pt x="1334" y="261"/>
                    </a:lnTo>
                    <a:lnTo>
                      <a:pt x="1363" y="292"/>
                    </a:lnTo>
                    <a:lnTo>
                      <a:pt x="1388" y="323"/>
                    </a:lnTo>
                    <a:lnTo>
                      <a:pt x="1409" y="353"/>
                    </a:lnTo>
                    <a:lnTo>
                      <a:pt x="1409" y="353"/>
                    </a:lnTo>
                    <a:lnTo>
                      <a:pt x="1433" y="389"/>
                    </a:lnTo>
                    <a:lnTo>
                      <a:pt x="1455" y="429"/>
                    </a:lnTo>
                    <a:lnTo>
                      <a:pt x="1475" y="472"/>
                    </a:lnTo>
                    <a:lnTo>
                      <a:pt x="1493" y="519"/>
                    </a:lnTo>
                    <a:lnTo>
                      <a:pt x="1509" y="570"/>
                    </a:lnTo>
                    <a:lnTo>
                      <a:pt x="1524" y="626"/>
                    </a:lnTo>
                    <a:lnTo>
                      <a:pt x="1535" y="685"/>
                    </a:lnTo>
                    <a:lnTo>
                      <a:pt x="1545" y="749"/>
                    </a:lnTo>
                    <a:lnTo>
                      <a:pt x="1551" y="817"/>
                    </a:lnTo>
                    <a:lnTo>
                      <a:pt x="1555" y="892"/>
                    </a:lnTo>
                    <a:lnTo>
                      <a:pt x="1573" y="900"/>
                    </a:lnTo>
                    <a:lnTo>
                      <a:pt x="1590" y="910"/>
                    </a:lnTo>
                    <a:lnTo>
                      <a:pt x="1605" y="922"/>
                    </a:lnTo>
                    <a:lnTo>
                      <a:pt x="1619" y="939"/>
                    </a:lnTo>
                    <a:lnTo>
                      <a:pt x="1632" y="957"/>
                    </a:lnTo>
                    <a:lnTo>
                      <a:pt x="1642" y="979"/>
                    </a:lnTo>
                    <a:lnTo>
                      <a:pt x="1651" y="1003"/>
                    </a:lnTo>
                    <a:lnTo>
                      <a:pt x="1657" y="1032"/>
                    </a:lnTo>
                    <a:lnTo>
                      <a:pt x="1661" y="1064"/>
                    </a:lnTo>
                    <a:lnTo>
                      <a:pt x="1662" y="1102"/>
                    </a:lnTo>
                    <a:lnTo>
                      <a:pt x="1660" y="1143"/>
                    </a:lnTo>
                    <a:lnTo>
                      <a:pt x="1655" y="1183"/>
                    </a:lnTo>
                    <a:lnTo>
                      <a:pt x="1648" y="1218"/>
                    </a:lnTo>
                    <a:lnTo>
                      <a:pt x="1638" y="1250"/>
                    </a:lnTo>
                    <a:lnTo>
                      <a:pt x="1625" y="1278"/>
                    </a:lnTo>
                    <a:lnTo>
                      <a:pt x="1611" y="1304"/>
                    </a:lnTo>
                    <a:lnTo>
                      <a:pt x="1595" y="1325"/>
                    </a:lnTo>
                    <a:lnTo>
                      <a:pt x="1577" y="1344"/>
                    </a:lnTo>
                    <a:lnTo>
                      <a:pt x="1558" y="1360"/>
                    </a:lnTo>
                    <a:lnTo>
                      <a:pt x="1537" y="1372"/>
                    </a:lnTo>
                    <a:lnTo>
                      <a:pt x="1515" y="1382"/>
                    </a:lnTo>
                    <a:lnTo>
                      <a:pt x="1493" y="1390"/>
                    </a:lnTo>
                    <a:lnTo>
                      <a:pt x="1471" y="1395"/>
                    </a:lnTo>
                    <a:lnTo>
                      <a:pt x="1445" y="1454"/>
                    </a:lnTo>
                    <a:lnTo>
                      <a:pt x="1416" y="1512"/>
                    </a:lnTo>
                    <a:lnTo>
                      <a:pt x="1385" y="1567"/>
                    </a:lnTo>
                    <a:lnTo>
                      <a:pt x="1350" y="1620"/>
                    </a:lnTo>
                    <a:lnTo>
                      <a:pt x="1313" y="1670"/>
                    </a:lnTo>
                    <a:lnTo>
                      <a:pt x="1273" y="1717"/>
                    </a:lnTo>
                    <a:lnTo>
                      <a:pt x="1231" y="1761"/>
                    </a:lnTo>
                    <a:lnTo>
                      <a:pt x="1187" y="1801"/>
                    </a:lnTo>
                    <a:lnTo>
                      <a:pt x="1141" y="1836"/>
                    </a:lnTo>
                    <a:lnTo>
                      <a:pt x="1092" y="1868"/>
                    </a:lnTo>
                    <a:lnTo>
                      <a:pt x="1042" y="1893"/>
                    </a:lnTo>
                    <a:lnTo>
                      <a:pt x="990" y="1915"/>
                    </a:lnTo>
                    <a:lnTo>
                      <a:pt x="937" y="1930"/>
                    </a:lnTo>
                    <a:lnTo>
                      <a:pt x="882" y="1939"/>
                    </a:lnTo>
                    <a:lnTo>
                      <a:pt x="825" y="1942"/>
                    </a:lnTo>
                    <a:lnTo>
                      <a:pt x="769" y="1939"/>
                    </a:lnTo>
                    <a:lnTo>
                      <a:pt x="714" y="1930"/>
                    </a:lnTo>
                    <a:lnTo>
                      <a:pt x="661" y="1915"/>
                    </a:lnTo>
                    <a:lnTo>
                      <a:pt x="608" y="1893"/>
                    </a:lnTo>
                    <a:lnTo>
                      <a:pt x="558" y="1867"/>
                    </a:lnTo>
                    <a:lnTo>
                      <a:pt x="510" y="1836"/>
                    </a:lnTo>
                    <a:lnTo>
                      <a:pt x="464" y="1800"/>
                    </a:lnTo>
                    <a:lnTo>
                      <a:pt x="419" y="1760"/>
                    </a:lnTo>
                    <a:lnTo>
                      <a:pt x="377" y="1716"/>
                    </a:lnTo>
                    <a:lnTo>
                      <a:pt x="337" y="1669"/>
                    </a:lnTo>
                    <a:lnTo>
                      <a:pt x="300" y="1618"/>
                    </a:lnTo>
                    <a:lnTo>
                      <a:pt x="266" y="1565"/>
                    </a:lnTo>
                    <a:lnTo>
                      <a:pt x="234" y="1510"/>
                    </a:lnTo>
                    <a:lnTo>
                      <a:pt x="205" y="1452"/>
                    </a:lnTo>
                    <a:lnTo>
                      <a:pt x="179" y="1392"/>
                    </a:lnTo>
                    <a:lnTo>
                      <a:pt x="156" y="1386"/>
                    </a:lnTo>
                    <a:lnTo>
                      <a:pt x="133" y="1376"/>
                    </a:lnTo>
                    <a:lnTo>
                      <a:pt x="111" y="1364"/>
                    </a:lnTo>
                    <a:lnTo>
                      <a:pt x="91" y="1349"/>
                    </a:lnTo>
                    <a:lnTo>
                      <a:pt x="72" y="1330"/>
                    </a:lnTo>
                    <a:lnTo>
                      <a:pt x="55" y="1309"/>
                    </a:lnTo>
                    <a:lnTo>
                      <a:pt x="39" y="1284"/>
                    </a:lnTo>
                    <a:lnTo>
                      <a:pt x="26" y="1254"/>
                    </a:lnTo>
                    <a:lnTo>
                      <a:pt x="15" y="1221"/>
                    </a:lnTo>
                    <a:lnTo>
                      <a:pt x="7" y="1184"/>
                    </a:lnTo>
                    <a:lnTo>
                      <a:pt x="2" y="1143"/>
                    </a:lnTo>
                    <a:lnTo>
                      <a:pt x="0" y="1104"/>
                    </a:lnTo>
                    <a:lnTo>
                      <a:pt x="1" y="1068"/>
                    </a:lnTo>
                    <a:lnTo>
                      <a:pt x="4" y="1038"/>
                    </a:lnTo>
                    <a:lnTo>
                      <a:pt x="9" y="1009"/>
                    </a:lnTo>
                    <a:lnTo>
                      <a:pt x="17" y="985"/>
                    </a:lnTo>
                    <a:lnTo>
                      <a:pt x="27" y="964"/>
                    </a:lnTo>
                    <a:lnTo>
                      <a:pt x="38" y="946"/>
                    </a:lnTo>
                    <a:lnTo>
                      <a:pt x="50" y="930"/>
                    </a:lnTo>
                    <a:lnTo>
                      <a:pt x="65" y="916"/>
                    </a:lnTo>
                    <a:lnTo>
                      <a:pt x="80" y="906"/>
                    </a:lnTo>
                    <a:lnTo>
                      <a:pt x="96" y="897"/>
                    </a:lnTo>
                    <a:lnTo>
                      <a:pt x="98" y="851"/>
                    </a:lnTo>
                    <a:lnTo>
                      <a:pt x="89" y="794"/>
                    </a:lnTo>
                    <a:lnTo>
                      <a:pt x="85" y="740"/>
                    </a:lnTo>
                    <a:lnTo>
                      <a:pt x="83" y="690"/>
                    </a:lnTo>
                    <a:lnTo>
                      <a:pt x="85" y="643"/>
                    </a:lnTo>
                    <a:lnTo>
                      <a:pt x="90" y="599"/>
                    </a:lnTo>
                    <a:lnTo>
                      <a:pt x="98" y="559"/>
                    </a:lnTo>
                    <a:lnTo>
                      <a:pt x="108" y="522"/>
                    </a:lnTo>
                    <a:lnTo>
                      <a:pt x="120" y="487"/>
                    </a:lnTo>
                    <a:lnTo>
                      <a:pt x="134" y="455"/>
                    </a:lnTo>
                    <a:lnTo>
                      <a:pt x="149" y="427"/>
                    </a:lnTo>
                    <a:lnTo>
                      <a:pt x="166" y="400"/>
                    </a:lnTo>
                    <a:lnTo>
                      <a:pt x="183" y="377"/>
                    </a:lnTo>
                    <a:lnTo>
                      <a:pt x="202" y="355"/>
                    </a:lnTo>
                    <a:lnTo>
                      <a:pt x="220" y="337"/>
                    </a:lnTo>
                    <a:lnTo>
                      <a:pt x="239" y="320"/>
                    </a:lnTo>
                    <a:lnTo>
                      <a:pt x="257" y="305"/>
                    </a:lnTo>
                    <a:lnTo>
                      <a:pt x="274" y="293"/>
                    </a:lnTo>
                    <a:lnTo>
                      <a:pt x="290" y="282"/>
                    </a:lnTo>
                    <a:lnTo>
                      <a:pt x="305" y="273"/>
                    </a:lnTo>
                    <a:lnTo>
                      <a:pt x="319" y="266"/>
                    </a:lnTo>
                    <a:lnTo>
                      <a:pt x="331" y="260"/>
                    </a:lnTo>
                    <a:lnTo>
                      <a:pt x="341" y="255"/>
                    </a:lnTo>
                    <a:lnTo>
                      <a:pt x="348" y="253"/>
                    </a:lnTo>
                    <a:lnTo>
                      <a:pt x="352" y="246"/>
                    </a:lnTo>
                    <a:lnTo>
                      <a:pt x="359" y="237"/>
                    </a:lnTo>
                    <a:lnTo>
                      <a:pt x="367" y="225"/>
                    </a:lnTo>
                    <a:lnTo>
                      <a:pt x="377" y="212"/>
                    </a:lnTo>
                    <a:lnTo>
                      <a:pt x="390" y="196"/>
                    </a:lnTo>
                    <a:lnTo>
                      <a:pt x="404" y="180"/>
                    </a:lnTo>
                    <a:lnTo>
                      <a:pt x="421" y="163"/>
                    </a:lnTo>
                    <a:lnTo>
                      <a:pt x="439" y="145"/>
                    </a:lnTo>
                    <a:lnTo>
                      <a:pt x="459" y="127"/>
                    </a:lnTo>
                    <a:lnTo>
                      <a:pt x="481" y="108"/>
                    </a:lnTo>
                    <a:lnTo>
                      <a:pt x="505" y="91"/>
                    </a:lnTo>
                    <a:lnTo>
                      <a:pt x="531" y="74"/>
                    </a:lnTo>
                    <a:lnTo>
                      <a:pt x="559" y="57"/>
                    </a:lnTo>
                    <a:lnTo>
                      <a:pt x="589" y="43"/>
                    </a:lnTo>
                    <a:lnTo>
                      <a:pt x="620" y="30"/>
                    </a:lnTo>
                    <a:lnTo>
                      <a:pt x="655" y="19"/>
                    </a:lnTo>
                    <a:lnTo>
                      <a:pt x="690" y="10"/>
                    </a:lnTo>
                    <a:lnTo>
                      <a:pt x="728" y="3"/>
                    </a:lnTo>
                    <a:lnTo>
                      <a:pt x="767" y="0"/>
                    </a:lnTo>
                    <a:lnTo>
                      <a:pt x="80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40" name="Freeform 23">
                <a:extLst>
                  <a:ext uri="{FF2B5EF4-FFF2-40B4-BE49-F238E27FC236}">
                    <a16:creationId xmlns:a16="http://schemas.microsoft.com/office/drawing/2014/main" xmlns="" id="{1E104CFD-44EE-4744-892C-82D81F2C00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664" y="4250"/>
                <a:ext cx="83" cy="27"/>
              </a:xfrm>
              <a:custGeom>
                <a:avLst/>
                <a:gdLst>
                  <a:gd name="T0" fmla="*/ 613 w 916"/>
                  <a:gd name="T1" fmla="*/ 78 h 300"/>
                  <a:gd name="T2" fmla="*/ 561 w 916"/>
                  <a:gd name="T3" fmla="*/ 109 h 300"/>
                  <a:gd name="T4" fmla="*/ 554 w 916"/>
                  <a:gd name="T5" fmla="*/ 165 h 300"/>
                  <a:gd name="T6" fmla="*/ 579 w 916"/>
                  <a:gd name="T7" fmla="*/ 210 h 300"/>
                  <a:gd name="T8" fmla="*/ 665 w 916"/>
                  <a:gd name="T9" fmla="*/ 229 h 300"/>
                  <a:gd name="T10" fmla="*/ 787 w 916"/>
                  <a:gd name="T11" fmla="*/ 223 h 300"/>
                  <a:gd name="T12" fmla="*/ 839 w 916"/>
                  <a:gd name="T13" fmla="*/ 191 h 300"/>
                  <a:gd name="T14" fmla="*/ 846 w 916"/>
                  <a:gd name="T15" fmla="*/ 135 h 300"/>
                  <a:gd name="T16" fmla="*/ 820 w 916"/>
                  <a:gd name="T17" fmla="*/ 90 h 300"/>
                  <a:gd name="T18" fmla="*/ 734 w 916"/>
                  <a:gd name="T19" fmla="*/ 72 h 300"/>
                  <a:gd name="T20" fmla="*/ 153 w 916"/>
                  <a:gd name="T21" fmla="*/ 74 h 300"/>
                  <a:gd name="T22" fmla="*/ 85 w 916"/>
                  <a:gd name="T23" fmla="*/ 99 h 300"/>
                  <a:gd name="T24" fmla="*/ 70 w 916"/>
                  <a:gd name="T25" fmla="*/ 150 h 300"/>
                  <a:gd name="T26" fmla="*/ 85 w 916"/>
                  <a:gd name="T27" fmla="*/ 201 h 300"/>
                  <a:gd name="T28" fmla="*/ 153 w 916"/>
                  <a:gd name="T29" fmla="*/ 227 h 300"/>
                  <a:gd name="T30" fmla="*/ 280 w 916"/>
                  <a:gd name="T31" fmla="*/ 227 h 300"/>
                  <a:gd name="T32" fmla="*/ 348 w 916"/>
                  <a:gd name="T33" fmla="*/ 201 h 300"/>
                  <a:gd name="T34" fmla="*/ 363 w 916"/>
                  <a:gd name="T35" fmla="*/ 150 h 300"/>
                  <a:gd name="T36" fmla="*/ 348 w 916"/>
                  <a:gd name="T37" fmla="*/ 99 h 300"/>
                  <a:gd name="T38" fmla="*/ 280 w 916"/>
                  <a:gd name="T39" fmla="*/ 74 h 300"/>
                  <a:gd name="T40" fmla="*/ 234 w 916"/>
                  <a:gd name="T41" fmla="*/ 0 h 300"/>
                  <a:gd name="T42" fmla="*/ 321 w 916"/>
                  <a:gd name="T43" fmla="*/ 9 h 300"/>
                  <a:gd name="T44" fmla="*/ 400 w 916"/>
                  <a:gd name="T45" fmla="*/ 53 h 300"/>
                  <a:gd name="T46" fmla="*/ 574 w 916"/>
                  <a:gd name="T47" fmla="*/ 17 h 300"/>
                  <a:gd name="T48" fmla="*/ 662 w 916"/>
                  <a:gd name="T49" fmla="*/ 1 h 300"/>
                  <a:gd name="T50" fmla="*/ 732 w 916"/>
                  <a:gd name="T51" fmla="*/ 0 h 300"/>
                  <a:gd name="T52" fmla="*/ 806 w 916"/>
                  <a:gd name="T53" fmla="*/ 10 h 300"/>
                  <a:gd name="T54" fmla="*/ 875 w 916"/>
                  <a:gd name="T55" fmla="*/ 45 h 300"/>
                  <a:gd name="T56" fmla="*/ 914 w 916"/>
                  <a:gd name="T57" fmla="*/ 123 h 300"/>
                  <a:gd name="T58" fmla="*/ 900 w 916"/>
                  <a:gd name="T59" fmla="*/ 223 h 300"/>
                  <a:gd name="T60" fmla="*/ 843 w 916"/>
                  <a:gd name="T61" fmla="*/ 277 h 300"/>
                  <a:gd name="T62" fmla="*/ 768 w 916"/>
                  <a:gd name="T63" fmla="*/ 297 h 300"/>
                  <a:gd name="T64" fmla="*/ 699 w 916"/>
                  <a:gd name="T65" fmla="*/ 300 h 300"/>
                  <a:gd name="T66" fmla="*/ 632 w 916"/>
                  <a:gd name="T67" fmla="*/ 297 h 300"/>
                  <a:gd name="T68" fmla="*/ 557 w 916"/>
                  <a:gd name="T69" fmla="*/ 277 h 300"/>
                  <a:gd name="T70" fmla="*/ 500 w 916"/>
                  <a:gd name="T71" fmla="*/ 224 h 300"/>
                  <a:gd name="T72" fmla="*/ 485 w 916"/>
                  <a:gd name="T73" fmla="*/ 137 h 300"/>
                  <a:gd name="T74" fmla="*/ 432 w 916"/>
                  <a:gd name="T75" fmla="*/ 150 h 300"/>
                  <a:gd name="T76" fmla="*/ 405 w 916"/>
                  <a:gd name="T77" fmla="*/ 241 h 300"/>
                  <a:gd name="T78" fmla="*/ 342 w 916"/>
                  <a:gd name="T79" fmla="*/ 284 h 300"/>
                  <a:gd name="T80" fmla="*/ 266 w 916"/>
                  <a:gd name="T81" fmla="*/ 298 h 300"/>
                  <a:gd name="T82" fmla="*/ 201 w 916"/>
                  <a:gd name="T83" fmla="*/ 299 h 300"/>
                  <a:gd name="T84" fmla="*/ 129 w 916"/>
                  <a:gd name="T85" fmla="*/ 294 h 300"/>
                  <a:gd name="T86" fmla="*/ 57 w 916"/>
                  <a:gd name="T87" fmla="*/ 267 h 300"/>
                  <a:gd name="T88" fmla="*/ 7 w 916"/>
                  <a:gd name="T89" fmla="*/ 202 h 300"/>
                  <a:gd name="T90" fmla="*/ 7 w 916"/>
                  <a:gd name="T91" fmla="*/ 98 h 300"/>
                  <a:gd name="T92" fmla="*/ 57 w 916"/>
                  <a:gd name="T93" fmla="*/ 33 h 300"/>
                  <a:gd name="T94" fmla="*/ 129 w 916"/>
                  <a:gd name="T95" fmla="*/ 6 h 300"/>
                  <a:gd name="T96" fmla="*/ 201 w 916"/>
                  <a:gd name="T97" fmla="*/ 0 h 3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916" h="300">
                    <a:moveTo>
                      <a:pt x="699" y="71"/>
                    </a:moveTo>
                    <a:lnTo>
                      <a:pt x="665" y="72"/>
                    </a:lnTo>
                    <a:lnTo>
                      <a:pt x="636" y="74"/>
                    </a:lnTo>
                    <a:lnTo>
                      <a:pt x="613" y="78"/>
                    </a:lnTo>
                    <a:lnTo>
                      <a:pt x="594" y="83"/>
                    </a:lnTo>
                    <a:lnTo>
                      <a:pt x="579" y="90"/>
                    </a:lnTo>
                    <a:lnTo>
                      <a:pt x="569" y="99"/>
                    </a:lnTo>
                    <a:lnTo>
                      <a:pt x="561" y="109"/>
                    </a:lnTo>
                    <a:lnTo>
                      <a:pt x="556" y="122"/>
                    </a:lnTo>
                    <a:lnTo>
                      <a:pt x="554" y="135"/>
                    </a:lnTo>
                    <a:lnTo>
                      <a:pt x="553" y="150"/>
                    </a:lnTo>
                    <a:lnTo>
                      <a:pt x="554" y="165"/>
                    </a:lnTo>
                    <a:lnTo>
                      <a:pt x="556" y="179"/>
                    </a:lnTo>
                    <a:lnTo>
                      <a:pt x="561" y="191"/>
                    </a:lnTo>
                    <a:lnTo>
                      <a:pt x="569" y="201"/>
                    </a:lnTo>
                    <a:lnTo>
                      <a:pt x="579" y="210"/>
                    </a:lnTo>
                    <a:lnTo>
                      <a:pt x="594" y="216"/>
                    </a:lnTo>
                    <a:lnTo>
                      <a:pt x="613" y="223"/>
                    </a:lnTo>
                    <a:lnTo>
                      <a:pt x="636" y="227"/>
                    </a:lnTo>
                    <a:lnTo>
                      <a:pt x="665" y="229"/>
                    </a:lnTo>
                    <a:lnTo>
                      <a:pt x="699" y="230"/>
                    </a:lnTo>
                    <a:lnTo>
                      <a:pt x="734" y="229"/>
                    </a:lnTo>
                    <a:lnTo>
                      <a:pt x="763" y="227"/>
                    </a:lnTo>
                    <a:lnTo>
                      <a:pt x="787" y="223"/>
                    </a:lnTo>
                    <a:lnTo>
                      <a:pt x="805" y="216"/>
                    </a:lnTo>
                    <a:lnTo>
                      <a:pt x="820" y="210"/>
                    </a:lnTo>
                    <a:lnTo>
                      <a:pt x="831" y="201"/>
                    </a:lnTo>
                    <a:lnTo>
                      <a:pt x="839" y="191"/>
                    </a:lnTo>
                    <a:lnTo>
                      <a:pt x="843" y="179"/>
                    </a:lnTo>
                    <a:lnTo>
                      <a:pt x="846" y="165"/>
                    </a:lnTo>
                    <a:lnTo>
                      <a:pt x="847" y="150"/>
                    </a:lnTo>
                    <a:lnTo>
                      <a:pt x="846" y="135"/>
                    </a:lnTo>
                    <a:lnTo>
                      <a:pt x="843" y="122"/>
                    </a:lnTo>
                    <a:lnTo>
                      <a:pt x="839" y="109"/>
                    </a:lnTo>
                    <a:lnTo>
                      <a:pt x="831" y="99"/>
                    </a:lnTo>
                    <a:lnTo>
                      <a:pt x="820" y="90"/>
                    </a:lnTo>
                    <a:lnTo>
                      <a:pt x="805" y="83"/>
                    </a:lnTo>
                    <a:lnTo>
                      <a:pt x="787" y="78"/>
                    </a:lnTo>
                    <a:lnTo>
                      <a:pt x="763" y="74"/>
                    </a:lnTo>
                    <a:lnTo>
                      <a:pt x="734" y="72"/>
                    </a:lnTo>
                    <a:lnTo>
                      <a:pt x="699" y="71"/>
                    </a:lnTo>
                    <a:close/>
                    <a:moveTo>
                      <a:pt x="216" y="71"/>
                    </a:moveTo>
                    <a:lnTo>
                      <a:pt x="182" y="72"/>
                    </a:lnTo>
                    <a:lnTo>
                      <a:pt x="153" y="74"/>
                    </a:lnTo>
                    <a:lnTo>
                      <a:pt x="130" y="78"/>
                    </a:lnTo>
                    <a:lnTo>
                      <a:pt x="111" y="83"/>
                    </a:lnTo>
                    <a:lnTo>
                      <a:pt x="96" y="90"/>
                    </a:lnTo>
                    <a:lnTo>
                      <a:pt x="85" y="99"/>
                    </a:lnTo>
                    <a:lnTo>
                      <a:pt x="78" y="109"/>
                    </a:lnTo>
                    <a:lnTo>
                      <a:pt x="73" y="122"/>
                    </a:lnTo>
                    <a:lnTo>
                      <a:pt x="70" y="135"/>
                    </a:lnTo>
                    <a:lnTo>
                      <a:pt x="70" y="150"/>
                    </a:lnTo>
                    <a:lnTo>
                      <a:pt x="70" y="165"/>
                    </a:lnTo>
                    <a:lnTo>
                      <a:pt x="73" y="179"/>
                    </a:lnTo>
                    <a:lnTo>
                      <a:pt x="78" y="191"/>
                    </a:lnTo>
                    <a:lnTo>
                      <a:pt x="85" y="201"/>
                    </a:lnTo>
                    <a:lnTo>
                      <a:pt x="96" y="210"/>
                    </a:lnTo>
                    <a:lnTo>
                      <a:pt x="111" y="216"/>
                    </a:lnTo>
                    <a:lnTo>
                      <a:pt x="130" y="223"/>
                    </a:lnTo>
                    <a:lnTo>
                      <a:pt x="153" y="227"/>
                    </a:lnTo>
                    <a:lnTo>
                      <a:pt x="182" y="229"/>
                    </a:lnTo>
                    <a:lnTo>
                      <a:pt x="216" y="230"/>
                    </a:lnTo>
                    <a:lnTo>
                      <a:pt x="250" y="229"/>
                    </a:lnTo>
                    <a:lnTo>
                      <a:pt x="280" y="227"/>
                    </a:lnTo>
                    <a:lnTo>
                      <a:pt x="304" y="223"/>
                    </a:lnTo>
                    <a:lnTo>
                      <a:pt x="322" y="216"/>
                    </a:lnTo>
                    <a:lnTo>
                      <a:pt x="337" y="210"/>
                    </a:lnTo>
                    <a:lnTo>
                      <a:pt x="348" y="201"/>
                    </a:lnTo>
                    <a:lnTo>
                      <a:pt x="355" y="191"/>
                    </a:lnTo>
                    <a:lnTo>
                      <a:pt x="360" y="179"/>
                    </a:lnTo>
                    <a:lnTo>
                      <a:pt x="363" y="165"/>
                    </a:lnTo>
                    <a:lnTo>
                      <a:pt x="363" y="150"/>
                    </a:lnTo>
                    <a:lnTo>
                      <a:pt x="363" y="135"/>
                    </a:lnTo>
                    <a:lnTo>
                      <a:pt x="360" y="122"/>
                    </a:lnTo>
                    <a:lnTo>
                      <a:pt x="355" y="109"/>
                    </a:lnTo>
                    <a:lnTo>
                      <a:pt x="348" y="99"/>
                    </a:lnTo>
                    <a:lnTo>
                      <a:pt x="337" y="90"/>
                    </a:lnTo>
                    <a:lnTo>
                      <a:pt x="322" y="83"/>
                    </a:lnTo>
                    <a:lnTo>
                      <a:pt x="304" y="78"/>
                    </a:lnTo>
                    <a:lnTo>
                      <a:pt x="280" y="74"/>
                    </a:lnTo>
                    <a:lnTo>
                      <a:pt x="250" y="72"/>
                    </a:lnTo>
                    <a:lnTo>
                      <a:pt x="216" y="71"/>
                    </a:lnTo>
                    <a:close/>
                    <a:moveTo>
                      <a:pt x="216" y="0"/>
                    </a:moveTo>
                    <a:lnTo>
                      <a:pt x="234" y="0"/>
                    </a:lnTo>
                    <a:lnTo>
                      <a:pt x="254" y="1"/>
                    </a:lnTo>
                    <a:lnTo>
                      <a:pt x="276" y="2"/>
                    </a:lnTo>
                    <a:lnTo>
                      <a:pt x="298" y="5"/>
                    </a:lnTo>
                    <a:lnTo>
                      <a:pt x="321" y="9"/>
                    </a:lnTo>
                    <a:lnTo>
                      <a:pt x="343" y="17"/>
                    </a:lnTo>
                    <a:lnTo>
                      <a:pt x="364" y="26"/>
                    </a:lnTo>
                    <a:lnTo>
                      <a:pt x="383" y="37"/>
                    </a:lnTo>
                    <a:lnTo>
                      <a:pt x="400" y="53"/>
                    </a:lnTo>
                    <a:lnTo>
                      <a:pt x="516" y="53"/>
                    </a:lnTo>
                    <a:lnTo>
                      <a:pt x="533" y="37"/>
                    </a:lnTo>
                    <a:lnTo>
                      <a:pt x="553" y="26"/>
                    </a:lnTo>
                    <a:lnTo>
                      <a:pt x="574" y="17"/>
                    </a:lnTo>
                    <a:lnTo>
                      <a:pt x="596" y="9"/>
                    </a:lnTo>
                    <a:lnTo>
                      <a:pt x="618" y="5"/>
                    </a:lnTo>
                    <a:lnTo>
                      <a:pt x="640" y="2"/>
                    </a:lnTo>
                    <a:lnTo>
                      <a:pt x="662" y="1"/>
                    </a:lnTo>
                    <a:lnTo>
                      <a:pt x="682" y="0"/>
                    </a:lnTo>
                    <a:lnTo>
                      <a:pt x="699" y="0"/>
                    </a:lnTo>
                    <a:lnTo>
                      <a:pt x="715" y="0"/>
                    </a:lnTo>
                    <a:lnTo>
                      <a:pt x="732" y="0"/>
                    </a:lnTo>
                    <a:lnTo>
                      <a:pt x="749" y="1"/>
                    </a:lnTo>
                    <a:lnTo>
                      <a:pt x="768" y="3"/>
                    </a:lnTo>
                    <a:lnTo>
                      <a:pt x="787" y="6"/>
                    </a:lnTo>
                    <a:lnTo>
                      <a:pt x="806" y="10"/>
                    </a:lnTo>
                    <a:lnTo>
                      <a:pt x="825" y="16"/>
                    </a:lnTo>
                    <a:lnTo>
                      <a:pt x="843" y="24"/>
                    </a:lnTo>
                    <a:lnTo>
                      <a:pt x="860" y="33"/>
                    </a:lnTo>
                    <a:lnTo>
                      <a:pt x="875" y="45"/>
                    </a:lnTo>
                    <a:lnTo>
                      <a:pt x="889" y="59"/>
                    </a:lnTo>
                    <a:lnTo>
                      <a:pt x="900" y="77"/>
                    </a:lnTo>
                    <a:lnTo>
                      <a:pt x="908" y="98"/>
                    </a:lnTo>
                    <a:lnTo>
                      <a:pt x="914" y="123"/>
                    </a:lnTo>
                    <a:lnTo>
                      <a:pt x="916" y="150"/>
                    </a:lnTo>
                    <a:lnTo>
                      <a:pt x="914" y="178"/>
                    </a:lnTo>
                    <a:lnTo>
                      <a:pt x="908" y="202"/>
                    </a:lnTo>
                    <a:lnTo>
                      <a:pt x="900" y="223"/>
                    </a:lnTo>
                    <a:lnTo>
                      <a:pt x="889" y="241"/>
                    </a:lnTo>
                    <a:lnTo>
                      <a:pt x="875" y="255"/>
                    </a:lnTo>
                    <a:lnTo>
                      <a:pt x="860" y="267"/>
                    </a:lnTo>
                    <a:lnTo>
                      <a:pt x="843" y="277"/>
                    </a:lnTo>
                    <a:lnTo>
                      <a:pt x="825" y="285"/>
                    </a:lnTo>
                    <a:lnTo>
                      <a:pt x="806" y="290"/>
                    </a:lnTo>
                    <a:lnTo>
                      <a:pt x="787" y="294"/>
                    </a:lnTo>
                    <a:lnTo>
                      <a:pt x="768" y="297"/>
                    </a:lnTo>
                    <a:lnTo>
                      <a:pt x="749" y="298"/>
                    </a:lnTo>
                    <a:lnTo>
                      <a:pt x="732" y="299"/>
                    </a:lnTo>
                    <a:lnTo>
                      <a:pt x="715" y="299"/>
                    </a:lnTo>
                    <a:lnTo>
                      <a:pt x="699" y="300"/>
                    </a:lnTo>
                    <a:lnTo>
                      <a:pt x="685" y="299"/>
                    </a:lnTo>
                    <a:lnTo>
                      <a:pt x="668" y="299"/>
                    </a:lnTo>
                    <a:lnTo>
                      <a:pt x="650" y="298"/>
                    </a:lnTo>
                    <a:lnTo>
                      <a:pt x="632" y="297"/>
                    </a:lnTo>
                    <a:lnTo>
                      <a:pt x="613" y="294"/>
                    </a:lnTo>
                    <a:lnTo>
                      <a:pt x="593" y="290"/>
                    </a:lnTo>
                    <a:lnTo>
                      <a:pt x="575" y="285"/>
                    </a:lnTo>
                    <a:lnTo>
                      <a:pt x="557" y="277"/>
                    </a:lnTo>
                    <a:lnTo>
                      <a:pt x="540" y="267"/>
                    </a:lnTo>
                    <a:lnTo>
                      <a:pt x="524" y="255"/>
                    </a:lnTo>
                    <a:lnTo>
                      <a:pt x="511" y="241"/>
                    </a:lnTo>
                    <a:lnTo>
                      <a:pt x="500" y="224"/>
                    </a:lnTo>
                    <a:lnTo>
                      <a:pt x="491" y="202"/>
                    </a:lnTo>
                    <a:lnTo>
                      <a:pt x="486" y="179"/>
                    </a:lnTo>
                    <a:lnTo>
                      <a:pt x="484" y="150"/>
                    </a:lnTo>
                    <a:lnTo>
                      <a:pt x="485" y="137"/>
                    </a:lnTo>
                    <a:lnTo>
                      <a:pt x="486" y="125"/>
                    </a:lnTo>
                    <a:lnTo>
                      <a:pt x="430" y="125"/>
                    </a:lnTo>
                    <a:lnTo>
                      <a:pt x="432" y="137"/>
                    </a:lnTo>
                    <a:lnTo>
                      <a:pt x="432" y="150"/>
                    </a:lnTo>
                    <a:lnTo>
                      <a:pt x="430" y="179"/>
                    </a:lnTo>
                    <a:lnTo>
                      <a:pt x="425" y="202"/>
                    </a:lnTo>
                    <a:lnTo>
                      <a:pt x="416" y="224"/>
                    </a:lnTo>
                    <a:lnTo>
                      <a:pt x="405" y="241"/>
                    </a:lnTo>
                    <a:lnTo>
                      <a:pt x="392" y="255"/>
                    </a:lnTo>
                    <a:lnTo>
                      <a:pt x="377" y="267"/>
                    </a:lnTo>
                    <a:lnTo>
                      <a:pt x="360" y="277"/>
                    </a:lnTo>
                    <a:lnTo>
                      <a:pt x="342" y="284"/>
                    </a:lnTo>
                    <a:lnTo>
                      <a:pt x="323" y="290"/>
                    </a:lnTo>
                    <a:lnTo>
                      <a:pt x="304" y="294"/>
                    </a:lnTo>
                    <a:lnTo>
                      <a:pt x="285" y="296"/>
                    </a:lnTo>
                    <a:lnTo>
                      <a:pt x="266" y="298"/>
                    </a:lnTo>
                    <a:lnTo>
                      <a:pt x="248" y="299"/>
                    </a:lnTo>
                    <a:lnTo>
                      <a:pt x="231" y="299"/>
                    </a:lnTo>
                    <a:lnTo>
                      <a:pt x="216" y="299"/>
                    </a:lnTo>
                    <a:lnTo>
                      <a:pt x="201" y="299"/>
                    </a:lnTo>
                    <a:lnTo>
                      <a:pt x="185" y="299"/>
                    </a:lnTo>
                    <a:lnTo>
                      <a:pt x="167" y="298"/>
                    </a:lnTo>
                    <a:lnTo>
                      <a:pt x="148" y="296"/>
                    </a:lnTo>
                    <a:lnTo>
                      <a:pt x="129" y="294"/>
                    </a:lnTo>
                    <a:lnTo>
                      <a:pt x="110" y="290"/>
                    </a:lnTo>
                    <a:lnTo>
                      <a:pt x="91" y="284"/>
                    </a:lnTo>
                    <a:lnTo>
                      <a:pt x="73" y="277"/>
                    </a:lnTo>
                    <a:lnTo>
                      <a:pt x="57" y="267"/>
                    </a:lnTo>
                    <a:lnTo>
                      <a:pt x="41" y="255"/>
                    </a:lnTo>
                    <a:lnTo>
                      <a:pt x="27" y="240"/>
                    </a:lnTo>
                    <a:lnTo>
                      <a:pt x="16" y="223"/>
                    </a:lnTo>
                    <a:lnTo>
                      <a:pt x="7" y="202"/>
                    </a:lnTo>
                    <a:lnTo>
                      <a:pt x="2" y="178"/>
                    </a:lnTo>
                    <a:lnTo>
                      <a:pt x="0" y="150"/>
                    </a:lnTo>
                    <a:lnTo>
                      <a:pt x="2" y="122"/>
                    </a:lnTo>
                    <a:lnTo>
                      <a:pt x="7" y="98"/>
                    </a:lnTo>
                    <a:lnTo>
                      <a:pt x="16" y="77"/>
                    </a:lnTo>
                    <a:lnTo>
                      <a:pt x="27" y="59"/>
                    </a:lnTo>
                    <a:lnTo>
                      <a:pt x="41" y="45"/>
                    </a:lnTo>
                    <a:lnTo>
                      <a:pt x="57" y="33"/>
                    </a:lnTo>
                    <a:lnTo>
                      <a:pt x="73" y="23"/>
                    </a:lnTo>
                    <a:lnTo>
                      <a:pt x="91" y="16"/>
                    </a:lnTo>
                    <a:lnTo>
                      <a:pt x="110" y="10"/>
                    </a:lnTo>
                    <a:lnTo>
                      <a:pt x="129" y="6"/>
                    </a:lnTo>
                    <a:lnTo>
                      <a:pt x="148" y="3"/>
                    </a:lnTo>
                    <a:lnTo>
                      <a:pt x="167" y="1"/>
                    </a:lnTo>
                    <a:lnTo>
                      <a:pt x="185" y="0"/>
                    </a:lnTo>
                    <a:lnTo>
                      <a:pt x="201" y="0"/>
                    </a:lnTo>
                    <a:lnTo>
                      <a:pt x="216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41" name="Freeform 24">
                <a:extLst>
                  <a:ext uri="{FF2B5EF4-FFF2-40B4-BE49-F238E27FC236}">
                    <a16:creationId xmlns:a16="http://schemas.microsoft.com/office/drawing/2014/main" xmlns="" id="{E013D346-0728-4628-A7B9-15F1191C1C6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597" y="4335"/>
                <a:ext cx="217" cy="124"/>
              </a:xfrm>
              <a:custGeom>
                <a:avLst/>
                <a:gdLst>
                  <a:gd name="T0" fmla="*/ 1796 w 2393"/>
                  <a:gd name="T1" fmla="*/ 704 h 1360"/>
                  <a:gd name="T2" fmla="*/ 1761 w 2393"/>
                  <a:gd name="T3" fmla="*/ 720 h 1360"/>
                  <a:gd name="T4" fmla="*/ 1590 w 2393"/>
                  <a:gd name="T5" fmla="*/ 904 h 1360"/>
                  <a:gd name="T6" fmla="*/ 1882 w 2393"/>
                  <a:gd name="T7" fmla="*/ 733 h 1360"/>
                  <a:gd name="T8" fmla="*/ 1851 w 2393"/>
                  <a:gd name="T9" fmla="*/ 709 h 1360"/>
                  <a:gd name="T10" fmla="*/ 1814 w 2393"/>
                  <a:gd name="T11" fmla="*/ 702 h 1360"/>
                  <a:gd name="T12" fmla="*/ 1831 w 2393"/>
                  <a:gd name="T13" fmla="*/ 20 h 1360"/>
                  <a:gd name="T14" fmla="*/ 1950 w 2393"/>
                  <a:gd name="T15" fmla="*/ 61 h 1360"/>
                  <a:gd name="T16" fmla="*/ 2057 w 2393"/>
                  <a:gd name="T17" fmla="*/ 121 h 1360"/>
                  <a:gd name="T18" fmla="*/ 2154 w 2393"/>
                  <a:gd name="T19" fmla="*/ 196 h 1360"/>
                  <a:gd name="T20" fmla="*/ 2235 w 2393"/>
                  <a:gd name="T21" fmla="*/ 286 h 1360"/>
                  <a:gd name="T22" fmla="*/ 2301 w 2393"/>
                  <a:gd name="T23" fmla="*/ 388 h 1360"/>
                  <a:gd name="T24" fmla="*/ 2352 w 2393"/>
                  <a:gd name="T25" fmla="*/ 501 h 1360"/>
                  <a:gd name="T26" fmla="*/ 2382 w 2393"/>
                  <a:gd name="T27" fmla="*/ 622 h 1360"/>
                  <a:gd name="T28" fmla="*/ 2393 w 2393"/>
                  <a:gd name="T29" fmla="*/ 748 h 1360"/>
                  <a:gd name="T30" fmla="*/ 2390 w 2393"/>
                  <a:gd name="T31" fmla="*/ 1230 h 1360"/>
                  <a:gd name="T32" fmla="*/ 2370 w 2393"/>
                  <a:gd name="T33" fmla="*/ 1282 h 1360"/>
                  <a:gd name="T34" fmla="*/ 2335 w 2393"/>
                  <a:gd name="T35" fmla="*/ 1324 h 1360"/>
                  <a:gd name="T36" fmla="*/ 2286 w 2393"/>
                  <a:gd name="T37" fmla="*/ 1351 h 1360"/>
                  <a:gd name="T38" fmla="*/ 2230 w 2393"/>
                  <a:gd name="T39" fmla="*/ 1360 h 1360"/>
                  <a:gd name="T40" fmla="*/ 129 w 2393"/>
                  <a:gd name="T41" fmla="*/ 1358 h 1360"/>
                  <a:gd name="T42" fmla="*/ 77 w 2393"/>
                  <a:gd name="T43" fmla="*/ 1339 h 1360"/>
                  <a:gd name="T44" fmla="*/ 36 w 2393"/>
                  <a:gd name="T45" fmla="*/ 1304 h 1360"/>
                  <a:gd name="T46" fmla="*/ 10 w 2393"/>
                  <a:gd name="T47" fmla="*/ 1256 h 1360"/>
                  <a:gd name="T48" fmla="*/ 0 w 2393"/>
                  <a:gd name="T49" fmla="*/ 1200 h 1360"/>
                  <a:gd name="T50" fmla="*/ 3 w 2393"/>
                  <a:gd name="T51" fmla="*/ 684 h 1360"/>
                  <a:gd name="T52" fmla="*/ 23 w 2393"/>
                  <a:gd name="T53" fmla="*/ 561 h 1360"/>
                  <a:gd name="T54" fmla="*/ 63 w 2393"/>
                  <a:gd name="T55" fmla="*/ 443 h 1360"/>
                  <a:gd name="T56" fmla="*/ 122 w 2393"/>
                  <a:gd name="T57" fmla="*/ 336 h 1360"/>
                  <a:gd name="T58" fmla="*/ 195 w 2393"/>
                  <a:gd name="T59" fmla="*/ 240 h 1360"/>
                  <a:gd name="T60" fmla="*/ 283 w 2393"/>
                  <a:gd name="T61" fmla="*/ 157 h 1360"/>
                  <a:gd name="T62" fmla="*/ 385 w 2393"/>
                  <a:gd name="T63" fmla="*/ 89 h 1360"/>
                  <a:gd name="T64" fmla="*/ 498 w 2393"/>
                  <a:gd name="T65" fmla="*/ 38 h 1360"/>
                  <a:gd name="T66" fmla="*/ 640 w 2393"/>
                  <a:gd name="T67" fmla="*/ 0 h 1360"/>
                  <a:gd name="T68" fmla="*/ 1748 w 2393"/>
                  <a:gd name="T69" fmla="*/ 0 h 1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2393" h="1360">
                    <a:moveTo>
                      <a:pt x="1814" y="702"/>
                    </a:moveTo>
                    <a:lnTo>
                      <a:pt x="1796" y="704"/>
                    </a:lnTo>
                    <a:lnTo>
                      <a:pt x="1778" y="709"/>
                    </a:lnTo>
                    <a:lnTo>
                      <a:pt x="1761" y="720"/>
                    </a:lnTo>
                    <a:lnTo>
                      <a:pt x="1746" y="733"/>
                    </a:lnTo>
                    <a:lnTo>
                      <a:pt x="1590" y="904"/>
                    </a:lnTo>
                    <a:lnTo>
                      <a:pt x="2038" y="904"/>
                    </a:lnTo>
                    <a:lnTo>
                      <a:pt x="1882" y="733"/>
                    </a:lnTo>
                    <a:lnTo>
                      <a:pt x="1867" y="719"/>
                    </a:lnTo>
                    <a:lnTo>
                      <a:pt x="1851" y="709"/>
                    </a:lnTo>
                    <a:lnTo>
                      <a:pt x="1833" y="703"/>
                    </a:lnTo>
                    <a:lnTo>
                      <a:pt x="1814" y="702"/>
                    </a:lnTo>
                    <a:close/>
                    <a:moveTo>
                      <a:pt x="1748" y="0"/>
                    </a:moveTo>
                    <a:lnTo>
                      <a:pt x="1831" y="20"/>
                    </a:lnTo>
                    <a:lnTo>
                      <a:pt x="1892" y="38"/>
                    </a:lnTo>
                    <a:lnTo>
                      <a:pt x="1950" y="61"/>
                    </a:lnTo>
                    <a:lnTo>
                      <a:pt x="2005" y="88"/>
                    </a:lnTo>
                    <a:lnTo>
                      <a:pt x="2057" y="121"/>
                    </a:lnTo>
                    <a:lnTo>
                      <a:pt x="2107" y="157"/>
                    </a:lnTo>
                    <a:lnTo>
                      <a:pt x="2154" y="196"/>
                    </a:lnTo>
                    <a:lnTo>
                      <a:pt x="2196" y="239"/>
                    </a:lnTo>
                    <a:lnTo>
                      <a:pt x="2235" y="286"/>
                    </a:lnTo>
                    <a:lnTo>
                      <a:pt x="2270" y="336"/>
                    </a:lnTo>
                    <a:lnTo>
                      <a:pt x="2301" y="388"/>
                    </a:lnTo>
                    <a:lnTo>
                      <a:pt x="2328" y="443"/>
                    </a:lnTo>
                    <a:lnTo>
                      <a:pt x="2352" y="501"/>
                    </a:lnTo>
                    <a:lnTo>
                      <a:pt x="2369" y="561"/>
                    </a:lnTo>
                    <a:lnTo>
                      <a:pt x="2382" y="622"/>
                    </a:lnTo>
                    <a:lnTo>
                      <a:pt x="2390" y="684"/>
                    </a:lnTo>
                    <a:lnTo>
                      <a:pt x="2393" y="748"/>
                    </a:lnTo>
                    <a:lnTo>
                      <a:pt x="2393" y="1200"/>
                    </a:lnTo>
                    <a:lnTo>
                      <a:pt x="2390" y="1230"/>
                    </a:lnTo>
                    <a:lnTo>
                      <a:pt x="2383" y="1256"/>
                    </a:lnTo>
                    <a:lnTo>
                      <a:pt x="2370" y="1282"/>
                    </a:lnTo>
                    <a:lnTo>
                      <a:pt x="2354" y="1304"/>
                    </a:lnTo>
                    <a:lnTo>
                      <a:pt x="2335" y="1324"/>
                    </a:lnTo>
                    <a:lnTo>
                      <a:pt x="2311" y="1339"/>
                    </a:lnTo>
                    <a:lnTo>
                      <a:pt x="2286" y="1351"/>
                    </a:lnTo>
                    <a:lnTo>
                      <a:pt x="2259" y="1358"/>
                    </a:lnTo>
                    <a:lnTo>
                      <a:pt x="2230" y="1360"/>
                    </a:lnTo>
                    <a:lnTo>
                      <a:pt x="157" y="1360"/>
                    </a:lnTo>
                    <a:lnTo>
                      <a:pt x="129" y="1358"/>
                    </a:lnTo>
                    <a:lnTo>
                      <a:pt x="101" y="1351"/>
                    </a:lnTo>
                    <a:lnTo>
                      <a:pt x="77" y="1339"/>
                    </a:lnTo>
                    <a:lnTo>
                      <a:pt x="55" y="1324"/>
                    </a:lnTo>
                    <a:lnTo>
                      <a:pt x="36" y="1304"/>
                    </a:lnTo>
                    <a:lnTo>
                      <a:pt x="21" y="1282"/>
                    </a:lnTo>
                    <a:lnTo>
                      <a:pt x="10" y="1256"/>
                    </a:lnTo>
                    <a:lnTo>
                      <a:pt x="3" y="1230"/>
                    </a:lnTo>
                    <a:lnTo>
                      <a:pt x="0" y="1200"/>
                    </a:lnTo>
                    <a:lnTo>
                      <a:pt x="0" y="748"/>
                    </a:lnTo>
                    <a:lnTo>
                      <a:pt x="3" y="684"/>
                    </a:lnTo>
                    <a:lnTo>
                      <a:pt x="11" y="622"/>
                    </a:lnTo>
                    <a:lnTo>
                      <a:pt x="23" y="561"/>
                    </a:lnTo>
                    <a:lnTo>
                      <a:pt x="41" y="501"/>
                    </a:lnTo>
                    <a:lnTo>
                      <a:pt x="63" y="443"/>
                    </a:lnTo>
                    <a:lnTo>
                      <a:pt x="90" y="389"/>
                    </a:lnTo>
                    <a:lnTo>
                      <a:pt x="122" y="336"/>
                    </a:lnTo>
                    <a:lnTo>
                      <a:pt x="156" y="286"/>
                    </a:lnTo>
                    <a:lnTo>
                      <a:pt x="195" y="240"/>
                    </a:lnTo>
                    <a:lnTo>
                      <a:pt x="237" y="196"/>
                    </a:lnTo>
                    <a:lnTo>
                      <a:pt x="283" y="157"/>
                    </a:lnTo>
                    <a:lnTo>
                      <a:pt x="332" y="121"/>
                    </a:lnTo>
                    <a:lnTo>
                      <a:pt x="385" y="89"/>
                    </a:lnTo>
                    <a:lnTo>
                      <a:pt x="440" y="62"/>
                    </a:lnTo>
                    <a:lnTo>
                      <a:pt x="498" y="38"/>
                    </a:lnTo>
                    <a:lnTo>
                      <a:pt x="559" y="20"/>
                    </a:lnTo>
                    <a:lnTo>
                      <a:pt x="640" y="0"/>
                    </a:lnTo>
                    <a:lnTo>
                      <a:pt x="1193" y="1280"/>
                    </a:lnTo>
                    <a:lnTo>
                      <a:pt x="1748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  <p:sp>
            <p:nvSpPr>
              <p:cNvPr id="42" name="Freeform 25">
                <a:extLst>
                  <a:ext uri="{FF2B5EF4-FFF2-40B4-BE49-F238E27FC236}">
                    <a16:creationId xmlns:a16="http://schemas.microsoft.com/office/drawing/2014/main" xmlns="" id="{388D3E4B-8569-4D4B-B6C3-A3B9FCAA81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9" y="4347"/>
                <a:ext cx="34" cy="83"/>
              </a:xfrm>
              <a:custGeom>
                <a:avLst/>
                <a:gdLst>
                  <a:gd name="T0" fmla="*/ 135 w 373"/>
                  <a:gd name="T1" fmla="*/ 0 h 915"/>
                  <a:gd name="T2" fmla="*/ 237 w 373"/>
                  <a:gd name="T3" fmla="*/ 0 h 915"/>
                  <a:gd name="T4" fmla="*/ 258 w 373"/>
                  <a:gd name="T5" fmla="*/ 2 h 915"/>
                  <a:gd name="T6" fmla="*/ 278 w 373"/>
                  <a:gd name="T7" fmla="*/ 9 h 915"/>
                  <a:gd name="T8" fmla="*/ 295 w 373"/>
                  <a:gd name="T9" fmla="*/ 21 h 915"/>
                  <a:gd name="T10" fmla="*/ 310 w 373"/>
                  <a:gd name="T11" fmla="*/ 36 h 915"/>
                  <a:gd name="T12" fmla="*/ 321 w 373"/>
                  <a:gd name="T13" fmla="*/ 53 h 915"/>
                  <a:gd name="T14" fmla="*/ 328 w 373"/>
                  <a:gd name="T15" fmla="*/ 74 h 915"/>
                  <a:gd name="T16" fmla="*/ 366 w 373"/>
                  <a:gd name="T17" fmla="*/ 234 h 915"/>
                  <a:gd name="T18" fmla="*/ 368 w 373"/>
                  <a:gd name="T19" fmla="*/ 257 h 915"/>
                  <a:gd name="T20" fmla="*/ 365 w 373"/>
                  <a:gd name="T21" fmla="*/ 281 h 915"/>
                  <a:gd name="T22" fmla="*/ 357 w 373"/>
                  <a:gd name="T23" fmla="*/ 301 h 915"/>
                  <a:gd name="T24" fmla="*/ 345 w 373"/>
                  <a:gd name="T25" fmla="*/ 319 h 915"/>
                  <a:gd name="T26" fmla="*/ 329 w 373"/>
                  <a:gd name="T27" fmla="*/ 334 h 915"/>
                  <a:gd name="T28" fmla="*/ 309 w 373"/>
                  <a:gd name="T29" fmla="*/ 345 h 915"/>
                  <a:gd name="T30" fmla="*/ 287 w 373"/>
                  <a:gd name="T31" fmla="*/ 351 h 915"/>
                  <a:gd name="T32" fmla="*/ 373 w 373"/>
                  <a:gd name="T33" fmla="*/ 438 h 915"/>
                  <a:gd name="T34" fmla="*/ 187 w 373"/>
                  <a:gd name="T35" fmla="*/ 915 h 915"/>
                  <a:gd name="T36" fmla="*/ 0 w 373"/>
                  <a:gd name="T37" fmla="*/ 438 h 915"/>
                  <a:gd name="T38" fmla="*/ 85 w 373"/>
                  <a:gd name="T39" fmla="*/ 351 h 915"/>
                  <a:gd name="T40" fmla="*/ 63 w 373"/>
                  <a:gd name="T41" fmla="*/ 345 h 915"/>
                  <a:gd name="T42" fmla="*/ 44 w 373"/>
                  <a:gd name="T43" fmla="*/ 334 h 915"/>
                  <a:gd name="T44" fmla="*/ 27 w 373"/>
                  <a:gd name="T45" fmla="*/ 319 h 915"/>
                  <a:gd name="T46" fmla="*/ 15 w 373"/>
                  <a:gd name="T47" fmla="*/ 301 h 915"/>
                  <a:gd name="T48" fmla="*/ 7 w 373"/>
                  <a:gd name="T49" fmla="*/ 281 h 915"/>
                  <a:gd name="T50" fmla="*/ 4 w 373"/>
                  <a:gd name="T51" fmla="*/ 257 h 915"/>
                  <a:gd name="T52" fmla="*/ 6 w 373"/>
                  <a:gd name="T53" fmla="*/ 234 h 915"/>
                  <a:gd name="T54" fmla="*/ 44 w 373"/>
                  <a:gd name="T55" fmla="*/ 74 h 915"/>
                  <a:gd name="T56" fmla="*/ 52 w 373"/>
                  <a:gd name="T57" fmla="*/ 53 h 915"/>
                  <a:gd name="T58" fmla="*/ 63 w 373"/>
                  <a:gd name="T59" fmla="*/ 36 h 915"/>
                  <a:gd name="T60" fmla="*/ 77 w 373"/>
                  <a:gd name="T61" fmla="*/ 21 h 915"/>
                  <a:gd name="T62" fmla="*/ 95 w 373"/>
                  <a:gd name="T63" fmla="*/ 9 h 915"/>
                  <a:gd name="T64" fmla="*/ 114 w 373"/>
                  <a:gd name="T65" fmla="*/ 2 h 915"/>
                  <a:gd name="T66" fmla="*/ 135 w 373"/>
                  <a:gd name="T67" fmla="*/ 0 h 91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73" h="915">
                    <a:moveTo>
                      <a:pt x="135" y="0"/>
                    </a:moveTo>
                    <a:lnTo>
                      <a:pt x="237" y="0"/>
                    </a:lnTo>
                    <a:lnTo>
                      <a:pt x="258" y="2"/>
                    </a:lnTo>
                    <a:lnTo>
                      <a:pt x="278" y="9"/>
                    </a:lnTo>
                    <a:lnTo>
                      <a:pt x="295" y="21"/>
                    </a:lnTo>
                    <a:lnTo>
                      <a:pt x="310" y="36"/>
                    </a:lnTo>
                    <a:lnTo>
                      <a:pt x="321" y="53"/>
                    </a:lnTo>
                    <a:lnTo>
                      <a:pt x="328" y="74"/>
                    </a:lnTo>
                    <a:lnTo>
                      <a:pt x="366" y="234"/>
                    </a:lnTo>
                    <a:lnTo>
                      <a:pt x="368" y="257"/>
                    </a:lnTo>
                    <a:lnTo>
                      <a:pt x="365" y="281"/>
                    </a:lnTo>
                    <a:lnTo>
                      <a:pt x="357" y="301"/>
                    </a:lnTo>
                    <a:lnTo>
                      <a:pt x="345" y="319"/>
                    </a:lnTo>
                    <a:lnTo>
                      <a:pt x="329" y="334"/>
                    </a:lnTo>
                    <a:lnTo>
                      <a:pt x="309" y="345"/>
                    </a:lnTo>
                    <a:lnTo>
                      <a:pt x="287" y="351"/>
                    </a:lnTo>
                    <a:lnTo>
                      <a:pt x="373" y="438"/>
                    </a:lnTo>
                    <a:lnTo>
                      <a:pt x="187" y="915"/>
                    </a:lnTo>
                    <a:lnTo>
                      <a:pt x="0" y="438"/>
                    </a:lnTo>
                    <a:lnTo>
                      <a:pt x="85" y="351"/>
                    </a:lnTo>
                    <a:lnTo>
                      <a:pt x="63" y="345"/>
                    </a:lnTo>
                    <a:lnTo>
                      <a:pt x="44" y="334"/>
                    </a:lnTo>
                    <a:lnTo>
                      <a:pt x="27" y="319"/>
                    </a:lnTo>
                    <a:lnTo>
                      <a:pt x="15" y="301"/>
                    </a:lnTo>
                    <a:lnTo>
                      <a:pt x="7" y="281"/>
                    </a:lnTo>
                    <a:lnTo>
                      <a:pt x="4" y="257"/>
                    </a:lnTo>
                    <a:lnTo>
                      <a:pt x="6" y="234"/>
                    </a:lnTo>
                    <a:lnTo>
                      <a:pt x="44" y="74"/>
                    </a:lnTo>
                    <a:lnTo>
                      <a:pt x="52" y="53"/>
                    </a:lnTo>
                    <a:lnTo>
                      <a:pt x="63" y="36"/>
                    </a:lnTo>
                    <a:lnTo>
                      <a:pt x="77" y="21"/>
                    </a:lnTo>
                    <a:lnTo>
                      <a:pt x="95" y="9"/>
                    </a:lnTo>
                    <a:lnTo>
                      <a:pt x="114" y="2"/>
                    </a:lnTo>
                    <a:lnTo>
                      <a:pt x="135" y="0"/>
                    </a:lnTo>
                    <a:close/>
                  </a:path>
                </a:pathLst>
              </a:custGeom>
              <a:grpFill/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sz="1600">
                  <a:solidFill>
                    <a:prstClr val="black"/>
                  </a:solidFill>
                </a:endParaRPr>
              </a:p>
            </p:txBody>
          </p:sp>
        </p:grpSp>
      </p:grpSp>
      <p:sp>
        <p:nvSpPr>
          <p:cNvPr id="10" name="직사각형 9"/>
          <p:cNvSpPr/>
          <p:nvPr/>
        </p:nvSpPr>
        <p:spPr>
          <a:xfrm>
            <a:off x="3176549" y="3528723"/>
            <a:ext cx="23936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200" kern="0" dirty="0" smtClean="0">
                <a:solidFill>
                  <a:prstClr val="white"/>
                </a:solidFill>
              </a:rPr>
              <a:t>한국산업기술대학교 </a:t>
            </a:r>
            <a:r>
              <a:rPr lang="ko-KR" altLang="en-US" sz="1200" kern="0" dirty="0" err="1" smtClean="0">
                <a:solidFill>
                  <a:prstClr val="white"/>
                </a:solidFill>
              </a:rPr>
              <a:t>게임공학과</a:t>
            </a:r>
            <a:endParaRPr lang="ko-KR" altLang="en-US" sz="1100" dirty="0">
              <a:solidFill>
                <a:prstClr val="black"/>
              </a:solidFill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3176549" y="4150142"/>
            <a:ext cx="155042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kern="0" dirty="0" smtClean="0">
                <a:solidFill>
                  <a:prstClr val="white"/>
                </a:solidFill>
              </a:rPr>
              <a:t>2014180011 </a:t>
            </a:r>
            <a:r>
              <a:rPr lang="ko-KR" altLang="en-US" sz="1200" kern="0" dirty="0" smtClean="0">
                <a:solidFill>
                  <a:prstClr val="white"/>
                </a:solidFill>
              </a:rPr>
              <a:t>김영범</a:t>
            </a:r>
            <a:endParaRPr lang="ko-KR" altLang="en-US" sz="1100" dirty="0">
              <a:solidFill>
                <a:prstClr val="black"/>
              </a:solidFill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0669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24C98E6B-2B63-475F-837A-7E31088AD69A}"/>
              </a:ext>
            </a:extLst>
          </p:cNvPr>
          <p:cNvCxnSpPr/>
          <p:nvPr/>
        </p:nvCxnSpPr>
        <p:spPr>
          <a:xfrm flipH="1">
            <a:off x="3136510" y="1605686"/>
            <a:ext cx="1" cy="434117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xmlns="" id="{D8241E59-0646-41EB-8ED0-090409856B7D}"/>
              </a:ext>
            </a:extLst>
          </p:cNvPr>
          <p:cNvSpPr/>
          <p:nvPr/>
        </p:nvSpPr>
        <p:spPr>
          <a:xfrm>
            <a:off x="2914078" y="1460441"/>
            <a:ext cx="444864" cy="44486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Ⅰ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3657838" y="1393291"/>
            <a:ext cx="1722013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>
                <a:solidFill>
                  <a:prstClr val="white"/>
                </a:solidFill>
              </a:rPr>
              <a:t>기본 화면</a:t>
            </a:r>
            <a:endParaRPr lang="en-US" altLang="ko-KR" sz="2000" b="1" dirty="0">
              <a:solidFill>
                <a:prstClr val="white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549335" y="535450"/>
            <a:ext cx="1425559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목차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xmlns="" id="{D8241E59-0646-41EB-8ED0-090409856B7D}"/>
              </a:ext>
            </a:extLst>
          </p:cNvPr>
          <p:cNvSpPr/>
          <p:nvPr/>
        </p:nvSpPr>
        <p:spPr>
          <a:xfrm>
            <a:off x="2914078" y="4609091"/>
            <a:ext cx="444864" cy="44486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Ⅱ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3662468" y="4534376"/>
            <a:ext cx="1722013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>
                <a:solidFill>
                  <a:prstClr val="white"/>
                </a:solidFill>
              </a:rPr>
              <a:t>행동 및 조작</a:t>
            </a:r>
            <a:endParaRPr lang="en-US" altLang="ko-KR" sz="2000" b="1" dirty="0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1846971"/>
            <a:ext cx="172201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나침반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2146790"/>
            <a:ext cx="172201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생존 </a:t>
            </a:r>
            <a:r>
              <a:rPr lang="en-US" altLang="ko-KR" sz="1400" dirty="0" smtClean="0">
                <a:solidFill>
                  <a:prstClr val="white"/>
                </a:solidFill>
              </a:rPr>
              <a:t>/</a:t>
            </a:r>
            <a:r>
              <a:rPr lang="ko-KR" altLang="en-US" sz="1400" dirty="0" smtClean="0">
                <a:solidFill>
                  <a:prstClr val="white"/>
                </a:solidFill>
              </a:rPr>
              <a:t> 킬 로그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2488222"/>
            <a:ext cx="105699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err="1" smtClean="0">
                <a:solidFill>
                  <a:prstClr val="white"/>
                </a:solidFill>
              </a:rPr>
              <a:t>조준점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2829654"/>
            <a:ext cx="158900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err="1" smtClean="0">
                <a:solidFill>
                  <a:prstClr val="white"/>
                </a:solidFill>
              </a:rPr>
              <a:t>스테이터스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3171086"/>
            <a:ext cx="115674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팀 </a:t>
            </a:r>
            <a:r>
              <a:rPr lang="ko-KR" altLang="en-US" sz="1400" dirty="0" err="1" smtClean="0">
                <a:solidFill>
                  <a:prstClr val="white"/>
                </a:solidFill>
              </a:rPr>
              <a:t>인포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3512518"/>
            <a:ext cx="132166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장비 슬롯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3853949"/>
            <a:ext cx="172201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err="1" smtClean="0">
                <a:solidFill>
                  <a:prstClr val="white"/>
                </a:solidFill>
              </a:rPr>
              <a:t>미니맵</a:t>
            </a:r>
            <a:r>
              <a:rPr lang="ko-KR" altLang="en-US" sz="1400" dirty="0" smtClean="0">
                <a:solidFill>
                  <a:prstClr val="white"/>
                </a:solidFill>
              </a:rPr>
              <a:t> </a:t>
            </a:r>
            <a:r>
              <a:rPr lang="en-US" altLang="ko-KR" sz="1400" dirty="0" smtClean="0">
                <a:solidFill>
                  <a:prstClr val="white"/>
                </a:solidFill>
              </a:rPr>
              <a:t>/ </a:t>
            </a:r>
            <a:r>
              <a:rPr lang="ko-KR" altLang="en-US" sz="1400" dirty="0" smtClean="0">
                <a:solidFill>
                  <a:prstClr val="white"/>
                </a:solidFill>
              </a:rPr>
              <a:t>자기장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4988651"/>
            <a:ext cx="172201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조작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5288470"/>
            <a:ext cx="172201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상호작용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0" y="5635230"/>
            <a:ext cx="172201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아이템 사용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242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xmlns="" id="{24C98E6B-2B63-475F-837A-7E31088AD69A}"/>
              </a:ext>
            </a:extLst>
          </p:cNvPr>
          <p:cNvCxnSpPr/>
          <p:nvPr/>
        </p:nvCxnSpPr>
        <p:spPr>
          <a:xfrm flipH="1">
            <a:off x="3136510" y="763921"/>
            <a:ext cx="1" cy="394652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타원 21">
            <a:extLst>
              <a:ext uri="{FF2B5EF4-FFF2-40B4-BE49-F238E27FC236}">
                <a16:creationId xmlns:a16="http://schemas.microsoft.com/office/drawing/2014/main" xmlns="" id="{D8241E59-0646-41EB-8ED0-090409856B7D}"/>
              </a:ext>
            </a:extLst>
          </p:cNvPr>
          <p:cNvSpPr/>
          <p:nvPr/>
        </p:nvSpPr>
        <p:spPr>
          <a:xfrm>
            <a:off x="2914078" y="1460440"/>
            <a:ext cx="444864" cy="44486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tx1"/>
                </a:solidFill>
              </a:rPr>
              <a:t>Ⅲ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3657838" y="1393290"/>
            <a:ext cx="1722013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>
                <a:solidFill>
                  <a:prstClr val="white"/>
                </a:solidFill>
              </a:rPr>
              <a:t>사격</a:t>
            </a:r>
            <a:endParaRPr lang="en-US" altLang="ko-KR" sz="2000" b="1" dirty="0">
              <a:solidFill>
                <a:prstClr val="white"/>
              </a:solidFill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549335" y="535450"/>
            <a:ext cx="1425559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목차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xmlns="" id="{D8241E59-0646-41EB-8ED0-090409856B7D}"/>
              </a:ext>
            </a:extLst>
          </p:cNvPr>
          <p:cNvSpPr/>
          <p:nvPr/>
        </p:nvSpPr>
        <p:spPr>
          <a:xfrm>
            <a:off x="2914078" y="4612784"/>
            <a:ext cx="444864" cy="444864"/>
          </a:xfrm>
          <a:prstGeom prst="ellipse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 smtClean="0">
                <a:solidFill>
                  <a:schemeClr val="tx1"/>
                </a:solidFill>
              </a:rPr>
              <a:t>Ⅳ</a:t>
            </a:r>
            <a:endParaRPr lang="ko-KR" altLang="en-US" sz="2000" b="1" dirty="0">
              <a:solidFill>
                <a:schemeClr val="tx1"/>
              </a:solidFill>
            </a:endParaRP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3662468" y="4523555"/>
            <a:ext cx="1722013" cy="4944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2000" b="1" dirty="0" smtClean="0">
                <a:solidFill>
                  <a:prstClr val="white"/>
                </a:solidFill>
              </a:rPr>
              <a:t>킬 </a:t>
            </a:r>
            <a:r>
              <a:rPr lang="en-US" altLang="ko-KR" sz="2000" b="1" dirty="0" smtClean="0">
                <a:solidFill>
                  <a:prstClr val="white"/>
                </a:solidFill>
              </a:rPr>
              <a:t>/ </a:t>
            </a:r>
            <a:r>
              <a:rPr lang="ko-KR" altLang="en-US" sz="2000" b="1" dirty="0" smtClean="0">
                <a:solidFill>
                  <a:prstClr val="white"/>
                </a:solidFill>
              </a:rPr>
              <a:t>사망 </a:t>
            </a:r>
            <a:endParaRPr lang="en-US" altLang="ko-KR" sz="2000" b="1" dirty="0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3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1846970"/>
            <a:ext cx="172201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IDLE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2146789"/>
            <a:ext cx="172201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err="1" smtClean="0">
                <a:solidFill>
                  <a:prstClr val="white"/>
                </a:solidFill>
              </a:rPr>
              <a:t>견착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2488221"/>
            <a:ext cx="105699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정조준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2829653"/>
            <a:ext cx="158900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배율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3171085"/>
            <a:ext cx="1156746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근접 무기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3512517"/>
            <a:ext cx="132166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투척 무기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4977830"/>
            <a:ext cx="172201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킬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5294275"/>
            <a:ext cx="172201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기절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254421" y="5651534"/>
            <a:ext cx="172201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- </a:t>
            </a:r>
            <a:r>
              <a:rPr lang="ko-KR" altLang="en-US" sz="1400" dirty="0" smtClean="0">
                <a:solidFill>
                  <a:prstClr val="white"/>
                </a:solidFill>
              </a:rPr>
              <a:t>사망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2221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2033994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smtClean="0">
                <a:solidFill>
                  <a:prstClr val="white"/>
                </a:solidFill>
              </a:rPr>
              <a:t>공통적 </a:t>
            </a:r>
            <a:r>
              <a:rPr lang="ko-KR" altLang="en-US" sz="2400" b="1" dirty="0" smtClean="0">
                <a:solidFill>
                  <a:prstClr val="white"/>
                </a:solidFill>
              </a:rPr>
              <a:t>특징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4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508489" y="1120736"/>
            <a:ext cx="9274628" cy="5439720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시점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: 3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기본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) / 1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배그는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기본적으로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 시점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더 자세하게는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숄더뷰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형식을 채용하고 있다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평소에는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색적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정보 습득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아이템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파밍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등을 위해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 시점을 사용한다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스코프를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활용한 정조준 사격 시에는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 시점으로 사격한다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그 외 상황에 따라 필요하다고 판단되면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 시점으로 변경할 수 있다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 시점을 사용했을 때의 변화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시야 각이 넓어져 화면을 더 넓게 볼 수 있다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때문에 화면에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UI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를 표현해도 시야에 큰 부담이 가지 않는다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시야 고도가 높아지고 그만큼 전장의 정보를 더 많이 획득하고 분석할 수 있다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난이도 하락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캐릭터 주위 환경을 볼 수 있다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이 점을 활용해 장애물 너머의 존재를 확인하는 전략적 플레이가 가능하다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이러한 점들 덕분에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FPS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환경보다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TPS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환경이 체감 난이도가 낮다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</a:p>
          <a:p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 시점을 사용한 이유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인칭은 좁은 공간을 확대하여 보여주고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인칭은 넓은 공간을 상대적으로 간단하게 보여주는데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여타 슈팅 게임과는 달리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맵이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매우 넓고 크기 때문에 시야가 제한된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1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 시점으로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플레이하기에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어려움이 따름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출시할 때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서바이벌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장르에 익숙하지 않을 사람들을 위해 상대적으로 난이도가 쉬운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3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인칭 사용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더 넓어지고 자유로워진 시야를 통해서 정보를 더 쉽게 받아들이고 이를 활용하게끔 유도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전체적인 특징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무채색을 기본으로 하여 윤곽선이 없고 단조로운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UI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디자인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</a:p>
          <a:p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미니맵을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제외하고 투명도를 반투명하게 설정하여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뒷배경을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확인할 수 있게 설정했다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최대한 존재감을 지우고 필요최소한의 정보만 표시하도록 디자인한 모습이다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그 이유는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서바이벌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게임이기 때문에 게임 외적으로 이목을 최대한 끌지 않고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목표를 탐색하는 데 방해 요소를 최소화시켜 플레이 자체에 집중할 수 있도록 만들기 위함이다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슈팅게임 특성상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크로스헤어를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중심으로 화면 중앙에 시선이 집중되기 때문에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화면 중앙을 최대한 비우고 기타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UI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요소들을 외곽으로 몰아 그려줌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메인화면은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간략하게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크로스헤어는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심층적으로 분석하자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911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1711727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기본 화면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5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5" y="1240905"/>
            <a:ext cx="9094124" cy="511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60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1711727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기본 화면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6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2545" y="1240905"/>
            <a:ext cx="9094124" cy="5115445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5079075" y="5735782"/>
            <a:ext cx="2244437" cy="62056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9326880" y="4688378"/>
            <a:ext cx="1338349" cy="15960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8545484" y="5095702"/>
            <a:ext cx="781396" cy="118872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9326880" y="1321724"/>
            <a:ext cx="1338349" cy="78139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4409900" y="1240905"/>
            <a:ext cx="3703322" cy="49045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/>
          <p:cNvSpPr/>
          <p:nvPr/>
        </p:nvSpPr>
        <p:spPr>
          <a:xfrm>
            <a:off x="5835535" y="3474720"/>
            <a:ext cx="731520" cy="6816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1662544" y="4688378"/>
            <a:ext cx="1762299" cy="159604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현 3"/>
          <p:cNvSpPr/>
          <p:nvPr/>
        </p:nvSpPr>
        <p:spPr>
          <a:xfrm>
            <a:off x="4233892" y="1235278"/>
            <a:ext cx="340822" cy="227519"/>
          </a:xfrm>
          <a:prstGeom prst="chord">
            <a:avLst>
              <a:gd name="adj1" fmla="val 5458224"/>
              <a:gd name="adj2" fmla="val 1621027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4195207" y="1120736"/>
            <a:ext cx="234033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1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grpSp>
        <p:nvGrpSpPr>
          <p:cNvPr id="17" name="그룹 16"/>
          <p:cNvGrpSpPr/>
          <p:nvPr/>
        </p:nvGrpSpPr>
        <p:grpSpPr>
          <a:xfrm>
            <a:off x="9103874" y="1211137"/>
            <a:ext cx="379507" cy="373885"/>
            <a:chOff x="4292883" y="541895"/>
            <a:chExt cx="379507" cy="373885"/>
          </a:xfrm>
        </p:grpSpPr>
        <p:sp>
          <p:nvSpPr>
            <p:cNvPr id="18" name="현 17"/>
            <p:cNvSpPr/>
            <p:nvPr/>
          </p:nvSpPr>
          <p:spPr>
            <a:xfrm>
              <a:off x="4331568" y="656437"/>
              <a:ext cx="340822" cy="227519"/>
            </a:xfrm>
            <a:prstGeom prst="chord">
              <a:avLst>
                <a:gd name="adj1" fmla="val 5458224"/>
                <a:gd name="adj2" fmla="val 1621027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xmlns="" id="{76B5609D-62AE-4714-BDF8-6284F2967DFB}"/>
                </a:ext>
              </a:extLst>
            </p:cNvPr>
            <p:cNvSpPr/>
            <p:nvPr/>
          </p:nvSpPr>
          <p:spPr>
            <a:xfrm>
              <a:off x="4292883" y="541895"/>
              <a:ext cx="234033" cy="373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dirty="0">
                  <a:solidFill>
                    <a:prstClr val="white"/>
                  </a:solidFill>
                </a:rPr>
                <a:t>2</a:t>
              </a:r>
            </a:p>
          </p:txBody>
        </p:sp>
      </p:grpSp>
      <p:grpSp>
        <p:nvGrpSpPr>
          <p:cNvPr id="20" name="그룹 19"/>
          <p:cNvGrpSpPr/>
          <p:nvPr/>
        </p:nvGrpSpPr>
        <p:grpSpPr>
          <a:xfrm>
            <a:off x="5620844" y="3359675"/>
            <a:ext cx="379507" cy="373885"/>
            <a:chOff x="4292883" y="541895"/>
            <a:chExt cx="379507" cy="373885"/>
          </a:xfrm>
        </p:grpSpPr>
        <p:sp>
          <p:nvSpPr>
            <p:cNvPr id="21" name="현 20"/>
            <p:cNvSpPr/>
            <p:nvPr/>
          </p:nvSpPr>
          <p:spPr>
            <a:xfrm>
              <a:off x="4331568" y="656437"/>
              <a:ext cx="340822" cy="227519"/>
            </a:xfrm>
            <a:prstGeom prst="chord">
              <a:avLst>
                <a:gd name="adj1" fmla="val 5458224"/>
                <a:gd name="adj2" fmla="val 1621027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xmlns="" id="{76B5609D-62AE-4714-BDF8-6284F2967DFB}"/>
                </a:ext>
              </a:extLst>
            </p:cNvPr>
            <p:cNvSpPr/>
            <p:nvPr/>
          </p:nvSpPr>
          <p:spPr>
            <a:xfrm>
              <a:off x="4292883" y="541895"/>
              <a:ext cx="234033" cy="373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dirty="0" smtClean="0">
                  <a:solidFill>
                    <a:prstClr val="white"/>
                  </a:solidFill>
                </a:rPr>
                <a:t>3</a:t>
              </a:r>
              <a:endParaRPr lang="en-US" altLang="ko-KR" sz="1400" dirty="0">
                <a:solidFill>
                  <a:prstClr val="white"/>
                </a:solidFill>
              </a:endParaRPr>
            </a:p>
          </p:txBody>
        </p:sp>
      </p:grpSp>
      <p:sp>
        <p:nvSpPr>
          <p:cNvPr id="27" name="현 26"/>
          <p:cNvSpPr/>
          <p:nvPr/>
        </p:nvSpPr>
        <p:spPr>
          <a:xfrm rot="10800000">
            <a:off x="3267647" y="4680065"/>
            <a:ext cx="340822" cy="227519"/>
          </a:xfrm>
          <a:prstGeom prst="chord">
            <a:avLst>
              <a:gd name="adj1" fmla="val 5458224"/>
              <a:gd name="adj2" fmla="val 1621027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3373105" y="4558638"/>
            <a:ext cx="23403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5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sp>
        <p:nvSpPr>
          <p:cNvPr id="33" name="현 32"/>
          <p:cNvSpPr/>
          <p:nvPr/>
        </p:nvSpPr>
        <p:spPr>
          <a:xfrm rot="5400000">
            <a:off x="5025141" y="5613710"/>
            <a:ext cx="340822" cy="227519"/>
          </a:xfrm>
          <a:prstGeom prst="chord">
            <a:avLst>
              <a:gd name="adj1" fmla="val 5458224"/>
              <a:gd name="adj2" fmla="val 1621027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5050340" y="5422164"/>
            <a:ext cx="23403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 smtClean="0">
                <a:solidFill>
                  <a:prstClr val="white"/>
                </a:solidFill>
              </a:rPr>
              <a:t>4</a:t>
            </a:r>
            <a:endParaRPr lang="en-US" altLang="ko-KR" sz="1400" dirty="0">
              <a:solidFill>
                <a:prstClr val="white"/>
              </a:solidFill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8322533" y="4982399"/>
            <a:ext cx="379507" cy="373885"/>
            <a:chOff x="4292883" y="541895"/>
            <a:chExt cx="379507" cy="373885"/>
          </a:xfrm>
        </p:grpSpPr>
        <p:sp>
          <p:nvSpPr>
            <p:cNvPr id="35" name="현 34"/>
            <p:cNvSpPr/>
            <p:nvPr/>
          </p:nvSpPr>
          <p:spPr>
            <a:xfrm>
              <a:off x="4331568" y="656437"/>
              <a:ext cx="340822" cy="227519"/>
            </a:xfrm>
            <a:prstGeom prst="chord">
              <a:avLst>
                <a:gd name="adj1" fmla="val 5458224"/>
                <a:gd name="adj2" fmla="val 16210273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xmlns="" id="{76B5609D-62AE-4714-BDF8-6284F2967DFB}"/>
                </a:ext>
              </a:extLst>
            </p:cNvPr>
            <p:cNvSpPr/>
            <p:nvPr/>
          </p:nvSpPr>
          <p:spPr>
            <a:xfrm>
              <a:off x="4292883" y="541895"/>
              <a:ext cx="234033" cy="3738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altLang="ko-KR" sz="1400" dirty="0">
                  <a:solidFill>
                    <a:prstClr val="white"/>
                  </a:solidFill>
                </a:rPr>
                <a:t>6</a:t>
              </a:r>
            </a:p>
          </p:txBody>
        </p:sp>
      </p:grpSp>
      <p:sp>
        <p:nvSpPr>
          <p:cNvPr id="41" name="현 40"/>
          <p:cNvSpPr/>
          <p:nvPr/>
        </p:nvSpPr>
        <p:spPr>
          <a:xfrm rot="5400000">
            <a:off x="10386849" y="4563241"/>
            <a:ext cx="340822" cy="227519"/>
          </a:xfrm>
          <a:prstGeom prst="chord">
            <a:avLst>
              <a:gd name="adj1" fmla="val 5458224"/>
              <a:gd name="adj2" fmla="val 16210273"/>
            </a:avLst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xmlns="" id="{76B5609D-62AE-4714-BDF8-6284F2967DFB}"/>
              </a:ext>
            </a:extLst>
          </p:cNvPr>
          <p:cNvSpPr/>
          <p:nvPr/>
        </p:nvSpPr>
        <p:spPr>
          <a:xfrm>
            <a:off x="10420361" y="4371695"/>
            <a:ext cx="234033" cy="373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400" dirty="0">
                <a:solidFill>
                  <a:prstClr val="white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377554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1711727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기본 화면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7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2" y="1332345"/>
            <a:ext cx="2404740" cy="135266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242895" y="1332345"/>
            <a:ext cx="901933" cy="11397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4EDB60A-88EE-4624-924F-1D4B6948100C}"/>
              </a:ext>
            </a:extLst>
          </p:cNvPr>
          <p:cNvSpPr/>
          <p:nvPr/>
        </p:nvSpPr>
        <p:spPr>
          <a:xfrm>
            <a:off x="2371327" y="544106"/>
            <a:ext cx="1311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1600" kern="0" dirty="0" smtClean="0">
                <a:solidFill>
                  <a:prstClr val="white"/>
                </a:solidFill>
              </a:rPr>
              <a:t>1) </a:t>
            </a:r>
            <a:r>
              <a:rPr lang="ko-KR" altLang="en-US" sz="1600" kern="0" dirty="0" smtClean="0">
                <a:solidFill>
                  <a:prstClr val="white"/>
                </a:solidFill>
              </a:rPr>
              <a:t>나침반</a:t>
            </a:r>
            <a:endParaRPr lang="ko-KR" altLang="en-US" sz="8800" kern="0" dirty="0">
              <a:solidFill>
                <a:prstClr val="white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219" y="2949844"/>
            <a:ext cx="7553325" cy="695325"/>
          </a:xfrm>
          <a:prstGeom prst="rect">
            <a:avLst/>
          </a:prstGeom>
        </p:spPr>
      </p:pic>
      <p:cxnSp>
        <p:nvCxnSpPr>
          <p:cNvPr id="15" name="직선 화살표 연결선 14"/>
          <p:cNvCxnSpPr/>
          <p:nvPr/>
        </p:nvCxnSpPr>
        <p:spPr>
          <a:xfrm>
            <a:off x="2028305" y="1494535"/>
            <a:ext cx="2003368" cy="147072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/>
          <p:cNvCxnSpPr/>
          <p:nvPr/>
        </p:nvCxnSpPr>
        <p:spPr>
          <a:xfrm flipH="1">
            <a:off x="5088809" y="1209257"/>
            <a:ext cx="15206" cy="179877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4987897" y="472736"/>
            <a:ext cx="3240578" cy="736521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아군이 지도 상에 표기한 마크의 방향을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/>
            </a:r>
            <a:b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</a:b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현재 위치를 기준으로 표시하여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설정해놓은</a:t>
            </a:r>
            <a:endParaRPr lang="en-US" altLang="ko-KR" sz="1200" dirty="0" smtClean="0">
              <a:solidFill>
                <a:schemeClr val="accent4"/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중요 목표의 방향을 알 수 있도록 도와준다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</a:t>
            </a:r>
          </a:p>
        </p:txBody>
      </p:sp>
      <p:cxnSp>
        <p:nvCxnSpPr>
          <p:cNvPr id="28" name="직선 화살표 연결선 27"/>
          <p:cNvCxnSpPr>
            <a:stCxn id="29" idx="0"/>
          </p:cNvCxnSpPr>
          <p:nvPr/>
        </p:nvCxnSpPr>
        <p:spPr>
          <a:xfrm flipH="1" flipV="1">
            <a:off x="5654162" y="3523282"/>
            <a:ext cx="101098" cy="173359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/>
          <p:cNvSpPr/>
          <p:nvPr/>
        </p:nvSpPr>
        <p:spPr>
          <a:xfrm>
            <a:off x="4261821" y="5256872"/>
            <a:ext cx="2986877" cy="1002611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accent4"/>
                </a:solidFill>
              </a:rPr>
              <a:t>에임 방향을 한 눈에 알 수 있도록</a:t>
            </a:r>
            <a:endParaRPr lang="en-US" altLang="ko-KR" sz="1200" dirty="0" smtClean="0">
              <a:solidFill>
                <a:schemeClr val="accent4"/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상단에 삼각형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마커를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위치시키고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현재 플레이어 에임 방향의 폰트를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굵고 크게 표시하고 배경 글자를 지운다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5" name="직사각형 34"/>
          <p:cNvSpPr/>
          <p:nvPr/>
        </p:nvSpPr>
        <p:spPr>
          <a:xfrm>
            <a:off x="5470034" y="2965264"/>
            <a:ext cx="340562" cy="55801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>
            <a:off x="6500553" y="3157423"/>
            <a:ext cx="1727922" cy="358863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1" name="직선 화살표 연결선 40"/>
          <p:cNvCxnSpPr>
            <a:stCxn id="42" idx="0"/>
          </p:cNvCxnSpPr>
          <p:nvPr/>
        </p:nvCxnSpPr>
        <p:spPr>
          <a:xfrm flipV="1">
            <a:off x="2056096" y="3523281"/>
            <a:ext cx="645540" cy="123570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429653" y="4758985"/>
            <a:ext cx="3252886" cy="910295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accent4"/>
                </a:solidFill>
              </a:rPr>
              <a:t>화면을 최대한 가리지 않기 위해</a:t>
            </a:r>
            <a:endParaRPr lang="en-US" altLang="ko-KR" sz="1200" dirty="0" smtClean="0">
              <a:solidFill>
                <a:schemeClr val="accent4"/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긴 띠 형식의 나침반 모양이 끝으로 갈수록 흐려져 사라지고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배경의 투명도를 설정하여 뒤를 볼 수 있도록 만든다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2394065" y="3008034"/>
            <a:ext cx="615142" cy="51524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6" name="직선 화살표 연결선 55"/>
          <p:cNvCxnSpPr/>
          <p:nvPr/>
        </p:nvCxnSpPr>
        <p:spPr>
          <a:xfrm flipH="1" flipV="1">
            <a:off x="7740655" y="3480542"/>
            <a:ext cx="487820" cy="127502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직사각형 53"/>
          <p:cNvSpPr/>
          <p:nvPr/>
        </p:nvSpPr>
        <p:spPr>
          <a:xfrm>
            <a:off x="7636788" y="4755567"/>
            <a:ext cx="4308601" cy="1229598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accent4"/>
                </a:solidFill>
              </a:rPr>
              <a:t>대략적인 정보와 세부적인 정보를 동시에 전달하기 위해서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기존에 익숙한 주요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8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방위는 더 크고 굵게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영어로 표시하고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각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방위 사이를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15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도 단위로 나눠 숫자를 통해 총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360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도까지 표시한다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또한 모든 방향표 위에 선분을 그어 정확한 방향을 나타내고 방향표들을 서로 구분 짓는다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  <p:cxnSp>
        <p:nvCxnSpPr>
          <p:cNvPr id="62" name="직선 화살표 연결선 61"/>
          <p:cNvCxnSpPr/>
          <p:nvPr/>
        </p:nvCxnSpPr>
        <p:spPr>
          <a:xfrm flipH="1">
            <a:off x="6207624" y="2580319"/>
            <a:ext cx="442012" cy="645019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직사각형 62"/>
          <p:cNvSpPr/>
          <p:nvPr/>
        </p:nvSpPr>
        <p:spPr>
          <a:xfrm>
            <a:off x="6308544" y="1920240"/>
            <a:ext cx="3051588" cy="803204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accent4"/>
                </a:solidFill>
              </a:rPr>
              <a:t>명확한 기준점을 주어 랜드마크의 역할을 부여하기 위해서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북쪽을 나타내는 방위는 노란색으로 표시한다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  <a:endParaRPr lang="ko-KR" altLang="en-US" sz="12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20588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1711727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기본 화면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8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2" y="1332345"/>
            <a:ext cx="2404740" cy="135266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2552007" y="1358964"/>
            <a:ext cx="344225" cy="135570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4EDB60A-88EE-4624-924F-1D4B6948100C}"/>
              </a:ext>
            </a:extLst>
          </p:cNvPr>
          <p:cNvSpPr/>
          <p:nvPr/>
        </p:nvSpPr>
        <p:spPr>
          <a:xfrm>
            <a:off x="2371327" y="544106"/>
            <a:ext cx="17517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1600" kern="0" dirty="0">
                <a:solidFill>
                  <a:prstClr val="white"/>
                </a:solidFill>
              </a:rPr>
              <a:t>2</a:t>
            </a:r>
            <a:r>
              <a:rPr lang="en-US" altLang="ko-KR" sz="1600" kern="0" dirty="0" smtClean="0">
                <a:solidFill>
                  <a:prstClr val="white"/>
                </a:solidFill>
              </a:rPr>
              <a:t>) </a:t>
            </a:r>
            <a:r>
              <a:rPr lang="ko-KR" altLang="en-US" sz="1600" kern="0" dirty="0" smtClean="0">
                <a:solidFill>
                  <a:prstClr val="white"/>
                </a:solidFill>
              </a:rPr>
              <a:t>생존 </a:t>
            </a:r>
            <a:r>
              <a:rPr lang="en-US" altLang="ko-KR" sz="1600" kern="0" dirty="0" smtClean="0">
                <a:solidFill>
                  <a:prstClr val="white"/>
                </a:solidFill>
              </a:rPr>
              <a:t>/ </a:t>
            </a:r>
            <a:r>
              <a:rPr lang="ko-KR" altLang="en-US" sz="1600" kern="0" dirty="0" smtClean="0">
                <a:solidFill>
                  <a:prstClr val="white"/>
                </a:solidFill>
              </a:rPr>
              <a:t>킬 로그</a:t>
            </a:r>
            <a:endParaRPr lang="ko-KR" altLang="en-US" sz="8800" kern="0" dirty="0">
              <a:solidFill>
                <a:prstClr val="white"/>
              </a:solidFill>
            </a:endParaRPr>
          </a:p>
        </p:txBody>
      </p:sp>
      <p:cxnSp>
        <p:nvCxnSpPr>
          <p:cNvPr id="15" name="직선 화살표 연결선 14"/>
          <p:cNvCxnSpPr>
            <a:stCxn id="10" idx="2"/>
          </p:cNvCxnSpPr>
          <p:nvPr/>
        </p:nvCxnSpPr>
        <p:spPr>
          <a:xfrm>
            <a:off x="2724120" y="1494534"/>
            <a:ext cx="1203646" cy="119047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0128" y="2708775"/>
            <a:ext cx="3185220" cy="1553124"/>
          </a:xfrm>
          <a:prstGeom prst="rect">
            <a:avLst/>
          </a:prstGeom>
        </p:spPr>
      </p:pic>
      <p:cxnSp>
        <p:nvCxnSpPr>
          <p:cNvPr id="30" name="직선 화살표 연결선 29"/>
          <p:cNvCxnSpPr/>
          <p:nvPr/>
        </p:nvCxnSpPr>
        <p:spPr>
          <a:xfrm flipH="1">
            <a:off x="6184669" y="2008678"/>
            <a:ext cx="640081" cy="994971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42" idx="0"/>
          </p:cNvCxnSpPr>
          <p:nvPr/>
        </p:nvCxnSpPr>
        <p:spPr>
          <a:xfrm flipV="1">
            <a:off x="3311394" y="3759707"/>
            <a:ext cx="1135915" cy="94694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/>
          <p:nvPr/>
        </p:nvCxnSpPr>
        <p:spPr>
          <a:xfrm flipH="1" flipV="1">
            <a:off x="5394959" y="3699627"/>
            <a:ext cx="2007164" cy="123593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7402124" y="4802894"/>
            <a:ext cx="3702878" cy="1069096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accent4"/>
                </a:solidFill>
              </a:rPr>
              <a:t>서바이벌 정보를 제공하고 기절 </a:t>
            </a:r>
            <a:r>
              <a:rPr lang="en-US" altLang="ko-KR" sz="1200" dirty="0" smtClean="0">
                <a:solidFill>
                  <a:schemeClr val="accent4"/>
                </a:solidFill>
              </a:rPr>
              <a:t>/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사망 원인을</a:t>
            </a:r>
            <a:endParaRPr lang="en-US" altLang="ko-KR" sz="1200" dirty="0" smtClean="0">
              <a:solidFill>
                <a:schemeClr val="accent4"/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정확히 표시하기 위해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총기의 종류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수류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탄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차량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근접무기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자기장 등 모두 각기 다른 아이콘을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사용하여 누가 어떤 것으로 쓰러졌는지 보여준다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</p:txBody>
      </p:sp>
      <p:sp>
        <p:nvSpPr>
          <p:cNvPr id="24" name="직사각형 23"/>
          <p:cNvSpPr/>
          <p:nvPr/>
        </p:nvSpPr>
        <p:spPr>
          <a:xfrm>
            <a:off x="6450757" y="1120736"/>
            <a:ext cx="3391512" cy="1148739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현재 남아있는 생존자의 인원수를 표시하여</a:t>
            </a:r>
            <a:endParaRPr lang="en-US" altLang="ko-KR" sz="1200" dirty="0" smtClean="0">
              <a:solidFill>
                <a:schemeClr val="accent4"/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서바이벌 게임으로서 이후 전략을 펼치는 데에 중요한 도움이 되는 정보를 보여준다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</a:t>
            </a:r>
          </a:p>
          <a:p>
            <a:r>
              <a:rPr lang="en-US" altLang="ko-KR" sz="1200" dirty="0" smtClean="0">
                <a:solidFill>
                  <a:schemeClr val="accent4"/>
                </a:solidFill>
              </a:rPr>
              <a:t>(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서바이벌</a:t>
            </a:r>
            <a:r>
              <a:rPr lang="ko-KR" altLang="en-US" sz="1200" dirty="0" smtClean="0">
                <a:solidFill>
                  <a:schemeClr val="accent4"/>
                </a:solidFill>
              </a:rPr>
              <a:t> 정보</a:t>
            </a:r>
            <a:r>
              <a:rPr lang="en-US" altLang="ko-KR" sz="1200" dirty="0" smtClean="0">
                <a:solidFill>
                  <a:schemeClr val="accent4"/>
                </a:solidFill>
              </a:rPr>
              <a:t>)</a:t>
            </a:r>
          </a:p>
        </p:txBody>
      </p:sp>
      <p:cxnSp>
        <p:nvCxnSpPr>
          <p:cNvPr id="16" name="직선 화살표 연결선 15"/>
          <p:cNvCxnSpPr>
            <a:stCxn id="42" idx="0"/>
          </p:cNvCxnSpPr>
          <p:nvPr/>
        </p:nvCxnSpPr>
        <p:spPr>
          <a:xfrm flipV="1">
            <a:off x="3311394" y="3759707"/>
            <a:ext cx="2968220" cy="94694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직사각형 41"/>
          <p:cNvSpPr/>
          <p:nvPr/>
        </p:nvSpPr>
        <p:spPr>
          <a:xfrm>
            <a:off x="1011697" y="4706653"/>
            <a:ext cx="4599394" cy="1436452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accent4"/>
                </a:solidFill>
              </a:rPr>
              <a:t>플레이어 간 전투의 결과를 명백히 표시하고</a:t>
            </a:r>
            <a:r>
              <a:rPr lang="en-US" altLang="ko-KR" sz="1200" dirty="0" smtClean="0">
                <a:solidFill>
                  <a:schemeClr val="accent4"/>
                </a:solidFill>
              </a:rPr>
              <a:t>,</a:t>
            </a:r>
            <a:r>
              <a:rPr lang="ko-KR" altLang="en-US" sz="1200" dirty="0" smtClean="0">
                <a:solidFill>
                  <a:schemeClr val="accent4"/>
                </a:solidFill>
              </a:rPr>
              <a:t> 서바이벌 정보를</a:t>
            </a:r>
            <a:endParaRPr lang="en-US" altLang="ko-KR" sz="1200" dirty="0" smtClean="0">
              <a:solidFill>
                <a:schemeClr val="accent4"/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제공하기 위해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어떤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플레이어든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기절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혹은 사망했을 경우</a:t>
            </a:r>
            <a:endParaRPr lang="en-US" altLang="ko-KR" sz="12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그에 해당하는 로그가 뜬다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로그는 </a:t>
            </a:r>
            <a:r>
              <a:rPr lang="ko-KR" altLang="en-US" sz="1200" dirty="0" err="1" smtClean="0">
                <a:solidFill>
                  <a:schemeClr val="accent4"/>
                </a:solidFill>
              </a:rPr>
              <a:t>직관성과</a:t>
            </a:r>
            <a:r>
              <a:rPr lang="ko-KR" altLang="en-US" sz="1200" dirty="0" smtClean="0">
                <a:solidFill>
                  <a:schemeClr val="accent4"/>
                </a:solidFill>
              </a:rPr>
              <a:t> 편의성을 위해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‘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누가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닉네임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)’ +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‘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기절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/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사망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무엇으로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)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’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+ ‘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누구를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닉네임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)’ 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형식으로 출력된다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단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전투가 아닌 자연적 요소나 자살일 경우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‘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누구를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’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부분이 생략된다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562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1711727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기본 화면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9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2" y="1332345"/>
            <a:ext cx="2404740" cy="135266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579418" y="1936867"/>
            <a:ext cx="276967" cy="17284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4EDB60A-88EE-4624-924F-1D4B6948100C}"/>
              </a:ext>
            </a:extLst>
          </p:cNvPr>
          <p:cNvSpPr/>
          <p:nvPr/>
        </p:nvSpPr>
        <p:spPr>
          <a:xfrm>
            <a:off x="2371327" y="544106"/>
            <a:ext cx="17517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1600" kern="0" dirty="0" smtClean="0">
                <a:solidFill>
                  <a:prstClr val="white"/>
                </a:solidFill>
              </a:rPr>
              <a:t>3) </a:t>
            </a:r>
            <a:r>
              <a:rPr lang="ko-KR" altLang="en-US" sz="1600" kern="0" dirty="0" err="1" smtClean="0">
                <a:solidFill>
                  <a:prstClr val="white"/>
                </a:solidFill>
              </a:rPr>
              <a:t>조준점</a:t>
            </a:r>
            <a:endParaRPr lang="ko-KR" altLang="en-US" sz="8800" kern="0" dirty="0">
              <a:solidFill>
                <a:prstClr val="white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1856385" y="2109713"/>
            <a:ext cx="2071381" cy="57529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7822" y="3910535"/>
            <a:ext cx="1715406" cy="1425106"/>
          </a:xfrm>
          <a:prstGeom prst="rect">
            <a:avLst/>
          </a:prstGeom>
        </p:spPr>
      </p:pic>
      <p:sp>
        <p:nvSpPr>
          <p:cNvPr id="24" name="직사각형 23"/>
          <p:cNvSpPr/>
          <p:nvPr/>
        </p:nvSpPr>
        <p:spPr>
          <a:xfrm>
            <a:off x="7215525" y="1332346"/>
            <a:ext cx="3881965" cy="1252912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현재 플레이어의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조준점을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보여주어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사격 시 </a:t>
            </a:r>
            <a:endParaRPr lang="en-US" altLang="ko-KR" sz="1200" dirty="0" smtClean="0">
              <a:solidFill>
                <a:schemeClr val="accent4"/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총알이 발사되는 방향을 알 수 있게 해주고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나아가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컴퓨터의 마우스 포인터처럼 </a:t>
            </a:r>
            <a:r>
              <a:rPr lang="ko-KR" altLang="en-US" sz="1200" dirty="0" smtClean="0">
                <a:solidFill>
                  <a:schemeClr val="accent4"/>
                </a:solidFill>
              </a:rPr>
              <a:t>화면에서 길을 잃지 않고 목표를 정확히 확인하고 가리킬 수 있도록 도와준다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</a:t>
            </a: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9056" y="4161099"/>
            <a:ext cx="1618335" cy="1455247"/>
          </a:xfrm>
          <a:prstGeom prst="rect">
            <a:avLst/>
          </a:prstGeom>
        </p:spPr>
      </p:pic>
      <p:cxnSp>
        <p:nvCxnSpPr>
          <p:cNvPr id="25" name="직선 화살표 연결선 24"/>
          <p:cNvCxnSpPr/>
          <p:nvPr/>
        </p:nvCxnSpPr>
        <p:spPr>
          <a:xfrm flipH="1">
            <a:off x="7414953" y="2630978"/>
            <a:ext cx="440576" cy="165785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6460" y="2409751"/>
            <a:ext cx="2492397" cy="1879084"/>
          </a:xfrm>
          <a:prstGeom prst="rect">
            <a:avLst/>
          </a:prstGeom>
        </p:spPr>
      </p:pic>
      <p:cxnSp>
        <p:nvCxnSpPr>
          <p:cNvPr id="30" name="직선 화살표 연결선 29"/>
          <p:cNvCxnSpPr/>
          <p:nvPr/>
        </p:nvCxnSpPr>
        <p:spPr>
          <a:xfrm flipH="1">
            <a:off x="5744096" y="2227811"/>
            <a:ext cx="1471430" cy="80633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/>
          <p:cNvCxnSpPr/>
          <p:nvPr/>
        </p:nvCxnSpPr>
        <p:spPr>
          <a:xfrm flipV="1">
            <a:off x="3269786" y="3788953"/>
            <a:ext cx="1571570" cy="109977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28" idx="3"/>
          </p:cNvCxnSpPr>
          <p:nvPr/>
        </p:nvCxnSpPr>
        <p:spPr>
          <a:xfrm flipV="1">
            <a:off x="4389547" y="4888723"/>
            <a:ext cx="764726" cy="374424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353106" y="4888723"/>
            <a:ext cx="4036441" cy="748847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현재 장비한 주무기의 종류에 따라 크로스헤어가 달라져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현재 플레이어의 주무기가 어떤 종류인지 알 수 있다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</a:t>
            </a:r>
            <a:r>
              <a:rPr lang="ko-KR" altLang="en-US" sz="1200" dirty="0">
                <a:solidFill>
                  <a:schemeClr val="accent4"/>
                </a:solidFill>
              </a:rPr>
              <a:t> </a:t>
            </a:r>
            <a:endParaRPr lang="en-US" altLang="ko-KR" sz="1200" dirty="0" smtClean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1583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1711727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기본 화면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10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2" y="1332345"/>
            <a:ext cx="2404740" cy="135266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280324" y="2542834"/>
            <a:ext cx="827075" cy="1454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4EDB60A-88EE-4624-924F-1D4B6948100C}"/>
              </a:ext>
            </a:extLst>
          </p:cNvPr>
          <p:cNvSpPr/>
          <p:nvPr/>
        </p:nvSpPr>
        <p:spPr>
          <a:xfrm>
            <a:off x="2371327" y="544106"/>
            <a:ext cx="2498128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1600" kern="0" dirty="0">
                <a:solidFill>
                  <a:prstClr val="white"/>
                </a:solidFill>
              </a:rPr>
              <a:t>4</a:t>
            </a:r>
            <a:r>
              <a:rPr lang="en-US" altLang="ko-KR" sz="1600" kern="0" dirty="0" smtClean="0">
                <a:solidFill>
                  <a:prstClr val="white"/>
                </a:solidFill>
              </a:rPr>
              <a:t>) </a:t>
            </a:r>
            <a:r>
              <a:rPr lang="ko-KR" altLang="en-US" sz="1600" kern="0" dirty="0" err="1" smtClean="0">
                <a:solidFill>
                  <a:prstClr val="white"/>
                </a:solidFill>
              </a:rPr>
              <a:t>스테이터스</a:t>
            </a:r>
            <a:r>
              <a:rPr lang="ko-KR" altLang="en-US" sz="1600" kern="0" dirty="0" smtClean="0">
                <a:solidFill>
                  <a:prstClr val="white"/>
                </a:solidFill>
              </a:rPr>
              <a:t> </a:t>
            </a:r>
            <a:r>
              <a:rPr lang="en-US" altLang="ko-KR" sz="1400" kern="0" dirty="0" smtClean="0">
                <a:solidFill>
                  <a:prstClr val="white"/>
                </a:solidFill>
              </a:rPr>
              <a:t>(</a:t>
            </a:r>
            <a:r>
              <a:rPr lang="ko-KR" altLang="en-US" sz="1400" kern="0" dirty="0" smtClean="0">
                <a:solidFill>
                  <a:prstClr val="white"/>
                </a:solidFill>
              </a:rPr>
              <a:t>장비</a:t>
            </a:r>
            <a:r>
              <a:rPr lang="en-US" altLang="ko-KR" sz="1400" kern="0" dirty="0" smtClean="0">
                <a:solidFill>
                  <a:prstClr val="white"/>
                </a:solidFill>
              </a:rPr>
              <a:t>)</a:t>
            </a:r>
            <a:endParaRPr lang="ko-KR" altLang="en-US" sz="8000" kern="0" dirty="0">
              <a:solidFill>
                <a:prstClr val="white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2051732" y="2615570"/>
            <a:ext cx="1195555" cy="8731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287" y="3488679"/>
            <a:ext cx="5281933" cy="1478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직사각형 21"/>
          <p:cNvSpPr/>
          <p:nvPr/>
        </p:nvSpPr>
        <p:spPr>
          <a:xfrm>
            <a:off x="3353750" y="3737562"/>
            <a:ext cx="1343456" cy="55629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/>
          <p:cNvCxnSpPr/>
          <p:nvPr/>
        </p:nvCxnSpPr>
        <p:spPr>
          <a:xfrm flipH="1">
            <a:off x="4560985" y="2539850"/>
            <a:ext cx="1718629" cy="119771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5772839" y="1005771"/>
            <a:ext cx="5640636" cy="1534080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플레이어가 장비류를 장비하고 있는 경우 그에 대응하는 아이콘이 생성되어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현재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플레이어가 장비하고 있는 가방과 헬멧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조끼의 레벨과 상태를 보여준다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레벨마다 서로 다른 아이콘을 적용하고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err="1">
                <a:solidFill>
                  <a:schemeClr val="bg1">
                    <a:lumMod val="85000"/>
                  </a:schemeClr>
                </a:solidFill>
              </a:rPr>
              <a:t>방어구의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 경우 적의 공격으로 방어도가 깎였을 때 그 비율에 따라 밑에서부터 빨간색으로 채워진다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>
                <a:solidFill>
                  <a:schemeClr val="bg1">
                    <a:lumMod val="85000"/>
                  </a:schemeClr>
                </a:solidFill>
              </a:rPr>
              <a:t>이를 통해 </a:t>
            </a:r>
            <a:r>
              <a:rPr lang="ko-KR" altLang="en-US" sz="1200" dirty="0">
                <a:solidFill>
                  <a:schemeClr val="accent4"/>
                </a:solidFill>
              </a:rPr>
              <a:t>굳이 </a:t>
            </a:r>
            <a:endParaRPr lang="en-US" altLang="ko-KR" sz="1200" dirty="0">
              <a:solidFill>
                <a:schemeClr val="accent4"/>
              </a:solidFill>
            </a:endParaRPr>
          </a:p>
          <a:p>
            <a:r>
              <a:rPr lang="ko-KR" altLang="en-US" sz="1200" dirty="0" err="1">
                <a:solidFill>
                  <a:schemeClr val="accent4"/>
                </a:solidFill>
              </a:rPr>
              <a:t>인벤토리를</a:t>
            </a:r>
            <a:r>
              <a:rPr lang="ko-KR" altLang="en-US" sz="1200" dirty="0">
                <a:solidFill>
                  <a:schemeClr val="accent4"/>
                </a:solidFill>
              </a:rPr>
              <a:t> 열지 않고도 자신의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장비 상태와 수준을 </a:t>
            </a:r>
            <a:r>
              <a:rPr lang="ko-KR" altLang="en-US" sz="1200" dirty="0">
                <a:solidFill>
                  <a:schemeClr val="accent4"/>
                </a:solidFill>
              </a:rPr>
              <a:t>한 눈에 파악할 수 있고 </a:t>
            </a:r>
            <a:endParaRPr lang="en-US" altLang="ko-KR" sz="1200" dirty="0">
              <a:solidFill>
                <a:schemeClr val="accent4"/>
              </a:solidFill>
            </a:endParaRPr>
          </a:p>
          <a:p>
            <a:r>
              <a:rPr lang="ko-KR" altLang="en-US" sz="1200" dirty="0">
                <a:solidFill>
                  <a:schemeClr val="accent4"/>
                </a:solidFill>
              </a:rPr>
              <a:t>그럼으로써 간편하고 신속한 아이템 </a:t>
            </a:r>
            <a:r>
              <a:rPr lang="ko-KR" altLang="en-US" sz="1200" dirty="0" err="1">
                <a:solidFill>
                  <a:schemeClr val="accent4"/>
                </a:solidFill>
              </a:rPr>
              <a:t>파밍을</a:t>
            </a:r>
            <a:r>
              <a:rPr lang="ko-KR" altLang="en-US" sz="1200" dirty="0">
                <a:solidFill>
                  <a:schemeClr val="accent4"/>
                </a:solidFill>
              </a:rPr>
              <a:t> 유도한다</a:t>
            </a:r>
            <a:r>
              <a:rPr lang="en-US" altLang="ko-KR" sz="1200" dirty="0">
                <a:solidFill>
                  <a:schemeClr val="accent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59082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1711727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기본 화면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11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2" y="1332345"/>
            <a:ext cx="2404740" cy="135266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280324" y="2542834"/>
            <a:ext cx="827075" cy="1454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4EDB60A-88EE-4624-924F-1D4B6948100C}"/>
              </a:ext>
            </a:extLst>
          </p:cNvPr>
          <p:cNvSpPr/>
          <p:nvPr/>
        </p:nvSpPr>
        <p:spPr>
          <a:xfrm>
            <a:off x="2371326" y="544106"/>
            <a:ext cx="3087267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1600" kern="0" dirty="0">
                <a:solidFill>
                  <a:prstClr val="white"/>
                </a:solidFill>
              </a:rPr>
              <a:t>4</a:t>
            </a:r>
            <a:r>
              <a:rPr lang="en-US" altLang="ko-KR" sz="1600" kern="0" dirty="0" smtClean="0">
                <a:solidFill>
                  <a:prstClr val="white"/>
                </a:solidFill>
              </a:rPr>
              <a:t>) </a:t>
            </a:r>
            <a:r>
              <a:rPr lang="ko-KR" altLang="en-US" sz="1600" kern="0" dirty="0" err="1" smtClean="0">
                <a:solidFill>
                  <a:prstClr val="white"/>
                </a:solidFill>
              </a:rPr>
              <a:t>스테이터스</a:t>
            </a:r>
            <a:r>
              <a:rPr lang="ko-KR" altLang="en-US" sz="1600" kern="0" dirty="0" smtClean="0">
                <a:solidFill>
                  <a:prstClr val="white"/>
                </a:solidFill>
              </a:rPr>
              <a:t> </a:t>
            </a:r>
            <a:r>
              <a:rPr lang="en-US" altLang="ko-KR" sz="1400" kern="0" dirty="0" smtClean="0">
                <a:solidFill>
                  <a:prstClr val="white"/>
                </a:solidFill>
              </a:rPr>
              <a:t>(</a:t>
            </a:r>
            <a:r>
              <a:rPr lang="ko-KR" altLang="en-US" sz="1400" kern="0" dirty="0" smtClean="0">
                <a:solidFill>
                  <a:prstClr val="white"/>
                </a:solidFill>
              </a:rPr>
              <a:t>발사모드 </a:t>
            </a:r>
            <a:r>
              <a:rPr lang="en-US" altLang="ko-KR" sz="1400" kern="0" dirty="0" smtClean="0">
                <a:solidFill>
                  <a:prstClr val="white"/>
                </a:solidFill>
              </a:rPr>
              <a:t>/ </a:t>
            </a:r>
            <a:r>
              <a:rPr lang="ko-KR" altLang="en-US" sz="1400" kern="0" dirty="0" smtClean="0">
                <a:solidFill>
                  <a:prstClr val="white"/>
                </a:solidFill>
              </a:rPr>
              <a:t>탄약</a:t>
            </a:r>
            <a:r>
              <a:rPr lang="en-US" altLang="ko-KR" sz="1400" kern="0" dirty="0" smtClean="0">
                <a:solidFill>
                  <a:prstClr val="white"/>
                </a:solidFill>
              </a:rPr>
              <a:t>)</a:t>
            </a:r>
            <a:endParaRPr lang="ko-KR" altLang="en-US" sz="8000" kern="0" dirty="0">
              <a:solidFill>
                <a:prstClr val="white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2051732" y="2615570"/>
            <a:ext cx="1195488" cy="8731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220" y="3488677"/>
            <a:ext cx="5281933" cy="1478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직사각형 21"/>
          <p:cNvSpPr/>
          <p:nvPr/>
        </p:nvSpPr>
        <p:spPr>
          <a:xfrm>
            <a:off x="4697139" y="3737560"/>
            <a:ext cx="2133252" cy="556296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/>
          <p:cNvCxnSpPr/>
          <p:nvPr/>
        </p:nvCxnSpPr>
        <p:spPr>
          <a:xfrm flipH="1">
            <a:off x="5205206" y="2539850"/>
            <a:ext cx="506776" cy="119771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4329629" y="1123721"/>
            <a:ext cx="5001658" cy="1416130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플레이어가 현재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들고있는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주무기의 탄약과 발사모드를 보여준다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총기류의 경우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발사모드가 존재한다면 좌측에 단발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점사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연사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중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하나가 추가로 표시된다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우측에는 장전되어 있는 잔여 탄약과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가방에 보유하고 있는 탄약을 숫자로 표현한다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이러한 정보들은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슈팅 게임에서 공격 가능 여부</a:t>
            </a:r>
            <a:r>
              <a:rPr lang="en-US" altLang="ko-KR" sz="1200" dirty="0" smtClean="0">
                <a:solidFill>
                  <a:schemeClr val="accent4"/>
                </a:solidFill>
              </a:rPr>
              <a:t>,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자원의 소모 정도를 나타내는 중요한 전략적 정보이기 때문에 캐릭터와 가장 가까운 공간에 배치한다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0094" y="4903529"/>
            <a:ext cx="1494564" cy="12522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직선 화살표 연결선 16"/>
          <p:cNvCxnSpPr>
            <a:stCxn id="16" idx="1"/>
          </p:cNvCxnSpPr>
          <p:nvPr/>
        </p:nvCxnSpPr>
        <p:spPr>
          <a:xfrm flipH="1" flipV="1">
            <a:off x="2135525" y="5747167"/>
            <a:ext cx="1473637" cy="231632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3609162" y="5529630"/>
            <a:ext cx="4205639" cy="898338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만약 장전된 탄약수가 모두 소모되었다면 숫자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0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을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빨간색으로 그려주어 </a:t>
            </a:r>
            <a:r>
              <a:rPr lang="ko-KR" altLang="en-US" sz="1200" dirty="0" smtClean="0">
                <a:solidFill>
                  <a:schemeClr val="accent4"/>
                </a:solidFill>
              </a:rPr>
              <a:t>더 이상의 공격이 불가능하다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, </a:t>
            </a: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위급한 상황이다 라는 정보를 한 눈에 알 수 있도록 한다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8643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1711727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기본 화면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12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2" y="1332345"/>
            <a:ext cx="2404740" cy="135266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280324" y="2542834"/>
            <a:ext cx="827075" cy="1454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4EDB60A-88EE-4624-924F-1D4B6948100C}"/>
              </a:ext>
            </a:extLst>
          </p:cNvPr>
          <p:cNvSpPr/>
          <p:nvPr/>
        </p:nvSpPr>
        <p:spPr>
          <a:xfrm>
            <a:off x="2371327" y="544106"/>
            <a:ext cx="2894736" cy="4140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1600" kern="0" dirty="0">
                <a:solidFill>
                  <a:prstClr val="white"/>
                </a:solidFill>
              </a:rPr>
              <a:t>4</a:t>
            </a:r>
            <a:r>
              <a:rPr lang="en-US" altLang="ko-KR" sz="1600" kern="0" dirty="0" smtClean="0">
                <a:solidFill>
                  <a:prstClr val="white"/>
                </a:solidFill>
              </a:rPr>
              <a:t>) </a:t>
            </a:r>
            <a:r>
              <a:rPr lang="ko-KR" altLang="en-US" sz="1600" kern="0" dirty="0" err="1" smtClean="0">
                <a:solidFill>
                  <a:prstClr val="white"/>
                </a:solidFill>
              </a:rPr>
              <a:t>스테이터스</a:t>
            </a:r>
            <a:r>
              <a:rPr lang="ko-KR" altLang="en-US" sz="1600" kern="0" dirty="0" smtClean="0">
                <a:solidFill>
                  <a:prstClr val="white"/>
                </a:solidFill>
              </a:rPr>
              <a:t> </a:t>
            </a:r>
            <a:r>
              <a:rPr lang="en-US" altLang="ko-KR" sz="1400" kern="0" dirty="0" smtClean="0">
                <a:solidFill>
                  <a:prstClr val="white"/>
                </a:solidFill>
              </a:rPr>
              <a:t>(</a:t>
            </a:r>
            <a:r>
              <a:rPr lang="ko-KR" altLang="en-US" sz="1400" kern="0" dirty="0" smtClean="0">
                <a:solidFill>
                  <a:prstClr val="white"/>
                </a:solidFill>
              </a:rPr>
              <a:t>체력 게이지</a:t>
            </a:r>
            <a:r>
              <a:rPr lang="en-US" altLang="ko-KR" sz="1400" kern="0" dirty="0" smtClean="0">
                <a:solidFill>
                  <a:prstClr val="white"/>
                </a:solidFill>
              </a:rPr>
              <a:t>)</a:t>
            </a:r>
            <a:endParaRPr lang="ko-KR" altLang="en-US" sz="8000" kern="0" dirty="0">
              <a:solidFill>
                <a:prstClr val="white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2051732" y="2615570"/>
            <a:ext cx="1195488" cy="8731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7220" y="3488677"/>
            <a:ext cx="5281933" cy="14781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직사각형 21"/>
          <p:cNvSpPr/>
          <p:nvPr/>
        </p:nvSpPr>
        <p:spPr>
          <a:xfrm>
            <a:off x="3325341" y="4293856"/>
            <a:ext cx="4816123" cy="454414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/>
          <p:cNvCxnSpPr/>
          <p:nvPr/>
        </p:nvCxnSpPr>
        <p:spPr>
          <a:xfrm>
            <a:off x="4090063" y="2395238"/>
            <a:ext cx="0" cy="1898618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3325341" y="1332345"/>
            <a:ext cx="4902506" cy="1062893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플레이어의 체력을 막대 게이지를 사용해 보여준다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완전히 회복된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경우 약간 옅은 회색으로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그 외의 경우 체력의 정도에 따라 흰색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황색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빨간색으로 위험 정도를 표시한다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색상을 달리 표현함으로써</a:t>
            </a:r>
            <a:endParaRPr lang="en-US" altLang="ko-KR" sz="1200" dirty="0" smtClean="0">
              <a:solidFill>
                <a:schemeClr val="accent4"/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현재 플레이어의 </a:t>
            </a:r>
            <a:r>
              <a:rPr lang="en-US" altLang="ko-KR" sz="1200" dirty="0" smtClean="0">
                <a:solidFill>
                  <a:schemeClr val="accent4"/>
                </a:solidFill>
              </a:rPr>
              <a:t>HP </a:t>
            </a:r>
            <a:r>
              <a:rPr lang="ko-KR" altLang="en-US" sz="1200" dirty="0" smtClean="0">
                <a:solidFill>
                  <a:schemeClr val="accent4"/>
                </a:solidFill>
              </a:rPr>
              <a:t>정보를 한 눈에 알기 쉽게 보여준다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78" y="2910777"/>
            <a:ext cx="2209800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77" y="3171789"/>
            <a:ext cx="2200275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78" y="2685011"/>
            <a:ext cx="2200275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6054" y="5411730"/>
            <a:ext cx="3913724" cy="237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17" name="직선 화살표 연결선 16"/>
          <p:cNvCxnSpPr>
            <a:stCxn id="16" idx="1"/>
          </p:cNvCxnSpPr>
          <p:nvPr/>
        </p:nvCxnSpPr>
        <p:spPr>
          <a:xfrm flipH="1" flipV="1">
            <a:off x="2798286" y="5530327"/>
            <a:ext cx="3172981" cy="530857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/>
          <p:cNvSpPr/>
          <p:nvPr/>
        </p:nvSpPr>
        <p:spPr>
          <a:xfrm>
            <a:off x="5971267" y="5411730"/>
            <a:ext cx="4513160" cy="1298907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회복 아이템으로 채울 수 있는 체력에는 상한선이 존재하고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한계를 명확히 표시하여 구분하기 위해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그 게이지를 사선으로 처리하여 보여준다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상한선 밑에서 체력 회복을 시도할 경우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회복 행동이 얼만큼 채워줄 것인지 볼 수 있도록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성공적으로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수행했을 때 회복될 게이지를 반투명하게 덧대어 표시한다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09971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xmlns="" id="{DEB48728-12FA-4B10-82E6-7899DDCA2731}"/>
              </a:ext>
            </a:extLst>
          </p:cNvPr>
          <p:cNvSpPr/>
          <p:nvPr/>
        </p:nvSpPr>
        <p:spPr>
          <a:xfrm>
            <a:off x="491492" y="504093"/>
            <a:ext cx="1711727" cy="585286"/>
          </a:xfrm>
          <a:prstGeom prst="roundRect">
            <a:avLst>
              <a:gd name="adj" fmla="val 50000"/>
            </a:avLst>
          </a:prstGeom>
          <a:solidFill>
            <a:srgbClr val="181E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ko-KR" altLang="en-US" sz="2400" b="1" dirty="0" smtClean="0">
                <a:solidFill>
                  <a:prstClr val="white"/>
                </a:solidFill>
              </a:rPr>
              <a:t>기본 화면</a:t>
            </a:r>
            <a:endParaRPr lang="en-US" altLang="ko-KR" sz="1600" dirty="0">
              <a:solidFill>
                <a:prstClr val="white">
                  <a:lumMod val="50000"/>
                </a:prst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xmlns="" id="{32B56811-2E7B-4FBF-99CB-4CECF20A9AC0}"/>
              </a:ext>
            </a:extLst>
          </p:cNvPr>
          <p:cNvSpPr/>
          <p:nvPr/>
        </p:nvSpPr>
        <p:spPr>
          <a:xfrm>
            <a:off x="0" y="472736"/>
            <a:ext cx="45719" cy="64800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78A70-FB77-4F9B-8311-4FBED7F04F1E}" type="slidenum">
              <a:rPr lang="ko-KR" altLang="en-US" sz="1600" smtClean="0">
                <a:solidFill>
                  <a:prstClr val="black">
                    <a:tint val="75000"/>
                  </a:prstClr>
                </a:solidFill>
              </a:rPr>
              <a:pPr/>
              <a:t>13</a:t>
            </a:fld>
            <a:endParaRPr lang="ko-KR" altLang="en-US" sz="1600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492" y="1332345"/>
            <a:ext cx="2404740" cy="1352666"/>
          </a:xfrm>
          <a:prstGeom prst="rect">
            <a:avLst/>
          </a:prstGeom>
        </p:spPr>
      </p:pic>
      <p:sp>
        <p:nvSpPr>
          <p:cNvPr id="10" name="직사각형 9"/>
          <p:cNvSpPr/>
          <p:nvPr/>
        </p:nvSpPr>
        <p:spPr>
          <a:xfrm>
            <a:off x="1280324" y="2542834"/>
            <a:ext cx="827075" cy="145472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24EDB60A-88EE-4624-924F-1D4B6948100C}"/>
              </a:ext>
            </a:extLst>
          </p:cNvPr>
          <p:cNvSpPr/>
          <p:nvPr/>
        </p:nvSpPr>
        <p:spPr>
          <a:xfrm>
            <a:off x="2371327" y="544106"/>
            <a:ext cx="2894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1600" kern="0" dirty="0">
                <a:solidFill>
                  <a:prstClr val="white"/>
                </a:solidFill>
              </a:rPr>
              <a:t>4</a:t>
            </a:r>
            <a:r>
              <a:rPr lang="en-US" altLang="ko-KR" sz="1600" kern="0" dirty="0" smtClean="0">
                <a:solidFill>
                  <a:prstClr val="white"/>
                </a:solidFill>
              </a:rPr>
              <a:t>) </a:t>
            </a:r>
            <a:r>
              <a:rPr lang="ko-KR" altLang="en-US" sz="1600" kern="0" dirty="0" err="1" smtClean="0">
                <a:solidFill>
                  <a:prstClr val="white"/>
                </a:solidFill>
              </a:rPr>
              <a:t>스테이터스</a:t>
            </a:r>
            <a:r>
              <a:rPr lang="ko-KR" altLang="en-US" sz="1600" kern="0" dirty="0" smtClean="0">
                <a:solidFill>
                  <a:prstClr val="white"/>
                </a:solidFill>
              </a:rPr>
              <a:t> </a:t>
            </a:r>
            <a:r>
              <a:rPr lang="en-US" altLang="ko-KR" sz="1400" kern="0" dirty="0" smtClean="0">
                <a:solidFill>
                  <a:prstClr val="white"/>
                </a:solidFill>
              </a:rPr>
              <a:t>(</a:t>
            </a:r>
            <a:r>
              <a:rPr lang="ko-KR" altLang="en-US" sz="1400" kern="0" dirty="0" err="1" smtClean="0">
                <a:solidFill>
                  <a:prstClr val="white"/>
                </a:solidFill>
              </a:rPr>
              <a:t>부스팅</a:t>
            </a:r>
            <a:r>
              <a:rPr lang="ko-KR" altLang="en-US" sz="1400" kern="0" dirty="0" smtClean="0">
                <a:solidFill>
                  <a:prstClr val="white"/>
                </a:solidFill>
              </a:rPr>
              <a:t> 게이지</a:t>
            </a:r>
            <a:r>
              <a:rPr lang="en-US" altLang="ko-KR" sz="1400" kern="0" dirty="0" smtClean="0">
                <a:solidFill>
                  <a:prstClr val="white"/>
                </a:solidFill>
              </a:rPr>
              <a:t>)</a:t>
            </a:r>
            <a:endParaRPr lang="ko-KR" altLang="en-US" sz="8000" kern="0" dirty="0">
              <a:solidFill>
                <a:prstClr val="white"/>
              </a:solidFill>
            </a:endParaRPr>
          </a:p>
        </p:txBody>
      </p:sp>
      <p:cxnSp>
        <p:nvCxnSpPr>
          <p:cNvPr id="15" name="직선 화살표 연결선 14"/>
          <p:cNvCxnSpPr/>
          <p:nvPr/>
        </p:nvCxnSpPr>
        <p:spPr>
          <a:xfrm>
            <a:off x="2051732" y="2615570"/>
            <a:ext cx="1195488" cy="87310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3051121" y="4847421"/>
            <a:ext cx="5828474" cy="1454226"/>
          </a:xfrm>
          <a:prstGeom prst="rect">
            <a:avLst/>
          </a:prstGeom>
          <a:solidFill>
            <a:schemeClr val="tx2"/>
          </a:solidFill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평상시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UI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를 띄우지 않은 상태에서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아이템을 사용하여 </a:t>
            </a:r>
            <a:r>
              <a:rPr lang="ko-KR" altLang="en-US" sz="1200" dirty="0" err="1" smtClean="0">
                <a:solidFill>
                  <a:schemeClr val="bg1">
                    <a:lumMod val="85000"/>
                  </a:schemeClr>
                </a:solidFill>
              </a:rPr>
              <a:t>부스팅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효과가 생길 경우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,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그 양만큼 왼쪽부터 황색으로 게이지가 채워진다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accent4"/>
                </a:solidFill>
              </a:rPr>
              <a:t>게이지가 채워진 정도를 알기</a:t>
            </a:r>
            <a:endParaRPr lang="en-US" altLang="ko-KR" sz="1200" dirty="0" smtClean="0">
              <a:solidFill>
                <a:schemeClr val="accent4"/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쉽도록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4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개의 절편으로 나뉘며</a:t>
            </a:r>
            <a:r>
              <a:rPr lang="en-US" altLang="ko-KR" sz="1200" dirty="0">
                <a:solidFill>
                  <a:schemeClr val="bg1">
                    <a:lumMod val="85000"/>
                  </a:schemeClr>
                </a:solidFill>
              </a:rPr>
              <a:t>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최대치에서 얼마만큼의 게이지가 채워져 있는지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시각적으로 표시한다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시간이 흐르면 게이지가 점점 감소한다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. </a:t>
            </a:r>
          </a:p>
          <a:p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플레이어의 체력과 밀접한 연관이 있기 때문에 </a:t>
            </a:r>
            <a:r>
              <a:rPr lang="en-US" altLang="ko-KR" sz="1200" dirty="0" smtClean="0">
                <a:solidFill>
                  <a:schemeClr val="bg1">
                    <a:lumMod val="85000"/>
                  </a:schemeClr>
                </a:solidFill>
              </a:rPr>
              <a:t>HP </a:t>
            </a:r>
            <a:r>
              <a:rPr lang="ko-KR" altLang="en-US" sz="1200" dirty="0" smtClean="0">
                <a:solidFill>
                  <a:schemeClr val="bg1">
                    <a:lumMod val="85000"/>
                  </a:schemeClr>
                </a:solidFill>
              </a:rPr>
              <a:t>게이지 바로 위에 두어 </a:t>
            </a:r>
            <a:endParaRPr lang="en-US" altLang="ko-KR" sz="1200" dirty="0" smtClean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ko-KR" altLang="en-US" sz="1200" dirty="0" smtClean="0">
                <a:solidFill>
                  <a:schemeClr val="accent4"/>
                </a:solidFill>
              </a:rPr>
              <a:t>체력 상황을 한꺼번에 볼 수 있도록 배치한다</a:t>
            </a:r>
            <a:r>
              <a:rPr lang="en-US" altLang="ko-KR" sz="1200" dirty="0" smtClean="0">
                <a:solidFill>
                  <a:schemeClr val="accent4"/>
                </a:solidFill>
              </a:rPr>
              <a:t>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78" y="2910777"/>
            <a:ext cx="2209800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77" y="3171789"/>
            <a:ext cx="2200275" cy="14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878" y="2685011"/>
            <a:ext cx="2200275" cy="13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0580" y="3488679"/>
            <a:ext cx="6118351" cy="638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직사각형 21"/>
          <p:cNvSpPr/>
          <p:nvPr/>
        </p:nvSpPr>
        <p:spPr>
          <a:xfrm>
            <a:off x="3196681" y="3790224"/>
            <a:ext cx="5782066" cy="227207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0" name="직선 화살표 연결선 29"/>
          <p:cNvCxnSpPr/>
          <p:nvPr/>
        </p:nvCxnSpPr>
        <p:spPr>
          <a:xfrm flipV="1">
            <a:off x="4090063" y="3903827"/>
            <a:ext cx="0" cy="943596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64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1121</TotalTime>
  <Words>994</Words>
  <Application>Microsoft Office PowerPoint</Application>
  <PresentationFormat>사용자 지정</PresentationFormat>
  <Paragraphs>151</Paragraphs>
  <Slides>13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4" baseType="lpstr"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조땡</dc:creator>
  <cp:lastModifiedBy>user</cp:lastModifiedBy>
  <cp:revision>67</cp:revision>
  <dcterms:created xsi:type="dcterms:W3CDTF">2019-04-30T07:08:39Z</dcterms:created>
  <dcterms:modified xsi:type="dcterms:W3CDTF">2019-05-20T08:29:14Z</dcterms:modified>
</cp:coreProperties>
</file>